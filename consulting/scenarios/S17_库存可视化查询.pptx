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theme/theme6.xml" ContentType="application/vnd.openxmlformats-officedocument.theme+xml"/>
  <Override PartName="/ppt/slideLayouts/slideLayout4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7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31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  <p:sldMasterId id="2147483680" r:id="rId4"/>
    <p:sldMasterId id="2147483698" r:id="rId5"/>
    <p:sldMasterId id="2147483700" r:id="rId6"/>
    <p:sldMasterId id="2147483702" r:id="rId7"/>
  </p:sldMasterIdLst>
  <p:notesMasterIdLst>
    <p:notesMasterId r:id="rId28"/>
  </p:notesMasterIdLst>
  <p:sldIdLst>
    <p:sldId id="256" r:id="rId8"/>
    <p:sldId id="257" r:id="rId9"/>
    <p:sldId id="259" r:id="rId10"/>
    <p:sldId id="261" r:id="rId11"/>
    <p:sldId id="260" r:id="rId12"/>
    <p:sldId id="279" r:id="rId13"/>
    <p:sldId id="277" r:id="rId14"/>
    <p:sldId id="278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2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225" y="54"/>
      </p:cViewPr>
      <p:guideLst>
        <p:guide orient="horz" pos="1798"/>
        <p:guide pos="28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各位领导，大家好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今天我代表项目组，向大家汇报《库存可视化与多维度查询体系</a:t>
            </a:r>
            <a:r>
              <a:rPr lang="en-US" sz="1200" b="0" i="0" u="none" strike="noStrike">
                <a:solidFill>
                  <a:srgbClr val="000000"/>
                </a:solidFill>
              </a:rPr>
              <a:t>》。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本次方案是基于佛山照明SAP升级项目的背景，旨在通过数字化手段，构建统一的库存数据口径与多维度可视化查询体系，实现库存的精细化管控与高效协同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各位领导、各位同事，大家好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今天我们将围绕数字化转型项目进行详细汇报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本次汇报的目录共分为九个部分，从管理层的执行摘要开始，我们将深入剖析现状问题、明确建设目标与治理架构，并重点介绍六项建设任务及SAP系统的本期落地方案。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同时，我们也会对实施路径、价值评估、风险应对以及后续的决策事项进行全面阐述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接下来，让我们正式进入第一部分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algn="l" defTabSz="1089025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171450" indent="-17145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" hasCustomPrompt="1"/>
          </p:nvPr>
        </p:nvSpPr>
        <p:spPr>
          <a:xfrm>
            <a:off x="423068" y="2415203"/>
            <a:ext cx="54864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4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" hasCustomPrompt="1"/>
          </p:nvPr>
        </p:nvSpPr>
        <p:spPr>
          <a:xfrm>
            <a:off x="423068" y="3138594"/>
            <a:ext cx="548640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" hasCustomPrompt="1"/>
          </p:nvPr>
        </p:nvSpPr>
        <p:spPr>
          <a:xfrm>
            <a:off x="423068" y="4771707"/>
            <a:ext cx="3657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AutoShape 5"/>
          <p:cNvSpPr/>
          <p:nvPr/>
        </p:nvSpPr>
        <p:spPr>
          <a:xfrm>
            <a:off x="423068" y="6391780"/>
            <a:ext cx="835165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 Group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pic" sz="quarter" idx="7"/>
          </p:nvPr>
        </p:nvSpPr>
        <p:spPr>
          <a:xfrm>
            <a:off x="6092952" y="0"/>
            <a:ext cx="6099048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8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algn="l"/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eep Blue Title Only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/>
          </p:nvPr>
        </p:nvSpPr>
        <p:spPr>
          <a:xfrm>
            <a:off x="428625" y="6420355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10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28625" y="6420355"/>
            <a:ext cx="12795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	|	 © Atos Group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428625" y="1196367"/>
            <a:ext cx="5852160" cy="1554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lvl1pPr algn="l" defTabSz="914400">
              <a:lnSpc>
                <a:spcPct val="100000"/>
              </a:lnSpc>
              <a:defRPr sz="4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428625" y="2748074"/>
            <a:ext cx="585216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6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7" name="Freeform 7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428625" y="1189363"/>
            <a:ext cx="5370060" cy="123110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80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80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Thank you!</a:t>
            </a:r>
          </a:p>
        </p:txBody>
      </p:sp>
      <p:sp>
        <p:nvSpPr>
          <p:cNvPr id="3" name="AutoShape 3"/>
          <p:cNvSpPr/>
          <p:nvPr/>
        </p:nvSpPr>
        <p:spPr>
          <a:xfrm>
            <a:off x="428625" y="5422415"/>
            <a:ext cx="3383281" cy="49244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b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428625" y="6316314"/>
            <a:ext cx="2560320" cy="923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lvl1pPr algn="l" defTabSz="914400">
              <a:lnSpc>
                <a:spcPct val="100000"/>
              </a:lnSpc>
              <a:defRPr sz="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Job Number-Designer-BP</a:t>
            </a:r>
          </a:p>
        </p:txBody>
      </p:sp>
      <p:sp>
        <p:nvSpPr>
          <p:cNvPr id="5" name="AutoShape 5"/>
          <p:cNvSpPr/>
          <p:nvPr/>
        </p:nvSpPr>
        <p:spPr>
          <a:xfrm>
            <a:off x="5884404" y="6391780"/>
            <a:ext cx="423193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8" hasCustomPrompt="1"/>
          </p:nvPr>
        </p:nvSpPr>
        <p:spPr>
          <a:xfrm>
            <a:off x="303548" y="164637"/>
            <a:ext cx="11436096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 in Raleway SemiBold 20pt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9" hasCustomPrompt="1"/>
          </p:nvPr>
        </p:nvSpPr>
        <p:spPr>
          <a:xfrm>
            <a:off x="303547" y="556610"/>
            <a:ext cx="11436096" cy="5805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135" b="0" i="0" u="none" strike="noStrike" spc="0">
                <a:solidFill>
                  <a:srgbClr val="0596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2135" b="0" i="0" u="none" strike="noStrike">
                <a:solidFill>
                  <a:srgbClr val="0596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 in Raleway SemiBold 16pt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0" hasCustomPrompt="1"/>
          </p:nvPr>
        </p:nvSpPr>
        <p:spPr>
          <a:xfrm>
            <a:off x="2954745" y="1446367"/>
            <a:ext cx="343043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1" hasCustomPrompt="1"/>
          </p:nvPr>
        </p:nvSpPr>
        <p:spPr>
          <a:xfrm>
            <a:off x="3674348" y="1446367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2" hasCustomPrompt="1"/>
          </p:nvPr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3" hasCustomPrompt="1"/>
          </p:nvPr>
        </p:nvSpPr>
        <p:spPr>
          <a:xfrm>
            <a:off x="2954745" y="2713569"/>
            <a:ext cx="39594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4" hasCustomPrompt="1"/>
          </p:nvPr>
        </p:nvSpPr>
        <p:spPr>
          <a:xfrm>
            <a:off x="3674348" y="2713569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25" hasCustomPrompt="1"/>
          </p:nvPr>
        </p:nvSpPr>
        <p:spPr>
          <a:xfrm>
            <a:off x="11406268" y="2713569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26" hasCustomPrompt="1"/>
          </p:nvPr>
        </p:nvSpPr>
        <p:spPr>
          <a:xfrm>
            <a:off x="2954745" y="3980771"/>
            <a:ext cx="397545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27" hasCustomPrompt="1"/>
          </p:nvPr>
        </p:nvSpPr>
        <p:spPr>
          <a:xfrm>
            <a:off x="3674348" y="3980771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28" hasCustomPrompt="1"/>
          </p:nvPr>
        </p:nvSpPr>
        <p:spPr>
          <a:xfrm>
            <a:off x="11406268" y="3980771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29" hasCustomPrompt="1"/>
          </p:nvPr>
        </p:nvSpPr>
        <p:spPr>
          <a:xfrm>
            <a:off x="2954745" y="5247973"/>
            <a:ext cx="40395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30" hasCustomPrompt="1"/>
          </p:nvPr>
        </p:nvSpPr>
        <p:spPr>
          <a:xfrm>
            <a:off x="3674348" y="5247973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31" hasCustomPrompt="1"/>
          </p:nvPr>
        </p:nvSpPr>
        <p:spPr>
          <a:xfrm>
            <a:off x="11406268" y="5247973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5" name="AutoShape 15"/>
          <p:cNvSpPr>
            <a:spLocks noGrp="1"/>
          </p:cNvSpPr>
          <p:nvPr>
            <p:ph type="body" sz="quarter" idx="32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Contents</a:t>
            </a:r>
          </a:p>
        </p:txBody>
      </p:sp>
      <p:sp>
        <p:nvSpPr>
          <p:cNvPr id="16" name="AutoShape 16"/>
          <p:cNvSpPr>
            <a:spLocks noGrp="1"/>
          </p:cNvSpPr>
          <p:nvPr>
            <p:ph type="body" sz="quarter" idx="33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34" hasCustomPrompt="1"/>
          </p:nvPr>
        </p:nvSpPr>
        <p:spPr>
          <a:xfrm>
            <a:off x="390098" y="389618"/>
            <a:ext cx="1376980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Freeform 4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5" hasCustomPrompt="1"/>
          </p:nvPr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54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  <a:b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two lines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wo curve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4" name="AutoShape 4"/>
          <p:cNvSpPr>
            <a:spLocks noGrp="1"/>
          </p:cNvSpPr>
          <p:nvPr>
            <p:ph type="body" sz="quarter" idx="36" hasCustomPrompt="1"/>
          </p:nvPr>
        </p:nvSpPr>
        <p:spPr>
          <a:xfrm>
            <a:off x="428625" y="4765675"/>
            <a:ext cx="3992904" cy="9699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Freeform 5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7" hasCustomPrompt="1"/>
          </p:nvPr>
        </p:nvSpPr>
        <p:spPr>
          <a:xfrm>
            <a:off x="428625" y="1456679"/>
            <a:ext cx="6766560" cy="1844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44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300"/>
              </a:spcAft>
            </a:pPr>
            <a:r>
              <a:rPr lang="en-US" sz="44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8" hasCustomPrompt="1"/>
          </p:nvPr>
        </p:nvSpPr>
        <p:spPr>
          <a:xfrm>
            <a:off x="428625" y="2084535"/>
            <a:ext cx="6766560" cy="1217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2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32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8100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4" y="0"/>
            <a:ext cx="12192000" cy="6881005"/>
          </a:xfrm>
          <a:prstGeom prst="rect">
            <a:avLst/>
          </a:prstGeom>
          <a:gradFill rotWithShape="0">
            <a:gsLst>
              <a:gs pos="41999">
                <a:srgbClr val="FFFFFF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5" y="6503027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" y="518500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>
            <a:spLocks noGrp="1"/>
          </p:cNvSpPr>
          <p:nvPr>
            <p:ph type="body" sz="quarter" idx="39" hasCustomPrompt="1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935" b="1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935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Click to add title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-16213" y="6276266"/>
            <a:ext cx="825500" cy="33979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33359" tIns="66685" rIns="133359" bIns="66685" rtlCol="0" anchor="ctr">
            <a:spAutoFit/>
          </a:bodyPr>
          <a:lstStyle/>
          <a:p>
            <a:pPr algn="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0"/>
          </p:nvPr>
        </p:nvSpPr>
        <p:spPr>
          <a:xfrm>
            <a:off x="320400" y="6326136"/>
            <a:ext cx="591024" cy="288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91440" tIns="45720" rIns="91440" bIns="45720" anchor="ctr">
            <a:spAutoFit/>
          </a:bodyPr>
          <a:lstStyle>
            <a:lvl1pPr algn="l" defTabSz="914400">
              <a:lnSpc>
                <a:spcPct val="100000"/>
              </a:lnSpc>
              <a:defRPr sz="1335" b="0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1" hasCustomPrompt="1"/>
          </p:nvPr>
        </p:nvSpPr>
        <p:spPr>
          <a:xfrm>
            <a:off x="320400" y="164637"/>
            <a:ext cx="11632251" cy="960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66A1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66A1"/>
                </a:solidFill>
                <a:latin typeface="Biennale Bold"/>
                <a:ea typeface="Biennale Bold"/>
                <a:cs typeface="Biennale Bold"/>
                <a:sym typeface="Biennale Bold"/>
              </a:rPr>
              <a:t>Click to edit the header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42" hasCustomPrompt="1"/>
          </p:nvPr>
        </p:nvSpPr>
        <p:spPr>
          <a:xfrm>
            <a:off x="316799" y="471915"/>
            <a:ext cx="11484000" cy="3432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200" b="1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Click to add 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3" hasCustomPrompt="1"/>
          </p:nvPr>
        </p:nvSpPr>
        <p:spPr>
          <a:xfrm>
            <a:off x="316799" y="830931"/>
            <a:ext cx="11484000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29230" y="6298599"/>
            <a:ext cx="458064" cy="216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793038" y="6384973"/>
            <a:ext cx="605935" cy="1000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ctr" defTabSz="914400">
              <a:lnSpc>
                <a:spcPct val="100000"/>
              </a:lnSpc>
              <a:tabLst>
                <a:tab pos="190500" algn="l"/>
              </a:tabLst>
              <a:defRPr/>
            </a:pPr>
            <a:r>
              <a:rPr lang="en-US" sz="650" b="0" i="0" u="none" strike="noStrike">
                <a:solidFill>
                  <a:srgbClr val="808080"/>
                </a:solidFill>
                <a:latin typeface="Biennale"/>
                <a:ea typeface="Biennale"/>
                <a:cs typeface="Biennale"/>
                <a:sym typeface="Biennale"/>
              </a:rPr>
              <a:t>© EVIDEN SAS</a:t>
            </a:r>
            <a:endParaRPr lang="en-US" sz="110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4" hasCustomPrompt="1"/>
          </p:nvPr>
        </p:nvSpPr>
        <p:spPr>
          <a:xfrm>
            <a:off x="501520" y="1557338"/>
            <a:ext cx="11183565" cy="4787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marL="431800" indent="-203200" algn="l" defTabSz="914400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  <a:lvl2pPr marL="660400" indent="-203200"/>
            <a:lvl3pPr marL="889000" indent="-203200"/>
            <a:lvl4pPr marL="1117600" indent="-203200"/>
            <a:lvl5pPr marL="914400" indent="0"/>
            <a:lvl6pPr marL="711200" indent="0"/>
            <a:lvl7pPr marL="508000" indent="0"/>
            <a:lvl8pPr marL="304800" indent="0"/>
            <a:lvl9pPr marL="101600" indent="0"/>
          </a:lstStyle>
          <a:p>
            <a:pPr marL="228600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Start typing to add text without a bullet point. To add a bullet point, place the cursor at the start of this line and press tab.</a:t>
            </a:r>
          </a:p>
          <a:p>
            <a:pPr marL="457200" lvl="1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Second level</a:t>
            </a:r>
          </a:p>
          <a:p>
            <a:pPr marL="685800" lvl="2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Third level</a:t>
            </a:r>
          </a:p>
          <a:p>
            <a:pPr marL="914400" lvl="3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Fourth level</a:t>
            </a:r>
          </a:p>
          <a:p>
            <a:pPr marL="914400" lvl="4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5" hasCustomPrompt="1"/>
          </p:nvPr>
        </p:nvSpPr>
        <p:spPr>
          <a:xfrm>
            <a:off x="503870" y="504000"/>
            <a:ext cx="1118356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Insert page title (sentence case)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vider Pag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6" hasCustomPrompt="1"/>
          </p:nvPr>
        </p:nvSpPr>
        <p:spPr>
          <a:xfrm>
            <a:off x="503869" y="3090446"/>
            <a:ext cx="11182288" cy="6771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lvl1pPr algn="l" defTabSz="9144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Biennale Bold"/>
                <a:ea typeface="Biennale Bold"/>
                <a:cs typeface="Biennale Bold"/>
                <a:sym typeface="Biennale Bold"/>
              </a:rPr>
              <a:t>Divider page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47"/>
          </p:nvPr>
        </p:nvSpPr>
        <p:spPr>
          <a:xfrm>
            <a:off x="40341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48"/>
          </p:nvPr>
        </p:nvSpPr>
        <p:spPr>
          <a:xfrm>
            <a:off x="403411" y="1439904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49"/>
          </p:nvPr>
        </p:nvSpPr>
        <p:spPr>
          <a:xfrm>
            <a:off x="40341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50"/>
          </p:nvPr>
        </p:nvSpPr>
        <p:spPr>
          <a:xfrm>
            <a:off x="40341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51"/>
          </p:nvPr>
        </p:nvSpPr>
        <p:spPr>
          <a:xfrm>
            <a:off x="403411" y="5651686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52"/>
          </p:nvPr>
        </p:nvSpPr>
        <p:spPr>
          <a:xfrm>
            <a:off x="40341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53"/>
          </p:nvPr>
        </p:nvSpPr>
        <p:spPr>
          <a:xfrm>
            <a:off x="170539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pic" sz="quarter" idx="54"/>
          </p:nvPr>
        </p:nvSpPr>
        <p:spPr>
          <a:xfrm>
            <a:off x="300738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pic" sz="quarter" idx="55"/>
          </p:nvPr>
        </p:nvSpPr>
        <p:spPr>
          <a:xfrm>
            <a:off x="4309375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pic" sz="quarter" idx="56"/>
          </p:nvPr>
        </p:nvSpPr>
        <p:spPr>
          <a:xfrm>
            <a:off x="5611363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pic" sz="quarter" idx="57"/>
          </p:nvPr>
        </p:nvSpPr>
        <p:spPr>
          <a:xfrm>
            <a:off x="691335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pic" sz="quarter" idx="58"/>
          </p:nvPr>
        </p:nvSpPr>
        <p:spPr>
          <a:xfrm>
            <a:off x="821533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pic" sz="quarter" idx="59"/>
          </p:nvPr>
        </p:nvSpPr>
        <p:spPr>
          <a:xfrm>
            <a:off x="951732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5" name="AutoShape 15"/>
          <p:cNvSpPr>
            <a:spLocks noGrp="1"/>
          </p:cNvSpPr>
          <p:nvPr>
            <p:ph type="pic" sz="quarter" idx="60"/>
          </p:nvPr>
        </p:nvSpPr>
        <p:spPr>
          <a:xfrm>
            <a:off x="10819317" y="39039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6" name="AutoShape 16"/>
          <p:cNvSpPr>
            <a:spLocks noGrp="1"/>
          </p:cNvSpPr>
          <p:nvPr>
            <p:ph type="pic" sz="quarter" idx="61"/>
          </p:nvPr>
        </p:nvSpPr>
        <p:spPr>
          <a:xfrm>
            <a:off x="170539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7" name="AutoShape 17"/>
          <p:cNvSpPr>
            <a:spLocks noGrp="1"/>
          </p:cNvSpPr>
          <p:nvPr>
            <p:ph type="pic" sz="quarter" idx="62"/>
          </p:nvPr>
        </p:nvSpPr>
        <p:spPr>
          <a:xfrm>
            <a:off x="300738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8" name="AutoShape 18"/>
          <p:cNvSpPr>
            <a:spLocks noGrp="1"/>
          </p:cNvSpPr>
          <p:nvPr>
            <p:ph type="pic" sz="quarter" idx="63"/>
          </p:nvPr>
        </p:nvSpPr>
        <p:spPr>
          <a:xfrm>
            <a:off x="4309375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9" name="AutoShape 19"/>
          <p:cNvSpPr>
            <a:spLocks noGrp="1"/>
          </p:cNvSpPr>
          <p:nvPr>
            <p:ph type="pic" sz="quarter" idx="64"/>
          </p:nvPr>
        </p:nvSpPr>
        <p:spPr>
          <a:xfrm>
            <a:off x="5611363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0" name="AutoShape 20"/>
          <p:cNvSpPr>
            <a:spLocks noGrp="1"/>
          </p:cNvSpPr>
          <p:nvPr>
            <p:ph type="pic" sz="quarter" idx="65"/>
          </p:nvPr>
        </p:nvSpPr>
        <p:spPr>
          <a:xfrm>
            <a:off x="6913351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1" name="AutoShape 21"/>
          <p:cNvSpPr>
            <a:spLocks noGrp="1"/>
          </p:cNvSpPr>
          <p:nvPr>
            <p:ph type="pic" sz="quarter" idx="66"/>
          </p:nvPr>
        </p:nvSpPr>
        <p:spPr>
          <a:xfrm>
            <a:off x="821533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2" name="AutoShape 22"/>
          <p:cNvSpPr>
            <a:spLocks noGrp="1"/>
          </p:cNvSpPr>
          <p:nvPr>
            <p:ph type="pic" sz="quarter" idx="67"/>
          </p:nvPr>
        </p:nvSpPr>
        <p:spPr>
          <a:xfrm>
            <a:off x="951732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3" name="AutoShape 23"/>
          <p:cNvSpPr>
            <a:spLocks noGrp="1"/>
          </p:cNvSpPr>
          <p:nvPr>
            <p:ph type="pic" sz="quarter" idx="68"/>
          </p:nvPr>
        </p:nvSpPr>
        <p:spPr>
          <a:xfrm>
            <a:off x="10819317" y="1439904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4" name="AutoShape 24"/>
          <p:cNvSpPr>
            <a:spLocks noGrp="1"/>
          </p:cNvSpPr>
          <p:nvPr>
            <p:ph type="pic" sz="quarter" idx="69"/>
          </p:nvPr>
        </p:nvSpPr>
        <p:spPr>
          <a:xfrm>
            <a:off x="170539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5" name="AutoShape 25"/>
          <p:cNvSpPr>
            <a:spLocks noGrp="1"/>
          </p:cNvSpPr>
          <p:nvPr>
            <p:ph type="pic" sz="quarter" idx="70"/>
          </p:nvPr>
        </p:nvSpPr>
        <p:spPr>
          <a:xfrm>
            <a:off x="300738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6" name="AutoShape 26"/>
          <p:cNvSpPr>
            <a:spLocks noGrp="1"/>
          </p:cNvSpPr>
          <p:nvPr>
            <p:ph type="pic" sz="quarter" idx="71"/>
          </p:nvPr>
        </p:nvSpPr>
        <p:spPr>
          <a:xfrm>
            <a:off x="4309375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7" name="AutoShape 27"/>
          <p:cNvSpPr>
            <a:spLocks noGrp="1"/>
          </p:cNvSpPr>
          <p:nvPr>
            <p:ph type="pic" sz="quarter" idx="72"/>
          </p:nvPr>
        </p:nvSpPr>
        <p:spPr>
          <a:xfrm>
            <a:off x="5611363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8" name="AutoShape 28"/>
          <p:cNvSpPr>
            <a:spLocks noGrp="1"/>
          </p:cNvSpPr>
          <p:nvPr>
            <p:ph type="pic" sz="quarter" idx="73"/>
          </p:nvPr>
        </p:nvSpPr>
        <p:spPr>
          <a:xfrm>
            <a:off x="691335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9" name="AutoShape 29"/>
          <p:cNvSpPr>
            <a:spLocks noGrp="1"/>
          </p:cNvSpPr>
          <p:nvPr>
            <p:ph type="pic" sz="quarter" idx="74"/>
          </p:nvPr>
        </p:nvSpPr>
        <p:spPr>
          <a:xfrm>
            <a:off x="821533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0" name="AutoShape 30"/>
          <p:cNvSpPr>
            <a:spLocks noGrp="1"/>
          </p:cNvSpPr>
          <p:nvPr>
            <p:ph type="pic" sz="quarter" idx="75"/>
          </p:nvPr>
        </p:nvSpPr>
        <p:spPr>
          <a:xfrm>
            <a:off x="951732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1" name="AutoShape 31"/>
          <p:cNvSpPr>
            <a:spLocks noGrp="1"/>
          </p:cNvSpPr>
          <p:nvPr>
            <p:ph type="pic" sz="quarter" idx="76"/>
          </p:nvPr>
        </p:nvSpPr>
        <p:spPr>
          <a:xfrm>
            <a:off x="10819317" y="249628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2" name="AutoShape 32"/>
          <p:cNvSpPr>
            <a:spLocks noGrp="1"/>
          </p:cNvSpPr>
          <p:nvPr>
            <p:ph type="pic" sz="quarter" idx="77"/>
          </p:nvPr>
        </p:nvSpPr>
        <p:spPr>
          <a:xfrm>
            <a:off x="170539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3" name="AutoShape 33"/>
          <p:cNvSpPr>
            <a:spLocks noGrp="1"/>
          </p:cNvSpPr>
          <p:nvPr>
            <p:ph type="pic" sz="quarter" idx="78"/>
          </p:nvPr>
        </p:nvSpPr>
        <p:spPr>
          <a:xfrm>
            <a:off x="300738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4" name="AutoShape 34"/>
          <p:cNvSpPr>
            <a:spLocks noGrp="1"/>
          </p:cNvSpPr>
          <p:nvPr>
            <p:ph type="pic" sz="quarter" idx="79"/>
          </p:nvPr>
        </p:nvSpPr>
        <p:spPr>
          <a:xfrm>
            <a:off x="4309375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5" name="AutoShape 35"/>
          <p:cNvSpPr>
            <a:spLocks noGrp="1"/>
          </p:cNvSpPr>
          <p:nvPr>
            <p:ph type="pic" sz="quarter" idx="80"/>
          </p:nvPr>
        </p:nvSpPr>
        <p:spPr>
          <a:xfrm>
            <a:off x="5611363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6" name="AutoShape 36"/>
          <p:cNvSpPr>
            <a:spLocks noGrp="1"/>
          </p:cNvSpPr>
          <p:nvPr>
            <p:ph type="pic" sz="quarter" idx="81"/>
          </p:nvPr>
        </p:nvSpPr>
        <p:spPr>
          <a:xfrm>
            <a:off x="691335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7" name="AutoShape 37"/>
          <p:cNvSpPr>
            <a:spLocks noGrp="1"/>
          </p:cNvSpPr>
          <p:nvPr>
            <p:ph type="pic" sz="quarter" idx="82"/>
          </p:nvPr>
        </p:nvSpPr>
        <p:spPr>
          <a:xfrm>
            <a:off x="821533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8" name="AutoShape 38"/>
          <p:cNvSpPr>
            <a:spLocks noGrp="1"/>
          </p:cNvSpPr>
          <p:nvPr>
            <p:ph type="pic" sz="quarter" idx="83"/>
          </p:nvPr>
        </p:nvSpPr>
        <p:spPr>
          <a:xfrm>
            <a:off x="951732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9" name="AutoShape 39"/>
          <p:cNvSpPr>
            <a:spLocks noGrp="1"/>
          </p:cNvSpPr>
          <p:nvPr>
            <p:ph type="pic" sz="quarter" idx="84"/>
          </p:nvPr>
        </p:nvSpPr>
        <p:spPr>
          <a:xfrm>
            <a:off x="10819317" y="3542360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0" name="AutoShape 40"/>
          <p:cNvSpPr>
            <a:spLocks noGrp="1"/>
          </p:cNvSpPr>
          <p:nvPr>
            <p:ph type="pic" sz="quarter" idx="85"/>
          </p:nvPr>
        </p:nvSpPr>
        <p:spPr>
          <a:xfrm>
            <a:off x="170539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1" name="AutoShape 41"/>
          <p:cNvSpPr>
            <a:spLocks noGrp="1"/>
          </p:cNvSpPr>
          <p:nvPr>
            <p:ph type="pic" sz="quarter" idx="86"/>
          </p:nvPr>
        </p:nvSpPr>
        <p:spPr>
          <a:xfrm>
            <a:off x="300738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2" name="AutoShape 42"/>
          <p:cNvSpPr>
            <a:spLocks noGrp="1"/>
          </p:cNvSpPr>
          <p:nvPr>
            <p:ph type="pic" sz="quarter" idx="87"/>
          </p:nvPr>
        </p:nvSpPr>
        <p:spPr>
          <a:xfrm>
            <a:off x="4309375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3" name="AutoShape 43"/>
          <p:cNvSpPr>
            <a:spLocks noGrp="1"/>
          </p:cNvSpPr>
          <p:nvPr>
            <p:ph type="pic" sz="quarter" idx="88"/>
          </p:nvPr>
        </p:nvSpPr>
        <p:spPr>
          <a:xfrm>
            <a:off x="5611363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4" name="AutoShape 44"/>
          <p:cNvSpPr>
            <a:spLocks noGrp="1"/>
          </p:cNvSpPr>
          <p:nvPr>
            <p:ph type="pic" sz="quarter" idx="89"/>
          </p:nvPr>
        </p:nvSpPr>
        <p:spPr>
          <a:xfrm>
            <a:off x="691335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5" name="AutoShape 45"/>
          <p:cNvSpPr>
            <a:spLocks noGrp="1"/>
          </p:cNvSpPr>
          <p:nvPr>
            <p:ph type="pic" sz="quarter" idx="90"/>
          </p:nvPr>
        </p:nvSpPr>
        <p:spPr>
          <a:xfrm>
            <a:off x="821533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6" name="AutoShape 46"/>
          <p:cNvSpPr>
            <a:spLocks noGrp="1"/>
          </p:cNvSpPr>
          <p:nvPr>
            <p:ph type="pic" sz="quarter" idx="91"/>
          </p:nvPr>
        </p:nvSpPr>
        <p:spPr>
          <a:xfrm>
            <a:off x="951732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7" name="AutoShape 47"/>
          <p:cNvSpPr>
            <a:spLocks noGrp="1"/>
          </p:cNvSpPr>
          <p:nvPr>
            <p:ph type="pic" sz="quarter" idx="92"/>
          </p:nvPr>
        </p:nvSpPr>
        <p:spPr>
          <a:xfrm>
            <a:off x="10819317" y="460217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8" name="AutoShape 48"/>
          <p:cNvSpPr>
            <a:spLocks noGrp="1"/>
          </p:cNvSpPr>
          <p:nvPr>
            <p:ph type="pic" sz="quarter" idx="93"/>
          </p:nvPr>
        </p:nvSpPr>
        <p:spPr>
          <a:xfrm>
            <a:off x="170539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9" name="AutoShape 49"/>
          <p:cNvSpPr>
            <a:spLocks noGrp="1"/>
          </p:cNvSpPr>
          <p:nvPr>
            <p:ph type="pic" sz="quarter" idx="94"/>
          </p:nvPr>
        </p:nvSpPr>
        <p:spPr>
          <a:xfrm>
            <a:off x="300738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0" name="AutoShape 50"/>
          <p:cNvSpPr>
            <a:spLocks noGrp="1"/>
          </p:cNvSpPr>
          <p:nvPr>
            <p:ph type="pic" sz="quarter" idx="95"/>
          </p:nvPr>
        </p:nvSpPr>
        <p:spPr>
          <a:xfrm>
            <a:off x="4309375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1" name="AutoShape 51"/>
          <p:cNvSpPr>
            <a:spLocks noGrp="1"/>
          </p:cNvSpPr>
          <p:nvPr>
            <p:ph type="pic" sz="quarter" idx="96"/>
          </p:nvPr>
        </p:nvSpPr>
        <p:spPr>
          <a:xfrm>
            <a:off x="5611363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2" name="AutoShape 52"/>
          <p:cNvSpPr>
            <a:spLocks noGrp="1"/>
          </p:cNvSpPr>
          <p:nvPr>
            <p:ph type="pic" sz="quarter" idx="97"/>
          </p:nvPr>
        </p:nvSpPr>
        <p:spPr>
          <a:xfrm>
            <a:off x="6913351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3" name="AutoShape 53"/>
          <p:cNvSpPr>
            <a:spLocks noGrp="1"/>
          </p:cNvSpPr>
          <p:nvPr>
            <p:ph type="pic" sz="quarter" idx="98"/>
          </p:nvPr>
        </p:nvSpPr>
        <p:spPr>
          <a:xfrm>
            <a:off x="821533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4" name="AutoShape 54"/>
          <p:cNvSpPr>
            <a:spLocks noGrp="1"/>
          </p:cNvSpPr>
          <p:nvPr>
            <p:ph type="pic" sz="quarter" idx="99"/>
          </p:nvPr>
        </p:nvSpPr>
        <p:spPr>
          <a:xfrm>
            <a:off x="951732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5" name="AutoShape 55"/>
          <p:cNvSpPr>
            <a:spLocks noGrp="1"/>
          </p:cNvSpPr>
          <p:nvPr>
            <p:ph type="pic" sz="quarter" idx="100"/>
          </p:nvPr>
        </p:nvSpPr>
        <p:spPr>
          <a:xfrm>
            <a:off x="10819317" y="5651686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4" hasCustomPrompt="1"/>
          </p:nvPr>
        </p:nvSpPr>
        <p:spPr>
          <a:xfrm>
            <a:off x="423068" y="2415203"/>
            <a:ext cx="54864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4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5" hasCustomPrompt="1"/>
          </p:nvPr>
        </p:nvSpPr>
        <p:spPr>
          <a:xfrm>
            <a:off x="423068" y="3138594"/>
            <a:ext cx="548640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6" hasCustomPrompt="1"/>
          </p:nvPr>
        </p:nvSpPr>
        <p:spPr>
          <a:xfrm>
            <a:off x="423068" y="4771707"/>
            <a:ext cx="3657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AutoShape 5"/>
          <p:cNvSpPr/>
          <p:nvPr/>
        </p:nvSpPr>
        <p:spPr>
          <a:xfrm>
            <a:off x="423068" y="6391780"/>
            <a:ext cx="835165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 Group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pic" sz="quarter" idx="107"/>
          </p:nvPr>
        </p:nvSpPr>
        <p:spPr>
          <a:xfrm>
            <a:off x="6092952" y="0"/>
            <a:ext cx="6099048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8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9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0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algn="l"/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eep Blue Title Only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1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2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3"/>
          </p:nvPr>
        </p:nvSpPr>
        <p:spPr>
          <a:xfrm>
            <a:off x="428625" y="6420355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10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28625" y="6420355"/>
            <a:ext cx="12795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	|	 © Atos Group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5" name="AutoShape 5"/>
          <p:cNvSpPr>
            <a:spLocks noGrp="1"/>
          </p:cNvSpPr>
          <p:nvPr>
            <p:ph type="body" sz="quarter" idx="114" hasCustomPrompt="1"/>
          </p:nvPr>
        </p:nvSpPr>
        <p:spPr>
          <a:xfrm>
            <a:off x="428625" y="1196367"/>
            <a:ext cx="5852160" cy="1554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lvl1pPr algn="l" defTabSz="914400">
              <a:lnSpc>
                <a:spcPct val="100000"/>
              </a:lnSpc>
              <a:defRPr sz="4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15" hasCustomPrompt="1"/>
          </p:nvPr>
        </p:nvSpPr>
        <p:spPr>
          <a:xfrm>
            <a:off x="428625" y="2748074"/>
            <a:ext cx="585216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6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7" name="Freeform 7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6" hasCustomPrompt="1"/>
          </p:nvPr>
        </p:nvSpPr>
        <p:spPr>
          <a:xfrm>
            <a:off x="428625" y="1189363"/>
            <a:ext cx="5370060" cy="123110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80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80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Thank you!</a:t>
            </a:r>
          </a:p>
        </p:txBody>
      </p:sp>
      <p:sp>
        <p:nvSpPr>
          <p:cNvPr id="3" name="AutoShape 3"/>
          <p:cNvSpPr/>
          <p:nvPr/>
        </p:nvSpPr>
        <p:spPr>
          <a:xfrm>
            <a:off x="428625" y="5422415"/>
            <a:ext cx="3383281" cy="49244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b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7" hasCustomPrompt="1"/>
          </p:nvPr>
        </p:nvSpPr>
        <p:spPr>
          <a:xfrm>
            <a:off x="428625" y="6316314"/>
            <a:ext cx="2560320" cy="923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lvl1pPr algn="l" defTabSz="914400">
              <a:lnSpc>
                <a:spcPct val="100000"/>
              </a:lnSpc>
              <a:defRPr sz="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Job Number-Designer-BP</a:t>
            </a:r>
          </a:p>
        </p:txBody>
      </p:sp>
      <p:sp>
        <p:nvSpPr>
          <p:cNvPr id="5" name="AutoShape 5"/>
          <p:cNvSpPr/>
          <p:nvPr/>
        </p:nvSpPr>
        <p:spPr>
          <a:xfrm>
            <a:off x="5884404" y="6391780"/>
            <a:ext cx="423193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8" hasCustomPrompt="1"/>
          </p:nvPr>
        </p:nvSpPr>
        <p:spPr>
          <a:xfrm>
            <a:off x="303548" y="164637"/>
            <a:ext cx="11436096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 in Raleway SemiBold 20pt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9" hasCustomPrompt="1"/>
          </p:nvPr>
        </p:nvSpPr>
        <p:spPr>
          <a:xfrm>
            <a:off x="303547" y="556610"/>
            <a:ext cx="11436096" cy="5805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135" b="0" i="0" u="none" strike="noStrike" spc="0">
                <a:solidFill>
                  <a:srgbClr val="0596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2135" b="0" i="0" u="none" strike="noStrike">
                <a:solidFill>
                  <a:srgbClr val="0596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 in Raleway SemiBold 16pt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120" hasCustomPrompt="1"/>
          </p:nvPr>
        </p:nvSpPr>
        <p:spPr>
          <a:xfrm>
            <a:off x="2954745" y="1446367"/>
            <a:ext cx="343043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1" hasCustomPrompt="1"/>
          </p:nvPr>
        </p:nvSpPr>
        <p:spPr>
          <a:xfrm>
            <a:off x="3674348" y="1446367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22" hasCustomPrompt="1"/>
          </p:nvPr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23" hasCustomPrompt="1"/>
          </p:nvPr>
        </p:nvSpPr>
        <p:spPr>
          <a:xfrm>
            <a:off x="2954745" y="2713569"/>
            <a:ext cx="39594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24" hasCustomPrompt="1"/>
          </p:nvPr>
        </p:nvSpPr>
        <p:spPr>
          <a:xfrm>
            <a:off x="3674348" y="2713569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125" hasCustomPrompt="1"/>
          </p:nvPr>
        </p:nvSpPr>
        <p:spPr>
          <a:xfrm>
            <a:off x="11406268" y="2713569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126" hasCustomPrompt="1"/>
          </p:nvPr>
        </p:nvSpPr>
        <p:spPr>
          <a:xfrm>
            <a:off x="2954745" y="3980771"/>
            <a:ext cx="397545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127" hasCustomPrompt="1"/>
          </p:nvPr>
        </p:nvSpPr>
        <p:spPr>
          <a:xfrm>
            <a:off x="3674348" y="3980771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128" hasCustomPrompt="1"/>
          </p:nvPr>
        </p:nvSpPr>
        <p:spPr>
          <a:xfrm>
            <a:off x="11406268" y="3980771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129" hasCustomPrompt="1"/>
          </p:nvPr>
        </p:nvSpPr>
        <p:spPr>
          <a:xfrm>
            <a:off x="2954745" y="5247973"/>
            <a:ext cx="40395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130" hasCustomPrompt="1"/>
          </p:nvPr>
        </p:nvSpPr>
        <p:spPr>
          <a:xfrm>
            <a:off x="3674348" y="5247973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131" hasCustomPrompt="1"/>
          </p:nvPr>
        </p:nvSpPr>
        <p:spPr>
          <a:xfrm>
            <a:off x="11406268" y="5247973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5" name="AutoShape 15"/>
          <p:cNvSpPr>
            <a:spLocks noGrp="1"/>
          </p:cNvSpPr>
          <p:nvPr>
            <p:ph type="body" sz="quarter" idx="132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Contents</a:t>
            </a:r>
          </a:p>
        </p:txBody>
      </p:sp>
      <p:sp>
        <p:nvSpPr>
          <p:cNvPr id="16" name="AutoShape 16"/>
          <p:cNvSpPr>
            <a:spLocks noGrp="1"/>
          </p:cNvSpPr>
          <p:nvPr>
            <p:ph type="body" sz="quarter" idx="133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134" hasCustomPrompt="1"/>
          </p:nvPr>
        </p:nvSpPr>
        <p:spPr>
          <a:xfrm>
            <a:off x="390098" y="389618"/>
            <a:ext cx="1376980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Freeform 4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5" hasCustomPrompt="1"/>
          </p:nvPr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54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  <a:b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two lines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wo curve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4" name="AutoShape 4"/>
          <p:cNvSpPr>
            <a:spLocks noGrp="1"/>
          </p:cNvSpPr>
          <p:nvPr>
            <p:ph type="body" sz="quarter" idx="136" hasCustomPrompt="1"/>
          </p:nvPr>
        </p:nvSpPr>
        <p:spPr>
          <a:xfrm>
            <a:off x="428625" y="4765675"/>
            <a:ext cx="3992904" cy="9699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Freeform 5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37" hasCustomPrompt="1"/>
          </p:nvPr>
        </p:nvSpPr>
        <p:spPr>
          <a:xfrm>
            <a:off x="428625" y="1456679"/>
            <a:ext cx="6766560" cy="1844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44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300"/>
              </a:spcAft>
            </a:pPr>
            <a:r>
              <a:rPr lang="en-US" sz="44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38" hasCustomPrompt="1"/>
          </p:nvPr>
        </p:nvSpPr>
        <p:spPr>
          <a:xfrm>
            <a:off x="428625" y="2084535"/>
            <a:ext cx="6766560" cy="1217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2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32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8100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4" y="0"/>
            <a:ext cx="12192000" cy="6881005"/>
          </a:xfrm>
          <a:prstGeom prst="rect">
            <a:avLst/>
          </a:prstGeom>
          <a:gradFill rotWithShape="0">
            <a:gsLst>
              <a:gs pos="41999">
                <a:srgbClr val="FFFFFF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5" y="6503027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" y="518500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>
            <a:spLocks noGrp="1"/>
          </p:cNvSpPr>
          <p:nvPr>
            <p:ph type="body" sz="quarter" idx="139" hasCustomPrompt="1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935" b="1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935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Click to add title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-16213" y="6276266"/>
            <a:ext cx="825500" cy="33979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33359" tIns="66685" rIns="133359" bIns="66685" rtlCol="0" anchor="ctr">
            <a:spAutoFit/>
          </a:bodyPr>
          <a:lstStyle/>
          <a:p>
            <a:pPr algn="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40"/>
          </p:nvPr>
        </p:nvSpPr>
        <p:spPr>
          <a:xfrm>
            <a:off x="320400" y="6326136"/>
            <a:ext cx="591024" cy="288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91440" tIns="45720" rIns="91440" bIns="45720" anchor="ctr">
            <a:spAutoFit/>
          </a:bodyPr>
          <a:lstStyle>
            <a:lvl1pPr algn="l" defTabSz="914400">
              <a:lnSpc>
                <a:spcPct val="100000"/>
              </a:lnSpc>
              <a:defRPr sz="1335" b="0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41" hasCustomPrompt="1"/>
          </p:nvPr>
        </p:nvSpPr>
        <p:spPr>
          <a:xfrm>
            <a:off x="320400" y="164637"/>
            <a:ext cx="11632251" cy="960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66A1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66A1"/>
                </a:solidFill>
                <a:latin typeface="Biennale Bold"/>
                <a:ea typeface="Biennale Bold"/>
                <a:cs typeface="Biennale Bold"/>
                <a:sym typeface="Biennale Bold"/>
              </a:rPr>
              <a:t>Click to edit the header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142" hasCustomPrompt="1"/>
          </p:nvPr>
        </p:nvSpPr>
        <p:spPr>
          <a:xfrm>
            <a:off x="316799" y="471915"/>
            <a:ext cx="11484000" cy="3432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200" b="1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Click to add 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43" hasCustomPrompt="1"/>
          </p:nvPr>
        </p:nvSpPr>
        <p:spPr>
          <a:xfrm>
            <a:off x="316799" y="830931"/>
            <a:ext cx="11484000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29230" y="6298599"/>
            <a:ext cx="458064" cy="216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793038" y="6384973"/>
            <a:ext cx="605935" cy="1000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ctr" defTabSz="914400">
              <a:lnSpc>
                <a:spcPct val="100000"/>
              </a:lnSpc>
              <a:tabLst>
                <a:tab pos="190500" algn="l"/>
              </a:tabLst>
              <a:defRPr/>
            </a:pPr>
            <a:r>
              <a:rPr lang="en-US" sz="650" b="0" i="0" u="none" strike="noStrike">
                <a:solidFill>
                  <a:srgbClr val="808080"/>
                </a:solidFill>
                <a:latin typeface="Biennale"/>
                <a:ea typeface="Biennale"/>
                <a:cs typeface="Biennale"/>
                <a:sym typeface="Biennale"/>
              </a:rPr>
              <a:t>© EVIDEN SAS</a:t>
            </a:r>
            <a:endParaRPr lang="en-US" sz="110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44" hasCustomPrompt="1"/>
          </p:nvPr>
        </p:nvSpPr>
        <p:spPr>
          <a:xfrm>
            <a:off x="501520" y="1557338"/>
            <a:ext cx="11183565" cy="4787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marL="431800" indent="-203200" algn="l" defTabSz="914400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  <a:lvl2pPr marL="660400" indent="-203200"/>
            <a:lvl3pPr marL="889000" indent="-203200"/>
            <a:lvl4pPr marL="1117600" indent="-203200"/>
            <a:lvl5pPr marL="914400" indent="0"/>
            <a:lvl6pPr marL="711200" indent="0"/>
            <a:lvl7pPr marL="508000" indent="0"/>
            <a:lvl8pPr marL="304800" indent="0"/>
            <a:lvl9pPr marL="101600" indent="0"/>
          </a:lstStyle>
          <a:p>
            <a:pPr marL="228600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Start typing to add text without a bullet point. To add a bullet point, place the cursor at the start of this line and press tab.</a:t>
            </a:r>
          </a:p>
          <a:p>
            <a:pPr marL="457200" lvl="1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Second level</a:t>
            </a:r>
          </a:p>
          <a:p>
            <a:pPr marL="685800" lvl="2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Third level</a:t>
            </a:r>
          </a:p>
          <a:p>
            <a:pPr marL="914400" lvl="3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Fourth level</a:t>
            </a:r>
          </a:p>
          <a:p>
            <a:pPr marL="914400" lvl="4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45" hasCustomPrompt="1"/>
          </p:nvPr>
        </p:nvSpPr>
        <p:spPr>
          <a:xfrm>
            <a:off x="503870" y="504000"/>
            <a:ext cx="1118356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Insert page title (sentence case)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vider Pag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46" hasCustomPrompt="1"/>
          </p:nvPr>
        </p:nvSpPr>
        <p:spPr>
          <a:xfrm>
            <a:off x="503869" y="3090446"/>
            <a:ext cx="11182288" cy="6771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lvl1pPr algn="l" defTabSz="9144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Biennale Bold"/>
                <a:ea typeface="Biennale Bold"/>
                <a:cs typeface="Biennale Bold"/>
                <a:sym typeface="Biennale Bold"/>
              </a:rPr>
              <a:t>Divider page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147"/>
          </p:nvPr>
        </p:nvSpPr>
        <p:spPr>
          <a:xfrm>
            <a:off x="40341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148"/>
          </p:nvPr>
        </p:nvSpPr>
        <p:spPr>
          <a:xfrm>
            <a:off x="403411" y="1439904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149"/>
          </p:nvPr>
        </p:nvSpPr>
        <p:spPr>
          <a:xfrm>
            <a:off x="40341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150"/>
          </p:nvPr>
        </p:nvSpPr>
        <p:spPr>
          <a:xfrm>
            <a:off x="40341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151"/>
          </p:nvPr>
        </p:nvSpPr>
        <p:spPr>
          <a:xfrm>
            <a:off x="403411" y="5651686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152"/>
          </p:nvPr>
        </p:nvSpPr>
        <p:spPr>
          <a:xfrm>
            <a:off x="40341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153"/>
          </p:nvPr>
        </p:nvSpPr>
        <p:spPr>
          <a:xfrm>
            <a:off x="170539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pic" sz="quarter" idx="154"/>
          </p:nvPr>
        </p:nvSpPr>
        <p:spPr>
          <a:xfrm>
            <a:off x="300738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pic" sz="quarter" idx="155"/>
          </p:nvPr>
        </p:nvSpPr>
        <p:spPr>
          <a:xfrm>
            <a:off x="4309375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pic" sz="quarter" idx="156"/>
          </p:nvPr>
        </p:nvSpPr>
        <p:spPr>
          <a:xfrm>
            <a:off x="5611363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pic" sz="quarter" idx="157"/>
          </p:nvPr>
        </p:nvSpPr>
        <p:spPr>
          <a:xfrm>
            <a:off x="691335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pic" sz="quarter" idx="158"/>
          </p:nvPr>
        </p:nvSpPr>
        <p:spPr>
          <a:xfrm>
            <a:off x="821533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pic" sz="quarter" idx="159"/>
          </p:nvPr>
        </p:nvSpPr>
        <p:spPr>
          <a:xfrm>
            <a:off x="951732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5" name="AutoShape 15"/>
          <p:cNvSpPr>
            <a:spLocks noGrp="1"/>
          </p:cNvSpPr>
          <p:nvPr>
            <p:ph type="pic" sz="quarter" idx="160"/>
          </p:nvPr>
        </p:nvSpPr>
        <p:spPr>
          <a:xfrm>
            <a:off x="10819317" y="39039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6" name="AutoShape 16"/>
          <p:cNvSpPr>
            <a:spLocks noGrp="1"/>
          </p:cNvSpPr>
          <p:nvPr>
            <p:ph type="pic" sz="quarter" idx="161"/>
          </p:nvPr>
        </p:nvSpPr>
        <p:spPr>
          <a:xfrm>
            <a:off x="170539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7" name="AutoShape 17"/>
          <p:cNvSpPr>
            <a:spLocks noGrp="1"/>
          </p:cNvSpPr>
          <p:nvPr>
            <p:ph type="pic" sz="quarter" idx="162"/>
          </p:nvPr>
        </p:nvSpPr>
        <p:spPr>
          <a:xfrm>
            <a:off x="300738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8" name="AutoShape 18"/>
          <p:cNvSpPr>
            <a:spLocks noGrp="1"/>
          </p:cNvSpPr>
          <p:nvPr>
            <p:ph type="pic" sz="quarter" idx="163"/>
          </p:nvPr>
        </p:nvSpPr>
        <p:spPr>
          <a:xfrm>
            <a:off x="4309375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9" name="AutoShape 19"/>
          <p:cNvSpPr>
            <a:spLocks noGrp="1"/>
          </p:cNvSpPr>
          <p:nvPr>
            <p:ph type="pic" sz="quarter" idx="164"/>
          </p:nvPr>
        </p:nvSpPr>
        <p:spPr>
          <a:xfrm>
            <a:off x="5611363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0" name="AutoShape 20"/>
          <p:cNvSpPr>
            <a:spLocks noGrp="1"/>
          </p:cNvSpPr>
          <p:nvPr>
            <p:ph type="pic" sz="quarter" idx="165"/>
          </p:nvPr>
        </p:nvSpPr>
        <p:spPr>
          <a:xfrm>
            <a:off x="6913351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1" name="AutoShape 21"/>
          <p:cNvSpPr>
            <a:spLocks noGrp="1"/>
          </p:cNvSpPr>
          <p:nvPr>
            <p:ph type="pic" sz="quarter" idx="166"/>
          </p:nvPr>
        </p:nvSpPr>
        <p:spPr>
          <a:xfrm>
            <a:off x="821533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2" name="AutoShape 22"/>
          <p:cNvSpPr>
            <a:spLocks noGrp="1"/>
          </p:cNvSpPr>
          <p:nvPr>
            <p:ph type="pic" sz="quarter" idx="167"/>
          </p:nvPr>
        </p:nvSpPr>
        <p:spPr>
          <a:xfrm>
            <a:off x="951732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3" name="AutoShape 23"/>
          <p:cNvSpPr>
            <a:spLocks noGrp="1"/>
          </p:cNvSpPr>
          <p:nvPr>
            <p:ph type="pic" sz="quarter" idx="168"/>
          </p:nvPr>
        </p:nvSpPr>
        <p:spPr>
          <a:xfrm>
            <a:off x="10819317" y="1439904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4" name="AutoShape 24"/>
          <p:cNvSpPr>
            <a:spLocks noGrp="1"/>
          </p:cNvSpPr>
          <p:nvPr>
            <p:ph type="pic" sz="quarter" idx="169"/>
          </p:nvPr>
        </p:nvSpPr>
        <p:spPr>
          <a:xfrm>
            <a:off x="170539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5" name="AutoShape 25"/>
          <p:cNvSpPr>
            <a:spLocks noGrp="1"/>
          </p:cNvSpPr>
          <p:nvPr>
            <p:ph type="pic" sz="quarter" idx="170"/>
          </p:nvPr>
        </p:nvSpPr>
        <p:spPr>
          <a:xfrm>
            <a:off x="300738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6" name="AutoShape 26"/>
          <p:cNvSpPr>
            <a:spLocks noGrp="1"/>
          </p:cNvSpPr>
          <p:nvPr>
            <p:ph type="pic" sz="quarter" idx="171"/>
          </p:nvPr>
        </p:nvSpPr>
        <p:spPr>
          <a:xfrm>
            <a:off x="4309375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7" name="AutoShape 27"/>
          <p:cNvSpPr>
            <a:spLocks noGrp="1"/>
          </p:cNvSpPr>
          <p:nvPr>
            <p:ph type="pic" sz="quarter" idx="172"/>
          </p:nvPr>
        </p:nvSpPr>
        <p:spPr>
          <a:xfrm>
            <a:off x="5611363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8" name="AutoShape 28"/>
          <p:cNvSpPr>
            <a:spLocks noGrp="1"/>
          </p:cNvSpPr>
          <p:nvPr>
            <p:ph type="pic" sz="quarter" idx="173"/>
          </p:nvPr>
        </p:nvSpPr>
        <p:spPr>
          <a:xfrm>
            <a:off x="691335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9" name="AutoShape 29"/>
          <p:cNvSpPr>
            <a:spLocks noGrp="1"/>
          </p:cNvSpPr>
          <p:nvPr>
            <p:ph type="pic" sz="quarter" idx="174"/>
          </p:nvPr>
        </p:nvSpPr>
        <p:spPr>
          <a:xfrm>
            <a:off x="821533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0" name="AutoShape 30"/>
          <p:cNvSpPr>
            <a:spLocks noGrp="1"/>
          </p:cNvSpPr>
          <p:nvPr>
            <p:ph type="pic" sz="quarter" idx="175"/>
          </p:nvPr>
        </p:nvSpPr>
        <p:spPr>
          <a:xfrm>
            <a:off x="951732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1" name="AutoShape 31"/>
          <p:cNvSpPr>
            <a:spLocks noGrp="1"/>
          </p:cNvSpPr>
          <p:nvPr>
            <p:ph type="pic" sz="quarter" idx="176"/>
          </p:nvPr>
        </p:nvSpPr>
        <p:spPr>
          <a:xfrm>
            <a:off x="10819317" y="249628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2" name="AutoShape 32"/>
          <p:cNvSpPr>
            <a:spLocks noGrp="1"/>
          </p:cNvSpPr>
          <p:nvPr>
            <p:ph type="pic" sz="quarter" idx="177"/>
          </p:nvPr>
        </p:nvSpPr>
        <p:spPr>
          <a:xfrm>
            <a:off x="170539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3" name="AutoShape 33"/>
          <p:cNvSpPr>
            <a:spLocks noGrp="1"/>
          </p:cNvSpPr>
          <p:nvPr>
            <p:ph type="pic" sz="quarter" idx="178"/>
          </p:nvPr>
        </p:nvSpPr>
        <p:spPr>
          <a:xfrm>
            <a:off x="300738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4" name="AutoShape 34"/>
          <p:cNvSpPr>
            <a:spLocks noGrp="1"/>
          </p:cNvSpPr>
          <p:nvPr>
            <p:ph type="pic" sz="quarter" idx="179"/>
          </p:nvPr>
        </p:nvSpPr>
        <p:spPr>
          <a:xfrm>
            <a:off x="4309375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5" name="AutoShape 35"/>
          <p:cNvSpPr>
            <a:spLocks noGrp="1"/>
          </p:cNvSpPr>
          <p:nvPr>
            <p:ph type="pic" sz="quarter" idx="180"/>
          </p:nvPr>
        </p:nvSpPr>
        <p:spPr>
          <a:xfrm>
            <a:off x="5611363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6" name="AutoShape 36"/>
          <p:cNvSpPr>
            <a:spLocks noGrp="1"/>
          </p:cNvSpPr>
          <p:nvPr>
            <p:ph type="pic" sz="quarter" idx="181"/>
          </p:nvPr>
        </p:nvSpPr>
        <p:spPr>
          <a:xfrm>
            <a:off x="691335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7" name="AutoShape 37"/>
          <p:cNvSpPr>
            <a:spLocks noGrp="1"/>
          </p:cNvSpPr>
          <p:nvPr>
            <p:ph type="pic" sz="quarter" idx="182"/>
          </p:nvPr>
        </p:nvSpPr>
        <p:spPr>
          <a:xfrm>
            <a:off x="821533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8" name="AutoShape 38"/>
          <p:cNvSpPr>
            <a:spLocks noGrp="1"/>
          </p:cNvSpPr>
          <p:nvPr>
            <p:ph type="pic" sz="quarter" idx="183"/>
          </p:nvPr>
        </p:nvSpPr>
        <p:spPr>
          <a:xfrm>
            <a:off x="951732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9" name="AutoShape 39"/>
          <p:cNvSpPr>
            <a:spLocks noGrp="1"/>
          </p:cNvSpPr>
          <p:nvPr>
            <p:ph type="pic" sz="quarter" idx="184"/>
          </p:nvPr>
        </p:nvSpPr>
        <p:spPr>
          <a:xfrm>
            <a:off x="10819317" y="3542360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0" name="AutoShape 40"/>
          <p:cNvSpPr>
            <a:spLocks noGrp="1"/>
          </p:cNvSpPr>
          <p:nvPr>
            <p:ph type="pic" sz="quarter" idx="185"/>
          </p:nvPr>
        </p:nvSpPr>
        <p:spPr>
          <a:xfrm>
            <a:off x="170539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1" name="AutoShape 41"/>
          <p:cNvSpPr>
            <a:spLocks noGrp="1"/>
          </p:cNvSpPr>
          <p:nvPr>
            <p:ph type="pic" sz="quarter" idx="186"/>
          </p:nvPr>
        </p:nvSpPr>
        <p:spPr>
          <a:xfrm>
            <a:off x="300738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2" name="AutoShape 42"/>
          <p:cNvSpPr>
            <a:spLocks noGrp="1"/>
          </p:cNvSpPr>
          <p:nvPr>
            <p:ph type="pic" sz="quarter" idx="187"/>
          </p:nvPr>
        </p:nvSpPr>
        <p:spPr>
          <a:xfrm>
            <a:off x="4309375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3" name="AutoShape 43"/>
          <p:cNvSpPr>
            <a:spLocks noGrp="1"/>
          </p:cNvSpPr>
          <p:nvPr>
            <p:ph type="pic" sz="quarter" idx="188"/>
          </p:nvPr>
        </p:nvSpPr>
        <p:spPr>
          <a:xfrm>
            <a:off x="5611363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4" name="AutoShape 44"/>
          <p:cNvSpPr>
            <a:spLocks noGrp="1"/>
          </p:cNvSpPr>
          <p:nvPr>
            <p:ph type="pic" sz="quarter" idx="189"/>
          </p:nvPr>
        </p:nvSpPr>
        <p:spPr>
          <a:xfrm>
            <a:off x="691335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5" name="AutoShape 45"/>
          <p:cNvSpPr>
            <a:spLocks noGrp="1"/>
          </p:cNvSpPr>
          <p:nvPr>
            <p:ph type="pic" sz="quarter" idx="190"/>
          </p:nvPr>
        </p:nvSpPr>
        <p:spPr>
          <a:xfrm>
            <a:off x="821533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6" name="AutoShape 46"/>
          <p:cNvSpPr>
            <a:spLocks noGrp="1"/>
          </p:cNvSpPr>
          <p:nvPr>
            <p:ph type="pic" sz="quarter" idx="191"/>
          </p:nvPr>
        </p:nvSpPr>
        <p:spPr>
          <a:xfrm>
            <a:off x="951732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7" name="AutoShape 47"/>
          <p:cNvSpPr>
            <a:spLocks noGrp="1"/>
          </p:cNvSpPr>
          <p:nvPr>
            <p:ph type="pic" sz="quarter" idx="192"/>
          </p:nvPr>
        </p:nvSpPr>
        <p:spPr>
          <a:xfrm>
            <a:off x="10819317" y="460217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8" name="AutoShape 48"/>
          <p:cNvSpPr>
            <a:spLocks noGrp="1"/>
          </p:cNvSpPr>
          <p:nvPr>
            <p:ph type="pic" sz="quarter" idx="193"/>
          </p:nvPr>
        </p:nvSpPr>
        <p:spPr>
          <a:xfrm>
            <a:off x="170539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9" name="AutoShape 49"/>
          <p:cNvSpPr>
            <a:spLocks noGrp="1"/>
          </p:cNvSpPr>
          <p:nvPr>
            <p:ph type="pic" sz="quarter" idx="194"/>
          </p:nvPr>
        </p:nvSpPr>
        <p:spPr>
          <a:xfrm>
            <a:off x="300738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0" name="AutoShape 50"/>
          <p:cNvSpPr>
            <a:spLocks noGrp="1"/>
          </p:cNvSpPr>
          <p:nvPr>
            <p:ph type="pic" sz="quarter" idx="195"/>
          </p:nvPr>
        </p:nvSpPr>
        <p:spPr>
          <a:xfrm>
            <a:off x="4309375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1" name="AutoShape 51"/>
          <p:cNvSpPr>
            <a:spLocks noGrp="1"/>
          </p:cNvSpPr>
          <p:nvPr>
            <p:ph type="pic" sz="quarter" idx="196"/>
          </p:nvPr>
        </p:nvSpPr>
        <p:spPr>
          <a:xfrm>
            <a:off x="5611363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2" name="AutoShape 52"/>
          <p:cNvSpPr>
            <a:spLocks noGrp="1"/>
          </p:cNvSpPr>
          <p:nvPr>
            <p:ph type="pic" sz="quarter" idx="197"/>
          </p:nvPr>
        </p:nvSpPr>
        <p:spPr>
          <a:xfrm>
            <a:off x="6913351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3" name="AutoShape 53"/>
          <p:cNvSpPr>
            <a:spLocks noGrp="1"/>
          </p:cNvSpPr>
          <p:nvPr>
            <p:ph type="pic" sz="quarter" idx="198"/>
          </p:nvPr>
        </p:nvSpPr>
        <p:spPr>
          <a:xfrm>
            <a:off x="821533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4" name="AutoShape 54"/>
          <p:cNvSpPr>
            <a:spLocks noGrp="1"/>
          </p:cNvSpPr>
          <p:nvPr>
            <p:ph type="pic" sz="quarter" idx="199"/>
          </p:nvPr>
        </p:nvSpPr>
        <p:spPr>
          <a:xfrm>
            <a:off x="951732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5" name="AutoShape 55"/>
          <p:cNvSpPr>
            <a:spLocks noGrp="1"/>
          </p:cNvSpPr>
          <p:nvPr>
            <p:ph type="pic" sz="quarter" idx="200"/>
          </p:nvPr>
        </p:nvSpPr>
        <p:spPr>
          <a:xfrm>
            <a:off x="10819317" y="5651686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48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 </a:t>
            </a:r>
            <a:endParaRPr lang="en-US" sz="1100"/>
          </a:p>
        </p:txBody>
      </p:sp>
      <p:sp>
        <p:nvSpPr>
          <p:cNvPr id="2" name="Freeform 2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 </a:t>
            </a:r>
            <a:endParaRPr lang="en-US" sz="1100"/>
          </a:p>
        </p:txBody>
      </p:sp>
      <p:sp>
        <p:nvSpPr>
          <p:cNvPr id="2" name="Freeform 2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49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slideLayout" Target="../slideLayouts/slideLayout47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5" Type="http://schemas.openxmlformats.org/officeDocument/2006/relationships/image" Target="../media/image1.png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slideLayout" Target="../slideLayouts/slideLayout48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image" Target="../media/image1.png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3068" y="6391780"/>
            <a:ext cx="835165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Group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23068" y="1847166"/>
            <a:ext cx="5486400" cy="15818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sz="4800" b="0" i="0" u="none" strike="noStrike" dirty="0" err="1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库存可视化与多维度查询体系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423068" y="4077251"/>
            <a:ext cx="5486400" cy="112188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spcAft>
                <a:spcPts val="600"/>
              </a:spcAft>
              <a:defRPr/>
            </a:pPr>
            <a:r>
              <a:rPr lang="zh-CN" altLang="en-US" sz="3600" dirty="0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业务诊断咨询及</a:t>
            </a:r>
            <a:r>
              <a:rPr lang="en-US" sz="3600" b="0" i="0" u="none" strike="noStrike" dirty="0" err="1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SAP系统升级实施项目</a:t>
            </a:r>
            <a:endParaRPr lang="en-US" sz="3600" b="0" i="0" u="none" strike="noStrike" dirty="0">
              <a:solidFill>
                <a:srgbClr val="00005C"/>
              </a:solidFill>
              <a:latin typeface="Biennale Bold"/>
              <a:ea typeface="Biennale Bold"/>
              <a:cs typeface="Biennale Bold"/>
              <a:sym typeface="Biennale Bold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23068" y="5491978"/>
            <a:ext cx="3657600" cy="6400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2026.08.22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107" r="106"/>
          <a:stretch>
            <a:fillRect/>
          </a:stretch>
        </p:blipFill>
        <p:spPr>
          <a:xfrm>
            <a:off x="6092952" y="0"/>
            <a:ext cx="6099048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3068" y="340653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954745" y="1446367"/>
            <a:ext cx="310983" cy="36933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621008" y="1446530"/>
            <a:ext cx="752094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方案综述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algn="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10950" y="2419350"/>
            <a:ext cx="355600" cy="307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algn="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06268" y="4586561"/>
            <a:ext cx="355867" cy="3077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algn="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2954745" y="2412966"/>
            <a:ext cx="365760" cy="368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21008" y="2413000"/>
            <a:ext cx="752094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方案详解及系统实现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目录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455" y="100951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2954745" y="3479013"/>
            <a:ext cx="365760" cy="368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21008" y="3479165"/>
            <a:ext cx="7520940" cy="12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配套行动计划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901405" y="4530775"/>
            <a:ext cx="365760" cy="368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621008" y="4530775"/>
            <a:ext cx="7521210" cy="12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附录：原始需求清单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90098" y="389618"/>
            <a:ext cx="1247136" cy="14773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方案综述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3962" y="262243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SAP为核心构建库存可视化与多维度查询体系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524000"/>
            <a:ext cx="508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01 </a:t>
            </a: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专题定位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2032000"/>
            <a:ext cx="508000" cy="381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08000" y="2286000"/>
            <a:ext cx="5080000" cy="266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SAP S/4HANA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集团库存数据管理与查询的核心引擎，以WMS系统为仓储作业执行平台，以SRM系统为供应商协同平台，以商城系统为前端销售渠道，通过统一标准化的库存数据口径、批次管理、库位管理、条码管理及多维度查询规则，打通从采购入库、仓储作业、生产领料、销售出库至财务结算的全流程库存数据链路，形成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计划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-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-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-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的集团级库存管理系统闭环，实现库存管理的规范化、透明化与智能化管控，为企业库存精细化与高效协同提供坚实的数字化支撑。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969000" y="1524000"/>
            <a:ext cx="571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02 </a:t>
            </a: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建设目标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969000" y="2032000"/>
            <a:ext cx="508000" cy="381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969000" y="2286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1400" y="24384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477000" y="2413000"/>
            <a:ext cx="2222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数据口径标准化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21400" y="2819400"/>
            <a:ext cx="2476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建立统一的库存数据口径管理体系，覆盖全工厂/库位/批次，实现库存数据从定义、采集、校验到发布的全生命周期可追溯与动态监控。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826500" y="2286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78900" y="24384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334500" y="2413000"/>
            <a:ext cx="2222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查询维度可视化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978900" y="2819400"/>
            <a:ext cx="2476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将多维度查询需求转化为系统可执行的可视化看板规则，确保库存查询高效，从源头保障库存数据的准确性。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969000" y="38735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21400" y="4025900"/>
            <a:ext cx="279400" cy="279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477000" y="4000500"/>
            <a:ext cx="2222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系统集成实时化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121400" y="4406900"/>
            <a:ext cx="2476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将跨系统数据同步需求直接落地为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SAP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系统间的接口协议，实现库存数据按预设频率自动同步，优化跨系统数据一致性与协同效率。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826500" y="38735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78900" y="4025900"/>
            <a:ext cx="279400" cy="279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334500" y="4000500"/>
            <a:ext cx="2222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账龄分析智能化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978900" y="4406900"/>
            <a:ext cx="2476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建立库存账龄实时分析、呆滞库存预警、新品库存监控的全链路机制，有效防范库存积压、缺货断供、数据滞后等业务风险。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08000" y="55245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1E3A8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35000" y="5651500"/>
            <a:ext cx="1092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核心价值：实现库存管理从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多源分散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统一口径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、从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人工查询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系统可视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、从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事后统计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实时监控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的三大数字化转变，构建透明高效的库存管控新格局。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库存可视化与多维度查询体系：方案总览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09577" y="1078301"/>
            <a:ext cx="7582000" cy="176841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项目目标：</a:t>
            </a:r>
            <a:endParaRPr lang="en-US" sz="1100"/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建立集团统一库存数据口径管理体系，实现库存数据统一标准、统一来源、统一信任。      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一期）</a:t>
            </a:r>
            <a:endParaRPr lang="en-US" sz="1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建立多维度库存可视化查询体系，支持按工厂/库位/批次/供应商/品牌等多维度穿透查询。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一期）</a:t>
            </a:r>
            <a:endParaRPr lang="en-US" sz="1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构建跨系统库存数据集成与流程闭环，打通SAP/WMS/SRM/商城等系统数据链路。         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期）</a:t>
            </a:r>
            <a:endParaRPr lang="en-US" sz="1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建立库存账龄分析与运营监控体系，为库存精细化管理与决策提供数据支撑。                   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二期）</a:t>
            </a:r>
            <a:endParaRPr lang="en-US" sz="1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项目方案：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2.1 库存数据口径统一治理：数据标准制定，主数据治理，报表取数逻辑校准，跨系统数据对账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2.2 多维度可视化看板：工厂/库位/批次/供应商/品牌多维查询，库存穿透，实时监控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2.3 跨系统集成与流程打通：SAP-WMS-SRM-商城接口，库存数据实时同步，流程闭环 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2.4 作业自动化与条码管理：条码扫描，PDA作业，智能上架推荐，库存账龄分析报表   </a:t>
            </a:r>
            <a:r>
              <a:rPr lang="en-US" sz="10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（ 二期）</a:t>
            </a:r>
          </a:p>
        </p:txBody>
      </p:sp>
      <p:sp>
        <p:nvSpPr>
          <p:cNvPr id="8" name="AutoShape 8"/>
          <p:cNvSpPr/>
          <p:nvPr/>
        </p:nvSpPr>
        <p:spPr>
          <a:xfrm>
            <a:off x="498949" y="3020370"/>
            <a:ext cx="2812522" cy="3076343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现状：</a:t>
            </a:r>
            <a:endParaRPr lang="en-US" sz="1100"/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库存数据多源不一致，查询口径缺乏统一标准。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不同事务码查询结果存在偏差，数据可信度低。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库存可视化维度缺失，无法按批次/品牌等穿透查询。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主数据一码多物、品牌缺失，数据根基不稳。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系统间数据孤岛，SAP与WMS/SRM库存数据不同步。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库存账龄信息缺失，新品库存数据滞后。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主要差距：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库存数据口径未形成统一治理机制。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SAP标准库存查询与批次管理能力利用不足。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库存作业缺少自动化与条码管理支撑。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跨系统库存数据协同存在断点。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库存分析缺少统一指标体系与账龄分析能力。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3564766" y="3009009"/>
            <a:ext cx="4522498" cy="1526230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库存数据：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由多源分散➡️统一口径可信数据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库存查询：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由粗颗粒度➡️多维度穿透可视化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系统协同：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由数据孤岛➡️跨系统实时集成同步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库存运营：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由人工统计➡️实时库存驾驶舱与账龄分析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569079" y="4669971"/>
            <a:ext cx="4522498" cy="1426743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库存数据口径统一治理与信任重建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多维度库存可视化看板与穿透查询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跨系统库存数据集成与流程闭环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作业自动化与条码管理体系建设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</a:t>
            </a:r>
            <a: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跨系统库存数据集成与流程闭环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</a:t>
            </a:r>
            <a: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库存运营分析体系与账龄分析报表</a:t>
            </a:r>
            <a:endParaRPr lang="zh-CN" altLang="en-US" sz="10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399872" y="2128930"/>
            <a:ext cx="3282551" cy="1218117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399872" y="3620220"/>
            <a:ext cx="3282551" cy="113293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0" indent="0" algn="l" defTabSz="914400">
              <a:lnSpc>
                <a:spcPct val="100000"/>
              </a:lnSpc>
              <a:defRPr/>
            </a:pPr>
            <a:endParaRPr lang="en-US" sz="1100"/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库存数据口径需统一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主数据治理需先行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zh-CN" altLang="en-US" sz="1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帐实相符，系统与业务同步，杜绝两层皮</a:t>
            </a:r>
            <a:endParaRPr lang="en-US" sz="1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条码管理范围需确认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跨系统接口边界需确认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关键用户需全过程参与</a:t>
            </a: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/</a:t>
            </a:r>
            <a:r>
              <a:rPr lang="en-US" sz="1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中文）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399872" y="4963779"/>
            <a:ext cx="3282551" cy="113293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库存数据：数据口径统一可信</a:t>
            </a:r>
            <a:endParaRPr lang="en-US" sz="1100"/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库存查询：多维度穿透可视化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作业效率：条码自动化提升作业效率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数据协同：跨系统实时同步消除孤岛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库存运营：形成库存账龄、周转及库存健康度分析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399872" y="1078301"/>
            <a:ext cx="3282551" cy="84000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主责： 供应链中心、制造基地运营中心、数智化部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配合： 采购中心、销售中心、财务管理部、质量管理部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外部：艾维登MM/EWM专家、SAP实施团队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562025" y="900920"/>
            <a:ext cx="1039792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 责任部门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562025" y="1985697"/>
            <a:ext cx="1039792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 里程碑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562025" y="3473741"/>
            <a:ext cx="1643023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 风险与项目依赖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562025" y="4789456"/>
            <a:ext cx="210022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 业务价值和数字化指标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773854" y="4535239"/>
            <a:ext cx="137673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 关键任务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763676" y="2913921"/>
            <a:ext cx="1376734" cy="215127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 业务变革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90731" y="2905836"/>
            <a:ext cx="137673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 现状/差距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90731" y="916009"/>
            <a:ext cx="137673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 目标和范围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62642" y="1552755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824823" y="2665562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1964838" y="2363638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8519160" y="2402840"/>
            <a:ext cx="692150" cy="2463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规则确认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>
            <a:off x="8678174" y="3157265"/>
            <a:ext cx="2973070" cy="1079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366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28" name="AutoShape 28"/>
          <p:cNvSpPr/>
          <p:nvPr/>
        </p:nvSpPr>
        <p:spPr>
          <a:xfrm>
            <a:off x="8863208" y="3105505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9487428" y="3102633"/>
            <a:ext cx="103505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10735838" y="3117011"/>
            <a:ext cx="103505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0548620" y="2402840"/>
            <a:ext cx="595630" cy="4000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多维度可视化看板上线</a:t>
            </a:r>
          </a:p>
        </p:txBody>
      </p:sp>
      <p:sp>
        <p:nvSpPr>
          <p:cNvPr id="32" name="AutoShape 32"/>
          <p:cNvSpPr/>
          <p:nvPr/>
        </p:nvSpPr>
        <p:spPr>
          <a:xfrm>
            <a:off x="9198610" y="2402840"/>
            <a:ext cx="638810" cy="4000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lvl="0" algn="ctr" defTabSz="914400">
              <a:buSzTx/>
              <a:defRPr/>
            </a:pPr>
            <a:r>
              <a:rPr 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数据口径统一治理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上线</a:t>
            </a:r>
          </a:p>
        </p:txBody>
      </p:sp>
      <p:sp>
        <p:nvSpPr>
          <p:cNvPr id="33" name="AutoShape 33"/>
          <p:cNvSpPr/>
          <p:nvPr/>
        </p:nvSpPr>
        <p:spPr>
          <a:xfrm>
            <a:off x="8652294" y="6599208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3722914" y="31242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10111633" y="3107116"/>
            <a:ext cx="103505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9824720" y="2402840"/>
            <a:ext cx="736600" cy="4000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主数据治理与条码</a:t>
            </a:r>
            <a:r>
              <a:rPr lang="en-US" altLang="zh-CN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PDA</a:t>
            </a:r>
            <a:r>
              <a:rPr lang="zh-CN" alt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作业上线</a:t>
            </a:r>
          </a:p>
        </p:txBody>
      </p:sp>
      <p:sp>
        <p:nvSpPr>
          <p:cNvPr id="37" name="AutoShape 31"/>
          <p:cNvSpPr/>
          <p:nvPr/>
        </p:nvSpPr>
        <p:spPr>
          <a:xfrm>
            <a:off x="11131550" y="2402840"/>
            <a:ext cx="595630" cy="4000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跨系统集成与智能分析上线</a:t>
            </a:r>
          </a:p>
        </p:txBody>
      </p:sp>
      <p:sp>
        <p:nvSpPr>
          <p:cNvPr id="38" name="AutoShape 30"/>
          <p:cNvSpPr/>
          <p:nvPr/>
        </p:nvSpPr>
        <p:spPr>
          <a:xfrm>
            <a:off x="11360043" y="3103676"/>
            <a:ext cx="103505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AutoShape 14"/>
          <p:cNvSpPr/>
          <p:nvPr>
            <p:custDataLst>
              <p:tags r:id="rId1"/>
            </p:custDataLst>
          </p:nvPr>
        </p:nvSpPr>
        <p:spPr>
          <a:xfrm>
            <a:off x="6314440" y="1057275"/>
            <a:ext cx="5025390" cy="379603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7D56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	Atos Confidential</a:t>
            </a: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5" y="291465"/>
            <a:ext cx="8234045" cy="6064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algn="l" defTabSz="914400">
              <a:lnSpc>
                <a:spcPct val="100000"/>
              </a:lnSpc>
              <a:buSzTx/>
              <a:defRPr/>
            </a:pPr>
            <a:r>
              <a:rPr lang="en-US" sz="2800" b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+mn-ea"/>
              </a:rPr>
              <a:t>库存核心分析方法（</a:t>
            </a:r>
            <a:r>
              <a:rPr lang="zh-CN" altLang="en-US" sz="2800" b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+mn-ea"/>
              </a:rPr>
              <a:t>一</a:t>
            </a:r>
            <a:r>
              <a:rPr lang="en-US" sz="2800" b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+mn-ea"/>
              </a:rPr>
              <a:t>）：</a:t>
            </a:r>
            <a:r>
              <a:rPr lang="zh-CN" altLang="en-US" sz="2800" b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+mn-ea"/>
              </a:rPr>
              <a:t>物料存货形态</a:t>
            </a:r>
            <a:r>
              <a:rPr lang="en-US" sz="2800" b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+mn-ea"/>
              </a:rPr>
              <a:t>分析</a:t>
            </a:r>
            <a:endParaRPr lang="en-US" sz="2800" b="1">
              <a:solidFill>
                <a:srgbClr val="0073E6"/>
              </a:solidFill>
              <a:latin typeface="微软雅黑" panose="020B0503020204020204" charset="-122"/>
              <a:ea typeface="微软雅黑" panose="020B0503020204020204" charset="-122"/>
              <a:cs typeface="Biennale Bold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08000" y="5240806"/>
            <a:ext cx="11176000" cy="889000"/>
          </a:xfrm>
          <a:prstGeom prst="roundRect">
            <a:avLst>
              <a:gd name="adj" fmla="val 0"/>
            </a:avLst>
          </a:prstGeom>
          <a:solidFill>
            <a:srgbClr val="1E3A8A">
              <a:alpha val="8000"/>
            </a:srgbClr>
          </a:solidFill>
          <a:ln w="12700" cap="flat" cmpd="sng">
            <a:solidFill>
              <a:srgbClr val="1E3A8A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431306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ctr" defTabSz="914400">
              <a:lnSpc>
                <a:spcPct val="100000"/>
              </a:lnSpc>
              <a:buSzTx/>
              <a:defRPr/>
            </a:pPr>
            <a:r>
              <a:rPr lang="zh-CN" altLang="en-US" sz="13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</a:t>
            </a:r>
            <a:r>
              <a:rPr lang="en-US" sz="13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价值：</a:t>
            </a:r>
            <a:r>
              <a:rPr lang="zh-CN" altLang="en-US" sz="13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解决库存数据割裂、口径不一、盲区过多问题，实现库存全场景可视、全状态可查、全异常可预警，助力精益采购、精准排产、库存降本与合规管控</a:t>
            </a:r>
            <a:r>
              <a:rPr lang="zh-CN" altLang="en-US" sz="13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3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23" name="AutoShape 10"/>
          <p:cNvSpPr/>
          <p:nvPr>
            <p:custDataLst>
              <p:tags r:id="rId2"/>
            </p:custDataLst>
          </p:nvPr>
        </p:nvSpPr>
        <p:spPr>
          <a:xfrm>
            <a:off x="944880" y="1057275"/>
            <a:ext cx="4871085" cy="379539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944245" y="1066165"/>
            <a:ext cx="10395585" cy="4051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AutoShape 11"/>
          <p:cNvSpPr/>
          <p:nvPr>
            <p:custDataLst>
              <p:tags r:id="rId3"/>
            </p:custDataLst>
          </p:nvPr>
        </p:nvSpPr>
        <p:spPr>
          <a:xfrm>
            <a:off x="944245" y="1045845"/>
            <a:ext cx="10396220" cy="46418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457200" algn="l" defTabSz="914400" eaLnBrk="1" fontAlgn="auto" latinLnBrk="0" hangingPunct="1">
              <a:lnSpc>
                <a:spcPct val="125000"/>
              </a:lnSpc>
              <a:buSzTx/>
              <a:defRPr/>
            </a:pPr>
            <a:r>
              <a:rPr 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整合SAP全模块数据，搭建单物料一键穿透看板，实现多维度库存自动统计、异常风险智能预警、岗位权限分级查询。</a:t>
            </a:r>
            <a:endParaRPr lang="en-US"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+mn-ea"/>
            </a:endParaRPr>
          </a:p>
        </p:txBody>
      </p:sp>
      <p:sp>
        <p:nvSpPr>
          <p:cNvPr id="25" name="AutoShape 12"/>
          <p:cNvSpPr/>
          <p:nvPr>
            <p:custDataLst>
              <p:tags r:id="rId4"/>
            </p:custDataLst>
          </p:nvPr>
        </p:nvSpPr>
        <p:spPr>
          <a:xfrm>
            <a:off x="945515" y="1557655"/>
            <a:ext cx="10394315" cy="36000"/>
          </a:xfrm>
          <a:prstGeom prst="roundRect">
            <a:avLst>
              <a:gd name="adj" fmla="val 0"/>
            </a:avLst>
          </a:prstGeom>
          <a:solidFill>
            <a:srgbClr val="2563EB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AutoShape 13"/>
          <p:cNvSpPr/>
          <p:nvPr>
            <p:custDataLst>
              <p:tags r:id="rId5"/>
            </p:custDataLst>
          </p:nvPr>
        </p:nvSpPr>
        <p:spPr>
          <a:xfrm>
            <a:off x="1193165" y="1657985"/>
            <a:ext cx="4432935" cy="31610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物理库存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工厂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库位实物在手库存，分层统计良品、待检库、冻结存，核对账实差异，摸清库存底盘。</a:t>
            </a:r>
          </a:p>
          <a:p>
            <a:pPr algn="l"/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可用库存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有效可动用库存，剔除预留、锁库、质检冻结库存，规避账面虚高误导决策。</a:t>
            </a:r>
          </a:p>
          <a:p>
            <a:pPr algn="l"/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在途库存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已下单未入库物料，统计到货时效、异常滞后订单，纳入备货统筹，避免过度采购。</a:t>
            </a:r>
          </a:p>
          <a:p>
            <a:pPr algn="l"/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 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寄售库存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覆盖供应商寄售（厂区未结算）、客户寄售（客仓未回款），厘清权属，管控结算与积压风险。</a:t>
            </a:r>
            <a:endParaRPr lang="zh-CN" altLang="en-US" sz="1200" b="0" i="0" u="none" strike="noStrike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0" name="AutoShape 17"/>
          <p:cNvSpPr/>
          <p:nvPr>
            <p:custDataLst>
              <p:tags r:id="rId6"/>
            </p:custDataLst>
          </p:nvPr>
        </p:nvSpPr>
        <p:spPr>
          <a:xfrm>
            <a:off x="6598920" y="1532255"/>
            <a:ext cx="4526915" cy="32619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 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外协库存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外协厂商加工物料，全程追溯存量与损耗，预警长期呆滞、物料流失问题。</a:t>
            </a:r>
          </a:p>
          <a:p>
            <a:pPr algn="l"/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6. 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采购在单量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未清采购订单待入库资源，研判订单履约状态，精准匹配供需，优化采购计划。</a:t>
            </a:r>
          </a:p>
          <a:p>
            <a:pPr algn="l"/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7. 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生产在制量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生产投料未完工在制品，监控生产进度、物料损耗，预判完工入库节点。</a:t>
            </a:r>
          </a:p>
          <a:p>
            <a:pPr algn="l"/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8. 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全量库存统筹逻辑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真实可控库存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可用库存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在途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采购在单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生产在制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外协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寄售可用库存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锁定预留库存</a:t>
            </a:r>
            <a:endParaRPr lang="zh-CN" altLang="en-US" sz="12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	Atos Confidential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5" y="291465"/>
            <a:ext cx="8234045" cy="6064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algn="l" defTabSz="914400">
              <a:lnSpc>
                <a:spcPct val="100000"/>
              </a:lnSpc>
              <a:buSzTx/>
              <a:defRPr/>
            </a:pPr>
            <a:r>
              <a:rPr lang="en-US" sz="2800" b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+mn-ea"/>
              </a:rPr>
              <a:t>库存核心分析方法（</a:t>
            </a:r>
            <a:r>
              <a:rPr lang="zh-CN" altLang="en-US" sz="2800" b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+mn-ea"/>
              </a:rPr>
              <a:t>二</a:t>
            </a:r>
            <a:r>
              <a:rPr lang="en-US" sz="2800" b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+mn-ea"/>
              </a:rPr>
              <a:t>）：存货类别分析</a:t>
            </a:r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508000" y="1551305"/>
            <a:ext cx="3352800" cy="2794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711200" y="1754656"/>
            <a:ext cx="31496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 defTabSz="914400">
              <a:lnSpc>
                <a:spcPct val="125000"/>
              </a:lnSpc>
              <a:buSzTx/>
              <a:defRPr/>
            </a:pPr>
            <a:r>
              <a:rPr lang="en-US" sz="1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分析目标</a:t>
            </a: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711200" y="2186456"/>
            <a:ext cx="2952000" cy="25400"/>
          </a:xfrm>
          <a:prstGeom prst="roundRect">
            <a:avLst>
              <a:gd name="adj" fmla="val 0"/>
            </a:avLst>
          </a:prstGeom>
          <a:solidFill>
            <a:srgbClr val="2563EB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711200" y="2376805"/>
            <a:ext cx="3149600" cy="16236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171450" lvl="0" indent="-171450" algn="l" defTabSz="914400">
              <a:lnSpc>
                <a:spcPct val="150000"/>
              </a:lnSpc>
              <a:buSzTx/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看清存货结构与分布</a:t>
            </a:r>
          </a:p>
          <a:p>
            <a:pPr marL="171450" lvl="0" indent="-171450" algn="l" defTabSz="914400">
              <a:lnSpc>
                <a:spcPct val="150000"/>
              </a:lnSpc>
              <a:buSzTx/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识别结构性库存风险</a:t>
            </a:r>
          </a:p>
          <a:p>
            <a:pPr marL="171450" lvl="0" indent="-171450" algn="l" defTabSz="914400">
              <a:lnSpc>
                <a:spcPct val="150000"/>
              </a:lnSpc>
              <a:buSzTx/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支撑采购与生产策略优化</a:t>
            </a:r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4149725" y="1551305"/>
            <a:ext cx="3749675" cy="2794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4374515" y="1754505"/>
            <a:ext cx="3321685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 defTabSz="914400">
              <a:lnSpc>
                <a:spcPct val="125000"/>
              </a:lnSpc>
              <a:buSzTx/>
              <a:defRPr/>
            </a:pPr>
            <a:r>
              <a:rPr lang="en-US" sz="1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核心分析角度</a:t>
            </a:r>
          </a:p>
        </p:txBody>
      </p: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4374515" y="2186305"/>
            <a:ext cx="3321685" cy="76200"/>
          </a:xfrm>
          <a:prstGeom prst="roundRect">
            <a:avLst>
              <a:gd name="adj" fmla="val 0"/>
            </a:avLst>
          </a:prstGeom>
          <a:solidFill>
            <a:srgbClr val="2563EB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4374515" y="2376805"/>
            <a:ext cx="3321685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 defTabSz="914400">
              <a:lnSpc>
                <a:spcPct val="108000"/>
              </a:lnSpc>
              <a:buAutoNum type="arabicPeriod"/>
              <a:defRPr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结构占比分析：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按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ABC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分析，按原材料、半成品、产成品等分类统计金额与占比。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 algn="l" defTabSz="914400">
              <a:lnSpc>
                <a:spcPct val="108000"/>
              </a:lnSpc>
              <a:buAutoNum type="arabicPeriod"/>
              <a:defRPr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分工厂分布分析：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识别存货在各基地的集中积压情况。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 algn="l" defTabSz="914400">
              <a:lnSpc>
                <a:spcPct val="108000"/>
              </a:lnSpc>
              <a:buAutoNum type="arabicPeriod"/>
              <a:defRPr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变动趋势分析：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按月度滚动对比各类存货金额变化。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 algn="l" defTabSz="914400">
              <a:lnSpc>
                <a:spcPct val="108000"/>
              </a:lnSpc>
              <a:buAutoNum type="arabicPeriod"/>
              <a:defRPr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供应商穿透分析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：追溯原材料、辅材的供应商供货库存占比。</a:t>
            </a:r>
            <a:endParaRPr lang="en-US" sz="12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9"/>
            </p:custDataLst>
          </p:nvPr>
        </p:nvSpPr>
        <p:spPr>
          <a:xfrm>
            <a:off x="8128000" y="1551456"/>
            <a:ext cx="3556000" cy="2794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buSzTx/>
              <a:defRPr/>
            </a:pPr>
            <a:endParaRPr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8331200" y="1754656"/>
            <a:ext cx="31496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 defTabSz="914400">
              <a:lnSpc>
                <a:spcPct val="125000"/>
              </a:lnSpc>
              <a:buSzTx/>
              <a:defRPr/>
            </a:pPr>
            <a:r>
              <a:rPr lang="en-US" sz="1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业务价值</a:t>
            </a: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8331200" y="2186456"/>
            <a:ext cx="3149600" cy="254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2"/>
            </p:custDataLst>
          </p:nvPr>
        </p:nvSpPr>
        <p:spPr>
          <a:xfrm>
            <a:off x="8331200" y="2376956"/>
            <a:ext cx="31496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1450" indent="-171450" algn="l" defTabSz="914400">
              <a:lnSpc>
                <a:spcPct val="150000"/>
              </a:lnSpc>
              <a:buSzTx/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实现存货结构透明化</a:t>
            </a:r>
            <a:endParaRPr lang="en-US" sz="120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  <a:p>
            <a:pPr marL="171450" indent="-171450" algn="l" defTabSz="914400">
              <a:lnSpc>
                <a:spcPct val="150000"/>
              </a:lnSpc>
              <a:buSzTx/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定位结构性库存风险</a:t>
            </a:r>
            <a:endParaRPr lang="en-US" sz="120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  <a:p>
            <a:pPr marL="171450" indent="-171450" algn="l" defTabSz="914400">
              <a:lnSpc>
                <a:spcPct val="150000"/>
              </a:lnSpc>
              <a:buSzTx/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反向指导采购与生产策略</a:t>
            </a:r>
            <a:endParaRPr lang="en-US" sz="12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08000" y="4838216"/>
            <a:ext cx="11176000" cy="889000"/>
          </a:xfrm>
          <a:prstGeom prst="roundRect">
            <a:avLst>
              <a:gd name="adj" fmla="val 0"/>
            </a:avLst>
          </a:prstGeom>
          <a:solidFill>
            <a:srgbClr val="1E3A8A">
              <a:alpha val="8000"/>
            </a:srgbClr>
          </a:solidFill>
          <a:ln w="12700" cap="flat" cmpd="sng">
            <a:solidFill>
              <a:srgbClr val="1E3A8A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028716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zh-CN" altLang="en-US" sz="13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r>
              <a:rPr lang="en-US" sz="13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价值：</a:t>
            </a:r>
            <a:r>
              <a:rPr lang="zh-CN" altLang="en-US" sz="13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按照物料属性对集团存货做结构化拆解，看清各类存货规模、占比、变动趋势，识别存货结构风险，支撑库存结构优化，推动采购、生产策略调整。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	Atos Confidential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5" y="291465"/>
            <a:ext cx="8234045" cy="6064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algn="l" defTabSz="914400">
              <a:lnSpc>
                <a:spcPct val="100000"/>
              </a:lnSpc>
              <a:buSzTx/>
              <a:defRPr/>
            </a:pPr>
            <a:r>
              <a:rPr lang="en-US" sz="2800" b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+mn-ea"/>
              </a:rPr>
              <a:t>库存核心分析方法（</a:t>
            </a:r>
            <a:r>
              <a:rPr lang="zh-CN" altLang="en-US" sz="2800" b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+mn-ea"/>
              </a:rPr>
              <a:t>三</a:t>
            </a:r>
            <a:r>
              <a:rPr lang="en-US" sz="2800" b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+mn-ea"/>
              </a:rPr>
              <a:t>）：库龄分析</a:t>
            </a:r>
            <a:endParaRPr lang="en-US" sz="2800" b="1">
              <a:solidFill>
                <a:srgbClr val="0073E6"/>
              </a:solidFill>
              <a:latin typeface="微软雅黑" panose="020B0503020204020204" charset="-122"/>
              <a:ea typeface="微软雅黑" panose="020B0503020204020204" charset="-122"/>
              <a:cs typeface="Biennale Bold"/>
            </a:endParaRPr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508000" y="1526056"/>
            <a:ext cx="3556000" cy="2794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711200" y="1729256"/>
            <a:ext cx="31496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 defTabSz="914400">
              <a:lnSpc>
                <a:spcPct val="125000"/>
              </a:lnSpc>
              <a:buSzTx/>
              <a:defRPr/>
            </a:pPr>
            <a:r>
              <a:rPr lang="en-US" sz="1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分析目标</a:t>
            </a: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711200" y="2161056"/>
            <a:ext cx="3149600" cy="25400"/>
          </a:xfrm>
          <a:prstGeom prst="roundRect">
            <a:avLst>
              <a:gd name="adj" fmla="val 0"/>
            </a:avLst>
          </a:prstGeom>
          <a:solidFill>
            <a:srgbClr val="2563EB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711200" y="2351405"/>
            <a:ext cx="3149600" cy="16236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171450" lvl="0" indent="-171450" algn="l" defTabSz="914400">
              <a:lnSpc>
                <a:spcPct val="150000"/>
              </a:lnSpc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监控存货存放时长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lvl="0" indent="-171450" algn="l" defTabSz="914400">
              <a:lnSpc>
                <a:spcPct val="150000"/>
              </a:lnSpc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预警呆滞与跌价风险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lvl="0" indent="-171450" algn="l" defTabSz="914400">
              <a:lnSpc>
                <a:spcPct val="150000"/>
              </a:lnSpc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支撑库存清理与处置</a:t>
            </a:r>
            <a:endParaRPr lang="en-US" sz="120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+mn-ea"/>
            </a:endParaRPr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4318000" y="1526056"/>
            <a:ext cx="3556000" cy="2794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4521200" y="1729256"/>
            <a:ext cx="31496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 defTabSz="914400">
              <a:lnSpc>
                <a:spcPct val="125000"/>
              </a:lnSpc>
              <a:buSzTx/>
              <a:defRPr/>
            </a:pPr>
            <a:r>
              <a:rPr lang="en-US" sz="1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核心分析角度</a:t>
            </a:r>
          </a:p>
        </p:txBody>
      </p: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4521200" y="2161056"/>
            <a:ext cx="3149600" cy="25400"/>
          </a:xfrm>
          <a:prstGeom prst="roundRect">
            <a:avLst>
              <a:gd name="adj" fmla="val 0"/>
            </a:avLst>
          </a:prstGeom>
          <a:solidFill>
            <a:srgbClr val="2563EB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4521200" y="2351556"/>
            <a:ext cx="31496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 defTabSz="914400">
              <a:lnSpc>
                <a:spcPct val="108000"/>
              </a:lnSpc>
              <a:buSzTx/>
              <a:buAutoNum type="arabicPeriod"/>
              <a:defRPr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库龄区间统计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：自定义区间（如 0-30 天、31-90 天等），识别超期库存。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228600" algn="l" defTabSz="914400">
              <a:lnSpc>
                <a:spcPct val="108000"/>
              </a:lnSpc>
              <a:buSzTx/>
              <a:buAutoNum type="arabicPeriod"/>
              <a:defRPr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存货类别交叉分析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：区分成品、原材料等不同类别的呆滞风险。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228600" algn="l" defTabSz="914400">
              <a:lnSpc>
                <a:spcPct val="108000"/>
              </a:lnSpc>
              <a:buSzTx/>
              <a:buAutoNum type="arabicPeriod"/>
              <a:defRPr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分工厂 / 批次追踪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：结合批次管理，精准定位长期滞留物料。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228600" algn="l" defTabSz="914400">
              <a:lnSpc>
                <a:spcPct val="108000"/>
              </a:lnSpc>
              <a:buSzTx/>
              <a:buAutoNum type="arabicPeriod"/>
              <a:defRPr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变动滚动分析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：月度跟踪高库龄存货金额变化，评估清理成效</a:t>
            </a:r>
            <a:endParaRPr lang="zh-CN" altLang="en-US" sz="1200" b="0" i="0" u="none" strike="noStrike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9"/>
            </p:custDataLst>
          </p:nvPr>
        </p:nvSpPr>
        <p:spPr>
          <a:xfrm>
            <a:off x="8128000" y="1526056"/>
            <a:ext cx="3556000" cy="2794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buSzTx/>
              <a:defRPr/>
            </a:pPr>
            <a:endParaRPr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8331200" y="1729256"/>
            <a:ext cx="31496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 defTabSz="914400">
              <a:lnSpc>
                <a:spcPct val="125000"/>
              </a:lnSpc>
              <a:buSzTx/>
              <a:defRPr/>
            </a:pPr>
            <a:r>
              <a:rPr lang="en-US" sz="1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业务价值</a:t>
            </a: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8331200" y="2161056"/>
            <a:ext cx="3149600" cy="25400"/>
          </a:xfrm>
          <a:prstGeom prst="roundRect">
            <a:avLst>
              <a:gd name="adj" fmla="val 0"/>
            </a:avLst>
          </a:prstGeom>
          <a:solidFill>
            <a:srgbClr val="059669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2"/>
            </p:custDataLst>
          </p:nvPr>
        </p:nvSpPr>
        <p:spPr>
          <a:xfrm>
            <a:off x="8331200" y="2351556"/>
            <a:ext cx="31496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1450" indent="-171450" algn="l" defTabSz="914400">
              <a:lnSpc>
                <a:spcPct val="150000"/>
              </a:lnSpc>
              <a:buSzTx/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从事后复盘转为事前预警</a:t>
            </a:r>
            <a:endParaRPr lang="en-US" sz="120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  <a:p>
            <a:pPr marL="171450" indent="-171450" algn="l" defTabSz="914400">
              <a:lnSpc>
                <a:spcPct val="150000"/>
              </a:lnSpc>
              <a:buSzTx/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精准定位长库龄物料</a:t>
            </a:r>
            <a:endParaRPr lang="en-US" sz="120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  <a:p>
            <a:pPr marL="171450" indent="-171450" algn="l" defTabSz="914400">
              <a:lnSpc>
                <a:spcPct val="150000"/>
              </a:lnSpc>
              <a:buSzTx/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减少企业存货资产损失</a:t>
            </a:r>
            <a:endParaRPr lang="en-US" sz="12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08000" y="4828056"/>
            <a:ext cx="11176000" cy="889000"/>
          </a:xfrm>
          <a:prstGeom prst="roundRect">
            <a:avLst>
              <a:gd name="adj" fmla="val 0"/>
            </a:avLst>
          </a:prstGeom>
          <a:solidFill>
            <a:srgbClr val="1E3A8A">
              <a:alpha val="8000"/>
            </a:srgbClr>
          </a:solidFill>
          <a:ln w="12700" cap="flat" cmpd="sng">
            <a:solidFill>
              <a:srgbClr val="1E3A8A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018556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zh-CN" altLang="en-US" sz="13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r>
              <a:rPr lang="en-US" sz="13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价值：</a:t>
            </a:r>
            <a:r>
              <a:rPr lang="zh-CN" altLang="en-US" sz="13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将事后存货跌价复盘转为事前风险预警；精准定位长库龄物料，为物料退换、消耗、报废处置提供数据依据，减少企业存货资产损失。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90098" y="389618"/>
            <a:ext cx="1463040" cy="14770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536700" y="1866900"/>
            <a:ext cx="7344410" cy="1245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方案详解及系统实现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3962" y="262243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5" y="291465"/>
            <a:ext cx="11337925" cy="6515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形成从数据治理到智能分析的端到端库存管理闭环</a:t>
            </a: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439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71500" y="1503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01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数据口径治理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(SAP)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统一库存数据定义与取数逻辑，建立标准化数据治理流程，筑牢库存数据可信基石。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3365500" y="1439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429000" y="1503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02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主数据治理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(SAP)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治理物料一码多物、品牌缺失等问题，规范批次/库位/供应商主数据，形成合规数据基础。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439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86500" y="1503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03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多维度查询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(SAP)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建设工厂/库位/批次/供应商/品牌多维度查询看板，经数据验证后系统上线，作为库存查询的统一入口。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080500" y="1439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144000" y="1503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04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跨系统集成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(SAP)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打通SAP与WMS/SRM/商城系统接口，管控数据同步频率与质量，规范采购渠道选择。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397000" y="3217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460500" y="3281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07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账龄分析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)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开展库存账龄与周转分析，追溯呆滞根因，形成管理闭环，持续优化库存健康度。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762500" y="3217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826000" y="3281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06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条码作业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(SAP)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条码扫描自动校验物料与批次，PDA作业实时过账，智能上架推荐提升作业效率。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128000" y="3217545"/>
            <a:ext cx="2603500" cy="12065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91500" y="3281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05 </a:t>
            </a:r>
            <a:r>
              <a:rPr lang="en-US" sz="1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智能分析</a:t>
            </a:r>
            <a:r>
              <a:rPr lang="en-US" sz="10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(SAP)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构建库存运营分析看板，实时监控库存健康度，智能预警支撑管理决策。</a:t>
            </a:r>
          </a:p>
          <a:p>
            <a:pPr algn="l" defTabSz="914400">
              <a:lnSpc>
                <a:spcPct val="100000"/>
              </a:lnSpc>
            </a:pPr>
            <a:endParaRPr lang="en-US" sz="10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0" name="Connector 20"/>
          <p:cNvCxnSpPr/>
          <p:nvPr/>
        </p:nvCxnSpPr>
        <p:spPr>
          <a:xfrm rot="-171530">
            <a:off x="3111659" y="2030095"/>
            <a:ext cx="2543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1" name="Connector 21"/>
          <p:cNvCxnSpPr/>
          <p:nvPr/>
        </p:nvCxnSpPr>
        <p:spPr>
          <a:xfrm rot="-171530">
            <a:off x="5969159" y="2030095"/>
            <a:ext cx="2543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2" name="Connector 22"/>
          <p:cNvCxnSpPr/>
          <p:nvPr/>
        </p:nvCxnSpPr>
        <p:spPr>
          <a:xfrm rot="-171530">
            <a:off x="8826659" y="2030095"/>
            <a:ext cx="2543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3" name="Connector 23"/>
          <p:cNvCxnSpPr/>
          <p:nvPr/>
        </p:nvCxnSpPr>
        <p:spPr>
          <a:xfrm rot="5323636">
            <a:off x="10090079" y="2925587"/>
            <a:ext cx="57164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4" name="Connector 24"/>
          <p:cNvCxnSpPr/>
          <p:nvPr/>
        </p:nvCxnSpPr>
        <p:spPr>
          <a:xfrm rot="10714064">
            <a:off x="7365934" y="3811270"/>
            <a:ext cx="76202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5" name="Connector 25"/>
          <p:cNvCxnSpPr/>
          <p:nvPr/>
        </p:nvCxnSpPr>
        <p:spPr>
          <a:xfrm rot="10714064">
            <a:off x="4000434" y="3811270"/>
            <a:ext cx="76202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6" name="Connector 26"/>
          <p:cNvCxnSpPr/>
          <p:nvPr/>
        </p:nvCxnSpPr>
        <p:spPr>
          <a:xfrm rot="-5399981">
            <a:off x="2450996" y="2925339"/>
            <a:ext cx="5717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7" name="AutoShape 27"/>
          <p:cNvSpPr/>
          <p:nvPr/>
        </p:nvSpPr>
        <p:spPr>
          <a:xfrm>
            <a:off x="508000" y="4920615"/>
            <a:ext cx="36830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5047615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079500" y="5047615"/>
            <a:ext cx="3048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数据口径标准化落地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98500" y="5428615"/>
            <a:ext cx="330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将数据定义、取数逻辑等规则固化至系统，实现从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人工查询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系统可视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转变，消除数据偏差。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254500" y="4920615"/>
            <a:ext cx="36830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1E3A8A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5000" y="5047615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4826000" y="5047615"/>
            <a:ext cx="3048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库存数据全程可追溯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4445000" y="5428615"/>
            <a:ext cx="330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从入库到出库全链路数据留痕，批次/库位信息实时可查，为审计与管理复盘提供完整依据。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001000" y="4920615"/>
            <a:ext cx="36830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1E3A8A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5047615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8572500" y="5047615"/>
            <a:ext cx="3048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库存异常前置化管控</a:t>
            </a:r>
            <a:endParaRPr lang="en-US" sz="1400" b="1">
              <a:solidFill>
                <a:srgbClr val="1E3A8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8191500" y="5428615"/>
            <a:ext cx="330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系统自动校验库存数据，对异常库存实时拦截预警，将库存风险从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事后统计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转为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实时监控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优先采用SAP标准功能，最小化定制开发降低实施风险</a:t>
            </a: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214719"/>
            <a:ext cx="6604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/>
                </a:solidFill>
                <a:latin typeface="Noto Sans SC Bold"/>
                <a:ea typeface="Noto Sans SC Bold"/>
                <a:cs typeface="Noto Sans SC Bold"/>
                <a:sym typeface="Noto Sans SC Bold"/>
              </a:rPr>
              <a:t>标准功能优先清单</a:t>
            </a:r>
          </a:p>
        </p:txBody>
      </p:sp>
      <p:sp>
        <p:nvSpPr>
          <p:cNvPr id="7" name="AutoShape 7"/>
          <p:cNvSpPr/>
          <p:nvPr/>
        </p:nvSpPr>
        <p:spPr>
          <a:xfrm>
            <a:off x="508000" y="1849719"/>
            <a:ext cx="6604000" cy="1206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98500" y="1951319"/>
            <a:ext cx="635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Biennale"/>
                <a:ea typeface="Biennale"/>
                <a:cs typeface="Biennale"/>
                <a:sym typeface="Biennale"/>
              </a:rPr>
              <a:t>01 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库存查询：标准化查询与分析体系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453342"/>
            <a:ext cx="177800" cy="177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914400" y="2306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MB52/MMBE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库存查询标准事务码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7500" y="2453342"/>
            <a:ext cx="177800" cy="177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073400" y="2306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批次管理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(Batch)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物料批次标准功能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2453342"/>
            <a:ext cx="177800" cy="177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978400" y="2306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库存账龄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(Aging)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库存账龄分析报表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08000" y="3246719"/>
            <a:ext cx="6604000" cy="1206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98500" y="3348319"/>
            <a:ext cx="635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Biennale"/>
                <a:ea typeface="Biennale"/>
                <a:cs typeface="Biennale"/>
                <a:sym typeface="Biennale"/>
              </a:rPr>
              <a:t>02 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批次管理：质量追溯与效期管控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3850342"/>
            <a:ext cx="177800" cy="177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14400" y="3703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批次特性管理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锁定物料批次属性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7500" y="3850342"/>
            <a:ext cx="177800" cy="177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3073400" y="3703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批次确定策略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按规则自动分配批次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3850342"/>
            <a:ext cx="177800" cy="177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978400" y="3703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批次追溯查询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减少人工排查误差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08000" y="4643719"/>
            <a:ext cx="6604000" cy="1143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98500" y="4745319"/>
            <a:ext cx="635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Biennale"/>
                <a:ea typeface="Biennale"/>
                <a:cs typeface="Biennale"/>
                <a:sym typeface="Biennale"/>
              </a:rPr>
              <a:t>03 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报表分析：库存健康的智能保障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5247342"/>
            <a:ext cx="177800" cy="177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14400" y="5100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库存数量校验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杜绝超库存发货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7500" y="5247342"/>
            <a:ext cx="177800" cy="177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3073400" y="5100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库位容量控制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防止超容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/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积压风险</a:t>
            </a:r>
            <a:endParaRPr lang="en-US" sz="1100"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5247342"/>
            <a:ext cx="177800" cy="177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4978400" y="5100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库存预警控制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标准阈值预警配置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493000" y="1214719"/>
            <a:ext cx="4191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/>
                </a:solidFill>
                <a:latin typeface="Noto Sans SC Bold"/>
                <a:ea typeface="Noto Sans SC Bold"/>
                <a:cs typeface="Noto Sans SC Bold"/>
                <a:sym typeface="Noto Sans SC Bold"/>
              </a:rPr>
              <a:t>需增强</a:t>
            </a:r>
            <a:r>
              <a:rPr lang="en-US" sz="1600" b="1" i="0" u="none" strike="noStrike">
                <a:solidFill>
                  <a:schemeClr val="accent1"/>
                </a:solidFill>
                <a:latin typeface="Biennale"/>
                <a:ea typeface="Biennale"/>
                <a:cs typeface="Biennale"/>
                <a:sym typeface="Biennale"/>
              </a:rPr>
              <a:t>/</a:t>
            </a:r>
            <a:r>
              <a:rPr lang="en-US" sz="1600" b="1" i="0" u="none" strike="noStrike">
                <a:solidFill>
                  <a:schemeClr val="accent1"/>
                </a:solidFill>
                <a:latin typeface="Noto Sans SC Bold"/>
                <a:ea typeface="Noto Sans SC Bold"/>
                <a:cs typeface="Noto Sans SC Bold"/>
                <a:sym typeface="Noto Sans SC Bold"/>
              </a:rPr>
              <a:t>开发事项</a:t>
            </a:r>
          </a:p>
        </p:txBody>
      </p:sp>
      <p:sp>
        <p:nvSpPr>
          <p:cNvPr id="32" name="AutoShape 32"/>
          <p:cNvSpPr/>
          <p:nvPr/>
        </p:nvSpPr>
        <p:spPr>
          <a:xfrm>
            <a:off x="7493000" y="1849719"/>
            <a:ext cx="4191000" cy="3746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3500" y="2263589"/>
            <a:ext cx="203200" cy="2032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937500" y="2103719"/>
            <a:ext cx="37465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库存账龄预警报表：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基于入库日期的自定义账龄分析清单，主动预警超期呆滞库存。</a:t>
            </a:r>
            <a:endParaRPr lang="en-US" sz="1100"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3500" y="2962089"/>
            <a:ext cx="203200" cy="2032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7937500" y="2802219"/>
            <a:ext cx="37465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无权限库存查询拦截增强：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在申请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/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查询环节实现强管控，对无权限人员进行硬性拦截。</a:t>
            </a:r>
            <a:endParaRPr lang="en-US" sz="1100"/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3500" y="3660589"/>
            <a:ext cx="203200" cy="2032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7937500" y="3500719"/>
            <a:ext cx="37465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库存周转偏差分析：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跨周期的库存实际周转与目标对比，识别并分析偏差原因。</a:t>
            </a:r>
            <a:endParaRPr lang="en-US" sz="1100"/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3500" y="4359089"/>
            <a:ext cx="203200" cy="2032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7937500" y="4199219"/>
            <a:ext cx="37465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2937"/>
                </a:solidFill>
                <a:latin typeface="Biennale"/>
                <a:ea typeface="Biennale"/>
                <a:cs typeface="Biennale"/>
                <a:sym typeface="Biennale"/>
              </a:rPr>
              <a:t>SRM</a:t>
            </a:r>
            <a:r>
              <a:rPr lang="en-US" sz="11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跨系统数据监控看板：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接口状态、异常日志与重发机制的可视化监控，保障库存数据一致性。</a:t>
            </a:r>
            <a:endParaRPr lang="en-US" sz="1100"/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3500" y="5057589"/>
            <a:ext cx="203200" cy="203200"/>
          </a:xfrm>
          <a:prstGeom prst="rect">
            <a:avLst/>
          </a:prstGeom>
        </p:spPr>
      </p:pic>
      <p:sp>
        <p:nvSpPr>
          <p:cNvPr id="42" name="AutoShape 42"/>
          <p:cNvSpPr/>
          <p:nvPr/>
        </p:nvSpPr>
        <p:spPr>
          <a:xfrm>
            <a:off x="7937500" y="4897719"/>
            <a:ext cx="37465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库存异常全景看板：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整合库存、批次、账龄等异常的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Fiori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分析卡片，提升决策效率。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0" y="5977219"/>
            <a:ext cx="12192000" cy="381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/>
          <p:cNvSpPr/>
          <p:nvPr/>
        </p:nvSpPr>
        <p:spPr>
          <a:xfrm>
            <a:off x="254000" y="6015319"/>
            <a:ext cx="11684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实施原则：标准功能覆盖率达到</a:t>
            </a:r>
            <a:r>
              <a:rPr lang="en-US" sz="1200" b="0" i="1" u="none" strike="noStrike">
                <a:solidFill>
                  <a:srgbClr val="6B7280"/>
                </a:solidFill>
                <a:latin typeface="Biennale"/>
                <a:ea typeface="Biennale"/>
                <a:cs typeface="Biennale"/>
                <a:sym typeface="Biennale"/>
              </a:rPr>
              <a:t>85%</a:t>
            </a:r>
            <a:r>
              <a:rPr lang="en-US" sz="1200" b="0" i="1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以上，仅在标准功能无法满足的关键业务场景进行增强开发，确保系统稳定性与可维护性。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主数据治理是方案落地的前提条件，权限设计保障数据安全</a:t>
            </a: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1110578"/>
            <a:ext cx="1117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01 </a:t>
            </a: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数据治理前提：夯实业务数字化底座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1000" y="1555078"/>
            <a:ext cx="11303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主数据是业务运转的</a:t>
            </a:r>
            <a:r>
              <a:rPr lang="en-US" sz="12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地基</a:t>
            </a:r>
            <a:r>
              <a:rPr lang="en-US" sz="12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，若标准缺失将导致库存数据失真、查询冲突与报表错误。本方案需优先完成五大核心对象的标准化治理，确保数据的唯一性、准确性与时效性。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1000" y="2253578"/>
            <a:ext cx="2159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81000" y="2253578"/>
            <a:ext cx="2159000" cy="406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" y="2304378"/>
            <a:ext cx="203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01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物料主数据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" y="2736178"/>
            <a:ext cx="203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统一基本视图与库存视图字段标准，消除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一物多码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与“一码多物”，规范物料分类、品牌与属性维护。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692400" y="2253578"/>
            <a:ext cx="2159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2692400" y="2253578"/>
            <a:ext cx="2159000" cy="406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2755900" y="2304378"/>
            <a:ext cx="203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02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批次主数据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755900" y="2736178"/>
            <a:ext cx="203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统一批次管理规则与特性定义，建立批次创建、变更、冻结的全生命周期状态管控机制，支持批次追溯与效期管控。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03800" y="2253578"/>
            <a:ext cx="2159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5003800" y="2253578"/>
            <a:ext cx="2159000" cy="406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067300" y="2304378"/>
            <a:ext cx="203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03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库位主数据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067300" y="2736178"/>
            <a:ext cx="203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规范库位编码规则、容量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/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与存储条件管控，统一库位类型配置与库存分配基准。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315200" y="2253578"/>
            <a:ext cx="2159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315200" y="2253578"/>
            <a:ext cx="2159000" cy="406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378700" y="2304378"/>
            <a:ext cx="203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04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供应商主数据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378700" y="2736178"/>
            <a:ext cx="203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统一供应商编码与分类，明确供货范围与合作模式，确保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MRP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库存查询与采购执行的准确性。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626600" y="2253578"/>
            <a:ext cx="2159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626600" y="2253578"/>
            <a:ext cx="2159000" cy="406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690100" y="2304378"/>
            <a:ext cx="203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05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品牌主数据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690100" y="2736178"/>
            <a:ext cx="203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标准化品牌编码与关联规则，建立品牌维护的审批流程，保障物料品牌信息的准确性与可追溯性。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3818">
            <a:off x="381004" y="3961728"/>
            <a:ext cx="114300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381000" y="4095078"/>
            <a:ext cx="1117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0C0"/>
                </a:solidFill>
                <a:latin typeface="Biennale"/>
                <a:ea typeface="Biennale"/>
                <a:cs typeface="Biennale"/>
                <a:sym typeface="Biennale"/>
              </a:rPr>
              <a:t>02 </a:t>
            </a:r>
            <a:r>
              <a:rPr lang="en-US" sz="1600" b="1" i="0" u="none" strike="noStrike">
                <a:solidFill>
                  <a:srgbClr val="0070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权限与内控设计：构建合规防护网</a:t>
            </a:r>
          </a:p>
        </p:txBody>
      </p:sp>
      <p:sp>
        <p:nvSpPr>
          <p:cNvPr id="30" name="AutoShape 30"/>
          <p:cNvSpPr/>
          <p:nvPr/>
        </p:nvSpPr>
        <p:spPr>
          <a:xfrm>
            <a:off x="381000" y="4603078"/>
            <a:ext cx="3683000" cy="1587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59669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4768178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52500" y="4768178"/>
            <a:ext cx="2984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角色分离：权责互斥防舞弊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71500" y="5174578"/>
            <a:ext cx="330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严格执行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四眼原则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，实现库存数据维护与查询、主数据维护与库存执行的权限分离，从流程设计上规避数据篡改风险，确保业务操作的相互制衡。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4254500" y="4603078"/>
            <a:ext cx="3683000" cy="1587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59669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5000" y="4768178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4826000" y="4768178"/>
            <a:ext cx="2984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权限分级：精细管控防越权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4445000" y="5174578"/>
            <a:ext cx="330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基于工厂、库位、物料组进行精细化授权。针对库存调整、主数据变更等关键操作，强制配置多级审批流，杜绝权限滥用与越权操作。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128000" y="4603078"/>
            <a:ext cx="3683000" cy="1587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59669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4768178"/>
            <a:ext cx="304800" cy="3048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8699500" y="4768178"/>
            <a:ext cx="2984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操作留痕：全量追溯保合规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8318500" y="5174578"/>
            <a:ext cx="330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系统自动记录所有库存主数据的变更日志，包含变更人、时间及前后内容对比。日志数据加密存储不可篡改，全面满足审计要求与合规性检查。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90098" y="389618"/>
            <a:ext cx="1463040" cy="14770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86890" y="1866900"/>
            <a:ext cx="7094220" cy="11315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配套行动计划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3962" y="262243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	Atos Confidential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  <a:t>任务一：建立库存数据口径统一与信任重建机制</a:t>
            </a: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3905">
            <a:off x="508004" y="1673115"/>
            <a:ext cx="11176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08000" y="1933465"/>
            <a:ext cx="5334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01 </a:t>
            </a:r>
            <a:r>
              <a:rPr lang="en-US" sz="16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核心建设内容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08000" y="2504965"/>
            <a:ext cx="5334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" y="25684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01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统一数据口径管理：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明确库存数据维护责任部门，建立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谁维护、谁负责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的审批流程，消除多头数据。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08000" y="3203465"/>
            <a:ext cx="5334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" y="32669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02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库存信息标准化：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统一工厂、库位、批次、供应商及品牌维度定义，确保数据规范一致。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08000" y="3901965"/>
            <a:ext cx="5334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35000" y="39654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03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数据变更刚性审批流：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库存数据调整必须触发多级审批，系统自动拦截未审批的变更操作。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08000" y="4600465"/>
            <a:ext cx="5334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" y="46639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04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数据全生命周期追溯：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系统自动记录所有库存数据变更的时间、人员及历史版本，支持审计回溯。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1933465"/>
            <a:ext cx="5334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02 </a:t>
            </a:r>
            <a:r>
              <a:rPr lang="en-US" sz="1600" b="1" i="0" u="none" strike="noStrik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系统实现方式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350000" y="2504965"/>
            <a:ext cx="5334000" cy="635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477000" y="25684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✓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主数据标准化：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配置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SAP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物料主数据与库存视图（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PIR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），维护基本计量单位、批次管理及库存地点。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0" y="3203465"/>
            <a:ext cx="5334000" cy="635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77000" y="32669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✓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审批策略配置：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基于工厂或物料组配置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Release Strategy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，未批准的数据变更无法生效。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350000" y="3901965"/>
            <a:ext cx="5334000" cy="635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477000" y="39654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✓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变更文档追踪：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启用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Change Document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功能，完整记录库存数据修改的每一次操作痕迹。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350000" y="4600465"/>
            <a:ext cx="5334000" cy="635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477000" y="46639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预警与监控：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开发增强报表，自动推送数据不一致清单及异常波动提醒。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508000" y="5362465"/>
            <a:ext cx="11176000" cy="508000"/>
          </a:xfrm>
          <a:prstGeom prst="roundRect">
            <a:avLst>
              <a:gd name="adj" fmla="val 0"/>
            </a:avLst>
          </a:prstGeom>
          <a:solidFill>
            <a:srgbClr val="1E3A8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35000" y="5464065"/>
            <a:ext cx="1092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管控价值：</a:t>
            </a:r>
            <a:r>
              <a:rPr lang="en-US" sz="1300" b="0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通过系统刚性控制杜绝非授权数据维护，确保库存数据全流程可信透明，规避决策风险，为库存精细化管理提供数据支撑。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508000" y="1196117"/>
            <a:ext cx="1117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实现数据有来源、维护有权限、生效有条件、变更有记录、异常有预警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任务二：建设多维度库存可视化看板</a:t>
            </a: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526056"/>
            <a:ext cx="3556000" cy="2794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11200" y="1729256"/>
            <a:ext cx="31496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建设目标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" y="2161056"/>
            <a:ext cx="3149600" cy="25400"/>
          </a:xfrm>
          <a:prstGeom prst="roundRect">
            <a:avLst>
              <a:gd name="adj" fmla="val 0"/>
            </a:avLst>
          </a:prstGeom>
          <a:solidFill>
            <a:srgbClr val="2563EB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11200" y="2351556"/>
            <a:ext cx="31496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SAP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altLang="zh-CN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WMS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的库存数据整合，将多源数据直接映射为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SAP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中可执行的物料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-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库存查询关系。从系统层面建立统一的库存查询入口，彻底解决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多事务码查询结果不一致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的管理盲区，确保库存数据可信。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318000" y="1526056"/>
            <a:ext cx="3556000" cy="2794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21200" y="1729256"/>
            <a:ext cx="31496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核心举措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21200" y="2161056"/>
            <a:ext cx="3149600" cy="25400"/>
          </a:xfrm>
          <a:prstGeom prst="roundRect">
            <a:avLst>
              <a:gd name="adj" fmla="val 0"/>
            </a:avLst>
          </a:prstGeom>
          <a:solidFill>
            <a:srgbClr val="2563EB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521200" y="2351556"/>
            <a:ext cx="31496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建立看板全生命周期规则，明确查询维度、数据来源及更新频率机制。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部署多维查询工具，解决海量物料按工厂/库位/批次/供应商查询效率问题。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配置分级权限策略，对敏感库存数据实施系统拦截或预警审批。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联动业务结果，将库存周转与账龄作为看板优化动态调整依据。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128000" y="1526056"/>
            <a:ext cx="3556000" cy="2794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31200" y="1729256"/>
            <a:ext cx="31496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0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系统实现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331200" y="2161056"/>
            <a:ext cx="3149600" cy="25400"/>
          </a:xfrm>
          <a:prstGeom prst="roundRect">
            <a:avLst>
              <a:gd name="adj" fmla="val 0"/>
            </a:avLst>
          </a:prstGeom>
          <a:solidFill>
            <a:srgbClr val="059669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solidFill>
                <a:srgbClr val="0070C0"/>
              </a:solidFill>
              <a:highlight>
                <a:srgbClr val="0000FF"/>
              </a:highlight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331200" y="2351556"/>
            <a:ext cx="31496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启用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SAP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标准库存查询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(</a:t>
            </a:r>
            <a:r>
              <a:rPr lang="en-US" sz="1200" b="0" i="0" u="none" strike="noStrike">
                <a:solidFill>
                  <a:srgbClr val="37415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rPr>
              <a:t>Source List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)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作为核心查询载体。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CPI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多维查询接口，支撑高频次数据聚合。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增强库存查询校验逻辑，强制关联有效数据口径。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配置库存数据与看板的实时集成同步机制。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508000" y="4828056"/>
            <a:ext cx="11176000" cy="889000"/>
          </a:xfrm>
          <a:prstGeom prst="roundRect">
            <a:avLst>
              <a:gd name="adj" fmla="val 0"/>
            </a:avLst>
          </a:prstGeom>
          <a:solidFill>
            <a:srgbClr val="1E3A8A">
              <a:alpha val="8000"/>
            </a:srgbClr>
          </a:solidFill>
          <a:ln w="12700" cap="flat" cmpd="sng">
            <a:solidFill>
              <a:srgbClr val="1E3A8A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62000" y="5018556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控制价值：从源头解决库存数据不一致问题，确保库存查询仅展示经过校验的可信数据，有效防范决策风险与数据质量隐患，实现库存管理的闭环管控。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5" y="291465"/>
            <a:ext cx="11337925" cy="6286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任务三：跨系统集成与流程打通，实现数据实时同步</a:t>
            </a: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363683"/>
            <a:ext cx="584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核心建设内容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1998683"/>
            <a:ext cx="5842000" cy="762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C0D0E6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35000" y="2125683"/>
            <a:ext cx="50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06500" y="2062183"/>
            <a:ext cx="5080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跨系统库存数据集成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将主供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/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工厂/库位/批次等数据规则转化为系统可识别的接口逻辑，明确数据优先级与同步基准，夯实系统运行基础。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" y="2824183"/>
            <a:ext cx="5842000" cy="762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C0D0E6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35000" y="2951183"/>
            <a:ext cx="50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206500" y="2887683"/>
            <a:ext cx="5080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接口协议（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rPr>
              <a:t>Quota Arrangement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）配置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+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+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工厂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维度维护库存数据同步频率，支持实时同步与基于业务事件的触发同步模式。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3649683"/>
            <a:ext cx="5842000" cy="762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C0D0E6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5000" y="3776683"/>
            <a:ext cx="50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06500" y="3713183"/>
            <a:ext cx="5080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自动数据同步机制激活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MRP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库存变动或业务事件发生时，系统自动触发数据同步逻辑，无需人工干预即可同步到对应系统。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8000" y="4475183"/>
            <a:ext cx="5842000" cy="762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C0D0E6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35000" y="4602183"/>
            <a:ext cx="50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206500" y="4538683"/>
            <a:ext cx="5080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数据质量动态监控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建立数据校验规则，基于接口成功率、数据一致性率等质量指标，定期自动或手工调整同步策略，实现数据质量持续优化。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731000" y="1363683"/>
            <a:ext cx="482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0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数据同步逻辑示意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501765" y="4776470"/>
            <a:ext cx="4826000" cy="445135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系统依据接口协议自动同步各系统库存数据，实现库存数据的自动聚合与展示，确保查询层面严格匹配数据口径，杜绝人为数据偏差。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0" y="5491183"/>
            <a:ext cx="12192000" cy="508000"/>
          </a:xfrm>
          <a:prstGeom prst="roundRect">
            <a:avLst>
              <a:gd name="adj" fmla="val 0"/>
            </a:avLst>
          </a:prstGeom>
          <a:solidFill>
            <a:srgbClr val="1E3A8A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381000" y="5580083"/>
            <a:ext cx="1143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业务价值：将跨系统协同从人工对接转化为系统自动同步的规则，实现库存数据的自动、实时同步，保障跨系统数据一致性与可信。</a:t>
            </a:r>
            <a:endParaRPr lang="en-US" sz="1100"/>
          </a:p>
        </p:txBody>
      </p:sp>
      <p:grpSp>
        <p:nvGrpSpPr>
          <p:cNvPr id="49" name="组合 48"/>
          <p:cNvGrpSpPr/>
          <p:nvPr/>
        </p:nvGrpSpPr>
        <p:grpSpPr>
          <a:xfrm>
            <a:off x="6514465" y="2016760"/>
            <a:ext cx="4813935" cy="2747645"/>
            <a:chOff x="9648" y="2448"/>
            <a:chExt cx="8496" cy="6666"/>
          </a:xfrm>
        </p:grpSpPr>
        <p:sp>
          <p:nvSpPr>
            <p:cNvPr id="50" name="Rounded Rectangle 22"/>
            <p:cNvSpPr/>
            <p:nvPr/>
          </p:nvSpPr>
          <p:spPr>
            <a:xfrm>
              <a:off x="9936" y="2448"/>
              <a:ext cx="7920" cy="72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4E8A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r>
                <a:rPr sz="1100" b="1">
                  <a:solidFill>
                    <a:srgbClr val="0070C0"/>
                  </a:solidFill>
                  <a:latin typeface="微软雅黑" panose="020B0503020204020204" charset="-122"/>
                </a:rPr>
                <a:t>触发源：库存变动事件(MRP/出入库过账)  /  手工数据同步</a:t>
              </a:r>
            </a:p>
          </p:txBody>
        </p:sp>
        <p:sp>
          <p:nvSpPr>
            <p:cNvPr id="51" name="Rounded Rectangle 23"/>
            <p:cNvSpPr/>
            <p:nvPr/>
          </p:nvSpPr>
          <p:spPr>
            <a:xfrm>
              <a:off x="11592" y="3744"/>
              <a:ext cx="4608" cy="1440"/>
            </a:xfrm>
            <a:prstGeom prst="roundRect">
              <a:avLst/>
            </a:prstGeom>
            <a:solidFill>
              <a:srgbClr val="1F3A68"/>
            </a:solidFill>
            <a:ln w="12700">
              <a:solidFill>
                <a:srgbClr val="1F3A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微软雅黑" panose="020B0503020204020204" charset="-122"/>
                </a:rPr>
                <a:t>SAP S/4HANA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微软雅黑" panose="020B0503020204020204" charset="-122"/>
                </a:rPr>
                <a:t>库存数据核心中枢（唯一可信源）</a:t>
              </a:r>
            </a:p>
          </p:txBody>
        </p:sp>
        <p:cxnSp>
          <p:nvCxnSpPr>
            <p:cNvPr id="52" name="Connector 24"/>
            <p:cNvCxnSpPr/>
            <p:nvPr/>
          </p:nvCxnSpPr>
          <p:spPr>
            <a:xfrm>
              <a:off x="13896" y="3168"/>
              <a:ext cx="0" cy="576"/>
            </a:xfrm>
            <a:prstGeom prst="line">
              <a:avLst/>
            </a:prstGeom>
            <a:ln w="25400">
              <a:solidFill>
                <a:srgbClr val="4E8A3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ounded Rectangle 25"/>
            <p:cNvSpPr/>
            <p:nvPr/>
          </p:nvSpPr>
          <p:spPr>
            <a:xfrm>
              <a:off x="9666" y="6192"/>
              <a:ext cx="2520" cy="1224"/>
            </a:xfrm>
            <a:prstGeom prst="roundRect">
              <a:avLst/>
            </a:prstGeom>
            <a:solidFill>
              <a:srgbClr val="2E5C9E"/>
            </a:solidFill>
            <a:ln w="12700">
              <a:solidFill>
                <a:srgbClr val="2E5C9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微软雅黑" panose="020B0503020204020204" charset="-122"/>
                </a:rPr>
                <a:t>WMS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微软雅黑" panose="020B0503020204020204" charset="-122"/>
                </a:rPr>
                <a:t>仓储作业系统</a:t>
              </a:r>
            </a:p>
          </p:txBody>
        </p:sp>
        <p:sp>
          <p:nvSpPr>
            <p:cNvPr id="54" name="TextBox 26"/>
            <p:cNvSpPr txBox="1"/>
            <p:nvPr/>
          </p:nvSpPr>
          <p:spPr>
            <a:xfrm>
              <a:off x="9666" y="7488"/>
              <a:ext cx="2520" cy="719"/>
            </a:xfrm>
            <a:prstGeom prst="rect">
              <a:avLst/>
            </a:prstGeom>
            <a:noFill/>
          </p:spPr>
          <p:txBody>
            <a:bodyPr wrap="square" lIns="36000" tIns="18000" rIns="36000" bIns="18000" anchor="t">
              <a:spAutoFit/>
            </a:bodyPr>
            <a:lstStyle/>
            <a:p>
              <a:pPr algn="ctr"/>
              <a:r>
                <a:rPr sz="850" b="0">
                  <a:solidFill>
                    <a:srgbClr val="595959"/>
                  </a:solidFill>
                  <a:latin typeface="微软雅黑" panose="020B0503020204020204" charset="-122"/>
                </a:rPr>
                <a:t>入库/出库/移库
实时回传</a:t>
              </a:r>
            </a:p>
          </p:txBody>
        </p:sp>
        <p:sp>
          <p:nvSpPr>
            <p:cNvPr id="55" name="Rounded Rectangle 27"/>
            <p:cNvSpPr/>
            <p:nvPr/>
          </p:nvSpPr>
          <p:spPr>
            <a:xfrm>
              <a:off x="12636" y="6192"/>
              <a:ext cx="2520" cy="1224"/>
            </a:xfrm>
            <a:prstGeom prst="roundRect">
              <a:avLst/>
            </a:prstGeom>
            <a:solidFill>
              <a:srgbClr val="4A90D9"/>
            </a:solidFill>
            <a:ln w="12700">
              <a:solidFill>
                <a:srgbClr val="4A90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微软雅黑" panose="020B0503020204020204" charset="-122"/>
                </a:rPr>
                <a:t>SRM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微软雅黑" panose="020B0503020204020204" charset="-122"/>
                </a:rPr>
                <a:t>供应商协同</a:t>
              </a:r>
            </a:p>
          </p:txBody>
        </p:sp>
        <p:sp>
          <p:nvSpPr>
            <p:cNvPr id="56" name="TextBox 28"/>
            <p:cNvSpPr txBox="1"/>
            <p:nvPr/>
          </p:nvSpPr>
          <p:spPr>
            <a:xfrm>
              <a:off x="12636" y="7488"/>
              <a:ext cx="2520" cy="719"/>
            </a:xfrm>
            <a:prstGeom prst="rect">
              <a:avLst/>
            </a:prstGeom>
            <a:noFill/>
          </p:spPr>
          <p:txBody>
            <a:bodyPr wrap="square" lIns="36000" tIns="18000" rIns="36000" bIns="18000" anchor="t">
              <a:spAutoFit/>
            </a:bodyPr>
            <a:lstStyle/>
            <a:p>
              <a:pPr algn="ctr"/>
              <a:r>
                <a:rPr sz="850" b="0">
                  <a:solidFill>
                    <a:srgbClr val="595959"/>
                  </a:solidFill>
                  <a:latin typeface="微软雅黑" panose="020B0503020204020204" charset="-122"/>
                </a:rPr>
                <a:t>采购在途/到货
预约同步</a:t>
              </a:r>
            </a:p>
          </p:txBody>
        </p:sp>
        <p:sp>
          <p:nvSpPr>
            <p:cNvPr id="57" name="Rounded Rectangle 29"/>
            <p:cNvSpPr/>
            <p:nvPr/>
          </p:nvSpPr>
          <p:spPr>
            <a:xfrm>
              <a:off x="15606" y="6192"/>
              <a:ext cx="2520" cy="1224"/>
            </a:xfrm>
            <a:prstGeom prst="roundRect">
              <a:avLst/>
            </a:prstGeom>
            <a:solidFill>
              <a:srgbClr val="6FA8DC"/>
            </a:solidFill>
            <a:ln w="12700">
              <a:solidFill>
                <a:srgbClr val="6FA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微软雅黑" panose="020B0503020204020204" charset="-122"/>
                </a:rPr>
                <a:t>商城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微软雅黑" panose="020B0503020204020204" charset="-122"/>
                </a:rPr>
                <a:t>前端销售</a:t>
              </a:r>
            </a:p>
          </p:txBody>
        </p:sp>
        <p:sp>
          <p:nvSpPr>
            <p:cNvPr id="58" name="TextBox 30"/>
            <p:cNvSpPr txBox="1"/>
            <p:nvPr/>
          </p:nvSpPr>
          <p:spPr>
            <a:xfrm>
              <a:off x="15606" y="7488"/>
              <a:ext cx="2520" cy="719"/>
            </a:xfrm>
            <a:prstGeom prst="rect">
              <a:avLst/>
            </a:prstGeom>
            <a:noFill/>
          </p:spPr>
          <p:txBody>
            <a:bodyPr wrap="square" lIns="36000" tIns="18000" rIns="36000" bIns="18000" anchor="t">
              <a:spAutoFit/>
            </a:bodyPr>
            <a:lstStyle/>
            <a:p>
              <a:pPr algn="ctr"/>
              <a:r>
                <a:rPr sz="850" b="0">
                  <a:solidFill>
                    <a:srgbClr val="595959"/>
                  </a:solidFill>
                  <a:latin typeface="微软雅黑" panose="020B0503020204020204" charset="-122"/>
                </a:rPr>
                <a:t>可用库存/销售
出库同步</a:t>
              </a:r>
            </a:p>
          </p:txBody>
        </p:sp>
        <p:cxnSp>
          <p:nvCxnSpPr>
            <p:cNvPr id="59" name="Connector 31"/>
            <p:cNvCxnSpPr/>
            <p:nvPr/>
          </p:nvCxnSpPr>
          <p:spPr>
            <a:xfrm flipH="1">
              <a:off x="10926" y="5184"/>
              <a:ext cx="2970" cy="1008"/>
            </a:xfrm>
            <a:prstGeom prst="line">
              <a:avLst/>
            </a:prstGeom>
            <a:ln w="19050">
              <a:solidFill>
                <a:srgbClr val="2E5C9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32"/>
            <p:cNvCxnSpPr/>
            <p:nvPr/>
          </p:nvCxnSpPr>
          <p:spPr>
            <a:xfrm flipV="1">
              <a:off x="11041" y="5184"/>
              <a:ext cx="2970" cy="1008"/>
            </a:xfrm>
            <a:prstGeom prst="line">
              <a:avLst/>
            </a:prstGeom>
            <a:ln w="15240">
              <a:solidFill>
                <a:srgbClr val="ED7D3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33"/>
            <p:cNvCxnSpPr/>
            <p:nvPr/>
          </p:nvCxnSpPr>
          <p:spPr>
            <a:xfrm>
              <a:off x="13896" y="5184"/>
              <a:ext cx="0" cy="1008"/>
            </a:xfrm>
            <a:prstGeom prst="line">
              <a:avLst/>
            </a:prstGeom>
            <a:ln w="19050">
              <a:solidFill>
                <a:srgbClr val="2E5C9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34"/>
            <p:cNvCxnSpPr/>
            <p:nvPr/>
          </p:nvCxnSpPr>
          <p:spPr>
            <a:xfrm flipV="1">
              <a:off x="14011" y="5184"/>
              <a:ext cx="0" cy="1008"/>
            </a:xfrm>
            <a:prstGeom prst="line">
              <a:avLst/>
            </a:prstGeom>
            <a:ln w="15240">
              <a:solidFill>
                <a:srgbClr val="ED7D3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35"/>
            <p:cNvCxnSpPr/>
            <p:nvPr/>
          </p:nvCxnSpPr>
          <p:spPr>
            <a:xfrm>
              <a:off x="13896" y="5184"/>
              <a:ext cx="2970" cy="1008"/>
            </a:xfrm>
            <a:prstGeom prst="line">
              <a:avLst/>
            </a:prstGeom>
            <a:ln w="19050">
              <a:solidFill>
                <a:srgbClr val="2E5C9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36"/>
            <p:cNvCxnSpPr/>
            <p:nvPr/>
          </p:nvCxnSpPr>
          <p:spPr>
            <a:xfrm flipH="1" flipV="1">
              <a:off x="14011" y="5184"/>
              <a:ext cx="2970" cy="1008"/>
            </a:xfrm>
            <a:prstGeom prst="line">
              <a:avLst/>
            </a:prstGeom>
            <a:ln w="15240">
              <a:solidFill>
                <a:srgbClr val="ED7D3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37"/>
            <p:cNvSpPr/>
            <p:nvPr/>
          </p:nvSpPr>
          <p:spPr>
            <a:xfrm>
              <a:off x="9648" y="8395"/>
              <a:ext cx="432" cy="40"/>
            </a:xfrm>
            <a:prstGeom prst="rect">
              <a:avLst/>
            </a:prstGeom>
            <a:solidFill>
              <a:srgbClr val="2E5C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38"/>
            <p:cNvSpPr txBox="1"/>
            <p:nvPr/>
          </p:nvSpPr>
          <p:spPr>
            <a:xfrm>
              <a:off x="10152" y="8280"/>
              <a:ext cx="2592" cy="384"/>
            </a:xfrm>
            <a:prstGeom prst="rect">
              <a:avLst/>
            </a:prstGeom>
            <a:noFill/>
          </p:spPr>
          <p:txBody>
            <a:bodyPr wrap="square" lIns="36000" tIns="18000" rIns="36000" bIns="18000" anchor="t">
              <a:spAutoFit/>
            </a:bodyPr>
            <a:lstStyle/>
            <a:p>
              <a:pPr algn="l"/>
              <a:r>
                <a:rPr sz="800" b="0">
                  <a:solidFill>
                    <a:srgbClr val="595959"/>
                  </a:solidFill>
                  <a:latin typeface="微软雅黑" panose="020B0503020204020204" charset="-122"/>
                </a:rPr>
                <a:t>SAP下发（主数据/可用库存）</a:t>
              </a:r>
            </a:p>
          </p:txBody>
        </p:sp>
        <p:sp>
          <p:nvSpPr>
            <p:cNvPr id="67" name="Rectangle 39"/>
            <p:cNvSpPr/>
            <p:nvPr/>
          </p:nvSpPr>
          <p:spPr>
            <a:xfrm>
              <a:off x="13104" y="8395"/>
              <a:ext cx="432" cy="40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40"/>
            <p:cNvSpPr txBox="1"/>
            <p:nvPr/>
          </p:nvSpPr>
          <p:spPr>
            <a:xfrm>
              <a:off x="13608" y="8280"/>
              <a:ext cx="2880" cy="384"/>
            </a:xfrm>
            <a:prstGeom prst="rect">
              <a:avLst/>
            </a:prstGeom>
            <a:noFill/>
          </p:spPr>
          <p:txBody>
            <a:bodyPr wrap="square" lIns="36000" tIns="18000" rIns="36000" bIns="18000" anchor="t">
              <a:spAutoFit/>
            </a:bodyPr>
            <a:lstStyle/>
            <a:p>
              <a:pPr algn="l"/>
              <a:r>
                <a:rPr sz="800" b="0">
                  <a:solidFill>
                    <a:srgbClr val="595959"/>
                  </a:solidFill>
                  <a:latin typeface="微软雅黑" panose="020B0503020204020204" charset="-122"/>
                </a:rPr>
                <a:t>外围回传（作业实绩/在途）</a:t>
              </a:r>
            </a:p>
          </p:txBody>
        </p:sp>
        <p:sp>
          <p:nvSpPr>
            <p:cNvPr id="69" name="TextBox 41"/>
            <p:cNvSpPr txBox="1"/>
            <p:nvPr/>
          </p:nvSpPr>
          <p:spPr>
            <a:xfrm>
              <a:off x="9648" y="8712"/>
              <a:ext cx="8496" cy="402"/>
            </a:xfrm>
            <a:prstGeom prst="rect">
              <a:avLst/>
            </a:prstGeom>
            <a:noFill/>
          </p:spPr>
          <p:txBody>
            <a:bodyPr wrap="square" lIns="36000" tIns="18000" rIns="36000" bIns="18000" anchor="t">
              <a:spAutoFit/>
            </a:bodyPr>
            <a:lstStyle/>
            <a:p>
              <a:pPr algn="ctr"/>
              <a:r>
                <a:rPr sz="850" b="1">
                  <a:solidFill>
                    <a:srgbClr val="1F3A68"/>
                  </a:solidFill>
                  <a:latin typeface="微软雅黑" panose="020B0503020204020204" charset="-122"/>
                </a:rPr>
                <a:t>同步方式：业务事件实时触发  +  定时对账校验（T+1）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5" y="291465"/>
            <a:ext cx="11337925" cy="746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任务四：</a:t>
            </a:r>
            <a:r>
              <a:rPr lang="en-US" sz="2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作业自动化与条码管理，实现库存作业高效精准</a:t>
            </a: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377802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08000" y="1377802"/>
            <a:ext cx="762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25500" y="1530202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01 </a:t>
            </a: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收货作业自动化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25500" y="1987402"/>
            <a:ext cx="495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条码扫描自动校验物料与批次，确保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物料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信息存在且与实物一致，杜绝无条码收货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自动校验库位容量资格，限制超容量库位的上架行为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强制校验工厂、库位及批次等主数据的完整性与准确性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377802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1377802"/>
            <a:ext cx="762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540500" y="1530202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02 </a:t>
            </a: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上架作业自动化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40500" y="1987402"/>
            <a:ext cx="495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系统推荐最优上架库位，特殊紧急场景需触发例外审批流程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设置库位容量阈值，超容时自动预警或强制阻断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规范仓储作业流程，减少线下手工操作与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先做后补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08000" y="3346302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08000" y="3346302"/>
            <a:ext cx="76200" cy="18415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25500" y="3498702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0C0"/>
                </a:solidFill>
                <a:latin typeface="Biennale"/>
                <a:ea typeface="Biennale"/>
                <a:cs typeface="Biennale"/>
                <a:sym typeface="Biennale"/>
              </a:rPr>
              <a:t>03 </a:t>
            </a:r>
            <a:r>
              <a:rPr lang="en-US" sz="1400" b="1" i="0" u="none" strike="noStrike">
                <a:solidFill>
                  <a:srgbClr val="0070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拣货作业自动化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25500" y="3955902"/>
            <a:ext cx="495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针对无条码、批次不匹配拣货，建立分级例外审批机制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库存不足与超量拣货需经过更高层级的运营与仓储审核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所有例外操作全流程系统留痕，数据可追溯，支持内部审计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346302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3346302"/>
            <a:ext cx="76200" cy="18415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540500" y="3498702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0C0"/>
                </a:solidFill>
                <a:latin typeface="Biennale"/>
                <a:ea typeface="Biennale"/>
                <a:cs typeface="Biennale"/>
                <a:sym typeface="Biennale"/>
              </a:rPr>
              <a:t>04 </a:t>
            </a:r>
            <a:r>
              <a:rPr lang="en-US" sz="1400" b="1" i="0" u="none" strike="noStrike">
                <a:solidFill>
                  <a:srgbClr val="0070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发货作业自动化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540500" y="3955902"/>
            <a:ext cx="495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明确急件直配的作业节点与库存管理标准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开通MSD/效期管控的专项作业通道，区分管控与非管控物料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设定波次拣货的快速响应流程，强调事后复盘与优化机制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54000" y="5378302"/>
            <a:ext cx="11684000" cy="558800"/>
          </a:xfrm>
          <a:prstGeom prst="roundRect">
            <a:avLst>
              <a:gd name="adj" fmla="val 0"/>
            </a:avLst>
          </a:prstGeom>
          <a:solidFill>
            <a:srgbClr val="1E3A8A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381000" y="5467202"/>
            <a:ext cx="1143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管控价值：将条码自动化嵌入仓储作业节点，从源头减少人工操作误差，构建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自动识别、智能推荐、实时过账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的全流程闭环。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90098" y="389618"/>
            <a:ext cx="1463040" cy="14770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附录：原始需求清单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3962" y="262243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28624" y="79996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附录 原始需求清单（26条，P03关联）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26720" y="499110"/>
          <a:ext cx="11337925" cy="627257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13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3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7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8590">
                <a:tc>
                  <a:txBody>
                    <a:bodyPr/>
                    <a:lstStyle/>
                    <a:p>
                      <a:pPr marL="0" indent="0" algn="ctr" defTabSz="914400" eaLnBrk="1" fontAlgn="auto" latinLnBrk="0" hangingPunct="1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编号</a:t>
                      </a:r>
                    </a:p>
                  </a:txBody>
                  <a:tcPr marL="59739" marR="59739" marT="29869" marB="298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fontAlgn="auto" latinLnBrk="0" hangingPunct="1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需求简述</a:t>
                      </a:r>
                    </a:p>
                  </a:txBody>
                  <a:tcPr marL="59739" marR="59739" marT="29869" marB="298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fontAlgn="auto" latinLnBrk="0" hangingPunct="1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优先级</a:t>
                      </a:r>
                    </a:p>
                  </a:txBody>
                  <a:tcPr marL="59739" marR="59739" marT="29869" marB="298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fontAlgn="auto" latinLnBrk="0" hangingPunct="1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来源部门</a:t>
                      </a:r>
                    </a:p>
                  </a:txBody>
                  <a:tcPr marL="59739" marR="59739" marT="29869" marB="298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fontAlgn="auto" latinLnBrk="0" hangingPunct="1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归属子方案</a:t>
                      </a:r>
                    </a:p>
                  </a:txBody>
                  <a:tcPr marL="59739" marR="59739" marT="29869" marB="298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A0011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ZPR04 - 多BOM套料查询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采购中心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2.1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A0030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采购物料到货情况报表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采购中心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2.2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A0038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纸板材料仓一码多物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仓储中心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2.1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A0046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缺料表与库存联动，新到货标记颜色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生产运营中心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2.2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A0048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采购订单入库流程打通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采购中心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2.3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A0049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SAP条码管理二期开发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仓储中心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2.4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A0065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ZMRN001 - 外向交货单批量过账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销售中心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2.4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A0071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SAP与WMS系统交互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数智化部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2.3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A0079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查询库存及价格功能优化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销售中心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2.2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A0082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产品日期显示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销售中心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2.5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A0087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圈货功能优化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销售中心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2.2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A0126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合并库位及销售情况至采购订单查询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采购中心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2.2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A0127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SAP销量数据新品更新滞后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销售中心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2.5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A0135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SRM同步相关库存周转信息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采购中心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2.3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A0176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同类信息查询结果不一致，统一口径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数智化部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2.1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A0181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PLM界面集成SAP价格和库存数据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研发中心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2.3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A0184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PLM搭建完BOM自动滚算成本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研发中心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2.1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A0191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物料查询展示全部供应品牌及代理商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采购中心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2.1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A0211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库存查询报表数据不一致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数智化部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2.1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A0252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实现成本穿透式查询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财务管理部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2.6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A0304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销售折扣退货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财务管理部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2.6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A0330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常规产品计划数据销售部门无法知悉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销售中心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2.5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A0344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SAP操作优化-采购申请自动计算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采购中心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2.2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A0439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库存数据统计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销售中心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2.6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A0607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MMBE查库存看不到品牌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采购中心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2.1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A0667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内置标准化风险模型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ME1M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审计部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1" fontAlgn="auto" latinLnBrk="0" hangingPunct="1">
                        <a:lnSpc>
                          <a:spcPts val="640"/>
                        </a:lnSpc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2.6</a:t>
                      </a: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5422415"/>
            <a:ext cx="3383281" cy="4924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884404" y="6391780"/>
            <a:ext cx="423193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57200" y="2463648"/>
            <a:ext cx="820738" cy="4924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200" b="1" i="0" u="none" strike="noStrike" dirty="0" err="1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谢谢</a:t>
            </a:r>
            <a:r>
              <a:rPr lang="en-US" sz="3200" b="1" i="0" u="none" strike="noStrike" dirty="0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!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428625" y="6316314"/>
            <a:ext cx="2560320" cy="923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57200" y="6144768"/>
            <a:ext cx="8229600" cy="2743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73E6"/>
                </a:solidFill>
                <a:latin typeface="Biennale"/>
                <a:ea typeface="Biennale"/>
                <a:cs typeface="Biennale"/>
                <a:sym typeface="Biennale"/>
              </a:rPr>
              <a:t>SAP S/4HANA PCE | </a:t>
            </a:r>
            <a:r>
              <a:rPr lang="en-US" sz="1000" b="0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专项方案</a:t>
            </a:r>
            <a:r>
              <a:rPr lang="en-US" sz="1000" b="0" i="0" u="none" strike="noStrike">
                <a:solidFill>
                  <a:srgbClr val="0073E6"/>
                </a:solidFill>
                <a:latin typeface="Biennale"/>
                <a:ea typeface="Biennale"/>
                <a:cs typeface="Biennale"/>
                <a:sym typeface="Biennale"/>
              </a:rPr>
              <a:t> 1 | 2026</a:t>
            </a:r>
            <a:r>
              <a:rPr lang="en-US" sz="1000" b="0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sz="1000" b="0" i="0" u="none" strike="noStrike">
                <a:solidFill>
                  <a:srgbClr val="0073E6"/>
                </a:solidFill>
                <a:latin typeface="Biennale"/>
                <a:ea typeface="Biennale"/>
                <a:cs typeface="Biennale"/>
                <a:sym typeface="Biennale"/>
              </a:rPr>
              <a:t>6</a:t>
            </a:r>
            <a:r>
              <a:rPr lang="en-US" sz="1000" b="0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r>
              <a:rPr lang="en-US" sz="1000" b="0" i="0" u="none" strike="noStrike">
                <a:solidFill>
                  <a:srgbClr val="0073E6"/>
                </a:solidFill>
                <a:latin typeface="Biennale"/>
                <a:ea typeface="Biennale"/>
                <a:cs typeface="Biennale"/>
                <a:sym typeface="Biennale"/>
              </a:rPr>
              <a:t> | </a:t>
            </a:r>
            <a:r>
              <a:rPr lang="en-US" sz="1000" b="0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内部文件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1188976377955,&quot;left&quot;:40,&quot;top&quot;:79.65,&quot;width&quot;:88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1188976377955,&quot;left&quot;:40,&quot;top&quot;:79.65,&quot;width&quot;:88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1188976377955,&quot;left&quot;:40,&quot;top&quot;:79.65,&quot;width&quot;:88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1188976377955,&quot;left&quot;:40,&quot;top&quot;:79.65,&quot;width&quot;:88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1188976377955,&quot;left&quot;:40,&quot;top&quot;:79.65,&quot;width&quot;:88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1188976377955,&quot;left&quot;:40,&quot;top&quot;:79.65,&quot;width&quot;:88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2.01188976377952,&quot;left&quot;:40,&quot;top&quot;:120.15,&quot;width&quot;:88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2.01188976377952,&quot;left&quot;:40,&quot;top&quot;:120.15,&quot;width&quot;:88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2.01188976377952,&quot;left&quot;:40,&quot;top&quot;:120.15,&quot;width&quot;:88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2.01188976377952,&quot;left&quot;:40,&quot;top&quot;:120.15,&quot;width&quot;:88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2.01188976377952,&quot;left&quot;:40,&quot;top&quot;:120.15,&quot;width&quot;:88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2.01188976377952,&quot;left&quot;:40,&quot;top&quot;:120.15,&quot;width&quot;:88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2.01188976377952,&quot;left&quot;:40,&quot;top&quot;:120.15,&quot;width&quot;:88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2.01188976377952,&quot;left&quot;:40,&quot;top&quot;:120.15,&quot;width&quot;:88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2.01188976377952,&quot;left&quot;:40,&quot;top&quot;:120.15,&quot;width&quot;:88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2.01188976377952,&quot;left&quot;:40,&quot;top&quot;:120.15,&quot;width&quot;:88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2.01188976377952,&quot;left&quot;:40,&quot;top&quot;:120.15,&quot;width&quot;:88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2.01188976377952,&quot;left&quot;:40,&quot;top&quot;:120.15,&quot;width&quot;:88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2*444"/>
  <p:tag name="TABLE_ENDDRAG_RECT" val="33*39*892*444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 backgroun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White backgroun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2651</Words>
  <Application>Microsoft Office PowerPoint</Application>
  <PresentationFormat>宽屏</PresentationFormat>
  <Paragraphs>491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20</vt:i4>
      </vt:variant>
    </vt:vector>
  </HeadingPairs>
  <TitlesOfParts>
    <vt:vector size="40" baseType="lpstr">
      <vt:lpstr>Biennale</vt:lpstr>
      <vt:lpstr>Biennale Bold</vt:lpstr>
      <vt:lpstr>Biennale Medium</vt:lpstr>
      <vt:lpstr>Montserrat Bold</vt:lpstr>
      <vt:lpstr>Noto Sans SC</vt:lpstr>
      <vt:lpstr>Noto Sans SC Bold</vt:lpstr>
      <vt:lpstr>等线</vt:lpstr>
      <vt:lpstr>微软雅黑</vt:lpstr>
      <vt:lpstr>微软雅黑 Light</vt:lpstr>
      <vt:lpstr>Aptos</vt:lpstr>
      <vt:lpstr>Arial</vt:lpstr>
      <vt:lpstr>Montserrat SemiBold</vt:lpstr>
      <vt:lpstr>Verdana</vt:lpstr>
      <vt:lpstr>Office 主题​​</vt:lpstr>
      <vt:lpstr>自定义主题</vt:lpstr>
      <vt:lpstr>White background</vt:lpstr>
      <vt:lpstr>1_White background</vt:lpstr>
      <vt:lpstr>2_自定义主题</vt:lpstr>
      <vt:lpstr>3_自定义主题</vt:lpstr>
      <vt:lpstr>1_自定义主题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2102125624@qq.com</cp:lastModifiedBy>
  <cp:revision>3</cp:revision>
  <dcterms:created xsi:type="dcterms:W3CDTF">2026-08-30T10:46:00Z</dcterms:created>
  <dcterms:modified xsi:type="dcterms:W3CDTF">2026-08-30T14:55:26Z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{"Label":"1","ContentProducer":"001191110102MACQD9K64010000","ProduceID":"7676766427264945358","ReservedCode1":"","ContentPropagator":"","PropagateID":"","ReservedCode2":""}</vt:lpwstr>
  </property>
  <property fmtid="{D5CDD505-2E9C-101B-9397-08002B2CF9AE}" pid="3" name="ICV">
    <vt:lpwstr>BCFBAA8B8C704E69B50347DD8F7AE8A9_13</vt:lpwstr>
  </property>
  <property fmtid="{D5CDD505-2E9C-101B-9397-08002B2CF9AE}" pid="4" name="KSOProductBuildVer">
    <vt:lpwstr>2052-12.1.0.28043</vt:lpwstr>
  </property>
</Properties>
</file>