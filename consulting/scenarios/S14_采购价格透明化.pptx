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5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7.xml" ContentType="application/vnd.openxmlformats-officedocument.theme+xml"/>
  <Override PartName="/ppt/slideLayouts/slideLayout86.xml" ContentType="application/vnd.openxmlformats-officedocument.presentationml.slideLayout+xml"/>
  <Override PartName="/ppt/theme/theme8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9.xml" ContentType="application/vnd.openxmlformats-officedocument.theme+xml"/>
  <Override PartName="/ppt/slideLayouts/slideLayout104.xml" ContentType="application/vnd.openxmlformats-officedocument.presentationml.slideLayout+xml"/>
  <Override PartName="/ppt/theme/theme10.xml" ContentType="application/vnd.openxmlformats-officedocument.theme+xml"/>
  <Override PartName="/ppt/slideLayouts/slideLayout10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74" r:id="rId4"/>
    <p:sldMasterId id="2147483686" r:id="rId5"/>
    <p:sldMasterId id="2147483704" r:id="rId6"/>
    <p:sldMasterId id="2147483722" r:id="rId7"/>
    <p:sldMasterId id="2147483740" r:id="rId8"/>
    <p:sldMasterId id="2147483742" r:id="rId9"/>
    <p:sldMasterId id="2147483760" r:id="rId10"/>
    <p:sldMasterId id="2147483762" r:id="rId11"/>
  </p:sldMasterIdLst>
  <p:notesMasterIdLst>
    <p:notesMasterId r:id="rId3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80E7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225" y="54"/>
      </p:cViewPr>
      <p:guideLst>
        <p:guide orient="horz" pos="163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各位领导，大家好。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今天我代表项目组，向大家汇报《采购价格透明化与比价分析体系》。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本次方案是基于佛山照明SAP升级项目的背景，旨在通过数字化手段，优化采购流程，实现价格与货源的精细化管控，降本增效。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各位领导、各位同事，大家好。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今天我们将围绕数字化转型项目进行详细汇报。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本次汇报的目录共分为九个部分，从管理层的执行摘要开始，我们将深入剖析现状问题、明确建设目标与治理架构，并重点介绍六项建设任务及SAP系统的本期落地方案。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同时，我们也会对实施路径、价值评估、风险应对以及后续的决策事项进行全面阐述。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接下来，让我们正式进入第一部分。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ptos"/>
              </a:defRPr>
            </a:lvl1pPr>
          </a:lstStyle>
          <a:p>
            <a:pPr marL="171450" indent="-17145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ptos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页是02方案详解及系统实现的总览页，从业务任务和技术架构两个维度展示整体方案。左侧四大业务任务对应原始需求A0196、A0195、A0193、A0212，每个任务标注了核心技术标签。右侧四层技术架构从展现层、应用层、集成层到数据层，清晰展示了SAP标准功能、自定义增强、外部集成和BI分析的技术路线。特别强调大宗行情数据接入为二期实现，通过CPI云集成平台对接外部数据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页详细展开任务一A0196的系统实现方案。左侧展示数据模型和四步配置路径：数据模型从内部物料到MPN物料、制造商再到采购信息记录的实体关系；四步配置利用SAP标准功能XK01创建品牌供应商、MM01创建MPN物料、MP01维护制造商零件清单、ME11维护信息记录。右侧展示系统增强和报表开发：BAdI ME_PROCESS_PO_CUST实现采购订单品牌选择和价格排序，Y_TST报表增加品牌字段，主数据完善材质重量等属性。核心思路是最大化利用SAP标准功能，最小化自定义开发。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页详细展开任务二A0195的系统实现方案，分为一期预警机制和二期大宗行情联动两部分。左侧一期预警机制包括：基于条件技术的预警规则引擎，支持阈值参数化配置；三类预警场景（标准成本对比、历史价格对比、大宗行情联动），数据来源于ME1P/ME1E标准报表；多渠道预警推送机制（邮件、工作流、消息中心、FIORI）。右侧二期大宗行情联动包括：CPI云集成接口架构（外部行情源→CPI→S/4HANA），REST API每日定时同步；自定义行情数据表存储模型；行情联动分析与采购时机建议，通过BI仪表盘输出。核心思路是一期先建预警能力，二期再扩展外部数据集成。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本页详细展开任务三A0193的系统实现方案。左侧变更文档技术架构包括：SAP Change Document激活EINE净价字段，变更对象类EINKBELEG；CDHDR抬头表和CDPOS行项表的关键字段结构；三年历史数据采集策略（ME1P/ME1E+变更文档回溯，补充调价原因字段）。右侧自定义报表与BI可视化包括：ABAP自定义履历查询报表（ALV输出，多条件筛选，变动幅度展示）；BI价格趋势可视化架构（折线图/柱状图/散点图，时间筛选和物料下钻）；工程师选型决策数据支撑（FIORI嵌入Widget）。核心是最大化利用SAP标准变更文档功能，辅以自定义报表和BI展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页详细展开任务四A0212的系统实现方案。左侧报表增强技术方案包括：Y_TST_19000030报表现状分析（现有功能和不足）；新增字段设计（货源管控标识、货源清单状态、清单数量、固定供应商标识）；EORD货源清单关联逻辑（关联条件、表链、实时查询、性能优化）。右侧批量导出与权限控制包括：未维护货源清单批量导出功能（筛选逻辑、输出字段、业务用途、技术实现）；多维度查询优化（物料/供应商/货源三个维度，参考ZMR12）；权限精细化控制（采购组织/工厂维度，授权对象，敏感字段脱敏）。核心是在现有报表基础上做增强，不重新开发，最小化改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整体实施路径与里程碑计划。项目分两期：一期第1-3月聚焦四大任务核心功能，含需求确认、配置开发、SIT/UAT测试、培训上线四阶段，里程碑M1-M4；二期第4-6月扩展大宗行情联动与BI深化，含数据源对接CPI开发、BI仪表盘建设、优化推广三阶段，里程碑M5-M7。实施策略强调敏捷迭代、标准优先、用户参与、二期前置、质量门禁和知识转移，确保高质量交付并快速产生业务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明确项目组织架构与责任分工。左侧展示三级项目组织：指导委员会（高管决策）、项目管理办公室PMO（计划管控）、四个专业工作组（业务组、技术组、数据组、变革组），并列出各部门核心职责。右侧RACI矩阵明确四大任务及关键活动的责任分配：招投标中心在任务一、二、四中承担最终责任A，研究院在任务三中承担A，数智化部作为PMO在测试培训和上线运维中承担A。RACI确保每项活动都有明确的执行者R和最终负责人A，避免责任模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列出项目启动阶段必须完成的六大类业务规则确认清单：品牌编码规则（供应商/MPN编码段、命名规范、历史数据映射）、物料属性规范（材质/重量/规格标准、物料组映射、必填控制）、预警阈值规则（标准成本超差、历史价格波动、物料组差异化、预警级别）、权限规则（采购组织/工厂权限、价格脱敏、角色定义、BI权限）、货源管控规则（管控物料范围、清单标准、固定供应商、有效期管理）、调价原因规范（原因代码表、必填控制、审批流程、附件要求）。每项规则明确主责部门、配合部门和完成里程碑，确保作为系统配置与开发的前置输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培训与变更管理计划。左侧为分角色培训矩阵：采购员4h（课堂+实操）、采购经理3h、分析师6h（深度培训）、工程师2h（录屏自学）、系统管理员8h（知识转移），培训方式包括课堂培训、实操练习和录屏自学。右侧为变更管理五阶段（认知-参与-学习-固化-优化）、沟通计划（项目周报、里程碑评审、用户沟通会）和培训交付物清单（操作手册、培训课件、录屏视频、快速参考卡、FAQ、测试用例、运维手册、培训记录）。关键用户是变更管理的核心桥梁，每个部门指定1-2名关键用户全程参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识别项目实施全周期八大类风险及应对措施。高风险2项：需求风险（业务规则确认延迟，影响高/概率中）和数据风险（主数据质量不高，影响高/概率高），需重点监控；中风险4项：技术风险、资源风险、变更风险、接口风险，定期跟踪；低风险2项：上线风险和运维风险，常规关注。每项风险明确潜在影响、影响程度、发生概率、针对性应对措施和责任方。风险监控机制：PMO每周更新风险登记册，项目周报通报风险状态，指导委员会月度评审重大风险，确保项目风险全程可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上线策略与运维保障体系。上线策略采用"试点先行、逐步推广"三阶段：第一阶段1-2个工厂试点验证，第二阶段按工厂分批推广（每批间隔2周），第三阶段全量上线。上线切换选择周末/节假日，配备详细切换清单、回退方案和数据校验。超现场支持期4周：第1周7×24驻场，第2周工作日驻场，第3-4周远程支持逐步转入常规运维；问题分P1/P2/P3三级响应。长效运维体系由数智化部（一线）、关键用户（业务接触点）、SAP服务商（二线技术支持）组成，配套知识转移、持续优化、SLA约定和系统监控。价值度量指标：系统可用率≥95%、用户活跃率≥80%、P1问题平均解决≤2小时；业务价值目标为采购成本节约3-5%、分析效率提升80%、决策质量显著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ptos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6.pn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6.png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6.png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4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5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9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0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4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5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9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0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1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8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5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6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7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8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9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9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9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9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3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0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1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2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0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6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107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8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1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1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2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3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1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1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7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8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2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22" hasCustomPrompt="1"/>
          </p:nvPr>
        </p:nvSpPr>
        <p:spPr>
          <a:xfrm>
            <a:off x="423068" y="2415203"/>
            <a:ext cx="5486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3" hasCustomPrompt="1"/>
          </p:nvPr>
        </p:nvSpPr>
        <p:spPr>
          <a:xfrm>
            <a:off x="423068" y="3138594"/>
            <a:ext cx="548640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4" hasCustomPrompt="1"/>
          </p:nvPr>
        </p:nvSpPr>
        <p:spPr>
          <a:xfrm>
            <a:off x="423068" y="4771707"/>
            <a:ext cx="3657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AutoShape 5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 Group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pic" sz="quarter" idx="125"/>
          </p:nvPr>
        </p:nvSpPr>
        <p:spPr>
          <a:xfrm>
            <a:off x="6092952" y="0"/>
            <a:ext cx="6099048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26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7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8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eep Blue Title Only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29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30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1" hasCustomPrompt="1"/>
          </p:nvPr>
        </p:nvSpPr>
        <p:spPr>
          <a:xfrm>
            <a:off x="428625" y="6420355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sp>
        <p:nvSpPr>
          <p:cNvPr id="5" name="AutoShape 5"/>
          <p:cNvSpPr/>
          <p:nvPr/>
        </p:nvSpPr>
        <p:spPr>
          <a:xfrm>
            <a:off x="428625" y="6420355"/>
            <a:ext cx="12795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	|	 © Atos Group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5" name="AutoShape 5"/>
          <p:cNvSpPr>
            <a:spLocks noGrp="1"/>
          </p:cNvSpPr>
          <p:nvPr>
            <p:ph type="body" sz="quarter" idx="132" hasCustomPrompt="1"/>
          </p:nvPr>
        </p:nvSpPr>
        <p:spPr>
          <a:xfrm>
            <a:off x="428625" y="1196367"/>
            <a:ext cx="585216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33" hasCustomPrompt="1"/>
          </p:nvPr>
        </p:nvSpPr>
        <p:spPr>
          <a:xfrm>
            <a:off x="428625" y="2748074"/>
            <a:ext cx="585216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7" name="Freeform 7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34" hasCustomPrompt="1"/>
          </p:nvPr>
        </p:nvSpPr>
        <p:spPr>
          <a:xfrm>
            <a:off x="428625" y="1189363"/>
            <a:ext cx="537006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80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80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625" y="5422415"/>
            <a:ext cx="3383281" cy="4924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5" hasCustomPrompt="1"/>
          </p:nvPr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lvl1pPr algn="l">
              <a:lnSpc>
                <a:spcPct val="100000"/>
              </a:lnSpc>
              <a:defRPr sz="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Job Number-Designer-BP</a:t>
            </a:r>
          </a:p>
        </p:txBody>
      </p:sp>
      <p:sp>
        <p:nvSpPr>
          <p:cNvPr id="5" name="AutoShape 5"/>
          <p:cNvSpPr/>
          <p:nvPr/>
        </p:nvSpPr>
        <p:spPr>
          <a:xfrm>
            <a:off x="5884404" y="6391780"/>
            <a:ext cx="423193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36" hasCustomPrompt="1"/>
          </p:nvPr>
        </p:nvSpPr>
        <p:spPr>
          <a:xfrm>
            <a:off x="303548" y="164637"/>
            <a:ext cx="1143609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 in Raleway SemiBold 20pt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37" hasCustomPrompt="1"/>
          </p:nvPr>
        </p:nvSpPr>
        <p:spPr>
          <a:xfrm>
            <a:off x="303547" y="556610"/>
            <a:ext cx="11436096" cy="5805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135" b="0" i="0" u="none" strike="noStrike" spc="0">
                <a:solidFill>
                  <a:srgbClr val="0596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2135" b="0" i="0" u="none" strike="noStrike">
                <a:solidFill>
                  <a:srgbClr val="0596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 in Raleway SemiBold 16pt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138" hasCustomPrompt="1"/>
          </p:nvPr>
        </p:nvSpPr>
        <p:spPr>
          <a:xfrm>
            <a:off x="2954745" y="1446367"/>
            <a:ext cx="34304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9" hasCustomPrompt="1"/>
          </p:nvPr>
        </p:nvSpPr>
        <p:spPr>
          <a:xfrm>
            <a:off x="3674348" y="1446367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0" hasCustomPrompt="1"/>
          </p:nvPr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1" hasCustomPrompt="1"/>
          </p:nvPr>
        </p:nvSpPr>
        <p:spPr>
          <a:xfrm>
            <a:off x="2954745" y="2713569"/>
            <a:ext cx="39594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42" hasCustomPrompt="1"/>
          </p:nvPr>
        </p:nvSpPr>
        <p:spPr>
          <a:xfrm>
            <a:off x="3674348" y="2713569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143" hasCustomPrompt="1"/>
          </p:nvPr>
        </p:nvSpPr>
        <p:spPr>
          <a:xfrm>
            <a:off x="11406268" y="2713569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144" hasCustomPrompt="1"/>
          </p:nvPr>
        </p:nvSpPr>
        <p:spPr>
          <a:xfrm>
            <a:off x="2954745" y="3980771"/>
            <a:ext cx="39754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145" hasCustomPrompt="1"/>
          </p:nvPr>
        </p:nvSpPr>
        <p:spPr>
          <a:xfrm>
            <a:off x="3674348" y="3980771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146" hasCustomPrompt="1"/>
          </p:nvPr>
        </p:nvSpPr>
        <p:spPr>
          <a:xfrm>
            <a:off x="11406268" y="3980771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147" hasCustomPrompt="1"/>
          </p:nvPr>
        </p:nvSpPr>
        <p:spPr>
          <a:xfrm>
            <a:off x="2954745" y="5247973"/>
            <a:ext cx="40395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148" hasCustomPrompt="1"/>
          </p:nvPr>
        </p:nvSpPr>
        <p:spPr>
          <a:xfrm>
            <a:off x="3674348" y="5247973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149" hasCustomPrompt="1"/>
          </p:nvPr>
        </p:nvSpPr>
        <p:spPr>
          <a:xfrm>
            <a:off x="11406268" y="5247973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150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Contents</a:t>
            </a: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151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152" hasCustomPrompt="1"/>
          </p:nvPr>
        </p:nvSpPr>
        <p:spPr>
          <a:xfrm>
            <a:off x="390098" y="389618"/>
            <a:ext cx="1376980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53" hasCustomPrompt="1"/>
          </p:nvPr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  <a:b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two lines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wo curve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body" sz="quarter" idx="154" hasCustomPrompt="1"/>
          </p:nvPr>
        </p:nvSpPr>
        <p:spPr>
          <a:xfrm>
            <a:off x="428625" y="4765675"/>
            <a:ext cx="3992904" cy="9699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Freeform 5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5" hasCustomPrompt="1"/>
          </p:nvPr>
        </p:nvSpPr>
        <p:spPr>
          <a:xfrm>
            <a:off x="428625" y="1456679"/>
            <a:ext cx="6766560" cy="1844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4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56" hasCustomPrompt="1"/>
          </p:nvPr>
        </p:nvSpPr>
        <p:spPr>
          <a:xfrm>
            <a:off x="428625" y="2084535"/>
            <a:ext cx="6766560" cy="1217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2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2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810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4" y="0"/>
            <a:ext cx="12192000" cy="6881005"/>
          </a:xfrm>
          <a:prstGeom prst="rect">
            <a:avLst/>
          </a:prstGeom>
          <a:gradFill rotWithShape="0">
            <a:gsLst>
              <a:gs pos="41999">
                <a:srgbClr val="FFFFFF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" y="6503027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" y="518500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>
            <a:spLocks noGrp="1"/>
          </p:cNvSpPr>
          <p:nvPr>
            <p:ph type="body" sz="quarter" idx="157" hasCustomPrompt="1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935" b="0" i="0" u="none" strike="noStrike" spc="0">
                <a:solidFill>
                  <a:srgbClr val="0073E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935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title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-16213" y="6276266"/>
            <a:ext cx="825500" cy="3397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33359" tIns="66685" rIns="133359" bIns="66685" rtlCol="0" anchor="ctr">
            <a:sp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8" hasCustomPrompt="1"/>
          </p:nvPr>
        </p:nvSpPr>
        <p:spPr>
          <a:xfrm>
            <a:off x="320400" y="6326136"/>
            <a:ext cx="591024" cy="288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91440" tIns="45720" rIns="91440" bIns="45720" anchor="ctr">
            <a:spAutoFit/>
          </a:bodyPr>
          <a:lstStyle>
            <a:lvl1pPr algn="l">
              <a:lnSpc>
                <a:spcPct val="100000"/>
              </a:lnSpc>
              <a:defRPr sz="1335" b="0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335" b="0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59" hasCustomPrompt="1"/>
          </p:nvPr>
        </p:nvSpPr>
        <p:spPr>
          <a:xfrm>
            <a:off x="320400" y="164637"/>
            <a:ext cx="11632251" cy="960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66A1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66A1"/>
                </a:solidFill>
                <a:latin typeface="Biennale Bold"/>
                <a:ea typeface="Biennale Bold"/>
                <a:cs typeface="Biennale Bold"/>
                <a:sym typeface="Biennale Bold"/>
              </a:rPr>
              <a:t>Click to edit the header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160" hasCustomPrompt="1"/>
          </p:nvPr>
        </p:nvSpPr>
        <p:spPr>
          <a:xfrm>
            <a:off x="316799" y="471915"/>
            <a:ext cx="11484000" cy="343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000000">
                    <a:alpha val="100000"/>
                  </a:srgbClr>
                </a:solidFill>
                <a:latin typeface="Montserrat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61" hasCustomPrompt="1"/>
          </p:nvPr>
        </p:nvSpPr>
        <p:spPr>
          <a:xfrm>
            <a:off x="316799" y="830931"/>
            <a:ext cx="11484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Montserrat Semi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29230" y="6298599"/>
            <a:ext cx="458064" cy="216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93038" y="6384973"/>
            <a:ext cx="605935" cy="1000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50" b="0" i="0" u="none" strike="noStrike">
                <a:solidFill>
                  <a:srgbClr val="808080"/>
                </a:solidFill>
                <a:latin typeface="Biennale"/>
                <a:ea typeface="Biennale"/>
                <a:cs typeface="Biennale"/>
                <a:sym typeface="Biennale"/>
              </a:rPr>
              <a:t>© EVIDEN SAS</a:t>
            </a:r>
            <a:endParaRPr lang="en-US" sz="110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2" hasCustomPrompt="1"/>
          </p:nvPr>
        </p:nvSpPr>
        <p:spPr>
          <a:xfrm>
            <a:off x="501520" y="1557338"/>
            <a:ext cx="11183565" cy="4787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marL="431800" indent="-203200"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  <a:lvl2pPr marL="660400" indent="-203200"/>
            <a:lvl3pPr marL="889000" indent="-203200"/>
            <a:lvl4pPr marL="1117600" indent="-203200"/>
            <a:lvl5pPr marL="914400" indent="0"/>
            <a:lvl6pPr marL="711200" indent="0"/>
            <a:lvl7pPr marL="508000" indent="0"/>
            <a:lvl8pPr marL="304800" indent="0"/>
            <a:lvl9pPr marL="101600" indent="0"/>
          </a:lstStyle>
          <a:p>
            <a:pPr marL="228600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Start typing to add text without a bullet point. To add a bullet point, place the cursor at the start of this line and press tab.</a:t>
            </a:r>
          </a:p>
          <a:p>
            <a:pPr marL="457200" lvl="1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Second level</a:t>
            </a:r>
          </a:p>
          <a:p>
            <a:pPr marL="685800" lvl="2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Third level</a:t>
            </a:r>
          </a:p>
          <a:p>
            <a:pPr marL="914400" lvl="3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Fourth level</a:t>
            </a:r>
          </a:p>
          <a:p>
            <a:pPr marL="914400" lvl="4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3" hasCustomPrompt="1"/>
          </p:nvPr>
        </p:nvSpPr>
        <p:spPr>
          <a:xfrm>
            <a:off x="503870" y="504000"/>
            <a:ext cx="1118356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Insert page title (sentence case)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Pag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4" hasCustomPrompt="1"/>
          </p:nvPr>
        </p:nvSpPr>
        <p:spPr>
          <a:xfrm>
            <a:off x="503869" y="3090446"/>
            <a:ext cx="11182288" cy="6771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Biennale Bold"/>
                <a:ea typeface="Biennale Bold"/>
                <a:cs typeface="Biennale Bold"/>
                <a:sym typeface="Biennale Bold"/>
              </a:rPr>
              <a:t>Divider page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165"/>
          </p:nvPr>
        </p:nvSpPr>
        <p:spPr>
          <a:xfrm>
            <a:off x="40341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166"/>
          </p:nvPr>
        </p:nvSpPr>
        <p:spPr>
          <a:xfrm>
            <a:off x="403411" y="1439904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167"/>
          </p:nvPr>
        </p:nvSpPr>
        <p:spPr>
          <a:xfrm>
            <a:off x="40341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168"/>
          </p:nvPr>
        </p:nvSpPr>
        <p:spPr>
          <a:xfrm>
            <a:off x="40341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169"/>
          </p:nvPr>
        </p:nvSpPr>
        <p:spPr>
          <a:xfrm>
            <a:off x="403411" y="5651686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170"/>
          </p:nvPr>
        </p:nvSpPr>
        <p:spPr>
          <a:xfrm>
            <a:off x="40341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171"/>
          </p:nvPr>
        </p:nvSpPr>
        <p:spPr>
          <a:xfrm>
            <a:off x="170539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pic" sz="quarter" idx="172"/>
          </p:nvPr>
        </p:nvSpPr>
        <p:spPr>
          <a:xfrm>
            <a:off x="300738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pic" sz="quarter" idx="173"/>
          </p:nvPr>
        </p:nvSpPr>
        <p:spPr>
          <a:xfrm>
            <a:off x="4309375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pic" sz="quarter" idx="174"/>
          </p:nvPr>
        </p:nvSpPr>
        <p:spPr>
          <a:xfrm>
            <a:off x="5611363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pic" sz="quarter" idx="175"/>
          </p:nvPr>
        </p:nvSpPr>
        <p:spPr>
          <a:xfrm>
            <a:off x="691335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pic" sz="quarter" idx="176"/>
          </p:nvPr>
        </p:nvSpPr>
        <p:spPr>
          <a:xfrm>
            <a:off x="821533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pic" sz="quarter" idx="177"/>
          </p:nvPr>
        </p:nvSpPr>
        <p:spPr>
          <a:xfrm>
            <a:off x="951732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5" name="AutoShape 15"/>
          <p:cNvSpPr>
            <a:spLocks noGrp="1"/>
          </p:cNvSpPr>
          <p:nvPr>
            <p:ph type="pic" sz="quarter" idx="178"/>
          </p:nvPr>
        </p:nvSpPr>
        <p:spPr>
          <a:xfrm>
            <a:off x="10819317" y="39039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6" name="AutoShape 16"/>
          <p:cNvSpPr>
            <a:spLocks noGrp="1"/>
          </p:cNvSpPr>
          <p:nvPr>
            <p:ph type="pic" sz="quarter" idx="179"/>
          </p:nvPr>
        </p:nvSpPr>
        <p:spPr>
          <a:xfrm>
            <a:off x="170539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7" name="AutoShape 17"/>
          <p:cNvSpPr>
            <a:spLocks noGrp="1"/>
          </p:cNvSpPr>
          <p:nvPr>
            <p:ph type="pic" sz="quarter" idx="180"/>
          </p:nvPr>
        </p:nvSpPr>
        <p:spPr>
          <a:xfrm>
            <a:off x="300738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8" name="AutoShape 18"/>
          <p:cNvSpPr>
            <a:spLocks noGrp="1"/>
          </p:cNvSpPr>
          <p:nvPr>
            <p:ph type="pic" sz="quarter" idx="181"/>
          </p:nvPr>
        </p:nvSpPr>
        <p:spPr>
          <a:xfrm>
            <a:off x="4309375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9" name="AutoShape 19"/>
          <p:cNvSpPr>
            <a:spLocks noGrp="1"/>
          </p:cNvSpPr>
          <p:nvPr>
            <p:ph type="pic" sz="quarter" idx="182"/>
          </p:nvPr>
        </p:nvSpPr>
        <p:spPr>
          <a:xfrm>
            <a:off x="5611363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0" name="AutoShape 20"/>
          <p:cNvSpPr>
            <a:spLocks noGrp="1"/>
          </p:cNvSpPr>
          <p:nvPr>
            <p:ph type="pic" sz="quarter" idx="183"/>
          </p:nvPr>
        </p:nvSpPr>
        <p:spPr>
          <a:xfrm>
            <a:off x="6913351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1" name="AutoShape 21"/>
          <p:cNvSpPr>
            <a:spLocks noGrp="1"/>
          </p:cNvSpPr>
          <p:nvPr>
            <p:ph type="pic" sz="quarter" idx="184"/>
          </p:nvPr>
        </p:nvSpPr>
        <p:spPr>
          <a:xfrm>
            <a:off x="821533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2" name="AutoShape 22"/>
          <p:cNvSpPr>
            <a:spLocks noGrp="1"/>
          </p:cNvSpPr>
          <p:nvPr>
            <p:ph type="pic" sz="quarter" idx="185"/>
          </p:nvPr>
        </p:nvSpPr>
        <p:spPr>
          <a:xfrm>
            <a:off x="951732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3" name="AutoShape 23"/>
          <p:cNvSpPr>
            <a:spLocks noGrp="1"/>
          </p:cNvSpPr>
          <p:nvPr>
            <p:ph type="pic" sz="quarter" idx="186"/>
          </p:nvPr>
        </p:nvSpPr>
        <p:spPr>
          <a:xfrm>
            <a:off x="10819317" y="1439904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4" name="AutoShape 24"/>
          <p:cNvSpPr>
            <a:spLocks noGrp="1"/>
          </p:cNvSpPr>
          <p:nvPr>
            <p:ph type="pic" sz="quarter" idx="187"/>
          </p:nvPr>
        </p:nvSpPr>
        <p:spPr>
          <a:xfrm>
            <a:off x="170539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5" name="AutoShape 25"/>
          <p:cNvSpPr>
            <a:spLocks noGrp="1"/>
          </p:cNvSpPr>
          <p:nvPr>
            <p:ph type="pic" sz="quarter" idx="188"/>
          </p:nvPr>
        </p:nvSpPr>
        <p:spPr>
          <a:xfrm>
            <a:off x="300738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6" name="AutoShape 26"/>
          <p:cNvSpPr>
            <a:spLocks noGrp="1"/>
          </p:cNvSpPr>
          <p:nvPr>
            <p:ph type="pic" sz="quarter" idx="189"/>
          </p:nvPr>
        </p:nvSpPr>
        <p:spPr>
          <a:xfrm>
            <a:off x="4309375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7" name="AutoShape 27"/>
          <p:cNvSpPr>
            <a:spLocks noGrp="1"/>
          </p:cNvSpPr>
          <p:nvPr>
            <p:ph type="pic" sz="quarter" idx="190"/>
          </p:nvPr>
        </p:nvSpPr>
        <p:spPr>
          <a:xfrm>
            <a:off x="5611363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8" name="AutoShape 28"/>
          <p:cNvSpPr>
            <a:spLocks noGrp="1"/>
          </p:cNvSpPr>
          <p:nvPr>
            <p:ph type="pic" sz="quarter" idx="191"/>
          </p:nvPr>
        </p:nvSpPr>
        <p:spPr>
          <a:xfrm>
            <a:off x="691335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9" name="AutoShape 29"/>
          <p:cNvSpPr>
            <a:spLocks noGrp="1"/>
          </p:cNvSpPr>
          <p:nvPr>
            <p:ph type="pic" sz="quarter" idx="192"/>
          </p:nvPr>
        </p:nvSpPr>
        <p:spPr>
          <a:xfrm>
            <a:off x="821533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0" name="AutoShape 30"/>
          <p:cNvSpPr>
            <a:spLocks noGrp="1"/>
          </p:cNvSpPr>
          <p:nvPr>
            <p:ph type="pic" sz="quarter" idx="193"/>
          </p:nvPr>
        </p:nvSpPr>
        <p:spPr>
          <a:xfrm>
            <a:off x="951732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1" name="AutoShape 31"/>
          <p:cNvSpPr>
            <a:spLocks noGrp="1"/>
          </p:cNvSpPr>
          <p:nvPr>
            <p:ph type="pic" sz="quarter" idx="194"/>
          </p:nvPr>
        </p:nvSpPr>
        <p:spPr>
          <a:xfrm>
            <a:off x="10819317" y="249628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2" name="AutoShape 32"/>
          <p:cNvSpPr>
            <a:spLocks noGrp="1"/>
          </p:cNvSpPr>
          <p:nvPr>
            <p:ph type="pic" sz="quarter" idx="195"/>
          </p:nvPr>
        </p:nvSpPr>
        <p:spPr>
          <a:xfrm>
            <a:off x="170539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3" name="AutoShape 33"/>
          <p:cNvSpPr>
            <a:spLocks noGrp="1"/>
          </p:cNvSpPr>
          <p:nvPr>
            <p:ph type="pic" sz="quarter" idx="196"/>
          </p:nvPr>
        </p:nvSpPr>
        <p:spPr>
          <a:xfrm>
            <a:off x="300738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4" name="AutoShape 34"/>
          <p:cNvSpPr>
            <a:spLocks noGrp="1"/>
          </p:cNvSpPr>
          <p:nvPr>
            <p:ph type="pic" sz="quarter" idx="197"/>
          </p:nvPr>
        </p:nvSpPr>
        <p:spPr>
          <a:xfrm>
            <a:off x="4309375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5" name="AutoShape 35"/>
          <p:cNvSpPr>
            <a:spLocks noGrp="1"/>
          </p:cNvSpPr>
          <p:nvPr>
            <p:ph type="pic" sz="quarter" idx="198"/>
          </p:nvPr>
        </p:nvSpPr>
        <p:spPr>
          <a:xfrm>
            <a:off x="5611363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6" name="AutoShape 36"/>
          <p:cNvSpPr>
            <a:spLocks noGrp="1"/>
          </p:cNvSpPr>
          <p:nvPr>
            <p:ph type="pic" sz="quarter" idx="199"/>
          </p:nvPr>
        </p:nvSpPr>
        <p:spPr>
          <a:xfrm>
            <a:off x="691335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7" name="AutoShape 37"/>
          <p:cNvSpPr>
            <a:spLocks noGrp="1"/>
          </p:cNvSpPr>
          <p:nvPr>
            <p:ph type="pic" sz="quarter" idx="200"/>
          </p:nvPr>
        </p:nvSpPr>
        <p:spPr>
          <a:xfrm>
            <a:off x="821533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8" name="AutoShape 38"/>
          <p:cNvSpPr>
            <a:spLocks noGrp="1"/>
          </p:cNvSpPr>
          <p:nvPr>
            <p:ph type="pic" sz="quarter" idx="201"/>
          </p:nvPr>
        </p:nvSpPr>
        <p:spPr>
          <a:xfrm>
            <a:off x="951732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9" name="AutoShape 39"/>
          <p:cNvSpPr>
            <a:spLocks noGrp="1"/>
          </p:cNvSpPr>
          <p:nvPr>
            <p:ph type="pic" sz="quarter" idx="202"/>
          </p:nvPr>
        </p:nvSpPr>
        <p:spPr>
          <a:xfrm>
            <a:off x="10819317" y="3542360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0" name="AutoShape 40"/>
          <p:cNvSpPr>
            <a:spLocks noGrp="1"/>
          </p:cNvSpPr>
          <p:nvPr>
            <p:ph type="pic" sz="quarter" idx="203"/>
          </p:nvPr>
        </p:nvSpPr>
        <p:spPr>
          <a:xfrm>
            <a:off x="170539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1" name="AutoShape 41"/>
          <p:cNvSpPr>
            <a:spLocks noGrp="1"/>
          </p:cNvSpPr>
          <p:nvPr>
            <p:ph type="pic" sz="quarter" idx="204"/>
          </p:nvPr>
        </p:nvSpPr>
        <p:spPr>
          <a:xfrm>
            <a:off x="300738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2" name="AutoShape 42"/>
          <p:cNvSpPr>
            <a:spLocks noGrp="1"/>
          </p:cNvSpPr>
          <p:nvPr>
            <p:ph type="pic" sz="quarter" idx="205"/>
          </p:nvPr>
        </p:nvSpPr>
        <p:spPr>
          <a:xfrm>
            <a:off x="4309375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3" name="AutoShape 43"/>
          <p:cNvSpPr>
            <a:spLocks noGrp="1"/>
          </p:cNvSpPr>
          <p:nvPr>
            <p:ph type="pic" sz="quarter" idx="206"/>
          </p:nvPr>
        </p:nvSpPr>
        <p:spPr>
          <a:xfrm>
            <a:off x="5611363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4" name="AutoShape 44"/>
          <p:cNvSpPr>
            <a:spLocks noGrp="1"/>
          </p:cNvSpPr>
          <p:nvPr>
            <p:ph type="pic" sz="quarter" idx="207"/>
          </p:nvPr>
        </p:nvSpPr>
        <p:spPr>
          <a:xfrm>
            <a:off x="691335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5" name="AutoShape 45"/>
          <p:cNvSpPr>
            <a:spLocks noGrp="1"/>
          </p:cNvSpPr>
          <p:nvPr>
            <p:ph type="pic" sz="quarter" idx="208"/>
          </p:nvPr>
        </p:nvSpPr>
        <p:spPr>
          <a:xfrm>
            <a:off x="821533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6" name="AutoShape 46"/>
          <p:cNvSpPr>
            <a:spLocks noGrp="1"/>
          </p:cNvSpPr>
          <p:nvPr>
            <p:ph type="pic" sz="quarter" idx="209"/>
          </p:nvPr>
        </p:nvSpPr>
        <p:spPr>
          <a:xfrm>
            <a:off x="951732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7" name="AutoShape 47"/>
          <p:cNvSpPr>
            <a:spLocks noGrp="1"/>
          </p:cNvSpPr>
          <p:nvPr>
            <p:ph type="pic" sz="quarter" idx="210"/>
          </p:nvPr>
        </p:nvSpPr>
        <p:spPr>
          <a:xfrm>
            <a:off x="10819317" y="460217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8" name="AutoShape 48"/>
          <p:cNvSpPr>
            <a:spLocks noGrp="1"/>
          </p:cNvSpPr>
          <p:nvPr>
            <p:ph type="pic" sz="quarter" idx="211"/>
          </p:nvPr>
        </p:nvSpPr>
        <p:spPr>
          <a:xfrm>
            <a:off x="170539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9" name="AutoShape 49"/>
          <p:cNvSpPr>
            <a:spLocks noGrp="1"/>
          </p:cNvSpPr>
          <p:nvPr>
            <p:ph type="pic" sz="quarter" idx="212"/>
          </p:nvPr>
        </p:nvSpPr>
        <p:spPr>
          <a:xfrm>
            <a:off x="300738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0" name="AutoShape 50"/>
          <p:cNvSpPr>
            <a:spLocks noGrp="1"/>
          </p:cNvSpPr>
          <p:nvPr>
            <p:ph type="pic" sz="quarter" idx="213"/>
          </p:nvPr>
        </p:nvSpPr>
        <p:spPr>
          <a:xfrm>
            <a:off x="4309375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1" name="AutoShape 51"/>
          <p:cNvSpPr>
            <a:spLocks noGrp="1"/>
          </p:cNvSpPr>
          <p:nvPr>
            <p:ph type="pic" sz="quarter" idx="214"/>
          </p:nvPr>
        </p:nvSpPr>
        <p:spPr>
          <a:xfrm>
            <a:off x="5611363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2" name="AutoShape 52"/>
          <p:cNvSpPr>
            <a:spLocks noGrp="1"/>
          </p:cNvSpPr>
          <p:nvPr>
            <p:ph type="pic" sz="quarter" idx="215"/>
          </p:nvPr>
        </p:nvSpPr>
        <p:spPr>
          <a:xfrm>
            <a:off x="6913351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3" name="AutoShape 53"/>
          <p:cNvSpPr>
            <a:spLocks noGrp="1"/>
          </p:cNvSpPr>
          <p:nvPr>
            <p:ph type="pic" sz="quarter" idx="216"/>
          </p:nvPr>
        </p:nvSpPr>
        <p:spPr>
          <a:xfrm>
            <a:off x="821533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4" name="AutoShape 54"/>
          <p:cNvSpPr>
            <a:spLocks noGrp="1"/>
          </p:cNvSpPr>
          <p:nvPr>
            <p:ph type="pic" sz="quarter" idx="217"/>
          </p:nvPr>
        </p:nvSpPr>
        <p:spPr>
          <a:xfrm>
            <a:off x="951732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5" name="AutoShape 55"/>
          <p:cNvSpPr>
            <a:spLocks noGrp="1"/>
          </p:cNvSpPr>
          <p:nvPr>
            <p:ph type="pic" sz="quarter" idx="218"/>
          </p:nvPr>
        </p:nvSpPr>
        <p:spPr>
          <a:xfrm>
            <a:off x="10819317" y="5651686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9" hasCustomPrompt="1"/>
          </p:nvPr>
        </p:nvSpPr>
        <p:spPr>
          <a:xfrm>
            <a:off x="423068" y="2415203"/>
            <a:ext cx="5486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0" hasCustomPrompt="1"/>
          </p:nvPr>
        </p:nvSpPr>
        <p:spPr>
          <a:xfrm>
            <a:off x="423068" y="3138594"/>
            <a:ext cx="548640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21" hasCustomPrompt="1"/>
          </p:nvPr>
        </p:nvSpPr>
        <p:spPr>
          <a:xfrm>
            <a:off x="423068" y="4771707"/>
            <a:ext cx="3657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AutoShape 5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 Group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pic" sz="quarter" idx="222"/>
          </p:nvPr>
        </p:nvSpPr>
        <p:spPr>
          <a:xfrm>
            <a:off x="6092952" y="0"/>
            <a:ext cx="6099048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23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4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25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eep Blue Title Only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26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7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28" hasCustomPrompt="1"/>
          </p:nvPr>
        </p:nvSpPr>
        <p:spPr>
          <a:xfrm>
            <a:off x="428625" y="6420355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sp>
        <p:nvSpPr>
          <p:cNvPr id="5" name="AutoShape 5"/>
          <p:cNvSpPr/>
          <p:nvPr/>
        </p:nvSpPr>
        <p:spPr>
          <a:xfrm>
            <a:off x="428625" y="6420355"/>
            <a:ext cx="12795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	|	 © Atos Group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5" name="AutoShape 5"/>
          <p:cNvSpPr>
            <a:spLocks noGrp="1"/>
          </p:cNvSpPr>
          <p:nvPr>
            <p:ph type="body" sz="quarter" idx="229" hasCustomPrompt="1"/>
          </p:nvPr>
        </p:nvSpPr>
        <p:spPr>
          <a:xfrm>
            <a:off x="428625" y="1196367"/>
            <a:ext cx="585216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30" hasCustomPrompt="1"/>
          </p:nvPr>
        </p:nvSpPr>
        <p:spPr>
          <a:xfrm>
            <a:off x="428625" y="2748074"/>
            <a:ext cx="585216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7" name="Freeform 7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31" hasCustomPrompt="1"/>
          </p:nvPr>
        </p:nvSpPr>
        <p:spPr>
          <a:xfrm>
            <a:off x="428625" y="1189363"/>
            <a:ext cx="537006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80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80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625" y="5422415"/>
            <a:ext cx="3383281" cy="4924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2" hasCustomPrompt="1"/>
          </p:nvPr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lvl1pPr algn="l">
              <a:lnSpc>
                <a:spcPct val="100000"/>
              </a:lnSpc>
              <a:defRPr sz="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Job Number-Designer-BP</a:t>
            </a:r>
          </a:p>
        </p:txBody>
      </p:sp>
      <p:sp>
        <p:nvSpPr>
          <p:cNvPr id="5" name="AutoShape 5"/>
          <p:cNvSpPr/>
          <p:nvPr/>
        </p:nvSpPr>
        <p:spPr>
          <a:xfrm>
            <a:off x="5884404" y="6391780"/>
            <a:ext cx="423193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33" hasCustomPrompt="1"/>
          </p:nvPr>
        </p:nvSpPr>
        <p:spPr>
          <a:xfrm>
            <a:off x="303548" y="164637"/>
            <a:ext cx="1143609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 in Raleway SemiBold 20pt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34" hasCustomPrompt="1"/>
          </p:nvPr>
        </p:nvSpPr>
        <p:spPr>
          <a:xfrm>
            <a:off x="303547" y="556610"/>
            <a:ext cx="11436096" cy="5805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135" b="0" i="0" u="none" strike="noStrike" spc="0">
                <a:solidFill>
                  <a:srgbClr val="0596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2135" b="0" i="0" u="none" strike="noStrike">
                <a:solidFill>
                  <a:srgbClr val="0596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 in Raleway SemiBold 16pt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35" hasCustomPrompt="1"/>
          </p:nvPr>
        </p:nvSpPr>
        <p:spPr>
          <a:xfrm>
            <a:off x="2954745" y="1446367"/>
            <a:ext cx="34304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6" hasCustomPrompt="1"/>
          </p:nvPr>
        </p:nvSpPr>
        <p:spPr>
          <a:xfrm>
            <a:off x="3674348" y="1446367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37" hasCustomPrompt="1"/>
          </p:nvPr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38" hasCustomPrompt="1"/>
          </p:nvPr>
        </p:nvSpPr>
        <p:spPr>
          <a:xfrm>
            <a:off x="2954745" y="2713569"/>
            <a:ext cx="39594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39" hasCustomPrompt="1"/>
          </p:nvPr>
        </p:nvSpPr>
        <p:spPr>
          <a:xfrm>
            <a:off x="3674348" y="2713569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240" hasCustomPrompt="1"/>
          </p:nvPr>
        </p:nvSpPr>
        <p:spPr>
          <a:xfrm>
            <a:off x="11406268" y="2713569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241" hasCustomPrompt="1"/>
          </p:nvPr>
        </p:nvSpPr>
        <p:spPr>
          <a:xfrm>
            <a:off x="2954745" y="3980771"/>
            <a:ext cx="39754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242" hasCustomPrompt="1"/>
          </p:nvPr>
        </p:nvSpPr>
        <p:spPr>
          <a:xfrm>
            <a:off x="3674348" y="3980771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243" hasCustomPrompt="1"/>
          </p:nvPr>
        </p:nvSpPr>
        <p:spPr>
          <a:xfrm>
            <a:off x="11406268" y="3980771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244" hasCustomPrompt="1"/>
          </p:nvPr>
        </p:nvSpPr>
        <p:spPr>
          <a:xfrm>
            <a:off x="2954745" y="5247973"/>
            <a:ext cx="40395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245" hasCustomPrompt="1"/>
          </p:nvPr>
        </p:nvSpPr>
        <p:spPr>
          <a:xfrm>
            <a:off x="3674348" y="5247973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246" hasCustomPrompt="1"/>
          </p:nvPr>
        </p:nvSpPr>
        <p:spPr>
          <a:xfrm>
            <a:off x="11406268" y="5247973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247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Contents</a:t>
            </a: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248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49" hasCustomPrompt="1"/>
          </p:nvPr>
        </p:nvSpPr>
        <p:spPr>
          <a:xfrm>
            <a:off x="390098" y="389618"/>
            <a:ext cx="1376980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50" hasCustomPrompt="1"/>
          </p:nvPr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  <a:b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two lines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wo curve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body" sz="quarter" idx="251" hasCustomPrompt="1"/>
          </p:nvPr>
        </p:nvSpPr>
        <p:spPr>
          <a:xfrm>
            <a:off x="428625" y="4765675"/>
            <a:ext cx="3992904" cy="9699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Freeform 5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2" hasCustomPrompt="1"/>
          </p:nvPr>
        </p:nvSpPr>
        <p:spPr>
          <a:xfrm>
            <a:off x="428625" y="1456679"/>
            <a:ext cx="6766560" cy="1844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4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53" hasCustomPrompt="1"/>
          </p:nvPr>
        </p:nvSpPr>
        <p:spPr>
          <a:xfrm>
            <a:off x="428625" y="2084535"/>
            <a:ext cx="6766560" cy="1217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2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2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810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4" y="0"/>
            <a:ext cx="12192000" cy="6881005"/>
          </a:xfrm>
          <a:prstGeom prst="rect">
            <a:avLst/>
          </a:prstGeom>
          <a:gradFill rotWithShape="0">
            <a:gsLst>
              <a:gs pos="41999">
                <a:srgbClr val="FFFFFF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" y="6503027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" y="518500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>
            <a:spLocks noGrp="1"/>
          </p:cNvSpPr>
          <p:nvPr>
            <p:ph type="body" sz="quarter" idx="254" hasCustomPrompt="1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935" b="0" i="0" u="none" strike="noStrike" spc="0">
                <a:solidFill>
                  <a:srgbClr val="0073E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935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title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-16213" y="6276266"/>
            <a:ext cx="825500" cy="3397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33359" tIns="66685" rIns="133359" bIns="66685" rtlCol="0" anchor="ctr">
            <a:sp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55" hasCustomPrompt="1"/>
          </p:nvPr>
        </p:nvSpPr>
        <p:spPr>
          <a:xfrm>
            <a:off x="320400" y="6326136"/>
            <a:ext cx="591024" cy="288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91440" tIns="45720" rIns="91440" bIns="45720" anchor="ctr">
            <a:spAutoFit/>
          </a:bodyPr>
          <a:lstStyle>
            <a:lvl1pPr algn="l">
              <a:lnSpc>
                <a:spcPct val="100000"/>
              </a:lnSpc>
              <a:defRPr sz="1335" b="0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335" b="0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56" hasCustomPrompt="1"/>
          </p:nvPr>
        </p:nvSpPr>
        <p:spPr>
          <a:xfrm>
            <a:off x="320400" y="164637"/>
            <a:ext cx="11632251" cy="960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66A1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66A1"/>
                </a:solidFill>
                <a:latin typeface="Biennale Bold"/>
                <a:ea typeface="Biennale Bold"/>
                <a:cs typeface="Biennale Bold"/>
                <a:sym typeface="Biennale Bold"/>
              </a:rPr>
              <a:t>Click to edit the header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257" hasCustomPrompt="1"/>
          </p:nvPr>
        </p:nvSpPr>
        <p:spPr>
          <a:xfrm>
            <a:off x="316799" y="471915"/>
            <a:ext cx="11484000" cy="343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000000">
                    <a:alpha val="100000"/>
                  </a:srgbClr>
                </a:solidFill>
                <a:latin typeface="Montserrat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58" hasCustomPrompt="1"/>
          </p:nvPr>
        </p:nvSpPr>
        <p:spPr>
          <a:xfrm>
            <a:off x="316799" y="830931"/>
            <a:ext cx="11484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Montserrat Semi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29230" y="6298599"/>
            <a:ext cx="458064" cy="216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93038" y="6384973"/>
            <a:ext cx="605935" cy="1000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50" b="0" i="0" u="none" strike="noStrike">
                <a:solidFill>
                  <a:srgbClr val="808080"/>
                </a:solidFill>
                <a:latin typeface="Biennale"/>
                <a:ea typeface="Biennale"/>
                <a:cs typeface="Biennale"/>
                <a:sym typeface="Biennale"/>
              </a:rPr>
              <a:t>© EVIDEN SAS</a:t>
            </a:r>
            <a:endParaRPr lang="en-US" sz="110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59" hasCustomPrompt="1"/>
          </p:nvPr>
        </p:nvSpPr>
        <p:spPr>
          <a:xfrm>
            <a:off x="501520" y="1557338"/>
            <a:ext cx="11183565" cy="4787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marL="431800" indent="-203200"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  <a:lvl2pPr marL="660400" indent="-203200"/>
            <a:lvl3pPr marL="889000" indent="-203200"/>
            <a:lvl4pPr marL="1117600" indent="-203200"/>
            <a:lvl5pPr marL="914400" indent="0"/>
            <a:lvl6pPr marL="711200" indent="0"/>
            <a:lvl7pPr marL="508000" indent="0"/>
            <a:lvl8pPr marL="304800" indent="0"/>
            <a:lvl9pPr marL="101600" indent="0"/>
          </a:lstStyle>
          <a:p>
            <a:pPr marL="228600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Start typing to add text without a bullet point. To add a bullet point, place the cursor at the start of this line and press tab.</a:t>
            </a:r>
          </a:p>
          <a:p>
            <a:pPr marL="457200" lvl="1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Second level</a:t>
            </a:r>
          </a:p>
          <a:p>
            <a:pPr marL="685800" lvl="2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Third level</a:t>
            </a:r>
          </a:p>
          <a:p>
            <a:pPr marL="914400" lvl="3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Fourth level</a:t>
            </a:r>
          </a:p>
          <a:p>
            <a:pPr marL="914400" lvl="4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0" hasCustomPrompt="1"/>
          </p:nvPr>
        </p:nvSpPr>
        <p:spPr>
          <a:xfrm>
            <a:off x="503870" y="504000"/>
            <a:ext cx="1118356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Insert page title (sentence case)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Pag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61" hasCustomPrompt="1"/>
          </p:nvPr>
        </p:nvSpPr>
        <p:spPr>
          <a:xfrm>
            <a:off x="503869" y="3090446"/>
            <a:ext cx="11182288" cy="6771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Biennale Bold"/>
                <a:ea typeface="Biennale Bold"/>
                <a:cs typeface="Biennale Bold"/>
                <a:sym typeface="Biennale Bold"/>
              </a:rPr>
              <a:t>Divider page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62"/>
          </p:nvPr>
        </p:nvSpPr>
        <p:spPr>
          <a:xfrm>
            <a:off x="40341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263"/>
          </p:nvPr>
        </p:nvSpPr>
        <p:spPr>
          <a:xfrm>
            <a:off x="403411" y="1439904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264"/>
          </p:nvPr>
        </p:nvSpPr>
        <p:spPr>
          <a:xfrm>
            <a:off x="40341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265"/>
          </p:nvPr>
        </p:nvSpPr>
        <p:spPr>
          <a:xfrm>
            <a:off x="40341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266"/>
          </p:nvPr>
        </p:nvSpPr>
        <p:spPr>
          <a:xfrm>
            <a:off x="403411" y="5651686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267"/>
          </p:nvPr>
        </p:nvSpPr>
        <p:spPr>
          <a:xfrm>
            <a:off x="40341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268"/>
          </p:nvPr>
        </p:nvSpPr>
        <p:spPr>
          <a:xfrm>
            <a:off x="170539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pic" sz="quarter" idx="269"/>
          </p:nvPr>
        </p:nvSpPr>
        <p:spPr>
          <a:xfrm>
            <a:off x="300738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pic" sz="quarter" idx="270"/>
          </p:nvPr>
        </p:nvSpPr>
        <p:spPr>
          <a:xfrm>
            <a:off x="4309375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pic" sz="quarter" idx="271"/>
          </p:nvPr>
        </p:nvSpPr>
        <p:spPr>
          <a:xfrm>
            <a:off x="5611363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pic" sz="quarter" idx="272"/>
          </p:nvPr>
        </p:nvSpPr>
        <p:spPr>
          <a:xfrm>
            <a:off x="691335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pic" sz="quarter" idx="273"/>
          </p:nvPr>
        </p:nvSpPr>
        <p:spPr>
          <a:xfrm>
            <a:off x="821533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pic" sz="quarter" idx="274"/>
          </p:nvPr>
        </p:nvSpPr>
        <p:spPr>
          <a:xfrm>
            <a:off x="951732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5" name="AutoShape 15"/>
          <p:cNvSpPr>
            <a:spLocks noGrp="1"/>
          </p:cNvSpPr>
          <p:nvPr>
            <p:ph type="pic" sz="quarter" idx="275"/>
          </p:nvPr>
        </p:nvSpPr>
        <p:spPr>
          <a:xfrm>
            <a:off x="10819317" y="39039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6" name="AutoShape 16"/>
          <p:cNvSpPr>
            <a:spLocks noGrp="1"/>
          </p:cNvSpPr>
          <p:nvPr>
            <p:ph type="pic" sz="quarter" idx="276"/>
          </p:nvPr>
        </p:nvSpPr>
        <p:spPr>
          <a:xfrm>
            <a:off x="170539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7" name="AutoShape 17"/>
          <p:cNvSpPr>
            <a:spLocks noGrp="1"/>
          </p:cNvSpPr>
          <p:nvPr>
            <p:ph type="pic" sz="quarter" idx="277"/>
          </p:nvPr>
        </p:nvSpPr>
        <p:spPr>
          <a:xfrm>
            <a:off x="300738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8" name="AutoShape 18"/>
          <p:cNvSpPr>
            <a:spLocks noGrp="1"/>
          </p:cNvSpPr>
          <p:nvPr>
            <p:ph type="pic" sz="quarter" idx="278"/>
          </p:nvPr>
        </p:nvSpPr>
        <p:spPr>
          <a:xfrm>
            <a:off x="4309375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9" name="AutoShape 19"/>
          <p:cNvSpPr>
            <a:spLocks noGrp="1"/>
          </p:cNvSpPr>
          <p:nvPr>
            <p:ph type="pic" sz="quarter" idx="279"/>
          </p:nvPr>
        </p:nvSpPr>
        <p:spPr>
          <a:xfrm>
            <a:off x="5611363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0" name="AutoShape 20"/>
          <p:cNvSpPr>
            <a:spLocks noGrp="1"/>
          </p:cNvSpPr>
          <p:nvPr>
            <p:ph type="pic" sz="quarter" idx="280"/>
          </p:nvPr>
        </p:nvSpPr>
        <p:spPr>
          <a:xfrm>
            <a:off x="6913351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1" name="AutoShape 21"/>
          <p:cNvSpPr>
            <a:spLocks noGrp="1"/>
          </p:cNvSpPr>
          <p:nvPr>
            <p:ph type="pic" sz="quarter" idx="281"/>
          </p:nvPr>
        </p:nvSpPr>
        <p:spPr>
          <a:xfrm>
            <a:off x="821533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2" name="AutoShape 22"/>
          <p:cNvSpPr>
            <a:spLocks noGrp="1"/>
          </p:cNvSpPr>
          <p:nvPr>
            <p:ph type="pic" sz="quarter" idx="282"/>
          </p:nvPr>
        </p:nvSpPr>
        <p:spPr>
          <a:xfrm>
            <a:off x="951732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3" name="AutoShape 23"/>
          <p:cNvSpPr>
            <a:spLocks noGrp="1"/>
          </p:cNvSpPr>
          <p:nvPr>
            <p:ph type="pic" sz="quarter" idx="283"/>
          </p:nvPr>
        </p:nvSpPr>
        <p:spPr>
          <a:xfrm>
            <a:off x="10819317" y="1439904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4" name="AutoShape 24"/>
          <p:cNvSpPr>
            <a:spLocks noGrp="1"/>
          </p:cNvSpPr>
          <p:nvPr>
            <p:ph type="pic" sz="quarter" idx="284"/>
          </p:nvPr>
        </p:nvSpPr>
        <p:spPr>
          <a:xfrm>
            <a:off x="170539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5" name="AutoShape 25"/>
          <p:cNvSpPr>
            <a:spLocks noGrp="1"/>
          </p:cNvSpPr>
          <p:nvPr>
            <p:ph type="pic" sz="quarter" idx="285"/>
          </p:nvPr>
        </p:nvSpPr>
        <p:spPr>
          <a:xfrm>
            <a:off x="300738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6" name="AutoShape 26"/>
          <p:cNvSpPr>
            <a:spLocks noGrp="1"/>
          </p:cNvSpPr>
          <p:nvPr>
            <p:ph type="pic" sz="quarter" idx="286"/>
          </p:nvPr>
        </p:nvSpPr>
        <p:spPr>
          <a:xfrm>
            <a:off x="4309375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7" name="AutoShape 27"/>
          <p:cNvSpPr>
            <a:spLocks noGrp="1"/>
          </p:cNvSpPr>
          <p:nvPr>
            <p:ph type="pic" sz="quarter" idx="287"/>
          </p:nvPr>
        </p:nvSpPr>
        <p:spPr>
          <a:xfrm>
            <a:off x="5611363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8" name="AutoShape 28"/>
          <p:cNvSpPr>
            <a:spLocks noGrp="1"/>
          </p:cNvSpPr>
          <p:nvPr>
            <p:ph type="pic" sz="quarter" idx="288"/>
          </p:nvPr>
        </p:nvSpPr>
        <p:spPr>
          <a:xfrm>
            <a:off x="691335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9" name="AutoShape 29"/>
          <p:cNvSpPr>
            <a:spLocks noGrp="1"/>
          </p:cNvSpPr>
          <p:nvPr>
            <p:ph type="pic" sz="quarter" idx="289"/>
          </p:nvPr>
        </p:nvSpPr>
        <p:spPr>
          <a:xfrm>
            <a:off x="821533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0" name="AutoShape 30"/>
          <p:cNvSpPr>
            <a:spLocks noGrp="1"/>
          </p:cNvSpPr>
          <p:nvPr>
            <p:ph type="pic" sz="quarter" idx="290"/>
          </p:nvPr>
        </p:nvSpPr>
        <p:spPr>
          <a:xfrm>
            <a:off x="951732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1" name="AutoShape 31"/>
          <p:cNvSpPr>
            <a:spLocks noGrp="1"/>
          </p:cNvSpPr>
          <p:nvPr>
            <p:ph type="pic" sz="quarter" idx="291"/>
          </p:nvPr>
        </p:nvSpPr>
        <p:spPr>
          <a:xfrm>
            <a:off x="10819317" y="249628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2" name="AutoShape 32"/>
          <p:cNvSpPr>
            <a:spLocks noGrp="1"/>
          </p:cNvSpPr>
          <p:nvPr>
            <p:ph type="pic" sz="quarter" idx="292"/>
          </p:nvPr>
        </p:nvSpPr>
        <p:spPr>
          <a:xfrm>
            <a:off x="170539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3" name="AutoShape 33"/>
          <p:cNvSpPr>
            <a:spLocks noGrp="1"/>
          </p:cNvSpPr>
          <p:nvPr>
            <p:ph type="pic" sz="quarter" idx="293"/>
          </p:nvPr>
        </p:nvSpPr>
        <p:spPr>
          <a:xfrm>
            <a:off x="300738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4" name="AutoShape 34"/>
          <p:cNvSpPr>
            <a:spLocks noGrp="1"/>
          </p:cNvSpPr>
          <p:nvPr>
            <p:ph type="pic" sz="quarter" idx="294"/>
          </p:nvPr>
        </p:nvSpPr>
        <p:spPr>
          <a:xfrm>
            <a:off x="4309375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5" name="AutoShape 35"/>
          <p:cNvSpPr>
            <a:spLocks noGrp="1"/>
          </p:cNvSpPr>
          <p:nvPr>
            <p:ph type="pic" sz="quarter" idx="295"/>
          </p:nvPr>
        </p:nvSpPr>
        <p:spPr>
          <a:xfrm>
            <a:off x="5611363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6" name="AutoShape 36"/>
          <p:cNvSpPr>
            <a:spLocks noGrp="1"/>
          </p:cNvSpPr>
          <p:nvPr>
            <p:ph type="pic" sz="quarter" idx="296"/>
          </p:nvPr>
        </p:nvSpPr>
        <p:spPr>
          <a:xfrm>
            <a:off x="691335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7" name="AutoShape 37"/>
          <p:cNvSpPr>
            <a:spLocks noGrp="1"/>
          </p:cNvSpPr>
          <p:nvPr>
            <p:ph type="pic" sz="quarter" idx="297"/>
          </p:nvPr>
        </p:nvSpPr>
        <p:spPr>
          <a:xfrm>
            <a:off x="821533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8" name="AutoShape 38"/>
          <p:cNvSpPr>
            <a:spLocks noGrp="1"/>
          </p:cNvSpPr>
          <p:nvPr>
            <p:ph type="pic" sz="quarter" idx="298"/>
          </p:nvPr>
        </p:nvSpPr>
        <p:spPr>
          <a:xfrm>
            <a:off x="951732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9" name="AutoShape 39"/>
          <p:cNvSpPr>
            <a:spLocks noGrp="1"/>
          </p:cNvSpPr>
          <p:nvPr>
            <p:ph type="pic" sz="quarter" idx="299"/>
          </p:nvPr>
        </p:nvSpPr>
        <p:spPr>
          <a:xfrm>
            <a:off x="10819317" y="3542360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0" name="AutoShape 40"/>
          <p:cNvSpPr>
            <a:spLocks noGrp="1"/>
          </p:cNvSpPr>
          <p:nvPr>
            <p:ph type="pic" sz="quarter" idx="300"/>
          </p:nvPr>
        </p:nvSpPr>
        <p:spPr>
          <a:xfrm>
            <a:off x="170539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1" name="AutoShape 41"/>
          <p:cNvSpPr>
            <a:spLocks noGrp="1"/>
          </p:cNvSpPr>
          <p:nvPr>
            <p:ph type="pic" sz="quarter" idx="301"/>
          </p:nvPr>
        </p:nvSpPr>
        <p:spPr>
          <a:xfrm>
            <a:off x="300738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2" name="AutoShape 42"/>
          <p:cNvSpPr>
            <a:spLocks noGrp="1"/>
          </p:cNvSpPr>
          <p:nvPr>
            <p:ph type="pic" sz="quarter" idx="302"/>
          </p:nvPr>
        </p:nvSpPr>
        <p:spPr>
          <a:xfrm>
            <a:off x="4309375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3" name="AutoShape 43"/>
          <p:cNvSpPr>
            <a:spLocks noGrp="1"/>
          </p:cNvSpPr>
          <p:nvPr>
            <p:ph type="pic" sz="quarter" idx="303"/>
          </p:nvPr>
        </p:nvSpPr>
        <p:spPr>
          <a:xfrm>
            <a:off x="5611363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4" name="AutoShape 44"/>
          <p:cNvSpPr>
            <a:spLocks noGrp="1"/>
          </p:cNvSpPr>
          <p:nvPr>
            <p:ph type="pic" sz="quarter" idx="304"/>
          </p:nvPr>
        </p:nvSpPr>
        <p:spPr>
          <a:xfrm>
            <a:off x="691335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5" name="AutoShape 45"/>
          <p:cNvSpPr>
            <a:spLocks noGrp="1"/>
          </p:cNvSpPr>
          <p:nvPr>
            <p:ph type="pic" sz="quarter" idx="305"/>
          </p:nvPr>
        </p:nvSpPr>
        <p:spPr>
          <a:xfrm>
            <a:off x="821533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6" name="AutoShape 46"/>
          <p:cNvSpPr>
            <a:spLocks noGrp="1"/>
          </p:cNvSpPr>
          <p:nvPr>
            <p:ph type="pic" sz="quarter" idx="306"/>
          </p:nvPr>
        </p:nvSpPr>
        <p:spPr>
          <a:xfrm>
            <a:off x="951732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7" name="AutoShape 47"/>
          <p:cNvSpPr>
            <a:spLocks noGrp="1"/>
          </p:cNvSpPr>
          <p:nvPr>
            <p:ph type="pic" sz="quarter" idx="307"/>
          </p:nvPr>
        </p:nvSpPr>
        <p:spPr>
          <a:xfrm>
            <a:off x="10819317" y="460217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8" name="AutoShape 48"/>
          <p:cNvSpPr>
            <a:spLocks noGrp="1"/>
          </p:cNvSpPr>
          <p:nvPr>
            <p:ph type="pic" sz="quarter" idx="308"/>
          </p:nvPr>
        </p:nvSpPr>
        <p:spPr>
          <a:xfrm>
            <a:off x="170539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9" name="AutoShape 49"/>
          <p:cNvSpPr>
            <a:spLocks noGrp="1"/>
          </p:cNvSpPr>
          <p:nvPr>
            <p:ph type="pic" sz="quarter" idx="309"/>
          </p:nvPr>
        </p:nvSpPr>
        <p:spPr>
          <a:xfrm>
            <a:off x="300738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0" name="AutoShape 50"/>
          <p:cNvSpPr>
            <a:spLocks noGrp="1"/>
          </p:cNvSpPr>
          <p:nvPr>
            <p:ph type="pic" sz="quarter" idx="310"/>
          </p:nvPr>
        </p:nvSpPr>
        <p:spPr>
          <a:xfrm>
            <a:off x="4309375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1" name="AutoShape 51"/>
          <p:cNvSpPr>
            <a:spLocks noGrp="1"/>
          </p:cNvSpPr>
          <p:nvPr>
            <p:ph type="pic" sz="quarter" idx="311"/>
          </p:nvPr>
        </p:nvSpPr>
        <p:spPr>
          <a:xfrm>
            <a:off x="5611363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2" name="AutoShape 52"/>
          <p:cNvSpPr>
            <a:spLocks noGrp="1"/>
          </p:cNvSpPr>
          <p:nvPr>
            <p:ph type="pic" sz="quarter" idx="312"/>
          </p:nvPr>
        </p:nvSpPr>
        <p:spPr>
          <a:xfrm>
            <a:off x="6913351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3" name="AutoShape 53"/>
          <p:cNvSpPr>
            <a:spLocks noGrp="1"/>
          </p:cNvSpPr>
          <p:nvPr>
            <p:ph type="pic" sz="quarter" idx="313"/>
          </p:nvPr>
        </p:nvSpPr>
        <p:spPr>
          <a:xfrm>
            <a:off x="821533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4" name="AutoShape 54"/>
          <p:cNvSpPr>
            <a:spLocks noGrp="1"/>
          </p:cNvSpPr>
          <p:nvPr>
            <p:ph type="pic" sz="quarter" idx="314"/>
          </p:nvPr>
        </p:nvSpPr>
        <p:spPr>
          <a:xfrm>
            <a:off x="951732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5" name="AutoShape 55"/>
          <p:cNvSpPr>
            <a:spLocks noGrp="1"/>
          </p:cNvSpPr>
          <p:nvPr>
            <p:ph type="pic" sz="quarter" idx="315"/>
          </p:nvPr>
        </p:nvSpPr>
        <p:spPr>
          <a:xfrm>
            <a:off x="10819317" y="5651686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16" hasCustomPrompt="1"/>
          </p:nvPr>
        </p:nvSpPr>
        <p:spPr>
          <a:xfrm>
            <a:off x="423068" y="2415203"/>
            <a:ext cx="5486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17" hasCustomPrompt="1"/>
          </p:nvPr>
        </p:nvSpPr>
        <p:spPr>
          <a:xfrm>
            <a:off x="423068" y="3138594"/>
            <a:ext cx="548640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18" hasCustomPrompt="1"/>
          </p:nvPr>
        </p:nvSpPr>
        <p:spPr>
          <a:xfrm>
            <a:off x="423068" y="4771707"/>
            <a:ext cx="3657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AutoShape 5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 Group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pic" sz="quarter" idx="319"/>
          </p:nvPr>
        </p:nvSpPr>
        <p:spPr>
          <a:xfrm>
            <a:off x="6092952" y="0"/>
            <a:ext cx="6099048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20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21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22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eep Blue Title Only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23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24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25" hasCustomPrompt="1"/>
          </p:nvPr>
        </p:nvSpPr>
        <p:spPr>
          <a:xfrm>
            <a:off x="428625" y="6420355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sp>
        <p:nvSpPr>
          <p:cNvPr id="5" name="AutoShape 5"/>
          <p:cNvSpPr/>
          <p:nvPr/>
        </p:nvSpPr>
        <p:spPr>
          <a:xfrm>
            <a:off x="428625" y="6420355"/>
            <a:ext cx="12795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	|	 © Atos Group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5" name="AutoShape 5"/>
          <p:cNvSpPr>
            <a:spLocks noGrp="1"/>
          </p:cNvSpPr>
          <p:nvPr>
            <p:ph type="body" sz="quarter" idx="326" hasCustomPrompt="1"/>
          </p:nvPr>
        </p:nvSpPr>
        <p:spPr>
          <a:xfrm>
            <a:off x="428625" y="1196367"/>
            <a:ext cx="585216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27" hasCustomPrompt="1"/>
          </p:nvPr>
        </p:nvSpPr>
        <p:spPr>
          <a:xfrm>
            <a:off x="428625" y="2748074"/>
            <a:ext cx="585216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7" name="Freeform 7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28" hasCustomPrompt="1"/>
          </p:nvPr>
        </p:nvSpPr>
        <p:spPr>
          <a:xfrm>
            <a:off x="428625" y="1189363"/>
            <a:ext cx="537006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80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80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625" y="5299543"/>
            <a:ext cx="3383281" cy="615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29" hasCustomPrompt="1"/>
          </p:nvPr>
        </p:nvSpPr>
        <p:spPr>
          <a:xfrm>
            <a:off x="303548" y="164637"/>
            <a:ext cx="1143609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 in Raleway SemiBold 20pt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30" hasCustomPrompt="1"/>
          </p:nvPr>
        </p:nvSpPr>
        <p:spPr>
          <a:xfrm>
            <a:off x="303547" y="556610"/>
            <a:ext cx="11436096" cy="5805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135" b="0" i="0" u="none" strike="noStrike" spc="0">
                <a:solidFill>
                  <a:srgbClr val="0596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2135" b="0" i="0" u="none" strike="noStrike">
                <a:solidFill>
                  <a:srgbClr val="0596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 in Raleway SemiBold 16pt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331" hasCustomPrompt="1"/>
          </p:nvPr>
        </p:nvSpPr>
        <p:spPr>
          <a:xfrm>
            <a:off x="2954745" y="1446367"/>
            <a:ext cx="34304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32" hasCustomPrompt="1"/>
          </p:nvPr>
        </p:nvSpPr>
        <p:spPr>
          <a:xfrm>
            <a:off x="3674348" y="1446367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33" hasCustomPrompt="1"/>
          </p:nvPr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34" hasCustomPrompt="1"/>
          </p:nvPr>
        </p:nvSpPr>
        <p:spPr>
          <a:xfrm>
            <a:off x="2954745" y="2713569"/>
            <a:ext cx="39594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35" hasCustomPrompt="1"/>
          </p:nvPr>
        </p:nvSpPr>
        <p:spPr>
          <a:xfrm>
            <a:off x="3674348" y="2713569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6" hasCustomPrompt="1"/>
          </p:nvPr>
        </p:nvSpPr>
        <p:spPr>
          <a:xfrm>
            <a:off x="11406268" y="2713569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37" hasCustomPrompt="1"/>
          </p:nvPr>
        </p:nvSpPr>
        <p:spPr>
          <a:xfrm>
            <a:off x="2954745" y="3980771"/>
            <a:ext cx="39754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338" hasCustomPrompt="1"/>
          </p:nvPr>
        </p:nvSpPr>
        <p:spPr>
          <a:xfrm>
            <a:off x="3674348" y="3980771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339" hasCustomPrompt="1"/>
          </p:nvPr>
        </p:nvSpPr>
        <p:spPr>
          <a:xfrm>
            <a:off x="11406268" y="3980771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340" hasCustomPrompt="1"/>
          </p:nvPr>
        </p:nvSpPr>
        <p:spPr>
          <a:xfrm>
            <a:off x="2954745" y="5247973"/>
            <a:ext cx="40395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341" hasCustomPrompt="1"/>
          </p:nvPr>
        </p:nvSpPr>
        <p:spPr>
          <a:xfrm>
            <a:off x="3674348" y="5247973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342" hasCustomPrompt="1"/>
          </p:nvPr>
        </p:nvSpPr>
        <p:spPr>
          <a:xfrm>
            <a:off x="11406268" y="5247973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343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Contents</a:t>
            </a: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344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345" hasCustomPrompt="1"/>
          </p:nvPr>
        </p:nvSpPr>
        <p:spPr>
          <a:xfrm>
            <a:off x="390098" y="389618"/>
            <a:ext cx="1376980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46" hasCustomPrompt="1"/>
          </p:nvPr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  <a:b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two lines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wo curve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body" sz="quarter" idx="347" hasCustomPrompt="1"/>
          </p:nvPr>
        </p:nvSpPr>
        <p:spPr>
          <a:xfrm>
            <a:off x="428625" y="4765675"/>
            <a:ext cx="3992904" cy="9699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Freeform 5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48" hasCustomPrompt="1"/>
          </p:nvPr>
        </p:nvSpPr>
        <p:spPr>
          <a:xfrm>
            <a:off x="428625" y="1456679"/>
            <a:ext cx="6766560" cy="1844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4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49" hasCustomPrompt="1"/>
          </p:nvPr>
        </p:nvSpPr>
        <p:spPr>
          <a:xfrm>
            <a:off x="428625" y="2084535"/>
            <a:ext cx="6766560" cy="1217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2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2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810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4" y="0"/>
            <a:ext cx="12192000" cy="6881005"/>
          </a:xfrm>
          <a:prstGeom prst="rect">
            <a:avLst/>
          </a:prstGeom>
          <a:gradFill rotWithShape="0">
            <a:gsLst>
              <a:gs pos="41999">
                <a:srgbClr val="FFFFFF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" y="6503027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" y="518500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>
            <a:spLocks noGrp="1"/>
          </p:cNvSpPr>
          <p:nvPr>
            <p:ph type="body" sz="quarter" idx="350" hasCustomPrompt="1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935" b="0" i="0" u="none" strike="noStrike" spc="0">
                <a:solidFill>
                  <a:srgbClr val="0073E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935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title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-16213" y="6276266"/>
            <a:ext cx="825500" cy="3397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33359" tIns="66685" rIns="133359" bIns="66685" rtlCol="0" anchor="ctr">
            <a:sp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1" hasCustomPrompt="1"/>
          </p:nvPr>
        </p:nvSpPr>
        <p:spPr>
          <a:xfrm>
            <a:off x="320400" y="6326136"/>
            <a:ext cx="591024" cy="288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91440" tIns="45720" rIns="91440" bIns="45720" anchor="ctr">
            <a:spAutoFit/>
          </a:bodyPr>
          <a:lstStyle>
            <a:lvl1pPr algn="l">
              <a:lnSpc>
                <a:spcPct val="100000"/>
              </a:lnSpc>
              <a:defRPr sz="1335" b="0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335" b="0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52" hasCustomPrompt="1"/>
          </p:nvPr>
        </p:nvSpPr>
        <p:spPr>
          <a:xfrm>
            <a:off x="320400" y="164637"/>
            <a:ext cx="11632251" cy="960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66A1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66A1"/>
                </a:solidFill>
                <a:latin typeface="Biennale Bold"/>
                <a:ea typeface="Biennale Bold"/>
                <a:cs typeface="Biennale Bold"/>
                <a:sym typeface="Biennale Bold"/>
              </a:rPr>
              <a:t>Click to edit the header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353" hasCustomPrompt="1"/>
          </p:nvPr>
        </p:nvSpPr>
        <p:spPr>
          <a:xfrm>
            <a:off x="316799" y="471915"/>
            <a:ext cx="11484000" cy="343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000000">
                    <a:alpha val="100000"/>
                  </a:srgbClr>
                </a:solidFill>
                <a:latin typeface="Montserrat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54" hasCustomPrompt="1"/>
          </p:nvPr>
        </p:nvSpPr>
        <p:spPr>
          <a:xfrm>
            <a:off x="316799" y="830931"/>
            <a:ext cx="11484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Montserrat Semi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29230" y="6298599"/>
            <a:ext cx="458064" cy="216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93038" y="6384973"/>
            <a:ext cx="605935" cy="1000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50" b="0" i="0" u="none" strike="noStrike">
                <a:solidFill>
                  <a:srgbClr val="808080"/>
                </a:solidFill>
                <a:latin typeface="Biennale"/>
                <a:ea typeface="Biennale"/>
                <a:cs typeface="Biennale"/>
                <a:sym typeface="Biennale"/>
              </a:rPr>
              <a:t>© EVIDEN SAS</a:t>
            </a:r>
            <a:endParaRPr lang="en-US" sz="110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5" hasCustomPrompt="1"/>
          </p:nvPr>
        </p:nvSpPr>
        <p:spPr>
          <a:xfrm>
            <a:off x="501520" y="1557338"/>
            <a:ext cx="11183565" cy="4787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marL="431800" indent="-203200"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  <a:lvl2pPr marL="660400" indent="-203200"/>
            <a:lvl3pPr marL="889000" indent="-203200"/>
            <a:lvl4pPr marL="1117600" indent="-203200"/>
            <a:lvl5pPr marL="914400" indent="0"/>
            <a:lvl6pPr marL="711200" indent="0"/>
            <a:lvl7pPr marL="508000" indent="0"/>
            <a:lvl8pPr marL="304800" indent="0"/>
            <a:lvl9pPr marL="101600" indent="0"/>
          </a:lstStyle>
          <a:p>
            <a:pPr marL="228600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Start typing to add text without a bullet point. To add a bullet point, place the cursor at the start of this line and press tab.</a:t>
            </a:r>
          </a:p>
          <a:p>
            <a:pPr marL="457200" lvl="1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Second level</a:t>
            </a:r>
          </a:p>
          <a:p>
            <a:pPr marL="685800" lvl="2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Third level</a:t>
            </a:r>
          </a:p>
          <a:p>
            <a:pPr marL="914400" lvl="3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Fourth level</a:t>
            </a:r>
          </a:p>
          <a:p>
            <a:pPr marL="914400" lvl="4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56" hasCustomPrompt="1"/>
          </p:nvPr>
        </p:nvSpPr>
        <p:spPr>
          <a:xfrm>
            <a:off x="503870" y="504000"/>
            <a:ext cx="1118356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Insert page title (sentence case)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Pag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7" hasCustomPrompt="1"/>
          </p:nvPr>
        </p:nvSpPr>
        <p:spPr>
          <a:xfrm>
            <a:off x="503869" y="3090446"/>
            <a:ext cx="11182288" cy="6771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Biennale Bold"/>
                <a:ea typeface="Biennale Bold"/>
                <a:cs typeface="Biennale Bold"/>
                <a:sym typeface="Biennale Bold"/>
              </a:rPr>
              <a:t>Divider page</a:t>
            </a: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358"/>
          </p:nvPr>
        </p:nvSpPr>
        <p:spPr>
          <a:xfrm>
            <a:off x="40341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359"/>
          </p:nvPr>
        </p:nvSpPr>
        <p:spPr>
          <a:xfrm>
            <a:off x="403411" y="1439904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360"/>
          </p:nvPr>
        </p:nvSpPr>
        <p:spPr>
          <a:xfrm>
            <a:off x="40341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361"/>
          </p:nvPr>
        </p:nvSpPr>
        <p:spPr>
          <a:xfrm>
            <a:off x="40341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362"/>
          </p:nvPr>
        </p:nvSpPr>
        <p:spPr>
          <a:xfrm>
            <a:off x="403411" y="5651686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363"/>
          </p:nvPr>
        </p:nvSpPr>
        <p:spPr>
          <a:xfrm>
            <a:off x="40341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364"/>
          </p:nvPr>
        </p:nvSpPr>
        <p:spPr>
          <a:xfrm>
            <a:off x="170539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pic" sz="quarter" idx="365"/>
          </p:nvPr>
        </p:nvSpPr>
        <p:spPr>
          <a:xfrm>
            <a:off x="300738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pic" sz="quarter" idx="366"/>
          </p:nvPr>
        </p:nvSpPr>
        <p:spPr>
          <a:xfrm>
            <a:off x="4309375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pic" sz="quarter" idx="367"/>
          </p:nvPr>
        </p:nvSpPr>
        <p:spPr>
          <a:xfrm>
            <a:off x="5611363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pic" sz="quarter" idx="368"/>
          </p:nvPr>
        </p:nvSpPr>
        <p:spPr>
          <a:xfrm>
            <a:off x="691335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pic" sz="quarter" idx="369"/>
          </p:nvPr>
        </p:nvSpPr>
        <p:spPr>
          <a:xfrm>
            <a:off x="821533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pic" sz="quarter" idx="370"/>
          </p:nvPr>
        </p:nvSpPr>
        <p:spPr>
          <a:xfrm>
            <a:off x="951732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5" name="AutoShape 15"/>
          <p:cNvSpPr>
            <a:spLocks noGrp="1"/>
          </p:cNvSpPr>
          <p:nvPr>
            <p:ph type="pic" sz="quarter" idx="371"/>
          </p:nvPr>
        </p:nvSpPr>
        <p:spPr>
          <a:xfrm>
            <a:off x="10819317" y="39039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6" name="AutoShape 16"/>
          <p:cNvSpPr>
            <a:spLocks noGrp="1"/>
          </p:cNvSpPr>
          <p:nvPr>
            <p:ph type="pic" sz="quarter" idx="372"/>
          </p:nvPr>
        </p:nvSpPr>
        <p:spPr>
          <a:xfrm>
            <a:off x="170539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7" name="AutoShape 17"/>
          <p:cNvSpPr>
            <a:spLocks noGrp="1"/>
          </p:cNvSpPr>
          <p:nvPr>
            <p:ph type="pic" sz="quarter" idx="373"/>
          </p:nvPr>
        </p:nvSpPr>
        <p:spPr>
          <a:xfrm>
            <a:off x="300738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8" name="AutoShape 18"/>
          <p:cNvSpPr>
            <a:spLocks noGrp="1"/>
          </p:cNvSpPr>
          <p:nvPr>
            <p:ph type="pic" sz="quarter" idx="374"/>
          </p:nvPr>
        </p:nvSpPr>
        <p:spPr>
          <a:xfrm>
            <a:off x="4309375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9" name="AutoShape 19"/>
          <p:cNvSpPr>
            <a:spLocks noGrp="1"/>
          </p:cNvSpPr>
          <p:nvPr>
            <p:ph type="pic" sz="quarter" idx="375"/>
          </p:nvPr>
        </p:nvSpPr>
        <p:spPr>
          <a:xfrm>
            <a:off x="5611363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0" name="AutoShape 20"/>
          <p:cNvSpPr>
            <a:spLocks noGrp="1"/>
          </p:cNvSpPr>
          <p:nvPr>
            <p:ph type="pic" sz="quarter" idx="376"/>
          </p:nvPr>
        </p:nvSpPr>
        <p:spPr>
          <a:xfrm>
            <a:off x="6913351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1" name="AutoShape 21"/>
          <p:cNvSpPr>
            <a:spLocks noGrp="1"/>
          </p:cNvSpPr>
          <p:nvPr>
            <p:ph type="pic" sz="quarter" idx="377"/>
          </p:nvPr>
        </p:nvSpPr>
        <p:spPr>
          <a:xfrm>
            <a:off x="821533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2" name="AutoShape 22"/>
          <p:cNvSpPr>
            <a:spLocks noGrp="1"/>
          </p:cNvSpPr>
          <p:nvPr>
            <p:ph type="pic" sz="quarter" idx="378"/>
          </p:nvPr>
        </p:nvSpPr>
        <p:spPr>
          <a:xfrm>
            <a:off x="951732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3" name="AutoShape 23"/>
          <p:cNvSpPr>
            <a:spLocks noGrp="1"/>
          </p:cNvSpPr>
          <p:nvPr>
            <p:ph type="pic" sz="quarter" idx="379"/>
          </p:nvPr>
        </p:nvSpPr>
        <p:spPr>
          <a:xfrm>
            <a:off x="10819317" y="1439904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4" name="AutoShape 24"/>
          <p:cNvSpPr>
            <a:spLocks noGrp="1"/>
          </p:cNvSpPr>
          <p:nvPr>
            <p:ph type="pic" sz="quarter" idx="380"/>
          </p:nvPr>
        </p:nvSpPr>
        <p:spPr>
          <a:xfrm>
            <a:off x="170539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5" name="AutoShape 25"/>
          <p:cNvSpPr>
            <a:spLocks noGrp="1"/>
          </p:cNvSpPr>
          <p:nvPr>
            <p:ph type="pic" sz="quarter" idx="381"/>
          </p:nvPr>
        </p:nvSpPr>
        <p:spPr>
          <a:xfrm>
            <a:off x="300738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6" name="AutoShape 26"/>
          <p:cNvSpPr>
            <a:spLocks noGrp="1"/>
          </p:cNvSpPr>
          <p:nvPr>
            <p:ph type="pic" sz="quarter" idx="382"/>
          </p:nvPr>
        </p:nvSpPr>
        <p:spPr>
          <a:xfrm>
            <a:off x="4309375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7" name="AutoShape 27"/>
          <p:cNvSpPr>
            <a:spLocks noGrp="1"/>
          </p:cNvSpPr>
          <p:nvPr>
            <p:ph type="pic" sz="quarter" idx="383"/>
          </p:nvPr>
        </p:nvSpPr>
        <p:spPr>
          <a:xfrm>
            <a:off x="5611363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8" name="AutoShape 28"/>
          <p:cNvSpPr>
            <a:spLocks noGrp="1"/>
          </p:cNvSpPr>
          <p:nvPr>
            <p:ph type="pic" sz="quarter" idx="384"/>
          </p:nvPr>
        </p:nvSpPr>
        <p:spPr>
          <a:xfrm>
            <a:off x="691335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9" name="AutoShape 29"/>
          <p:cNvSpPr>
            <a:spLocks noGrp="1"/>
          </p:cNvSpPr>
          <p:nvPr>
            <p:ph type="pic" sz="quarter" idx="385"/>
          </p:nvPr>
        </p:nvSpPr>
        <p:spPr>
          <a:xfrm>
            <a:off x="821533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0" name="AutoShape 30"/>
          <p:cNvSpPr>
            <a:spLocks noGrp="1"/>
          </p:cNvSpPr>
          <p:nvPr>
            <p:ph type="pic" sz="quarter" idx="386"/>
          </p:nvPr>
        </p:nvSpPr>
        <p:spPr>
          <a:xfrm>
            <a:off x="951732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1" name="AutoShape 31"/>
          <p:cNvSpPr>
            <a:spLocks noGrp="1"/>
          </p:cNvSpPr>
          <p:nvPr>
            <p:ph type="pic" sz="quarter" idx="387"/>
          </p:nvPr>
        </p:nvSpPr>
        <p:spPr>
          <a:xfrm>
            <a:off x="10819317" y="249628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2" name="AutoShape 32"/>
          <p:cNvSpPr>
            <a:spLocks noGrp="1"/>
          </p:cNvSpPr>
          <p:nvPr>
            <p:ph type="pic" sz="quarter" idx="388"/>
          </p:nvPr>
        </p:nvSpPr>
        <p:spPr>
          <a:xfrm>
            <a:off x="170539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3" name="AutoShape 33"/>
          <p:cNvSpPr>
            <a:spLocks noGrp="1"/>
          </p:cNvSpPr>
          <p:nvPr>
            <p:ph type="pic" sz="quarter" idx="389"/>
          </p:nvPr>
        </p:nvSpPr>
        <p:spPr>
          <a:xfrm>
            <a:off x="300738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4" name="AutoShape 34"/>
          <p:cNvSpPr>
            <a:spLocks noGrp="1"/>
          </p:cNvSpPr>
          <p:nvPr>
            <p:ph type="pic" sz="quarter" idx="390"/>
          </p:nvPr>
        </p:nvSpPr>
        <p:spPr>
          <a:xfrm>
            <a:off x="4309375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5" name="AutoShape 35"/>
          <p:cNvSpPr>
            <a:spLocks noGrp="1"/>
          </p:cNvSpPr>
          <p:nvPr>
            <p:ph type="pic" sz="quarter" idx="391"/>
          </p:nvPr>
        </p:nvSpPr>
        <p:spPr>
          <a:xfrm>
            <a:off x="5611363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6" name="AutoShape 36"/>
          <p:cNvSpPr>
            <a:spLocks noGrp="1"/>
          </p:cNvSpPr>
          <p:nvPr>
            <p:ph type="pic" sz="quarter" idx="392"/>
          </p:nvPr>
        </p:nvSpPr>
        <p:spPr>
          <a:xfrm>
            <a:off x="691335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7" name="AutoShape 37"/>
          <p:cNvSpPr>
            <a:spLocks noGrp="1"/>
          </p:cNvSpPr>
          <p:nvPr>
            <p:ph type="pic" sz="quarter" idx="393"/>
          </p:nvPr>
        </p:nvSpPr>
        <p:spPr>
          <a:xfrm>
            <a:off x="821533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8" name="AutoShape 38"/>
          <p:cNvSpPr>
            <a:spLocks noGrp="1"/>
          </p:cNvSpPr>
          <p:nvPr>
            <p:ph type="pic" sz="quarter" idx="394"/>
          </p:nvPr>
        </p:nvSpPr>
        <p:spPr>
          <a:xfrm>
            <a:off x="951732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9" name="AutoShape 39"/>
          <p:cNvSpPr>
            <a:spLocks noGrp="1"/>
          </p:cNvSpPr>
          <p:nvPr>
            <p:ph type="pic" sz="quarter" idx="395"/>
          </p:nvPr>
        </p:nvSpPr>
        <p:spPr>
          <a:xfrm>
            <a:off x="10819317" y="3542360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0" name="AutoShape 40"/>
          <p:cNvSpPr>
            <a:spLocks noGrp="1"/>
          </p:cNvSpPr>
          <p:nvPr>
            <p:ph type="pic" sz="quarter" idx="396"/>
          </p:nvPr>
        </p:nvSpPr>
        <p:spPr>
          <a:xfrm>
            <a:off x="170539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1" name="AutoShape 41"/>
          <p:cNvSpPr>
            <a:spLocks noGrp="1"/>
          </p:cNvSpPr>
          <p:nvPr>
            <p:ph type="pic" sz="quarter" idx="397"/>
          </p:nvPr>
        </p:nvSpPr>
        <p:spPr>
          <a:xfrm>
            <a:off x="300738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2" name="AutoShape 42"/>
          <p:cNvSpPr>
            <a:spLocks noGrp="1"/>
          </p:cNvSpPr>
          <p:nvPr>
            <p:ph type="pic" sz="quarter" idx="398"/>
          </p:nvPr>
        </p:nvSpPr>
        <p:spPr>
          <a:xfrm>
            <a:off x="4309375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3" name="AutoShape 43"/>
          <p:cNvSpPr>
            <a:spLocks noGrp="1"/>
          </p:cNvSpPr>
          <p:nvPr>
            <p:ph type="pic" sz="quarter" idx="399"/>
          </p:nvPr>
        </p:nvSpPr>
        <p:spPr>
          <a:xfrm>
            <a:off x="5611363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4" name="AutoShape 44"/>
          <p:cNvSpPr>
            <a:spLocks noGrp="1"/>
          </p:cNvSpPr>
          <p:nvPr>
            <p:ph type="pic" sz="quarter" idx="400"/>
          </p:nvPr>
        </p:nvSpPr>
        <p:spPr>
          <a:xfrm>
            <a:off x="691335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5" name="AutoShape 45"/>
          <p:cNvSpPr>
            <a:spLocks noGrp="1"/>
          </p:cNvSpPr>
          <p:nvPr>
            <p:ph type="pic" sz="quarter" idx="401"/>
          </p:nvPr>
        </p:nvSpPr>
        <p:spPr>
          <a:xfrm>
            <a:off x="821533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6" name="AutoShape 46"/>
          <p:cNvSpPr>
            <a:spLocks noGrp="1"/>
          </p:cNvSpPr>
          <p:nvPr>
            <p:ph type="pic" sz="quarter" idx="402"/>
          </p:nvPr>
        </p:nvSpPr>
        <p:spPr>
          <a:xfrm>
            <a:off x="951732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7" name="AutoShape 47"/>
          <p:cNvSpPr>
            <a:spLocks noGrp="1"/>
          </p:cNvSpPr>
          <p:nvPr>
            <p:ph type="pic" sz="quarter" idx="403"/>
          </p:nvPr>
        </p:nvSpPr>
        <p:spPr>
          <a:xfrm>
            <a:off x="10819317" y="460217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8" name="AutoShape 48"/>
          <p:cNvSpPr>
            <a:spLocks noGrp="1"/>
          </p:cNvSpPr>
          <p:nvPr>
            <p:ph type="pic" sz="quarter" idx="404"/>
          </p:nvPr>
        </p:nvSpPr>
        <p:spPr>
          <a:xfrm>
            <a:off x="170539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9" name="AutoShape 49"/>
          <p:cNvSpPr>
            <a:spLocks noGrp="1"/>
          </p:cNvSpPr>
          <p:nvPr>
            <p:ph type="pic" sz="quarter" idx="405"/>
          </p:nvPr>
        </p:nvSpPr>
        <p:spPr>
          <a:xfrm>
            <a:off x="300738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0" name="AutoShape 50"/>
          <p:cNvSpPr>
            <a:spLocks noGrp="1"/>
          </p:cNvSpPr>
          <p:nvPr>
            <p:ph type="pic" sz="quarter" idx="406"/>
          </p:nvPr>
        </p:nvSpPr>
        <p:spPr>
          <a:xfrm>
            <a:off x="4309375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1" name="AutoShape 51"/>
          <p:cNvSpPr>
            <a:spLocks noGrp="1"/>
          </p:cNvSpPr>
          <p:nvPr>
            <p:ph type="pic" sz="quarter" idx="407"/>
          </p:nvPr>
        </p:nvSpPr>
        <p:spPr>
          <a:xfrm>
            <a:off x="5611363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2" name="AutoShape 52"/>
          <p:cNvSpPr>
            <a:spLocks noGrp="1"/>
          </p:cNvSpPr>
          <p:nvPr>
            <p:ph type="pic" sz="quarter" idx="408"/>
          </p:nvPr>
        </p:nvSpPr>
        <p:spPr>
          <a:xfrm>
            <a:off x="6913351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3" name="AutoShape 53"/>
          <p:cNvSpPr>
            <a:spLocks noGrp="1"/>
          </p:cNvSpPr>
          <p:nvPr>
            <p:ph type="pic" sz="quarter" idx="409"/>
          </p:nvPr>
        </p:nvSpPr>
        <p:spPr>
          <a:xfrm>
            <a:off x="821533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4" name="AutoShape 54"/>
          <p:cNvSpPr>
            <a:spLocks noGrp="1"/>
          </p:cNvSpPr>
          <p:nvPr>
            <p:ph type="pic" sz="quarter" idx="410"/>
          </p:nvPr>
        </p:nvSpPr>
        <p:spPr>
          <a:xfrm>
            <a:off x="951732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5" name="AutoShape 55"/>
          <p:cNvSpPr>
            <a:spLocks noGrp="1"/>
          </p:cNvSpPr>
          <p:nvPr>
            <p:ph type="pic" sz="quarter" idx="411"/>
          </p:nvPr>
        </p:nvSpPr>
        <p:spPr>
          <a:xfrm>
            <a:off x="10819317" y="5651686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12" hasCustomPrompt="1"/>
          </p:nvPr>
        </p:nvSpPr>
        <p:spPr>
          <a:xfrm>
            <a:off x="423068" y="2415203"/>
            <a:ext cx="5486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13" hasCustomPrompt="1"/>
          </p:nvPr>
        </p:nvSpPr>
        <p:spPr>
          <a:xfrm>
            <a:off x="423068" y="3138594"/>
            <a:ext cx="548640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4" hasCustomPrompt="1"/>
          </p:nvPr>
        </p:nvSpPr>
        <p:spPr>
          <a:xfrm>
            <a:off x="423068" y="4771707"/>
            <a:ext cx="365760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AutoShape 5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 Group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pic" sz="quarter" idx="415"/>
          </p:nvPr>
        </p:nvSpPr>
        <p:spPr>
          <a:xfrm>
            <a:off x="6092952" y="0"/>
            <a:ext cx="6099048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16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17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8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eep Blue Title Only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19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0" hasCustomPrompt="1"/>
          </p:nvPr>
        </p:nvSpPr>
        <p:spPr>
          <a:xfrm>
            <a:off x="428625" y="709990"/>
            <a:ext cx="11337925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1" hasCustomPrompt="1"/>
          </p:nvPr>
        </p:nvSpPr>
        <p:spPr>
          <a:xfrm>
            <a:off x="428625" y="6420355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  <p:sp>
        <p:nvSpPr>
          <p:cNvPr id="5" name="AutoShape 5"/>
          <p:cNvSpPr/>
          <p:nvPr/>
        </p:nvSpPr>
        <p:spPr>
          <a:xfrm>
            <a:off x="428625" y="6420355"/>
            <a:ext cx="12795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	|	 © Atos Group 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5" name="AutoShape 5"/>
          <p:cNvSpPr>
            <a:spLocks noGrp="1"/>
          </p:cNvSpPr>
          <p:nvPr>
            <p:ph type="body" sz="quarter" idx="422" hasCustomPrompt="1"/>
          </p:nvPr>
        </p:nvSpPr>
        <p:spPr>
          <a:xfrm>
            <a:off x="428625" y="1196367"/>
            <a:ext cx="5852160" cy="1554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lvl1pPr algn="l">
              <a:lnSpc>
                <a:spcPct val="100000"/>
              </a:lnSpc>
              <a:defRPr sz="48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8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23" hasCustomPrompt="1"/>
          </p:nvPr>
        </p:nvSpPr>
        <p:spPr>
          <a:xfrm>
            <a:off x="428625" y="2748074"/>
            <a:ext cx="5852160" cy="1216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6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  <p:sp>
        <p:nvSpPr>
          <p:cNvPr id="7" name="Freeform 7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4" hasCustomPrompt="1"/>
          </p:nvPr>
        </p:nvSpPr>
        <p:spPr>
          <a:xfrm>
            <a:off x="428625" y="1189363"/>
            <a:ext cx="5370060" cy="123110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80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80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625" y="5299543"/>
            <a:ext cx="3383281" cy="615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5" hasCustomPrompt="1"/>
          </p:nvPr>
        </p:nvSpPr>
        <p:spPr>
          <a:xfrm>
            <a:off x="303548" y="164637"/>
            <a:ext cx="11436096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Title in Raleway SemiBold 20pt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6" hasCustomPrompt="1"/>
          </p:nvPr>
        </p:nvSpPr>
        <p:spPr>
          <a:xfrm>
            <a:off x="303547" y="556610"/>
            <a:ext cx="11436096" cy="5805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135" b="0" i="0" u="none" strike="noStrike" spc="0">
                <a:solidFill>
                  <a:srgbClr val="0596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2135" b="0" i="0" u="none" strike="noStrike">
                <a:solidFill>
                  <a:srgbClr val="0596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 in Raleway SemiBold 16pt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427" hasCustomPrompt="1"/>
          </p:nvPr>
        </p:nvSpPr>
        <p:spPr>
          <a:xfrm>
            <a:off x="2954745" y="1446367"/>
            <a:ext cx="34304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8" hasCustomPrompt="1"/>
          </p:nvPr>
        </p:nvSpPr>
        <p:spPr>
          <a:xfrm>
            <a:off x="3674348" y="1446367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29" hasCustomPrompt="1"/>
          </p:nvPr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30" hasCustomPrompt="1"/>
          </p:nvPr>
        </p:nvSpPr>
        <p:spPr>
          <a:xfrm>
            <a:off x="2954745" y="2713569"/>
            <a:ext cx="39594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31" hasCustomPrompt="1"/>
          </p:nvPr>
        </p:nvSpPr>
        <p:spPr>
          <a:xfrm>
            <a:off x="3674348" y="2713569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432" hasCustomPrompt="1"/>
          </p:nvPr>
        </p:nvSpPr>
        <p:spPr>
          <a:xfrm>
            <a:off x="11406268" y="2713569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433" hasCustomPrompt="1"/>
          </p:nvPr>
        </p:nvSpPr>
        <p:spPr>
          <a:xfrm>
            <a:off x="2954745" y="3980771"/>
            <a:ext cx="39754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434" hasCustomPrompt="1"/>
          </p:nvPr>
        </p:nvSpPr>
        <p:spPr>
          <a:xfrm>
            <a:off x="3674348" y="3980771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435" hasCustomPrompt="1"/>
          </p:nvPr>
        </p:nvSpPr>
        <p:spPr>
          <a:xfrm>
            <a:off x="11406268" y="3980771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436" hasCustomPrompt="1"/>
          </p:nvPr>
        </p:nvSpPr>
        <p:spPr>
          <a:xfrm>
            <a:off x="2954745" y="5247973"/>
            <a:ext cx="403957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437" hasCustomPrompt="1"/>
          </p:nvPr>
        </p:nvSpPr>
        <p:spPr>
          <a:xfrm>
            <a:off x="3674348" y="5247973"/>
            <a:ext cx="752121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Chapter title example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438" hasCustomPrompt="1"/>
          </p:nvPr>
        </p:nvSpPr>
        <p:spPr>
          <a:xfrm>
            <a:off x="11406268" y="5247973"/>
            <a:ext cx="355867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r">
              <a:lnSpc>
                <a:spcPct val="100000"/>
              </a:lnSpc>
              <a:defRPr sz="2000" b="0" i="0" u="none" strike="noStrike" spc="0">
                <a:solidFill>
                  <a:srgbClr val="00005C">
                    <a:alpha val="100000"/>
                  </a:srgbClr>
                </a:solidFill>
                <a:latin typeface="Biennale Medium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00005C"/>
                </a:solidFill>
                <a:latin typeface="Biennale Medium"/>
                <a:ea typeface="Biennale Medium"/>
                <a:cs typeface="Biennale Medium"/>
                <a:sym typeface="Biennale Medium"/>
              </a:rPr>
              <a:t>00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439" hasCustomPrompt="1"/>
          </p:nvPr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Contents</a:t>
            </a: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440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ctr">
            <a:spAutoFit/>
          </a:bodyPr>
          <a:lstStyle>
            <a:lvl1pPr algn="l">
              <a:lnSpc>
                <a:spcPct val="100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441" hasCustomPrompt="1"/>
          </p:nvPr>
        </p:nvSpPr>
        <p:spPr>
          <a:xfrm>
            <a:off x="390098" y="389618"/>
            <a:ext cx="1376980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4" name="Freeform 4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42" hasCustomPrompt="1"/>
          </p:nvPr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Chapter title</a:t>
            </a:r>
            <a:b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two lines</a:t>
            </a: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wo curve">
    <p:bg>
      <p:bgPr>
        <a:solidFill>
          <a:srgbClr val="00005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4" name="AutoShape 4"/>
          <p:cNvSpPr>
            <a:spLocks noGrp="1"/>
          </p:cNvSpPr>
          <p:nvPr>
            <p:ph type="body" sz="quarter" idx="443" hasCustomPrompt="1"/>
          </p:nvPr>
        </p:nvSpPr>
        <p:spPr>
          <a:xfrm>
            <a:off x="428625" y="4765675"/>
            <a:ext cx="3992904" cy="9699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Date</a:t>
            </a:r>
          </a:p>
        </p:txBody>
      </p:sp>
      <p:sp>
        <p:nvSpPr>
          <p:cNvPr id="5" name="Freeform 5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44" hasCustomPrompt="1"/>
          </p:nvPr>
        </p:nvSpPr>
        <p:spPr>
          <a:xfrm>
            <a:off x="428625" y="1456679"/>
            <a:ext cx="6766560" cy="1844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FFFF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300"/>
              </a:spcAft>
            </a:pPr>
            <a:r>
              <a:rPr lang="en-US" sz="4400" b="0" i="0" u="none" strike="noStrike">
                <a:solidFill>
                  <a:srgbClr val="FFFFFF"/>
                </a:solidFill>
                <a:latin typeface="Biennale Bold"/>
                <a:ea typeface="Biennale Bold"/>
                <a:cs typeface="Biennale Bold"/>
                <a:sym typeface="Biennale Bold"/>
              </a:rPr>
              <a:t>Presentation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45" hasCustomPrompt="1"/>
          </p:nvPr>
        </p:nvSpPr>
        <p:spPr>
          <a:xfrm>
            <a:off x="428625" y="2084535"/>
            <a:ext cx="6766560" cy="1217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3200" b="0" i="0" u="none" strike="noStrike" spc="0">
                <a:solidFill>
                  <a:srgbClr val="3DC7FF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3200" b="0" i="0" u="none" strike="noStrike">
                <a:solidFill>
                  <a:srgbClr val="3DC7FF"/>
                </a:solidFill>
                <a:latin typeface="Biennale Bold"/>
                <a:ea typeface="Biennale Bold"/>
                <a:cs typeface="Biennale Bold"/>
                <a:sym typeface="Biennale Bold"/>
              </a:rPr>
              <a:t>Subtitle</a:t>
            </a: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810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4" y="0"/>
            <a:ext cx="12192000" cy="6881005"/>
          </a:xfrm>
          <a:prstGeom prst="rect">
            <a:avLst/>
          </a:prstGeom>
          <a:gradFill rotWithShape="0">
            <a:gsLst>
              <a:gs pos="41999">
                <a:srgbClr val="FFFFFF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5" y="6503027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" y="518500"/>
            <a:ext cx="390482" cy="0"/>
          </a:xfrm>
          <a:custGeom>
            <a:avLst/>
            <a:gdLst/>
            <a:ahLst/>
            <a:cxnLst/>
            <a:rect l="l" t="t" r="r" b="b"/>
            <a:pathLst>
              <a:path w="390482">
                <a:moveTo>
                  <a:pt x="0" y="0"/>
                </a:moveTo>
                <a:lnTo>
                  <a:pt x="390482" y="0"/>
                </a:lnTo>
              </a:path>
            </a:pathLst>
          </a:custGeom>
          <a:noFill/>
          <a:ln w="12700">
            <a:solidFill>
              <a:srgbClr val="0073E6">
                <a:alpha val="100000"/>
              </a:srgbClr>
            </a:solidFill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>
            <a:spLocks noGrp="1"/>
          </p:cNvSpPr>
          <p:nvPr>
            <p:ph type="body" sz="quarter" idx="446" hasCustomPrompt="1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935" b="0" i="0" u="none" strike="noStrike" spc="0">
                <a:solidFill>
                  <a:srgbClr val="0073E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935" b="0" i="0" u="none" strike="noStrike">
                <a:solidFill>
                  <a:srgbClr val="007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title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-16213" y="6276266"/>
            <a:ext cx="825500" cy="3397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33359" tIns="66685" rIns="133359" bIns="66685" rtlCol="0" anchor="ctr">
            <a:sp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47" hasCustomPrompt="1"/>
          </p:nvPr>
        </p:nvSpPr>
        <p:spPr>
          <a:xfrm>
            <a:off x="320400" y="6326136"/>
            <a:ext cx="591024" cy="2880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91440" tIns="45720" rIns="91440" bIns="45720" anchor="ctr">
            <a:spAutoFit/>
          </a:bodyPr>
          <a:lstStyle>
            <a:lvl1pPr algn="l">
              <a:lnSpc>
                <a:spcPct val="100000"/>
              </a:lnSpc>
              <a:defRPr sz="1335" b="0" i="0" u="none" strike="noStrike" spc="0">
                <a:solidFill>
                  <a:srgbClr val="000000">
                    <a:alpha val="100000"/>
                  </a:srgbClr>
                </a:solidFill>
                <a:latin typeface="Verdana" panose="020B060403050404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335" b="0" i="0" u="none" strike="noStrik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48" hasCustomPrompt="1"/>
          </p:nvPr>
        </p:nvSpPr>
        <p:spPr>
          <a:xfrm>
            <a:off x="320400" y="164637"/>
            <a:ext cx="11632251" cy="9601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66A1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66A1"/>
                </a:solidFill>
                <a:latin typeface="Biennale Bold"/>
                <a:ea typeface="Biennale Bold"/>
                <a:cs typeface="Biennale Bold"/>
                <a:sym typeface="Biennale Bold"/>
              </a:rPr>
              <a:t>Click to edit the header</a:t>
            </a: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449" hasCustomPrompt="1"/>
          </p:nvPr>
        </p:nvSpPr>
        <p:spPr>
          <a:xfrm>
            <a:off x="316799" y="471915"/>
            <a:ext cx="11484000" cy="3432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000000">
                    <a:alpha val="100000"/>
                  </a:srgbClr>
                </a:solidFill>
                <a:latin typeface="Montserrat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Click to add 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50" hasCustomPrompt="1"/>
          </p:nvPr>
        </p:nvSpPr>
        <p:spPr>
          <a:xfrm>
            <a:off x="316799" y="830931"/>
            <a:ext cx="114840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Montserrat SemiBold"/>
              </a:defRPr>
            </a:lvl1pPr>
          </a:lstStyle>
          <a:p>
            <a:pPr marL="0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Click to add text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29230" y="6298599"/>
            <a:ext cx="458064" cy="216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93038" y="6384973"/>
            <a:ext cx="605935" cy="1000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650" b="0" i="0" u="none" strike="noStrike">
                <a:solidFill>
                  <a:srgbClr val="808080"/>
                </a:solidFill>
                <a:latin typeface="Biennale"/>
                <a:ea typeface="Biennale"/>
                <a:cs typeface="Biennale"/>
                <a:sym typeface="Biennale"/>
              </a:rPr>
              <a:t>© EVIDEN SAS</a:t>
            </a:r>
            <a:endParaRPr lang="en-US" sz="110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51" hasCustomPrompt="1"/>
          </p:nvPr>
        </p:nvSpPr>
        <p:spPr>
          <a:xfrm>
            <a:off x="501520" y="1557338"/>
            <a:ext cx="11183565" cy="4787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marL="431800" indent="-203200" algn="l">
              <a:lnSpc>
                <a:spcPct val="100000"/>
              </a:lnSpc>
              <a:defRPr sz="16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  <a:lvl2pPr marL="660400" indent="-203200"/>
            <a:lvl3pPr marL="889000" indent="-203200"/>
            <a:lvl4pPr marL="1117600" indent="-203200"/>
            <a:lvl5pPr marL="914400" indent="0"/>
            <a:lvl6pPr marL="711200" indent="0"/>
            <a:lvl7pPr marL="508000" indent="0"/>
            <a:lvl8pPr marL="304800" indent="0"/>
            <a:lvl9pPr marL="101600" indent="0"/>
          </a:lstStyle>
          <a:p>
            <a:pPr marL="228600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Start typing to add text without a bullet point. To add a bullet point, place the cursor at the start of this line and press tab.</a:t>
            </a:r>
          </a:p>
          <a:p>
            <a:pPr marL="457200" lvl="1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Second level</a:t>
            </a:r>
          </a:p>
          <a:p>
            <a:pPr marL="685800" lvl="2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Third level</a:t>
            </a:r>
          </a:p>
          <a:p>
            <a:pPr marL="914400" lvl="3" indent="-228600" algn="l">
              <a:lnSpc>
                <a:spcPct val="100000"/>
              </a:lnSpc>
              <a:spcAft>
                <a:spcPts val="600"/>
              </a:spcAft>
              <a:buClr>
                <a:srgbClr val="00005C"/>
              </a:buClr>
              <a:buFont typeface="Arial" panose="020B0604020202020204"/>
              <a:buChar char="•"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Fourth level</a:t>
            </a:r>
          </a:p>
          <a:p>
            <a:pPr marL="914400" lvl="4" indent="0" algn="l">
              <a:lnSpc>
                <a:spcPct val="100000"/>
              </a:lnSpc>
              <a:spcAft>
                <a:spcPts val="600"/>
              </a:spcAft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52" hasCustomPrompt="1"/>
          </p:nvPr>
        </p:nvSpPr>
        <p:spPr>
          <a:xfrm>
            <a:off x="503870" y="504000"/>
            <a:ext cx="1118356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Insert page title (sentence case)</a:t>
            </a: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Pag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53" hasCustomPrompt="1"/>
          </p:nvPr>
        </p:nvSpPr>
        <p:spPr>
          <a:xfrm>
            <a:off x="503869" y="3090446"/>
            <a:ext cx="11182288" cy="6771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Biennale Bold"/>
                <a:ea typeface="Biennale Bold"/>
                <a:cs typeface="Biennale Bold"/>
                <a:sym typeface="Biennale Bold"/>
              </a:rPr>
              <a:t>Divider page</a:t>
            </a: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454"/>
          </p:nvPr>
        </p:nvSpPr>
        <p:spPr>
          <a:xfrm>
            <a:off x="40341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455"/>
          </p:nvPr>
        </p:nvSpPr>
        <p:spPr>
          <a:xfrm>
            <a:off x="403411" y="1439904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456"/>
          </p:nvPr>
        </p:nvSpPr>
        <p:spPr>
          <a:xfrm>
            <a:off x="40341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457"/>
          </p:nvPr>
        </p:nvSpPr>
        <p:spPr>
          <a:xfrm>
            <a:off x="40341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458"/>
          </p:nvPr>
        </p:nvSpPr>
        <p:spPr>
          <a:xfrm>
            <a:off x="403411" y="5651686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459"/>
          </p:nvPr>
        </p:nvSpPr>
        <p:spPr>
          <a:xfrm>
            <a:off x="40341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460"/>
          </p:nvPr>
        </p:nvSpPr>
        <p:spPr>
          <a:xfrm>
            <a:off x="170539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pic" sz="quarter" idx="461"/>
          </p:nvPr>
        </p:nvSpPr>
        <p:spPr>
          <a:xfrm>
            <a:off x="300738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pic" sz="quarter" idx="462"/>
          </p:nvPr>
        </p:nvSpPr>
        <p:spPr>
          <a:xfrm>
            <a:off x="4309375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pic" sz="quarter" idx="463"/>
          </p:nvPr>
        </p:nvSpPr>
        <p:spPr>
          <a:xfrm>
            <a:off x="5611363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pic" sz="quarter" idx="464"/>
          </p:nvPr>
        </p:nvSpPr>
        <p:spPr>
          <a:xfrm>
            <a:off x="6913351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pic" sz="quarter" idx="465"/>
          </p:nvPr>
        </p:nvSpPr>
        <p:spPr>
          <a:xfrm>
            <a:off x="8215339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pic" sz="quarter" idx="466"/>
          </p:nvPr>
        </p:nvSpPr>
        <p:spPr>
          <a:xfrm>
            <a:off x="9517327" y="38695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5" name="AutoShape 15"/>
          <p:cNvSpPr>
            <a:spLocks noGrp="1"/>
          </p:cNvSpPr>
          <p:nvPr>
            <p:ph type="pic" sz="quarter" idx="467"/>
          </p:nvPr>
        </p:nvSpPr>
        <p:spPr>
          <a:xfrm>
            <a:off x="10819317" y="39039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6" name="AutoShape 16"/>
          <p:cNvSpPr>
            <a:spLocks noGrp="1"/>
          </p:cNvSpPr>
          <p:nvPr>
            <p:ph type="pic" sz="quarter" idx="468"/>
          </p:nvPr>
        </p:nvSpPr>
        <p:spPr>
          <a:xfrm>
            <a:off x="170539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7" name="AutoShape 17"/>
          <p:cNvSpPr>
            <a:spLocks noGrp="1"/>
          </p:cNvSpPr>
          <p:nvPr>
            <p:ph type="pic" sz="quarter" idx="469"/>
          </p:nvPr>
        </p:nvSpPr>
        <p:spPr>
          <a:xfrm>
            <a:off x="300738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8" name="AutoShape 18"/>
          <p:cNvSpPr>
            <a:spLocks noGrp="1"/>
          </p:cNvSpPr>
          <p:nvPr>
            <p:ph type="pic" sz="quarter" idx="470"/>
          </p:nvPr>
        </p:nvSpPr>
        <p:spPr>
          <a:xfrm>
            <a:off x="4309375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19" name="AutoShape 19"/>
          <p:cNvSpPr>
            <a:spLocks noGrp="1"/>
          </p:cNvSpPr>
          <p:nvPr>
            <p:ph type="pic" sz="quarter" idx="471"/>
          </p:nvPr>
        </p:nvSpPr>
        <p:spPr>
          <a:xfrm>
            <a:off x="5611363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0" name="AutoShape 20"/>
          <p:cNvSpPr>
            <a:spLocks noGrp="1"/>
          </p:cNvSpPr>
          <p:nvPr>
            <p:ph type="pic" sz="quarter" idx="472"/>
          </p:nvPr>
        </p:nvSpPr>
        <p:spPr>
          <a:xfrm>
            <a:off x="6913351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1" name="AutoShape 21"/>
          <p:cNvSpPr>
            <a:spLocks noGrp="1"/>
          </p:cNvSpPr>
          <p:nvPr>
            <p:ph type="pic" sz="quarter" idx="473"/>
          </p:nvPr>
        </p:nvSpPr>
        <p:spPr>
          <a:xfrm>
            <a:off x="8215339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2" name="AutoShape 22"/>
          <p:cNvSpPr>
            <a:spLocks noGrp="1"/>
          </p:cNvSpPr>
          <p:nvPr>
            <p:ph type="pic" sz="quarter" idx="474"/>
          </p:nvPr>
        </p:nvSpPr>
        <p:spPr>
          <a:xfrm>
            <a:off x="9517327" y="143647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3" name="AutoShape 23"/>
          <p:cNvSpPr>
            <a:spLocks noGrp="1"/>
          </p:cNvSpPr>
          <p:nvPr>
            <p:ph type="pic" sz="quarter" idx="475"/>
          </p:nvPr>
        </p:nvSpPr>
        <p:spPr>
          <a:xfrm>
            <a:off x="10819317" y="1439904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4" name="AutoShape 24"/>
          <p:cNvSpPr>
            <a:spLocks noGrp="1"/>
          </p:cNvSpPr>
          <p:nvPr>
            <p:ph type="pic" sz="quarter" idx="476"/>
          </p:nvPr>
        </p:nvSpPr>
        <p:spPr>
          <a:xfrm>
            <a:off x="170539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5" name="AutoShape 25"/>
          <p:cNvSpPr>
            <a:spLocks noGrp="1"/>
          </p:cNvSpPr>
          <p:nvPr>
            <p:ph type="pic" sz="quarter" idx="477"/>
          </p:nvPr>
        </p:nvSpPr>
        <p:spPr>
          <a:xfrm>
            <a:off x="300738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6" name="AutoShape 26"/>
          <p:cNvSpPr>
            <a:spLocks noGrp="1"/>
          </p:cNvSpPr>
          <p:nvPr>
            <p:ph type="pic" sz="quarter" idx="478"/>
          </p:nvPr>
        </p:nvSpPr>
        <p:spPr>
          <a:xfrm>
            <a:off x="4309375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7" name="AutoShape 27"/>
          <p:cNvSpPr>
            <a:spLocks noGrp="1"/>
          </p:cNvSpPr>
          <p:nvPr>
            <p:ph type="pic" sz="quarter" idx="479"/>
          </p:nvPr>
        </p:nvSpPr>
        <p:spPr>
          <a:xfrm>
            <a:off x="5611363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8" name="AutoShape 28"/>
          <p:cNvSpPr>
            <a:spLocks noGrp="1"/>
          </p:cNvSpPr>
          <p:nvPr>
            <p:ph type="pic" sz="quarter" idx="480"/>
          </p:nvPr>
        </p:nvSpPr>
        <p:spPr>
          <a:xfrm>
            <a:off x="6913351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29" name="AutoShape 29"/>
          <p:cNvSpPr>
            <a:spLocks noGrp="1"/>
          </p:cNvSpPr>
          <p:nvPr>
            <p:ph type="pic" sz="quarter" idx="481"/>
          </p:nvPr>
        </p:nvSpPr>
        <p:spPr>
          <a:xfrm>
            <a:off x="8215339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0" name="AutoShape 30"/>
          <p:cNvSpPr>
            <a:spLocks noGrp="1"/>
          </p:cNvSpPr>
          <p:nvPr>
            <p:ph type="pic" sz="quarter" idx="482"/>
          </p:nvPr>
        </p:nvSpPr>
        <p:spPr>
          <a:xfrm>
            <a:off x="9517327" y="249284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1" name="AutoShape 31"/>
          <p:cNvSpPr>
            <a:spLocks noGrp="1"/>
          </p:cNvSpPr>
          <p:nvPr>
            <p:ph type="pic" sz="quarter" idx="483"/>
          </p:nvPr>
        </p:nvSpPr>
        <p:spPr>
          <a:xfrm>
            <a:off x="10819317" y="249628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2" name="AutoShape 32"/>
          <p:cNvSpPr>
            <a:spLocks noGrp="1"/>
          </p:cNvSpPr>
          <p:nvPr>
            <p:ph type="pic" sz="quarter" idx="484"/>
          </p:nvPr>
        </p:nvSpPr>
        <p:spPr>
          <a:xfrm>
            <a:off x="170539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3" name="AutoShape 33"/>
          <p:cNvSpPr>
            <a:spLocks noGrp="1"/>
          </p:cNvSpPr>
          <p:nvPr>
            <p:ph type="pic" sz="quarter" idx="485"/>
          </p:nvPr>
        </p:nvSpPr>
        <p:spPr>
          <a:xfrm>
            <a:off x="300738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4" name="AutoShape 34"/>
          <p:cNvSpPr>
            <a:spLocks noGrp="1"/>
          </p:cNvSpPr>
          <p:nvPr>
            <p:ph type="pic" sz="quarter" idx="486"/>
          </p:nvPr>
        </p:nvSpPr>
        <p:spPr>
          <a:xfrm>
            <a:off x="4309375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5" name="AutoShape 35"/>
          <p:cNvSpPr>
            <a:spLocks noGrp="1"/>
          </p:cNvSpPr>
          <p:nvPr>
            <p:ph type="pic" sz="quarter" idx="487"/>
          </p:nvPr>
        </p:nvSpPr>
        <p:spPr>
          <a:xfrm>
            <a:off x="5611363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6" name="AutoShape 36"/>
          <p:cNvSpPr>
            <a:spLocks noGrp="1"/>
          </p:cNvSpPr>
          <p:nvPr>
            <p:ph type="pic" sz="quarter" idx="488"/>
          </p:nvPr>
        </p:nvSpPr>
        <p:spPr>
          <a:xfrm>
            <a:off x="6913351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7" name="AutoShape 37"/>
          <p:cNvSpPr>
            <a:spLocks noGrp="1"/>
          </p:cNvSpPr>
          <p:nvPr>
            <p:ph type="pic" sz="quarter" idx="489"/>
          </p:nvPr>
        </p:nvSpPr>
        <p:spPr>
          <a:xfrm>
            <a:off x="8215339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8" name="AutoShape 38"/>
          <p:cNvSpPr>
            <a:spLocks noGrp="1"/>
          </p:cNvSpPr>
          <p:nvPr>
            <p:ph type="pic" sz="quarter" idx="490"/>
          </p:nvPr>
        </p:nvSpPr>
        <p:spPr>
          <a:xfrm>
            <a:off x="9517327" y="3542360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9" name="AutoShape 39"/>
          <p:cNvSpPr>
            <a:spLocks noGrp="1"/>
          </p:cNvSpPr>
          <p:nvPr>
            <p:ph type="pic" sz="quarter" idx="491"/>
          </p:nvPr>
        </p:nvSpPr>
        <p:spPr>
          <a:xfrm>
            <a:off x="10819317" y="3542360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0" name="AutoShape 40"/>
          <p:cNvSpPr>
            <a:spLocks noGrp="1"/>
          </p:cNvSpPr>
          <p:nvPr>
            <p:ph type="pic" sz="quarter" idx="492"/>
          </p:nvPr>
        </p:nvSpPr>
        <p:spPr>
          <a:xfrm>
            <a:off x="170539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1" name="AutoShape 41"/>
          <p:cNvSpPr>
            <a:spLocks noGrp="1"/>
          </p:cNvSpPr>
          <p:nvPr>
            <p:ph type="pic" sz="quarter" idx="493"/>
          </p:nvPr>
        </p:nvSpPr>
        <p:spPr>
          <a:xfrm>
            <a:off x="300738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2" name="AutoShape 42"/>
          <p:cNvSpPr>
            <a:spLocks noGrp="1"/>
          </p:cNvSpPr>
          <p:nvPr>
            <p:ph type="pic" sz="quarter" idx="494"/>
          </p:nvPr>
        </p:nvSpPr>
        <p:spPr>
          <a:xfrm>
            <a:off x="4309375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3" name="AutoShape 43"/>
          <p:cNvSpPr>
            <a:spLocks noGrp="1"/>
          </p:cNvSpPr>
          <p:nvPr>
            <p:ph type="pic" sz="quarter" idx="495"/>
          </p:nvPr>
        </p:nvSpPr>
        <p:spPr>
          <a:xfrm>
            <a:off x="5611363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4" name="AutoShape 44"/>
          <p:cNvSpPr>
            <a:spLocks noGrp="1"/>
          </p:cNvSpPr>
          <p:nvPr>
            <p:ph type="pic" sz="quarter" idx="496"/>
          </p:nvPr>
        </p:nvSpPr>
        <p:spPr>
          <a:xfrm>
            <a:off x="6913351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5" name="AutoShape 45"/>
          <p:cNvSpPr>
            <a:spLocks noGrp="1"/>
          </p:cNvSpPr>
          <p:nvPr>
            <p:ph type="pic" sz="quarter" idx="497"/>
          </p:nvPr>
        </p:nvSpPr>
        <p:spPr>
          <a:xfrm>
            <a:off x="8215339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6" name="AutoShape 46"/>
          <p:cNvSpPr>
            <a:spLocks noGrp="1"/>
          </p:cNvSpPr>
          <p:nvPr>
            <p:ph type="pic" sz="quarter" idx="498"/>
          </p:nvPr>
        </p:nvSpPr>
        <p:spPr>
          <a:xfrm>
            <a:off x="9517327" y="4598739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7" name="AutoShape 47"/>
          <p:cNvSpPr>
            <a:spLocks noGrp="1"/>
          </p:cNvSpPr>
          <p:nvPr>
            <p:ph type="pic" sz="quarter" idx="499"/>
          </p:nvPr>
        </p:nvSpPr>
        <p:spPr>
          <a:xfrm>
            <a:off x="10819317" y="4602173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8" name="AutoShape 48"/>
          <p:cNvSpPr>
            <a:spLocks noGrp="1"/>
          </p:cNvSpPr>
          <p:nvPr>
            <p:ph type="pic" sz="quarter" idx="500"/>
          </p:nvPr>
        </p:nvSpPr>
        <p:spPr>
          <a:xfrm>
            <a:off x="170539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9" name="AutoShape 49"/>
          <p:cNvSpPr>
            <a:spLocks noGrp="1"/>
          </p:cNvSpPr>
          <p:nvPr>
            <p:ph type="pic" sz="quarter" idx="501"/>
          </p:nvPr>
        </p:nvSpPr>
        <p:spPr>
          <a:xfrm>
            <a:off x="300738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0" name="AutoShape 50"/>
          <p:cNvSpPr>
            <a:spLocks noGrp="1"/>
          </p:cNvSpPr>
          <p:nvPr>
            <p:ph type="pic" sz="quarter" idx="502"/>
          </p:nvPr>
        </p:nvSpPr>
        <p:spPr>
          <a:xfrm>
            <a:off x="4309375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1" name="AutoShape 51"/>
          <p:cNvSpPr>
            <a:spLocks noGrp="1"/>
          </p:cNvSpPr>
          <p:nvPr>
            <p:ph type="pic" sz="quarter" idx="503"/>
          </p:nvPr>
        </p:nvSpPr>
        <p:spPr>
          <a:xfrm>
            <a:off x="5611363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2" name="AutoShape 52"/>
          <p:cNvSpPr>
            <a:spLocks noGrp="1"/>
          </p:cNvSpPr>
          <p:nvPr>
            <p:ph type="pic" sz="quarter" idx="504"/>
          </p:nvPr>
        </p:nvSpPr>
        <p:spPr>
          <a:xfrm>
            <a:off x="6913351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3" name="AutoShape 53"/>
          <p:cNvSpPr>
            <a:spLocks noGrp="1"/>
          </p:cNvSpPr>
          <p:nvPr>
            <p:ph type="pic" sz="quarter" idx="505"/>
          </p:nvPr>
        </p:nvSpPr>
        <p:spPr>
          <a:xfrm>
            <a:off x="8215339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4" name="AutoShape 54"/>
          <p:cNvSpPr>
            <a:spLocks noGrp="1"/>
          </p:cNvSpPr>
          <p:nvPr>
            <p:ph type="pic" sz="quarter" idx="506"/>
          </p:nvPr>
        </p:nvSpPr>
        <p:spPr>
          <a:xfrm>
            <a:off x="9517327" y="5648252"/>
            <a:ext cx="1223681" cy="875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55" name="AutoShape 55"/>
          <p:cNvSpPr>
            <a:spLocks noGrp="1"/>
          </p:cNvSpPr>
          <p:nvPr>
            <p:ph type="pic" sz="quarter" idx="507"/>
          </p:nvPr>
        </p:nvSpPr>
        <p:spPr>
          <a:xfrm>
            <a:off x="10819317" y="5651686"/>
            <a:ext cx="1218883" cy="87215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9.xml"/><Relationship Id="rId18" Type="http://schemas.openxmlformats.org/officeDocument/2006/relationships/theme" Target="../theme/theme9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17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88.xml"/><Relationship Id="rId16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10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4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0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4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	Atos Confidential </a:t>
            </a:r>
            <a:endParaRPr lang="en-US" sz="1100"/>
          </a:p>
        </p:txBody>
      </p:sp>
      <p:sp>
        <p:nvSpPr>
          <p:cNvPr id="2" name="Freeform 2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3068" y="6391780"/>
            <a:ext cx="835165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 Group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23068" y="1847166"/>
            <a:ext cx="5486400" cy="15818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sz="4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采购价格透明化与比价分析体系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23068" y="5491978"/>
            <a:ext cx="3657600" cy="6400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sz="16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2026.08.16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107" r="104"/>
          <a:stretch>
            <a:fillRect/>
          </a:stretch>
        </p:blipFill>
        <p:spPr>
          <a:xfrm>
            <a:off x="6092952" y="0"/>
            <a:ext cx="6099048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3068" y="340653"/>
            <a:ext cx="1930400" cy="38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8" name="文本占位符 1"/>
          <p:cNvSpPr>
            <a:spLocks noGrp="1"/>
          </p:cNvSpPr>
          <p:nvPr/>
        </p:nvSpPr>
        <p:spPr>
          <a:xfrm>
            <a:off x="423068" y="4077251"/>
            <a:ext cx="5486400" cy="112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36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3200" kern="1200">
                <a:solidFill>
                  <a:srgbClr val="3DC7FF"/>
                </a:solidFill>
                <a:latin typeface="+mj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3200" kern="1200">
                <a:solidFill>
                  <a:srgbClr val="3DC7FF"/>
                </a:solidFill>
                <a:latin typeface="+mj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3200" kern="1200">
                <a:solidFill>
                  <a:srgbClr val="3DC7FF"/>
                </a:solidFill>
                <a:latin typeface="+mj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3200" kern="1200">
                <a:solidFill>
                  <a:srgbClr val="3DC7FF"/>
                </a:solidFill>
                <a:latin typeface="+mj-lt"/>
                <a:ea typeface="+mn-ea"/>
                <a:cs typeface="+mn-cs"/>
              </a:defRPr>
            </a:lvl5pPr>
            <a:lvl6pPr marL="1600200" indent="9144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业务诊断咨询及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系统升级实施项目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54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954745" y="1446367"/>
            <a:ext cx="310983" cy="3693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  <a:endParaRPr lang="en-US" sz="1100"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621008" y="1446530"/>
            <a:ext cx="752094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1F2937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专项方案综述</a:t>
            </a:r>
          </a:p>
        </p:txBody>
      </p:sp>
      <p:sp>
        <p:nvSpPr>
          <p:cNvPr id="7" name="AutoShape 7"/>
          <p:cNvSpPr/>
          <p:nvPr/>
        </p:nvSpPr>
        <p:spPr>
          <a:xfrm>
            <a:off x="11406268" y="1446367"/>
            <a:ext cx="355867" cy="3077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10950" y="2419350"/>
            <a:ext cx="355600" cy="307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06268" y="4586561"/>
            <a:ext cx="355867" cy="3077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954745" y="2412966"/>
            <a:ext cx="365760" cy="3689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73E6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621008" y="2413000"/>
            <a:ext cx="752094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1F2937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方案详解及系统实现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目录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455" y="100951"/>
            <a:ext cx="1930400" cy="38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2954745" y="3479013"/>
            <a:ext cx="365760" cy="3689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21008" y="3479165"/>
            <a:ext cx="752094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配套行动计划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901405" y="4530775"/>
            <a:ext cx="365760" cy="3689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621008" y="4530775"/>
            <a:ext cx="752121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附录：相关文档及原始数据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45" hasCustomPrompt="1"/>
          </p:nvPr>
        </p:nvSpPr>
        <p:spPr>
          <a:xfrm>
            <a:off x="390098" y="389618"/>
            <a:ext cx="1247136" cy="1477328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01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46" hasCustomPrompt="1"/>
          </p:nvPr>
        </p:nvSpPr>
        <p:spPr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专项</a:t>
            </a: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方案综述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采购价格透明化缺失</a:t>
            </a:r>
            <a:r>
              <a:rPr lang="en-US" sz="2800" b="1" i="0" u="none" strike="noStrike">
                <a:solidFill>
                  <a:srgbClr val="0073E6"/>
                </a:solidFill>
                <a:latin typeface="Songti SC"/>
                <a:ea typeface="Songti SC"/>
                <a:cs typeface="Songti SC"/>
                <a:sym typeface="Songti SC"/>
              </a:rPr>
              <a:t>三</a:t>
            </a: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大痛点</a:t>
            </a:r>
            <a:r>
              <a:rPr lang="en-US" sz="2800" b="1" i="0" u="none" strike="noStrike">
                <a:solidFill>
                  <a:srgbClr val="0073E6"/>
                </a:solidFill>
                <a:latin typeface="Songti SC"/>
                <a:ea typeface="Songti SC"/>
                <a:cs typeface="Songti SC"/>
                <a:sym typeface="Songti SC"/>
              </a:rPr>
              <a:t>分析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4130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68400" y="2641600"/>
            <a:ext cx="2794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01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多品牌比价难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3238500"/>
            <a:ext cx="3149600" cy="1841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同一物料存在多个品牌且价格差异显著，但系统无法按品牌维度维护和对比价格。部分物料同一供应商代理多个品牌，需按品牌录入多个价格，现有信息记录无法支撑品牌级比价，导致下单时难以选择最优价格。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24130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978400" y="2641600"/>
            <a:ext cx="2794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02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Biennale"/>
              </a:rPr>
              <a:t>价格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波动监控缺失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21200" y="3238500"/>
            <a:ext cx="3149600" cy="1841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价格波动缺乏系统监控机制，无法与标准成本、历史价格进行自动对比预警。同时缺乏与铜、铝、塑料等大宗原材料行情数据的联动，无法前瞻识别价格波动趋势，导致采购决策滞后，错失最佳采购时机。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2413000"/>
            <a:ext cx="3556000" cy="2794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788400" y="2641600"/>
            <a:ext cx="2794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Biennale"/>
                <a:ea typeface="Biennale"/>
                <a:cs typeface="Biennale"/>
                <a:sym typeface="Biennale"/>
              </a:rPr>
              <a:t>03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Biennale"/>
              </a:rPr>
              <a:t>价格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走势分析不足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31200" y="3238500"/>
            <a:ext cx="3149600" cy="1841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物料价格变更履历查询能力不足，工程师选型时无法直观了解物料历史价格走势。现有SAP标准报表（ME1P/ME1E）仅能查询原始数据，缺乏可视化趋势展示，且未记录调价原因，难以支撑成本分析与选型决策。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0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采购价格透明化与比价分析体系：方案总览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28625" y="6507907"/>
            <a:ext cx="161904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9577" y="1078301"/>
            <a:ext cx="7582000" cy="176841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>
            <a:noAutofit/>
          </a:bodyPr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项目目标：</a:t>
            </a:r>
            <a:endParaRPr lang="en-US" sz="1100"/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建立采购价格多维度比价分析体系，实现同一物料按品牌/供应商价格透明对比。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一期）</a:t>
            </a:r>
            <a:endParaRPr lang="en-US" sz="1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构建价格波动预警机制，实现与标准成本、历史价格的对比监控。                      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一期）</a:t>
            </a:r>
            <a:endParaRPr lang="en-US" sz="1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开发物料价格变更履历查询与趋势可视化报表，支撑选型与成本决策。               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报表一期，可视化看板二期）</a:t>
            </a:r>
            <a:endParaRPr lang="en-US" sz="1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结合大宗行情数据实现价格波动前瞻分析，提升采购决策时效性。                      </a:t>
            </a:r>
            <a:r>
              <a:rPr lang="en-US" sz="10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（接入社会化信息数据，二期实现</a:t>
            </a: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项目方案：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2.1 多品牌比价体系：信息记录品牌维度扩展，品牌价格排序，下单品牌选择  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2.2 价格波动预警：标准成本对比，历史价格对比，异常波动自动预警 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2.3 价格履历与趋势：变更履历查询，三年价格趋势可视化，调价原因记录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2.4 大宗行情联动：大宗数据源接入，行情联动分析，采购时机建议 </a:t>
            </a:r>
          </a:p>
        </p:txBody>
      </p:sp>
      <p:sp>
        <p:nvSpPr>
          <p:cNvPr id="8" name="AutoShape 8"/>
          <p:cNvSpPr/>
          <p:nvPr/>
        </p:nvSpPr>
        <p:spPr>
          <a:xfrm>
            <a:off x="498949" y="3020370"/>
            <a:ext cx="2812522" cy="3076343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>
            <a:noAutofit/>
          </a:bodyPr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indent="0" algn="l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现状：</a:t>
            </a:r>
            <a:endParaRPr lang="en-US" sz="1100"/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同一物料多品牌价格无法在系统内对比。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价格波动依赖人工监控，缺乏自动预警。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大宗行情数据未接入系统，决策靠经验。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历史价格查询仅看原始数据，无趋势图。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信息记录查询报表功能单一，缺货源维度。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主要差距：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价格管理缺少品牌维度标准化治理。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价格波动监控缺少系统自动控制机制。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采购分析缺少可视化与前瞻分析能力。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大宗行情数据缺少系统集成接口。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报表查询缺少多维度关联分析能力。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3564766" y="3009009"/>
            <a:ext cx="4522498" cy="1526230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>
            <a:noAutofit/>
          </a:bodyPr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采购价格：</a:t>
            </a: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由分散维护➡️多维度透明比价</a:t>
            </a:r>
            <a:endParaRPr lang="en-US" sz="1100"/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价格监控：</a:t>
            </a: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由人工核查➡️自动预警+大宗联动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采购决策：</a:t>
            </a: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由经验判断➡️数据驱动选型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采购分析：</a:t>
            </a: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由离线统计➡️实时趋势可视化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569079" y="4669971"/>
            <a:ext cx="4522498" cy="1426743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>
            <a:noAutofit/>
          </a:bodyPr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采购信息记录品牌维度扩展与比价功能</a:t>
            </a:r>
            <a:endParaRPr lang="en-US" sz="1100"/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价格波动预警规则配置与自动推送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物料价格变更履历查询报表开发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价格趋势可视化BI报表建设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大宗行情数据接口集成与联动分析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物料信息记录查询报表优化增强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399872" y="2128930"/>
            <a:ext cx="3282551" cy="1218117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99872" y="3620220"/>
            <a:ext cx="3282551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>
            <a:noAutofit/>
          </a:bodyPr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品牌编码规则需统一确认</a:t>
            </a:r>
            <a:endParaRPr lang="en-US" sz="1100"/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大宗行情数据源需确认对接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BI工具平台需就绪可用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关键用户需全过程参与确认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399872" y="4963779"/>
            <a:ext cx="3282551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>
            <a:noAutofit/>
          </a:bodyPr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采购价格：品牌级价格透明可比</a:t>
            </a:r>
            <a:endParaRPr lang="en-US" sz="1100"/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价格监控：异常波动自动预警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采购决策：历史趋势+大宗行情支撑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采购效率：选型比价时间缩短50%</a:t>
            </a:r>
          </a:p>
          <a:p>
            <a:pPr marL="171450" indent="-17145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采购运营：形成价格分析与趋势预测体系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399872" y="1078301"/>
            <a:ext cx="3282551" cy="84000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主责：招投标中心、供应链中心、研究院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配合：财务管理部、数智化部、制造基地运营中心</a:t>
            </a:r>
          </a:p>
          <a:p>
            <a:pPr marL="0"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外部：SAP实施团队、BI开发团队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562025" y="900920"/>
            <a:ext cx="1039792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 责任部门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562025" y="1985697"/>
            <a:ext cx="1039792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 里程碑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562025" y="3473741"/>
            <a:ext cx="1643023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 风险与项目依赖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62025" y="4789456"/>
            <a:ext cx="210022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 业务价值和数字化指标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773854" y="4535239"/>
            <a:ext cx="137673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 关键任务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763676" y="2913921"/>
            <a:ext cx="1376734" cy="215127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 业务变革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90731" y="2905836"/>
            <a:ext cx="137673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 现状/差距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0731" y="916009"/>
            <a:ext cx="1376734" cy="292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 目标和范围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62642" y="1552755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824823" y="2665562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1964838" y="2363638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518896" y="2403009"/>
            <a:ext cx="1039793" cy="24622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规则确认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>
            <a:off x="8678174" y="3157265"/>
            <a:ext cx="27173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366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28" name="AutoShape 28"/>
          <p:cNvSpPr/>
          <p:nvPr/>
        </p:nvSpPr>
        <p:spPr>
          <a:xfrm>
            <a:off x="8987033" y="3105505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662096" y="3102633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1034366" y="3117011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0662249" y="2402789"/>
            <a:ext cx="1020175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分析报表上线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211812" y="2403009"/>
            <a:ext cx="833143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比价体系上线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652294" y="6599208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3722914" y="31242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0365823" y="3107116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956750" y="2403009"/>
            <a:ext cx="833143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预警机制上线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三大业务价值实现采购价格透明化与决策智能化</a:t>
            </a:r>
            <a:b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</a:b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651000"/>
            <a:ext cx="1016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12700" cap="flat" cmpd="sng">
            <a:solidFill>
              <a:srgbClr val="0C4AD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11200" y="1651000"/>
            <a:ext cx="108204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ap="flat" cmpd="sng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" y="1714500"/>
            <a:ext cx="104140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01</a:t>
            </a: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价格透明化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实现同一物料多品牌价格的透明对比与智能排序，消除品牌价格信息不对称，采购人员可快速获取最优价格信息，为降本增效提供坚实的数据基础。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508000" y="3048000"/>
            <a:ext cx="1016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12700" cap="flat" cmpd="sng">
            <a:solidFill>
              <a:srgbClr val="0C4AD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" y="3048000"/>
            <a:ext cx="108204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ap="flat" cmpd="sng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14400" y="3111500"/>
            <a:ext cx="104140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02</a:t>
            </a: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决策数据化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基于历史价格走势与大宗行情联动分析，将采购决策从经验判断转向数据驱动，工程师选型与采购下单均有实时数据支撑，提升决策科学性。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08000" y="4445000"/>
            <a:ext cx="101600" cy="1143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12700" cap="flat" cmpd="sng">
            <a:solidFill>
              <a:srgbClr val="0C4AD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1200" y="4445000"/>
            <a:ext cx="108204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ap="flat" cmpd="sng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14400" y="4508500"/>
            <a:ext cx="104140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03</a:t>
            </a:r>
            <a:r>
              <a:rPr lang="en-US" sz="18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风险前置化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建立价格波动自动预警机制，从事后人工核查转向事前系统自动预警与事中实时监控，将价格风险拦截在业务发生前端，显著降低采购成本波动风险。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969000" y="5842000"/>
            <a:ext cx="5715000" cy="50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实现从“经验采购”到“数据采购”的决策跃迁，构建透明智能的价格管理体系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90098" y="389618"/>
            <a:ext cx="1463040" cy="14770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</a:p>
        </p:txBody>
      </p:sp>
      <p:sp>
        <p:nvSpPr>
          <p:cNvPr id="5" name="AutoShape 5"/>
          <p:cNvSpPr/>
          <p:nvPr/>
        </p:nvSpPr>
        <p:spPr>
          <a:xfrm>
            <a:off x="1536700" y="1866900"/>
            <a:ext cx="7344410" cy="1245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方案详解及系统实现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3962" y="262243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254000"/>
            <a:ext cx="11176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Songti SC"/>
                <a:ea typeface="Songti SC"/>
                <a:cs typeface="Songti SC"/>
                <a:sym typeface="Songti SC"/>
              </a:rPr>
              <a:t>方案详解及系统实现 — 整体架构与技术路线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787400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SAP S/4HANA 标准功能 + 自定义增强 + 外部集成 + BI 分析的四层架构，支撑四大业务任务落地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244600"/>
            <a:ext cx="533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四大业务任务模块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5334000" cy="990600"/>
          </a:xfrm>
          <a:prstGeom prst="roundRect">
            <a:avLst>
              <a:gd name="adj" fmla="val 10256"/>
            </a:avLst>
          </a:prstGeom>
          <a:solidFill>
            <a:srgbClr val="0073E6">
              <a:alpha val="7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60400" y="1727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任务一 A0196 · 多品牌价格维护与智能比价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" y="20066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MPN制造商物料 + 信息记录品牌维度扩展 + 下单品牌选择排序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" y="2286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技术标签：MPN配置 / PIR增强 / BAdI / 报表优化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" y="2768600"/>
            <a:ext cx="5334000" cy="990600"/>
          </a:xfrm>
          <a:prstGeom prst="roundRect">
            <a:avLst>
              <a:gd name="adj" fmla="val 10256"/>
            </a:avLst>
          </a:prstGeom>
          <a:solidFill>
            <a:srgbClr val="0073E6">
              <a:alpha val="7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" y="28448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任务二 A0195 · 价格波动预警与大宗行情联动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31242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标准成本/历史价格对比预警 + 铜铝塑料行情接入 + 采购时机建议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" y="34036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技术标签：条件技术 / CPI接口 / 预警工作流 / BI分析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3886200"/>
            <a:ext cx="5334000" cy="990600"/>
          </a:xfrm>
          <a:prstGeom prst="roundRect">
            <a:avLst>
              <a:gd name="adj" fmla="val 10256"/>
            </a:avLst>
          </a:prstGeom>
          <a:solidFill>
            <a:srgbClr val="0073E6">
              <a:alpha val="7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" y="39624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任务三 A0193 · 价格变更履历与三年趋势可视化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" y="4241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变更文档完整记录 + 自定义履历查询报表 + BI趋势折线图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" y="45212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技术标签：Change Document / 自定义报表 / BI可视化 / 钻取分析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8000" y="5003800"/>
            <a:ext cx="5334000" cy="990600"/>
          </a:xfrm>
          <a:prstGeom prst="roundRect">
            <a:avLst>
              <a:gd name="adj" fmla="val 10256"/>
            </a:avLst>
          </a:prstGeom>
          <a:solidFill>
            <a:srgbClr val="0073E6">
              <a:alpha val="7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" y="5080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任务四 A0212 · 信息记录报表优化与货源管控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" y="53594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Y_TST报表货源字段增强 + EORD货源清单关联 + 未维护批量导出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" y="5638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技术标签：报表增强 / EORD关联 / 批量导出 / 权限控制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1244600"/>
            <a:ext cx="533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系统实现四层技术架构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1651000"/>
            <a:ext cx="5334000" cy="787400"/>
          </a:xfrm>
          <a:prstGeom prst="roundRect">
            <a:avLst>
              <a:gd name="adj" fmla="val 9677"/>
            </a:avLst>
          </a:prstGeom>
          <a:solidFill>
            <a:srgbClr val="00005C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02400" y="17272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展现层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02400" y="2006600"/>
            <a:ext cx="5029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 GUI · FIORI采购订单 · 自定义报表界面 · BI价格趋势仪表盘 · 预警消息通知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4972499">
            <a:off x="8966200" y="25086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6" name="AutoShape 26"/>
          <p:cNvSpPr/>
          <p:nvPr/>
        </p:nvSpPr>
        <p:spPr>
          <a:xfrm>
            <a:off x="6350000" y="2590800"/>
            <a:ext cx="5334000" cy="787400"/>
          </a:xfrm>
          <a:prstGeom prst="roundRect">
            <a:avLst>
              <a:gd name="adj" fmla="val 9677"/>
            </a:avLst>
          </a:prstGeom>
          <a:solidFill>
            <a:schemeClr val="accent1">
              <a:lumMod val="75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02400" y="2667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502400" y="2946400"/>
            <a:ext cx="5029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标准事务 ME11/ME1P/ME1E/XK01/MM01/MP01 · BAdI增强(ME_PROCESS_PO_CUST) · 自定义程序 · 条件技术配置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4972499">
            <a:off x="8966200" y="34484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30" name="AutoShape 30"/>
          <p:cNvSpPr/>
          <p:nvPr/>
        </p:nvSpPr>
        <p:spPr>
          <a:xfrm>
            <a:off x="6350000" y="3530600"/>
            <a:ext cx="5334000" cy="787400"/>
          </a:xfrm>
          <a:prstGeom prst="roundRect">
            <a:avLst>
              <a:gd name="adj" fmla="val 9677"/>
            </a:avLst>
          </a:prstGeom>
          <a:solidFill>
            <a:schemeClr val="accent5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502400" y="36068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502400" y="3886200"/>
            <a:ext cx="5029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 CPI云集成 · REST API大宗行情接口 · IDoc/RFC · 定时任务批量同步 · 邮件/工作流预警推送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4972499">
            <a:off x="8966200" y="43882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34" name="AutoShape 34"/>
          <p:cNvSpPr/>
          <p:nvPr/>
        </p:nvSpPr>
        <p:spPr>
          <a:xfrm>
            <a:off x="6350000" y="4470400"/>
            <a:ext cx="5334000" cy="787400"/>
          </a:xfrm>
          <a:prstGeom prst="roundRect">
            <a:avLst>
              <a:gd name="adj" fmla="val 9677"/>
            </a:avLst>
          </a:prstGeom>
          <a:solidFill>
            <a:schemeClr val="accent1">
              <a:lumMod val="40000"/>
              <a:lumOff val="6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502400" y="45466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502400" y="4826000"/>
            <a:ext cx="5029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SAP标准表 EINA/EINE/EORD/MARA/MARC · 自定义Z表(行情/预警规则) · CDHDR/CDPOS变更文档 · BI数据模型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350000" y="5461000"/>
            <a:ext cx="5334000" cy="533400"/>
          </a:xfrm>
          <a:prstGeom prst="roundRect">
            <a:avLst>
              <a:gd name="adj" fmla="val 14285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FF9800">
                <a:alpha val="5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502400" y="5537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3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外部系统（二期）：大宗行情数据源 — 铜 / 铝 / 塑料 等原材料实时市场价格，经CPI接口定时同步至SAP自定义表</a:t>
            </a:r>
            <a:endParaRPr lang="en-US" sz="1300" b="1">
              <a:solidFill>
                <a:srgbClr val="0073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1" name="Freeform 3">
            <a:extLst>
              <a:ext uri="{FF2B5EF4-FFF2-40B4-BE49-F238E27FC236}">
                <a16:creationId xmlns:a16="http://schemas.microsoft.com/office/drawing/2014/main" id="{41E77DBA-4674-60AE-0073-EA2F11191A56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AutoShape 54"/>
          <p:cNvSpPr/>
          <p:nvPr/>
        </p:nvSpPr>
        <p:spPr>
          <a:xfrm>
            <a:off x="6350000" y="2844800"/>
            <a:ext cx="5334000" cy="1270000"/>
          </a:xfrm>
          <a:prstGeom prst="roundRect">
            <a:avLst>
              <a:gd name="adj" fmla="val 6000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r>
              <a:rPr lang="en-US">
                <a:sym typeface="Arial" panose="020B0604020202020204"/>
              </a:rPr>
              <a:t> </a:t>
            </a:r>
          </a:p>
        </p:txBody>
      </p:sp>
      <p:sp>
        <p:nvSpPr>
          <p:cNvPr id="2" name="AutoShape 2"/>
          <p:cNvSpPr/>
          <p:nvPr/>
        </p:nvSpPr>
        <p:spPr>
          <a:xfrm>
            <a:off x="508000" y="2286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Songti SC"/>
                <a:ea typeface="Songti SC"/>
                <a:cs typeface="Songti SC"/>
                <a:sym typeface="Songti SC"/>
              </a:rPr>
              <a:t>MPN品牌比价体系系统实现详解（A0196）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660400"/>
            <a:ext cx="1117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SAP 制造商零件编号(MPN)标准功能 + 信息记录品牌维度扩展 + BAdI 下单增强，实现同一物料多品牌价格透明可比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041400"/>
            <a:ext cx="546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数据模型与主数据配置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71600"/>
            <a:ext cx="546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实体关系模型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651000"/>
            <a:ext cx="1117600" cy="660400"/>
          </a:xfrm>
          <a:prstGeom prst="roundRect">
            <a:avLst>
              <a:gd name="adj" fmla="val 11538"/>
            </a:avLst>
          </a:prstGeom>
          <a:solidFill>
            <a:srgbClr val="0073E6">
              <a:alpha val="12000"/>
            </a:srgbClr>
          </a:solidFill>
          <a:ln w="12700" cap="flat" cmpd="sng">
            <a:solidFill>
              <a:srgbClr val="0073E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8800" y="1727200"/>
            <a:ext cx="101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内部物料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58800" y="19558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MARA / MARC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58800" y="2133600"/>
            <a:ext cx="10160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0XXXXXXX1 手机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214580">
            <a:off x="1651198" y="19748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1" name="AutoShape 11"/>
          <p:cNvSpPr/>
          <p:nvPr/>
        </p:nvSpPr>
        <p:spPr>
          <a:xfrm>
            <a:off x="1879600" y="1651000"/>
            <a:ext cx="1117600" cy="660400"/>
          </a:xfrm>
          <a:prstGeom prst="roundRect">
            <a:avLst>
              <a:gd name="adj" fmla="val 11538"/>
            </a:avLst>
          </a:prstGeom>
          <a:solidFill>
            <a:srgbClr val="0073E6">
              <a:alpha val="12000"/>
            </a:srgbClr>
          </a:solidFill>
          <a:ln w="12700" cap="flat" cmpd="sng">
            <a:solidFill>
              <a:srgbClr val="0073E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930400" y="1727200"/>
            <a:ext cx="101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MPN物料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930400" y="19558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MARA(HERS)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930400" y="2133600"/>
            <a:ext cx="10160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AXXXXXXX1 手机-华为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214580">
            <a:off x="3022798" y="19748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6" name="AutoShape 16"/>
          <p:cNvSpPr/>
          <p:nvPr/>
        </p:nvSpPr>
        <p:spPr>
          <a:xfrm>
            <a:off x="3251200" y="1651000"/>
            <a:ext cx="1117600" cy="660400"/>
          </a:xfrm>
          <a:prstGeom prst="roundRect">
            <a:avLst>
              <a:gd name="adj" fmla="val 11538"/>
            </a:avLst>
          </a:prstGeom>
          <a:solidFill>
            <a:schemeClr val="accent1">
              <a:lumMod val="75000"/>
            </a:schemeClr>
          </a:solidFill>
          <a:ln w="12700" cap="flat" cmpd="sng">
            <a:solidFill>
              <a:srgbClr val="2E7D32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302000" y="1727200"/>
            <a:ext cx="101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制造商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302000" y="195580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LFA1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302000" y="2133600"/>
            <a:ext cx="10160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AXXXX1 </a:t>
            </a:r>
            <a:r>
              <a:rPr lang="en-US" sz="800" b="0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华为</a:t>
            </a:r>
            <a:endParaRPr lang="en-US" sz="1100" dirty="0">
              <a:solidFill>
                <a:schemeClr val="bg1"/>
              </a:solidFill>
            </a:endParaRPr>
          </a:p>
        </p:txBody>
      </p:sp>
      <p:cxnSp>
        <p:nvCxnSpPr>
          <p:cNvPr id="20" name="Connector 20"/>
          <p:cNvCxnSpPr/>
          <p:nvPr/>
        </p:nvCxnSpPr>
        <p:spPr>
          <a:xfrm rot="-214580">
            <a:off x="4394398" y="19748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1" name="AutoShape 21"/>
          <p:cNvSpPr/>
          <p:nvPr/>
        </p:nvSpPr>
        <p:spPr>
          <a:xfrm>
            <a:off x="4622800" y="1651000"/>
            <a:ext cx="1219200" cy="660400"/>
          </a:xfrm>
          <a:prstGeom prst="roundRect">
            <a:avLst>
              <a:gd name="adj" fmla="val 11538"/>
            </a:avLst>
          </a:prstGeom>
          <a:solidFill>
            <a:schemeClr val="accent5">
              <a:lumMod val="60000"/>
              <a:lumOff val="40000"/>
            </a:schemeClr>
          </a:solidFill>
          <a:ln w="12700" cap="flat" cmpd="sng">
            <a:solidFill>
              <a:srgbClr val="FF98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73600" y="1727200"/>
            <a:ext cx="1117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采购信息记录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73600" y="1955800"/>
            <a:ext cx="1117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EINA / EINE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673600" y="2133600"/>
            <a:ext cx="11176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品牌+工厂+净价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778000" y="2362200"/>
            <a:ext cx="127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0073E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MP01 关联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08000" y="2667000"/>
            <a:ext cx="546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四步配置路径（标准功能）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08000" y="2946400"/>
            <a:ext cx="5334000" cy="558800"/>
          </a:xfrm>
          <a:prstGeom prst="roundRect">
            <a:avLst>
              <a:gd name="adj" fmla="val 9089"/>
            </a:avLst>
          </a:prstGeom>
          <a:solidFill>
            <a:srgbClr val="0073E6">
              <a:alpha val="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09600" y="3048000"/>
            <a:ext cx="355600" cy="35560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09600" y="3098800"/>
            <a:ext cx="35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66800" y="2997200"/>
            <a:ext cx="4699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XK01 · 创建品牌供应商主数据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066800" y="3225800"/>
            <a:ext cx="4699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预留品牌供应商编码段(AXXXX)，按品牌创建供应商，支持同一供应商代理多品牌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508000" y="3556000"/>
            <a:ext cx="5334000" cy="558800"/>
          </a:xfrm>
          <a:prstGeom prst="roundRect">
            <a:avLst>
              <a:gd name="adj" fmla="val 9089"/>
            </a:avLst>
          </a:prstGeom>
          <a:solidFill>
            <a:srgbClr val="0073E6">
              <a:alpha val="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09600" y="3657600"/>
            <a:ext cx="355600" cy="35560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09600" y="3708400"/>
            <a:ext cx="35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066800" y="3606800"/>
            <a:ext cx="4699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MM01 · 创建MPN制造商物料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066800" y="3835400"/>
            <a:ext cx="4699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物料类型HERS，预留编码段(AXXXXXXX)，启用采购视图和基本视图，关联制造商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08000" y="4165600"/>
            <a:ext cx="5334000" cy="558800"/>
          </a:xfrm>
          <a:prstGeom prst="roundRect">
            <a:avLst>
              <a:gd name="adj" fmla="val 9089"/>
            </a:avLst>
          </a:prstGeom>
          <a:solidFill>
            <a:srgbClr val="0073E6">
              <a:alpha val="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09600" y="4267200"/>
            <a:ext cx="355600" cy="35560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09600" y="4318000"/>
            <a:ext cx="35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1066800" y="4216400"/>
            <a:ext cx="4699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MP01 · 维护制造商零件清单(MPN)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1066800" y="4445000"/>
            <a:ext cx="4699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建立内部物料与多个MPN物料的对应关系，指定工厂和有效期，形成品牌清单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508000" y="4775200"/>
            <a:ext cx="5334000" cy="558800"/>
          </a:xfrm>
          <a:prstGeom prst="roundRect">
            <a:avLst>
              <a:gd name="adj" fmla="val 9089"/>
            </a:avLst>
          </a:prstGeom>
          <a:solidFill>
            <a:srgbClr val="0073E6">
              <a:alpha val="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09600" y="4876800"/>
            <a:ext cx="355600" cy="35560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609600" y="4927600"/>
            <a:ext cx="355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1066800" y="4826000"/>
            <a:ext cx="4699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ME11 · 维护采购信息记录(PIR)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1066800" y="5054600"/>
            <a:ext cx="4699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按MPN物料+品牌供应商+工厂维护净价，实现品牌级价格记录，支持多价格对比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6350000" y="1041400"/>
            <a:ext cx="533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系统增强与报表开发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6350000" y="1371600"/>
            <a:ext cx="5334000" cy="1371600"/>
          </a:xfrm>
          <a:prstGeom prst="roundRect">
            <a:avLst>
              <a:gd name="adj" fmla="val 5555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502400" y="14478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BAdI 增强 · 采购订单品牌选择与价格排序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6502400" y="17272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BAdI定义：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ME_PROCESS_PO_CUST（采购订单处理）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6502400" y="19558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实现方法：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PROCESS_ITEM / CHECK / FIELDSELECTION_ITEM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6451600" y="2184400"/>
            <a:ext cx="5181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PO创建先选品牌 → 按该品牌PIR价格排序 → 自动推荐最优供应商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6502400" y="24130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增强点：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ME21N/ME22N 屏幕增加品牌筛选字段，价格自动排序提示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6502400" y="29210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报表增强 · Y_TST_19000030 / 32 品牌维度扩展</a:t>
            </a:r>
          </a:p>
        </p:txBody>
      </p:sp>
      <p:sp>
        <p:nvSpPr>
          <p:cNvPr id="56" name="AutoShape 56"/>
          <p:cNvSpPr/>
          <p:nvPr/>
        </p:nvSpPr>
        <p:spPr>
          <a:xfrm>
            <a:off x="6502400" y="32004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字段增强：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增加品牌(制造商)、MPN物料号字段显示与筛选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6502400" y="34290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排序功能：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支持按品牌维度价格从低到高/从高到低排序对比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6502400" y="36576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数据来源：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 EINA(信息记录一般数据) + EINE(采购组织数据) + MARA</a:t>
            </a:r>
            <a:endParaRPr lang="en-US" sz="1100"/>
          </a:p>
        </p:txBody>
      </p:sp>
      <p:sp>
        <p:nvSpPr>
          <p:cNvPr id="59" name="AutoShape 59"/>
          <p:cNvSpPr/>
          <p:nvPr/>
        </p:nvSpPr>
        <p:spPr>
          <a:xfrm>
            <a:off x="6502400" y="3886200"/>
            <a:ext cx="5029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输出：ALV网格报表，支持导出Excel、按采购组织/工厂/物料组筛选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6350000" y="4216400"/>
            <a:ext cx="5334000" cy="1117600"/>
          </a:xfrm>
          <a:prstGeom prst="roundRect">
            <a:avLst>
              <a:gd name="adj" fmla="val 6817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r>
              <a:rPr lang="en-US">
                <a:sym typeface="Arial" panose="020B0604020202020204"/>
              </a:rPr>
              <a:t> </a:t>
            </a:r>
          </a:p>
        </p:txBody>
      </p:sp>
      <p:sp>
        <p:nvSpPr>
          <p:cNvPr id="61" name="AutoShape 61"/>
          <p:cNvSpPr/>
          <p:nvPr/>
        </p:nvSpPr>
        <p:spPr>
          <a:xfrm>
            <a:off x="6502400" y="42926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主数据规范 · 物料属性完善与编码治理</a:t>
            </a:r>
          </a:p>
        </p:txBody>
      </p:sp>
      <p:sp>
        <p:nvSpPr>
          <p:cNvPr id="62" name="AutoShape 62"/>
          <p:cNvSpPr/>
          <p:nvPr/>
        </p:nvSpPr>
        <p:spPr>
          <a:xfrm>
            <a:off x="6502400" y="45720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属性扩展：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MARA增加材质、重量、规格等大宗相关属性字段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6502400" y="48006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编码规则：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品牌供应商编码段(AXXXX) + MPN物料编码段(AXXXXXXX)统一确认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6502400" y="50292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数据价值：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为价格波动分析、大宗行情联动提供基础数据维度支撑</a:t>
            </a:r>
            <a:endParaRPr lang="en-US" sz="1100"/>
          </a:p>
        </p:txBody>
      </p:sp>
      <p:sp>
        <p:nvSpPr>
          <p:cNvPr id="65" name="AutoShape 65"/>
          <p:cNvSpPr/>
          <p:nvPr/>
        </p:nvSpPr>
        <p:spPr>
          <a:xfrm>
            <a:off x="508000" y="5588000"/>
            <a:ext cx="11176000" cy="635000"/>
          </a:xfrm>
          <a:prstGeom prst="roundRect">
            <a:avLst>
              <a:gd name="adj" fmla="val 8000"/>
            </a:avLst>
          </a:prstGeom>
          <a:solidFill>
            <a:srgbClr val="00005C">
              <a:alpha val="6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6" name="AutoShape 66"/>
          <p:cNvSpPr/>
          <p:nvPr/>
        </p:nvSpPr>
        <p:spPr>
          <a:xfrm>
            <a:off x="660400" y="5664200"/>
            <a:ext cx="1087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管控价值</a:t>
            </a:r>
            <a:endParaRPr lang="en-US" sz="1100"/>
          </a:p>
        </p:txBody>
      </p:sp>
      <p:sp>
        <p:nvSpPr>
          <p:cNvPr id="67" name="AutoShape 67"/>
          <p:cNvSpPr/>
          <p:nvPr/>
        </p:nvSpPr>
        <p:spPr>
          <a:xfrm>
            <a:off x="660400" y="5892800"/>
            <a:ext cx="1087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充分利用SAP MPN标准功能实现品牌级价格管理，通过BAdI增强实现下单品牌选择与价格自动排序，消除品牌价格信息不对称，采购下单时自动推荐最优价格供应商，降低采购成本。</a:t>
            </a:r>
            <a:endParaRPr lang="en-US" sz="1100"/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70" name="Freeform 3">
            <a:extLst>
              <a:ext uri="{FF2B5EF4-FFF2-40B4-BE49-F238E27FC236}">
                <a16:creationId xmlns:a16="http://schemas.microsoft.com/office/drawing/2014/main" id="{3FB33278-2AAF-C3B7-AC7C-D468912C50A6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2286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Songti SC"/>
                <a:ea typeface="Songti SC"/>
                <a:cs typeface="Songti SC"/>
                <a:sym typeface="Songti SC"/>
              </a:rPr>
              <a:t>价格波动预警与大宗行情联动系统实现详解（A0195）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660400"/>
            <a:ext cx="1117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基于条件技术预警规则 + CPI大宗行情接口 + BI趋势分析，实现价格异常自动识别与采购时机前瞻建议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041400"/>
            <a:ext cx="546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价格波动自动预警机制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71600"/>
            <a:ext cx="5334000" cy="1117600"/>
          </a:xfrm>
          <a:prstGeom prst="roundRect">
            <a:avLst>
              <a:gd name="adj" fmla="val 6817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60400" y="14478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预警规则引擎（条件技术配置）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" y="17272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基于SAP条件技术(Condition Technique)配置预警规则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" y="19558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阈值参数：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超差幅度(%)、金额差、波动频率，按物料组/采购组织差异化配置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" y="21844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规则存储：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自定义表 Z*_WARN_RULE，后台配置，支持有效期管理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2590800"/>
            <a:ext cx="5334000" cy="1803400"/>
          </a:xfrm>
          <a:prstGeom prst="roundRect">
            <a:avLst>
              <a:gd name="adj" fmla="val 4224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r>
              <a:rPr lang="en-US">
                <a:sym typeface="Arial" panose="020B0604020202020204"/>
              </a:rPr>
              <a:t> 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60400" y="26670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三类预警场景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60400" y="2971800"/>
            <a:ext cx="4724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标准成本对比：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采购净价 vs 物料标准成本，超差幅度达阈值自动预警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" y="3276600"/>
            <a:ext cx="4724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历史价格对比：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当前价 vs 历史均价/最近采购价，波动幅度超阈值自动预警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" y="3606800"/>
            <a:ext cx="4724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大宗行情联动：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物料价 vs 铜/铝/塑料行情，前瞻识别波动趋势（二期）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" y="3911600"/>
            <a:ext cx="5029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数据基础：ME1P(采购信息记录价格历史) / ME1E(配额安排价格历史) 标准报表作为数据源，结合自定义预警程序定时扫描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08000" y="4495800"/>
            <a:ext cx="5334000" cy="965200"/>
          </a:xfrm>
          <a:prstGeom prst="roundRect">
            <a:avLst>
              <a:gd name="adj" fmla="val 7894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r>
              <a:rPr lang="en-US">
                <a:sym typeface="Arial" panose="020B0604020202020204"/>
              </a:rPr>
              <a:t> 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60400" y="45720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预警推送机制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60400" y="48514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推送渠道：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邮件通知 + 工作流审批 + 系统消息中心 + FIORI实时通知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" y="50800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接收对象：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采购员、采购经理、成本分析师，按采购组织/物料组路由分发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1041400"/>
            <a:ext cx="533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大宗行情数据接入与联动分析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1371600"/>
            <a:ext cx="5334000" cy="1524000"/>
          </a:xfrm>
          <a:prstGeom prst="roundRect">
            <a:avLst>
              <a:gd name="adj" fmla="val 5000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502400" y="14478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CPI 云集成接口架构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02400" y="1803400"/>
            <a:ext cx="1371600" cy="482600"/>
          </a:xfrm>
          <a:prstGeom prst="roundRect">
            <a:avLst>
              <a:gd name="adj" fmla="val 10526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solidFill>
              <a:srgbClr val="FF98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02400" y="1879600"/>
            <a:ext cx="1371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外部行情源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502400" y="2082800"/>
            <a:ext cx="13716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铜/铝/塑料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90788">
            <a:off x="7899576" y="20383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33" name="AutoShape 33"/>
          <p:cNvSpPr/>
          <p:nvPr/>
        </p:nvSpPr>
        <p:spPr>
          <a:xfrm>
            <a:off x="8153400" y="1803400"/>
            <a:ext cx="1371600" cy="482600"/>
          </a:xfrm>
          <a:prstGeom prst="roundRect">
            <a:avLst>
              <a:gd name="adj" fmla="val 10526"/>
            </a:avLst>
          </a:prstGeom>
          <a:solidFill>
            <a:srgbClr val="0073E6">
              <a:alpha val="15000"/>
            </a:srgbClr>
          </a:solidFill>
          <a:ln w="12700" cap="flat" cmpd="sng">
            <a:solidFill>
              <a:srgbClr val="0073E6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153400" y="1879600"/>
            <a:ext cx="1371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 CPI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153400" y="2082800"/>
            <a:ext cx="13716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REST/JSON转换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190788">
            <a:off x="9550576" y="20383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37" name="AutoShape 37"/>
          <p:cNvSpPr/>
          <p:nvPr/>
        </p:nvSpPr>
        <p:spPr>
          <a:xfrm>
            <a:off x="9804400" y="1803400"/>
            <a:ext cx="1727200" cy="482600"/>
          </a:xfrm>
          <a:prstGeom prst="roundRect">
            <a:avLst>
              <a:gd name="adj" fmla="val 10526"/>
            </a:avLst>
          </a:prstGeom>
          <a:solidFill>
            <a:schemeClr val="accent5">
              <a:lumMod val="40000"/>
              <a:lumOff val="60000"/>
            </a:schemeClr>
          </a:solidFill>
          <a:ln w="12700" cap="flat" cmpd="sng">
            <a:solidFill>
              <a:srgbClr val="2E7D32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804400" y="1879600"/>
            <a:ext cx="1727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S/4HANA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804400" y="2082800"/>
            <a:ext cx="1727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Z*自定义表存储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502400" y="2413000"/>
            <a:ext cx="5029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接口方式：REST API + JSON格式；同步频率：每日定时批量同步(凌晨批次)；异常处理：CPI重试机制 + 失败邮件告警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350000" y="2997200"/>
            <a:ext cx="5334000" cy="1168400"/>
          </a:xfrm>
          <a:prstGeom prst="roundRect">
            <a:avLst>
              <a:gd name="adj" fmla="val 6521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r>
              <a:rPr lang="en-US">
                <a:sym typeface="Arial" panose="020B0604020202020204"/>
              </a:rPr>
              <a:t> </a:t>
            </a:r>
          </a:p>
        </p:txBody>
      </p:sp>
      <p:sp>
        <p:nvSpPr>
          <p:cNvPr id="42" name="AutoShape 42"/>
          <p:cNvSpPr/>
          <p:nvPr/>
        </p:nvSpPr>
        <p:spPr>
          <a:xfrm>
            <a:off x="6502400" y="30734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行情数据存储模型</a:t>
            </a:r>
          </a:p>
        </p:txBody>
      </p:sp>
      <p:sp>
        <p:nvSpPr>
          <p:cNvPr id="43" name="AutoShape 43"/>
          <p:cNvSpPr/>
          <p:nvPr/>
        </p:nvSpPr>
        <p:spPr>
          <a:xfrm>
            <a:off x="6502400" y="33528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自定义表：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Z*_COMMODITY_PRICE（大宗原材料行情价格表）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6502400" y="35814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关键字段：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原材料类型、日期、开盘价、收盘价、均价、日涨跌幅、数据来源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6502400" y="38100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关联映射：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物料主数据材质字段 → 原材料类型映射表 Z*_MATL_COMM_MAP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6350000" y="4267200"/>
            <a:ext cx="5334000" cy="1193800"/>
          </a:xfrm>
          <a:prstGeom prst="roundRect">
            <a:avLst>
              <a:gd name="adj" fmla="val 6382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r>
              <a:rPr lang="en-US">
                <a:sym typeface="Arial" panose="020B0604020202020204"/>
              </a:rPr>
              <a:t> </a:t>
            </a:r>
          </a:p>
        </p:txBody>
      </p:sp>
      <p:sp>
        <p:nvSpPr>
          <p:cNvPr id="47" name="AutoShape 47"/>
          <p:cNvSpPr/>
          <p:nvPr/>
        </p:nvSpPr>
        <p:spPr>
          <a:xfrm>
            <a:off x="6502400" y="43434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行情联动分析与采购时机建议</a:t>
            </a:r>
          </a:p>
        </p:txBody>
      </p:sp>
      <p:sp>
        <p:nvSpPr>
          <p:cNvPr id="48" name="AutoShape 48"/>
          <p:cNvSpPr/>
          <p:nvPr/>
        </p:nvSpPr>
        <p:spPr>
          <a:xfrm>
            <a:off x="6502400" y="46228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相关性分析：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物料价格波动 vs 大宗行情走势，计算相关系数与滞后周期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502400" y="48514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采购时机：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行情低位提示增加采购量/锁价，高位提示减少库存/按需采购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6502400" y="50800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输出展现：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BI价格趋势仪表盘 + 采购时机建议报表 + 前瞻预警通知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508000" y="5613400"/>
            <a:ext cx="11176000" cy="635000"/>
          </a:xfrm>
          <a:prstGeom prst="roundRect">
            <a:avLst>
              <a:gd name="adj" fmla="val 8000"/>
            </a:avLst>
          </a:prstGeom>
          <a:solidFill>
            <a:srgbClr val="00005C">
              <a:alpha val="6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660400" y="5689600"/>
            <a:ext cx="1087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管控价值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660400" y="5918200"/>
            <a:ext cx="1087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实现价格异常波动自动识别与多渠道预警推送，将风险拦截在业务前端；通过CPI接入大宗行情数据，实现前瞻分析与采购时机建议，把握最佳采购窗口，降低原材料价格波动风险。</a:t>
            </a:r>
            <a:endParaRPr lang="en-US" sz="1100"/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13" name="Freeform 3">
            <a:extLst>
              <a:ext uri="{FF2B5EF4-FFF2-40B4-BE49-F238E27FC236}">
                <a16:creationId xmlns:a16="http://schemas.microsoft.com/office/drawing/2014/main" id="{F5116B6B-A78A-F252-B9EA-6EAB36365596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2286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Songti SC"/>
                <a:ea typeface="Songti SC"/>
                <a:cs typeface="Songti SC"/>
                <a:sym typeface="Songti SC"/>
              </a:rPr>
              <a:t>价格变更履历与三年趋势可视化系统实现详解（A0193）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660400"/>
            <a:ext cx="1117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SAP Change Document 变更文档 + 自定义履历查询报表 + BI 趋势可视化，实现价格全生命周期可追溯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041400"/>
            <a:ext cx="546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变更文档技术架构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71600"/>
            <a:ext cx="5334000" cy="1270000"/>
          </a:xfrm>
          <a:prstGeom prst="roundRect">
            <a:avLst>
              <a:gd name="adj" fmla="val 6000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60400" y="14478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 Change Document 变更文档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" y="17272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激活对象：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EINE(采购信息记录采购组织数据) 净价(NETPR)字段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" y="19558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变更对象：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OBJECTCLAS = 'EINKBELEG'（采购凭证），信息记录变更自动记录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" y="21844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记录内容：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变更前后值、变更日期时间、变更人、事务码、变更类型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" y="2413000"/>
            <a:ext cx="5029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配置路径：SCDO 变更文档对象 → SE11 数据元素勾选"更改文档" → ME12变更自动写入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2743200"/>
            <a:ext cx="5334000" cy="1651000"/>
          </a:xfrm>
          <a:prstGeom prst="roundRect">
            <a:avLst>
              <a:gd name="adj" fmla="val 4614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" y="28194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CDHDR / CDPOS 变更文档表结构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60400" y="31242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CDHDR（变更文档抬头）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" y="3327400"/>
            <a:ext cx="5029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关键字段：MANDANT(客户端) / OBJECTCLAS(对象类) / OBJECTID(对象值) / CHANGENR(变更编号) / UDATE(日期) / UTIME(时间) / USERNAME(用户) / TCODE(事务)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" y="37592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CDPOS（变更文档行项）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" y="3962400"/>
            <a:ext cx="5029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关键字段：TABNAME(表名) / FIELDNAME(字段名) / VALUE_OLD(旧值) / VALUE_NEW(新值) / CHNGIND(变更类型 U=修改/D=删除/I=新增)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8000" y="4495800"/>
            <a:ext cx="5334000" cy="965200"/>
          </a:xfrm>
          <a:prstGeom prst="roundRect">
            <a:avLst>
              <a:gd name="adj" fmla="val 789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FF9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" y="45720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三年历史数据采集策略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60400" y="48514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数据来源：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ME1P/ME1E标准报表 + CDHDR/CDPOS变更文档回溯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" y="50800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补充字段：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调价原因（自定义字段，ME12变更时必填，关联变更编号）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1041400"/>
            <a:ext cx="533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自定义报表与BI可视化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1371600"/>
            <a:ext cx="5334000" cy="1371600"/>
          </a:xfrm>
          <a:prstGeom prst="roundRect">
            <a:avLst>
              <a:gd name="adj" fmla="val 5555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02400" y="14478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价格变更履历查询报表（自定义ABAP）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02400" y="17272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ABAP自定义程序 + ALV网格输出，事务码Z*分配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502400" y="19558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筛选条件：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物料/供应商/采购组织/工厂/日期范围/品牌/变更人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02400" y="21844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输出字段：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物料、供应商、旧价、新价、变动幅度%、变更日期、变更人、调价原因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02400" y="24130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支持导出Excel、按变动幅度排序、权限按采购组织/工厂控制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50000" y="2844800"/>
            <a:ext cx="5334000" cy="1574800"/>
          </a:xfrm>
          <a:prstGeom prst="roundRect">
            <a:avLst>
              <a:gd name="adj" fmla="val 4838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02400" y="29210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 价格趋势可视化架构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502400" y="32004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BI平台：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 BW / Analytics Cloud 或第三方BI工具（PowerBI/Tableau）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502400" y="34290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数据源：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CDHDR/CDPOS变更文档 + EINE信息记录 + 自定义调价原因表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502400" y="36576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图表类型：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折线图(价格趋势) / 柱状图(变动幅度对比) / 散点图(价格分布)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502400" y="38862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交互功能：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时间范围筛选、物料下钻、品牌对比、同比环比、数据导出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502400" y="41148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数据模型：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DSO(变更明细) → Cube(价格趋势) → Query(报表展示) → Dashboard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350000" y="4521200"/>
            <a:ext cx="5334000" cy="939800"/>
          </a:xfrm>
          <a:prstGeom prst="roundRect">
            <a:avLst>
              <a:gd name="adj" fmla="val 8107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FF9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502400" y="45974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工程师选型决策数据支撑</a:t>
            </a:r>
          </a:p>
        </p:txBody>
      </p:sp>
      <p:sp>
        <p:nvSpPr>
          <p:cNvPr id="37" name="AutoShape 37"/>
          <p:cNvSpPr/>
          <p:nvPr/>
        </p:nvSpPr>
        <p:spPr>
          <a:xfrm>
            <a:off x="6502400" y="48768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应用场景：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工程师物料选型时快速查阅历史价格走势，辅助成本估算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502400" y="51054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集成方式：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FIORI采购应用嵌入价格趋势Widget / 工程师门户链接BI报表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508000" y="5613400"/>
            <a:ext cx="11176000" cy="635000"/>
          </a:xfrm>
          <a:prstGeom prst="roundRect">
            <a:avLst>
              <a:gd name="adj" fmla="val 8000"/>
            </a:avLst>
          </a:prstGeom>
          <a:solidFill>
            <a:srgbClr val="00005C">
              <a:alpha val="6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60400" y="5689600"/>
            <a:ext cx="1087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管控价值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60400" y="5918200"/>
            <a:ext cx="1087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利用SAP标准Change Document记录价格变更痕迹，自定义报表实现多条件履历查询，BI实现三年价格趋势可视化，为选型、成本分析和采购决策提供数据支撑，实现价格全生命周期可追溯。</a:t>
            </a:r>
            <a:endParaRPr lang="en-US" sz="1100"/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4" name="Freeform 3">
            <a:extLst>
              <a:ext uri="{FF2B5EF4-FFF2-40B4-BE49-F238E27FC236}">
                <a16:creationId xmlns:a16="http://schemas.microsoft.com/office/drawing/2014/main" id="{0F7E695F-E80D-3215-D196-5C4289BF8748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2286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Songti SC"/>
                <a:ea typeface="Songti SC"/>
                <a:cs typeface="Songti SC"/>
                <a:sym typeface="Songti SC"/>
              </a:rPr>
              <a:t>信息记录报表增强与货源管控系统实现详解（A0212）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660400"/>
            <a:ext cx="1117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Y_TST_19000030 报表增强 + EORD 货源清单关联 + 批量导出功能，实现货源管控状态可视化与闭环管理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041400"/>
            <a:ext cx="546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报表增强技术方案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71600"/>
            <a:ext cx="5334000" cy="1143000"/>
          </a:xfrm>
          <a:prstGeom prst="roundRect">
            <a:avLst>
              <a:gd name="adj" fmla="val 6666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60400" y="14478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Y_TST_19000030 报表现状分析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" y="17272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现有功能：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物料信息记录查询，按物料/供应商/采购组织筛选，ALV输出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" y="19558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现有字段：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物料、供应商、采购组织、工厂、净价、有效期、条件类型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" y="2184400"/>
            <a:ext cx="5029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C8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不足：缺少货源管控标识、货源清单状态，无法批量识别未维护清单的供应商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2514600"/>
            <a:ext cx="5334000" cy="1498600"/>
          </a:xfrm>
          <a:prstGeom prst="roundRect">
            <a:avLst>
              <a:gd name="adj" fmla="val 508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25908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新增字段设计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60400" y="28702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货源管控标识：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物料是否做货源管控（来源MARC-SOBKZ特殊库存标识）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" y="30988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货源清单状态：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是否已维护货源清单（关联EORD表，已维护/未维护）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" y="33274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货源清单数量：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该物料+工厂维护的货源清单条目数（EORD计数）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" y="35560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固定供应商标识：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货源清单中是否有固定供应商（EORD-FLBKZ）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" y="3784600"/>
            <a:ext cx="5029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所有新增字段支持ALV显示、筛选、排序和导出，字段技术名以Z*前缀命名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8000" y="4114800"/>
            <a:ext cx="5334000" cy="1422400"/>
          </a:xfrm>
          <a:prstGeom prst="roundRect">
            <a:avLst>
              <a:gd name="adj" fmla="val 5356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FF9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" y="41910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EORD 货源清单关联逻辑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60400" y="44704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关联条件：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MATNR(物料号) + WERKS(工厂) 关联 EORD 表主键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" y="46990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关联表链：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EORD(货源清单) → EKORG(采购组织) → LIFNR(供应商)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" y="49276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实时查询：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报表运行时动态关联EORD，实时获取货源维护状态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0400" y="51562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性能优化：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FOR ALL ENTRIES批量查询 + 数据库视图ZV_EORD_STAT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" y="5359400"/>
            <a:ext cx="5029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有效期控制：仅统计当前有效的货源清单（EORD-VDATU ≤ 今日 ≤ EORD-BDATU）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1041400"/>
            <a:ext cx="533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批量导出与权限控制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1371600"/>
            <a:ext cx="5334000" cy="1371600"/>
          </a:xfrm>
          <a:prstGeom prst="roundRect">
            <a:avLst>
              <a:gd name="adj" fmla="val 5555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02400" y="14478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未维护货源清单批量导出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02400" y="17272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功能逻辑：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筛选货源管控=是 且 货源清单状态=未维护 的物料+供应商组合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502400" y="19558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输出字段：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物料、描述、供应商、描述、采购组织、工厂、管控标识、状态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02400" y="21844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业务用途：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批量识别未维护货源清单的供应商，推动货源管理规范化闭环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02400" y="24130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ALV自定义按钮 + GUI_DOWNLOAD方法导出Excel，支持自定义文件名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350000" y="2844800"/>
            <a:ext cx="5334000" cy="1371600"/>
          </a:xfrm>
          <a:prstGeom prst="roundRect">
            <a:avLst>
              <a:gd name="adj" fmla="val 555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502400" y="29210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多维度查询优化（参考ZMR12）</a:t>
            </a:r>
          </a:p>
        </p:txBody>
      </p:sp>
      <p:sp>
        <p:nvSpPr>
          <p:cNvPr id="33" name="AutoShape 33"/>
          <p:cNvSpPr/>
          <p:nvPr/>
        </p:nvSpPr>
        <p:spPr>
          <a:xfrm>
            <a:off x="6502400" y="32004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物料维度：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物料号/物料组/物料描述模糊查询，支持范围选择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502400" y="34290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供应商维度：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供应商编码/供应商名称查询，支持采购组织范围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502400" y="36576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货源维度：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货源管控标识/货源清单状态/固定供应商标识筛选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502400" y="38862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组合筛选：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多维度组合条件查询，结果支持按任意字段排序和布局保存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350000" y="4318000"/>
            <a:ext cx="5334000" cy="1143000"/>
          </a:xfrm>
          <a:prstGeom prst="roundRect">
            <a:avLst>
              <a:gd name="adj" fmla="val 6666"/>
            </a:avLst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FF98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502400" y="4394200"/>
            <a:ext cx="5029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权限精细化控制</a:t>
            </a:r>
          </a:p>
        </p:txBody>
      </p:sp>
      <p:sp>
        <p:nvSpPr>
          <p:cNvPr id="39" name="AutoShape 39"/>
          <p:cNvSpPr/>
          <p:nvPr/>
        </p:nvSpPr>
        <p:spPr>
          <a:xfrm>
            <a:off x="6502400" y="46736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权限维度：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基于采购组织(EKORG)、工厂(WERKS)进行查询权限检查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502400" y="49022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授权对象：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M_EINK_FRG(采购凭证) / M_MATE_WERKS(物料工厂权限)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502400" y="51308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敏感字段：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价格字段对非授权用户隐藏或脱敏显示，AT CHECK权限校验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508000" y="5638800"/>
            <a:ext cx="11176000" cy="711200"/>
          </a:xfrm>
          <a:prstGeom prst="roundRect">
            <a:avLst>
              <a:gd name="adj" fmla="val 7142"/>
            </a:avLst>
          </a:prstGeom>
          <a:solidFill>
            <a:srgbClr val="00005C">
              <a:alpha val="6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60400" y="5715000"/>
            <a:ext cx="1087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管控价值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660400" y="5943600"/>
            <a:ext cx="10871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通过Y_TST_19000030报表增强货源管控字段，关联EORD表实时查询货源状态，实现货源管控可视化；批量导出未维护货源清单的供应商，推动货源管理规范化与闭环，提升采购合规性和信息记录查询效率。</a:t>
            </a:r>
            <a:endParaRPr lang="en-US" sz="1100"/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7" name="Freeform 3">
            <a:extLst>
              <a:ext uri="{FF2B5EF4-FFF2-40B4-BE49-F238E27FC236}">
                <a16:creationId xmlns:a16="http://schemas.microsoft.com/office/drawing/2014/main" id="{C82B0139-202F-4E27-F0E8-8FE4F5D925B1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90098" y="389618"/>
            <a:ext cx="1463040" cy="14770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86890" y="1866900"/>
            <a:ext cx="7094220" cy="113157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配套行动计划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3962" y="2622430"/>
            <a:ext cx="12700" cy="127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508000" y="2286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配套行动计划 — 实施路径与里程碑计划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660400"/>
            <a:ext cx="1117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分两期实施：一期聚焦四大任务核心功能上线，二期扩展大宗行情联动与BI深化应用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016000"/>
            <a:ext cx="2667000" cy="304800"/>
          </a:xfrm>
          <a:prstGeom prst="roundRect">
            <a:avLst>
              <a:gd name="adj" fmla="val 16666"/>
            </a:avLst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1041400"/>
            <a:ext cx="2667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一期：核心功能建设与上线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407">
            <a:off x="1270004" y="15430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841500" y="1473200"/>
            <a:ext cx="152400" cy="152400"/>
          </a:xfrm>
          <a:prstGeom prst="ellipse">
            <a:avLst/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08500" y="1473200"/>
            <a:ext cx="152400" cy="152400"/>
          </a:xfrm>
          <a:prstGeom prst="ellipse">
            <a:avLst/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175500" y="1473200"/>
            <a:ext cx="152400" cy="152400"/>
          </a:xfrm>
          <a:prstGeom prst="ellipse">
            <a:avLst/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033000" y="1473200"/>
            <a:ext cx="152400" cy="152400"/>
          </a:xfrm>
          <a:prstGeom prst="ellipse">
            <a:avLst/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98500" y="1701800"/>
            <a:ext cx="2476500" cy="914400"/>
          </a:xfrm>
          <a:prstGeom prst="roundRect">
            <a:avLst>
              <a:gd name="adj" fmla="val 8333"/>
            </a:avLst>
          </a:prstGeom>
          <a:solidFill>
            <a:srgbClr val="0073E6">
              <a:alpha val="8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00100" y="1778000"/>
            <a:ext cx="22733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需求与规则确认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" y="2032000"/>
            <a:ext cx="22733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品牌编码规则确认 · 预警阈值定义 · 权限规则梳理 · 关键用户访谈 · FS签署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365500" y="1701800"/>
            <a:ext cx="2476500" cy="914400"/>
          </a:xfrm>
          <a:prstGeom prst="roundRect">
            <a:avLst>
              <a:gd name="adj" fmla="val 8333"/>
            </a:avLst>
          </a:prstGeom>
          <a:solidFill>
            <a:srgbClr val="0073E6">
              <a:alpha val="8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467100" y="1778000"/>
            <a:ext cx="22733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配置与开发实现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467100" y="2032000"/>
            <a:ext cx="22733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MPN配置 · PIR品牌字段扩展 · BAdI开发 · 自定义报表 · 预警规则配置 · Change Document激活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032500" y="1701800"/>
            <a:ext cx="2476500" cy="914400"/>
          </a:xfrm>
          <a:prstGeom prst="roundRect">
            <a:avLst>
              <a:gd name="adj" fmla="val 8333"/>
            </a:avLst>
          </a:prstGeom>
          <a:solidFill>
            <a:srgbClr val="0073E6">
              <a:alpha val="8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134100" y="1778000"/>
            <a:ext cx="22733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SIT/UAT测试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134100" y="2032000"/>
            <a:ext cx="22733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集成测试SIT · 用户验收UAT · 缺陷修复 · 权限测试 · 性能验证 · 关键用户确认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699500" y="1701800"/>
            <a:ext cx="2667000" cy="914400"/>
          </a:xfrm>
          <a:prstGeom prst="roundRect">
            <a:avLst>
              <a:gd name="adj" fmla="val 8333"/>
            </a:avLst>
          </a:prstGeom>
          <a:solidFill>
            <a:srgbClr val="0073E6">
              <a:alpha val="8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801100" y="1778000"/>
            <a:ext cx="2463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培训与上线切换</a:t>
            </a:r>
          </a:p>
        </p:txBody>
      </p:sp>
      <p:sp>
        <p:nvSpPr>
          <p:cNvPr id="23" name="AutoShape 23"/>
          <p:cNvSpPr/>
          <p:nvPr/>
        </p:nvSpPr>
        <p:spPr>
          <a:xfrm>
            <a:off x="8801100" y="2032000"/>
            <a:ext cx="2463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最终用户培训 · 操作手册交付 · 数据迁移 · 上线切换 · 超现场支持 · 一期投产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98500" y="2717800"/>
            <a:ext cx="1066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一期里程碑：M1需求</a:t>
            </a:r>
            <a:r>
              <a:rPr lang="zh-CN" alt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确认</a:t>
            </a: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M2开发完成→ M3 UAT通过 → M4一期上线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08000" y="3048000"/>
            <a:ext cx="2794000" cy="304800"/>
          </a:xfrm>
          <a:prstGeom prst="roundRect">
            <a:avLst>
              <a:gd name="adj" fmla="val 16666"/>
            </a:avLst>
          </a:prstGeom>
          <a:solidFill>
            <a:schemeClr val="accent5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381000" y="3048000"/>
            <a:ext cx="279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二期：大宗行情联动与BI深化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4407">
            <a:off x="1270004" y="3575050"/>
            <a:ext cx="9906000" cy="12700"/>
          </a:xfrm>
          <a:prstGeom prst="straightConnector1">
            <a:avLst/>
          </a:prstGeom>
          <a:solidFill>
            <a:srgbClr val="0073E6">
              <a:alpha val="8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</p:cxnSp>
      <p:sp>
        <p:nvSpPr>
          <p:cNvPr id="28" name="AutoShape 28"/>
          <p:cNvSpPr/>
          <p:nvPr/>
        </p:nvSpPr>
        <p:spPr>
          <a:xfrm>
            <a:off x="2540000" y="3505200"/>
            <a:ext cx="152400" cy="152400"/>
          </a:xfrm>
          <a:prstGeom prst="ellipse">
            <a:avLst/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096000" y="3505200"/>
            <a:ext cx="152400" cy="152400"/>
          </a:xfrm>
          <a:prstGeom prst="ellipse">
            <a:avLst/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9779000" y="3505200"/>
            <a:ext cx="152400" cy="152400"/>
          </a:xfrm>
          <a:prstGeom prst="ellipse">
            <a:avLst/>
          </a:pr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98500" y="3733800"/>
            <a:ext cx="3683000" cy="914400"/>
          </a:xfrm>
          <a:prstGeom prst="roundRect">
            <a:avLst>
              <a:gd name="adj" fmla="val 8333"/>
            </a:avLst>
          </a:prstGeom>
          <a:solidFill>
            <a:srgbClr val="0073E6">
              <a:alpha val="8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00100" y="3810000"/>
            <a:ext cx="3479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大宗行情数据源对接与CPI开发</a:t>
            </a:r>
          </a:p>
        </p:txBody>
      </p:sp>
      <p:sp>
        <p:nvSpPr>
          <p:cNvPr id="33" name="AutoShape 33"/>
          <p:cNvSpPr/>
          <p:nvPr/>
        </p:nvSpPr>
        <p:spPr>
          <a:xfrm>
            <a:off x="800100" y="4064000"/>
            <a:ext cx="3479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数据源选型与商务谈判 · CPI接口开发联调 · 自定义行情表构建 · 定时同步任务配置 · 异常处理机制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635500" y="3733800"/>
            <a:ext cx="3683000" cy="914400"/>
          </a:xfrm>
          <a:prstGeom prst="roundRect">
            <a:avLst>
              <a:gd name="adj" fmla="val 8333"/>
            </a:avLst>
          </a:prstGeom>
          <a:solidFill>
            <a:srgbClr val="0073E6">
              <a:alpha val="8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4737100" y="3810000"/>
            <a:ext cx="3479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BI数据模型与仪表盘建设</a:t>
            </a:r>
          </a:p>
        </p:txBody>
      </p:sp>
      <p:sp>
        <p:nvSpPr>
          <p:cNvPr id="36" name="AutoShape 36"/>
          <p:cNvSpPr/>
          <p:nvPr/>
        </p:nvSpPr>
        <p:spPr>
          <a:xfrm>
            <a:off x="4737100" y="4064000"/>
            <a:ext cx="3479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BI数据模型设计(DSO/Cube) · 价格趋势折线图 · 变动幅度对比图 · 采购时机建议仪表盘 · 权限发布配置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572500" y="3733800"/>
            <a:ext cx="2794000" cy="914400"/>
          </a:xfrm>
          <a:prstGeom prst="roundRect">
            <a:avLst>
              <a:gd name="adj" fmla="val 8333"/>
            </a:avLst>
          </a:prstGeom>
          <a:solidFill>
            <a:srgbClr val="0073E6">
              <a:alpha val="8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8674100" y="3810000"/>
            <a:ext cx="2590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优化推广与全量上线</a:t>
            </a:r>
          </a:p>
        </p:txBody>
      </p:sp>
      <p:sp>
        <p:nvSpPr>
          <p:cNvPr id="39" name="AutoShape 39"/>
          <p:cNvSpPr/>
          <p:nvPr/>
        </p:nvSpPr>
        <p:spPr>
          <a:xfrm>
            <a:off x="8674100" y="4064000"/>
            <a:ext cx="2590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二期UAT测试 · 用户深化培训 · 全工厂推广 · 运行监控优化 · 持续改进机制 · 项目验收交付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98500" y="4749800"/>
            <a:ext cx="1066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二期里程碑：M5数据源对接完成→ M6 BI仪表盘上线→ M7全量推广验收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508000" y="5080000"/>
            <a:ext cx="11176000" cy="1219200"/>
          </a:xfrm>
          <a:prstGeom prst="roundRect">
            <a:avLst>
              <a:gd name="adj" fmla="val 6250"/>
            </a:avLst>
          </a:prstGeom>
          <a:solidFill>
            <a:srgbClr val="00005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660400" y="5156200"/>
            <a:ext cx="1087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实施策略说明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60400" y="5410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敏捷迭代：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小步快跑快速验证，一期优先交付高价值核心功能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660400" y="56388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标准优先：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最大化利用SAP标准功能，最小化自定义开发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660400" y="58674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用户参与：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关键用户全程参与需求确认、测试验证和培训推广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6223000" y="5410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二期前置：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大宗行情数据源商务谈判启动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6223000" y="56388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质量门禁：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每个里程碑设置质量门禁，未通过不进入下一阶段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6223000" y="58674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知识转移：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开发过程同步进行运维知识转移，确保上线后自主运维</a:t>
            </a:r>
            <a:endParaRPr lang="en-US" sz="1100"/>
          </a:p>
        </p:txBody>
      </p:sp>
      <p:pic>
        <p:nvPicPr>
          <p:cNvPr id="49" name="Picture 4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0" name="Freeform 3">
            <a:extLst>
              <a:ext uri="{FF2B5EF4-FFF2-40B4-BE49-F238E27FC236}">
                <a16:creationId xmlns:a16="http://schemas.microsoft.com/office/drawing/2014/main" id="{52259DD3-8820-9001-4E5B-5763004EB6B8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508000" y="2286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配套行动计划 — 组织架构与责任分工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660400"/>
            <a:ext cx="1117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建立"指导委员会-项目管理办公室-专业工作组"三级项目组织，明确各部门RACI责任分工，确保项目高效协同推进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0414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项目组织架构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397000"/>
            <a:ext cx="3302000" cy="558800"/>
          </a:xfrm>
          <a:prstGeom prst="roundRect">
            <a:avLst>
              <a:gd name="adj" fmla="val 13636"/>
            </a:avLst>
          </a:prstGeom>
          <a:solidFill>
            <a:srgbClr val="00005C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1473200"/>
            <a:ext cx="330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项目指导委员会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1676400"/>
            <a:ext cx="330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公司高管 + 各部门负责人 · 决策审批与资源协调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209210">
            <a:off x="2298700" y="20639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762000" y="2184400"/>
            <a:ext cx="3302000" cy="508000"/>
          </a:xfrm>
          <a:prstGeom prst="roundRect">
            <a:avLst>
              <a:gd name="adj" fmla="val 15000"/>
            </a:avLst>
          </a:prstGeom>
          <a:solidFill>
            <a:srgbClr val="0073E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2260600"/>
            <a:ext cx="330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项目管理办公室(PMO)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2463800"/>
            <a:ext cx="330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项目经理 + 数智化部 · 计划管控、风险跟踪、沟通协调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185419">
            <a:off x="2311400" y="2787848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4" name="Connector 14"/>
          <p:cNvCxnSpPr/>
          <p:nvPr/>
        </p:nvCxnSpPr>
        <p:spPr>
          <a:xfrm rot="-14946">
            <a:off x="952514" y="28892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5" name="Connector 15"/>
          <p:cNvCxnSpPr/>
          <p:nvPr/>
        </p:nvCxnSpPr>
        <p:spPr>
          <a:xfrm rot="5114181">
            <a:off x="876300" y="29657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6" name="Connector 16"/>
          <p:cNvCxnSpPr/>
          <p:nvPr/>
        </p:nvCxnSpPr>
        <p:spPr>
          <a:xfrm rot="5114181">
            <a:off x="1854200" y="29657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" name="Connector 17"/>
          <p:cNvCxnSpPr/>
          <p:nvPr/>
        </p:nvCxnSpPr>
        <p:spPr>
          <a:xfrm rot="5114181">
            <a:off x="2819400" y="29657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" name="Connector 18"/>
          <p:cNvCxnSpPr/>
          <p:nvPr/>
        </p:nvCxnSpPr>
        <p:spPr>
          <a:xfrm rot="5114181">
            <a:off x="3797300" y="29657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73E6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9" name="AutoShape 19"/>
          <p:cNvSpPr/>
          <p:nvPr/>
        </p:nvSpPr>
        <p:spPr>
          <a:xfrm>
            <a:off x="508000" y="3048000"/>
            <a:ext cx="889000" cy="711200"/>
          </a:xfrm>
          <a:prstGeom prst="roundRect">
            <a:avLst>
              <a:gd name="adj" fmla="val 7142"/>
            </a:avLst>
          </a:prstGeom>
          <a:solidFill>
            <a:srgbClr val="0073E6">
              <a:alpha val="10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08000" y="3149600"/>
            <a:ext cx="88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业务组</a:t>
            </a:r>
          </a:p>
        </p:txBody>
      </p:sp>
      <p:sp>
        <p:nvSpPr>
          <p:cNvPr id="21" name="AutoShape 21"/>
          <p:cNvSpPr/>
          <p:nvPr/>
        </p:nvSpPr>
        <p:spPr>
          <a:xfrm>
            <a:off x="533400" y="3327400"/>
            <a:ext cx="838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招投标 供应链 研究院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485900" y="3048000"/>
            <a:ext cx="889000" cy="711200"/>
          </a:xfrm>
          <a:prstGeom prst="roundRect">
            <a:avLst>
              <a:gd name="adj" fmla="val 7142"/>
            </a:avLst>
          </a:prstGeom>
          <a:solidFill>
            <a:srgbClr val="0073E6">
              <a:alpha val="10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485900" y="3149600"/>
            <a:ext cx="88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技术组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511300" y="3327400"/>
            <a:ext cx="838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SAP团队 ABAP Basis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451100" y="3048000"/>
            <a:ext cx="889000" cy="711200"/>
          </a:xfrm>
          <a:prstGeom prst="roundRect">
            <a:avLst>
              <a:gd name="adj" fmla="val 7142"/>
            </a:avLst>
          </a:prstGeom>
          <a:solidFill>
            <a:srgbClr val="0073E6">
              <a:alpha val="10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2451100" y="3149600"/>
            <a:ext cx="88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数据组</a:t>
            </a:r>
          </a:p>
        </p:txBody>
      </p:sp>
      <p:sp>
        <p:nvSpPr>
          <p:cNvPr id="27" name="AutoShape 27"/>
          <p:cNvSpPr/>
          <p:nvPr/>
        </p:nvSpPr>
        <p:spPr>
          <a:xfrm>
            <a:off x="2476500" y="3327400"/>
            <a:ext cx="838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数智化 BI 主数据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429000" y="3048000"/>
            <a:ext cx="889000" cy="711200"/>
          </a:xfrm>
          <a:prstGeom prst="roundRect">
            <a:avLst>
              <a:gd name="adj" fmla="val 7142"/>
            </a:avLst>
          </a:prstGeom>
          <a:solidFill>
            <a:srgbClr val="0073E6">
              <a:alpha val="10000"/>
            </a:srgbClr>
          </a:solidFill>
          <a:ln w="12700" cap="flat" cmpd="sng">
            <a:solidFill>
              <a:srgbClr val="0073E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3429000" y="3149600"/>
            <a:ext cx="88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变革组</a:t>
            </a:r>
          </a:p>
        </p:txBody>
      </p:sp>
      <p:sp>
        <p:nvSpPr>
          <p:cNvPr id="30" name="AutoShape 30"/>
          <p:cNvSpPr/>
          <p:nvPr/>
        </p:nvSpPr>
        <p:spPr>
          <a:xfrm>
            <a:off x="3454400" y="3327400"/>
            <a:ext cx="838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人力 培训 关键用户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08000" y="3962400"/>
            <a:ext cx="3810000" cy="2235200"/>
          </a:xfrm>
          <a:prstGeom prst="roundRect">
            <a:avLst>
              <a:gd name="adj" fmla="val 3409"/>
            </a:avLst>
          </a:prstGeom>
          <a:solidFill>
            <a:srgbClr val="00005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60400" y="4038600"/>
            <a:ext cx="3505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各方核心职责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60400" y="4318000"/>
            <a:ext cx="3505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招投标中心：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需求主责，品牌编码规则确认，预警阈值定义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60400" y="4521200"/>
            <a:ext cx="3505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供应链中心：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采购业务配合，货源清单维护，下单流程适配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60400" y="4724400"/>
            <a:ext cx="3505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研究院：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选型需求确认，价格趋势应用，工程师反馈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60400" y="4927600"/>
            <a:ext cx="3505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财务管理部：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标准成本对接，成本分析，预算管控配合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60400" y="5130800"/>
            <a:ext cx="3505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数智化部：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PMO统筹，系统运维，接口管理，权限配置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60400" y="5334000"/>
            <a:ext cx="3505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制造基地：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工厂级测试验证，用户培训，上线切换支持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60400" y="5537200"/>
            <a:ext cx="3505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SAP/BI团队：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配置开发，报表建设，BI实施，知识转移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60400" y="5791200"/>
            <a:ext cx="3505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关键用户需全程参与需求确认、功能测试、用户培训和上线支持，是业务与技术之间的桥梁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4572000" y="1041400"/>
            <a:ext cx="711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RACI 责任分工矩阵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4572000" y="1320800"/>
            <a:ext cx="711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</a:t>
            </a: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=负责执行 </a:t>
            </a:r>
            <a:r>
              <a:rPr lang="en-US" sz="9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</a:t>
            </a: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=最终负责 </a:t>
            </a:r>
            <a:r>
              <a:rPr lang="en-US" sz="900" b="1" i="0" u="none" strike="noStrike">
                <a:solidFill>
                  <a:srgbClr val="FF98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</a:t>
            </a: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=咨询 </a:t>
            </a:r>
            <a:r>
              <a:rPr lang="en-US" sz="900" b="1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</a:t>
            </a: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=知情</a:t>
            </a:r>
            <a:endParaRPr lang="en-US" sz="1100"/>
          </a:p>
        </p:txBody>
      </p:sp>
      <p:graphicFrame>
        <p:nvGraphicFramePr>
          <p:cNvPr id="43" name="Table 43"/>
          <p:cNvGraphicFramePr>
            <a:graphicFrameLocks noGrp="1"/>
          </p:cNvGraphicFramePr>
          <p:nvPr/>
        </p:nvGraphicFramePr>
        <p:xfrm>
          <a:off x="4572000" y="1600200"/>
          <a:ext cx="7112000" cy="431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任务/活动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招投标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供应链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研究院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财务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数智化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制造基地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SAP团队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BI团队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任务一：多品牌比价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3E6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3E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A/R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98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98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任务二：价格波动预警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3E6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3E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A/R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98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98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98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任务三：价格履历趋势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3E6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98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3E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A/R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98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98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任务四：报表货源管控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3E6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3E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A/R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98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主数据治理与规则确认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9800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3E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98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98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98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测试验证与用户培训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9800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98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3E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上线切换与运维保障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9800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78787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3E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980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5" name="Picture 4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44" name="Freeform 3">
            <a:extLst>
              <a:ext uri="{FF2B5EF4-FFF2-40B4-BE49-F238E27FC236}">
                <a16:creationId xmlns:a16="http://schemas.microsoft.com/office/drawing/2014/main" id="{B137D0F7-9A69-D350-979C-F1EFF4E201C1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508000" y="2286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配套行动计划 — 主数据治理与规则确认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660400"/>
            <a:ext cx="1117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项目启动阶段须完成六大类业务规则确认，作为系统配置与开发的前置输入，确保方案落地符合佛照实际业务需求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066800"/>
            <a:ext cx="3556000" cy="2349500"/>
          </a:xfrm>
          <a:prstGeom prst="roundRect">
            <a:avLst>
              <a:gd name="adj" fmla="val 3243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60400" y="1168400"/>
            <a:ext cx="3251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品牌编码规则确认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" y="14986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品牌供应商编码段：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预留AXXXX编码段范围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" y="17272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MPN物料编码段：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预留AXXXXXXX编码段范围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" y="19558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品牌命名规范：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品牌名称标准化，避免同名异写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" y="21844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一供应商多品牌：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确认代理品牌清单及对应关系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24130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历史数据迁移：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现有信息记录品牌映射规则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" y="2743200"/>
            <a:ext cx="3251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C8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主责：招投标中心 配合：供应链中心、数智化部 里程碑：M1需求签署前完成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0" y="1066800"/>
            <a:ext cx="3556000" cy="2349500"/>
          </a:xfrm>
          <a:prstGeom prst="roundRect">
            <a:avLst>
              <a:gd name="adj" fmla="val 3243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470400" y="1168400"/>
            <a:ext cx="3251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物料属性规范确认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470400" y="14986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材质字段：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材质分类标准（铜/铝/塑料/其他）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470400" y="17272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重量字段：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计量单位（KG/G）及精度要求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470400" y="19558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规格字段：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规格描述标准化模板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470400" y="21844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物料组映射：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物料组与大宗原材料类型映射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470400" y="24130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必填控制：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哪些视图/字段设为必填项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70400" y="2743200"/>
            <a:ext cx="3251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C8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主责：供应链中心 配合：研究院、招投标中心 里程碑：M2开发完成前完成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8000" y="1066800"/>
            <a:ext cx="3556000" cy="2349500"/>
          </a:xfrm>
          <a:prstGeom prst="roundRect">
            <a:avLst>
              <a:gd name="adj" fmla="val 3243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280400" y="1168400"/>
            <a:ext cx="3251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预警阈值规则确认</a:t>
            </a:r>
          </a:p>
        </p:txBody>
      </p:sp>
      <p:sp>
        <p:nvSpPr>
          <p:cNvPr id="23" name="AutoShape 23"/>
          <p:cNvSpPr/>
          <p:nvPr/>
        </p:nvSpPr>
        <p:spPr>
          <a:xfrm>
            <a:off x="8280400" y="14986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标准成本超差：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超差幅度%阈值（建议10%）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80400" y="17272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历史价格波动：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环比/同比波动幅度阈值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80400" y="19558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物料组差异化：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不同物料组设置不同阈值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80400" y="21844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绝对金额差：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单价差异绝对金额阈值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80400" y="24130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预警级别：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警告/严重两级阈值划分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280400" y="2743200"/>
            <a:ext cx="3251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C8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主责：招投标中心 配合：财务管理部、供应链中心 里程碑：M2开发完成前完成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08000" y="3606800"/>
            <a:ext cx="3556000" cy="2349500"/>
          </a:xfrm>
          <a:prstGeom prst="roundRect">
            <a:avLst>
              <a:gd name="adj" fmla="val 3243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60400" y="3708400"/>
            <a:ext cx="3251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权限规则确认</a:t>
            </a:r>
          </a:p>
        </p:txBody>
      </p:sp>
      <p:sp>
        <p:nvSpPr>
          <p:cNvPr id="31" name="AutoShape 31"/>
          <p:cNvSpPr/>
          <p:nvPr/>
        </p:nvSpPr>
        <p:spPr>
          <a:xfrm>
            <a:off x="660400" y="40386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采购组织权限：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按EKORG控制查询范围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60400" y="42672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工厂权限：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按WERKS控制数据可见性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60400" y="44958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价格字段脱敏：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非授权用户价格显示规则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60400" y="47244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角色定义：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采购员/采购经理/分析师/工程师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60400" y="49530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BI报表权限：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BI仪表盘数据权限映射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60400" y="5283200"/>
            <a:ext cx="3251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C8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主责：数智化部 配合：招投标中心、供应链中心 里程碑：M3 UAT通过前完成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4318000" y="3606800"/>
            <a:ext cx="3556000" cy="2349500"/>
          </a:xfrm>
          <a:prstGeom prst="roundRect">
            <a:avLst>
              <a:gd name="adj" fmla="val 3243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4470400" y="3708400"/>
            <a:ext cx="3251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货源管控规则确认</a:t>
            </a:r>
          </a:p>
        </p:txBody>
      </p:sp>
      <p:sp>
        <p:nvSpPr>
          <p:cNvPr id="39" name="AutoShape 39"/>
          <p:cNvSpPr/>
          <p:nvPr/>
        </p:nvSpPr>
        <p:spPr>
          <a:xfrm>
            <a:off x="4470400" y="40386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管控物料范围：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哪些物料组/物料做货源管控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4470400" y="42672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货源清单标准：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每个物料最少供应商数量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4470400" y="44958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固定供应商：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固定供应商设置规则与审批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4470400" y="47244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有效期管理：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货源清单有效期与续签提醒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4470400" y="49530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未维护处理：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未维护货源清单的下单控制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4470400" y="5283200"/>
            <a:ext cx="3251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C8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主责：供应链中心 配合：招投标中心、制造基地 里程碑：M1需求签署前完成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8128000" y="3606800"/>
            <a:ext cx="3556000" cy="2349500"/>
          </a:xfrm>
          <a:prstGeom prst="roundRect">
            <a:avLst>
              <a:gd name="adj" fmla="val 3243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46" name="AutoShape 46"/>
          <p:cNvSpPr/>
          <p:nvPr/>
        </p:nvSpPr>
        <p:spPr>
          <a:xfrm>
            <a:off x="8280400" y="3708400"/>
            <a:ext cx="3251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调价原因规范确认</a:t>
            </a:r>
          </a:p>
        </p:txBody>
      </p:sp>
      <p:sp>
        <p:nvSpPr>
          <p:cNvPr id="47" name="AutoShape 47"/>
          <p:cNvSpPr/>
          <p:nvPr/>
        </p:nvSpPr>
        <p:spPr>
          <a:xfrm>
            <a:off x="8280400" y="40386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原因代码表：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调价原因分类代码定义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8280400" y="42672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必填控制：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价格变更时原因字段必填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8280400" y="44958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审批流程：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大幅调价审批层级与流程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8280400" y="47244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附件要求：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调价依据附件上传要求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8280400" y="49530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历史数据：</a:t>
            </a:r>
            <a:r>
              <a:rPr lang="en-US" sz="1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历史调价原因回溯补录规则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8280400" y="5283200"/>
            <a:ext cx="3251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C8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主责：招投标中心 配合：财务管理部、供应链中心 里程碑：M2开发完成前完成</a:t>
            </a:r>
            <a:endParaRPr lang="en-US" sz="1100"/>
          </a:p>
        </p:txBody>
      </p:sp>
      <p:pic>
        <p:nvPicPr>
          <p:cNvPr id="53" name="Picture 4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4" name="Freeform 3">
            <a:extLst>
              <a:ext uri="{FF2B5EF4-FFF2-40B4-BE49-F238E27FC236}">
                <a16:creationId xmlns:a16="http://schemas.microsoft.com/office/drawing/2014/main" id="{EC890E99-A6D1-C3C8-69E0-B43E78DE0AC8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508000" y="2286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配套行动计划 — 培训与变更管理计划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660400"/>
            <a:ext cx="1117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建立分角色、分阶段的培训体系与变更管理机制，确保用户熟练掌握新功能，保障系统平稳上线与持续应用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041400"/>
            <a:ext cx="558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分角色培训计划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08000" y="1371600"/>
          <a:ext cx="5588000" cy="28651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角色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培训内容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课时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方式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采购员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3E6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多品牌比价查询、预警查看处理、价格履历查询、信息记录报表使用</a:t>
                      </a:r>
                      <a:endParaRPr lang="en-US" sz="1100"/>
                    </a:p>
                  </a:txBody>
                  <a:tcPr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4h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课堂+实操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上线前2周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采购经理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3E6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预警审批处理、价格趋势分析、货源管控报表、采购决策支持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3h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课堂+实操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上线前2周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分析师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3E6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BI仪表盘使用、价格趋势深度分析、大宗行情联动分析、自定义报表</a:t>
                      </a:r>
                      <a:endParaRPr lang="en-US" sz="1100"/>
                    </a:p>
                  </a:txBody>
                  <a:tcPr marL="101600" marR="101600" marT="69850" marB="698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6h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深度培训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二期上线前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工程师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3E6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价格履历查询、选型价格参考、物料属性查看、价格趋势参考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2h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录屏+自学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上线后1周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系统管理员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3E6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预警阈值配置、权限管理、主数据维护、系统监控、问题处理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8h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知识转移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开发阶段同步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508000" y="4318000"/>
            <a:ext cx="5588000" cy="939800"/>
          </a:xfrm>
          <a:prstGeom prst="roundRect">
            <a:avLst>
              <a:gd name="adj" fmla="val 8108"/>
            </a:avLst>
          </a:prstGeom>
          <a:solidFill>
            <a:srgbClr val="0073E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60400" y="4394200"/>
            <a:ext cx="5283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培训方式与保障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" y="4648200"/>
            <a:ext cx="5283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课堂培训：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集中讲解系统功能与业务流程，配合现场演示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" y="4851400"/>
            <a:ext cx="5283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实操练习：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在测试环境完成典型业务场景操作，确保熟练掌握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5054600"/>
            <a:ext cx="5283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录屏自学：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关键操作录制视频，供用户随时回看学习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041400"/>
            <a:ext cx="533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变更管理计划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1371600"/>
            <a:ext cx="5334000" cy="1778000"/>
          </a:xfrm>
          <a:prstGeom prst="roundRect">
            <a:avLst>
              <a:gd name="adj" fmla="val 4285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502400" y="14478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变更管理四阶段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502400" y="1701800"/>
            <a:ext cx="5029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认知阶段（项目启动）：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项目愿景宣贯，变革必要性沟通，高层背书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02400" y="1905000"/>
            <a:ext cx="5029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参与阶段（需求确认）：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关键用户深度参与，业务流程梳理，需求共创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02400" y="2108200"/>
            <a:ext cx="5029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学习阶段（测试培训）：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UAT测试验证，分角色培训，操作手册交付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02400" y="2311400"/>
            <a:ext cx="5029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固化阶段（上线运维）：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超现场支持，问题快速响应，使用习惯固化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02400" y="2540000"/>
            <a:ext cx="5029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⑤ 优化阶段（持续改进）：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使用反馈收集，功能优化迭代，价值持续释放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02400" y="2794000"/>
            <a:ext cx="5029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关键用户是变更管理的核心桥梁，每个部门指定1-2名关键用户，全程参与项目并承担部门内培训推广职责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3302000"/>
            <a:ext cx="5334000" cy="1016000"/>
          </a:xfrm>
          <a:prstGeom prst="roundRect">
            <a:avLst>
              <a:gd name="adj" fmla="val 7500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502400" y="33782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沟通计划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502400" y="3632200"/>
            <a:ext cx="5029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项目周报：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每周向指导委员会汇报进度、风险、问题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02400" y="3835400"/>
            <a:ext cx="5029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里程碑评审：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每个里程碑节点召开评审会，确认阶段成果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502400" y="4038600"/>
            <a:ext cx="5029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用户沟通会：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上线前召开用户大会，宣贯新功能与操作变化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4470400"/>
            <a:ext cx="5334000" cy="1219200"/>
          </a:xfrm>
          <a:prstGeom prst="roundRect">
            <a:avLst>
              <a:gd name="adj" fmla="val 6250"/>
            </a:avLst>
          </a:prstGeom>
          <a:solidFill>
            <a:srgbClr val="0073E6">
              <a:alpha val="6000"/>
            </a:srgbClr>
          </a:solidFill>
          <a:ln w="12700" cap="flat" cmpd="sng">
            <a:solidFill>
              <a:srgbClr val="0073E6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502400" y="4546600"/>
            <a:ext cx="5029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580E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培训交付物清单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502400" y="4800600"/>
            <a:ext cx="2413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用户操作手册（分角色）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02400" y="5003800"/>
            <a:ext cx="2413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培训课件PPT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02400" y="5207000"/>
            <a:ext cx="2413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操作录屏视频（5-8个）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502400" y="5410200"/>
            <a:ext cx="2413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快速参考卡（Quick Card）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144000" y="4800600"/>
            <a:ext cx="2413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常见问题FAQ文档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144000" y="5003800"/>
            <a:ext cx="2413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测试用例与操作脚本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144000" y="5207000"/>
            <a:ext cx="2413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系统管理员运维手册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144000" y="5410200"/>
            <a:ext cx="2413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培训签到与考核记录</a:t>
            </a:r>
            <a:endParaRPr lang="en-US" sz="1100"/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6" name="Freeform 3">
            <a:extLst>
              <a:ext uri="{FF2B5EF4-FFF2-40B4-BE49-F238E27FC236}">
                <a16:creationId xmlns:a16="http://schemas.microsoft.com/office/drawing/2014/main" id="{9F5FC94F-CF75-113B-AEAA-0C7B131AA236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508000" y="2286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配套行动计划 — 风险识别与应对措施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660400"/>
            <a:ext cx="1117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识别项目实施全周期八大类风险，制定针对性应对措施，明确责任方与监控机制，确保项目风险可控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990600"/>
            <a:ext cx="1117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风险等级：</a:t>
            </a:r>
            <a:r>
              <a:rPr lang="en-US" sz="900" b="1" i="0" u="none" strike="noStrike">
                <a:solidFill>
                  <a:srgbClr val="C8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●高</a:t>
            </a: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需重点监控</a:t>
            </a:r>
            <a:r>
              <a:rPr lang="en-US" sz="900" b="0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9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●中</a:t>
            </a: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定期跟踪 </a:t>
            </a:r>
            <a:r>
              <a:rPr lang="en-US" sz="900" b="1" i="0" u="none" strike="noStrike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●低</a:t>
            </a:r>
            <a:r>
              <a:rPr lang="en-US" sz="9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常规关注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08000" y="1270000"/>
          <a:ext cx="11176000" cy="50520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风险类别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风险描述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潜在影响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影响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概率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应对措施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责任方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5C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C8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需求风险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业务规则确认延迟，品牌编码/预警阈值等关键规则迟迟无法定稿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开发延期，配置反复调整，影响整体里程碑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C8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设立M1需求签署里程碑；关键用户全程参与；规则确认清单逐项跟踪；高层协调资源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PMO</a:t>
                      </a:r>
                      <a:b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招投标中心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C8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数据风险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现有主数据质量不高，物料属性缺失、品牌信息不规范、历史价格数据不全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比价结果不准确，预警误报，趋势分析失真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C8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C8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上线前数据清洗专项；建立数据质量检查规则；分批次迁移；历史数据标注数据来源与可信度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数智化部</a:t>
                      </a:r>
                      <a:b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供应链中心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技术风险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BAdI增强、自定义报表开发复杂度超预期，标准功能无法完全满足需求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开发周期延长，技术债增加，后续运维困难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SzTx/>
                        <a:defRPr/>
                      </a:pPr>
                      <a:r>
                        <a:rPr lang="en-US" sz="1000" b="1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000" b="1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技术方案评审机制；复杂功能先做原型验证；标准功能优先，最小化自定义开发；代码评审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SAP团队</a:t>
                      </a:r>
                      <a:b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数智化部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资源风险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关键用户日常工作繁忙，投入项目时间不足，需求确认和测试验证延迟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项目进度延误，测试不充分，上线后问题多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C8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高层授权明确关键用户投入时间；合理排期避开业务高峰；关键用户AB角机制；定期通报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指导委员会</a:t>
                      </a:r>
                      <a:b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PMO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变更风险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用户习惯原有操作方式，对新功能和新流程存在抵触情绪，采纳率低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系统使用率低，投资回报不达预期，业务价值无法释放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变更管理五阶段推进；关键用户作为变革大使；分角色培训赋能；上线后超现场支持；使用数据监控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变革组</a:t>
                      </a:r>
                      <a:b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各部门负责人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接口风险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大宗行情数据源商务谈判延迟，CPI接口对接不稳定，数据质量不可控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二期大宗行情联动功能无法按时上线，预警准确性受影响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一期并行启动商务谈判；准备备选数据源；接口容错与降级机制；数据质量校验；手动录入兜底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数智化部</a:t>
                      </a:r>
                      <a:b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招投标中心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上线风险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上线切换期间影响正常采购业务，切换过程出现数据不一致或功能异常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采购业务中断，影响生产，用户信心受损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低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周末/节假日切换；详细切换方案与检查清单；回退方案预案；超现场支持7×24；分工厂逐步推广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PMO</a:t>
                      </a:r>
                      <a:b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数智化部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运维风险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上线后问题响应不及时，内部运维团队对自定义开发不熟悉，知识转移不充分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问题积压，用户满意度下降，系统稳定性受影响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低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SzTx/>
                        <a:defRPr/>
                      </a:pPr>
                      <a:r>
                        <a:rPr lang="en-US" sz="1000" b="1" i="0" u="none" strike="noStrike">
                          <a:solidFill>
                            <a:schemeClr val="accent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000" b="1">
                        <a:solidFill>
                          <a:schemeClr val="accent1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开发过程同步知识转移；交付完整运维手册；上线后1个月驻场支持；SLA响应约定；问题跟踪机制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数智化部</a:t>
                      </a:r>
                      <a:b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</a:br>
                      <a:r>
                        <a:rPr lang="en-US" sz="8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SAP团队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5" name="Picture 4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7" name="Freeform 3">
            <a:extLst>
              <a:ext uri="{FF2B5EF4-FFF2-40B4-BE49-F238E27FC236}">
                <a16:creationId xmlns:a16="http://schemas.microsoft.com/office/drawing/2014/main" id="{AD7E28EE-E1E7-7530-35BC-3B85B2D2B921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508000" y="228600"/>
            <a:ext cx="1117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配套行动计划 — 上线策略与运维保障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660400"/>
            <a:ext cx="1117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采用"试点先行、逐步推广"上线策略，建立超现场支持与长效运维保障体系，确保系统平稳上线、持续稳定运行并释放业务价值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066800"/>
            <a:ext cx="5461000" cy="2413000"/>
          </a:xfrm>
          <a:prstGeom prst="roundRect">
            <a:avLst>
              <a:gd name="adj" fmla="val 3157"/>
            </a:avLst>
          </a:prstGeom>
          <a:solidFill>
            <a:srgbClr val="0073E6">
              <a:alpha val="5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60400" y="1168400"/>
            <a:ext cx="515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上线策略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" y="1524000"/>
            <a:ext cx="1587500" cy="762000"/>
          </a:xfrm>
          <a:prstGeom prst="roundRect">
            <a:avLst>
              <a:gd name="adj" fmla="val 6666"/>
            </a:avLst>
          </a:prstGeom>
          <a:solidFill>
            <a:srgbClr val="0073E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60400" y="1600200"/>
            <a:ext cx="1587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第一阶段：试点上线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" y="1828800"/>
            <a:ext cx="14859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选择1-2个工厂/采购组织试点，验证功能与流程，收集反馈优化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374900" y="1524000"/>
            <a:ext cx="1587500" cy="762000"/>
          </a:xfrm>
          <a:prstGeom prst="roundRect">
            <a:avLst>
              <a:gd name="adj" fmla="val 6666"/>
            </a:avLst>
          </a:prstGeom>
          <a:solidFill>
            <a:srgbClr val="0073E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2374900" y="1600200"/>
            <a:ext cx="1587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第二阶段：分批推广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425700" y="1828800"/>
            <a:ext cx="14859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按工厂/采购组分批推广，每批间隔2周，确保支持资源充足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089400" y="1524000"/>
            <a:ext cx="1752600" cy="762000"/>
          </a:xfrm>
          <a:prstGeom prst="roundRect">
            <a:avLst>
              <a:gd name="adj" fmla="val 6666"/>
            </a:avLst>
          </a:prstGeom>
          <a:solidFill>
            <a:srgbClr val="0073E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089400" y="1600200"/>
            <a:ext cx="1752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第三阶段：全量上线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140200" y="18288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全部工厂推广完成，系统正式运行，进入持续优化阶段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" y="2413000"/>
            <a:ext cx="5156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上线切换与回退方案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" y="26416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切换时间：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选择周末/节假日，预留2天缓冲期，避免影响工作日采购业务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" y="28448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切换清单：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详细的切换步骤、检查项、责任人、时间节点，逐项确认签字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" y="30480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回退方案：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预设回退触发条件与回退步骤，确保异常时可快速恢复原系统状态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" y="32512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数据校验：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切换前后数据一致性校验，关键报表数据比对，确保数据零丢失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1066800"/>
            <a:ext cx="5461000" cy="2514600"/>
          </a:xfrm>
          <a:prstGeom prst="roundRect">
            <a:avLst>
              <a:gd name="adj" fmla="val 3030"/>
            </a:avLst>
          </a:prstGeom>
          <a:solidFill>
            <a:srgbClr val="0073E6">
              <a:alpha val="5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375400" y="1168400"/>
            <a:ext cx="515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超现场支持（Hypercare）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375400" y="1524000"/>
            <a:ext cx="5156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上线后4周超现场支持期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75400" y="1778000"/>
            <a:ext cx="1206500" cy="635000"/>
          </a:xfrm>
          <a:prstGeom prst="roundRect">
            <a:avLst>
              <a:gd name="adj" fmla="val 8000"/>
            </a:avLst>
          </a:prstGeom>
          <a:solidFill>
            <a:srgbClr val="0073E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75400" y="1854200"/>
            <a:ext cx="1206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第1周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26200" y="2057400"/>
            <a:ext cx="11049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7×24驻场</a:t>
            </a:r>
            <a:br>
              <a:rPr lang="en-US" sz="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现场即时响应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708900" y="1778000"/>
            <a:ext cx="1206500" cy="635000"/>
          </a:xfrm>
          <a:prstGeom prst="roundRect">
            <a:avLst>
              <a:gd name="adj" fmla="val 8000"/>
            </a:avLst>
          </a:prstGeom>
          <a:solidFill>
            <a:srgbClr val="0073E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7708900" y="1854200"/>
            <a:ext cx="1206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第2周</a:t>
            </a:r>
            <a:endParaRPr lang="en-US" sz="900" b="1">
              <a:solidFill>
                <a:srgbClr val="0073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7759700" y="2057400"/>
            <a:ext cx="11049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工作日驻场</a:t>
            </a:r>
            <a:br>
              <a:rPr lang="en-US" sz="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2小时内响应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042400" y="1778000"/>
            <a:ext cx="1206500" cy="635000"/>
          </a:xfrm>
          <a:prstGeom prst="roundRect">
            <a:avLst>
              <a:gd name="adj" fmla="val 8000"/>
            </a:avLst>
          </a:prstGeom>
          <a:solidFill>
            <a:srgbClr val="0073E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9042400" y="1854200"/>
            <a:ext cx="1206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第3周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093200" y="2057400"/>
            <a:ext cx="11049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远程支持</a:t>
            </a:r>
            <a:br>
              <a:rPr lang="en-US" sz="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4小时内响应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375900" y="1778000"/>
            <a:ext cx="1206500" cy="635000"/>
          </a:xfrm>
          <a:prstGeom prst="roundRect">
            <a:avLst>
              <a:gd name="adj" fmla="val 8000"/>
            </a:avLst>
          </a:prstGeom>
          <a:solidFill>
            <a:srgbClr val="0073E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10375900" y="1854200"/>
            <a:ext cx="12065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algn="ctr">
              <a:lnSpc>
                <a:spcPct val="125000"/>
              </a:lnSpc>
              <a:buSzTx/>
              <a:defRPr/>
            </a:pPr>
            <a:r>
              <a:rPr lang="en-US" sz="9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第4周</a:t>
            </a:r>
            <a:endParaRPr lang="en-US" sz="900" b="1">
              <a:solidFill>
                <a:srgbClr val="0073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10426700" y="2057400"/>
            <a:ext cx="11049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远程支持</a:t>
            </a:r>
            <a:br>
              <a:rPr lang="en-US" sz="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7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转入常规运维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375400" y="2540000"/>
            <a:ext cx="5156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问题分级响应机制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375400" y="27686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P1紧急：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系统不可用/数据错误 → 立即响应，2小时内解决或提供临时方案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375400" y="29718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P2高：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功能异常影响业务 → 4小时内响应，1个工作日内解决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375400" y="31750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P3中：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操作问题/优化建议 → 1个工作日内响应，纳入后续优化计划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375400" y="33782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每日站会：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超现场期间每日召开15分钟站会，同步问题状态、优先级、处理进展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508000" y="3632200"/>
            <a:ext cx="5461000" cy="2413000"/>
          </a:xfrm>
          <a:prstGeom prst="roundRect">
            <a:avLst>
              <a:gd name="adj" fmla="val 3157"/>
            </a:avLst>
          </a:prstGeom>
          <a:solidFill>
            <a:srgbClr val="0073E6">
              <a:alpha val="5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660400" y="3733800"/>
            <a:ext cx="515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长效运维保障体系</a:t>
            </a:r>
          </a:p>
        </p:txBody>
      </p:sp>
      <p:sp>
        <p:nvSpPr>
          <p:cNvPr id="43" name="AutoShape 43"/>
          <p:cNvSpPr/>
          <p:nvPr/>
        </p:nvSpPr>
        <p:spPr>
          <a:xfrm>
            <a:off x="660400" y="4089400"/>
            <a:ext cx="5156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运维组织与职责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660400" y="43180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数智化部：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系统运维第一责任人，负责日常监控、问题处理、配置变更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660400" y="45212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关键用户：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业务问题第一接触点，负责操作指导、需求收集、初步排查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660400" y="47244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SAP服务商：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提供二线技术支持，负责复杂问题处理、增强开发优化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660400" y="4978400"/>
            <a:ext cx="5156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知识转移与持续优化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660400" y="52070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知识转移：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开发过程同步进行，交付完整技术文档、运维手册、配置清单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60400" y="54102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持续优化：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每季度收集用户反馈，评估功能优化需求，排期迭代改进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660400" y="56134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SLA约定：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P1响应≤30分钟，P2响应≤2小时，P3响应≤1个工作日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660400" y="58166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系统监控：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配置后台作业监控、接口异常告警、性能监控，主动发现问题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6223000" y="3632200"/>
            <a:ext cx="5461000" cy="2413000"/>
          </a:xfrm>
          <a:prstGeom prst="roundRect">
            <a:avLst>
              <a:gd name="adj" fmla="val 3157"/>
            </a:avLst>
          </a:prstGeom>
          <a:solidFill>
            <a:srgbClr val="0073E6">
              <a:alpha val="5000"/>
            </a:srgbClr>
          </a:solidFill>
          <a:ln w="12700" cap="flat" cmpd="sng">
            <a:solidFill>
              <a:srgbClr val="0073E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53" name="AutoShape 53"/>
          <p:cNvSpPr/>
          <p:nvPr/>
        </p:nvSpPr>
        <p:spPr>
          <a:xfrm>
            <a:off x="6375400" y="3733800"/>
            <a:ext cx="515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上线后价值度量指标</a:t>
            </a:r>
          </a:p>
        </p:txBody>
      </p:sp>
      <p:sp>
        <p:nvSpPr>
          <p:cNvPr id="54" name="AutoShape 54"/>
          <p:cNvSpPr/>
          <p:nvPr/>
        </p:nvSpPr>
        <p:spPr>
          <a:xfrm>
            <a:off x="6375400" y="4089400"/>
            <a:ext cx="1651000" cy="889000"/>
          </a:xfrm>
          <a:prstGeom prst="roundRect">
            <a:avLst>
              <a:gd name="adj" fmla="val 5714"/>
            </a:avLst>
          </a:prstGeom>
          <a:solidFill>
            <a:srgbClr val="0073E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AutoShape 55"/>
          <p:cNvSpPr/>
          <p:nvPr/>
        </p:nvSpPr>
        <p:spPr>
          <a:xfrm>
            <a:off x="6375400" y="41656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≥95%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6426200" y="4495800"/>
            <a:ext cx="1549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系统可用率</a:t>
            </a:r>
            <a:br>
              <a:rPr lang="en-US" sz="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月度统计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8153400" y="4089400"/>
            <a:ext cx="1651000" cy="889000"/>
          </a:xfrm>
          <a:prstGeom prst="roundRect">
            <a:avLst>
              <a:gd name="adj" fmla="val 5714"/>
            </a:avLst>
          </a:prstGeom>
          <a:solidFill>
            <a:srgbClr val="0073E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58" name="AutoShape 58"/>
          <p:cNvSpPr/>
          <p:nvPr/>
        </p:nvSpPr>
        <p:spPr>
          <a:xfrm>
            <a:off x="8153400" y="41656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≥80%</a:t>
            </a:r>
            <a:endParaRPr lang="en-US" sz="1100"/>
          </a:p>
        </p:txBody>
      </p:sp>
      <p:sp>
        <p:nvSpPr>
          <p:cNvPr id="59" name="AutoShape 59"/>
          <p:cNvSpPr/>
          <p:nvPr/>
        </p:nvSpPr>
        <p:spPr>
          <a:xfrm>
            <a:off x="8204200" y="4495800"/>
            <a:ext cx="1549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用户活跃率</a:t>
            </a:r>
            <a:br>
              <a:rPr lang="en-US" sz="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周活跃用户占比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9931400" y="4089400"/>
            <a:ext cx="1651000" cy="889000"/>
          </a:xfrm>
          <a:prstGeom prst="roundRect">
            <a:avLst>
              <a:gd name="adj" fmla="val 5714"/>
            </a:avLst>
          </a:prstGeom>
          <a:solidFill>
            <a:srgbClr val="0073E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61" name="AutoShape 61"/>
          <p:cNvSpPr/>
          <p:nvPr/>
        </p:nvSpPr>
        <p:spPr>
          <a:xfrm>
            <a:off x="9931400" y="41656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≤2h</a:t>
            </a:r>
            <a:endParaRPr lang="en-US" sz="2000" b="1">
              <a:solidFill>
                <a:srgbClr val="0073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2" name="AutoShape 62"/>
          <p:cNvSpPr/>
          <p:nvPr/>
        </p:nvSpPr>
        <p:spPr>
          <a:xfrm>
            <a:off x="9982200" y="4495800"/>
            <a:ext cx="1549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P1问题平均</a:t>
            </a:r>
            <a:br>
              <a:rPr lang="en-US" sz="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解决时间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6375400" y="5105400"/>
            <a:ext cx="5156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0005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业务价值跟踪指标（上线后6个月评估）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6375400" y="53340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采购成本节约：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通过比价分析和价格预警，实现采购成本同比下降3-5%</a:t>
            </a:r>
            <a:endParaRPr lang="en-US" sz="1100"/>
          </a:p>
        </p:txBody>
      </p:sp>
      <p:sp>
        <p:nvSpPr>
          <p:cNvPr id="65" name="AutoShape 65"/>
          <p:cNvSpPr/>
          <p:nvPr/>
        </p:nvSpPr>
        <p:spPr>
          <a:xfrm>
            <a:off x="6375400" y="55372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分析效率提升：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价格分析时间从原来的2天缩短至实时查询，效率提升80%以上</a:t>
            </a:r>
            <a:endParaRPr lang="en-US" sz="1100"/>
          </a:p>
        </p:txBody>
      </p:sp>
      <p:sp>
        <p:nvSpPr>
          <p:cNvPr id="66" name="AutoShape 66"/>
          <p:cNvSpPr/>
          <p:nvPr/>
        </p:nvSpPr>
        <p:spPr>
          <a:xfrm>
            <a:off x="6375400" y="5740400"/>
            <a:ext cx="51562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决策质量提升：</a:t>
            </a:r>
            <a:r>
              <a:rPr lang="en-US" sz="9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基于数据的采购决策占比提升，价格异常事件响应时间缩短50%</a:t>
            </a:r>
            <a:endParaRPr lang="en-US" sz="1100"/>
          </a:p>
        </p:txBody>
      </p:sp>
      <p:pic>
        <p:nvPicPr>
          <p:cNvPr id="67" name="Picture 4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68" name="Freeform 3">
            <a:extLst>
              <a:ext uri="{FF2B5EF4-FFF2-40B4-BE49-F238E27FC236}">
                <a16:creationId xmlns:a16="http://schemas.microsoft.com/office/drawing/2014/main" id="{77CA330B-F58E-4D13-FBCF-B6AF4B5D32D1}"/>
              </a:ext>
            </a:extLst>
          </p:cNvPr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41" hasCustomPrompt="1"/>
          </p:nvPr>
        </p:nvSpPr>
        <p:spPr>
          <a:xfrm>
            <a:off x="390098" y="389618"/>
            <a:ext cx="1463040" cy="1477010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algn="l">
              <a:lnSpc>
                <a:spcPct val="100000"/>
              </a:lnSpc>
              <a:defRPr sz="96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6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42" hasCustomPrompt="1"/>
          </p:nvPr>
        </p:nvSpPr>
        <p:spPr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i="0" u="none" strike="noStrike" spc="0">
                <a:solidFill>
                  <a:srgbClr val="00005C">
                    <a:alpha val="100000"/>
                  </a:srgbClr>
                </a:solidFill>
                <a:latin typeface="Biennale Bold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5400" b="0" i="0" u="none" strike="noStrike">
                <a:solidFill>
                  <a:srgbClr val="00005C"/>
                </a:solidFill>
                <a:latin typeface="Biennale Bold"/>
                <a:ea typeface="Biennale Bold"/>
                <a:cs typeface="Biennale Bold"/>
                <a:sym typeface="Biennale Bold"/>
              </a:rPr>
              <a:t>附录：相关文档及原始数据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Biennale"/>
                <a:ea typeface="Biennale"/>
                <a:cs typeface="Biennale"/>
                <a:sym typeface="Biennale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Confidential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附录原始需求清单（4条，</a:t>
            </a:r>
            <a:r>
              <a:rPr lang="en-US" sz="2800" b="1" i="0" u="none" strike="noStrike">
                <a:solidFill>
                  <a:srgbClr val="0073E6"/>
                </a:solidFill>
                <a:latin typeface="Songti SC"/>
                <a:ea typeface="Songti SC"/>
                <a:cs typeface="Songti SC"/>
                <a:sym typeface="Songti SC"/>
              </a:rPr>
              <a:t>采购价格</a:t>
            </a:r>
            <a:r>
              <a:rPr lang="en-US" sz="28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关联）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28942" y="957174"/>
          <a:ext cx="11337925" cy="27660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6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 原始需求清单</a:t>
                      </a:r>
                      <a:endParaRPr lang="en-US" sz="110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需求简述</a:t>
                      </a:r>
                      <a:endParaRPr lang="en-US" sz="1100"/>
                    </a:p>
                  </a:txBody>
                  <a:tcPr marL="59739" marR="59739" marT="29869" marB="298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优先级</a:t>
                      </a:r>
                      <a:endParaRPr lang="en-US" sz="1100"/>
                    </a:p>
                  </a:txBody>
                  <a:tcPr marL="59739" marR="59739" marT="29869" marB="298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提出部门</a:t>
                      </a:r>
                      <a:endParaRPr lang="en-US" sz="1100"/>
                    </a:p>
                  </a:txBody>
                  <a:tcPr marL="59739" marR="59739" marT="29869" marB="298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需求详细说明</a:t>
                      </a:r>
                      <a:endParaRPr lang="en-US" sz="1100"/>
                    </a:p>
                  </a:txBody>
                  <a:tcPr marL="59739" marR="59739" marT="29869" marB="2986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A0195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价格波动监控与大宗行情联动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DC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高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招投标中心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王强</a:t>
                      </a:r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采购监控与分析：除根据历史价格、标准成本识别价格波动外，也要通过大宗行情变动识别价格波动。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29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A0196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同一物料多品牌价格维护与对比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DC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高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招投标中心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王强</a:t>
                      </a:r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同一物料可按品牌维护及对比价格。下单时先选择指定品牌，再按该品牌价格从低到高排序。支持同一供应商代理多个品牌时按品牌录多个价格。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A0193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物料价格变更履历查询及走势可视化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DC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中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研究院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季超</a:t>
                      </a:r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工程师物料选型时需知晓物料历史价格走势，建议在SAP建立物料价格变更履历查询机制，记录三年内每次调价的数值、时间及原因，可视化展示价格变动趋势。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A0212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物料信息记录查询报表优化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DC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高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招投标中心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王强</a:t>
                      </a:r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Y_TST_19000030物料信息记录查询，建议显示物料是否做货源管控、是否已维护货源清单，可批量导出哪些供应商没有维护货源清单。</a:t>
                      </a:r>
                      <a:endParaRPr lang="en-US" sz="1100"/>
                    </a:p>
                  </a:txBody>
                  <a:tcPr marL="59690" marR="59690" marT="29845" marB="298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5422415"/>
            <a:ext cx="3383281" cy="4924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8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884404" y="6391780"/>
            <a:ext cx="423193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© Atos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9848292" y="5921362"/>
            <a:ext cx="1920640" cy="587312"/>
          </a:xfrm>
          <a:custGeom>
            <a:avLst/>
            <a:gdLst/>
            <a:ahLst/>
            <a:cxnLst/>
            <a:rect l="l" t="t" r="r" b="b"/>
            <a:pathLst>
              <a:path w="1920640" h="587312">
                <a:moveTo>
                  <a:pt x="1348345" y="334790"/>
                </a:moveTo>
                <a:cubicBezTo>
                  <a:pt x="1348345" y="263209"/>
                  <a:pt x="1299921" y="203103"/>
                  <a:pt x="1234055" y="184974"/>
                </a:cubicBezTo>
                <a:cubicBezTo>
                  <a:pt x="1229218" y="199932"/>
                  <a:pt x="1226580" y="215897"/>
                  <a:pt x="1226580" y="232468"/>
                </a:cubicBezTo>
                <a:cubicBezTo>
                  <a:pt x="1226580" y="304049"/>
                  <a:pt x="1275041" y="364156"/>
                  <a:pt x="1340870" y="382248"/>
                </a:cubicBezTo>
                <a:cubicBezTo>
                  <a:pt x="1345744" y="367290"/>
                  <a:pt x="1348345" y="351324"/>
                  <a:pt x="1348345" y="334790"/>
                </a:cubicBezTo>
                <a:moveTo>
                  <a:pt x="1462380" y="334790"/>
                </a:moveTo>
                <a:cubicBezTo>
                  <a:pt x="1462380" y="474963"/>
                  <a:pt x="1339569" y="587312"/>
                  <a:pt x="1192648" y="587312"/>
                </a:cubicBezTo>
                <a:cubicBezTo>
                  <a:pt x="1120167" y="587312"/>
                  <a:pt x="1054355" y="560457"/>
                  <a:pt x="1005896" y="516867"/>
                </a:cubicBezTo>
                <a:cubicBezTo>
                  <a:pt x="972751" y="554354"/>
                  <a:pt x="912967" y="586726"/>
                  <a:pt x="839572" y="586726"/>
                </a:cubicBezTo>
                <a:cubicBezTo>
                  <a:pt x="751976" y="586726"/>
                  <a:pt x="661723" y="546894"/>
                  <a:pt x="661723" y="425582"/>
                </a:cubicBezTo>
                <a:lnTo>
                  <a:pt x="661723" y="189520"/>
                </a:lnTo>
                <a:lnTo>
                  <a:pt x="570097" y="189520"/>
                </a:lnTo>
                <a:lnTo>
                  <a:pt x="570097" y="100085"/>
                </a:lnTo>
                <a:lnTo>
                  <a:pt x="661723" y="100085"/>
                </a:lnTo>
                <a:lnTo>
                  <a:pt x="661723" y="3501"/>
                </a:lnTo>
                <a:lnTo>
                  <a:pt x="786530" y="3501"/>
                </a:lnTo>
                <a:lnTo>
                  <a:pt x="786530" y="100085"/>
                </a:lnTo>
                <a:lnTo>
                  <a:pt x="925537" y="100085"/>
                </a:lnTo>
                <a:lnTo>
                  <a:pt x="925537" y="189520"/>
                </a:lnTo>
                <a:lnTo>
                  <a:pt x="786530" y="189520"/>
                </a:lnTo>
                <a:lnTo>
                  <a:pt x="786530" y="414089"/>
                </a:lnTo>
                <a:cubicBezTo>
                  <a:pt x="786530" y="463031"/>
                  <a:pt x="818612" y="495751"/>
                  <a:pt x="863133" y="495751"/>
                </a:cubicBezTo>
                <a:cubicBezTo>
                  <a:pt x="896002" y="495751"/>
                  <a:pt x="930520" y="481416"/>
                  <a:pt x="956079" y="456193"/>
                </a:cubicBezTo>
                <a:cubicBezTo>
                  <a:pt x="934991" y="420101"/>
                  <a:pt x="922917" y="378802"/>
                  <a:pt x="922917" y="334790"/>
                </a:cubicBezTo>
                <a:cubicBezTo>
                  <a:pt x="922917" y="224092"/>
                  <a:pt x="1000399" y="127508"/>
                  <a:pt x="1109138" y="94677"/>
                </a:cubicBezTo>
                <a:cubicBezTo>
                  <a:pt x="1086639" y="126078"/>
                  <a:pt x="1071688" y="197659"/>
                  <a:pt x="1071615" y="237106"/>
                </a:cubicBezTo>
                <a:cubicBezTo>
                  <a:pt x="1050013" y="263778"/>
                  <a:pt x="1036969" y="297798"/>
                  <a:pt x="1036969" y="334790"/>
                </a:cubicBezTo>
                <a:cubicBezTo>
                  <a:pt x="1036969" y="420668"/>
                  <a:pt x="1106720" y="490306"/>
                  <a:pt x="1192629" y="490306"/>
                </a:cubicBezTo>
                <a:cubicBezTo>
                  <a:pt x="1223869" y="490306"/>
                  <a:pt x="1252872" y="481012"/>
                  <a:pt x="1277221" y="465176"/>
                </a:cubicBezTo>
                <a:cubicBezTo>
                  <a:pt x="1180446" y="426865"/>
                  <a:pt x="1112436" y="337118"/>
                  <a:pt x="1112436" y="232487"/>
                </a:cubicBezTo>
                <a:cubicBezTo>
                  <a:pt x="1112436" y="176799"/>
                  <a:pt x="1131747" y="125344"/>
                  <a:pt x="1164341" y="83605"/>
                </a:cubicBezTo>
                <a:cubicBezTo>
                  <a:pt x="1173667" y="82727"/>
                  <a:pt x="1183066" y="82213"/>
                  <a:pt x="1192629" y="82213"/>
                </a:cubicBezTo>
                <a:cubicBezTo>
                  <a:pt x="1229878" y="82213"/>
                  <a:pt x="1265311" y="89252"/>
                  <a:pt x="1297576" y="102065"/>
                </a:cubicBezTo>
                <a:cubicBezTo>
                  <a:pt x="1297576" y="102065"/>
                  <a:pt x="1297503" y="102102"/>
                  <a:pt x="1297503" y="102138"/>
                </a:cubicBezTo>
                <a:cubicBezTo>
                  <a:pt x="1394370" y="140430"/>
                  <a:pt x="1462361" y="230141"/>
                  <a:pt x="1462361" y="334790"/>
                </a:cubicBezTo>
                <a:moveTo>
                  <a:pt x="399376" y="338254"/>
                </a:moveTo>
                <a:lnTo>
                  <a:pt x="314601" y="114456"/>
                </a:lnTo>
                <a:lnTo>
                  <a:pt x="230010" y="338254"/>
                </a:lnTo>
                <a:lnTo>
                  <a:pt x="399393" y="338254"/>
                </a:lnTo>
                <a:close/>
                <a:moveTo>
                  <a:pt x="599356" y="505210"/>
                </a:moveTo>
                <a:lnTo>
                  <a:pt x="648000" y="505210"/>
                </a:lnTo>
                <a:lnTo>
                  <a:pt x="648000" y="576680"/>
                </a:lnTo>
                <a:lnTo>
                  <a:pt x="414637" y="576680"/>
                </a:lnTo>
                <a:lnTo>
                  <a:pt x="414637" y="505210"/>
                </a:lnTo>
                <a:lnTo>
                  <a:pt x="462622" y="505210"/>
                </a:lnTo>
                <a:lnTo>
                  <a:pt x="432923" y="426773"/>
                </a:lnTo>
                <a:lnTo>
                  <a:pt x="196517" y="426773"/>
                </a:lnTo>
                <a:lnTo>
                  <a:pt x="166892" y="505210"/>
                </a:lnTo>
                <a:lnTo>
                  <a:pt x="218101" y="505210"/>
                </a:lnTo>
                <a:lnTo>
                  <a:pt x="218101" y="576680"/>
                </a:lnTo>
                <a:lnTo>
                  <a:pt x="0" y="576680"/>
                </a:lnTo>
                <a:lnTo>
                  <a:pt x="0" y="505210"/>
                </a:lnTo>
                <a:lnTo>
                  <a:pt x="51961" y="505210"/>
                </a:lnTo>
                <a:lnTo>
                  <a:pt x="214565" y="75119"/>
                </a:lnTo>
                <a:lnTo>
                  <a:pt x="149322" y="75119"/>
                </a:lnTo>
                <a:lnTo>
                  <a:pt x="149322" y="3703"/>
                </a:lnTo>
                <a:lnTo>
                  <a:pt x="409306" y="3703"/>
                </a:lnTo>
                <a:lnTo>
                  <a:pt x="599337" y="505210"/>
                </a:lnTo>
                <a:close/>
                <a:moveTo>
                  <a:pt x="1920640" y="410074"/>
                </a:moveTo>
                <a:cubicBezTo>
                  <a:pt x="1920640" y="527665"/>
                  <a:pt x="1807120" y="587019"/>
                  <a:pt x="1673299" y="587019"/>
                </a:cubicBezTo>
                <a:cubicBezTo>
                  <a:pt x="1585702" y="587019"/>
                  <a:pt x="1507616" y="568670"/>
                  <a:pt x="1442207" y="534996"/>
                </a:cubicBezTo>
                <a:cubicBezTo>
                  <a:pt x="1459210" y="511846"/>
                  <a:pt x="1484914" y="471371"/>
                  <a:pt x="1496879" y="447322"/>
                </a:cubicBezTo>
                <a:cubicBezTo>
                  <a:pt x="1541052" y="464497"/>
                  <a:pt x="1612946" y="485083"/>
                  <a:pt x="1677824" y="485083"/>
                </a:cubicBezTo>
                <a:cubicBezTo>
                  <a:pt x="1742700" y="485083"/>
                  <a:pt x="1790666" y="460336"/>
                  <a:pt x="1790666" y="427121"/>
                </a:cubicBezTo>
                <a:cubicBezTo>
                  <a:pt x="1790666" y="398233"/>
                  <a:pt x="1780076" y="375630"/>
                  <a:pt x="1679307" y="346229"/>
                </a:cubicBezTo>
                <a:cubicBezTo>
                  <a:pt x="1548821" y="308247"/>
                  <a:pt x="1475113" y="270266"/>
                  <a:pt x="1475113" y="167651"/>
                </a:cubicBezTo>
                <a:cubicBezTo>
                  <a:pt x="1475113" y="59703"/>
                  <a:pt x="1581214" y="0"/>
                  <a:pt x="1715621" y="0"/>
                </a:cubicBezTo>
                <a:cubicBezTo>
                  <a:pt x="1773646" y="0"/>
                  <a:pt x="1843122" y="12098"/>
                  <a:pt x="1888358" y="22272"/>
                </a:cubicBezTo>
                <a:lnTo>
                  <a:pt x="1881596" y="179456"/>
                </a:lnTo>
                <a:lnTo>
                  <a:pt x="1785958" y="177825"/>
                </a:lnTo>
                <a:lnTo>
                  <a:pt x="1786416" y="99663"/>
                </a:lnTo>
                <a:cubicBezTo>
                  <a:pt x="1772290" y="96749"/>
                  <a:pt x="1751971" y="94310"/>
                  <a:pt x="1723847" y="94310"/>
                </a:cubicBezTo>
                <a:cubicBezTo>
                  <a:pt x="1651128" y="94310"/>
                  <a:pt x="1601111" y="117756"/>
                  <a:pt x="1601111" y="157331"/>
                </a:cubicBezTo>
                <a:cubicBezTo>
                  <a:pt x="1601111" y="185359"/>
                  <a:pt x="1629821" y="211774"/>
                  <a:pt x="1731286" y="242349"/>
                </a:cubicBezTo>
                <a:cubicBezTo>
                  <a:pt x="1861974" y="281668"/>
                  <a:pt x="1920585" y="318660"/>
                  <a:pt x="1920585" y="410037"/>
                </a:cubicBezTo>
              </a:path>
            </a:pathLst>
          </a:custGeom>
          <a:solidFill>
            <a:srgbClr val="0073E6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200" y="2463648"/>
            <a:ext cx="820738" cy="4924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73E6"/>
                </a:solidFill>
                <a:latin typeface="Biennale Bold"/>
                <a:ea typeface="Biennale Bold"/>
                <a:cs typeface="Biennale Bold"/>
                <a:sym typeface="Biennale Bold"/>
              </a:rPr>
              <a:t>谢谢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28625" y="6316314"/>
            <a:ext cx="2560320" cy="923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200" y="6144768"/>
            <a:ext cx="8229600" cy="2743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0073E6"/>
                </a:solidFill>
                <a:latin typeface="Biennale"/>
                <a:ea typeface="Biennale"/>
                <a:cs typeface="Biennale"/>
                <a:sym typeface="Biennale"/>
              </a:rPr>
              <a:t>SAP S/4HANA PCE |</a:t>
            </a:r>
            <a:r>
              <a:rPr lang="en-US" sz="1000" b="0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专项方案</a:t>
            </a:r>
            <a:r>
              <a:rPr lang="en-US" sz="1000" b="0" i="0" u="none" strike="noStrike">
                <a:solidFill>
                  <a:srgbClr val="0073E6"/>
                </a:solidFill>
                <a:latin typeface="Biennale"/>
                <a:ea typeface="Biennale"/>
                <a:cs typeface="Biennale"/>
                <a:sym typeface="Biennale"/>
              </a:rPr>
              <a:t>1 | 2026</a:t>
            </a:r>
            <a:r>
              <a:rPr lang="en-US" sz="1000" b="0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sz="1000" b="0" i="0" u="none" strike="noStrike">
                <a:solidFill>
                  <a:srgbClr val="0073E6"/>
                </a:solidFill>
                <a:latin typeface="Biennale"/>
                <a:ea typeface="Biennale"/>
                <a:cs typeface="Biennale"/>
                <a:sym typeface="Biennale"/>
              </a:rPr>
              <a:t>6</a:t>
            </a:r>
            <a:r>
              <a:rPr lang="en-US" sz="1000" b="0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en-US" sz="1000" b="0" i="0" u="none" strike="noStrike">
                <a:solidFill>
                  <a:srgbClr val="0073E6"/>
                </a:solidFill>
                <a:latin typeface="Biennale"/>
                <a:ea typeface="Biennale"/>
                <a:cs typeface="Biennale"/>
                <a:sym typeface="Biennale"/>
              </a:rPr>
              <a:t>|</a:t>
            </a:r>
            <a:r>
              <a:rPr lang="en-US" sz="1000" b="0" i="0" u="none" strike="noStrike">
                <a:solidFill>
                  <a:srgbClr val="0073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内部文件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White backgrou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3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4193</Words>
  <Application>Microsoft Office PowerPoint</Application>
  <PresentationFormat>宽屏</PresentationFormat>
  <Paragraphs>814</Paragraphs>
  <Slides>22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22</vt:i4>
      </vt:variant>
    </vt:vector>
  </HeadingPairs>
  <TitlesOfParts>
    <vt:vector size="45" baseType="lpstr">
      <vt:lpstr>Biennale</vt:lpstr>
      <vt:lpstr>Biennale Bold</vt:lpstr>
      <vt:lpstr>Biennale Medium</vt:lpstr>
      <vt:lpstr>Montserrat Bold</vt:lpstr>
      <vt:lpstr>Noto Sans SC</vt:lpstr>
      <vt:lpstr>Songti SC</vt:lpstr>
      <vt:lpstr>等线</vt:lpstr>
      <vt:lpstr>微软雅黑</vt:lpstr>
      <vt:lpstr>Aptos</vt:lpstr>
      <vt:lpstr>Arial</vt:lpstr>
      <vt:lpstr>Montserrat SemiBold</vt:lpstr>
      <vt:lpstr>Verdana</vt:lpstr>
      <vt:lpstr>Office 主题​​</vt:lpstr>
      <vt:lpstr>自定义主题</vt:lpstr>
      <vt:lpstr>Office 主题​​</vt:lpstr>
      <vt:lpstr>Office 主题​​</vt:lpstr>
      <vt:lpstr>White background</vt:lpstr>
      <vt:lpstr>1_White background</vt:lpstr>
      <vt:lpstr>2_White background</vt:lpstr>
      <vt:lpstr>1_自定义主题</vt:lpstr>
      <vt:lpstr>3_White background</vt:lpstr>
      <vt:lpstr>2_自定义主题</vt:lpstr>
      <vt:lpstr>3_自定义主题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2102125624@qq.com</cp:lastModifiedBy>
  <cp:revision>2</cp:revision>
  <dcterms:created xsi:type="dcterms:W3CDTF">2026-08-30T08:44:38Z</dcterms:created>
  <dcterms:modified xsi:type="dcterms:W3CDTF">2026-08-30T14:35:41Z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{"Label":"1","ContentProducer":"001191110102MACQD9K64010000","ProduceID":"7678320118007663591","ReservedCode1":"","ContentPropagator":"","PropagateID":"","ReservedCode2":""}</vt:lpwstr>
  </property>
  <property fmtid="{D5CDD505-2E9C-101B-9397-08002B2CF9AE}" pid="3" name="ICV">
    <vt:lpwstr>069DE2B5EC4043FBBC8FE195B6C6DD56</vt:lpwstr>
  </property>
  <property fmtid="{D5CDD505-2E9C-101B-9397-08002B2CF9AE}" pid="4" name="KSOProductBuildVer">
    <vt:lpwstr>2052-12.1.0.28043</vt:lpwstr>
  </property>
</Properties>
</file>