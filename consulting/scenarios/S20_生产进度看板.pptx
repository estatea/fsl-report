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5"/>
    <p:sldMasterId id="2147483662" r:id="rId6"/>
  </p:sldMasterIdLst>
  <p:notesMasterIdLst>
    <p:notesMasterId r:id="rId20"/>
  </p:notesMasterIdLst>
  <p:sldIdLst>
    <p:sldId id="402" r:id="rId7"/>
    <p:sldId id="256" r:id="rId8"/>
    <p:sldId id="16777032" r:id="rId9"/>
    <p:sldId id="16777038" r:id="rId10"/>
    <p:sldId id="403" r:id="rId11"/>
    <p:sldId id="16777020" r:id="rId12"/>
    <p:sldId id="16777024" r:id="rId13"/>
    <p:sldId id="16777037" r:id="rId14"/>
    <p:sldId id="404" r:id="rId15"/>
    <p:sldId id="16777035" r:id="rId16"/>
    <p:sldId id="405" r:id="rId17"/>
    <p:sldId id="16777036" r:id="rId18"/>
    <p:sldId id="29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3E6"/>
    <a:srgbClr val="003366"/>
    <a:srgbClr val="0066CC"/>
    <a:srgbClr val="EC601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61"/>
    <p:restoredTop sz="85938"/>
  </p:normalViewPr>
  <p:slideViewPr>
    <p:cSldViewPr snapToGrid="0">
      <p:cViewPr varScale="1">
        <p:scale>
          <a:sx n="76" d="100"/>
          <a:sy n="76" d="100"/>
        </p:scale>
        <p:origin x="750"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7ED242-3ED6-ED4B-A493-BFAB0D2DA00B}" type="datetimeFigureOut">
              <a:rPr lang="en-US" smtClean="0"/>
              <a:t>8/30/2026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A415C3-E7E8-ED47-896B-87929403F89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标准</a:t>
            </a:r>
            <a:r>
              <a:rPr lang="zh-CN" altLang="en-US" dirty="0"/>
              <a:t>、精细、协同、高效</a:t>
            </a:r>
            <a:endParaRPr lang="en-US" altLang="zh-CN" dirty="0"/>
          </a:p>
          <a:p>
            <a:r>
              <a:rPr lang="zh-CN" altLang="en-US" dirty="0"/>
              <a:t>精细化的成本分析。</a:t>
            </a:r>
            <a:endParaRPr lang="en-US" altLang="zh-CN" dirty="0"/>
          </a:p>
          <a:p>
            <a:r>
              <a:rPr lang="zh-CN" altLang="en-US" dirty="0"/>
              <a:t>有量化指标的提升。</a:t>
            </a:r>
            <a:endParaRPr lang="en-US" altLang="zh-CN" dirty="0"/>
          </a:p>
          <a:p>
            <a:endParaRPr lang="en-US" dirty="0"/>
          </a:p>
          <a:p>
            <a:endParaRPr lang="en-US" dirty="0"/>
          </a:p>
          <a:p>
            <a:r>
              <a:rPr lang="en-US" dirty="0" err="1"/>
              <a:t>张学权</a:t>
            </a:r>
            <a:endParaRPr lang="en-US" dirty="0"/>
          </a:p>
          <a:p>
            <a:r>
              <a:rPr lang="zh-CN" altLang="en-US" dirty="0"/>
              <a:t>现在停掉</a:t>
            </a:r>
            <a:r>
              <a:rPr lang="en-US" altLang="zh-CN" dirty="0"/>
              <a:t>SAP</a:t>
            </a:r>
            <a:r>
              <a:rPr lang="zh-CN" altLang="en-US" dirty="0"/>
              <a:t>，业务是否还能够照常开展？</a:t>
            </a:r>
            <a:endParaRPr lang="en-US" altLang="zh-CN" dirty="0"/>
          </a:p>
          <a:p>
            <a:r>
              <a:rPr lang="en-US" altLang="zh-CN" dirty="0"/>
              <a:t>1</a:t>
            </a:r>
            <a:r>
              <a:rPr lang="zh-CN" altLang="en-US" dirty="0"/>
              <a:t>、统一认识</a:t>
            </a:r>
            <a:endParaRPr lang="en-US" altLang="zh-CN" dirty="0"/>
          </a:p>
          <a:p>
            <a:r>
              <a:rPr lang="en-US" altLang="zh-CN" dirty="0"/>
              <a:t>2</a:t>
            </a:r>
            <a:r>
              <a:rPr lang="zh-CN" altLang="en-US" dirty="0"/>
              <a:t>、锻炼内功，</a:t>
            </a:r>
            <a:r>
              <a:rPr lang="en-US" altLang="zh-CN" dirty="0"/>
              <a:t>SAP</a:t>
            </a:r>
            <a:r>
              <a:rPr lang="zh-CN" altLang="en-US" dirty="0"/>
              <a:t>的升级不是简单的更新，而是要把公司过往的组织能力、管理理念、管理流程进行全面的梳理和再造。</a:t>
            </a:r>
            <a:endParaRPr lang="en-US" altLang="zh-CN" dirty="0"/>
          </a:p>
          <a:p>
            <a:r>
              <a:rPr lang="en-US" altLang="zh-CN" dirty="0"/>
              <a:t>3</a:t>
            </a:r>
            <a:r>
              <a:rPr lang="zh-CN" altLang="en-US" dirty="0"/>
              <a:t>、对公司内部各个部门以及相关分子公司的负责人，一定要高度重视，亲自参与。过去几年的数字化项目，成功的不多，失败的不少，甚至变烂尾了，各个部门的负责人没参与。营销的数字化中台、</a:t>
            </a:r>
            <a:r>
              <a:rPr lang="en-US" altLang="zh-CN" dirty="0"/>
              <a:t>CRM</a:t>
            </a:r>
            <a:r>
              <a:rPr lang="zh-CN" altLang="en-US" dirty="0"/>
              <a:t>系统搞不下去了。每个单位指定一个责任心强、沟通能力强的</a:t>
            </a:r>
            <a:r>
              <a:rPr lang="en-US" altLang="zh-CN" dirty="0"/>
              <a:t>SAP</a:t>
            </a:r>
            <a:r>
              <a:rPr lang="zh-CN" altLang="en-US" dirty="0"/>
              <a:t>专员。外部公司既要专业，又要接地气。数字化部和财务部要协同好，跟艾维登要协同好。上下联动、左右协同、齐抓共管。系统要管用还要好用。</a:t>
            </a:r>
            <a:endParaRPr lang="en-US" altLang="zh-CN" dirty="0"/>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1089025" rtl="0" eaLnBrk="1" fontAlgn="auto" latinLnBrk="0" hangingPunct="1">
              <a:lnSpc>
                <a:spcPct val="100000"/>
              </a:lnSpc>
              <a:spcBef>
                <a:spcPts val="0"/>
              </a:spcBef>
              <a:spcAft>
                <a:spcPts val="0"/>
              </a:spcAft>
              <a:buClrTx/>
              <a:buSzTx/>
              <a:buFontTx/>
              <a:buNone/>
              <a:defRPr/>
            </a:pPr>
            <a:fld id="{7D8C2C35-2B8A-446E-BEC0-FD36716C29AC}"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t>1</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89025" rtl="0" eaLnBrk="1" fontAlgn="auto" latinLnBrk="0" hangingPunct="1">
              <a:lnSpc>
                <a:spcPct val="100000"/>
              </a:lnSpc>
              <a:spcBef>
                <a:spcPts val="0"/>
              </a:spcBef>
              <a:spcAft>
                <a:spcPts val="0"/>
              </a:spcAft>
              <a:buClrTx/>
              <a:buSzTx/>
              <a:buFontTx/>
              <a:buNone/>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D8C2C35-2B8A-446E-BEC0-FD36716C29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为生产进度看板建设的方案总览，从目标范围、现状差距、业务变革、关键任务、责任部门、里程碑、风险依赖、业务价值八个维度进行全景呈现。核心是通过N+2滚动计划加MRP运算，结合Leadtime主数据，实现生产计划与实际执行进度的日级可视化对比，解决当前交付管理失控、缺货率高、进度无法跟踪的痛点。里程碑三阶段为主数据就绪、看板开发测试、上线运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7</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sp>
        <p:nvSpPr>
          <p:cNvPr id="10" name="Title 4"/>
          <p:cNvSpPr>
            <a:spLocks noGrp="1"/>
          </p:cNvSpPr>
          <p:nvPr>
            <p:ph type="title" hasCustomPrompt="1"/>
          </p:nvPr>
        </p:nvSpPr>
        <p:spPr>
          <a:xfrm>
            <a:off x="423068" y="2415203"/>
            <a:ext cx="5486400" cy="1828800"/>
          </a:xfrm>
        </p:spPr>
        <p:txBody>
          <a:bodyPr anchor="t"/>
          <a:lstStyle>
            <a:lvl1pPr>
              <a:spcAft>
                <a:spcPts val="300"/>
              </a:spcAft>
              <a:defRPr lang="en-US" sz="4800" kern="1200" dirty="0">
                <a:solidFill>
                  <a:schemeClr val="accent1"/>
                </a:solidFill>
                <a:latin typeface="+mj-lt"/>
                <a:ea typeface="+mn-ea"/>
                <a:cs typeface="+mn-cs"/>
              </a:defRPr>
            </a:lvl1pPr>
          </a:lstStyle>
          <a:p>
            <a:r>
              <a:rPr lang="en-US"/>
              <a:t>Presentation title</a:t>
            </a:r>
          </a:p>
        </p:txBody>
      </p:sp>
      <p:sp>
        <p:nvSpPr>
          <p:cNvPr id="11" name="Text Placeholder 8"/>
          <p:cNvSpPr>
            <a:spLocks noGrp="1"/>
          </p:cNvSpPr>
          <p:nvPr>
            <p:ph type="body" sz="quarter" idx="13" hasCustomPrompt="1"/>
          </p:nvPr>
        </p:nvSpPr>
        <p:spPr>
          <a:xfrm>
            <a:off x="423068" y="3138594"/>
            <a:ext cx="5486400" cy="1216152"/>
          </a:xfrm>
        </p:spPr>
        <p:txBody>
          <a:bodyPr/>
          <a:lstStyle>
            <a:lvl1pPr marL="0" indent="0">
              <a:buNone/>
              <a:defRPr sz="36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p:cNvSpPr>
            <a:spLocks noGrp="1"/>
          </p:cNvSpPr>
          <p:nvPr>
            <p:ph type="body" sz="quarter" idx="15" hasCustomPrompt="1"/>
          </p:nvPr>
        </p:nvSpPr>
        <p:spPr>
          <a:xfrm>
            <a:off x="423068" y="4771707"/>
            <a:ext cx="3657600" cy="640080"/>
          </a:xfrm>
        </p:spPr>
        <p:txBody>
          <a:bodyPr/>
          <a:lstStyle>
            <a:lvl1pPr marL="0" indent="0">
              <a:buNone/>
              <a:defRPr lang="en-US" sz="1600" kern="1200" dirty="0">
                <a:solidFill>
                  <a:schemeClr val="accent3"/>
                </a:solidFill>
                <a:latin typeface="+mn-lt"/>
                <a:ea typeface="+mn-ea"/>
                <a:cs typeface="+mn-cs"/>
              </a:defRPr>
            </a:lvl1pPr>
          </a:lstStyle>
          <a:p>
            <a:pPr lvl="0"/>
            <a:r>
              <a:rPr lang="en-US"/>
              <a:t>Date</a:t>
            </a:r>
          </a:p>
        </p:txBody>
      </p:sp>
      <p:sp>
        <p:nvSpPr>
          <p:cNvPr id="21" name="AddCustomFooter#1"/>
          <p:cNvSpPr txBox="1"/>
          <p:nvPr userDrawn="1"/>
        </p:nvSpPr>
        <p:spPr bwMode="gray">
          <a:xfrm>
            <a:off x="423068" y="6391780"/>
            <a:ext cx="835165"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tab pos="274320" algn="l"/>
                <a:tab pos="411480" algn="l"/>
              </a:tabLst>
              <a:defRPr/>
            </a:pPr>
            <a:r>
              <a:rPr kumimoji="0" lang="en-US" sz="1000" b="0" i="0" u="none" strike="noStrike" kern="1200" cap="none" spc="0" normalizeH="0" baseline="0" noProof="0">
                <a:ln>
                  <a:noFill/>
                </a:ln>
                <a:solidFill>
                  <a:schemeClr val="accent3"/>
                </a:solidFill>
                <a:effectLst/>
                <a:uLnTx/>
                <a:uFillTx/>
                <a:latin typeface="+mn-lt"/>
                <a:ea typeface="Verdana" panose="020B0604030504040204" pitchFamily="34" charset="0"/>
                <a:cs typeface="Verdana" panose="020B0604030504040204" pitchFamily="34" charset="0"/>
              </a:rPr>
              <a:t>© Atos  Group</a:t>
            </a:r>
            <a:endParaRPr lang="nl-NL" sz="900" baseline="0">
              <a:solidFill>
                <a:schemeClr val="accent3"/>
              </a:solidFill>
              <a:latin typeface="+mn-lt"/>
              <a:ea typeface="Verdana" panose="020B0604030504040204" pitchFamily="34" charset="0"/>
              <a:cs typeface="Verdana" panose="020B0604030504040204" pitchFamily="34" charset="0"/>
            </a:endParaRPr>
          </a:p>
        </p:txBody>
      </p:sp>
      <p:sp>
        <p:nvSpPr>
          <p:cNvPr id="2" name="Picture Placeholder 13"/>
          <p:cNvSpPr>
            <a:spLocks noGrp="1"/>
          </p:cNvSpPr>
          <p:nvPr>
            <p:ph type="pic" sz="quarter" idx="12"/>
          </p:nvPr>
        </p:nvSpPr>
        <p:spPr>
          <a:xfrm>
            <a:off x="6092952" y="0"/>
            <a:ext cx="6099048" cy="6858000"/>
          </a:xfrm>
        </p:spPr>
        <p:txBody>
          <a:bodyPr tIns="914400" bIns="0" anchor="ctr"/>
          <a:lstStyle>
            <a:lvl1pPr marL="0" indent="0" algn="ctr">
              <a:buNone/>
              <a:defRPr>
                <a:solidFill>
                  <a:schemeClr val="accent3"/>
                </a:solidFill>
              </a:defRPr>
            </a:lvl1pPr>
          </a:lstStyle>
          <a:p>
            <a:r>
              <a:rPr lang="en-US"/>
              <a:t>Click icon to add picture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8624" y="291451"/>
            <a:ext cx="11337925" cy="912315"/>
          </a:xfrm>
        </p:spPr>
        <p:txBody>
          <a:bodyPr/>
          <a:lstStyle>
            <a:lvl1pPr>
              <a:lnSpc>
                <a:spcPct val="100000"/>
              </a:lnSpc>
              <a:defRPr/>
            </a:lvl1pPr>
          </a:lstStyle>
          <a:p>
            <a:r>
              <a:rPr lang="en-US"/>
              <a:t>Title</a:t>
            </a:r>
          </a:p>
        </p:txBody>
      </p:sp>
      <p:sp>
        <p:nvSpPr>
          <p:cNvPr id="4" name="Text Placeholder 7"/>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Slide Number Placeholder 5"/>
          <p:cNvSpPr>
            <a:spLocks noGrp="1"/>
          </p:cNvSpPr>
          <p:nvPr>
            <p:ph type="sldNum" sz="quarter" idx="4"/>
          </p:nvPr>
        </p:nvSpPr>
        <p:spPr>
          <a:xfrm>
            <a:off x="428625" y="6507907"/>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anose="020B0604030504040204" pitchFamily="34" charset="0"/>
                <a:cs typeface="Raleway Medium" pitchFamily="2" charset="0"/>
              </a:defRPr>
            </a:lvl1pPr>
          </a:lstStyle>
          <a:p>
            <a:fld id="{DAF489CC-3B7A-4DA5-A8C0-4984788D0EC5}" type="slidenum">
              <a:rPr lang="nl-NL" smtClean="0"/>
              <a:t>‹#›</a:t>
            </a:fld>
            <a:endParaRPr lang="nl-NL"/>
          </a:p>
        </p:txBody>
      </p:sp>
      <p:pic>
        <p:nvPicPr>
          <p:cNvPr id="5" name="图片 4"/>
          <p:cNvPicPr>
            <a:picLocks noChangeAspect="1"/>
          </p:cNvPicPr>
          <p:nvPr userDrawn="1"/>
        </p:nvPicPr>
        <p:blipFill>
          <a:blip r:embed="rId2"/>
          <a:stretch>
            <a:fillRect/>
          </a:stretch>
        </p:blipFill>
        <p:spPr>
          <a:xfrm>
            <a:off x="287947" y="6412870"/>
            <a:ext cx="1742736" cy="34396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eep Blue Title Only">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8624" y="291451"/>
            <a:ext cx="11337925" cy="912315"/>
          </a:xfrm>
        </p:spPr>
        <p:txBody>
          <a:bodyPr/>
          <a:lstStyle>
            <a:lvl1pPr>
              <a:lnSpc>
                <a:spcPct val="100000"/>
              </a:lnSpc>
              <a:defRPr>
                <a:solidFill>
                  <a:schemeClr val="bg1"/>
                </a:solidFill>
              </a:defRPr>
            </a:lvl1pPr>
          </a:lstStyle>
          <a:p>
            <a:r>
              <a:rPr lang="en-US"/>
              <a:t>Title</a:t>
            </a:r>
          </a:p>
        </p:txBody>
      </p:sp>
      <p:sp>
        <p:nvSpPr>
          <p:cNvPr id="4" name="Text Placeholder 7"/>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2"/>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Slide Number Placeholder 5"/>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bg1"/>
                </a:solidFill>
                <a:latin typeface="+mn-lt"/>
                <a:ea typeface="Verdana" panose="020B0604030504040204" pitchFamily="34" charset="0"/>
                <a:cs typeface="Raleway Medium" pitchFamily="2" charset="0"/>
              </a:defRPr>
            </a:lvl1pPr>
          </a:lstStyle>
          <a:p>
            <a:fld id="{DAF489CC-3B7A-4DA5-A8C0-4984788D0EC5}" type="slidenum">
              <a:rPr lang="nl-NL" smtClean="0"/>
              <a:t>‹#›</a:t>
            </a:fld>
            <a:endParaRPr lang="nl-NL"/>
          </a:p>
        </p:txBody>
      </p:sp>
      <p:sp>
        <p:nvSpPr>
          <p:cNvPr id="8" name="AddCustomFooter#1"/>
          <p:cNvSpPr txBox="1"/>
          <p:nvPr userDrawn="1"/>
        </p:nvSpPr>
        <p:spPr bwMode="gray">
          <a:xfrm>
            <a:off x="428625" y="6420355"/>
            <a:ext cx="1279517"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tab pos="274320" algn="l"/>
                <a:tab pos="411480" algn="l"/>
              </a:tabLst>
              <a:defRPr/>
            </a:pPr>
            <a:r>
              <a:rPr kumimoji="0" lang="en-US" sz="1000" b="0" i="0" u="none" strike="noStrike" kern="1200" cap="none" spc="0" normalizeH="0" baseline="0" noProof="0">
                <a:ln>
                  <a:noFill/>
                </a:ln>
                <a:solidFill>
                  <a:schemeClr val="bg1"/>
                </a:solidFill>
                <a:effectLst/>
                <a:uLnTx/>
                <a:uFillTx/>
                <a:latin typeface="+mn-lt"/>
                <a:ea typeface="Verdana" panose="020B0604030504040204" pitchFamily="34" charset="0"/>
                <a:cs typeface="Verdana" panose="020B0604030504040204" pitchFamily="34" charset="0"/>
              </a:rPr>
              <a:t>	|	 © Atos Group </a:t>
            </a:r>
            <a:endParaRPr lang="nl-NL" sz="900" baseline="0">
              <a:solidFill>
                <a:schemeClr val="bg1"/>
              </a:solidFill>
              <a:latin typeface="+mn-lt"/>
              <a:ea typeface="Verdana" panose="020B0604030504040204" pitchFamily="34" charset="0"/>
              <a:cs typeface="Verdana" panose="020B0604030504040204" pitchFamily="34" charset="0"/>
            </a:endParaRPr>
          </a:p>
        </p:txBody>
      </p:sp>
      <p:sp>
        <p:nvSpPr>
          <p:cNvPr id="9" name="Graphique 10" descr="Atos logo"/>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hapter">
    <p:bg>
      <p:bgPr>
        <a:solidFill>
          <a:schemeClr val="accent3"/>
        </a:solidFill>
        <a:effectLst/>
      </p:bgPr>
    </p:bg>
    <p:spTree>
      <p:nvGrpSpPr>
        <p:cNvPr id="1" name=""/>
        <p:cNvGrpSpPr/>
        <p:nvPr/>
      </p:nvGrpSpPr>
      <p:grpSpPr>
        <a:xfrm>
          <a:off x="0" y="0"/>
          <a:ext cx="0" cy="0"/>
          <a:chOff x="0" y="0"/>
          <a:chExt cx="0" cy="0"/>
        </a:xfrm>
      </p:grpSpPr>
      <p:grpSp>
        <p:nvGrpSpPr>
          <p:cNvPr id="5" name="Group 4"/>
          <p:cNvGrpSpPr/>
          <p:nvPr userDrawn="1"/>
        </p:nvGrpSpPr>
        <p:grpSpPr>
          <a:xfrm>
            <a:off x="1703638" y="0"/>
            <a:ext cx="9768784" cy="6858000"/>
            <a:chOff x="1703638" y="0"/>
            <a:chExt cx="9768784" cy="6858000"/>
          </a:xfrm>
        </p:grpSpPr>
        <p:pic>
          <p:nvPicPr>
            <p:cNvPr id="6" name="Graphic 5"/>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6588030" y="0"/>
              <a:ext cx="4884392" cy="4884392"/>
            </a:xfrm>
            <a:prstGeom prst="rect">
              <a:avLst/>
            </a:prstGeom>
          </p:spPr>
        </p:pic>
        <p:pic>
          <p:nvPicPr>
            <p:cNvPr id="8" name="Graphic 7"/>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59594"/>
            <a:stretch>
              <a:fillRect/>
            </a:stretch>
          </p:blipFill>
          <p:spPr>
            <a:xfrm>
              <a:off x="1703638" y="4884393"/>
              <a:ext cx="4884392" cy="1973607"/>
            </a:xfrm>
            <a:prstGeom prst="rect">
              <a:avLst/>
            </a:prstGeom>
          </p:spPr>
        </p:pic>
      </p:grpSp>
      <p:sp>
        <p:nvSpPr>
          <p:cNvPr id="3" name="Title 4"/>
          <p:cNvSpPr>
            <a:spLocks noGrp="1"/>
          </p:cNvSpPr>
          <p:nvPr>
            <p:ph type="title" hasCustomPrompt="1"/>
          </p:nvPr>
        </p:nvSpPr>
        <p:spPr>
          <a:xfrm>
            <a:off x="428625" y="1196367"/>
            <a:ext cx="5852160" cy="1554480"/>
          </a:xfrm>
        </p:spPr>
        <p:txBody>
          <a:bodyPr anchor="b"/>
          <a:lstStyle>
            <a:lvl1pPr>
              <a:spcAft>
                <a:spcPts val="300"/>
              </a:spcAft>
              <a:defRPr lang="en-US" sz="4800" kern="1200" dirty="0">
                <a:solidFill>
                  <a:schemeClr val="bg1"/>
                </a:solidFill>
                <a:latin typeface="+mj-lt"/>
                <a:ea typeface="+mn-ea"/>
                <a:cs typeface="+mn-cs"/>
              </a:defRPr>
            </a:lvl1pPr>
          </a:lstStyle>
          <a:p>
            <a:pPr lvl="0"/>
            <a:r>
              <a:rPr lang="en-US"/>
              <a:t>Chapter title</a:t>
            </a:r>
          </a:p>
        </p:txBody>
      </p:sp>
      <p:sp>
        <p:nvSpPr>
          <p:cNvPr id="12" name="Text Placeholder 8"/>
          <p:cNvSpPr>
            <a:spLocks noGrp="1"/>
          </p:cNvSpPr>
          <p:nvPr>
            <p:ph type="body" sz="quarter" idx="13" hasCustomPrompt="1"/>
          </p:nvPr>
        </p:nvSpPr>
        <p:spPr>
          <a:xfrm>
            <a:off x="428625" y="2748074"/>
            <a:ext cx="5852160" cy="1216152"/>
          </a:xfrm>
        </p:spPr>
        <p:txBody>
          <a:bodyPr/>
          <a:lstStyle>
            <a:lvl1pPr marL="0" indent="0">
              <a:buNone/>
              <a:defRPr sz="3600">
                <a:solidFill>
                  <a:srgbClr val="3DC7FF"/>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2" name="Graphique 10" descr="Atos logo"/>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428625" y="1189363"/>
            <a:ext cx="5370060" cy="1231106"/>
          </a:xfrm>
        </p:spPr>
        <p:txBody>
          <a:bodyPr wrap="none" anchor="ctr">
            <a:spAutoFit/>
          </a:bodyPr>
          <a:lstStyle>
            <a:lvl1pPr algn="l">
              <a:lnSpc>
                <a:spcPct val="100000"/>
              </a:lnSpc>
              <a:defRPr sz="8000">
                <a:solidFill>
                  <a:schemeClr val="accent1"/>
                </a:solidFill>
              </a:defRPr>
            </a:lvl1pPr>
          </a:lstStyle>
          <a:p>
            <a:r>
              <a:rPr lang="en-US"/>
              <a:t>Thank you!</a:t>
            </a:r>
          </a:p>
        </p:txBody>
      </p:sp>
      <p:sp>
        <p:nvSpPr>
          <p:cNvPr id="3" name="AddNotifier#1"/>
          <p:cNvSpPr txBox="1">
            <a:spLocks noChangeArrowheads="1"/>
          </p:cNvSpPr>
          <p:nvPr userDrawn="1"/>
        </p:nvSpPr>
        <p:spPr bwMode="invGray">
          <a:xfrm>
            <a:off x="428625" y="5422415"/>
            <a:ext cx="338328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a:defRPr>
                <a:solidFill>
                  <a:schemeClr val="tx1"/>
                </a:solidFill>
                <a:latin typeface="Lucida Sans Unicode" panose="020B0602030504020204" pitchFamily="34" charset="0"/>
              </a:defRPr>
            </a:lvl1pPr>
            <a:lvl2pPr marL="742950" indent="-285750">
              <a:defRPr>
                <a:solidFill>
                  <a:schemeClr val="tx1"/>
                </a:solidFill>
                <a:latin typeface="Lucida Sans Unicode" panose="020B0602030504020204" pitchFamily="34" charset="0"/>
              </a:defRPr>
            </a:lvl2pPr>
            <a:lvl3pPr marL="1143000" indent="-228600">
              <a:defRPr>
                <a:solidFill>
                  <a:schemeClr val="tx1"/>
                </a:solidFill>
                <a:latin typeface="Lucida Sans Unicode" panose="020B0602030504020204" pitchFamily="34" charset="0"/>
              </a:defRPr>
            </a:lvl3pPr>
            <a:lvl4pPr marL="1600200" indent="-228600">
              <a:defRPr>
                <a:solidFill>
                  <a:schemeClr val="tx1"/>
                </a:solidFill>
                <a:latin typeface="Lucida Sans Unicode" panose="020B0602030504020204" pitchFamily="34" charset="0"/>
              </a:defRPr>
            </a:lvl4pPr>
            <a:lvl5pPr marL="2057400" indent="-228600">
              <a:defRPr>
                <a:solidFill>
                  <a:schemeClr val="tx1"/>
                </a:solidFill>
                <a:latin typeface="Lucida Sans Unicode" panose="020B0602030504020204" pitchFamily="34" charset="0"/>
              </a:defRPr>
            </a:lvl5pPr>
            <a:lvl6pPr marL="2514600" indent="-228600" fontAlgn="base">
              <a:spcBef>
                <a:spcPct val="0"/>
              </a:spcBef>
              <a:spcAft>
                <a:spcPct val="0"/>
              </a:spcAft>
              <a:defRPr>
                <a:solidFill>
                  <a:schemeClr val="tx1"/>
                </a:solidFill>
                <a:latin typeface="Lucida Sans Unicode" panose="020B0602030504020204" pitchFamily="34" charset="0"/>
              </a:defRPr>
            </a:lvl6pPr>
            <a:lvl7pPr marL="2971800" indent="-228600" fontAlgn="base">
              <a:spcBef>
                <a:spcPct val="0"/>
              </a:spcBef>
              <a:spcAft>
                <a:spcPct val="0"/>
              </a:spcAft>
              <a:defRPr>
                <a:solidFill>
                  <a:schemeClr val="tx1"/>
                </a:solidFill>
                <a:latin typeface="Lucida Sans Unicode" panose="020B0602030504020204" pitchFamily="34" charset="0"/>
              </a:defRPr>
            </a:lvl7pPr>
            <a:lvl8pPr marL="3429000" indent="-228600" fontAlgn="base">
              <a:spcBef>
                <a:spcPct val="0"/>
              </a:spcBef>
              <a:spcAft>
                <a:spcPct val="0"/>
              </a:spcAft>
              <a:defRPr>
                <a:solidFill>
                  <a:schemeClr val="tx1"/>
                </a:solidFill>
                <a:latin typeface="Lucida Sans Unicode" panose="020B0602030504020204" pitchFamily="34" charset="0"/>
              </a:defRPr>
            </a:lvl8pPr>
            <a:lvl9pPr marL="3886200" indent="-228600" fontAlgn="base">
              <a:spcBef>
                <a:spcPct val="0"/>
              </a:spcBef>
              <a:spcAft>
                <a:spcPct val="0"/>
              </a:spcAft>
              <a:defRPr>
                <a:solidFill>
                  <a:schemeClr val="tx1"/>
                </a:solidFill>
                <a:latin typeface="Lucida Sans Unicode" panose="020B0602030504020204" pitchFamily="34" charset="0"/>
              </a:defRPr>
            </a:lvl9pPr>
          </a:lstStyle>
          <a:p>
            <a:r>
              <a:rPr lang="en-US" sz="800" kern="1200" baseline="0">
                <a:solidFill>
                  <a:schemeClr val="accent3"/>
                </a:solidFill>
                <a:latin typeface="+mn-lt"/>
                <a:ea typeface="Verdana" panose="020B0604030504040204" pitchFamily="34" charset="0"/>
                <a:cs typeface="Verdana" panose="020B0604030504040204" pitchFamily="34" charset="0"/>
              </a:rPr>
              <a:t>Atos is a registered trademark of Atos SE. © 2024 Atos. Confidential information owned by Atos, to be used by the recipient only. This document, or any part of it, may not be reproduced, copied, circulated and/or distributed nor quoted without prior written approval from Atos.</a:t>
            </a:r>
            <a:endParaRPr lang="en-US" sz="800" baseline="0">
              <a:solidFill>
                <a:schemeClr val="accent3"/>
              </a:solidFill>
              <a:latin typeface="+mn-lt"/>
              <a:ea typeface="Verdana" panose="020B0604030504040204" pitchFamily="34" charset="0"/>
              <a:cs typeface="Verdana" panose="020B0604030504040204" pitchFamily="34" charset="0"/>
            </a:endParaRPr>
          </a:p>
        </p:txBody>
      </p:sp>
      <p:sp>
        <p:nvSpPr>
          <p:cNvPr id="4" name="Text Placeholder 12"/>
          <p:cNvSpPr>
            <a:spLocks noGrp="1"/>
          </p:cNvSpPr>
          <p:nvPr>
            <p:ph type="body" sz="quarter" idx="11" hasCustomPrompt="1"/>
          </p:nvPr>
        </p:nvSpPr>
        <p:spPr>
          <a:xfrm>
            <a:off x="428625" y="6316314"/>
            <a:ext cx="2560320" cy="92333"/>
          </a:xfrm>
        </p:spPr>
        <p:txBody>
          <a:bodyPr wrap="none" anchor="ctr">
            <a:noAutofit/>
          </a:bodyPr>
          <a:lstStyle>
            <a:lvl1pPr marL="0" indent="0">
              <a:spcAft>
                <a:spcPts val="0"/>
              </a:spcAft>
              <a:buNone/>
              <a:defRPr sz="600">
                <a:solidFill>
                  <a:schemeClr val="accent3"/>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Job Number-Designer-BP</a:t>
            </a:r>
          </a:p>
        </p:txBody>
      </p:sp>
      <p:sp>
        <p:nvSpPr>
          <p:cNvPr id="2" name="AddCustomFooter#1"/>
          <p:cNvSpPr txBox="1"/>
          <p:nvPr userDrawn="1"/>
        </p:nvSpPr>
        <p:spPr bwMode="gray">
          <a:xfrm>
            <a:off x="5884404" y="6391780"/>
            <a:ext cx="423193"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tab pos="274320" algn="l"/>
                <a:tab pos="411480" algn="l"/>
              </a:tabLst>
              <a:defRPr/>
            </a:pPr>
            <a:r>
              <a:rPr kumimoji="0" lang="en-US" sz="1000" b="0" i="0" u="none" strike="noStrike" kern="1200" cap="none" spc="0" normalizeH="0" baseline="0" noProof="0">
                <a:ln>
                  <a:noFill/>
                </a:ln>
                <a:solidFill>
                  <a:schemeClr val="accent3"/>
                </a:solidFill>
                <a:effectLst/>
                <a:uLnTx/>
                <a:uFillTx/>
                <a:latin typeface="+mn-lt"/>
                <a:ea typeface="Verdana" panose="020B0604030504040204" pitchFamily="34" charset="0"/>
                <a:cs typeface="Verdana" panose="020B0604030504040204" pitchFamily="34" charset="0"/>
              </a:rPr>
              <a:t>© Atos </a:t>
            </a:r>
            <a:endParaRPr lang="nl-NL" sz="900" baseline="0">
              <a:solidFill>
                <a:schemeClr val="accent3"/>
              </a:solidFill>
              <a:latin typeface="+mn-lt"/>
              <a:ea typeface="Verdana" panose="020B0604030504040204" pitchFamily="34" charset="0"/>
              <a:cs typeface="Verdana" panose="020B0604030504040204" pitchFamily="34" charset="0"/>
            </a:endParaRPr>
          </a:p>
        </p:txBody>
      </p:sp>
      <p:sp>
        <p:nvSpPr>
          <p:cNvPr id="5" name="Graphique 10" descr="Atos logo"/>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s only">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303548" y="164637"/>
            <a:ext cx="11436096" cy="338554"/>
          </a:xfrm>
        </p:spPr>
        <p:txBody>
          <a:bodyPr/>
          <a:lstStyle/>
          <a:p>
            <a:pPr lvl="0"/>
            <a:r>
              <a:rPr lang="en-US"/>
              <a:t>Title in </a:t>
            </a:r>
            <a:r>
              <a:rPr lang="en-US" err="1"/>
              <a:t>Raleway</a:t>
            </a:r>
            <a:r>
              <a:rPr lang="en-US"/>
              <a:t> </a:t>
            </a:r>
            <a:r>
              <a:rPr lang="en-US" err="1"/>
              <a:t>SemiBold</a:t>
            </a:r>
            <a:r>
              <a:rPr lang="en-US"/>
              <a:t> 20pt</a:t>
            </a:r>
          </a:p>
        </p:txBody>
      </p:sp>
      <p:sp>
        <p:nvSpPr>
          <p:cNvPr id="3" name="Text Placeholder 4"/>
          <p:cNvSpPr>
            <a:spLocks noGrp="1"/>
          </p:cNvSpPr>
          <p:nvPr>
            <p:ph type="body" sz="quarter" idx="10" hasCustomPrompt="1"/>
          </p:nvPr>
        </p:nvSpPr>
        <p:spPr>
          <a:xfrm>
            <a:off x="303547" y="556610"/>
            <a:ext cx="11436096" cy="580529"/>
          </a:xfrm>
        </p:spPr>
        <p:txBody>
          <a:bodyPr/>
          <a:lstStyle>
            <a:lvl1pPr marL="0" indent="0">
              <a:buNone/>
              <a:defRPr sz="2135">
                <a:solidFill>
                  <a:srgbClr val="0596FF"/>
                </a:solidFill>
                <a:latin typeface="+mj-lt"/>
              </a:defRPr>
            </a:lvl1pPr>
          </a:lstStyle>
          <a:p>
            <a:pPr lvl="0"/>
            <a:r>
              <a:rPr lang="en-US"/>
              <a:t>Subtitle in </a:t>
            </a:r>
            <a:r>
              <a:rPr lang="en-US" err="1"/>
              <a:t>Raleway</a:t>
            </a:r>
            <a:r>
              <a:rPr lang="en-US"/>
              <a:t> </a:t>
            </a:r>
            <a:r>
              <a:rPr lang="en-US" err="1"/>
              <a:t>SemiBold</a:t>
            </a:r>
            <a:r>
              <a:rPr lang="en-US"/>
              <a:t> 16pt</a:t>
            </a:r>
          </a:p>
        </p:txBody>
      </p:sp>
      <p:pic>
        <p:nvPicPr>
          <p:cNvPr id="4" name="图片 3"/>
          <p:cNvPicPr>
            <a:picLocks noChangeAspect="1"/>
          </p:cNvPicPr>
          <p:nvPr userDrawn="1"/>
        </p:nvPicPr>
        <p:blipFill>
          <a:blip r:embed="rId2"/>
          <a:stretch>
            <a:fillRect/>
          </a:stretch>
        </p:blipFill>
        <p:spPr>
          <a:xfrm>
            <a:off x="287947" y="6412870"/>
            <a:ext cx="1742736" cy="343961"/>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Agenda 1">
    <p:spTree>
      <p:nvGrpSpPr>
        <p:cNvPr id="1" name=""/>
        <p:cNvGrpSpPr/>
        <p:nvPr/>
      </p:nvGrpSpPr>
      <p:grpSpPr>
        <a:xfrm>
          <a:off x="0" y="0"/>
          <a:ext cx="0" cy="0"/>
          <a:chOff x="0" y="0"/>
          <a:chExt cx="0" cy="0"/>
        </a:xfrm>
      </p:grpSpPr>
      <p:pic>
        <p:nvPicPr>
          <p:cNvPr id="14" name="Graphic 13"/>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1117917" y="1285493"/>
            <a:ext cx="1545853" cy="1545853"/>
          </a:xfrm>
          <a:prstGeom prst="rect">
            <a:avLst/>
          </a:prstGeom>
        </p:spPr>
      </p:pic>
      <p:sp>
        <p:nvSpPr>
          <p:cNvPr id="15" name="Text Placeholder 6"/>
          <p:cNvSpPr>
            <a:spLocks noGrp="1"/>
          </p:cNvSpPr>
          <p:nvPr>
            <p:ph type="body" sz="quarter" idx="10" hasCustomPrompt="1"/>
          </p:nvPr>
        </p:nvSpPr>
        <p:spPr>
          <a:xfrm>
            <a:off x="2954745" y="1446367"/>
            <a:ext cx="343043" cy="369332"/>
          </a:xfrm>
        </p:spPr>
        <p:txBody>
          <a:bodyPr wrap="none">
            <a:spAutoFit/>
          </a:bodyPr>
          <a:lstStyle>
            <a:lvl1pPr marL="0" indent="0" algn="l">
              <a:spcAft>
                <a:spcPts val="0"/>
              </a:spcAft>
              <a:buNone/>
              <a:defRPr sz="2400">
                <a:solidFill>
                  <a:schemeClr val="accent1"/>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01</a:t>
            </a:r>
          </a:p>
        </p:txBody>
      </p:sp>
      <p:sp>
        <p:nvSpPr>
          <p:cNvPr id="16" name="Text Placeholder 6"/>
          <p:cNvSpPr>
            <a:spLocks noGrp="1"/>
          </p:cNvSpPr>
          <p:nvPr>
            <p:ph type="body" sz="quarter" idx="11" hasCustomPrompt="1"/>
          </p:nvPr>
        </p:nvSpPr>
        <p:spPr>
          <a:xfrm>
            <a:off x="3674348" y="1446367"/>
            <a:ext cx="7521210" cy="822960"/>
          </a:xfrm>
        </p:spPr>
        <p:txBody>
          <a:bodyPr wrap="none">
            <a:noAutofit/>
          </a:bodyPr>
          <a:lstStyle>
            <a:lvl1pPr marL="0" indent="0">
              <a:spcAft>
                <a:spcPts val="0"/>
              </a:spcAft>
              <a:buNone/>
              <a:defRPr sz="24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Chapter title example</a:t>
            </a:r>
          </a:p>
        </p:txBody>
      </p:sp>
      <p:sp>
        <p:nvSpPr>
          <p:cNvPr id="17" name="Text Placeholder 6"/>
          <p:cNvSpPr>
            <a:spLocks noGrp="1"/>
          </p:cNvSpPr>
          <p:nvPr>
            <p:ph type="body" sz="quarter" idx="12" hasCustomPrompt="1"/>
          </p:nvPr>
        </p:nvSpPr>
        <p:spPr>
          <a:xfrm>
            <a:off x="11406268" y="1446367"/>
            <a:ext cx="355867" cy="307777"/>
          </a:xfrm>
        </p:spPr>
        <p:txBody>
          <a:bodyPr wrap="none">
            <a:spAutoFit/>
          </a:bodyPr>
          <a:lstStyle>
            <a:lvl1pPr marL="0" indent="0" algn="r">
              <a:spcAft>
                <a:spcPts val="0"/>
              </a:spcAft>
              <a:buNone/>
              <a:defRPr sz="20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00</a:t>
            </a:r>
          </a:p>
        </p:txBody>
      </p:sp>
      <p:sp>
        <p:nvSpPr>
          <p:cNvPr id="21" name="Text Placeholder 6"/>
          <p:cNvSpPr>
            <a:spLocks noGrp="1"/>
          </p:cNvSpPr>
          <p:nvPr>
            <p:ph type="body" sz="quarter" idx="16" hasCustomPrompt="1"/>
          </p:nvPr>
        </p:nvSpPr>
        <p:spPr>
          <a:xfrm>
            <a:off x="2954745" y="2713569"/>
            <a:ext cx="395942" cy="369332"/>
          </a:xfrm>
        </p:spPr>
        <p:txBody>
          <a:bodyPr wrap="none">
            <a:spAutoFit/>
          </a:bodyPr>
          <a:lstStyle>
            <a:lvl1pPr marL="0" indent="0" algn="l">
              <a:spcAft>
                <a:spcPts val="0"/>
              </a:spcAft>
              <a:buNone/>
              <a:defRPr sz="2400">
                <a:solidFill>
                  <a:schemeClr val="accent1"/>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02</a:t>
            </a:r>
          </a:p>
        </p:txBody>
      </p:sp>
      <p:sp>
        <p:nvSpPr>
          <p:cNvPr id="22" name="Text Placeholder 6"/>
          <p:cNvSpPr>
            <a:spLocks noGrp="1"/>
          </p:cNvSpPr>
          <p:nvPr>
            <p:ph type="body" sz="quarter" idx="17" hasCustomPrompt="1"/>
          </p:nvPr>
        </p:nvSpPr>
        <p:spPr>
          <a:xfrm>
            <a:off x="3674348" y="2713569"/>
            <a:ext cx="7521210" cy="822960"/>
          </a:xfrm>
        </p:spPr>
        <p:txBody>
          <a:bodyPr wrap="none">
            <a:noAutofit/>
          </a:bodyPr>
          <a:lstStyle>
            <a:lvl1pPr marL="0" indent="0">
              <a:spcAft>
                <a:spcPts val="0"/>
              </a:spcAft>
              <a:buNone/>
              <a:defRPr sz="24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Chapter title example</a:t>
            </a:r>
          </a:p>
        </p:txBody>
      </p:sp>
      <p:sp>
        <p:nvSpPr>
          <p:cNvPr id="23" name="Text Placeholder 6"/>
          <p:cNvSpPr>
            <a:spLocks noGrp="1"/>
          </p:cNvSpPr>
          <p:nvPr>
            <p:ph type="body" sz="quarter" idx="18" hasCustomPrompt="1"/>
          </p:nvPr>
        </p:nvSpPr>
        <p:spPr>
          <a:xfrm>
            <a:off x="11406268" y="2713569"/>
            <a:ext cx="355867" cy="307777"/>
          </a:xfrm>
        </p:spPr>
        <p:txBody>
          <a:bodyPr wrap="none">
            <a:spAutoFit/>
          </a:bodyPr>
          <a:lstStyle>
            <a:lvl1pPr marL="0" indent="0" algn="r">
              <a:spcAft>
                <a:spcPts val="0"/>
              </a:spcAft>
              <a:buNone/>
              <a:defRPr sz="20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00</a:t>
            </a:r>
          </a:p>
        </p:txBody>
      </p:sp>
      <p:sp>
        <p:nvSpPr>
          <p:cNvPr id="27" name="Text Placeholder 6"/>
          <p:cNvSpPr>
            <a:spLocks noGrp="1"/>
          </p:cNvSpPr>
          <p:nvPr>
            <p:ph type="body" sz="quarter" idx="22" hasCustomPrompt="1"/>
          </p:nvPr>
        </p:nvSpPr>
        <p:spPr>
          <a:xfrm>
            <a:off x="2954745" y="3980771"/>
            <a:ext cx="397545" cy="369332"/>
          </a:xfrm>
        </p:spPr>
        <p:txBody>
          <a:bodyPr wrap="none">
            <a:spAutoFit/>
          </a:bodyPr>
          <a:lstStyle>
            <a:lvl1pPr marL="0" indent="0" algn="l">
              <a:spcAft>
                <a:spcPts val="0"/>
              </a:spcAft>
              <a:buNone/>
              <a:defRPr sz="2400">
                <a:solidFill>
                  <a:schemeClr val="accent1"/>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03</a:t>
            </a:r>
          </a:p>
        </p:txBody>
      </p:sp>
      <p:sp>
        <p:nvSpPr>
          <p:cNvPr id="28" name="Text Placeholder 6"/>
          <p:cNvSpPr>
            <a:spLocks noGrp="1"/>
          </p:cNvSpPr>
          <p:nvPr>
            <p:ph type="body" sz="quarter" idx="23" hasCustomPrompt="1"/>
          </p:nvPr>
        </p:nvSpPr>
        <p:spPr>
          <a:xfrm>
            <a:off x="3674348" y="3980771"/>
            <a:ext cx="7521210" cy="822960"/>
          </a:xfrm>
        </p:spPr>
        <p:txBody>
          <a:bodyPr wrap="none">
            <a:noAutofit/>
          </a:bodyPr>
          <a:lstStyle>
            <a:lvl1pPr marL="0" indent="0">
              <a:spcAft>
                <a:spcPts val="0"/>
              </a:spcAft>
              <a:buNone/>
              <a:defRPr sz="24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Chapter title example</a:t>
            </a:r>
          </a:p>
        </p:txBody>
      </p:sp>
      <p:sp>
        <p:nvSpPr>
          <p:cNvPr id="29" name="Text Placeholder 6"/>
          <p:cNvSpPr>
            <a:spLocks noGrp="1"/>
          </p:cNvSpPr>
          <p:nvPr>
            <p:ph type="body" sz="quarter" idx="24" hasCustomPrompt="1"/>
          </p:nvPr>
        </p:nvSpPr>
        <p:spPr>
          <a:xfrm>
            <a:off x="11406268" y="3980771"/>
            <a:ext cx="355867" cy="307777"/>
          </a:xfrm>
        </p:spPr>
        <p:txBody>
          <a:bodyPr wrap="none">
            <a:spAutoFit/>
          </a:bodyPr>
          <a:lstStyle>
            <a:lvl1pPr marL="0" indent="0" algn="r">
              <a:spcAft>
                <a:spcPts val="0"/>
              </a:spcAft>
              <a:buNone/>
              <a:defRPr sz="20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00</a:t>
            </a:r>
          </a:p>
        </p:txBody>
      </p:sp>
      <p:sp>
        <p:nvSpPr>
          <p:cNvPr id="30" name="Text Placeholder 6"/>
          <p:cNvSpPr>
            <a:spLocks noGrp="1"/>
          </p:cNvSpPr>
          <p:nvPr>
            <p:ph type="body" sz="quarter" idx="25" hasCustomPrompt="1"/>
          </p:nvPr>
        </p:nvSpPr>
        <p:spPr>
          <a:xfrm>
            <a:off x="2954745" y="5247973"/>
            <a:ext cx="403957" cy="369332"/>
          </a:xfrm>
        </p:spPr>
        <p:txBody>
          <a:bodyPr wrap="none">
            <a:spAutoFit/>
          </a:bodyPr>
          <a:lstStyle>
            <a:lvl1pPr marL="0" indent="0" algn="l">
              <a:spcAft>
                <a:spcPts val="0"/>
              </a:spcAft>
              <a:buNone/>
              <a:defRPr sz="2400">
                <a:solidFill>
                  <a:schemeClr val="accent1"/>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04</a:t>
            </a:r>
          </a:p>
        </p:txBody>
      </p:sp>
      <p:sp>
        <p:nvSpPr>
          <p:cNvPr id="31" name="Text Placeholder 6"/>
          <p:cNvSpPr>
            <a:spLocks noGrp="1"/>
          </p:cNvSpPr>
          <p:nvPr>
            <p:ph type="body" sz="quarter" idx="26" hasCustomPrompt="1"/>
          </p:nvPr>
        </p:nvSpPr>
        <p:spPr>
          <a:xfrm>
            <a:off x="3674348" y="5247973"/>
            <a:ext cx="7521210" cy="822960"/>
          </a:xfrm>
        </p:spPr>
        <p:txBody>
          <a:bodyPr wrap="none">
            <a:noAutofit/>
          </a:bodyPr>
          <a:lstStyle>
            <a:lvl1pPr marL="0" indent="0">
              <a:spcAft>
                <a:spcPts val="0"/>
              </a:spcAft>
              <a:buNone/>
              <a:defRPr sz="24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Chapter title example</a:t>
            </a:r>
          </a:p>
        </p:txBody>
      </p:sp>
      <p:sp>
        <p:nvSpPr>
          <p:cNvPr id="32" name="Text Placeholder 6"/>
          <p:cNvSpPr>
            <a:spLocks noGrp="1"/>
          </p:cNvSpPr>
          <p:nvPr>
            <p:ph type="body" sz="quarter" idx="27" hasCustomPrompt="1"/>
          </p:nvPr>
        </p:nvSpPr>
        <p:spPr>
          <a:xfrm>
            <a:off x="11406268" y="5247973"/>
            <a:ext cx="355867" cy="307777"/>
          </a:xfrm>
        </p:spPr>
        <p:txBody>
          <a:bodyPr wrap="none">
            <a:spAutoFit/>
          </a:bodyPr>
          <a:lstStyle>
            <a:lvl1pPr marL="0" indent="0" algn="r">
              <a:spcAft>
                <a:spcPts val="0"/>
              </a:spcAft>
              <a:buNone/>
              <a:defRPr sz="20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00</a:t>
            </a:r>
          </a:p>
        </p:txBody>
      </p:sp>
      <p:sp>
        <p:nvSpPr>
          <p:cNvPr id="2" name="Title 1"/>
          <p:cNvSpPr>
            <a:spLocks noGrp="1"/>
          </p:cNvSpPr>
          <p:nvPr>
            <p:ph type="title" hasCustomPrompt="1"/>
          </p:nvPr>
        </p:nvSpPr>
        <p:spPr>
          <a:xfrm>
            <a:off x="428624" y="291451"/>
            <a:ext cx="11337925" cy="912315"/>
          </a:xfrm>
        </p:spPr>
        <p:txBody>
          <a:bodyPr/>
          <a:lstStyle>
            <a:lvl1pPr>
              <a:defRPr sz="3600">
                <a:solidFill>
                  <a:schemeClr val="accent3"/>
                </a:solidFill>
              </a:defRPr>
            </a:lvl1pPr>
          </a:lstStyle>
          <a:p>
            <a:r>
              <a:rPr lang="en-US"/>
              <a:t>Contents</a:t>
            </a:r>
          </a:p>
        </p:txBody>
      </p:sp>
      <p:sp>
        <p:nvSpPr>
          <p:cNvPr id="4" name="Slide Number Placeholder 5"/>
          <p:cNvSpPr>
            <a:spLocks noGrp="1"/>
          </p:cNvSpPr>
          <p:nvPr>
            <p:ph type="sldNum" sz="quarter" idx="4"/>
          </p:nvPr>
        </p:nvSpPr>
        <p:spPr>
          <a:xfrm>
            <a:off x="428625" y="6507907"/>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anose="020B0604030504040204" pitchFamily="34" charset="0"/>
                <a:cs typeface="Raleway Medium" pitchFamily="2" charset="0"/>
              </a:defRPr>
            </a:lvl1pPr>
          </a:lstStyle>
          <a:p>
            <a:fld id="{DAF489CC-3B7A-4DA5-A8C0-4984788D0EC5}" type="slidenum">
              <a:rPr lang="nl-NL" smtClean="0"/>
              <a:t>‹#›</a:t>
            </a:fld>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Chapter 1">
    <p:spTree>
      <p:nvGrpSpPr>
        <p:cNvPr id="1" name=""/>
        <p:cNvGrpSpPr/>
        <p:nvPr/>
      </p:nvGrpSpPr>
      <p:grpSpPr>
        <a:xfrm>
          <a:off x="0" y="0"/>
          <a:ext cx="0" cy="0"/>
          <a:chOff x="0" y="0"/>
          <a:chExt cx="0" cy="0"/>
        </a:xfrm>
      </p:grpSpPr>
      <p:pic>
        <p:nvPicPr>
          <p:cNvPr id="3" name="Graphic 2"/>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6" name="Text Placeholder 5"/>
          <p:cNvSpPr>
            <a:spLocks noGrp="1"/>
          </p:cNvSpPr>
          <p:nvPr>
            <p:ph type="body" sz="quarter" idx="10" hasCustomPrompt="1"/>
          </p:nvPr>
        </p:nvSpPr>
        <p:spPr>
          <a:xfrm>
            <a:off x="390098" y="389618"/>
            <a:ext cx="1376980" cy="1477328"/>
          </a:xfrm>
        </p:spPr>
        <p:txBody>
          <a:bodyPr wrap="none">
            <a:spAutoFit/>
          </a:bodyPr>
          <a:lstStyle>
            <a:lvl1pPr marL="0" indent="0">
              <a:lnSpc>
                <a:spcPct val="100000"/>
              </a:lnSpc>
              <a:spcAft>
                <a:spcPts val="0"/>
              </a:spcAft>
              <a:buNone/>
              <a:defRPr sz="9600">
                <a:solidFill>
                  <a:schemeClr val="accent3"/>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01</a:t>
            </a:r>
          </a:p>
        </p:txBody>
      </p:sp>
      <p:sp>
        <p:nvSpPr>
          <p:cNvPr id="4" name="Graphique 10"/>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
        <p:nvSpPr>
          <p:cNvPr id="2" name="Title 1"/>
          <p:cNvSpPr>
            <a:spLocks noGrp="1"/>
          </p:cNvSpPr>
          <p:nvPr>
            <p:ph type="title" hasCustomPrompt="1"/>
          </p:nvPr>
        </p:nvSpPr>
        <p:spPr>
          <a:xfrm>
            <a:off x="1786976" y="1866946"/>
            <a:ext cx="7094047" cy="1929683"/>
          </a:xfrm>
        </p:spPr>
        <p:txBody>
          <a:bodyPr wrap="square">
            <a:noAutofit/>
          </a:bodyPr>
          <a:lstStyle>
            <a:lvl1pPr>
              <a:lnSpc>
                <a:spcPct val="100000"/>
              </a:lnSpc>
              <a:defRPr sz="5400">
                <a:solidFill>
                  <a:schemeClr val="accent3"/>
                </a:solidFill>
              </a:defRPr>
            </a:lvl1pPr>
          </a:lstStyle>
          <a:p>
            <a:r>
              <a:rPr lang="en-US"/>
              <a:t>Chapter title</a:t>
            </a:r>
            <a:br>
              <a:rPr lang="en-US"/>
            </a:br>
            <a:r>
              <a:rPr lang="en-US"/>
              <a:t>two lines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Two curve">
    <p:bg>
      <p:bgPr>
        <a:solidFill>
          <a:schemeClr val="accent3"/>
        </a:solidFill>
        <a:effectLst/>
      </p:bgPr>
    </p:bg>
    <p:spTree>
      <p:nvGrpSpPr>
        <p:cNvPr id="1" name=""/>
        <p:cNvGrpSpPr/>
        <p:nvPr/>
      </p:nvGrpSpPr>
      <p:grpSpPr>
        <a:xfrm>
          <a:off x="0" y="0"/>
          <a:ext cx="0" cy="0"/>
          <a:chOff x="0" y="0"/>
          <a:chExt cx="0" cy="0"/>
        </a:xfrm>
      </p:grpSpPr>
      <p:pic>
        <p:nvPicPr>
          <p:cNvPr id="6" name="Graphic 5"/>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6588030" y="0"/>
            <a:ext cx="4884392" cy="4884392"/>
          </a:xfrm>
          <a:prstGeom prst="rect">
            <a:avLst/>
          </a:prstGeom>
        </p:spPr>
      </p:pic>
      <p:pic>
        <p:nvPicPr>
          <p:cNvPr id="8" name="Graphic 7"/>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59594"/>
          <a:stretch>
            <a:fillRect/>
          </a:stretch>
        </p:blipFill>
        <p:spPr>
          <a:xfrm>
            <a:off x="1703638" y="4884393"/>
            <a:ext cx="4884392" cy="1973607"/>
          </a:xfrm>
          <a:prstGeom prst="rect">
            <a:avLst/>
          </a:prstGeom>
        </p:spPr>
      </p:pic>
      <p:sp>
        <p:nvSpPr>
          <p:cNvPr id="3" name="Subtitle 2"/>
          <p:cNvSpPr>
            <a:spLocks noGrp="1"/>
          </p:cNvSpPr>
          <p:nvPr>
            <p:ph type="subTitle" idx="1" hasCustomPrompt="1"/>
          </p:nvPr>
        </p:nvSpPr>
        <p:spPr>
          <a:xfrm>
            <a:off x="428625" y="4765675"/>
            <a:ext cx="3992904" cy="969962"/>
          </a:xfrm>
        </p:spPr>
        <p:txBody>
          <a:bodyPr wrap="none">
            <a:noAutofit/>
          </a:bodyPr>
          <a:lstStyle>
            <a:lvl1pPr marL="0" indent="0" algn="l">
              <a:spcAft>
                <a:spcPts val="0"/>
              </a:spcAft>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p>
        </p:txBody>
      </p:sp>
      <p:sp>
        <p:nvSpPr>
          <p:cNvPr id="4" name="Graphique 10"/>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2" name="Text Placeholder 8"/>
          <p:cNvSpPr>
            <a:spLocks noGrp="1"/>
          </p:cNvSpPr>
          <p:nvPr>
            <p:ph type="body" sz="quarter" idx="10" hasCustomPrompt="1"/>
          </p:nvPr>
        </p:nvSpPr>
        <p:spPr>
          <a:xfrm>
            <a:off x="428625" y="1456679"/>
            <a:ext cx="6766560" cy="1844936"/>
          </a:xfrm>
        </p:spPr>
        <p:txBody>
          <a:bodyPr/>
          <a:lstStyle>
            <a:lvl1pPr marL="0" indent="0">
              <a:spcAft>
                <a:spcPts val="300"/>
              </a:spcAft>
              <a:buNone/>
              <a:defRPr sz="4400">
                <a:solidFill>
                  <a:schemeClr val="bg1"/>
                </a:solidFill>
                <a:latin typeface="+mj-lt"/>
              </a:defRPr>
            </a:lvl1pPr>
            <a:lvl2pPr marL="0" indent="0">
              <a:spcAft>
                <a:spcPts val="300"/>
              </a:spcAft>
              <a:buNone/>
              <a:defRPr sz="3200" baseline="0">
                <a:solidFill>
                  <a:schemeClr val="accent3"/>
                </a:solidFill>
                <a:latin typeface="+mj-lt"/>
              </a:defRPr>
            </a:lvl2pPr>
          </a:lstStyle>
          <a:p>
            <a:pPr lvl="0"/>
            <a:r>
              <a:rPr lang="en-US"/>
              <a:t>Presentation title</a:t>
            </a:r>
          </a:p>
        </p:txBody>
      </p:sp>
      <p:sp>
        <p:nvSpPr>
          <p:cNvPr id="5" name="Text Placeholder 5"/>
          <p:cNvSpPr>
            <a:spLocks noGrp="1"/>
          </p:cNvSpPr>
          <p:nvPr>
            <p:ph type="body" sz="quarter" idx="12" hasCustomPrompt="1"/>
          </p:nvPr>
        </p:nvSpPr>
        <p:spPr>
          <a:xfrm>
            <a:off x="428625" y="2084535"/>
            <a:ext cx="6766560" cy="1217080"/>
          </a:xfrm>
        </p:spPr>
        <p:txBody>
          <a:bodyPr/>
          <a:lstStyle>
            <a:lvl1pPr marL="0" indent="0">
              <a:buNone/>
              <a:defRPr sz="3200">
                <a:solidFill>
                  <a:schemeClr val="accent2"/>
                </a:solidFill>
                <a:latin typeface="+mj-lt"/>
              </a:defRPr>
            </a:lvl1pPr>
          </a:lstStyle>
          <a:p>
            <a:pPr lvl="0"/>
            <a:r>
              <a:rPr lang="en-US"/>
              <a:t>Subtitle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中文正文">
    <p:spTree>
      <p:nvGrpSpPr>
        <p:cNvPr id="1" name=""/>
        <p:cNvGrpSpPr/>
        <p:nvPr/>
      </p:nvGrpSpPr>
      <p:grpSpPr>
        <a:xfrm>
          <a:off x="0" y="0"/>
          <a:ext cx="0" cy="0"/>
          <a:chOff x="0" y="0"/>
          <a:chExt cx="0" cy="0"/>
        </a:xfrm>
      </p:grpSpPr>
      <p:pic>
        <p:nvPicPr>
          <p:cNvPr id="8" name="Picture 7" descr="Bildergebnis fÃ¼r industrie 4.0 futuristisch"/>
          <p:cNvPicPr>
            <a:picLocks noChangeAspect="1" noChangeArrowheads="1"/>
          </p:cNvPicPr>
          <p:nvPr userDrawn="1"/>
        </p:nvPicPr>
        <p:blipFill rotWithShape="1">
          <a:blip r:embed="rId2" cstate="email"/>
          <a:srcRect/>
          <a:stretch>
            <a:fillRect/>
          </a:stretch>
        </p:blipFill>
        <p:spPr bwMode="auto">
          <a:xfrm>
            <a:off x="0" y="0"/>
            <a:ext cx="12192000" cy="6881005"/>
          </a:xfrm>
          <a:prstGeom prst="rect">
            <a:avLst/>
          </a:prstGeom>
          <a:noFill/>
          <a:extLst>
            <a:ext uri="{909E8E84-426E-40DD-AFC4-6F175D3DCCD1}">
              <a14:hiddenFill xmlns:a14="http://schemas.microsoft.com/office/drawing/2010/main">
                <a:solidFill>
                  <a:srgbClr val="FFFFFF"/>
                </a:solidFill>
              </a14:hiddenFill>
            </a:ext>
          </a:extLst>
        </p:spPr>
      </p:pic>
      <p:sp>
        <p:nvSpPr>
          <p:cNvPr id="9" name="Rechteck 24"/>
          <p:cNvSpPr/>
          <p:nvPr userDrawn="1"/>
        </p:nvSpPr>
        <p:spPr>
          <a:xfrm>
            <a:off x="-4" y="0"/>
            <a:ext cx="12192000" cy="6881005"/>
          </a:xfrm>
          <a:prstGeom prst="rect">
            <a:avLst/>
          </a:prstGeom>
          <a:gradFill>
            <a:gsLst>
              <a:gs pos="42000">
                <a:schemeClr val="tx1">
                  <a:lumMod val="0"/>
                  <a:lumOff val="100000"/>
                </a:schemeClr>
              </a:gs>
              <a:gs pos="100000">
                <a:schemeClr val="bg1">
                  <a:alpha val="6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Verdana" panose="020B0604030504040204"/>
            </a:endParaRPr>
          </a:p>
        </p:txBody>
      </p:sp>
      <p:sp>
        <p:nvSpPr>
          <p:cNvPr id="5" name="object 2"/>
          <p:cNvSpPr/>
          <p:nvPr userDrawn="1"/>
        </p:nvSpPr>
        <p:spPr>
          <a:xfrm>
            <a:off x="5" y="6503027"/>
            <a:ext cx="390617" cy="0"/>
          </a:xfrm>
          <a:custGeom>
            <a:avLst/>
            <a:gdLst/>
            <a:ahLst/>
            <a:cxnLst/>
            <a:rect l="l" t="t" r="r" b="b"/>
            <a:pathLst>
              <a:path w="293370">
                <a:moveTo>
                  <a:pt x="0" y="0"/>
                </a:moveTo>
                <a:lnTo>
                  <a:pt x="293268" y="0"/>
                </a:lnTo>
              </a:path>
            </a:pathLst>
          </a:custGeom>
          <a:ln w="12700">
            <a:solidFill>
              <a:schemeClr val="accent1"/>
            </a:solidFill>
          </a:ln>
        </p:spPr>
        <p:txBody>
          <a:bodyPr wrap="square" lIns="0" tIns="0" rIns="0" bIns="0" rtlCol="0"/>
          <a:lstStyle/>
          <a:p>
            <a:endParaRPr/>
          </a:p>
        </p:txBody>
      </p:sp>
      <p:sp>
        <p:nvSpPr>
          <p:cNvPr id="6" name="object 12"/>
          <p:cNvSpPr/>
          <p:nvPr userDrawn="1"/>
        </p:nvSpPr>
        <p:spPr>
          <a:xfrm>
            <a:off x="5" y="518500"/>
            <a:ext cx="390617" cy="0"/>
          </a:xfrm>
          <a:custGeom>
            <a:avLst/>
            <a:gdLst/>
            <a:ahLst/>
            <a:cxnLst/>
            <a:rect l="l" t="t" r="r" b="b"/>
            <a:pathLst>
              <a:path w="293370">
                <a:moveTo>
                  <a:pt x="0" y="0"/>
                </a:moveTo>
                <a:lnTo>
                  <a:pt x="293268" y="0"/>
                </a:lnTo>
              </a:path>
            </a:pathLst>
          </a:custGeom>
          <a:ln w="12700">
            <a:solidFill>
              <a:schemeClr val="accent1"/>
            </a:solidFill>
          </a:ln>
        </p:spPr>
        <p:txBody>
          <a:bodyPr wrap="square" lIns="0" tIns="0" rIns="0" bIns="0" rtlCol="0"/>
          <a:lstStyle/>
          <a:p>
            <a:endParaRPr/>
          </a:p>
        </p:txBody>
      </p:sp>
      <p:pic>
        <p:nvPicPr>
          <p:cNvPr id="15" name="Picture 1" descr="Trusted Digital Partner w- Atos Logo blue blk.png"/>
          <p:cNvPicPr>
            <a:picLocks noChangeAspect="1"/>
          </p:cNvPicPr>
          <p:nvPr userDrawn="1"/>
        </p:nvPicPr>
        <p:blipFill rotWithShape="1">
          <a:blip r:embed="rId3" cstate="screen"/>
          <a:srcRect/>
          <a:stretch>
            <a:fillRect/>
          </a:stretch>
        </p:blipFill>
        <p:spPr>
          <a:xfrm>
            <a:off x="10970283" y="6294153"/>
            <a:ext cx="960924" cy="317975"/>
          </a:xfrm>
          <a:prstGeom prst="rect">
            <a:avLst/>
          </a:prstGeom>
        </p:spPr>
      </p:pic>
      <p:sp>
        <p:nvSpPr>
          <p:cNvPr id="12" name="Title 1"/>
          <p:cNvSpPr>
            <a:spLocks noGrp="1"/>
          </p:cNvSpPr>
          <p:nvPr>
            <p:ph type="title"/>
          </p:nvPr>
        </p:nvSpPr>
        <p:spPr>
          <a:xfrm>
            <a:off x="398287" y="222339"/>
            <a:ext cx="11655040" cy="756000"/>
          </a:xfrm>
          <a:prstGeom prst="rect">
            <a:avLst/>
          </a:prstGeom>
        </p:spPr>
        <p:txBody>
          <a:bodyPr/>
          <a:lstStyle>
            <a:lvl1pPr>
              <a:defRPr sz="2935" b="0">
                <a:solidFill>
                  <a:schemeClr val="accent1"/>
                </a:solidFill>
                <a:latin typeface="微软雅黑" panose="020B0503020204020204" pitchFamily="34" charset="-122"/>
                <a:ea typeface="微软雅黑" panose="020B0503020204020204" pitchFamily="34" charset="-122"/>
                <a:sym typeface="Verdana" panose="020B0604030504040204" pitchFamily="34" charset="0"/>
              </a:defRPr>
            </a:lvl1pPr>
          </a:lstStyle>
          <a:p>
            <a:endParaRPr lang="nl-NL"/>
          </a:p>
        </p:txBody>
      </p:sp>
      <p:pic>
        <p:nvPicPr>
          <p:cNvPr id="11" name="Picture 10"/>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92988" y="6424099"/>
            <a:ext cx="2180299" cy="114767"/>
          </a:xfrm>
          <a:prstGeom prst="rect">
            <a:avLst/>
          </a:prstGeom>
        </p:spPr>
      </p:pic>
      <p:sp>
        <p:nvSpPr>
          <p:cNvPr id="13" name="Text Box 5"/>
          <p:cNvSpPr txBox="1">
            <a:spLocks noChangeArrowheads="1"/>
          </p:cNvSpPr>
          <p:nvPr userDrawn="1"/>
        </p:nvSpPr>
        <p:spPr bwMode="auto">
          <a:xfrm>
            <a:off x="-16213" y="6276266"/>
            <a:ext cx="825500" cy="339793"/>
          </a:xfrm>
          <a:prstGeom prst="rect">
            <a:avLst/>
          </a:prstGeom>
          <a:noFill/>
          <a:ln>
            <a:noFill/>
          </a:ln>
        </p:spPr>
        <p:txBody>
          <a:bodyPr lIns="133359" tIns="66685" rIns="133359" bIns="66685" anchor="ctr">
            <a:spAutoFit/>
          </a:bodyPr>
          <a:lstStyle>
            <a:lvl1pPr defTabSz="415925" eaLnBrk="0" hangingPunct="0">
              <a:tabLst>
                <a:tab pos="0" algn="l"/>
                <a:tab pos="847725" algn="l"/>
                <a:tab pos="1695450" algn="l"/>
                <a:tab pos="2543175" algn="l"/>
                <a:tab pos="3388995" algn="l"/>
                <a:tab pos="4238625" algn="l"/>
                <a:tab pos="5083175" algn="l"/>
                <a:tab pos="5934075" algn="l"/>
                <a:tab pos="6778625" algn="l"/>
                <a:tab pos="7627620" algn="l"/>
                <a:tab pos="8474075" algn="l"/>
                <a:tab pos="9316720" algn="l"/>
              </a:tabLst>
              <a:defRPr sz="2400">
                <a:solidFill>
                  <a:schemeClr val="tx1"/>
                </a:solidFill>
                <a:latin typeface="Lucida Sans Unicode" panose="020B0602030504020204" pitchFamily="34" charset="0"/>
                <a:ea typeface="MS PGothic" panose="020B0600070205080204" pitchFamily="34" charset="-128"/>
              </a:defRPr>
            </a:lvl1pPr>
            <a:lvl2pPr marL="742950" indent="-285750" defTabSz="415925" eaLnBrk="0" hangingPunct="0">
              <a:tabLst>
                <a:tab pos="0" algn="l"/>
                <a:tab pos="847725" algn="l"/>
                <a:tab pos="1695450" algn="l"/>
                <a:tab pos="2543175" algn="l"/>
                <a:tab pos="3388995" algn="l"/>
                <a:tab pos="4238625" algn="l"/>
                <a:tab pos="5083175" algn="l"/>
                <a:tab pos="5934075" algn="l"/>
                <a:tab pos="6778625" algn="l"/>
                <a:tab pos="7627620" algn="l"/>
                <a:tab pos="8474075" algn="l"/>
                <a:tab pos="9316720" algn="l"/>
              </a:tabLst>
              <a:defRPr sz="2400">
                <a:solidFill>
                  <a:schemeClr val="tx1"/>
                </a:solidFill>
                <a:latin typeface="Lucida Sans Unicode" panose="020B0602030504020204" pitchFamily="34" charset="0"/>
                <a:ea typeface="MS PGothic" panose="020B0600070205080204" pitchFamily="34" charset="-128"/>
              </a:defRPr>
            </a:lvl2pPr>
            <a:lvl3pPr marL="1143000" indent="-228600" defTabSz="415925" eaLnBrk="0" hangingPunct="0">
              <a:tabLst>
                <a:tab pos="0" algn="l"/>
                <a:tab pos="847725" algn="l"/>
                <a:tab pos="1695450" algn="l"/>
                <a:tab pos="2543175" algn="l"/>
                <a:tab pos="3388995" algn="l"/>
                <a:tab pos="4238625" algn="l"/>
                <a:tab pos="5083175" algn="l"/>
                <a:tab pos="5934075" algn="l"/>
                <a:tab pos="6778625" algn="l"/>
                <a:tab pos="7627620" algn="l"/>
                <a:tab pos="8474075" algn="l"/>
                <a:tab pos="9316720" algn="l"/>
              </a:tabLst>
              <a:defRPr sz="2400">
                <a:solidFill>
                  <a:schemeClr val="tx1"/>
                </a:solidFill>
                <a:latin typeface="Lucida Sans Unicode" panose="020B0602030504020204" pitchFamily="34" charset="0"/>
                <a:ea typeface="MS PGothic" panose="020B0600070205080204" pitchFamily="34" charset="-128"/>
              </a:defRPr>
            </a:lvl3pPr>
            <a:lvl4pPr marL="1600200" indent="-228600" defTabSz="415925" eaLnBrk="0" hangingPunct="0">
              <a:tabLst>
                <a:tab pos="0" algn="l"/>
                <a:tab pos="847725" algn="l"/>
                <a:tab pos="1695450" algn="l"/>
                <a:tab pos="2543175" algn="l"/>
                <a:tab pos="3388995" algn="l"/>
                <a:tab pos="4238625" algn="l"/>
                <a:tab pos="5083175" algn="l"/>
                <a:tab pos="5934075" algn="l"/>
                <a:tab pos="6778625" algn="l"/>
                <a:tab pos="7627620" algn="l"/>
                <a:tab pos="8474075" algn="l"/>
                <a:tab pos="9316720" algn="l"/>
              </a:tabLst>
              <a:defRPr sz="2400">
                <a:solidFill>
                  <a:schemeClr val="tx1"/>
                </a:solidFill>
                <a:latin typeface="Lucida Sans Unicode" panose="020B0602030504020204" pitchFamily="34" charset="0"/>
                <a:ea typeface="MS PGothic" panose="020B0600070205080204" pitchFamily="34" charset="-128"/>
              </a:defRPr>
            </a:lvl4pPr>
            <a:lvl5pPr marL="2057400" indent="-228600" defTabSz="415925" eaLnBrk="0" hangingPunct="0">
              <a:tabLst>
                <a:tab pos="0" algn="l"/>
                <a:tab pos="847725" algn="l"/>
                <a:tab pos="1695450" algn="l"/>
                <a:tab pos="2543175" algn="l"/>
                <a:tab pos="3388995" algn="l"/>
                <a:tab pos="4238625" algn="l"/>
                <a:tab pos="5083175" algn="l"/>
                <a:tab pos="5934075" algn="l"/>
                <a:tab pos="6778625" algn="l"/>
                <a:tab pos="7627620" algn="l"/>
                <a:tab pos="8474075" algn="l"/>
                <a:tab pos="9316720" algn="l"/>
              </a:tabLst>
              <a:defRPr sz="2400">
                <a:solidFill>
                  <a:schemeClr val="tx1"/>
                </a:solidFill>
                <a:latin typeface="Lucida Sans Unicode" panose="020B0602030504020204" pitchFamily="34" charset="0"/>
                <a:ea typeface="MS PGothic" panose="020B0600070205080204" pitchFamily="34" charset="-128"/>
              </a:defRPr>
            </a:lvl5pPr>
            <a:lvl6pPr marL="2514600" indent="-228600" defTabSz="415925" eaLnBrk="0" fontAlgn="base" hangingPunct="0">
              <a:spcBef>
                <a:spcPct val="0"/>
              </a:spcBef>
              <a:spcAft>
                <a:spcPct val="0"/>
              </a:spcAft>
              <a:tabLst>
                <a:tab pos="0" algn="l"/>
                <a:tab pos="847725" algn="l"/>
                <a:tab pos="1695450" algn="l"/>
                <a:tab pos="2543175" algn="l"/>
                <a:tab pos="3388995" algn="l"/>
                <a:tab pos="4238625" algn="l"/>
                <a:tab pos="5083175" algn="l"/>
                <a:tab pos="5934075" algn="l"/>
                <a:tab pos="6778625" algn="l"/>
                <a:tab pos="7627620" algn="l"/>
                <a:tab pos="8474075" algn="l"/>
                <a:tab pos="9316720" algn="l"/>
              </a:tabLst>
              <a:defRPr sz="2400">
                <a:solidFill>
                  <a:schemeClr val="tx1"/>
                </a:solidFill>
                <a:latin typeface="Lucida Sans Unicode" panose="020B0602030504020204" pitchFamily="34" charset="0"/>
                <a:ea typeface="MS PGothic" panose="020B0600070205080204" pitchFamily="34" charset="-128"/>
              </a:defRPr>
            </a:lvl6pPr>
            <a:lvl7pPr marL="2971800" indent="-228600" defTabSz="415925" eaLnBrk="0" fontAlgn="base" hangingPunct="0">
              <a:spcBef>
                <a:spcPct val="0"/>
              </a:spcBef>
              <a:spcAft>
                <a:spcPct val="0"/>
              </a:spcAft>
              <a:tabLst>
                <a:tab pos="0" algn="l"/>
                <a:tab pos="847725" algn="l"/>
                <a:tab pos="1695450" algn="l"/>
                <a:tab pos="2543175" algn="l"/>
                <a:tab pos="3388995" algn="l"/>
                <a:tab pos="4238625" algn="l"/>
                <a:tab pos="5083175" algn="l"/>
                <a:tab pos="5934075" algn="l"/>
                <a:tab pos="6778625" algn="l"/>
                <a:tab pos="7627620" algn="l"/>
                <a:tab pos="8474075" algn="l"/>
                <a:tab pos="9316720" algn="l"/>
              </a:tabLst>
              <a:defRPr sz="2400">
                <a:solidFill>
                  <a:schemeClr val="tx1"/>
                </a:solidFill>
                <a:latin typeface="Lucida Sans Unicode" panose="020B0602030504020204" pitchFamily="34" charset="0"/>
                <a:ea typeface="MS PGothic" panose="020B0600070205080204" pitchFamily="34" charset="-128"/>
              </a:defRPr>
            </a:lvl7pPr>
            <a:lvl8pPr marL="3429000" indent="-228600" defTabSz="415925" eaLnBrk="0" fontAlgn="base" hangingPunct="0">
              <a:spcBef>
                <a:spcPct val="0"/>
              </a:spcBef>
              <a:spcAft>
                <a:spcPct val="0"/>
              </a:spcAft>
              <a:tabLst>
                <a:tab pos="0" algn="l"/>
                <a:tab pos="847725" algn="l"/>
                <a:tab pos="1695450" algn="l"/>
                <a:tab pos="2543175" algn="l"/>
                <a:tab pos="3388995" algn="l"/>
                <a:tab pos="4238625" algn="l"/>
                <a:tab pos="5083175" algn="l"/>
                <a:tab pos="5934075" algn="l"/>
                <a:tab pos="6778625" algn="l"/>
                <a:tab pos="7627620" algn="l"/>
                <a:tab pos="8474075" algn="l"/>
                <a:tab pos="9316720" algn="l"/>
              </a:tabLst>
              <a:defRPr sz="2400">
                <a:solidFill>
                  <a:schemeClr val="tx1"/>
                </a:solidFill>
                <a:latin typeface="Lucida Sans Unicode" panose="020B0602030504020204" pitchFamily="34" charset="0"/>
                <a:ea typeface="MS PGothic" panose="020B0600070205080204" pitchFamily="34" charset="-128"/>
              </a:defRPr>
            </a:lvl8pPr>
            <a:lvl9pPr marL="3886200" indent="-228600" defTabSz="415925" eaLnBrk="0" fontAlgn="base" hangingPunct="0">
              <a:spcBef>
                <a:spcPct val="0"/>
              </a:spcBef>
              <a:spcAft>
                <a:spcPct val="0"/>
              </a:spcAft>
              <a:tabLst>
                <a:tab pos="0" algn="l"/>
                <a:tab pos="847725" algn="l"/>
                <a:tab pos="1695450" algn="l"/>
                <a:tab pos="2543175" algn="l"/>
                <a:tab pos="3388995" algn="l"/>
                <a:tab pos="4238625" algn="l"/>
                <a:tab pos="5083175" algn="l"/>
                <a:tab pos="5934075" algn="l"/>
                <a:tab pos="6778625" algn="l"/>
                <a:tab pos="7627620" algn="l"/>
                <a:tab pos="8474075" algn="l"/>
                <a:tab pos="9316720" algn="l"/>
              </a:tabLst>
              <a:defRPr sz="2400">
                <a:solidFill>
                  <a:schemeClr val="tx1"/>
                </a:solidFill>
                <a:latin typeface="Lucida Sans Unicode" panose="020B0602030504020204" pitchFamily="34" charset="0"/>
                <a:ea typeface="MS PGothic" panose="020B0600070205080204" pitchFamily="34" charset="-128"/>
              </a:defRPr>
            </a:lvl9pPr>
          </a:lstStyle>
          <a:p>
            <a:pPr algn="r" eaLnBrk="1" hangingPunct="1">
              <a:spcBef>
                <a:spcPts val="615"/>
              </a:spcBef>
              <a:buClr>
                <a:srgbClr val="000000"/>
              </a:buClr>
              <a:buSzPct val="100000"/>
              <a:buFont typeface="Times New Roman" panose="02020603050405020304" pitchFamily="18" charset="0"/>
              <a:buNone/>
              <a:defRPr/>
            </a:pPr>
            <a:fld id="{6632A639-65F6-44E7-9705-34D092A42112}" type="slidenum">
              <a:rPr lang="en-US" sz="1335" smtClean="0">
                <a:solidFill>
                  <a:schemeClr val="accent1"/>
                </a:solidFill>
                <a:latin typeface="+mj-lt"/>
                <a:ea typeface="Verdana" panose="020B0604030504040204" pitchFamily="34" charset="0"/>
                <a:cs typeface="+mn-cs"/>
              </a:rPr>
              <a:t>‹#›</a:t>
            </a:fld>
            <a:endParaRPr lang="en-US" sz="1335">
              <a:solidFill>
                <a:schemeClr val="accent1"/>
              </a:solidFill>
              <a:latin typeface="+mj-lt"/>
              <a:ea typeface="Verdana" panose="020B0604030504040204" pitchFamily="34" charset="0"/>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10" name="Slide Number Placeholder 5"/>
          <p:cNvSpPr>
            <a:spLocks noGrp="1"/>
          </p:cNvSpPr>
          <p:nvPr>
            <p:ph type="sldNum" sz="quarter" idx="4"/>
          </p:nvPr>
        </p:nvSpPr>
        <p:spPr>
          <a:xfrm>
            <a:off x="320400" y="6326136"/>
            <a:ext cx="591024" cy="288033"/>
          </a:xfrm>
          <a:prstGeom prst="rect">
            <a:avLst/>
          </a:prstGeom>
        </p:spPr>
        <p:txBody>
          <a:bodyPr vert="horz" lIns="91440" tIns="45720" rIns="91440" bIns="45720" rtlCol="0" anchor="ctr"/>
          <a:lstStyle>
            <a:lvl1pPr algn="l">
              <a:defRPr sz="1335">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DAF489CC-3B7A-4DA5-A8C0-4984788D0EC5}" type="slidenum">
              <a:rPr lang="nl-NL" smtClean="0"/>
              <a:t>‹#›</a:t>
            </a:fld>
            <a:endParaRPr lang="nl-NL" dirty="0"/>
          </a:p>
        </p:txBody>
      </p:sp>
      <p:sp>
        <p:nvSpPr>
          <p:cNvPr id="6" name="Title 5"/>
          <p:cNvSpPr>
            <a:spLocks noGrp="1"/>
          </p:cNvSpPr>
          <p:nvPr>
            <p:ph type="title" hasCustomPrompt="1"/>
          </p:nvPr>
        </p:nvSpPr>
        <p:spPr>
          <a:xfrm>
            <a:off x="320400" y="164637"/>
            <a:ext cx="11632251" cy="960107"/>
          </a:xfrm>
        </p:spPr>
        <p:txBody>
          <a:bodyPr lIns="0" rIns="0"/>
          <a:lstStyle>
            <a:lvl1pPr>
              <a:defRPr sz="2400">
                <a:solidFill>
                  <a:srgbClr val="0066A1"/>
                </a:solidFill>
              </a:defRPr>
            </a:lvl1pPr>
          </a:lstStyle>
          <a:p>
            <a:r>
              <a:rPr lang="en-US" dirty="0"/>
              <a:t>Click to edit the header</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One column - chart left">
    <p:spTree>
      <p:nvGrpSpPr>
        <p:cNvPr id="1" name=""/>
        <p:cNvGrpSpPr/>
        <p:nvPr/>
      </p:nvGrpSpPr>
      <p:grpSpPr>
        <a:xfrm>
          <a:off x="0" y="0"/>
          <a:ext cx="0" cy="0"/>
          <a:chOff x="0" y="0"/>
          <a:chExt cx="0" cy="0"/>
        </a:xfrm>
      </p:grpSpPr>
      <p:pic>
        <p:nvPicPr>
          <p:cNvPr id="2" name="Picture 1" descr="Background pattern&#10;&#10;Description automatically generated with low confidence"/>
          <p:cNvPicPr>
            <a:picLocks noChangeAspect="1"/>
          </p:cNvPicPr>
          <p:nvPr userDrawn="1"/>
        </p:nvPicPr>
        <p:blipFill>
          <a:blip r:embed="rId2"/>
          <a:stretch>
            <a:fillRect/>
          </a:stretch>
        </p:blipFill>
        <p:spPr>
          <a:xfrm>
            <a:off x="0" y="0"/>
            <a:ext cx="12192000" cy="6858000"/>
          </a:xfrm>
          <a:prstGeom prst="rect">
            <a:avLst/>
          </a:prstGeom>
        </p:spPr>
      </p:pic>
      <p:sp>
        <p:nvSpPr>
          <p:cNvPr id="15" name="Title 1"/>
          <p:cNvSpPr>
            <a:spLocks noGrp="1"/>
          </p:cNvSpPr>
          <p:nvPr>
            <p:ph type="title"/>
          </p:nvPr>
        </p:nvSpPr>
        <p:spPr bwMode="invGray">
          <a:xfrm>
            <a:off x="316799" y="471915"/>
            <a:ext cx="11484000" cy="343237"/>
          </a:xfrm>
          <a:prstGeom prst="rect">
            <a:avLst/>
          </a:prstGeom>
        </p:spPr>
        <p:txBody>
          <a:bodyPr anchor="t">
            <a:spAutoFit/>
          </a:bodyPr>
          <a:lstStyle>
            <a:lvl1pPr>
              <a:defRPr sz="2200">
                <a:solidFill>
                  <a:srgbClr val="000000"/>
                </a:solidFill>
                <a:latin typeface="Montserrat Bold" panose="00000800000000000000" pitchFamily="2" charset="0"/>
              </a:defRPr>
            </a:lvl1pPr>
          </a:lstStyle>
          <a:p>
            <a:endParaRPr lang="en-US"/>
          </a:p>
        </p:txBody>
      </p:sp>
      <p:sp>
        <p:nvSpPr>
          <p:cNvPr id="16" name="Text Placeholder 4"/>
          <p:cNvSpPr>
            <a:spLocks noGrp="1"/>
          </p:cNvSpPr>
          <p:nvPr>
            <p:ph type="body" sz="quarter" idx="10"/>
          </p:nvPr>
        </p:nvSpPr>
        <p:spPr bwMode="invGray">
          <a:xfrm>
            <a:off x="316799" y="830931"/>
            <a:ext cx="11484000" cy="338554"/>
          </a:xfrm>
          <a:prstGeom prst="rect">
            <a:avLst/>
          </a:prstGeom>
        </p:spPr>
        <p:txBody>
          <a:bodyPr>
            <a:spAutoFit/>
          </a:bodyPr>
          <a:lstStyle>
            <a:lvl1pPr marL="0" indent="0">
              <a:buNone/>
              <a:defRPr sz="1600">
                <a:solidFill>
                  <a:srgbClr val="000000"/>
                </a:solidFill>
                <a:latin typeface="Montserrat SemiBold" pitchFamily="2" charset="0"/>
              </a:defRPr>
            </a:lvl1pPr>
          </a:lstStyle>
          <a:p>
            <a:pPr lvl="0"/>
            <a:endParaRPr lang="en-US"/>
          </a:p>
        </p:txBody>
      </p:sp>
      <p:pic>
        <p:nvPicPr>
          <p:cNvPr id="3" name="Graphic 2"/>
          <p:cNvPicPr>
            <a:picLocks noChangeAspect="1"/>
          </p:cNvPicPr>
          <p:nvPr userDrawn="1"/>
        </p:nvPicPr>
        <p:blipFill>
          <a:blip cstate="print">
            <a:extLst>
              <a:ext uri="{96DAC541-7B7A-43D3-8B79-37D633B846F1}">
                <asvg:svgBlip xmlns:asvg="http://schemas.microsoft.com/office/drawing/2016/SVG/main" r:embed="rId3"/>
              </a:ext>
            </a:extLst>
          </a:blip>
          <a:stretch>
            <a:fillRect/>
          </a:stretch>
        </p:blipFill>
        <p:spPr>
          <a:xfrm>
            <a:off x="414338" y="6261619"/>
            <a:ext cx="1111378" cy="198900"/>
          </a:xfrm>
          <a:prstGeom prst="rect">
            <a:avLst/>
          </a:prstGeom>
        </p:spPr>
      </p:pic>
      <p:sp>
        <p:nvSpPr>
          <p:cNvPr id="4" name="Slide Number Placeholder 10"/>
          <p:cNvSpPr txBox="1"/>
          <p:nvPr userDrawn="1"/>
        </p:nvSpPr>
        <p:spPr>
          <a:xfrm>
            <a:off x="11429230" y="6298599"/>
            <a:ext cx="458064" cy="216025"/>
          </a:xfrm>
          <a:prstGeom prst="rect">
            <a:avLst/>
          </a:prstGeom>
        </p:spPr>
        <p:txBody>
          <a:bodyPr vert="horz" lIns="91440" tIns="45720" rIns="91440" bIns="45720" rtlCol="0" anchor="ctr"/>
          <a:lstStyle>
            <a:defPPr>
              <a:defRPr lang="nl-NL"/>
            </a:defPPr>
            <a:lvl1pPr marL="0" algn="l" defTabSz="914400" rtl="0" eaLnBrk="1" latinLnBrk="0" hangingPunct="1">
              <a:defRPr lang="nl-NL" sz="1200" kern="1200" smtClean="0">
                <a:solidFill>
                  <a:srgbClr val="FF6D43"/>
                </a:solidFill>
                <a:latin typeface="Montserrat SemiBold" pitchFamily="2" charset="0"/>
                <a:ea typeface="Verdana" panose="020B0604030504040204" pitchFamily="34" charset="0"/>
                <a:cs typeface="Montserrat SemiBold"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AF489CC-3B7A-4DA5-A8C0-4984788D0EC5}" type="slidenum">
              <a:rPr lang="en-IN" smtClean="0"/>
              <a:t>‹#›</a:t>
            </a:fld>
            <a:endParaRPr lang="en-IN"/>
          </a:p>
        </p:txBody>
      </p:sp>
      <p:sp>
        <p:nvSpPr>
          <p:cNvPr id="5" name="AddCustomFooter#1"/>
          <p:cNvSpPr txBox="1"/>
          <p:nvPr userDrawn="1"/>
        </p:nvSpPr>
        <p:spPr bwMode="invGray">
          <a:xfrm>
            <a:off x="5793038" y="6384973"/>
            <a:ext cx="605935" cy="100027"/>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tab pos="190500" algn="l"/>
              </a:tabLst>
              <a:defRPr/>
            </a:pPr>
            <a:r>
              <a:rPr kumimoji="0" lang="en-US" sz="650" b="0" i="0" u="none" strike="noStrike" kern="1200" cap="none" spc="0" normalizeH="0" baseline="0" noProof="0">
                <a:ln>
                  <a:noFill/>
                </a:ln>
                <a:solidFill>
                  <a:schemeClr val="bg1">
                    <a:lumMod val="50000"/>
                  </a:schemeClr>
                </a:solidFill>
                <a:effectLst/>
                <a:uLnTx/>
                <a:uFillTx/>
                <a:latin typeface="+mn-lt"/>
                <a:ea typeface="Verdana" panose="020B0604030504040204" pitchFamily="34" charset="0"/>
                <a:cs typeface="Verdana" panose="020B0604030504040204" pitchFamily="34" charset="0"/>
              </a:rPr>
              <a:t>© </a:t>
            </a:r>
            <a:r>
              <a:rPr kumimoji="0" lang="fr-FR" sz="650" b="0" i="0" u="none" strike="noStrike" kern="1200" cap="none" spc="0" normalizeH="0" baseline="0" noProof="0">
                <a:ln>
                  <a:noFill/>
                </a:ln>
                <a:solidFill>
                  <a:schemeClr val="bg1">
                    <a:lumMod val="50000"/>
                  </a:schemeClr>
                </a:solidFill>
                <a:effectLst/>
                <a:uLnTx/>
                <a:uFillTx/>
                <a:latin typeface="+mn-lt"/>
                <a:ea typeface="Verdana" panose="020B0604030504040204" pitchFamily="34" charset="0"/>
                <a:cs typeface="Verdana" panose="020B0604030504040204" pitchFamily="34" charset="0"/>
              </a:rPr>
              <a:t>EVIDEN</a:t>
            </a:r>
            <a:r>
              <a:rPr kumimoji="0" lang="en-US" sz="650" b="0" i="0" u="none" strike="noStrike" kern="1200" cap="none" spc="0" normalizeH="0" baseline="0" noProof="0">
                <a:ln>
                  <a:noFill/>
                </a:ln>
                <a:solidFill>
                  <a:schemeClr val="bg1">
                    <a:lumMod val="50000"/>
                  </a:schemeClr>
                </a:solidFill>
                <a:effectLst/>
                <a:uLnTx/>
                <a:uFillTx/>
                <a:latin typeface="+mn-lt"/>
                <a:ea typeface="Verdana" panose="020B0604030504040204" pitchFamily="34" charset="0"/>
                <a:cs typeface="Verdana" panose="020B0604030504040204" pitchFamily="34" charset="0"/>
              </a:rPr>
              <a:t> SAS</a:t>
            </a:r>
            <a:endParaRPr lang="nl-NL" sz="650" baseline="0">
              <a:solidFill>
                <a:schemeClr val="bg1">
                  <a:lumMod val="50000"/>
                </a:schemeClr>
              </a:solidFill>
              <a:latin typeface="+mn-lt"/>
              <a:ea typeface="Verdana" panose="020B0604030504040204" pitchFamily="34" charset="0"/>
              <a:cs typeface="Verdana" panose="020B060403050404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6385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8624" y="291452"/>
            <a:ext cx="11337925" cy="796568"/>
          </a:xfrm>
          <a:prstGeom prst="rect">
            <a:avLst/>
          </a:prstGeom>
        </p:spPr>
        <p:txBody>
          <a:bodyPr vert="horz" lIns="0" tIns="0" rIns="0" bIns="0" rtlCol="0" anchor="t">
            <a:noAutofit/>
          </a:bodyPr>
          <a:lstStyle/>
          <a:p>
            <a:r>
              <a:rPr lang="en-US"/>
              <a:t>Title</a:t>
            </a:r>
          </a:p>
        </p:txBody>
      </p:sp>
      <p:sp>
        <p:nvSpPr>
          <p:cNvPr id="3" name="Text Placeholder 2"/>
          <p:cNvSpPr>
            <a:spLocks noGrp="1"/>
          </p:cNvSpPr>
          <p:nvPr>
            <p:ph type="body" idx="1"/>
          </p:nvPr>
        </p:nvSpPr>
        <p:spPr>
          <a:xfrm>
            <a:off x="428624" y="1446212"/>
            <a:ext cx="11337926" cy="4630737"/>
          </a:xfrm>
          <a:prstGeom prst="rect">
            <a:avLst/>
          </a:prstGeom>
        </p:spPr>
        <p:txBody>
          <a:bodyPr vert="horz" lIns="0" tIns="0" rIns="0" bIns="0" rtlCol="0">
            <a:noAutofit/>
          </a:bodyPr>
          <a:lstStyle/>
          <a:p>
            <a:pPr lvl="0"/>
            <a:r>
              <a:rPr lang="en-US"/>
              <a:t>Level 01</a:t>
            </a:r>
          </a:p>
          <a:p>
            <a:pPr lvl="1"/>
            <a:r>
              <a:rPr lang="en-US"/>
              <a:t>Level 02</a:t>
            </a:r>
          </a:p>
          <a:p>
            <a:pPr lvl="2"/>
            <a:r>
              <a:rPr lang="en-US"/>
              <a:t>Level 03</a:t>
            </a:r>
          </a:p>
          <a:p>
            <a:pPr lvl="3"/>
            <a:r>
              <a:rPr lang="en-US"/>
              <a:t>Level 04</a:t>
            </a:r>
          </a:p>
          <a:p>
            <a:pPr marL="1143000" marR="0" lvl="4" indent="-228600" algn="l"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Char char="•"/>
              <a:defRPr/>
            </a:pPr>
            <a:r>
              <a:rPr lang="en-US"/>
              <a:t>Level 05</a:t>
            </a:r>
          </a:p>
          <a:p>
            <a:pPr marL="1371600" marR="0" lvl="0" indent="-228600" algn="l"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Char char="•"/>
              <a:defRPr/>
            </a:pPr>
            <a:r>
              <a:rPr lang="en-US"/>
              <a:t>Level 06</a:t>
            </a:r>
          </a:p>
        </p:txBody>
      </p:sp>
      <p:sp>
        <p:nvSpPr>
          <p:cNvPr id="6" name="Slide Number Placeholder 5"/>
          <p:cNvSpPr>
            <a:spLocks noGrp="1"/>
          </p:cNvSpPr>
          <p:nvPr>
            <p:ph type="sldNum" sz="quarter" idx="4"/>
          </p:nvPr>
        </p:nvSpPr>
        <p:spPr>
          <a:xfrm>
            <a:off x="428625" y="6517632"/>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anose="020B0604030504040204" pitchFamily="34" charset="0"/>
                <a:cs typeface="Raleway Medium" pitchFamily="2" charset="0"/>
              </a:defRPr>
            </a:lvl1pPr>
          </a:lstStyle>
          <a:p>
            <a:fld id="{DAF489CC-3B7A-4DA5-A8C0-4984788D0EC5}" type="slidenum">
              <a:rPr lang="nl-NL" smtClean="0"/>
              <a:t>‹#›</a:t>
            </a:fld>
            <a:endParaRPr lang="nl-NL"/>
          </a:p>
        </p:txBody>
      </p:sp>
      <p:sp>
        <p:nvSpPr>
          <p:cNvPr id="7" name="AddCustomFooter#1"/>
          <p:cNvSpPr txBox="1"/>
          <p:nvPr userDrawn="1"/>
        </p:nvSpPr>
        <p:spPr bwMode="gray">
          <a:xfrm>
            <a:off x="428625" y="6517632"/>
            <a:ext cx="1354217"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tab pos="274320" algn="l"/>
                <a:tab pos="411480" algn="l"/>
              </a:tabLst>
              <a:defRPr/>
            </a:pPr>
            <a:r>
              <a:rPr kumimoji="0" lang="en-US" sz="1000" b="0" i="0" u="none" strike="noStrike" kern="1200" cap="none" spc="0" normalizeH="0" baseline="0" noProof="0" dirty="0">
                <a:ln>
                  <a:noFill/>
                </a:ln>
                <a:solidFill>
                  <a:schemeClr val="accent3"/>
                </a:solidFill>
                <a:effectLst/>
                <a:uLnTx/>
                <a:uFillTx/>
                <a:latin typeface="+mn-lt"/>
                <a:ea typeface="Verdana" panose="020B0604030504040204" pitchFamily="34" charset="0"/>
                <a:cs typeface="Verdana" panose="020B0604030504040204" pitchFamily="34" charset="0"/>
              </a:rPr>
              <a:t>	Atos </a:t>
            </a:r>
            <a:r>
              <a:rPr kumimoji="0" lang="en-US" altLang="zh-CN" sz="1000" b="0" i="0" u="none" strike="noStrike" kern="1200" cap="none" spc="0" normalizeH="0" baseline="0" noProof="0" dirty="0">
                <a:ln>
                  <a:noFill/>
                </a:ln>
                <a:solidFill>
                  <a:schemeClr val="accent3"/>
                </a:solidFill>
                <a:effectLst/>
                <a:uLnTx/>
                <a:uFillTx/>
                <a:latin typeface="+mn-lt"/>
                <a:ea typeface="Verdana" panose="020B0604030504040204" pitchFamily="34" charset="0"/>
                <a:cs typeface="Verdana" panose="020B0604030504040204" pitchFamily="34" charset="0"/>
              </a:rPr>
              <a:t>Confidential</a:t>
            </a:r>
            <a:r>
              <a:rPr kumimoji="0" lang="en-US" sz="1000" b="0" i="0" u="none" strike="noStrike" kern="1200" cap="none" spc="0" normalizeH="0" baseline="0" noProof="0" dirty="0">
                <a:ln>
                  <a:noFill/>
                </a:ln>
                <a:solidFill>
                  <a:schemeClr val="accent3"/>
                </a:solidFill>
                <a:effectLst/>
                <a:uLnTx/>
                <a:uFillTx/>
                <a:latin typeface="+mn-lt"/>
                <a:ea typeface="Verdana" panose="020B0604030504040204" pitchFamily="34" charset="0"/>
                <a:cs typeface="Verdana" panose="020B0604030504040204" pitchFamily="34" charset="0"/>
              </a:rPr>
              <a:t> </a:t>
            </a:r>
            <a:endParaRPr lang="nl-NL" sz="900" baseline="0" dirty="0">
              <a:solidFill>
                <a:schemeClr val="accent3"/>
              </a:solidFill>
              <a:latin typeface="+mn-lt"/>
              <a:ea typeface="Verdana" panose="020B0604030504040204" pitchFamily="34" charset="0"/>
              <a:cs typeface="Verdana" panose="020B0604030504040204" pitchFamily="34" charset="0"/>
            </a:endParaRPr>
          </a:p>
        </p:txBody>
      </p:sp>
      <p:sp>
        <p:nvSpPr>
          <p:cNvPr id="5" name="Graphique 10" descr="Atos logo"/>
          <p:cNvSpPr>
            <a:spLocks noChangeAspect="1"/>
          </p:cNvSpPr>
          <p:nvPr userDrawn="1"/>
        </p:nvSpPr>
        <p:spPr>
          <a:xfrm>
            <a:off x="10944224" y="6446085"/>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100000"/>
        </a:lnSpc>
        <a:spcBef>
          <a:spcPct val="0"/>
        </a:spcBef>
        <a:buNone/>
        <a:defRPr sz="28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2034186342"/>
      </p:ext>
    </p:extLst>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116744" y="1750913"/>
            <a:ext cx="6099048" cy="1581833"/>
          </a:xfrm>
        </p:spPr>
        <p:txBody>
          <a:bodyPr/>
          <a:lstStyle/>
          <a:p>
            <a:r>
              <a:rPr lang="zh-CN" altLang="en-US" dirty="0">
                <a:sym typeface="Biennale Bold"/>
              </a:rPr>
              <a:t>生产进度看板建设</a:t>
            </a:r>
            <a:endParaRPr lang="zh-CN" altLang="en-US" dirty="0"/>
          </a:p>
        </p:txBody>
      </p:sp>
      <p:sp>
        <p:nvSpPr>
          <p:cNvPr id="2" name="文本占位符 1"/>
          <p:cNvSpPr>
            <a:spLocks noGrp="1"/>
          </p:cNvSpPr>
          <p:nvPr>
            <p:ph type="body" sz="quarter" idx="13"/>
          </p:nvPr>
        </p:nvSpPr>
        <p:spPr>
          <a:xfrm>
            <a:off x="249813" y="4077251"/>
            <a:ext cx="5486400" cy="1121887"/>
          </a:xfrm>
        </p:spPr>
        <p:txBody>
          <a:bodyPr/>
          <a:lstStyle/>
          <a:p>
            <a:r>
              <a:rPr lang="zh-CN" altLang="en-US" dirty="0"/>
              <a:t>业务诊断咨询及</a:t>
            </a:r>
            <a:r>
              <a:rPr lang="en-US" altLang="zh-CN" dirty="0"/>
              <a:t>SAP</a:t>
            </a:r>
            <a:r>
              <a:rPr lang="zh-CN" altLang="en-US" dirty="0"/>
              <a:t>系统升级实施项目</a:t>
            </a:r>
          </a:p>
        </p:txBody>
      </p:sp>
      <p:sp>
        <p:nvSpPr>
          <p:cNvPr id="4" name="文本占位符 3"/>
          <p:cNvSpPr>
            <a:spLocks noGrp="1"/>
          </p:cNvSpPr>
          <p:nvPr>
            <p:ph type="body" sz="quarter" idx="15"/>
          </p:nvPr>
        </p:nvSpPr>
        <p:spPr>
          <a:xfrm>
            <a:off x="423068" y="5491978"/>
            <a:ext cx="3657600" cy="640080"/>
          </a:xfrm>
        </p:spPr>
        <p:txBody>
          <a:bodyPr/>
          <a:lstStyle/>
          <a:p>
            <a:r>
              <a:rPr lang="en-US" altLang="zh-CN" dirty="0"/>
              <a:t>2026.07.21</a:t>
            </a:r>
            <a:endParaRPr lang="zh-CN" altLang="en-US" dirty="0"/>
          </a:p>
        </p:txBody>
      </p:sp>
      <p:pic>
        <p:nvPicPr>
          <p:cNvPr id="10" name="Picture Placeholder 14"/>
          <p:cNvPicPr>
            <a:picLocks noGrp="1" noChangeAspect="1"/>
          </p:cNvPicPr>
          <p:nvPr>
            <p:ph type="pic" sz="quarter" idx="12"/>
          </p:nvPr>
        </p:nvPicPr>
        <p:blipFill rotWithShape="1">
          <a:blip r:embed="rId3" cstate="screen"/>
          <a:srcRect l="107" r="107"/>
          <a:stretch>
            <a:fillRect/>
          </a:stretch>
        </p:blipFill>
        <p:spPr bwMode="black">
          <a:prstGeom prst="rect">
            <a:avLst/>
          </a:prstGeom>
        </p:spPr>
      </p:pic>
      <p:pic>
        <p:nvPicPr>
          <p:cNvPr id="5" name="图片 4"/>
          <p:cNvPicPr>
            <a:picLocks noChangeAspect="1"/>
          </p:cNvPicPr>
          <p:nvPr/>
        </p:nvPicPr>
        <p:blipFill>
          <a:blip r:embed="rId4"/>
          <a:stretch>
            <a:fillRect/>
          </a:stretch>
        </p:blipFill>
        <p:spPr>
          <a:xfrm>
            <a:off x="423068" y="340653"/>
            <a:ext cx="1930400" cy="381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p:cNvSpPr>
            <a:spLocks noGrp="1"/>
          </p:cNvSpPr>
          <p:nvPr>
            <p:ph type="body" sz="quarter" idx="10"/>
          </p:nvPr>
        </p:nvSpPr>
        <p:spPr>
          <a:xfrm>
            <a:off x="2954745" y="1446367"/>
            <a:ext cx="310983" cy="369332"/>
          </a:xfrm>
        </p:spPr>
        <p:txBody>
          <a:bodyPr/>
          <a:lstStyle/>
          <a:p>
            <a:r>
              <a:rPr lang="en-US" altLang="zh-CN" dirty="0"/>
              <a:t>01</a:t>
            </a:r>
            <a:endParaRPr lang="zh-CN" altLang="en-US" dirty="0"/>
          </a:p>
        </p:txBody>
      </p:sp>
      <p:sp>
        <p:nvSpPr>
          <p:cNvPr id="11" name="文本占位符 10"/>
          <p:cNvSpPr>
            <a:spLocks noGrp="1"/>
          </p:cNvSpPr>
          <p:nvPr>
            <p:ph type="body" sz="quarter" idx="11"/>
          </p:nvPr>
        </p:nvSpPr>
        <p:spPr/>
        <p:txBody>
          <a:bodyPr/>
          <a:lstStyle/>
          <a:p>
            <a:r>
              <a:rPr lang="zh-CN" altLang="en-US" dirty="0"/>
              <a:t>专项方案概述</a:t>
            </a:r>
          </a:p>
        </p:txBody>
      </p:sp>
      <p:sp>
        <p:nvSpPr>
          <p:cNvPr id="13" name="文本占位符 12"/>
          <p:cNvSpPr>
            <a:spLocks noGrp="1"/>
          </p:cNvSpPr>
          <p:nvPr>
            <p:ph type="body" sz="quarter" idx="16"/>
          </p:nvPr>
        </p:nvSpPr>
        <p:spPr>
          <a:xfrm>
            <a:off x="2954745" y="2713569"/>
            <a:ext cx="310983" cy="369332"/>
          </a:xfrm>
        </p:spPr>
        <p:txBody>
          <a:bodyPr/>
          <a:lstStyle/>
          <a:p>
            <a:r>
              <a:rPr lang="en-US" altLang="zh-CN" dirty="0"/>
              <a:t>02</a:t>
            </a:r>
            <a:endParaRPr lang="zh-CN" altLang="en-US" dirty="0"/>
          </a:p>
        </p:txBody>
      </p:sp>
      <p:sp>
        <p:nvSpPr>
          <p:cNvPr id="14" name="文本占位符 13"/>
          <p:cNvSpPr>
            <a:spLocks noGrp="1"/>
          </p:cNvSpPr>
          <p:nvPr>
            <p:ph type="body" sz="quarter" idx="17"/>
          </p:nvPr>
        </p:nvSpPr>
        <p:spPr/>
        <p:txBody>
          <a:bodyPr/>
          <a:lstStyle/>
          <a:p>
            <a:r>
              <a:rPr lang="zh-CN" altLang="en-US" dirty="0"/>
              <a:t>方案详解及系统实现</a:t>
            </a:r>
          </a:p>
        </p:txBody>
      </p:sp>
      <p:sp>
        <p:nvSpPr>
          <p:cNvPr id="16" name="文本占位符 15"/>
          <p:cNvSpPr>
            <a:spLocks noGrp="1"/>
          </p:cNvSpPr>
          <p:nvPr>
            <p:ph type="body" sz="quarter" idx="22"/>
          </p:nvPr>
        </p:nvSpPr>
        <p:spPr>
          <a:xfrm>
            <a:off x="2954745" y="3980771"/>
            <a:ext cx="310983" cy="369332"/>
          </a:xfrm>
        </p:spPr>
        <p:txBody>
          <a:bodyPr/>
          <a:lstStyle/>
          <a:p>
            <a:r>
              <a:rPr lang="en-US" altLang="zh-CN" dirty="0"/>
              <a:t>03</a:t>
            </a:r>
            <a:endParaRPr lang="zh-CN" altLang="en-US" dirty="0"/>
          </a:p>
        </p:txBody>
      </p:sp>
      <p:sp>
        <p:nvSpPr>
          <p:cNvPr id="17" name="文本占位符 16"/>
          <p:cNvSpPr>
            <a:spLocks noGrp="1"/>
          </p:cNvSpPr>
          <p:nvPr>
            <p:ph type="body" sz="quarter" idx="23"/>
          </p:nvPr>
        </p:nvSpPr>
        <p:spPr/>
        <p:txBody>
          <a:bodyPr/>
          <a:lstStyle/>
          <a:p>
            <a:r>
              <a:rPr lang="zh-CN" altLang="en-US" dirty="0"/>
              <a:t>配套行动计划</a:t>
            </a:r>
          </a:p>
        </p:txBody>
      </p:sp>
      <p:sp>
        <p:nvSpPr>
          <p:cNvPr id="19" name="文本占位符 18"/>
          <p:cNvSpPr>
            <a:spLocks noGrp="1"/>
          </p:cNvSpPr>
          <p:nvPr>
            <p:ph type="body" sz="quarter" idx="25"/>
          </p:nvPr>
        </p:nvSpPr>
        <p:spPr>
          <a:xfrm>
            <a:off x="2954745" y="5247973"/>
            <a:ext cx="310983" cy="369332"/>
          </a:xfrm>
        </p:spPr>
        <p:txBody>
          <a:bodyPr/>
          <a:lstStyle/>
          <a:p>
            <a:r>
              <a:rPr lang="en-US" altLang="zh-CN" dirty="0"/>
              <a:t>04</a:t>
            </a:r>
            <a:endParaRPr lang="zh-CN" altLang="en-US" dirty="0"/>
          </a:p>
        </p:txBody>
      </p:sp>
      <p:sp>
        <p:nvSpPr>
          <p:cNvPr id="20" name="文本占位符 19"/>
          <p:cNvSpPr>
            <a:spLocks noGrp="1"/>
          </p:cNvSpPr>
          <p:nvPr>
            <p:ph type="body" sz="quarter" idx="26"/>
          </p:nvPr>
        </p:nvSpPr>
        <p:spPr/>
        <p:txBody>
          <a:bodyPr/>
          <a:lstStyle/>
          <a:p>
            <a:r>
              <a:rPr lang="zh-CN" altLang="en-US" dirty="0"/>
              <a:t>附录：相关文档及原始数据</a:t>
            </a:r>
          </a:p>
        </p:txBody>
      </p:sp>
      <p:sp>
        <p:nvSpPr>
          <p:cNvPr id="9" name="Title 8"/>
          <p:cNvSpPr>
            <a:spLocks noGrp="1"/>
          </p:cNvSpPr>
          <p:nvPr>
            <p:ph type="title"/>
          </p:nvPr>
        </p:nvSpPr>
        <p:spPr/>
        <p:txBody>
          <a:bodyPr/>
          <a:lstStyle/>
          <a:p>
            <a:r>
              <a:rPr lang="zh-CN" altLang="en-US" b="1" dirty="0"/>
              <a:t>目录</a:t>
            </a:r>
            <a:endParaRPr lang="en-US" b="1"/>
          </a:p>
        </p:txBody>
      </p:sp>
      <p:pic>
        <p:nvPicPr>
          <p:cNvPr id="22" name="图片 21"/>
          <p:cNvPicPr>
            <a:picLocks noChangeAspect="1"/>
          </p:cNvPicPr>
          <p:nvPr/>
        </p:nvPicPr>
        <p:blipFill>
          <a:blip r:embed="rId3"/>
          <a:stretch>
            <a:fillRect/>
          </a:stretch>
        </p:blipFill>
        <p:spPr>
          <a:xfrm>
            <a:off x="10160455" y="100951"/>
            <a:ext cx="1930400" cy="381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0098" y="389618"/>
            <a:ext cx="1247136" cy="1477328"/>
          </a:xfrm>
        </p:spPr>
        <p:txBody>
          <a:bodyPr/>
          <a:lstStyle/>
          <a:p>
            <a:r>
              <a:rPr lang="en-US" altLang="zh-CN" dirty="0"/>
              <a:t>01</a:t>
            </a:r>
            <a:endParaRPr lang="zh-CN" altLang="en-US" dirty="0"/>
          </a:p>
        </p:txBody>
      </p:sp>
      <p:sp>
        <p:nvSpPr>
          <p:cNvPr id="3" name="Title 2"/>
          <p:cNvSpPr>
            <a:spLocks noGrp="1"/>
          </p:cNvSpPr>
          <p:nvPr>
            <p:ph type="title"/>
          </p:nvPr>
        </p:nvSpPr>
        <p:spPr/>
        <p:txBody>
          <a:bodyPr/>
          <a:lstStyle/>
          <a:p>
            <a:r>
              <a:rPr lang="zh-CN" altLang="en-US" dirty="0">
                <a:sym typeface="Biennale Bold"/>
              </a:rPr>
              <a:t>生产进度看板建设方案</a:t>
            </a:r>
            <a:endParaRPr lang="zh-CN" altLang="en-US" dirty="0"/>
          </a:p>
        </p:txBody>
      </p:sp>
      <p:pic>
        <p:nvPicPr>
          <p:cNvPr id="4" name="图片 3"/>
          <p:cNvPicPr>
            <a:picLocks noChangeAspect="1"/>
          </p:cNvPicPr>
          <p:nvPr/>
        </p:nvPicPr>
        <p:blipFill>
          <a:blip r:embed="rId2"/>
          <a:stretch>
            <a:fillRect/>
          </a:stretch>
        </p:blipFill>
        <p:spPr>
          <a:xfrm>
            <a:off x="48466" y="125649"/>
            <a:ext cx="1930400" cy="381000"/>
          </a:xfrm>
          <a:prstGeom prst="rect">
            <a:avLst/>
          </a:prstGeom>
        </p:spPr>
      </p:pic>
      <p:sp>
        <p:nvSpPr>
          <p:cNvPr id="5" name="文本框 4"/>
          <p:cNvSpPr txBox="1"/>
          <p:nvPr/>
        </p:nvSpPr>
        <p:spPr>
          <a:xfrm>
            <a:off x="-1293962" y="2622430"/>
            <a:ext cx="0" cy="0"/>
          </a:xfrm>
          <a:prstGeom prst="rect">
            <a:avLst/>
          </a:prstGeom>
          <a:noFill/>
        </p:spPr>
        <p:txBody>
          <a:bodyPr wrap="none" rtlCol="0">
            <a:noAutofit/>
          </a:bodyPr>
          <a:lstStyle/>
          <a:p>
            <a:pPr algn="l"/>
            <a:endParaRPr kumimoji="1" lang="zh-CN" altLang="en-US" dirty="0" err="1">
              <a:solidFill>
                <a:schemeClr val="accent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55600" y="203200"/>
            <a:ext cx="8890000" cy="533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91666"/>
              </a:lnSpc>
              <a:spcBef>
                <a:spcPts val="0"/>
              </a:spcBef>
              <a:spcAft>
                <a:spcPts val="0"/>
              </a:spcAft>
              <a:buClr>
                <a:srgbClr val="000000"/>
              </a:buClr>
              <a:buSzTx/>
              <a:buFont typeface="Arial"/>
              <a:buNone/>
              <a:tabLst/>
              <a:defRPr/>
            </a:pPr>
            <a:r>
              <a:rPr kumimoji="0" lang="en-US" sz="2600" b="1" i="0" u="none" strike="noStrike" kern="0" cap="none" spc="0" normalizeH="0" baseline="0" noProof="0">
                <a:ln>
                  <a:noFill/>
                </a:ln>
                <a:solidFill>
                  <a:srgbClr val="0073E6"/>
                </a:solidFill>
                <a:effectLst/>
                <a:uLnTx/>
                <a:uFillTx/>
                <a:latin typeface="微软雅黑"/>
                <a:ea typeface="微软雅黑"/>
                <a:cs typeface="微软雅黑"/>
                <a:sym typeface="微软雅黑"/>
              </a:rPr>
              <a:t>生产进度看板建设：方案总览</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3" name="AutoShape 3"/>
          <p:cNvSpPr/>
          <p:nvPr/>
        </p:nvSpPr>
        <p:spPr>
          <a:xfrm>
            <a:off x="254000" y="863600"/>
            <a:ext cx="7683500" cy="1549400"/>
          </a:xfrm>
          <a:prstGeom prst="roundRect">
            <a:avLst>
              <a:gd name="adj" fmla="val 0"/>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endParaRPr kumimoji="1" b="1">
              <a:latin typeface="微软雅黑" panose="020B0503020204020204" pitchFamily="34" charset="-122"/>
              <a:ea typeface="微软雅黑" panose="020B0503020204020204" pitchFamily="34" charset="-122"/>
              <a:sym typeface="Arial"/>
            </a:endParaRPr>
          </a:p>
        </p:txBody>
      </p:sp>
      <p:sp>
        <p:nvSpPr>
          <p:cNvPr id="4" name="AutoShape 4"/>
          <p:cNvSpPr/>
          <p:nvPr/>
        </p:nvSpPr>
        <p:spPr>
          <a:xfrm>
            <a:off x="381000" y="762000"/>
            <a:ext cx="1397000" cy="2032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000000"/>
                </a:solidFill>
                <a:effectLst/>
                <a:uLnTx/>
                <a:uFillTx/>
                <a:latin typeface="微软雅黑"/>
                <a:ea typeface="微软雅黑"/>
                <a:cs typeface="微软雅黑"/>
                <a:sym typeface="微软雅黑"/>
              </a:rPr>
              <a:t>1 目标和范围</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5" name="AutoShape 5"/>
          <p:cNvSpPr/>
          <p:nvPr/>
        </p:nvSpPr>
        <p:spPr>
          <a:xfrm>
            <a:off x="381000" y="1016000"/>
            <a:ext cx="7429500" cy="1320800"/>
          </a:xfrm>
          <a:prstGeom prst="rect">
            <a:avLst/>
          </a:prstGeom>
          <a:noFill/>
          <a:ln w="12700" cap="flat" cmpd="sng">
            <a:noFill/>
            <a:prstDash val="solid"/>
            <a:round/>
          </a:ln>
        </p:spPr>
        <p:txBody>
          <a:bodyPr vert="horz" wrap="square" lIns="0" tIns="0" rIns="0" bIns="0" rtlCol="0" anchor="ctr" anchorCtr="0"/>
          <a:lstStyle>
            <a:lvl1pPr marL="292100" indent="-139700"/>
            <a:lvl2pPr marL="749300" indent="-139700"/>
            <a:lvl3pPr marL="1206500" indent="-139700"/>
            <a:lvl4pPr marL="1663700" indent="-139700"/>
            <a:lvl5pPr marL="2120900" indent="-139700"/>
            <a:lvl6pPr marL="2578100" indent="-139700"/>
            <a:lvl7pPr marL="3035300" indent="-139700"/>
            <a:lvl8pPr marL="3492500" indent="-139700"/>
            <a:lvl9pPr marL="3949700" indent="-139700"/>
          </a:lstStyle>
          <a:p>
            <a:pPr marL="0" marR="0" lvl="0" indent="0" algn="l" defTabSz="914400" rtl="0" eaLnBrk="1" fontAlgn="auto" latinLnBrk="0" hangingPunct="1">
              <a:lnSpc>
                <a:spcPct val="104166"/>
              </a:lnSpc>
              <a:spcBef>
                <a:spcPts val="0"/>
              </a:spcBef>
              <a:spcAft>
                <a:spcPts val="0"/>
              </a:spcAft>
              <a:buClr>
                <a:srgbClr val="000000"/>
              </a:buClr>
              <a:buSzTx/>
              <a:buFont typeface="Arial"/>
              <a:buNone/>
              <a:tabLst/>
              <a:defRPr/>
            </a:pPr>
            <a:r>
              <a:rPr kumimoji="0" lang="en-US" sz="1100" b="1"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项目目标</a:t>
            </a:r>
            <a:r>
              <a:rPr kumimoji="0" lang="en-US" sz="1100" b="1" i="0" u="none" strike="noStrike" kern="0" cap="none" spc="0" normalizeH="0" baseline="0" noProof="0" dirty="0">
                <a:ln>
                  <a:noFill/>
                </a:ln>
                <a:solidFill>
                  <a:srgbClr val="000000"/>
                </a:solidFill>
                <a:effectLst/>
                <a:uLnTx/>
                <a:uFillTx/>
                <a:latin typeface="微软雅黑"/>
                <a:ea typeface="微软雅黑"/>
                <a:cs typeface="微软雅黑"/>
                <a:sym typeface="微软雅黑"/>
              </a:rPr>
              <a:t>：</a:t>
            </a:r>
            <a:endParaRPr kumimoji="0" lang="en-US" sz="1100" b="0" i="0" u="none" strike="noStrike" kern="0" cap="none" spc="0" normalizeH="0" baseline="0" noProof="0" dirty="0">
              <a:ln>
                <a:noFill/>
              </a:ln>
              <a:solidFill>
                <a:srgbClr val="000000"/>
              </a:solidFill>
              <a:effectLst/>
              <a:uLnTx/>
              <a:uFillTx/>
              <a:latin typeface="Arial"/>
              <a:cs typeface="Arial"/>
              <a:sym typeface="Arial"/>
            </a:endParaRPr>
          </a:p>
          <a:p>
            <a:pPr marL="292100" marR="0" lvl="0" indent="-139700" algn="l" defTabSz="914400" rtl="0" eaLnBrk="1" fontAlgn="auto" latinLnBrk="0" hangingPunct="1">
              <a:lnSpc>
                <a:spcPct val="104166"/>
              </a:lnSpc>
              <a:spcBef>
                <a:spcPts val="0"/>
              </a:spcBef>
              <a:spcAft>
                <a:spcPts val="0"/>
              </a:spcAft>
              <a:buClr>
                <a:srgbClr val="000000"/>
              </a:buClr>
              <a:buSzTx/>
              <a:buFont typeface="Arial"/>
              <a:buChar char="•"/>
              <a:tabLst/>
              <a:defRPr/>
            </a:pPr>
            <a:r>
              <a:rPr kumimoji="0" lang="en-US" sz="1100" b="0"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生产计划与执行进度对比，跟进日执行状态，直观反馈生产进度（解决计划执行、交付进度无法跟踪</a:t>
            </a:r>
            <a:r>
              <a:rPr kumimoji="0" lang="en-US" sz="1100" b="0" i="0" u="none" strike="noStrike" kern="0" cap="none" spc="0" normalizeH="0" baseline="0" noProof="0" dirty="0">
                <a:ln>
                  <a:noFill/>
                </a:ln>
                <a:solidFill>
                  <a:srgbClr val="000000"/>
                </a:solidFill>
                <a:effectLst/>
                <a:uLnTx/>
                <a:uFillTx/>
                <a:latin typeface="微软雅黑"/>
                <a:ea typeface="微软雅黑"/>
                <a:cs typeface="微软雅黑"/>
                <a:sym typeface="微软雅黑"/>
              </a:rPr>
              <a:t>）</a:t>
            </a:r>
          </a:p>
          <a:p>
            <a:pPr marL="292100" marR="0" lvl="0" indent="-139700" algn="l" defTabSz="914400" rtl="0" eaLnBrk="1" fontAlgn="auto" latinLnBrk="0" hangingPunct="1">
              <a:lnSpc>
                <a:spcPct val="104166"/>
              </a:lnSpc>
              <a:spcBef>
                <a:spcPts val="0"/>
              </a:spcBef>
              <a:spcAft>
                <a:spcPts val="0"/>
              </a:spcAft>
              <a:buClr>
                <a:srgbClr val="000000"/>
              </a:buClr>
              <a:buSzTx/>
              <a:buFont typeface="Arial"/>
              <a:buChar char="•"/>
              <a:tabLst/>
              <a:defRPr/>
            </a:pPr>
            <a:r>
              <a:rPr kumimoji="0" lang="en-US" sz="1100" b="0" i="0" u="none" strike="noStrike" kern="0" cap="none" spc="0" normalizeH="0" baseline="0" noProof="0" dirty="0">
                <a:ln>
                  <a:noFill/>
                </a:ln>
                <a:solidFill>
                  <a:srgbClr val="000000"/>
                </a:solidFill>
                <a:effectLst/>
                <a:uLnTx/>
                <a:uFillTx/>
                <a:latin typeface="微软雅黑"/>
                <a:ea typeface="微软雅黑"/>
                <a:cs typeface="微软雅黑"/>
                <a:sym typeface="微软雅黑"/>
              </a:rPr>
              <a:t>覆盖高明基地3个车间（球泡灯、灯饰灯、智能产品），</a:t>
            </a:r>
            <a:r>
              <a:rPr kumimoji="0" lang="en-US" sz="1100" b="0"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支撑大客户代工（吉益等）交期极致要求</a:t>
            </a:r>
            <a:endParaRPr kumimoji="0" lang="en-US" sz="1100" b="0" i="0" u="none" strike="noStrike" kern="0" cap="none" spc="0" normalizeH="0" baseline="0" noProof="0" dirty="0">
              <a:ln>
                <a:noFill/>
              </a:ln>
              <a:solidFill>
                <a:srgbClr val="000000"/>
              </a:solidFill>
              <a:effectLst/>
              <a:uLnTx/>
              <a:uFillTx/>
              <a:latin typeface="微软雅黑"/>
              <a:ea typeface="微软雅黑"/>
              <a:cs typeface="微软雅黑"/>
              <a:sym typeface="微软雅黑"/>
            </a:endParaRPr>
          </a:p>
          <a:p>
            <a:pPr marL="0" marR="0" lvl="0" indent="0" algn="l" defTabSz="914400" rtl="0" eaLnBrk="1" fontAlgn="auto" latinLnBrk="0" hangingPunct="1">
              <a:lnSpc>
                <a:spcPct val="104166"/>
              </a:lnSpc>
              <a:spcBef>
                <a:spcPts val="0"/>
              </a:spcBef>
              <a:spcAft>
                <a:spcPts val="0"/>
              </a:spcAft>
              <a:buClr>
                <a:srgbClr val="000000"/>
              </a:buClr>
              <a:buSzTx/>
              <a:buFont typeface="Arial"/>
              <a:buNone/>
              <a:tabLst/>
              <a:defRPr/>
            </a:pPr>
            <a:r>
              <a:rPr kumimoji="0" lang="en-US" sz="1100" b="1"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项目方案</a:t>
            </a:r>
            <a:r>
              <a:rPr kumimoji="0" lang="en-US" sz="1100" b="1" i="0" u="none" strike="noStrike" kern="0" cap="none" spc="0" normalizeH="0" baseline="0" noProof="0" dirty="0">
                <a:ln>
                  <a:noFill/>
                </a:ln>
                <a:solidFill>
                  <a:srgbClr val="000000"/>
                </a:solidFill>
                <a:effectLst/>
                <a:uLnTx/>
                <a:uFillTx/>
                <a:latin typeface="微软雅黑"/>
                <a:ea typeface="微软雅黑"/>
                <a:cs typeface="微软雅黑"/>
                <a:sym typeface="微软雅黑"/>
              </a:rPr>
              <a:t>：</a:t>
            </a:r>
          </a:p>
          <a:p>
            <a:pPr marL="292100" marR="0" lvl="0" indent="-139700" algn="l" defTabSz="914400" rtl="0" eaLnBrk="1" fontAlgn="auto" latinLnBrk="0" hangingPunct="1">
              <a:lnSpc>
                <a:spcPct val="104166"/>
              </a:lnSpc>
              <a:spcBef>
                <a:spcPts val="0"/>
              </a:spcBef>
              <a:spcAft>
                <a:spcPts val="0"/>
              </a:spcAft>
              <a:buClr>
                <a:srgbClr val="000000"/>
              </a:buClr>
              <a:buSzTx/>
              <a:buFont typeface="Arial"/>
              <a:buChar char="•"/>
              <a:tabLst/>
              <a:defRPr/>
            </a:pPr>
            <a:r>
              <a:rPr kumimoji="0" lang="en-US" sz="1100" b="0"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生产进度看板建设：N月→双周→日三级滚动计划，与车间实际产出入库对比，形成日报车间看板</a:t>
            </a:r>
            <a:endParaRPr kumimoji="0" lang="en-US" sz="1100" b="0" i="0" u="none" strike="noStrike" kern="0" cap="none" spc="0" normalizeH="0" baseline="0" noProof="0" dirty="0">
              <a:ln>
                <a:noFill/>
              </a:ln>
              <a:solidFill>
                <a:srgbClr val="000000"/>
              </a:solidFill>
              <a:effectLst/>
              <a:uLnTx/>
              <a:uFillTx/>
              <a:latin typeface="微软雅黑"/>
              <a:ea typeface="微软雅黑"/>
              <a:cs typeface="微软雅黑"/>
              <a:sym typeface="微软雅黑"/>
            </a:endParaRPr>
          </a:p>
        </p:txBody>
      </p:sp>
      <p:sp>
        <p:nvSpPr>
          <p:cNvPr id="6" name="AutoShape 6"/>
          <p:cNvSpPr/>
          <p:nvPr/>
        </p:nvSpPr>
        <p:spPr>
          <a:xfrm>
            <a:off x="254000" y="2540000"/>
            <a:ext cx="7683500" cy="1651000"/>
          </a:xfrm>
          <a:prstGeom prst="roundRect">
            <a:avLst>
              <a:gd name="adj" fmla="val 0"/>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endParaRPr kumimoji="1" sz="1000" b="1">
              <a:latin typeface="Microsoft YaHei" panose="020B0503020204020204" pitchFamily="34" charset="-122"/>
              <a:ea typeface="Microsoft YaHei" panose="020B0503020204020204" pitchFamily="34" charset="-122"/>
              <a:sym typeface="Arial"/>
            </a:endParaRPr>
          </a:p>
        </p:txBody>
      </p:sp>
      <p:sp>
        <p:nvSpPr>
          <p:cNvPr id="7" name="AutoShape 7"/>
          <p:cNvSpPr/>
          <p:nvPr/>
        </p:nvSpPr>
        <p:spPr>
          <a:xfrm>
            <a:off x="381000" y="2438400"/>
            <a:ext cx="1397000" cy="2032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000000"/>
                </a:solidFill>
                <a:effectLst/>
                <a:uLnTx/>
                <a:uFillTx/>
                <a:latin typeface="微软雅黑"/>
                <a:ea typeface="微软雅黑"/>
                <a:cs typeface="微软雅黑"/>
                <a:sym typeface="微软雅黑"/>
              </a:rPr>
              <a:t>2 现状/差距</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8" name="AutoShape 8"/>
          <p:cNvSpPr/>
          <p:nvPr/>
        </p:nvSpPr>
        <p:spPr>
          <a:xfrm>
            <a:off x="381000" y="2692400"/>
            <a:ext cx="7429500" cy="1422400"/>
          </a:xfrm>
          <a:prstGeom prst="rect">
            <a:avLst/>
          </a:prstGeom>
          <a:noFill/>
          <a:ln w="12700" cap="flat" cmpd="sng">
            <a:noFill/>
            <a:prstDash val="solid"/>
            <a:round/>
          </a:ln>
        </p:spPr>
        <p:txBody>
          <a:bodyPr vert="horz" wrap="square" lIns="0" tIns="0" rIns="0" bIns="0" rtlCol="0" anchor="ctr" anchorCtr="0"/>
          <a:lstStyle>
            <a:lvl1pPr marL="292100" indent="-139700"/>
            <a:lvl2pPr marL="749300" indent="-139700"/>
            <a:lvl3pPr marL="1206500" indent="-139700"/>
            <a:lvl4pPr marL="1663700" indent="-139700"/>
            <a:lvl5pPr marL="2120900" indent="-139700"/>
            <a:lvl6pPr marL="2578100" indent="-139700"/>
            <a:lvl7pPr marL="3035300" indent="-139700"/>
            <a:lvl8pPr marL="3492500" indent="-139700"/>
            <a:lvl9pPr marL="3949700" indent="-139700"/>
          </a:lstStyle>
          <a:p>
            <a:pPr marL="0" marR="0" lvl="0" indent="0" algn="l" defTabSz="914400" rtl="0" eaLnBrk="1" fontAlgn="auto" latinLnBrk="0" hangingPunct="1">
              <a:lnSpc>
                <a:spcPct val="104166"/>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rgbClr val="000000"/>
                </a:solidFill>
                <a:effectLst/>
                <a:uLnTx/>
                <a:uFillTx/>
                <a:latin typeface="微软雅黑"/>
                <a:ea typeface="微软雅黑"/>
                <a:cs typeface="微软雅黑"/>
                <a:sym typeface="微软雅黑"/>
              </a:rPr>
              <a:t>现状：</a:t>
            </a:r>
            <a:endParaRPr kumimoji="0" lang="en-US" sz="1100" b="0" i="0" u="none" strike="noStrike" kern="0" cap="none" spc="0" normalizeH="0" baseline="0" noProof="0" dirty="0">
              <a:ln>
                <a:noFill/>
              </a:ln>
              <a:solidFill>
                <a:srgbClr val="000000"/>
              </a:solidFill>
              <a:effectLst/>
              <a:uLnTx/>
              <a:uFillTx/>
              <a:latin typeface="Arial"/>
              <a:cs typeface="Arial"/>
              <a:sym typeface="Arial"/>
            </a:endParaRPr>
          </a:p>
          <a:p>
            <a:pPr marL="292100" marR="0" lvl="0" indent="-139700" algn="l" defTabSz="914400" rtl="0" eaLnBrk="1" fontAlgn="auto" latinLnBrk="0" hangingPunct="1">
              <a:lnSpc>
                <a:spcPct val="104166"/>
              </a:lnSpc>
              <a:spcBef>
                <a:spcPts val="0"/>
              </a:spcBef>
              <a:spcAft>
                <a:spcPts val="0"/>
              </a:spcAft>
              <a:buClr>
                <a:srgbClr val="000000"/>
              </a:buClr>
              <a:buSzTx/>
              <a:buFont typeface="Arial"/>
              <a:buChar char="•"/>
              <a:tabLst/>
              <a:defRPr/>
            </a:pPr>
            <a:r>
              <a:rPr kumimoji="0" lang="en-US" sz="1100" b="0"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SAP仅基础上线未深度开发，排产</a:t>
            </a:r>
            <a:r>
              <a:rPr kumimoji="0" lang="en-US" sz="1100" b="0" i="0" u="none" strike="noStrike" kern="0" cap="none" spc="0" normalizeH="0" baseline="0" noProof="0" dirty="0">
                <a:ln>
                  <a:noFill/>
                </a:ln>
                <a:solidFill>
                  <a:srgbClr val="000000"/>
                </a:solidFill>
                <a:effectLst/>
                <a:uLnTx/>
                <a:uFillTx/>
                <a:latin typeface="微软雅黑"/>
                <a:ea typeface="微软雅黑"/>
                <a:cs typeface="微软雅黑"/>
                <a:sym typeface="微软雅黑"/>
              </a:rPr>
              <a:t>/</a:t>
            </a:r>
            <a:r>
              <a:rPr kumimoji="0" lang="en-US" sz="1100" b="0"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交付数据可信度低，交付管理失控</a:t>
            </a:r>
            <a:endParaRPr kumimoji="0" lang="en-US" sz="1100" b="0" i="0" u="none" strike="noStrike" kern="0" cap="none" spc="0" normalizeH="0" baseline="0" noProof="0" dirty="0">
              <a:ln>
                <a:noFill/>
              </a:ln>
              <a:solidFill>
                <a:srgbClr val="000000"/>
              </a:solidFill>
              <a:effectLst/>
              <a:uLnTx/>
              <a:uFillTx/>
              <a:latin typeface="微软雅黑"/>
              <a:ea typeface="微软雅黑"/>
              <a:cs typeface="微软雅黑"/>
              <a:sym typeface="微软雅黑"/>
            </a:endParaRPr>
          </a:p>
          <a:p>
            <a:pPr marL="292100" marR="0" lvl="0" indent="-139700" algn="l" defTabSz="914400" rtl="0" eaLnBrk="1" fontAlgn="auto" latinLnBrk="0" hangingPunct="1">
              <a:lnSpc>
                <a:spcPct val="104166"/>
              </a:lnSpc>
              <a:spcBef>
                <a:spcPts val="0"/>
              </a:spcBef>
              <a:spcAft>
                <a:spcPts val="0"/>
              </a:spcAft>
              <a:buClr>
                <a:srgbClr val="000000"/>
              </a:buClr>
              <a:buSzTx/>
              <a:buFont typeface="Arial"/>
              <a:buChar char="•"/>
              <a:tabLst/>
              <a:defRPr/>
            </a:pPr>
            <a:r>
              <a:rPr kumimoji="0" lang="en-US" sz="1100" b="0" i="0" u="none" strike="noStrike" kern="0" cap="none" spc="0" normalizeH="0" baseline="0" noProof="0" dirty="0">
                <a:ln>
                  <a:noFill/>
                </a:ln>
                <a:solidFill>
                  <a:srgbClr val="000000"/>
                </a:solidFill>
                <a:effectLst/>
                <a:uLnTx/>
                <a:uFillTx/>
                <a:latin typeface="微软雅黑"/>
                <a:ea typeface="微软雅黑"/>
                <a:cs typeface="微软雅黑"/>
                <a:sym typeface="微软雅黑"/>
              </a:rPr>
              <a:t>计划执行、交付进度无法跟踪；缺货率高达30%-40%；</a:t>
            </a:r>
            <a:r>
              <a:rPr kumimoji="0" lang="en-US" sz="1100" b="0"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计划调整频繁</a:t>
            </a:r>
            <a:endParaRPr kumimoji="0" lang="en-US" sz="1100" b="0" i="0" u="none" strike="noStrike" kern="0" cap="none" spc="0" normalizeH="0" baseline="0" noProof="0" dirty="0">
              <a:ln>
                <a:noFill/>
              </a:ln>
              <a:solidFill>
                <a:srgbClr val="000000"/>
              </a:solidFill>
              <a:effectLst/>
              <a:uLnTx/>
              <a:uFillTx/>
              <a:latin typeface="微软雅黑"/>
              <a:ea typeface="微软雅黑"/>
              <a:cs typeface="微软雅黑"/>
              <a:sym typeface="微软雅黑"/>
            </a:endParaRPr>
          </a:p>
          <a:p>
            <a:pPr marL="0" marR="0" lvl="0" indent="0" algn="l" defTabSz="914400" rtl="0" eaLnBrk="1" fontAlgn="auto" latinLnBrk="0" hangingPunct="1">
              <a:lnSpc>
                <a:spcPct val="104166"/>
              </a:lnSpc>
              <a:spcBef>
                <a:spcPts val="0"/>
              </a:spcBef>
              <a:spcAft>
                <a:spcPts val="0"/>
              </a:spcAft>
              <a:buClr>
                <a:srgbClr val="000000"/>
              </a:buClr>
              <a:buSzTx/>
              <a:buFont typeface="Arial"/>
              <a:buNone/>
              <a:tabLst/>
              <a:defRPr/>
            </a:pPr>
            <a:r>
              <a:rPr kumimoji="0" lang="en-US" sz="1100" b="1"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主要差距</a:t>
            </a:r>
            <a:r>
              <a:rPr kumimoji="0" lang="en-US" sz="1100" b="1" i="0" u="none" strike="noStrike" kern="0" cap="none" spc="0" normalizeH="0" baseline="0" noProof="0" dirty="0">
                <a:ln>
                  <a:noFill/>
                </a:ln>
                <a:solidFill>
                  <a:srgbClr val="000000"/>
                </a:solidFill>
                <a:effectLst/>
                <a:uLnTx/>
                <a:uFillTx/>
                <a:latin typeface="微软雅黑"/>
                <a:ea typeface="微软雅黑"/>
                <a:cs typeface="微软雅黑"/>
                <a:sym typeface="微软雅黑"/>
              </a:rPr>
              <a:t>：</a:t>
            </a:r>
          </a:p>
          <a:p>
            <a:pPr marL="292100" marR="0" lvl="0" indent="-139700" algn="l" defTabSz="914400" rtl="0" eaLnBrk="1" fontAlgn="auto" latinLnBrk="0" hangingPunct="1">
              <a:lnSpc>
                <a:spcPct val="104166"/>
              </a:lnSpc>
              <a:spcBef>
                <a:spcPts val="0"/>
              </a:spcBef>
              <a:spcAft>
                <a:spcPts val="0"/>
              </a:spcAft>
              <a:buClr>
                <a:srgbClr val="000000"/>
              </a:buClr>
              <a:buSzTx/>
              <a:buFont typeface="Arial"/>
              <a:buChar char="•"/>
              <a:tabLst/>
              <a:defRPr/>
            </a:pPr>
            <a:r>
              <a:rPr kumimoji="0" lang="en-US" sz="1100" b="0"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日产出合格品、当前库存、计划与实际交付偏差天数无法直观看到</a:t>
            </a:r>
            <a:endParaRPr kumimoji="0" lang="en-US" sz="1100" b="0" i="0" u="none" strike="noStrike" kern="0" cap="none" spc="0" normalizeH="0" baseline="0" noProof="0" dirty="0">
              <a:ln>
                <a:noFill/>
              </a:ln>
              <a:solidFill>
                <a:srgbClr val="000000"/>
              </a:solidFill>
              <a:effectLst/>
              <a:uLnTx/>
              <a:uFillTx/>
              <a:latin typeface="微软雅黑"/>
              <a:ea typeface="微软雅黑"/>
              <a:cs typeface="微软雅黑"/>
              <a:sym typeface="微软雅黑"/>
            </a:endParaRPr>
          </a:p>
          <a:p>
            <a:pPr marL="292100" marR="0" lvl="0" indent="-139700" algn="l" defTabSz="914400" rtl="0" eaLnBrk="1" fontAlgn="auto" latinLnBrk="0" hangingPunct="1">
              <a:lnSpc>
                <a:spcPct val="104166"/>
              </a:lnSpc>
              <a:spcBef>
                <a:spcPts val="0"/>
              </a:spcBef>
              <a:spcAft>
                <a:spcPts val="0"/>
              </a:spcAft>
              <a:buClr>
                <a:srgbClr val="000000"/>
              </a:buClr>
              <a:buSzTx/>
              <a:buFont typeface="Arial"/>
              <a:buChar char="•"/>
              <a:tabLst/>
              <a:defRPr/>
            </a:pPr>
            <a:r>
              <a:rPr kumimoji="0" lang="en-US" sz="1100" b="0"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主计划</a:t>
            </a:r>
            <a:r>
              <a:rPr kumimoji="0" lang="en-US" sz="1100" b="0" i="0" u="none" strike="noStrike" kern="0" cap="none" spc="0" normalizeH="0" baseline="0" noProof="0" dirty="0">
                <a:ln>
                  <a:noFill/>
                </a:ln>
                <a:solidFill>
                  <a:srgbClr val="000000"/>
                </a:solidFill>
                <a:effectLst/>
                <a:uLnTx/>
                <a:uFillTx/>
                <a:latin typeface="微软雅黑"/>
                <a:ea typeface="微软雅黑"/>
                <a:cs typeface="微软雅黑"/>
                <a:sym typeface="微软雅黑"/>
              </a:rPr>
              <a:t>/</a:t>
            </a:r>
            <a:r>
              <a:rPr kumimoji="0" lang="en-US" sz="1100" b="0"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销售</a:t>
            </a:r>
            <a:r>
              <a:rPr kumimoji="0" lang="en-US" sz="1100" b="0" i="0" u="none" strike="noStrike" kern="0" cap="none" spc="0" normalizeH="0" baseline="0" noProof="0" dirty="0">
                <a:ln>
                  <a:noFill/>
                </a:ln>
                <a:solidFill>
                  <a:srgbClr val="000000"/>
                </a:solidFill>
                <a:effectLst/>
                <a:uLnTx/>
                <a:uFillTx/>
                <a:latin typeface="微软雅黑"/>
                <a:ea typeface="微软雅黑"/>
                <a:cs typeface="微软雅黑"/>
                <a:sym typeface="微软雅黑"/>
              </a:rPr>
              <a:t>/</a:t>
            </a:r>
            <a:r>
              <a:rPr kumimoji="0" lang="en-US" sz="1100" b="0"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生产</a:t>
            </a:r>
            <a:r>
              <a:rPr kumimoji="0" lang="en-US" sz="1100" b="0" i="0" u="none" strike="noStrike" kern="0" cap="none" spc="0" normalizeH="0" baseline="0" noProof="0" dirty="0">
                <a:ln>
                  <a:noFill/>
                </a:ln>
                <a:solidFill>
                  <a:srgbClr val="000000"/>
                </a:solidFill>
                <a:effectLst/>
                <a:uLnTx/>
                <a:uFillTx/>
                <a:latin typeface="微软雅黑"/>
                <a:ea typeface="微软雅黑"/>
                <a:cs typeface="微软雅黑"/>
                <a:sym typeface="微软雅黑"/>
              </a:rPr>
              <a:t>/</a:t>
            </a:r>
            <a:r>
              <a:rPr kumimoji="0" lang="en-US" sz="1100" b="0"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采购订单未勾稽，无法联动追溯需求来源；缺SKU级预测</a:t>
            </a:r>
            <a:endParaRPr kumimoji="0" lang="en-US" sz="1100" b="0" i="0" u="none" strike="noStrike" kern="0" cap="none" spc="0" normalizeH="0" baseline="0" noProof="0" dirty="0">
              <a:ln>
                <a:noFill/>
              </a:ln>
              <a:solidFill>
                <a:srgbClr val="000000"/>
              </a:solidFill>
              <a:effectLst/>
              <a:uLnTx/>
              <a:uFillTx/>
              <a:latin typeface="微软雅黑"/>
              <a:ea typeface="微软雅黑"/>
              <a:cs typeface="微软雅黑"/>
              <a:sym typeface="微软雅黑"/>
            </a:endParaRPr>
          </a:p>
        </p:txBody>
      </p:sp>
      <p:sp>
        <p:nvSpPr>
          <p:cNvPr id="9" name="AutoShape 9"/>
          <p:cNvSpPr/>
          <p:nvPr/>
        </p:nvSpPr>
        <p:spPr>
          <a:xfrm>
            <a:off x="254000" y="4318000"/>
            <a:ext cx="7683500" cy="914400"/>
          </a:xfrm>
          <a:prstGeom prst="roundRect">
            <a:avLst>
              <a:gd name="adj" fmla="val 0"/>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sz="1000" b="1">
              <a:solidFill>
                <a:schemeClr val="lt1"/>
              </a:solidFill>
              <a:latin typeface="Microsoft YaHei" panose="020B0503020204020204" pitchFamily="34" charset="-122"/>
              <a:ea typeface="Microsoft YaHei" panose="020B0503020204020204" pitchFamily="34" charset="-122"/>
              <a:sym typeface="Arial"/>
            </a:endParaRPr>
          </a:p>
        </p:txBody>
      </p:sp>
      <p:sp>
        <p:nvSpPr>
          <p:cNvPr id="10" name="AutoShape 10"/>
          <p:cNvSpPr/>
          <p:nvPr/>
        </p:nvSpPr>
        <p:spPr>
          <a:xfrm>
            <a:off x="381000" y="4216400"/>
            <a:ext cx="1397000" cy="2032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000000"/>
                </a:solidFill>
                <a:effectLst/>
                <a:uLnTx/>
                <a:uFillTx/>
                <a:latin typeface="微软雅黑"/>
                <a:ea typeface="微软雅黑"/>
                <a:cs typeface="微软雅黑"/>
                <a:sym typeface="微软雅黑"/>
              </a:rPr>
              <a:t>3 业务变革</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1" name="AutoShape 11"/>
          <p:cNvSpPr/>
          <p:nvPr/>
        </p:nvSpPr>
        <p:spPr>
          <a:xfrm>
            <a:off x="381000" y="4470400"/>
            <a:ext cx="7429500" cy="711200"/>
          </a:xfrm>
          <a:prstGeom prst="rect">
            <a:avLst/>
          </a:prstGeom>
          <a:noFill/>
          <a:ln w="12700" cap="flat" cmpd="sng">
            <a:noFill/>
            <a:prstDash val="solid"/>
            <a:round/>
          </a:ln>
        </p:spPr>
        <p:txBody>
          <a:bodyPr vert="horz" wrap="square" lIns="0" tIns="0" rIns="0" bIns="0" rtlCol="0" anchor="ctr" anchorCtr="0"/>
          <a:lstStyle>
            <a:lvl1pPr marL="292100" indent="-139700"/>
            <a:lvl2pPr marL="749300" indent="-139700"/>
            <a:lvl3pPr marL="1206500" indent="-139700"/>
            <a:lvl4pPr marL="1663700" indent="-139700"/>
            <a:lvl5pPr marL="2120900" indent="-139700"/>
            <a:lvl6pPr marL="2578100" indent="-139700"/>
            <a:lvl7pPr marL="3035300" indent="-139700"/>
            <a:lvl8pPr marL="3492500" indent="-139700"/>
            <a:lvl9pPr marL="3949700" indent="-139700"/>
          </a:lstStyle>
          <a:p>
            <a:pPr marL="292100" marR="0" lvl="0" indent="-139700" algn="l" defTabSz="914400" rtl="0" eaLnBrk="1" fontAlgn="auto" latinLnBrk="0" hangingPunct="1">
              <a:lnSpc>
                <a:spcPct val="100000"/>
              </a:lnSpc>
              <a:spcBef>
                <a:spcPts val="0"/>
              </a:spcBef>
              <a:spcAft>
                <a:spcPts val="0"/>
              </a:spcAft>
              <a:buClr>
                <a:srgbClr val="000000"/>
              </a:buClr>
              <a:buSzTx/>
              <a:buFont typeface="Arial"/>
              <a:buChar char="•"/>
              <a:tabLst/>
              <a:defRPr/>
            </a:pPr>
            <a:r>
              <a:rPr kumimoji="0" lang="en-US" sz="1100" b="1" i="0" u="none" strike="noStrike" kern="0" cap="none" spc="0" normalizeH="0" baseline="0" noProof="0">
                <a:ln>
                  <a:noFill/>
                </a:ln>
                <a:solidFill>
                  <a:srgbClr val="000000"/>
                </a:solidFill>
                <a:effectLst/>
                <a:uLnTx/>
                <a:uFillTx/>
                <a:latin typeface="微软雅黑"/>
                <a:ea typeface="微软雅黑"/>
                <a:cs typeface="微软雅黑"/>
                <a:sym typeface="微软雅黑"/>
              </a:rPr>
              <a:t>计划模式：</a:t>
            </a:r>
            <a:r>
              <a:rPr kumimoji="0" lang="en-US" sz="1100" b="0" i="0" u="none" strike="noStrike" kern="0" cap="none" spc="0" normalizeH="0" baseline="0" noProof="0">
                <a:ln>
                  <a:noFill/>
                </a:ln>
                <a:solidFill>
                  <a:srgbClr val="000000"/>
                </a:solidFill>
                <a:effectLst/>
                <a:uLnTx/>
                <a:uFillTx/>
                <a:latin typeface="微软雅黑"/>
                <a:ea typeface="微软雅黑"/>
                <a:cs typeface="微软雅黑"/>
                <a:sym typeface="微软雅黑"/>
              </a:rPr>
              <a:t>N+2滚动计划+MRP供需平衡，Leadtime驱动前向/后向排产</a:t>
            </a:r>
            <a:endParaRPr kumimoji="0" lang="en-US" sz="1100" b="0" i="0" u="none" strike="noStrike" kern="0" cap="none" spc="0" normalizeH="0" baseline="0" noProof="0">
              <a:ln>
                <a:noFill/>
              </a:ln>
              <a:solidFill>
                <a:srgbClr val="000000"/>
              </a:solidFill>
              <a:effectLst/>
              <a:uLnTx/>
              <a:uFillTx/>
              <a:latin typeface="Arial"/>
              <a:cs typeface="Arial"/>
              <a:sym typeface="Arial"/>
            </a:endParaRPr>
          </a:p>
          <a:p>
            <a:pPr marL="292100" marR="0" lvl="0" indent="-139700" algn="l" defTabSz="914400" rtl="0" eaLnBrk="1" fontAlgn="auto" latinLnBrk="0" hangingPunct="1">
              <a:lnSpc>
                <a:spcPct val="100000"/>
              </a:lnSpc>
              <a:spcBef>
                <a:spcPts val="0"/>
              </a:spcBef>
              <a:spcAft>
                <a:spcPts val="0"/>
              </a:spcAft>
              <a:buClr>
                <a:srgbClr val="000000"/>
              </a:buClr>
              <a:buSzTx/>
              <a:buFont typeface="Arial"/>
              <a:buChar char="•"/>
              <a:tabLst/>
              <a:defRPr/>
            </a:pPr>
            <a:r>
              <a:rPr kumimoji="0" lang="en-US" sz="1100" b="1" i="0" u="none" strike="noStrike" kern="0" cap="none" spc="0" normalizeH="0" baseline="0" noProof="0">
                <a:ln>
                  <a:noFill/>
                </a:ln>
                <a:solidFill>
                  <a:srgbClr val="000000"/>
                </a:solidFill>
                <a:effectLst/>
                <a:uLnTx/>
                <a:uFillTx/>
                <a:latin typeface="微软雅黑"/>
                <a:ea typeface="微软雅黑"/>
                <a:cs typeface="微软雅黑"/>
                <a:sym typeface="微软雅黑"/>
              </a:rPr>
              <a:t>数据联动：</a:t>
            </a:r>
            <a:r>
              <a:rPr kumimoji="0" lang="en-US" sz="1100" b="0" i="0" u="none" strike="noStrike" kern="0" cap="none" spc="0" normalizeH="0" baseline="0" noProof="0">
                <a:ln>
                  <a:noFill/>
                </a:ln>
                <a:solidFill>
                  <a:srgbClr val="000000"/>
                </a:solidFill>
                <a:effectLst/>
                <a:uLnTx/>
                <a:uFillTx/>
                <a:latin typeface="微软雅黑"/>
                <a:ea typeface="微软雅黑"/>
                <a:cs typeface="微软雅黑"/>
                <a:sym typeface="微软雅黑"/>
              </a:rPr>
              <a:t>四类订单链接勾稽，计划变更信息实时共享</a:t>
            </a:r>
          </a:p>
          <a:p>
            <a:pPr marL="292100" marR="0" lvl="0" indent="-139700" algn="l" defTabSz="914400" rtl="0" eaLnBrk="1" fontAlgn="auto" latinLnBrk="0" hangingPunct="1">
              <a:lnSpc>
                <a:spcPct val="100000"/>
              </a:lnSpc>
              <a:spcBef>
                <a:spcPts val="0"/>
              </a:spcBef>
              <a:spcAft>
                <a:spcPts val="0"/>
              </a:spcAft>
              <a:buClr>
                <a:srgbClr val="000000"/>
              </a:buClr>
              <a:buSzTx/>
              <a:buFont typeface="Arial"/>
              <a:buChar char="•"/>
              <a:tabLst/>
              <a:defRPr/>
            </a:pPr>
            <a:r>
              <a:rPr kumimoji="0" lang="en-US" sz="1100" b="1" i="0" u="none" strike="noStrike" kern="0" cap="none" spc="0" normalizeH="0" baseline="0" noProof="0">
                <a:ln>
                  <a:noFill/>
                </a:ln>
                <a:solidFill>
                  <a:srgbClr val="000000"/>
                </a:solidFill>
                <a:effectLst/>
                <a:uLnTx/>
                <a:uFillTx/>
                <a:latin typeface="微软雅黑"/>
                <a:ea typeface="微软雅黑"/>
                <a:cs typeface="微软雅黑"/>
                <a:sym typeface="微软雅黑"/>
              </a:rPr>
              <a:t>进度可视：</a:t>
            </a:r>
            <a:r>
              <a:rPr kumimoji="0" lang="en-US" sz="1100" b="0" i="0" u="none" strike="noStrike" kern="0" cap="none" spc="0" normalizeH="0" baseline="0" noProof="0">
                <a:ln>
                  <a:noFill/>
                </a:ln>
                <a:solidFill>
                  <a:srgbClr val="000000"/>
                </a:solidFill>
                <a:effectLst/>
                <a:uLnTx/>
                <a:uFillTx/>
                <a:latin typeface="微软雅黑"/>
                <a:ea typeface="微软雅黑"/>
                <a:cs typeface="微软雅黑"/>
                <a:sym typeface="微软雅黑"/>
              </a:rPr>
              <a:t>日产出合格品数与计划交货偏差通过车间看板直观呈现</a:t>
            </a:r>
          </a:p>
          <a:p>
            <a:pPr marL="292100" marR="0" lvl="0" indent="-139700" algn="l" defTabSz="914400" rtl="0" eaLnBrk="1" fontAlgn="auto" latinLnBrk="0" hangingPunct="1">
              <a:lnSpc>
                <a:spcPct val="100000"/>
              </a:lnSpc>
              <a:spcBef>
                <a:spcPts val="0"/>
              </a:spcBef>
              <a:spcAft>
                <a:spcPts val="0"/>
              </a:spcAft>
              <a:buClr>
                <a:srgbClr val="000000"/>
              </a:buClr>
              <a:buSzTx/>
              <a:buFont typeface="Arial"/>
              <a:buChar char="•"/>
              <a:tabLst/>
              <a:defRPr/>
            </a:pPr>
            <a:r>
              <a:rPr kumimoji="0" lang="en-US" sz="1100" b="1" i="0" u="none" strike="noStrike" kern="0" cap="none" spc="0" normalizeH="0" baseline="0" noProof="0">
                <a:ln>
                  <a:noFill/>
                </a:ln>
                <a:solidFill>
                  <a:srgbClr val="000000"/>
                </a:solidFill>
                <a:effectLst/>
                <a:uLnTx/>
                <a:uFillTx/>
                <a:latin typeface="微软雅黑"/>
                <a:ea typeface="微软雅黑"/>
                <a:cs typeface="微软雅黑"/>
                <a:sym typeface="微软雅黑"/>
              </a:rPr>
              <a:t>缺料预警：</a:t>
            </a:r>
            <a:r>
              <a:rPr kumimoji="0" lang="en-US" sz="1100" b="0" i="0" u="none" strike="noStrike" kern="0" cap="none" spc="0" normalizeH="0" baseline="0" noProof="0">
                <a:ln>
                  <a:noFill/>
                </a:ln>
                <a:solidFill>
                  <a:srgbClr val="000000"/>
                </a:solidFill>
                <a:effectLst/>
                <a:uLnTx/>
                <a:uFillTx/>
                <a:latin typeface="微软雅黑"/>
                <a:ea typeface="微软雅黑"/>
                <a:cs typeface="微软雅黑"/>
                <a:sym typeface="微软雅黑"/>
              </a:rPr>
              <a:t>齐套检查结果报表+颜色预警+BI大屏看板预警</a:t>
            </a:r>
          </a:p>
        </p:txBody>
      </p:sp>
      <p:sp>
        <p:nvSpPr>
          <p:cNvPr id="12" name="AutoShape 12"/>
          <p:cNvSpPr/>
          <p:nvPr/>
        </p:nvSpPr>
        <p:spPr>
          <a:xfrm>
            <a:off x="254000" y="5359400"/>
            <a:ext cx="7683500" cy="1054100"/>
          </a:xfrm>
          <a:prstGeom prst="roundRect">
            <a:avLst>
              <a:gd name="adj" fmla="val 0"/>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endParaRPr kumimoji="1" sz="1000" b="1">
              <a:solidFill>
                <a:schemeClr val="lt1"/>
              </a:solidFill>
              <a:latin typeface="Microsoft YaHei" panose="020B0503020204020204" pitchFamily="34" charset="-122"/>
              <a:ea typeface="Microsoft YaHei" panose="020B0503020204020204" pitchFamily="34" charset="-122"/>
              <a:sym typeface="Arial"/>
            </a:endParaRPr>
          </a:p>
        </p:txBody>
      </p:sp>
      <p:sp>
        <p:nvSpPr>
          <p:cNvPr id="13" name="AutoShape 13"/>
          <p:cNvSpPr/>
          <p:nvPr/>
        </p:nvSpPr>
        <p:spPr>
          <a:xfrm>
            <a:off x="381000" y="5257800"/>
            <a:ext cx="1397000" cy="2032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000000"/>
                </a:solidFill>
                <a:effectLst/>
                <a:uLnTx/>
                <a:uFillTx/>
                <a:latin typeface="微软雅黑"/>
                <a:ea typeface="微软雅黑"/>
                <a:cs typeface="微软雅黑"/>
                <a:sym typeface="微软雅黑"/>
              </a:rPr>
              <a:t>4 关键任务</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4" name="AutoShape 14"/>
          <p:cNvSpPr/>
          <p:nvPr/>
        </p:nvSpPr>
        <p:spPr>
          <a:xfrm>
            <a:off x="381000" y="5511800"/>
            <a:ext cx="7429500" cy="850900"/>
          </a:xfrm>
          <a:prstGeom prst="rect">
            <a:avLst/>
          </a:prstGeom>
          <a:noFill/>
          <a:ln w="12700" cap="flat" cmpd="sng">
            <a:noFill/>
            <a:prstDash val="solid"/>
            <a:round/>
          </a:ln>
        </p:spPr>
        <p:txBody>
          <a:bodyPr vert="horz" wrap="square" lIns="0" tIns="0" rIns="0" bIns="0" rtlCol="0" anchor="ctr" anchorCtr="0"/>
          <a:lstStyle>
            <a:lvl1pPr marL="292100" indent="-139700"/>
            <a:lvl2pPr marL="749300" indent="-139700"/>
            <a:lvl3pPr marL="1206500" indent="-139700"/>
            <a:lvl4pPr marL="1663700" indent="-139700"/>
            <a:lvl5pPr marL="2120900" indent="-139700"/>
            <a:lvl6pPr marL="2578100" indent="-139700"/>
            <a:lvl7pPr marL="3035300" indent="-139700"/>
            <a:lvl8pPr marL="3492500" indent="-139700"/>
            <a:lvl9pPr marL="3949700" indent="-139700"/>
          </a:lstStyle>
          <a:p>
            <a:pPr marL="292100" marR="0" lvl="0" indent="-139700" algn="l" defTabSz="914400" rtl="0" eaLnBrk="1" fontAlgn="auto" latinLnBrk="0" hangingPunct="1">
              <a:lnSpc>
                <a:spcPct val="100000"/>
              </a:lnSpc>
              <a:spcBef>
                <a:spcPts val="0"/>
              </a:spcBef>
              <a:spcAft>
                <a:spcPts val="0"/>
              </a:spcAft>
              <a:buClr>
                <a:srgbClr val="000000"/>
              </a:buClr>
              <a:buSzTx/>
              <a:buFont typeface="Arial"/>
              <a:buChar char="•"/>
              <a:tabLst/>
              <a:defRPr/>
            </a:pPr>
            <a:r>
              <a:rPr kumimoji="0" lang="en-US" sz="1100" b="0" i="0" u="none" strike="noStrike" kern="0" cap="none" spc="0" normalizeH="0" baseline="0" noProof="0">
                <a:ln>
                  <a:noFill/>
                </a:ln>
                <a:solidFill>
                  <a:srgbClr val="000000"/>
                </a:solidFill>
                <a:effectLst/>
                <a:uLnTx/>
                <a:uFillTx/>
                <a:latin typeface="微软雅黑"/>
                <a:ea typeface="微软雅黑"/>
                <a:cs typeface="微软雅黑"/>
                <a:sym typeface="微软雅黑"/>
              </a:rPr>
              <a:t>提前期Leadtime主数据进SAP，系统建议自制件交期</a:t>
            </a:r>
            <a:endParaRPr kumimoji="0" lang="en-US" sz="1100" b="0" i="0" u="none" strike="noStrike" kern="0" cap="none" spc="0" normalizeH="0" baseline="0" noProof="0">
              <a:ln>
                <a:noFill/>
              </a:ln>
              <a:solidFill>
                <a:srgbClr val="000000"/>
              </a:solidFill>
              <a:effectLst/>
              <a:uLnTx/>
              <a:uFillTx/>
              <a:latin typeface="Arial"/>
              <a:cs typeface="Arial"/>
              <a:sym typeface="Arial"/>
            </a:endParaRPr>
          </a:p>
          <a:p>
            <a:pPr marL="292100" marR="0" lvl="0" indent="-139700" algn="l" defTabSz="914400" rtl="0" eaLnBrk="1" fontAlgn="auto" latinLnBrk="0" hangingPunct="1">
              <a:lnSpc>
                <a:spcPct val="100000"/>
              </a:lnSpc>
              <a:spcBef>
                <a:spcPts val="0"/>
              </a:spcBef>
              <a:spcAft>
                <a:spcPts val="0"/>
              </a:spcAft>
              <a:buClr>
                <a:srgbClr val="000000"/>
              </a:buClr>
              <a:buSzTx/>
              <a:buFont typeface="Arial"/>
              <a:buChar char="•"/>
              <a:tabLst/>
              <a:defRPr/>
            </a:pPr>
            <a:r>
              <a:rPr kumimoji="0" lang="en-US" sz="1100" b="0" i="0" u="none" strike="noStrike" kern="0" cap="none" spc="0" normalizeH="0" baseline="0" noProof="0">
                <a:ln>
                  <a:noFill/>
                </a:ln>
                <a:solidFill>
                  <a:srgbClr val="000000"/>
                </a:solidFill>
                <a:effectLst/>
                <a:uLnTx/>
                <a:uFillTx/>
                <a:latin typeface="微软雅黑"/>
                <a:ea typeface="微软雅黑"/>
                <a:cs typeface="微软雅黑"/>
                <a:sym typeface="微软雅黑"/>
              </a:rPr>
              <a:t>N+2滚动计划导入SAP驱动MRP运算，SKU级独立需求计算生产/采购需求</a:t>
            </a:r>
          </a:p>
          <a:p>
            <a:pPr marL="292100" marR="0" lvl="0" indent="-139700" algn="l" defTabSz="914400" rtl="0" eaLnBrk="1" fontAlgn="auto" latinLnBrk="0" hangingPunct="1">
              <a:lnSpc>
                <a:spcPct val="100000"/>
              </a:lnSpc>
              <a:spcBef>
                <a:spcPts val="0"/>
              </a:spcBef>
              <a:spcAft>
                <a:spcPts val="0"/>
              </a:spcAft>
              <a:buClr>
                <a:srgbClr val="000000"/>
              </a:buClr>
              <a:buSzTx/>
              <a:buFont typeface="Arial"/>
              <a:buChar char="•"/>
              <a:tabLst/>
              <a:defRPr/>
            </a:pPr>
            <a:r>
              <a:rPr kumimoji="0" lang="en-US" sz="1100" b="0" i="0" u="none" strike="noStrike" kern="0" cap="none" spc="0" normalizeH="0" baseline="0" noProof="0">
                <a:ln>
                  <a:noFill/>
                </a:ln>
                <a:solidFill>
                  <a:srgbClr val="000000"/>
                </a:solidFill>
                <a:effectLst/>
                <a:uLnTx/>
                <a:uFillTx/>
                <a:latin typeface="微软雅黑"/>
                <a:ea typeface="微软雅黑"/>
                <a:cs typeface="微软雅黑"/>
                <a:sym typeface="微软雅黑"/>
              </a:rPr>
              <a:t>生产订单下线报工与成品/半成品入库账实相符</a:t>
            </a:r>
          </a:p>
          <a:p>
            <a:pPr marL="292100" marR="0" lvl="0" indent="-139700" algn="l" defTabSz="914400" rtl="0" eaLnBrk="1" fontAlgn="auto" latinLnBrk="0" hangingPunct="1">
              <a:lnSpc>
                <a:spcPct val="100000"/>
              </a:lnSpc>
              <a:spcBef>
                <a:spcPts val="0"/>
              </a:spcBef>
              <a:spcAft>
                <a:spcPts val="0"/>
              </a:spcAft>
              <a:buClr>
                <a:srgbClr val="000000"/>
              </a:buClr>
              <a:buSzTx/>
              <a:buFont typeface="Arial"/>
              <a:buChar char="•"/>
              <a:tabLst/>
              <a:defRPr/>
            </a:pPr>
            <a:r>
              <a:rPr kumimoji="0" lang="en-US" sz="1100" b="0" i="0" u="none" strike="noStrike" kern="0" cap="none" spc="0" normalizeH="0" baseline="0" noProof="0">
                <a:ln>
                  <a:noFill/>
                </a:ln>
                <a:solidFill>
                  <a:srgbClr val="000000"/>
                </a:solidFill>
                <a:effectLst/>
                <a:uLnTx/>
                <a:uFillTx/>
                <a:latin typeface="微软雅黑"/>
                <a:ea typeface="微软雅黑"/>
                <a:cs typeface="微软雅黑"/>
                <a:sym typeface="微软雅黑"/>
              </a:rPr>
              <a:t>日生产进度看板报表开发：计划产出vs车间实际入库数量对比</a:t>
            </a:r>
          </a:p>
          <a:p>
            <a:pPr marL="292100" marR="0" lvl="0" indent="-139700" algn="l" defTabSz="914400" rtl="0" eaLnBrk="1" fontAlgn="auto" latinLnBrk="0" hangingPunct="1">
              <a:lnSpc>
                <a:spcPct val="100000"/>
              </a:lnSpc>
              <a:spcBef>
                <a:spcPts val="0"/>
              </a:spcBef>
              <a:spcAft>
                <a:spcPts val="0"/>
              </a:spcAft>
              <a:buClr>
                <a:srgbClr val="000000"/>
              </a:buClr>
              <a:buSzTx/>
              <a:buFont typeface="Arial"/>
              <a:buChar char="•"/>
              <a:tabLst/>
              <a:defRPr/>
            </a:pPr>
            <a:r>
              <a:rPr kumimoji="0" lang="en-US" sz="1100" b="0" i="0" u="none" strike="noStrike" kern="0" cap="none" spc="0" normalizeH="0" baseline="0" noProof="0">
                <a:ln>
                  <a:noFill/>
                </a:ln>
                <a:solidFill>
                  <a:srgbClr val="000000"/>
                </a:solidFill>
                <a:effectLst/>
                <a:uLnTx/>
                <a:uFillTx/>
                <a:latin typeface="微软雅黑"/>
                <a:ea typeface="微软雅黑"/>
                <a:cs typeface="微软雅黑"/>
                <a:sym typeface="微软雅黑"/>
              </a:rPr>
              <a:t>安全库存公式SS=日均需求×安全覆盖天数，备货更准确</a:t>
            </a:r>
          </a:p>
        </p:txBody>
      </p:sp>
      <p:sp>
        <p:nvSpPr>
          <p:cNvPr id="15" name="AutoShape 15"/>
          <p:cNvSpPr/>
          <p:nvPr/>
        </p:nvSpPr>
        <p:spPr>
          <a:xfrm>
            <a:off x="8128000" y="863600"/>
            <a:ext cx="3873500" cy="952500"/>
          </a:xfrm>
          <a:prstGeom prst="roundRect">
            <a:avLst>
              <a:gd name="adj" fmla="val 0"/>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sz="1000" b="1">
              <a:solidFill>
                <a:schemeClr val="lt1"/>
              </a:solidFill>
              <a:latin typeface="Microsoft YaHei" panose="020B0503020204020204" pitchFamily="34" charset="-122"/>
              <a:ea typeface="Microsoft YaHei" panose="020B0503020204020204" pitchFamily="34" charset="-122"/>
              <a:sym typeface="Arial"/>
            </a:endParaRPr>
          </a:p>
        </p:txBody>
      </p:sp>
      <p:sp>
        <p:nvSpPr>
          <p:cNvPr id="16" name="AutoShape 16"/>
          <p:cNvSpPr/>
          <p:nvPr/>
        </p:nvSpPr>
        <p:spPr>
          <a:xfrm>
            <a:off x="8255000" y="762000"/>
            <a:ext cx="1270000" cy="2032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000000"/>
                </a:solidFill>
                <a:effectLst/>
                <a:uLnTx/>
                <a:uFillTx/>
                <a:latin typeface="微软雅黑"/>
                <a:ea typeface="微软雅黑"/>
                <a:cs typeface="微软雅黑"/>
                <a:sym typeface="微软雅黑"/>
              </a:rPr>
              <a:t>5 责任部门</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7" name="AutoShape 17"/>
          <p:cNvSpPr/>
          <p:nvPr/>
        </p:nvSpPr>
        <p:spPr>
          <a:xfrm>
            <a:off x="8255000" y="1016000"/>
            <a:ext cx="3619500" cy="7366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333"/>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000000"/>
                </a:solidFill>
                <a:effectLst/>
                <a:uLnTx/>
                <a:uFillTx/>
                <a:latin typeface="微软雅黑"/>
                <a:ea typeface="微软雅黑"/>
                <a:cs typeface="微软雅黑"/>
                <a:sym typeface="微软雅黑"/>
              </a:rPr>
              <a:t>主责：</a:t>
            </a:r>
            <a:r>
              <a:rPr kumimoji="0" lang="en-US" sz="1100" b="0" i="0" u="none" strike="noStrike" kern="0" cap="none" spc="0" normalizeH="0" baseline="0" noProof="0">
                <a:ln>
                  <a:noFill/>
                </a:ln>
                <a:solidFill>
                  <a:srgbClr val="000000"/>
                </a:solidFill>
                <a:effectLst/>
                <a:uLnTx/>
                <a:uFillTx/>
                <a:latin typeface="微软雅黑"/>
                <a:ea typeface="微软雅黑"/>
                <a:cs typeface="微软雅黑"/>
                <a:sym typeface="微软雅黑"/>
              </a:rPr>
              <a:t>集团运营部、销售部门</a:t>
            </a:r>
            <a:endParaRPr kumimoji="0" lang="en-US" sz="11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8333"/>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000000"/>
                </a:solidFill>
                <a:effectLst/>
                <a:uLnTx/>
                <a:uFillTx/>
                <a:latin typeface="微软雅黑"/>
                <a:ea typeface="微软雅黑"/>
                <a:cs typeface="微软雅黑"/>
                <a:sym typeface="微软雅黑"/>
              </a:rPr>
              <a:t>配合：</a:t>
            </a:r>
            <a:r>
              <a:rPr kumimoji="0" lang="en-US" sz="1100" b="0" i="0" u="none" strike="noStrike" kern="0" cap="none" spc="0" normalizeH="0" baseline="0" noProof="0">
                <a:ln>
                  <a:noFill/>
                </a:ln>
                <a:solidFill>
                  <a:srgbClr val="000000"/>
                </a:solidFill>
                <a:effectLst/>
                <a:uLnTx/>
                <a:uFillTx/>
                <a:latin typeface="微软雅黑"/>
                <a:ea typeface="微软雅黑"/>
                <a:cs typeface="微软雅黑"/>
                <a:sym typeface="微软雅黑"/>
              </a:rPr>
              <a:t>高明生产基地</a:t>
            </a:r>
          </a:p>
          <a:p>
            <a:pPr marL="0" marR="0" lvl="0" indent="0" algn="l" defTabSz="914400" rtl="0" eaLnBrk="1" fontAlgn="auto" latinLnBrk="0" hangingPunct="1">
              <a:lnSpc>
                <a:spcPct val="108333"/>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000000"/>
                </a:solidFill>
                <a:effectLst/>
                <a:uLnTx/>
                <a:uFillTx/>
                <a:latin typeface="微软雅黑"/>
                <a:ea typeface="微软雅黑"/>
                <a:cs typeface="微软雅黑"/>
                <a:sym typeface="微软雅黑"/>
              </a:rPr>
              <a:t>外部：</a:t>
            </a:r>
            <a:r>
              <a:rPr kumimoji="0" lang="en-US" sz="1100" b="0" i="0" u="none" strike="noStrike" kern="0" cap="none" spc="0" normalizeH="0" baseline="0" noProof="0">
                <a:ln>
                  <a:noFill/>
                </a:ln>
                <a:solidFill>
                  <a:srgbClr val="000000"/>
                </a:solidFill>
                <a:effectLst/>
                <a:uLnTx/>
                <a:uFillTx/>
                <a:latin typeface="微软雅黑"/>
                <a:ea typeface="微软雅黑"/>
                <a:cs typeface="微软雅黑"/>
                <a:sym typeface="微软雅黑"/>
              </a:rPr>
              <a:t>艾维登PP/MM/SD专家</a:t>
            </a:r>
          </a:p>
        </p:txBody>
      </p:sp>
      <p:sp>
        <p:nvSpPr>
          <p:cNvPr id="18" name="AutoShape 18"/>
          <p:cNvSpPr/>
          <p:nvPr/>
        </p:nvSpPr>
        <p:spPr>
          <a:xfrm>
            <a:off x="8128000" y="1943100"/>
            <a:ext cx="3873500" cy="990600"/>
          </a:xfrm>
          <a:prstGeom prst="roundRect">
            <a:avLst>
              <a:gd name="adj" fmla="val 0"/>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endParaRPr kumimoji="1" sz="1000" b="1">
              <a:solidFill>
                <a:schemeClr val="lt1"/>
              </a:solidFill>
              <a:latin typeface="Microsoft YaHei" panose="020B0503020204020204" pitchFamily="34" charset="-122"/>
              <a:ea typeface="Microsoft YaHei" panose="020B0503020204020204" pitchFamily="34" charset="-122"/>
              <a:sym typeface="Arial"/>
            </a:endParaRPr>
          </a:p>
        </p:txBody>
      </p:sp>
      <p:sp>
        <p:nvSpPr>
          <p:cNvPr id="19" name="AutoShape 19"/>
          <p:cNvSpPr/>
          <p:nvPr/>
        </p:nvSpPr>
        <p:spPr>
          <a:xfrm>
            <a:off x="8255000" y="1841500"/>
            <a:ext cx="1270000" cy="2032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000000"/>
                </a:solidFill>
                <a:effectLst/>
                <a:uLnTx/>
                <a:uFillTx/>
                <a:latin typeface="微软雅黑"/>
                <a:ea typeface="微软雅黑"/>
                <a:cs typeface="微软雅黑"/>
                <a:sym typeface="微软雅黑"/>
              </a:rPr>
              <a:t>6 里程碑</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cxnSp>
        <p:nvCxnSpPr>
          <p:cNvPr id="20" name="Connector 20"/>
          <p:cNvCxnSpPr/>
          <p:nvPr/>
        </p:nvCxnSpPr>
        <p:spPr>
          <a:xfrm rot="-12972">
            <a:off x="8382012" y="2533650"/>
            <a:ext cx="3365500" cy="12700"/>
          </a:xfrm>
          <a:prstGeom prst="straightConnector1">
            <a:avLst/>
          </a:prstGeom>
          <a:solidFill>
            <a:srgbClr val="DEE0E3">
              <a:alpha val="100000"/>
            </a:srgbClr>
          </a:solidFill>
          <a:ln w="25400" cap="flat" cmpd="sng">
            <a:solidFill>
              <a:srgbClr val="0073E6">
                <a:alpha val="100000"/>
              </a:srgbClr>
            </a:solidFill>
            <a:prstDash val="solid"/>
            <a:round/>
            <a:headEnd type="none" w="lg" len="lg"/>
            <a:tailEnd type="arrow" w="med" len="med"/>
          </a:ln>
        </p:spPr>
      </p:cxnSp>
      <p:sp>
        <p:nvSpPr>
          <p:cNvPr id="21" name="AutoShape 21"/>
          <p:cNvSpPr/>
          <p:nvPr/>
        </p:nvSpPr>
        <p:spPr>
          <a:xfrm>
            <a:off x="8318500" y="2476500"/>
            <a:ext cx="127000" cy="127000"/>
          </a:xfrm>
          <a:prstGeom prst="ellipse">
            <a:avLst/>
          </a:prstGeom>
          <a:solidFill>
            <a:srgbClr val="0073E6">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AutoShape 22"/>
          <p:cNvSpPr/>
          <p:nvPr/>
        </p:nvSpPr>
        <p:spPr>
          <a:xfrm>
            <a:off x="8128000" y="2032000"/>
            <a:ext cx="1206500" cy="304800"/>
          </a:xfrm>
          <a:prstGeom prst="rect">
            <a:avLst/>
          </a:prstGeom>
          <a:noFill/>
          <a:ln w="12700" cap="flat" cmpd="sng">
            <a:noFill/>
            <a:prstDash val="solid"/>
            <a:round/>
          </a:ln>
        </p:spPr>
        <p:txBody>
          <a:bodyPr vert="horz" wrap="none" lIns="0" tIns="0" rIns="0" bIns="0" rtlCol="0" anchor="ctr" anchorCtr="0"/>
          <a:lstStyle/>
          <a:p>
            <a:pPr marL="0" marR="0" lvl="0" indent="0" algn="ctr" defTabSz="914400" rtl="0" eaLnBrk="1" fontAlgn="auto" latinLnBrk="0" hangingPunct="1">
              <a:lnSpc>
                <a:spcPct val="91666"/>
              </a:lnSpc>
              <a:spcBef>
                <a:spcPts val="0"/>
              </a:spcBef>
              <a:spcAft>
                <a:spcPts val="0"/>
              </a:spcAft>
              <a:buClr>
                <a:srgbClr val="000000"/>
              </a:buClr>
              <a:buSzTx/>
              <a:buFont typeface="Arial"/>
              <a:buNone/>
              <a:tabLst/>
              <a:defRPr/>
            </a:pPr>
            <a:r>
              <a:rPr kumimoji="0" lang="en-US" sz="900" b="0" i="0" u="none" strike="noStrike" kern="0" cap="none" spc="0" normalizeH="0" baseline="0" noProof="0">
                <a:ln>
                  <a:noFill/>
                </a:ln>
                <a:solidFill>
                  <a:srgbClr val="000000"/>
                </a:solidFill>
                <a:effectLst/>
                <a:uLnTx/>
                <a:uFillTx/>
                <a:latin typeface="微软雅黑"/>
                <a:ea typeface="微软雅黑"/>
                <a:cs typeface="微软雅黑"/>
                <a:sym typeface="微软雅黑"/>
              </a:rPr>
              <a:t>主数据与N+2计划就绪</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23" name="AutoShape 23"/>
          <p:cNvSpPr/>
          <p:nvPr/>
        </p:nvSpPr>
        <p:spPr>
          <a:xfrm>
            <a:off x="9931400" y="2476500"/>
            <a:ext cx="127000" cy="127000"/>
          </a:xfrm>
          <a:prstGeom prst="ellipse">
            <a:avLst/>
          </a:prstGeom>
          <a:solidFill>
            <a:srgbClr val="0073E6">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AutoShape 24"/>
          <p:cNvSpPr/>
          <p:nvPr/>
        </p:nvSpPr>
        <p:spPr>
          <a:xfrm>
            <a:off x="9461500" y="2032000"/>
            <a:ext cx="1206500" cy="304800"/>
          </a:xfrm>
          <a:prstGeom prst="rect">
            <a:avLst/>
          </a:prstGeom>
          <a:noFill/>
          <a:ln w="12700" cap="flat" cmpd="sng">
            <a:noFill/>
            <a:prstDash val="solid"/>
            <a:round/>
          </a:ln>
        </p:spPr>
        <p:txBody>
          <a:bodyPr vert="horz" wrap="none" lIns="0" tIns="0" rIns="0" bIns="0" rtlCol="0" anchor="ctr" anchorCtr="0"/>
          <a:lstStyle/>
          <a:p>
            <a:pPr marL="0" marR="0" lvl="0" indent="0" algn="ctr" defTabSz="914400" rtl="0" eaLnBrk="1" fontAlgn="auto" latinLnBrk="0" hangingPunct="1">
              <a:lnSpc>
                <a:spcPct val="91666"/>
              </a:lnSpc>
              <a:spcBef>
                <a:spcPts val="0"/>
              </a:spcBef>
              <a:spcAft>
                <a:spcPts val="0"/>
              </a:spcAft>
              <a:buClr>
                <a:srgbClr val="000000"/>
              </a:buClr>
              <a:buSzTx/>
              <a:buFont typeface="Arial"/>
              <a:buNone/>
              <a:tabLst/>
              <a:defRPr/>
            </a:pPr>
            <a:r>
              <a:rPr kumimoji="0" lang="en-US" sz="900" b="0" i="0" u="none" strike="noStrike" kern="0" cap="none" spc="0" normalizeH="0" baseline="0" noProof="0">
                <a:ln>
                  <a:noFill/>
                </a:ln>
                <a:solidFill>
                  <a:srgbClr val="000000"/>
                </a:solidFill>
                <a:effectLst/>
                <a:uLnTx/>
                <a:uFillTx/>
                <a:latin typeface="微软雅黑"/>
                <a:ea typeface="微软雅黑"/>
                <a:cs typeface="微软雅黑"/>
                <a:sym typeface="微软雅黑"/>
              </a:rPr>
              <a:t>看板开发与集成测试</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25" name="AutoShape 25"/>
          <p:cNvSpPr/>
          <p:nvPr/>
        </p:nvSpPr>
        <p:spPr>
          <a:xfrm>
            <a:off x="11620500" y="2476500"/>
            <a:ext cx="127000" cy="127000"/>
          </a:xfrm>
          <a:prstGeom prst="ellipse">
            <a:avLst/>
          </a:prstGeom>
          <a:solidFill>
            <a:srgbClr val="0073E6">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AutoShape 26"/>
          <p:cNvSpPr/>
          <p:nvPr/>
        </p:nvSpPr>
        <p:spPr>
          <a:xfrm>
            <a:off x="10795000" y="2032000"/>
            <a:ext cx="1206500" cy="304800"/>
          </a:xfrm>
          <a:prstGeom prst="rect">
            <a:avLst/>
          </a:prstGeom>
          <a:noFill/>
          <a:ln w="12700" cap="flat" cmpd="sng">
            <a:noFill/>
            <a:prstDash val="solid"/>
            <a:round/>
          </a:ln>
        </p:spPr>
        <p:txBody>
          <a:bodyPr vert="horz" wrap="none" lIns="0" tIns="0" rIns="0" bIns="0" rtlCol="0" anchor="ctr" anchorCtr="0"/>
          <a:lstStyle/>
          <a:p>
            <a:pPr marL="0" marR="0" lvl="0" indent="0" algn="ctr" defTabSz="914400" rtl="0" eaLnBrk="1" fontAlgn="auto" latinLnBrk="0" hangingPunct="1">
              <a:lnSpc>
                <a:spcPct val="91666"/>
              </a:lnSpc>
              <a:spcBef>
                <a:spcPts val="0"/>
              </a:spcBef>
              <a:spcAft>
                <a:spcPts val="0"/>
              </a:spcAft>
              <a:buClr>
                <a:srgbClr val="000000"/>
              </a:buClr>
              <a:buSzTx/>
              <a:buFont typeface="Arial"/>
              <a:buNone/>
              <a:tabLst/>
              <a:defRPr/>
            </a:pPr>
            <a:r>
              <a:rPr kumimoji="0" lang="en-US" sz="900" b="0" i="0" u="none" strike="noStrike" kern="0" cap="none" spc="0" normalizeH="0" baseline="0" noProof="0">
                <a:ln>
                  <a:noFill/>
                </a:ln>
                <a:solidFill>
                  <a:srgbClr val="000000"/>
                </a:solidFill>
                <a:effectLst/>
                <a:uLnTx/>
                <a:uFillTx/>
                <a:latin typeface="微软雅黑"/>
                <a:ea typeface="微软雅黑"/>
                <a:cs typeface="微软雅黑"/>
                <a:sym typeface="微软雅黑"/>
              </a:rPr>
              <a:t>上线·日产出可视化</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27" name="AutoShape 27"/>
          <p:cNvSpPr/>
          <p:nvPr/>
        </p:nvSpPr>
        <p:spPr>
          <a:xfrm>
            <a:off x="8128000" y="3060700"/>
            <a:ext cx="3873500" cy="1270000"/>
          </a:xfrm>
          <a:prstGeom prst="roundRect">
            <a:avLst>
              <a:gd name="adj" fmla="val 0"/>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sz="1000" b="1">
              <a:solidFill>
                <a:schemeClr val="lt1"/>
              </a:solidFill>
              <a:latin typeface="Microsoft YaHei" panose="020B0503020204020204" pitchFamily="34" charset="-122"/>
              <a:ea typeface="Microsoft YaHei" panose="020B0503020204020204" pitchFamily="34" charset="-122"/>
              <a:sym typeface="Arial"/>
            </a:endParaRPr>
          </a:p>
        </p:txBody>
      </p:sp>
      <p:sp>
        <p:nvSpPr>
          <p:cNvPr id="28" name="AutoShape 28"/>
          <p:cNvSpPr/>
          <p:nvPr/>
        </p:nvSpPr>
        <p:spPr>
          <a:xfrm>
            <a:off x="8255000" y="2959100"/>
            <a:ext cx="1651000" cy="2032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000000"/>
                </a:solidFill>
                <a:effectLst/>
                <a:uLnTx/>
                <a:uFillTx/>
                <a:latin typeface="微软雅黑"/>
                <a:ea typeface="微软雅黑"/>
                <a:cs typeface="微软雅黑"/>
                <a:sym typeface="微软雅黑"/>
              </a:rPr>
              <a:t>7 风险与项目依赖</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29" name="AutoShape 29"/>
          <p:cNvSpPr/>
          <p:nvPr/>
        </p:nvSpPr>
        <p:spPr>
          <a:xfrm>
            <a:off x="8255000" y="3213100"/>
            <a:ext cx="3619500" cy="1041400"/>
          </a:xfrm>
          <a:prstGeom prst="rect">
            <a:avLst/>
          </a:prstGeom>
          <a:noFill/>
          <a:ln w="12700" cap="flat" cmpd="sng">
            <a:noFill/>
            <a:prstDash val="solid"/>
            <a:round/>
          </a:ln>
        </p:spPr>
        <p:txBody>
          <a:bodyPr vert="horz" wrap="square" lIns="0" tIns="0" rIns="0" bIns="0" rtlCol="0" anchor="ctr" anchorCtr="0"/>
          <a:lstStyle>
            <a:lvl1pPr marL="292100" indent="-139700"/>
            <a:lvl2pPr marL="749300" indent="-139700"/>
            <a:lvl3pPr marL="1206500" indent="-139700"/>
            <a:lvl4pPr marL="1663700" indent="-139700"/>
            <a:lvl5pPr marL="2120900" indent="-139700"/>
            <a:lvl6pPr marL="2578100" indent="-139700"/>
            <a:lvl7pPr marL="3035300" indent="-139700"/>
            <a:lvl8pPr marL="3492500" indent="-139700"/>
            <a:lvl9pPr marL="3949700" indent="-139700"/>
          </a:lstStyle>
          <a:p>
            <a:pPr marL="292100" marR="0" lvl="0" indent="-139700" algn="l" defTabSz="914400" rtl="0" eaLnBrk="1" fontAlgn="auto" latinLnBrk="0" hangingPunct="1">
              <a:lnSpc>
                <a:spcPct val="104166"/>
              </a:lnSpc>
              <a:spcBef>
                <a:spcPts val="0"/>
              </a:spcBef>
              <a:spcAft>
                <a:spcPts val="0"/>
              </a:spcAft>
              <a:buClr>
                <a:srgbClr val="000000"/>
              </a:buClr>
              <a:buSzTx/>
              <a:buFont typeface="Arial"/>
              <a:buChar char="•"/>
              <a:tabLst/>
              <a:defRPr/>
            </a:pPr>
            <a:r>
              <a:rPr kumimoji="0" lang="en-US" sz="1050" b="0" i="0" u="none" strike="noStrike" kern="0" cap="none" spc="0" normalizeH="0" baseline="0" noProof="0">
                <a:ln>
                  <a:noFill/>
                </a:ln>
                <a:solidFill>
                  <a:srgbClr val="000000"/>
                </a:solidFill>
                <a:effectLst/>
                <a:uLnTx/>
                <a:uFillTx/>
                <a:latin typeface="微软雅黑"/>
                <a:ea typeface="微软雅黑"/>
                <a:cs typeface="微软雅黑"/>
                <a:sym typeface="微软雅黑"/>
              </a:rPr>
              <a:t>N+2计划须每月5号前发布并导入SAP，否则MRP无法驱动</a:t>
            </a:r>
            <a:endParaRPr kumimoji="0" lang="en-US" sz="1100" b="0" i="0" u="none" strike="noStrike" kern="0" cap="none" spc="0" normalizeH="0" baseline="0" noProof="0">
              <a:ln>
                <a:noFill/>
              </a:ln>
              <a:solidFill>
                <a:srgbClr val="000000"/>
              </a:solidFill>
              <a:effectLst/>
              <a:uLnTx/>
              <a:uFillTx/>
              <a:latin typeface="Arial"/>
              <a:cs typeface="Arial"/>
              <a:sym typeface="Arial"/>
            </a:endParaRPr>
          </a:p>
          <a:p>
            <a:pPr marL="292100" marR="0" lvl="0" indent="-139700" algn="l" defTabSz="914400" rtl="0" eaLnBrk="1" fontAlgn="auto" latinLnBrk="0" hangingPunct="1">
              <a:lnSpc>
                <a:spcPct val="104166"/>
              </a:lnSpc>
              <a:spcBef>
                <a:spcPts val="0"/>
              </a:spcBef>
              <a:spcAft>
                <a:spcPts val="0"/>
              </a:spcAft>
              <a:buClr>
                <a:srgbClr val="000000"/>
              </a:buClr>
              <a:buSzTx/>
              <a:buFont typeface="Arial"/>
              <a:buChar char="•"/>
              <a:tabLst/>
              <a:defRPr/>
            </a:pPr>
            <a:r>
              <a:rPr kumimoji="0" lang="en-US" sz="1050" b="0" i="0" u="none" strike="noStrike" kern="0" cap="none" spc="0" normalizeH="0" baseline="0" noProof="0">
                <a:ln>
                  <a:noFill/>
                </a:ln>
                <a:solidFill>
                  <a:srgbClr val="000000"/>
                </a:solidFill>
                <a:effectLst/>
                <a:uLnTx/>
                <a:uFillTx/>
                <a:latin typeface="微软雅黑"/>
                <a:ea typeface="微软雅黑"/>
                <a:cs typeface="微软雅黑"/>
                <a:sym typeface="微软雅黑"/>
              </a:rPr>
              <a:t>定制产品BOM须在MRP运行前完成搭建</a:t>
            </a:r>
          </a:p>
          <a:p>
            <a:pPr marL="292100" marR="0" lvl="0" indent="-139700" algn="l" defTabSz="914400" rtl="0" eaLnBrk="1" fontAlgn="auto" latinLnBrk="0" hangingPunct="1">
              <a:lnSpc>
                <a:spcPct val="104166"/>
              </a:lnSpc>
              <a:spcBef>
                <a:spcPts val="0"/>
              </a:spcBef>
              <a:spcAft>
                <a:spcPts val="0"/>
              </a:spcAft>
              <a:buClr>
                <a:srgbClr val="000000"/>
              </a:buClr>
              <a:buSzTx/>
              <a:buFont typeface="Arial"/>
              <a:buChar char="•"/>
              <a:tabLst/>
              <a:defRPr/>
            </a:pPr>
            <a:r>
              <a:rPr kumimoji="0" lang="en-US" sz="1050" b="0" i="0" u="none" strike="noStrike" kern="0" cap="none" spc="0" normalizeH="0" baseline="0" noProof="0">
                <a:ln>
                  <a:noFill/>
                </a:ln>
                <a:solidFill>
                  <a:srgbClr val="000000"/>
                </a:solidFill>
                <a:effectLst/>
                <a:uLnTx/>
                <a:uFillTx/>
                <a:latin typeface="微软雅黑"/>
                <a:ea typeface="微软雅黑"/>
                <a:cs typeface="微软雅黑"/>
                <a:sym typeface="微软雅黑"/>
              </a:rPr>
              <a:t>Leadtime须准确完整；生产/采购订单转单须及时</a:t>
            </a:r>
          </a:p>
          <a:p>
            <a:pPr marL="292100" marR="0" lvl="0" indent="-139700" algn="l" defTabSz="914400" rtl="0" eaLnBrk="1" fontAlgn="auto" latinLnBrk="0" hangingPunct="1">
              <a:lnSpc>
                <a:spcPct val="104166"/>
              </a:lnSpc>
              <a:spcBef>
                <a:spcPts val="0"/>
              </a:spcBef>
              <a:spcAft>
                <a:spcPts val="0"/>
              </a:spcAft>
              <a:buClr>
                <a:srgbClr val="000000"/>
              </a:buClr>
              <a:buSzTx/>
              <a:buFont typeface="Arial"/>
              <a:buChar char="•"/>
              <a:tabLst/>
              <a:defRPr/>
            </a:pPr>
            <a:r>
              <a:rPr kumimoji="0" lang="en-US" sz="1050" b="0" i="0" u="none" strike="noStrike" kern="0" cap="none" spc="0" normalizeH="0" baseline="0" noProof="0">
                <a:ln>
                  <a:noFill/>
                </a:ln>
                <a:solidFill>
                  <a:srgbClr val="000000"/>
                </a:solidFill>
                <a:effectLst/>
                <a:uLnTx/>
                <a:uFillTx/>
                <a:latin typeface="微软雅黑"/>
                <a:ea typeface="微软雅黑"/>
                <a:cs typeface="微软雅黑"/>
                <a:sym typeface="微软雅黑"/>
              </a:rPr>
              <a:t>SAP深度开发排产模块为前置基础</a:t>
            </a:r>
          </a:p>
        </p:txBody>
      </p:sp>
      <p:sp>
        <p:nvSpPr>
          <p:cNvPr id="30" name="AutoShape 30"/>
          <p:cNvSpPr/>
          <p:nvPr/>
        </p:nvSpPr>
        <p:spPr>
          <a:xfrm>
            <a:off x="8128000" y="4457700"/>
            <a:ext cx="3873500" cy="1955800"/>
          </a:xfrm>
          <a:prstGeom prst="roundRect">
            <a:avLst>
              <a:gd name="adj" fmla="val 0"/>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endParaRPr kumimoji="1" sz="1000" b="1">
              <a:solidFill>
                <a:schemeClr val="lt1"/>
              </a:solidFill>
              <a:latin typeface="Microsoft YaHei" panose="020B0503020204020204" pitchFamily="34" charset="-122"/>
              <a:ea typeface="Microsoft YaHei" panose="020B0503020204020204" pitchFamily="34" charset="-122"/>
              <a:sym typeface="Arial"/>
            </a:endParaRPr>
          </a:p>
        </p:txBody>
      </p:sp>
      <p:sp>
        <p:nvSpPr>
          <p:cNvPr id="31" name="AutoShape 31"/>
          <p:cNvSpPr/>
          <p:nvPr/>
        </p:nvSpPr>
        <p:spPr>
          <a:xfrm>
            <a:off x="8255000" y="4356100"/>
            <a:ext cx="1968500" cy="2032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000000"/>
                </a:solidFill>
                <a:effectLst/>
                <a:uLnTx/>
                <a:uFillTx/>
                <a:latin typeface="微软雅黑"/>
                <a:ea typeface="微软雅黑"/>
                <a:cs typeface="微软雅黑"/>
                <a:sym typeface="微软雅黑"/>
              </a:rPr>
              <a:t>8 业务价值和数字化指标</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32" name="AutoShape 32"/>
          <p:cNvSpPr/>
          <p:nvPr/>
        </p:nvSpPr>
        <p:spPr>
          <a:xfrm>
            <a:off x="8255000" y="4610100"/>
            <a:ext cx="3619500" cy="1727200"/>
          </a:xfrm>
          <a:prstGeom prst="rect">
            <a:avLst/>
          </a:prstGeom>
          <a:noFill/>
          <a:ln w="12700" cap="flat" cmpd="sng">
            <a:noFill/>
            <a:prstDash val="solid"/>
            <a:round/>
          </a:ln>
        </p:spPr>
        <p:txBody>
          <a:bodyPr vert="horz" wrap="square" lIns="0" tIns="0" rIns="0" bIns="0" rtlCol="0" anchor="ctr" anchorCtr="0"/>
          <a:lstStyle>
            <a:lvl1pPr marL="292100" indent="-139700"/>
            <a:lvl2pPr marL="749300" indent="-139700"/>
            <a:lvl3pPr marL="1206500" indent="-139700"/>
            <a:lvl4pPr marL="1663700" indent="-139700"/>
            <a:lvl5pPr marL="2120900" indent="-139700"/>
            <a:lvl6pPr marL="2578100" indent="-139700"/>
            <a:lvl7pPr marL="3035300" indent="-139700"/>
            <a:lvl8pPr marL="3492500" indent="-139700"/>
            <a:lvl9pPr marL="3949700" indent="-139700"/>
          </a:lstStyle>
          <a:p>
            <a:pPr marL="292100" marR="0" lvl="0" indent="-139700" algn="l" defTabSz="914400" rtl="0" eaLnBrk="1" fontAlgn="auto" latinLnBrk="0" hangingPunct="1">
              <a:lnSpc>
                <a:spcPct val="104166"/>
              </a:lnSpc>
              <a:spcBef>
                <a:spcPts val="0"/>
              </a:spcBef>
              <a:spcAft>
                <a:spcPts val="0"/>
              </a:spcAft>
              <a:buClr>
                <a:srgbClr val="000000"/>
              </a:buClr>
              <a:buSzTx/>
              <a:buFont typeface="Arial"/>
              <a:buChar char="•"/>
              <a:tabLst/>
              <a:defRPr/>
            </a:pPr>
            <a:r>
              <a:rPr kumimoji="0" lang="en-US" sz="1050" b="1"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交付管理：</a:t>
            </a:r>
            <a:r>
              <a:rPr kumimoji="0" lang="en-US" sz="1050" b="0"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从失控→数据可信度提升，支撑大客户代工交期</a:t>
            </a:r>
            <a:endParaRPr kumimoji="0" lang="en-US" sz="1100" b="0" i="0" u="none" strike="noStrike" kern="0" cap="none" spc="0" normalizeH="0" baseline="0" noProof="0" dirty="0">
              <a:ln>
                <a:noFill/>
              </a:ln>
              <a:solidFill>
                <a:srgbClr val="000000"/>
              </a:solidFill>
              <a:effectLst/>
              <a:uLnTx/>
              <a:uFillTx/>
              <a:latin typeface="Arial"/>
              <a:cs typeface="Arial"/>
              <a:sym typeface="Arial"/>
            </a:endParaRPr>
          </a:p>
          <a:p>
            <a:pPr marL="292100" marR="0" lvl="0" indent="-139700" algn="l" defTabSz="914400" rtl="0" eaLnBrk="1" fontAlgn="auto" latinLnBrk="0" hangingPunct="1">
              <a:lnSpc>
                <a:spcPct val="104166"/>
              </a:lnSpc>
              <a:spcBef>
                <a:spcPts val="0"/>
              </a:spcBef>
              <a:spcAft>
                <a:spcPts val="0"/>
              </a:spcAft>
              <a:buClr>
                <a:srgbClr val="000000"/>
              </a:buClr>
              <a:buSzTx/>
              <a:buFont typeface="Arial"/>
              <a:buChar char="•"/>
              <a:tabLst/>
              <a:defRPr/>
            </a:pPr>
            <a:r>
              <a:rPr kumimoji="0" lang="en-US" sz="1050" b="1" i="0" u="none" strike="noStrike" kern="0" cap="none" spc="0" normalizeH="0" baseline="0" noProof="0" dirty="0">
                <a:ln>
                  <a:noFill/>
                </a:ln>
                <a:solidFill>
                  <a:srgbClr val="000000"/>
                </a:solidFill>
                <a:effectLst/>
                <a:uLnTx/>
                <a:uFillTx/>
                <a:latin typeface="微软雅黑"/>
                <a:ea typeface="微软雅黑"/>
                <a:cs typeface="微软雅黑"/>
                <a:sym typeface="微软雅黑"/>
              </a:rPr>
              <a:t>缺货率：</a:t>
            </a:r>
            <a:r>
              <a:rPr kumimoji="0" lang="en-US" sz="1050" b="0" i="0" u="none" strike="noStrike" kern="0" cap="none" spc="0" normalizeH="0" baseline="0" noProof="0" dirty="0">
                <a:ln>
                  <a:noFill/>
                </a:ln>
                <a:solidFill>
                  <a:srgbClr val="000000"/>
                </a:solidFill>
                <a:effectLst/>
                <a:uLnTx/>
                <a:uFillTx/>
                <a:latin typeface="微软雅黑"/>
                <a:ea typeface="微软雅黑"/>
                <a:cs typeface="微软雅黑"/>
                <a:sym typeface="微软雅黑"/>
              </a:rPr>
              <a:t>从30%-40%→</a:t>
            </a:r>
            <a:r>
              <a:rPr kumimoji="0" lang="en-US" sz="1050" b="0"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齐套检查+安全库存有效降低</a:t>
            </a:r>
            <a:endParaRPr kumimoji="0" lang="en-US" sz="1050" b="0" i="0" u="none" strike="noStrike" kern="0" cap="none" spc="0" normalizeH="0" baseline="0" noProof="0" dirty="0">
              <a:ln>
                <a:noFill/>
              </a:ln>
              <a:solidFill>
                <a:srgbClr val="000000"/>
              </a:solidFill>
              <a:effectLst/>
              <a:uLnTx/>
              <a:uFillTx/>
              <a:latin typeface="微软雅黑"/>
              <a:ea typeface="微软雅黑"/>
              <a:cs typeface="微软雅黑"/>
              <a:sym typeface="微软雅黑"/>
            </a:endParaRPr>
          </a:p>
          <a:p>
            <a:pPr marL="292100" marR="0" lvl="0" indent="-139700" algn="l" defTabSz="914400" rtl="0" eaLnBrk="1" fontAlgn="auto" latinLnBrk="0" hangingPunct="1">
              <a:lnSpc>
                <a:spcPct val="104166"/>
              </a:lnSpc>
              <a:spcBef>
                <a:spcPts val="0"/>
              </a:spcBef>
              <a:spcAft>
                <a:spcPts val="0"/>
              </a:spcAft>
              <a:buClr>
                <a:srgbClr val="000000"/>
              </a:buClr>
              <a:buSzTx/>
              <a:buFont typeface="Arial"/>
              <a:buChar char="•"/>
              <a:tabLst/>
              <a:defRPr/>
            </a:pPr>
            <a:r>
              <a:rPr kumimoji="0" lang="en-US" sz="1050" b="1"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进度可视：</a:t>
            </a:r>
            <a:r>
              <a:rPr kumimoji="0" lang="en-US" sz="1050" b="0"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日产出合格品、计划偏差天数直观可见</a:t>
            </a:r>
            <a:endParaRPr kumimoji="0" lang="en-US" sz="1050" b="0" i="0" u="none" strike="noStrike" kern="0" cap="none" spc="0" normalizeH="0" baseline="0" noProof="0" dirty="0">
              <a:ln>
                <a:noFill/>
              </a:ln>
              <a:solidFill>
                <a:srgbClr val="000000"/>
              </a:solidFill>
              <a:effectLst/>
              <a:uLnTx/>
              <a:uFillTx/>
              <a:latin typeface="微软雅黑"/>
              <a:ea typeface="微软雅黑"/>
              <a:cs typeface="微软雅黑"/>
              <a:sym typeface="微软雅黑"/>
            </a:endParaRPr>
          </a:p>
          <a:p>
            <a:pPr marL="292100" marR="0" lvl="0" indent="-139700" algn="l" defTabSz="914400" rtl="0" eaLnBrk="1" fontAlgn="auto" latinLnBrk="0" hangingPunct="1">
              <a:lnSpc>
                <a:spcPct val="104166"/>
              </a:lnSpc>
              <a:spcBef>
                <a:spcPts val="0"/>
              </a:spcBef>
              <a:spcAft>
                <a:spcPts val="0"/>
              </a:spcAft>
              <a:buClr>
                <a:srgbClr val="000000"/>
              </a:buClr>
              <a:buSzTx/>
              <a:buFont typeface="Arial"/>
              <a:buChar char="•"/>
              <a:tabLst/>
              <a:defRPr/>
            </a:pPr>
            <a:r>
              <a:rPr kumimoji="0" lang="en-US" sz="1050" b="1"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计划联动：</a:t>
            </a:r>
            <a:r>
              <a:rPr kumimoji="0" lang="en-US" sz="1050" b="0"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订单上下游勾稽，变更信息实时共享</a:t>
            </a:r>
            <a:endParaRPr kumimoji="0" lang="en-US" sz="1050" b="0" i="0" u="none" strike="noStrike" kern="0" cap="none" spc="0" normalizeH="0" baseline="0" noProof="0" dirty="0">
              <a:ln>
                <a:noFill/>
              </a:ln>
              <a:solidFill>
                <a:srgbClr val="000000"/>
              </a:solidFill>
              <a:effectLst/>
              <a:uLnTx/>
              <a:uFillTx/>
              <a:latin typeface="微软雅黑"/>
              <a:ea typeface="微软雅黑"/>
              <a:cs typeface="微软雅黑"/>
              <a:sym typeface="微软雅黑"/>
            </a:endParaRPr>
          </a:p>
          <a:p>
            <a:pPr marL="292100" marR="0" lvl="0" indent="-139700" algn="l" defTabSz="914400" rtl="0" eaLnBrk="1" fontAlgn="auto" latinLnBrk="0" hangingPunct="1">
              <a:lnSpc>
                <a:spcPct val="104166"/>
              </a:lnSpc>
              <a:spcBef>
                <a:spcPts val="0"/>
              </a:spcBef>
              <a:spcAft>
                <a:spcPts val="0"/>
              </a:spcAft>
              <a:buClr>
                <a:srgbClr val="000000"/>
              </a:buClr>
              <a:buSzTx/>
              <a:buFont typeface="Arial"/>
              <a:buChar char="•"/>
              <a:tabLst/>
              <a:defRPr/>
            </a:pPr>
            <a:r>
              <a:rPr kumimoji="0" lang="en-US" sz="1050" b="1"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备货准确：</a:t>
            </a:r>
            <a:r>
              <a:rPr kumimoji="0" lang="en-US" sz="1050" b="0" i="0" u="none" strike="noStrike" kern="0" cap="none" spc="0" normalizeH="0" baseline="0" noProof="0" dirty="0" err="1">
                <a:ln>
                  <a:noFill/>
                </a:ln>
                <a:solidFill>
                  <a:srgbClr val="000000"/>
                </a:solidFill>
                <a:effectLst/>
                <a:uLnTx/>
                <a:uFillTx/>
                <a:latin typeface="微软雅黑"/>
                <a:ea typeface="微软雅黑"/>
                <a:cs typeface="微软雅黑"/>
                <a:sym typeface="微软雅黑"/>
              </a:rPr>
              <a:t>公式驱动安全库存，减少呆滞与缺货</a:t>
            </a:r>
            <a:endParaRPr kumimoji="0" lang="en-US" sz="1050" b="0" i="0" u="none" strike="noStrike" kern="0" cap="none" spc="0" normalizeH="0" baseline="0" noProof="0" dirty="0">
              <a:ln>
                <a:noFill/>
              </a:ln>
              <a:solidFill>
                <a:srgbClr val="000000"/>
              </a:solidFill>
              <a:effectLst/>
              <a:uLnTx/>
              <a:uFillTx/>
              <a:latin typeface="微软雅黑"/>
              <a:ea typeface="微软雅黑"/>
              <a:cs typeface="微软雅黑"/>
              <a:sym typeface="微软雅黑"/>
            </a:endParaRPr>
          </a:p>
        </p:txBody>
      </p:sp>
      <p:pic>
        <p:nvPicPr>
          <p:cNvPr id="33" name="Picture 33"/>
          <p:cNvPicPr>
            <a:picLocks noChangeAspect="1"/>
          </p:cNvPicPr>
          <p:nvPr/>
        </p:nvPicPr>
        <p:blipFill>
          <a:blip r:embed="rId3"/>
          <a:srcRect l="657" r="657"/>
          <a:stretch>
            <a:fillRect/>
          </a:stretch>
        </p:blipFill>
        <p:spPr>
          <a:xfrm>
            <a:off x="279400" y="6477000"/>
            <a:ext cx="1524000" cy="304800"/>
          </a:xfrm>
          <a:prstGeom prst="rect">
            <a:avLst/>
          </a:prstGeom>
          <a:noFill/>
          <a:ln w="25400" cap="flat" cmpd="sng">
            <a:noFill/>
            <a:prstDash val="solid"/>
            <a:round/>
          </a:ln>
        </p:spPr>
      </p:pic>
      <p:sp>
        <p:nvSpPr>
          <p:cNvPr id="35" name="AutoShape 35"/>
          <p:cNvSpPr/>
          <p:nvPr/>
        </p:nvSpPr>
        <p:spPr>
          <a:xfrm>
            <a:off x="419100" y="6629400"/>
            <a:ext cx="1270000" cy="152400"/>
          </a:xfrm>
          <a:prstGeom prst="rect">
            <a:avLst/>
          </a:prstGeom>
          <a:noFill/>
          <a:ln w="12700" cap="flat" cmpd="sng">
            <a:noFill/>
            <a:prstDash val="solid"/>
            <a:round/>
          </a:ln>
        </p:spPr>
        <p:txBody>
          <a:bodyPr vert="horz" wrap="non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5C"/>
                </a:solidFill>
                <a:effectLst/>
                <a:uLnTx/>
                <a:uFillTx/>
                <a:latin typeface="Biennale"/>
                <a:ea typeface="Biennale"/>
                <a:cs typeface="Biennale"/>
                <a:sym typeface="Biennale"/>
              </a:rPr>
              <a:t>Atos Confidential</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pic>
        <p:nvPicPr>
          <p:cNvPr id="38" name="图片 37">
            <a:extLst>
              <a:ext uri="{FF2B5EF4-FFF2-40B4-BE49-F238E27FC236}">
                <a16:creationId xmlns:a16="http://schemas.microsoft.com/office/drawing/2014/main" id="{3788DE08-B43D-7F08-7CA4-544ADFAF2DAB}"/>
              </a:ext>
            </a:extLst>
          </p:cNvPr>
          <p:cNvPicPr>
            <a:picLocks noChangeAspect="1"/>
          </p:cNvPicPr>
          <p:nvPr/>
        </p:nvPicPr>
        <p:blipFill>
          <a:blip r:embed="rId4"/>
          <a:stretch>
            <a:fillRect/>
          </a:stretch>
        </p:blipFill>
        <p:spPr>
          <a:xfrm>
            <a:off x="11324428" y="6491285"/>
            <a:ext cx="719143" cy="2905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0098" y="389618"/>
            <a:ext cx="1247136" cy="1477328"/>
          </a:xfrm>
        </p:spPr>
        <p:txBody>
          <a:bodyPr/>
          <a:lstStyle/>
          <a:p>
            <a:r>
              <a:rPr lang="en-US" altLang="zh-CN" dirty="0"/>
              <a:t>02</a:t>
            </a:r>
            <a:endParaRPr lang="zh-CN" altLang="en-US" dirty="0"/>
          </a:p>
        </p:txBody>
      </p:sp>
      <p:sp>
        <p:nvSpPr>
          <p:cNvPr id="3" name="Title 2"/>
          <p:cNvSpPr>
            <a:spLocks noGrp="1"/>
          </p:cNvSpPr>
          <p:nvPr>
            <p:ph type="title"/>
          </p:nvPr>
        </p:nvSpPr>
        <p:spPr/>
        <p:txBody>
          <a:bodyPr/>
          <a:lstStyle/>
          <a:p>
            <a:r>
              <a:rPr lang="zh-CN" altLang="en-US" dirty="0"/>
              <a:t>方案详解及系统实现</a:t>
            </a:r>
            <a:br>
              <a:rPr lang="zh-CN" altLang="en-US" dirty="0"/>
            </a:br>
            <a:endParaRPr lang="zh-CN" altLang="en-US" dirty="0"/>
          </a:p>
        </p:txBody>
      </p:sp>
      <p:pic>
        <p:nvPicPr>
          <p:cNvPr id="4" name="图片 3"/>
          <p:cNvPicPr>
            <a:picLocks noChangeAspect="1"/>
          </p:cNvPicPr>
          <p:nvPr/>
        </p:nvPicPr>
        <p:blipFill>
          <a:blip r:embed="rId2"/>
          <a:stretch>
            <a:fillRect/>
          </a:stretch>
        </p:blipFill>
        <p:spPr>
          <a:xfrm>
            <a:off x="48466" y="125649"/>
            <a:ext cx="1930400" cy="381000"/>
          </a:xfrm>
          <a:prstGeom prst="rect">
            <a:avLst/>
          </a:prstGeom>
        </p:spPr>
      </p:pic>
      <p:sp>
        <p:nvSpPr>
          <p:cNvPr id="5" name="文本框 4"/>
          <p:cNvSpPr txBox="1"/>
          <p:nvPr/>
        </p:nvSpPr>
        <p:spPr>
          <a:xfrm>
            <a:off x="-1293962" y="2622430"/>
            <a:ext cx="0" cy="0"/>
          </a:xfrm>
          <a:prstGeom prst="rect">
            <a:avLst/>
          </a:prstGeom>
          <a:noFill/>
        </p:spPr>
        <p:txBody>
          <a:bodyPr wrap="none" rtlCol="0">
            <a:noAutofit/>
          </a:bodyPr>
          <a:lstStyle/>
          <a:p>
            <a:pPr algn="l"/>
            <a:endParaRPr kumimoji="1" lang="zh-CN" altLang="en-US" dirty="0" err="1">
              <a:solidFill>
                <a:schemeClr val="accent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87539" y="561067"/>
            <a:ext cx="11280459" cy="5429692"/>
          </a:xfrm>
          <a:prstGeom prst="rect">
            <a:avLst/>
          </a:prstGeom>
          <a:noFill/>
        </p:spPr>
        <p:txBody>
          <a:bodyPr wrap="square">
            <a:spAutoFit/>
          </a:bodyPr>
          <a:lstStyle/>
          <a:p>
            <a:pPr marL="525780" indent="-381000">
              <a:spcBef>
                <a:spcPts val="800"/>
              </a:spcBef>
              <a:buFont typeface="Wingdings" panose="05000000000000000000" charset="0"/>
              <a:buChar char="Ø"/>
            </a:pPr>
            <a:r>
              <a:rPr lang="zh-CN" altLang="en-US" sz="2000" b="1" dirty="0">
                <a:latin typeface="微软雅黑" panose="020B0503020204020204" pitchFamily="34" charset="-122"/>
                <a:ea typeface="微软雅黑" panose="020B0503020204020204" pitchFamily="34" charset="-122"/>
              </a:rPr>
              <a:t>现状</a:t>
            </a: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a:t>
            </a:r>
            <a:r>
              <a:rPr lang="zh-CN" altLang="en-US" sz="1950" b="1" dirty="0">
                <a:latin typeface="微软雅黑" panose="020B0503020204020204" pitchFamily="34" charset="-122"/>
                <a:ea typeface="微软雅黑" panose="020B0503020204020204" pitchFamily="34" charset="-122"/>
              </a:rPr>
              <a:t>主生产计划</a:t>
            </a:r>
            <a:r>
              <a:rPr lang="en-US" altLang="zh-CN" sz="1950" b="1" dirty="0">
                <a:latin typeface="微软雅黑" panose="020B0503020204020204" pitchFamily="34" charset="-122"/>
                <a:ea typeface="微软雅黑" panose="020B0503020204020204" pitchFamily="34" charset="-122"/>
              </a:rPr>
              <a:t>-MRP</a:t>
            </a:r>
            <a:r>
              <a:rPr lang="zh-CN" altLang="en-US" sz="1950" b="1" dirty="0">
                <a:latin typeface="微软雅黑" panose="020B0503020204020204" pitchFamily="34" charset="-122"/>
                <a:ea typeface="微软雅黑" panose="020B0503020204020204" pitchFamily="34" charset="-122"/>
              </a:rPr>
              <a:t>管理需求和问题</a:t>
            </a:r>
            <a:endParaRPr lang="zh-CN" altLang="zh-CN" sz="1950" b="1" dirty="0">
              <a:latin typeface="微软雅黑" panose="020B0503020204020204" pitchFamily="34" charset="-122"/>
              <a:ea typeface="微软雅黑" panose="020B0503020204020204" pitchFamily="34" charset="-122"/>
              <a:cs typeface="微软雅黑" panose="020B0503020204020204" pitchFamily="34" charset="-122"/>
            </a:endParaRPr>
          </a:p>
          <a:p>
            <a:pPr marL="525780" indent="-381000">
              <a:spcBef>
                <a:spcPts val="800"/>
              </a:spcBef>
              <a:buFont typeface="Wingdings" panose="05000000000000000000" pitchFamily="2" charset="2"/>
              <a:buChar char="n"/>
            </a:pPr>
            <a:r>
              <a:rPr lang="en-US" altLang="zh-CN" sz="1950" b="1" dirty="0">
                <a:latin typeface="微软雅黑" panose="020B0503020204020204" pitchFamily="34" charset="-122"/>
                <a:ea typeface="微软雅黑" panose="020B0503020204020204" pitchFamily="34" charset="-122"/>
              </a:rPr>
              <a:t>1.</a:t>
            </a:r>
            <a:r>
              <a:rPr lang="zh-CN" altLang="en-US" sz="1950" b="1" dirty="0">
                <a:latin typeface="微软雅黑" panose="020B0503020204020204" pitchFamily="34" charset="-122"/>
                <a:ea typeface="微软雅黑" panose="020B0503020204020204" pitchFamily="34" charset="-122"/>
              </a:rPr>
              <a:t>计划与库存联动管理；</a:t>
            </a:r>
            <a:r>
              <a:rPr lang="en-US" altLang="zh-CN" sz="1950" b="1" dirty="0">
                <a:latin typeface="微软雅黑" panose="020B0503020204020204" pitchFamily="34" charset="-122"/>
                <a:ea typeface="微软雅黑" panose="020B0503020204020204" pitchFamily="34" charset="-122"/>
              </a:rPr>
              <a:t>2.</a:t>
            </a:r>
            <a:r>
              <a:rPr lang="zh-CN" altLang="en-US" sz="1950" b="1" dirty="0">
                <a:latin typeface="微软雅黑" panose="020B0503020204020204" pitchFamily="34" charset="-122"/>
                <a:ea typeface="微软雅黑" panose="020B0503020204020204" pitchFamily="34" charset="-122"/>
              </a:rPr>
              <a:t>销售计划偏差大；</a:t>
            </a:r>
            <a:r>
              <a:rPr lang="en-US" altLang="zh-CN" sz="1950" b="1" dirty="0">
                <a:latin typeface="微软雅黑" panose="020B0503020204020204" pitchFamily="34" charset="-122"/>
                <a:ea typeface="微软雅黑" panose="020B0503020204020204" pitchFamily="34" charset="-122"/>
              </a:rPr>
              <a:t>3.</a:t>
            </a:r>
            <a:r>
              <a:rPr lang="zh-CN" altLang="en-US" sz="1950" b="1" dirty="0">
                <a:latin typeface="微软雅黑" panose="020B0503020204020204" pitchFamily="34" charset="-122"/>
                <a:ea typeface="微软雅黑" panose="020B0503020204020204" pitchFamily="34" charset="-122"/>
              </a:rPr>
              <a:t>缺货率高达</a:t>
            </a:r>
            <a:r>
              <a:rPr lang="en-US" altLang="zh-CN" sz="1950" b="1" dirty="0">
                <a:latin typeface="微软雅黑" panose="020B0503020204020204" pitchFamily="34" charset="-122"/>
                <a:ea typeface="微软雅黑" panose="020B0503020204020204" pitchFamily="34" charset="-122"/>
              </a:rPr>
              <a:t>30%-40%</a:t>
            </a:r>
            <a:r>
              <a:rPr lang="zh-CN" altLang="en-US" sz="1950" b="1" dirty="0">
                <a:latin typeface="微软雅黑" panose="020B0503020204020204" pitchFamily="34" charset="-122"/>
                <a:ea typeface="微软雅黑" panose="020B0503020204020204" pitchFamily="34" charset="-122"/>
              </a:rPr>
              <a:t>；</a:t>
            </a:r>
            <a:r>
              <a:rPr lang="en-US" altLang="zh-CN" sz="1950" b="1" dirty="0">
                <a:latin typeface="微软雅黑" panose="020B0503020204020204" pitchFamily="34" charset="-122"/>
                <a:ea typeface="微软雅黑" panose="020B0503020204020204" pitchFamily="34" charset="-122"/>
              </a:rPr>
              <a:t>4.</a:t>
            </a:r>
            <a:r>
              <a:rPr lang="zh-CN" altLang="en-US" sz="1950" b="1" dirty="0">
                <a:latin typeface="微软雅黑" panose="020B0503020204020204" pitchFamily="34" charset="-122"/>
                <a:ea typeface="微软雅黑" panose="020B0503020204020204" pitchFamily="34" charset="-122"/>
              </a:rPr>
              <a:t>无法在</a:t>
            </a:r>
            <a:r>
              <a:rPr lang="en-US" altLang="zh-CN" sz="1950" b="1" dirty="0">
                <a:latin typeface="微软雅黑" panose="020B0503020204020204" pitchFamily="34" charset="-122"/>
                <a:ea typeface="微软雅黑" panose="020B0503020204020204" pitchFamily="34" charset="-122"/>
              </a:rPr>
              <a:t>SKU</a:t>
            </a:r>
            <a:r>
              <a:rPr lang="zh-CN" altLang="en-US" sz="1950" b="1" dirty="0">
                <a:latin typeface="微软雅黑" panose="020B0503020204020204" pitchFamily="34" charset="-122"/>
                <a:ea typeface="微软雅黑" panose="020B0503020204020204" pitchFamily="34" charset="-122"/>
              </a:rPr>
              <a:t>层级做预测；</a:t>
            </a:r>
            <a:r>
              <a:rPr lang="en-US" altLang="zh-CN" sz="1950" b="1" dirty="0">
                <a:latin typeface="微软雅黑" panose="020B0503020204020204" pitchFamily="34" charset="-122"/>
                <a:ea typeface="微软雅黑" panose="020B0503020204020204" pitchFamily="34" charset="-122"/>
              </a:rPr>
              <a:t>5.</a:t>
            </a:r>
            <a:r>
              <a:rPr lang="zh-CN" altLang="en-US" sz="1950" b="1" dirty="0">
                <a:latin typeface="微软雅黑" panose="020B0503020204020204" pitchFamily="34" charset="-122"/>
                <a:ea typeface="微软雅黑" panose="020B0503020204020204" pitchFamily="34" charset="-122"/>
              </a:rPr>
              <a:t>供应商交期准确率低；</a:t>
            </a:r>
            <a:r>
              <a:rPr lang="en-US" altLang="zh-CN" sz="1950" b="1" dirty="0">
                <a:latin typeface="微软雅黑" panose="020B0503020204020204" pitchFamily="34" charset="-122"/>
                <a:ea typeface="微软雅黑" panose="020B0503020204020204" pitchFamily="34" charset="-122"/>
              </a:rPr>
              <a:t>6.</a:t>
            </a:r>
            <a:r>
              <a:rPr lang="zh-CN" altLang="en-US" sz="1950" b="1" dirty="0">
                <a:latin typeface="微软雅黑" panose="020B0503020204020204" pitchFamily="34" charset="-122"/>
                <a:ea typeface="微软雅黑" panose="020B0503020204020204" pitchFamily="34" charset="-122"/>
              </a:rPr>
              <a:t>计划调整频繁；</a:t>
            </a:r>
            <a:r>
              <a:rPr lang="en-US" altLang="zh-CN" sz="1950" b="1" dirty="0">
                <a:solidFill>
                  <a:schemeClr val="bg1"/>
                </a:solidFill>
                <a:highlight>
                  <a:srgbClr val="0073E6"/>
                </a:highlight>
                <a:latin typeface="微软雅黑" panose="020B0503020204020204" pitchFamily="34" charset="-122"/>
                <a:ea typeface="微软雅黑" panose="020B0503020204020204" pitchFamily="34" charset="-122"/>
              </a:rPr>
              <a:t>7.</a:t>
            </a:r>
            <a:r>
              <a:rPr lang="zh-CN" altLang="en-US" sz="1950" b="1" dirty="0">
                <a:solidFill>
                  <a:schemeClr val="bg1"/>
                </a:solidFill>
                <a:highlight>
                  <a:srgbClr val="0073E6"/>
                </a:highlight>
                <a:latin typeface="微软雅黑" panose="020B0503020204020204" pitchFamily="34" charset="-122"/>
                <a:ea typeface="微软雅黑" panose="020B0503020204020204" pitchFamily="34" charset="-122"/>
              </a:rPr>
              <a:t>计划执行、交付进度无法跟踪</a:t>
            </a:r>
            <a:r>
              <a:rPr lang="zh-CN" altLang="en-US" sz="1950" b="1" dirty="0">
                <a:highlight>
                  <a:srgbClr val="0073E6"/>
                </a:highlight>
                <a:latin typeface="微软雅黑" panose="020B0503020204020204" pitchFamily="34" charset="-122"/>
                <a:ea typeface="微软雅黑" panose="020B0503020204020204" pitchFamily="34" charset="-122"/>
              </a:rPr>
              <a:t>；</a:t>
            </a:r>
            <a:r>
              <a:rPr lang="en-US" altLang="zh-CN" sz="1950" b="1" dirty="0">
                <a:latin typeface="微软雅黑" panose="020B0503020204020204" pitchFamily="34" charset="-122"/>
                <a:ea typeface="微软雅黑" panose="020B0503020204020204" pitchFamily="34" charset="-122"/>
              </a:rPr>
              <a:t>8.</a:t>
            </a:r>
            <a:r>
              <a:rPr lang="zh-CN" altLang="en-US" sz="1950" b="1" dirty="0">
                <a:latin typeface="微软雅黑" panose="020B0503020204020204" pitchFamily="34" charset="-122"/>
                <a:ea typeface="微软雅黑" panose="020B0503020204020204" pitchFamily="34" charset="-122"/>
              </a:rPr>
              <a:t>备货不准确</a:t>
            </a:r>
            <a:r>
              <a:rPr lang="zh-CN" altLang="en-US" sz="1950" dirty="0">
                <a:latin typeface="微软雅黑" panose="020B0503020204020204" pitchFamily="34" charset="-122"/>
                <a:ea typeface="微软雅黑" panose="020B0503020204020204" pitchFamily="34" charset="-122"/>
              </a:rPr>
              <a:t>；</a:t>
            </a:r>
            <a:endParaRPr lang="en-US" altLang="zh-CN" sz="1950" dirty="0">
              <a:latin typeface="微软雅黑" panose="020B0503020204020204" pitchFamily="34" charset="-122"/>
              <a:ea typeface="微软雅黑" panose="020B0503020204020204" pitchFamily="34" charset="-122"/>
            </a:endParaRPr>
          </a:p>
          <a:p>
            <a:pPr marL="525780" indent="-381000">
              <a:spcBef>
                <a:spcPts val="800"/>
              </a:spcBef>
              <a:buFont typeface="Wingdings" panose="05000000000000000000" charset="0"/>
              <a:buChar char="Ø"/>
            </a:pPr>
            <a:r>
              <a:rPr lang="zh-CN" altLang="en-US" sz="1950" b="1" dirty="0">
                <a:latin typeface="微软雅黑" panose="020B0503020204020204" pitchFamily="34" charset="-122"/>
                <a:ea typeface="微软雅黑" panose="020B0503020204020204" pitchFamily="34" charset="-122"/>
              </a:rPr>
              <a:t>顾问建议：</a:t>
            </a:r>
            <a:endParaRPr lang="en-US" altLang="zh-CN" sz="1950" b="1" dirty="0">
              <a:latin typeface="微软雅黑" panose="020B0503020204020204" pitchFamily="34" charset="-122"/>
              <a:ea typeface="微软雅黑" panose="020B0503020204020204" pitchFamily="34" charset="-122"/>
            </a:endParaRPr>
          </a:p>
          <a:p>
            <a:pPr marL="525780" indent="-381000">
              <a:spcBef>
                <a:spcPts val="800"/>
              </a:spcBef>
              <a:buFont typeface="Wingdings" panose="05000000000000000000" pitchFamily="2" charset="2"/>
              <a:buChar char="n"/>
            </a:pPr>
            <a:r>
              <a:rPr lang="zh-CN" altLang="en-US" sz="1950" dirty="0">
                <a:latin typeface="微软雅黑" panose="020B0503020204020204" pitchFamily="34" charset="-122"/>
                <a:ea typeface="微软雅黑" panose="020B0503020204020204" pitchFamily="34" charset="-122"/>
              </a:rPr>
              <a:t>主计划、销售订单、生产订单、采购订单通过链接勾稽起来，便于联动追溯需求来源（</a:t>
            </a:r>
            <a:r>
              <a:rPr lang="en-US" altLang="zh-CN" sz="1950" dirty="0">
                <a:latin typeface="微软雅黑" panose="020B0503020204020204" pitchFamily="34" charset="-122"/>
                <a:ea typeface="微软雅黑" panose="020B0503020204020204" pitchFamily="34" charset="-122"/>
              </a:rPr>
              <a:t>MRP</a:t>
            </a:r>
            <a:r>
              <a:rPr lang="zh-CN" altLang="en-US" sz="1950" dirty="0">
                <a:latin typeface="微软雅黑" panose="020B0503020204020204" pitchFamily="34" charset="-122"/>
                <a:ea typeface="微软雅黑" panose="020B0503020204020204" pitchFamily="34" charset="-122"/>
              </a:rPr>
              <a:t>有提供这个功能）</a:t>
            </a:r>
            <a:endParaRPr lang="en-US" altLang="zh-CN" sz="1950" dirty="0">
              <a:latin typeface="微软雅黑" panose="020B0503020204020204" pitchFamily="34" charset="-122"/>
              <a:ea typeface="微软雅黑" panose="020B0503020204020204" pitchFamily="34" charset="-122"/>
            </a:endParaRPr>
          </a:p>
          <a:p>
            <a:pPr marL="525780" indent="-381000">
              <a:spcBef>
                <a:spcPts val="800"/>
              </a:spcBef>
              <a:buFont typeface="Wingdings" panose="05000000000000000000" pitchFamily="2" charset="2"/>
              <a:buChar char="n"/>
            </a:pPr>
            <a:r>
              <a:rPr lang="zh-CN" altLang="en-US" sz="1950" dirty="0">
                <a:latin typeface="微软雅黑" panose="020B0503020204020204" pitchFamily="34" charset="-122"/>
                <a:ea typeface="微软雅黑" panose="020B0503020204020204" pitchFamily="34" charset="-122"/>
              </a:rPr>
              <a:t>依据</a:t>
            </a:r>
            <a:r>
              <a:rPr lang="en-US" altLang="zh-CN" sz="1950" dirty="0">
                <a:latin typeface="微软雅黑" panose="020B0503020204020204" pitchFamily="34" charset="-122"/>
                <a:ea typeface="微软雅黑" panose="020B0503020204020204" pitchFamily="34" charset="-122"/>
              </a:rPr>
              <a:t>SAP</a:t>
            </a:r>
            <a:r>
              <a:rPr lang="zh-CN" altLang="en-US" sz="1950" dirty="0">
                <a:latin typeface="微软雅黑" panose="020B0503020204020204" pitchFamily="34" charset="-122"/>
                <a:ea typeface="微软雅黑" panose="020B0503020204020204" pitchFamily="34" charset="-122"/>
              </a:rPr>
              <a:t>历史数据、做滚动</a:t>
            </a:r>
            <a:r>
              <a:rPr lang="en-US" altLang="zh-CN" sz="1950" dirty="0">
                <a:latin typeface="微软雅黑" panose="020B0503020204020204" pitchFamily="34" charset="-122"/>
                <a:ea typeface="微软雅黑" panose="020B0503020204020204" pitchFamily="34" charset="-122"/>
              </a:rPr>
              <a:t>N+2</a:t>
            </a:r>
            <a:r>
              <a:rPr lang="zh-CN" altLang="en-US" sz="1950" dirty="0">
                <a:latin typeface="微软雅黑" panose="020B0503020204020204" pitchFamily="34" charset="-122"/>
                <a:ea typeface="微软雅黑" panose="020B0503020204020204" pitchFamily="34" charset="-122"/>
              </a:rPr>
              <a:t>月计划制定</a:t>
            </a:r>
            <a:endParaRPr lang="en-US" altLang="zh-CN" sz="1950" dirty="0">
              <a:latin typeface="微软雅黑" panose="020B0503020204020204" pitchFamily="34" charset="-122"/>
              <a:ea typeface="微软雅黑" panose="020B0503020204020204" pitchFamily="34" charset="-122"/>
            </a:endParaRPr>
          </a:p>
          <a:p>
            <a:pPr marL="525780" indent="-381000">
              <a:spcBef>
                <a:spcPts val="800"/>
              </a:spcBef>
              <a:buFont typeface="Wingdings" panose="05000000000000000000" pitchFamily="2" charset="2"/>
              <a:buChar char="n"/>
            </a:pPr>
            <a:r>
              <a:rPr lang="zh-CN" altLang="en-US" sz="1950" dirty="0">
                <a:latin typeface="微软雅黑" panose="020B0503020204020204" pitchFamily="34" charset="-122"/>
                <a:ea typeface="微软雅黑" panose="020B0503020204020204" pitchFamily="34" charset="-122"/>
              </a:rPr>
              <a:t>针对缺货问题，做计划层面的齐套检查结果报表、颜色预警、</a:t>
            </a:r>
            <a:r>
              <a:rPr lang="en-US" altLang="zh-CN" sz="1950" dirty="0">
                <a:latin typeface="微软雅黑" panose="020B0503020204020204" pitchFamily="34" charset="-122"/>
                <a:ea typeface="微软雅黑" panose="020B0503020204020204" pitchFamily="34" charset="-122"/>
              </a:rPr>
              <a:t>BI</a:t>
            </a:r>
            <a:r>
              <a:rPr lang="zh-CN" altLang="en-US" sz="1950" dirty="0">
                <a:latin typeface="微软雅黑" panose="020B0503020204020204" pitchFamily="34" charset="-122"/>
                <a:ea typeface="微软雅黑" panose="020B0503020204020204" pitchFamily="34" charset="-122"/>
              </a:rPr>
              <a:t>大屏看板预警缺料信息</a:t>
            </a:r>
            <a:endParaRPr lang="en-US" altLang="zh-CN" sz="1950" dirty="0">
              <a:latin typeface="微软雅黑" panose="020B0503020204020204" pitchFamily="34" charset="-122"/>
              <a:ea typeface="微软雅黑" panose="020B0503020204020204" pitchFamily="34" charset="-122"/>
            </a:endParaRPr>
          </a:p>
          <a:p>
            <a:pPr marL="525780" indent="-381000">
              <a:spcBef>
                <a:spcPts val="800"/>
              </a:spcBef>
              <a:buFont typeface="Wingdings" panose="05000000000000000000" pitchFamily="2" charset="2"/>
              <a:buChar char="n"/>
            </a:pPr>
            <a:r>
              <a:rPr lang="en-US" altLang="zh-CN" sz="1950" dirty="0">
                <a:latin typeface="微软雅黑" panose="020B0503020204020204" pitchFamily="34" charset="-122"/>
                <a:ea typeface="微软雅黑" panose="020B0503020204020204" pitchFamily="34" charset="-122"/>
              </a:rPr>
              <a:t>SKU</a:t>
            </a:r>
            <a:r>
              <a:rPr lang="zh-CN" altLang="en-US" sz="1950" dirty="0">
                <a:latin typeface="微软雅黑" panose="020B0503020204020204" pitchFamily="34" charset="-122"/>
                <a:ea typeface="微软雅黑" panose="020B0503020204020204" pitchFamily="34" charset="-122"/>
              </a:rPr>
              <a:t>产品级别 做独立需求运算</a:t>
            </a:r>
            <a:r>
              <a:rPr lang="en-US" altLang="zh-CN" sz="1950" dirty="0">
                <a:latin typeface="微软雅黑" panose="020B0503020204020204" pitchFamily="34" charset="-122"/>
                <a:ea typeface="微软雅黑" panose="020B0503020204020204" pitchFamily="34" charset="-122"/>
              </a:rPr>
              <a:t>MRP</a:t>
            </a:r>
            <a:r>
              <a:rPr lang="zh-CN" altLang="en-US" sz="1950" dirty="0">
                <a:latin typeface="微软雅黑" panose="020B0503020204020204" pitchFamily="34" charset="-122"/>
                <a:ea typeface="微软雅黑" panose="020B0503020204020204" pitchFamily="34" charset="-122"/>
              </a:rPr>
              <a:t>计算生产需求和采购需求</a:t>
            </a:r>
            <a:endParaRPr lang="en-US" altLang="zh-CN" sz="1950" dirty="0">
              <a:latin typeface="微软雅黑" panose="020B0503020204020204" pitchFamily="34" charset="-122"/>
              <a:ea typeface="微软雅黑" panose="020B0503020204020204" pitchFamily="34" charset="-122"/>
            </a:endParaRPr>
          </a:p>
          <a:p>
            <a:pPr marL="525780" indent="-381000">
              <a:spcBef>
                <a:spcPts val="800"/>
              </a:spcBef>
              <a:buFont typeface="Wingdings" panose="05000000000000000000" pitchFamily="2" charset="2"/>
              <a:buChar char="n"/>
            </a:pPr>
            <a:r>
              <a:rPr lang="zh-CN" altLang="en-US" sz="1950" dirty="0">
                <a:latin typeface="微软雅黑" panose="020B0503020204020204" pitchFamily="34" charset="-122"/>
                <a:ea typeface="微软雅黑" panose="020B0503020204020204" pitchFamily="34" charset="-122"/>
              </a:rPr>
              <a:t>通过准确的主生产计划和</a:t>
            </a:r>
            <a:r>
              <a:rPr lang="en-US" altLang="zh-CN" sz="1950" dirty="0">
                <a:latin typeface="微软雅黑" panose="020B0503020204020204" pitchFamily="34" charset="-122"/>
                <a:ea typeface="微软雅黑" panose="020B0503020204020204" pitchFamily="34" charset="-122"/>
              </a:rPr>
              <a:t>MRP</a:t>
            </a:r>
            <a:r>
              <a:rPr lang="zh-CN" altLang="en-US" sz="1950" dirty="0">
                <a:latin typeface="微软雅黑" panose="020B0503020204020204" pitchFamily="34" charset="-122"/>
                <a:ea typeface="微软雅黑" panose="020B0503020204020204" pitchFamily="34" charset="-122"/>
              </a:rPr>
              <a:t>供需平衡的计算逻辑、供应商</a:t>
            </a:r>
            <a:r>
              <a:rPr lang="en-US" altLang="zh-CN" sz="1950" dirty="0">
                <a:latin typeface="微软雅黑" panose="020B0503020204020204" pitchFamily="34" charset="-122"/>
                <a:ea typeface="微软雅黑" panose="020B0503020204020204" pitchFamily="34" charset="-122"/>
              </a:rPr>
              <a:t>Leadtime</a:t>
            </a:r>
            <a:r>
              <a:rPr lang="zh-CN" altLang="en-US" sz="1950" dirty="0">
                <a:latin typeface="微软雅黑" panose="020B0503020204020204" pitchFamily="34" charset="-122"/>
                <a:ea typeface="微软雅黑" panose="020B0503020204020204" pitchFamily="34" charset="-122"/>
              </a:rPr>
              <a:t>计算相对准确的交期</a:t>
            </a:r>
            <a:endParaRPr lang="en-US" altLang="zh-CN" sz="1950" dirty="0">
              <a:latin typeface="微软雅黑" panose="020B0503020204020204" pitchFamily="34" charset="-122"/>
              <a:ea typeface="微软雅黑" panose="020B0503020204020204" pitchFamily="34" charset="-122"/>
            </a:endParaRPr>
          </a:p>
          <a:p>
            <a:pPr marL="525780" indent="-381000">
              <a:spcBef>
                <a:spcPts val="800"/>
              </a:spcBef>
              <a:buFont typeface="Wingdings" panose="05000000000000000000" pitchFamily="2" charset="2"/>
              <a:buChar char="n"/>
            </a:pPr>
            <a:r>
              <a:rPr lang="zh-CN" altLang="en-US" sz="1950" dirty="0">
                <a:latin typeface="微软雅黑" panose="020B0503020204020204" pitchFamily="34" charset="-122"/>
                <a:ea typeface="微软雅黑" panose="020B0503020204020204" pitchFamily="34" charset="-122"/>
              </a:rPr>
              <a:t>计划调整因客户、缺料、产能的原因不得不调整，通过</a:t>
            </a:r>
            <a:r>
              <a:rPr lang="en-US" altLang="zh-CN" sz="1950" dirty="0">
                <a:latin typeface="微软雅黑" panose="020B0503020204020204" pitchFamily="34" charset="-122"/>
                <a:ea typeface="微软雅黑" panose="020B0503020204020204" pitchFamily="34" charset="-122"/>
              </a:rPr>
              <a:t>MRP</a:t>
            </a:r>
            <a:r>
              <a:rPr lang="zh-CN" altLang="en-US" sz="1950" dirty="0">
                <a:latin typeface="微软雅黑" panose="020B0503020204020204" pitchFamily="34" charset="-122"/>
                <a:ea typeface="微软雅黑" panose="020B0503020204020204" pitchFamily="34" charset="-122"/>
              </a:rPr>
              <a:t>系统重新计算，让变更信息共享</a:t>
            </a:r>
            <a:endParaRPr lang="en-US" altLang="zh-CN" sz="1950" dirty="0">
              <a:latin typeface="微软雅黑" panose="020B0503020204020204" pitchFamily="34" charset="-122"/>
              <a:ea typeface="微软雅黑" panose="020B0503020204020204" pitchFamily="34" charset="-122"/>
            </a:endParaRPr>
          </a:p>
          <a:p>
            <a:pPr marL="525780" indent="-381000">
              <a:spcBef>
                <a:spcPts val="800"/>
              </a:spcBef>
              <a:buFont typeface="Wingdings" panose="05000000000000000000" pitchFamily="2" charset="2"/>
              <a:buChar char="n"/>
            </a:pPr>
            <a:r>
              <a:rPr lang="zh-CN" altLang="en-US" sz="1950" dirty="0">
                <a:latin typeface="微软雅黑" panose="020B0503020204020204" pitchFamily="34" charset="-122"/>
                <a:ea typeface="微软雅黑" panose="020B0503020204020204" pitchFamily="34" charset="-122"/>
              </a:rPr>
              <a:t>计划变更对生产和采购的更新和影响；</a:t>
            </a:r>
            <a:endParaRPr lang="en-US" altLang="zh-CN" sz="1950" dirty="0">
              <a:latin typeface="微软雅黑" panose="020B0503020204020204" pitchFamily="34" charset="-122"/>
              <a:ea typeface="微软雅黑" panose="020B0503020204020204" pitchFamily="34" charset="-122"/>
            </a:endParaRPr>
          </a:p>
          <a:p>
            <a:pPr marL="525780" indent="-381000">
              <a:spcBef>
                <a:spcPts val="800"/>
              </a:spcBef>
              <a:buFont typeface="Wingdings" panose="05000000000000000000" pitchFamily="2" charset="2"/>
              <a:buChar char="n"/>
            </a:pPr>
            <a:r>
              <a:rPr lang="zh-CN" altLang="en-US" sz="1950" b="1" dirty="0">
                <a:solidFill>
                  <a:schemeClr val="bg1"/>
                </a:solidFill>
                <a:highlight>
                  <a:srgbClr val="0073E6"/>
                </a:highlight>
                <a:latin typeface="微软雅黑" panose="020B0503020204020204" pitchFamily="34" charset="-122"/>
                <a:ea typeface="微软雅黑" panose="020B0503020204020204" pitchFamily="34" charset="-122"/>
              </a:rPr>
              <a:t>生产计划与执行实际进展过程，订单上下游勾稽和订单状态跟踪日产出合格成品、半成品数量</a:t>
            </a:r>
            <a:endParaRPr lang="en-US" altLang="zh-CN" sz="1950" b="1" dirty="0">
              <a:solidFill>
                <a:schemeClr val="bg1"/>
              </a:solidFill>
              <a:highlight>
                <a:srgbClr val="0073E6"/>
              </a:highlight>
              <a:latin typeface="微软雅黑" panose="020B0503020204020204" pitchFamily="34" charset="-122"/>
              <a:ea typeface="微软雅黑" panose="020B0503020204020204" pitchFamily="34" charset="-122"/>
            </a:endParaRPr>
          </a:p>
          <a:p>
            <a:pPr marL="525780" indent="-381000">
              <a:spcBef>
                <a:spcPts val="800"/>
              </a:spcBef>
              <a:buFont typeface="Wingdings" panose="05000000000000000000" pitchFamily="2" charset="2"/>
              <a:buChar char="n"/>
            </a:pPr>
            <a:r>
              <a:rPr lang="zh-CN" altLang="en-US" sz="1950" dirty="0">
                <a:latin typeface="微软雅黑" panose="020B0503020204020204" pitchFamily="34" charset="-122"/>
                <a:ea typeface="微软雅黑" panose="020B0503020204020204" pitchFamily="34" charset="-122"/>
              </a:rPr>
              <a:t>安全库存启用及时依据需求更新，备货更准确（公式： </a:t>
            </a:r>
            <a:r>
              <a:rPr lang="en-US" altLang="zh-CN" sz="1950" dirty="0">
                <a:latin typeface="微软雅黑" panose="020B0503020204020204" pitchFamily="34" charset="-122"/>
                <a:ea typeface="微软雅黑" panose="020B0503020204020204" pitchFamily="34" charset="-122"/>
              </a:rPr>
              <a:t>SS=</a:t>
            </a:r>
            <a:r>
              <a:rPr lang="zh-CN" altLang="en-US" sz="1950" dirty="0">
                <a:latin typeface="微软雅黑" panose="020B0503020204020204" pitchFamily="34" charset="-122"/>
                <a:ea typeface="微软雅黑" panose="020B0503020204020204" pitchFamily="34" charset="-122"/>
              </a:rPr>
              <a:t>日均需求</a:t>
            </a:r>
            <a:r>
              <a:rPr lang="en-US" altLang="zh-CN" sz="1950" dirty="0">
                <a:latin typeface="微软雅黑" panose="020B0503020204020204" pitchFamily="34" charset="-122"/>
                <a:ea typeface="微软雅黑" panose="020B0503020204020204" pitchFamily="34" charset="-122"/>
              </a:rPr>
              <a:t>×</a:t>
            </a:r>
            <a:r>
              <a:rPr lang="zh-CN" altLang="en-US" sz="1950" dirty="0">
                <a:latin typeface="微软雅黑" panose="020B0503020204020204" pitchFamily="34" charset="-122"/>
                <a:ea typeface="微软雅黑" panose="020B0503020204020204" pitchFamily="34" charset="-122"/>
              </a:rPr>
              <a:t>安全覆盖天数）</a:t>
            </a:r>
            <a:endParaRPr lang="en-US" altLang="zh-CN" sz="1950" dirty="0">
              <a:latin typeface="微软雅黑" panose="020B0503020204020204" pitchFamily="34" charset="-122"/>
              <a:ea typeface="微软雅黑" panose="020B0503020204020204" pitchFamily="34" charset="-122"/>
            </a:endParaRPr>
          </a:p>
        </p:txBody>
      </p:sp>
      <p:sp>
        <p:nvSpPr>
          <p:cNvPr id="3" name="标题 1"/>
          <p:cNvSpPr txBox="1"/>
          <p:nvPr/>
        </p:nvSpPr>
        <p:spPr>
          <a:xfrm>
            <a:off x="624001" y="72307"/>
            <a:ext cx="10510199" cy="665096"/>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defTabSz="1623695">
              <a:defRPr/>
            </a:pPr>
            <a:r>
              <a:rPr lang="zh-CN" altLang="en-US" sz="2665" b="1" dirty="0">
                <a:solidFill>
                  <a:schemeClr val="accent1"/>
                </a:solidFill>
                <a:latin typeface="微软雅黑" panose="020B0503020204020204" pitchFamily="34" charset="-122"/>
                <a:ea typeface="微软雅黑" panose="020B0503020204020204" pitchFamily="34" charset="-122"/>
                <a:cs typeface="+mj-cs"/>
              </a:rPr>
              <a:t>现状：主生产计划</a:t>
            </a:r>
            <a:r>
              <a:rPr lang="en-US" altLang="zh-CN" sz="2665" b="1" dirty="0">
                <a:solidFill>
                  <a:schemeClr val="accent1"/>
                </a:solidFill>
                <a:latin typeface="微软雅黑" panose="020B0503020204020204" pitchFamily="34" charset="-122"/>
                <a:ea typeface="微软雅黑" panose="020B0503020204020204" pitchFamily="34" charset="-122"/>
                <a:cs typeface="+mj-cs"/>
              </a:rPr>
              <a:t>-MRP</a:t>
            </a:r>
            <a:r>
              <a:rPr lang="zh-CN" altLang="en-US" sz="2665" b="1" dirty="0">
                <a:solidFill>
                  <a:schemeClr val="accent1"/>
                </a:solidFill>
                <a:latin typeface="微软雅黑" panose="020B0503020204020204" pitchFamily="34" charset="-122"/>
                <a:ea typeface="微软雅黑" panose="020B0503020204020204" pitchFamily="34" charset="-122"/>
                <a:cs typeface="+mj-cs"/>
              </a:rPr>
              <a:t>管理需求和问题</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24001" y="72307"/>
            <a:ext cx="10510199" cy="665096"/>
          </a:xfrm>
          <a:prstGeom prst="rect">
            <a:avLst/>
          </a:prstGeom>
        </p:spPr>
        <p:txBody>
          <a:bodyPr/>
          <a:lstStyle/>
          <a:p>
            <a:pPr defTabSz="1623695">
              <a:defRPr/>
            </a:pPr>
            <a:r>
              <a:rPr lang="zh-CN" altLang="en-US" sz="2665" b="1" dirty="0">
                <a:latin typeface="微软雅黑" panose="020B0503020204020204" pitchFamily="34" charset="-122"/>
                <a:ea typeface="微软雅黑" panose="020B0503020204020204" pitchFamily="34" charset="-122"/>
              </a:rPr>
              <a:t>现状：主生产计划</a:t>
            </a:r>
            <a:r>
              <a:rPr lang="en-US" altLang="zh-CN" sz="2665" b="1" dirty="0">
                <a:latin typeface="微软雅黑" panose="020B0503020204020204" pitchFamily="34" charset="-122"/>
                <a:ea typeface="微软雅黑" panose="020B0503020204020204" pitchFamily="34" charset="-122"/>
              </a:rPr>
              <a:t>-MRP</a:t>
            </a:r>
            <a:r>
              <a:rPr lang="zh-CN" altLang="en-US" sz="2665" b="1" dirty="0">
                <a:latin typeface="微软雅黑" panose="020B0503020204020204" pitchFamily="34" charset="-122"/>
                <a:ea typeface="微软雅黑" panose="020B0503020204020204" pitchFamily="34" charset="-122"/>
              </a:rPr>
              <a:t>管理需求和问题</a:t>
            </a:r>
          </a:p>
        </p:txBody>
      </p:sp>
      <p:sp>
        <p:nvSpPr>
          <p:cNvPr id="10" name="文本框 9"/>
          <p:cNvSpPr txBox="1"/>
          <p:nvPr/>
        </p:nvSpPr>
        <p:spPr>
          <a:xfrm>
            <a:off x="382344" y="984959"/>
            <a:ext cx="10583491" cy="2431820"/>
          </a:xfrm>
          <a:prstGeom prst="rect">
            <a:avLst/>
          </a:prstGeom>
          <a:noFill/>
        </p:spPr>
        <p:txBody>
          <a:bodyPr wrap="square">
            <a:spAutoFit/>
          </a:bodyPr>
          <a:lstStyle/>
          <a:p>
            <a:pPr marL="525780" indent="-381000">
              <a:spcBef>
                <a:spcPts val="800"/>
              </a:spcBef>
              <a:buFont typeface="Wingdings" panose="05000000000000000000" charset="0"/>
              <a:buChar char="Ø"/>
            </a:pPr>
            <a:r>
              <a:rPr lang="zh-CN" altLang="en-US" sz="1865" b="1" dirty="0">
                <a:latin typeface="微软雅黑" panose="020B0503020204020204" pitchFamily="34" charset="-122"/>
                <a:ea typeface="微软雅黑" panose="020B0503020204020204" pitchFamily="34" charset="-122"/>
              </a:rPr>
              <a:t>现状</a:t>
            </a:r>
            <a:r>
              <a:rPr lang="en-US" altLang="zh-CN" sz="1865" b="1" dirty="0">
                <a:latin typeface="微软雅黑" panose="020B0503020204020204" pitchFamily="34" charset="-122"/>
                <a:ea typeface="微软雅黑" panose="020B0503020204020204" pitchFamily="34" charset="-122"/>
              </a:rPr>
              <a:t>2</a:t>
            </a:r>
            <a:r>
              <a:rPr lang="zh-CN" altLang="en-US" sz="1865"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主生产计划</a:t>
            </a:r>
            <a:r>
              <a:rPr lang="en-US" altLang="zh-CN" sz="2000" b="1" dirty="0">
                <a:latin typeface="微软雅黑" panose="020B0503020204020204" pitchFamily="34" charset="-122"/>
                <a:ea typeface="微软雅黑" panose="020B0503020204020204" pitchFamily="34" charset="-122"/>
              </a:rPr>
              <a:t>-MRP</a:t>
            </a:r>
            <a:r>
              <a:rPr lang="zh-CN" altLang="en-US" sz="2000" b="1" dirty="0">
                <a:latin typeface="微软雅黑" panose="020B0503020204020204" pitchFamily="34" charset="-122"/>
                <a:ea typeface="微软雅黑" panose="020B0503020204020204" pitchFamily="34" charset="-122"/>
              </a:rPr>
              <a:t>管理需求和问题</a:t>
            </a:r>
            <a:endParaRPr lang="zh-CN" altLang="zh-CN" sz="1865" b="1" dirty="0">
              <a:latin typeface="微软雅黑" panose="020B0503020204020204" pitchFamily="34" charset="-122"/>
              <a:ea typeface="微软雅黑" panose="020B0503020204020204" pitchFamily="34" charset="-122"/>
              <a:cs typeface="微软雅黑" panose="020B0503020204020204" pitchFamily="34" charset="-122"/>
            </a:endParaRPr>
          </a:p>
          <a:p>
            <a:pPr marL="525780" indent="-381000">
              <a:spcBef>
                <a:spcPts val="800"/>
              </a:spcBef>
              <a:buFont typeface="Wingdings" panose="05000000000000000000" pitchFamily="2" charset="2"/>
              <a:buChar char="n"/>
            </a:pPr>
            <a:r>
              <a:rPr lang="zh-CN" altLang="en-US" sz="1865" dirty="0">
                <a:latin typeface="微软雅黑" panose="020B0503020204020204" pitchFamily="34" charset="-122"/>
                <a:ea typeface="微软雅黑" panose="020B0503020204020204" pitchFamily="34" charset="-122"/>
              </a:rPr>
              <a:t>现状痛点：现有</a:t>
            </a:r>
            <a:r>
              <a:rPr lang="en-US" altLang="zh-CN" sz="1865" dirty="0">
                <a:latin typeface="微软雅黑" panose="020B0503020204020204" pitchFamily="34" charset="-122"/>
                <a:ea typeface="微软雅黑" panose="020B0503020204020204" pitchFamily="34" charset="-122"/>
              </a:rPr>
              <a:t>SAP</a:t>
            </a:r>
            <a:r>
              <a:rPr lang="zh-CN" altLang="en-US" sz="1865" dirty="0">
                <a:latin typeface="微软雅黑" panose="020B0503020204020204" pitchFamily="34" charset="-122"/>
                <a:ea typeface="微软雅黑" panose="020B0503020204020204" pitchFamily="34" charset="-122"/>
              </a:rPr>
              <a:t>仅完成基础上线，未深度开发，排产、交付数据可信度低，交付管理失控；</a:t>
            </a:r>
            <a:r>
              <a:rPr lang="zh-CN" altLang="en-US" sz="1865" b="1" u="sng" dirty="0">
                <a:solidFill>
                  <a:schemeClr val="accent1">
                    <a:lumMod val="75000"/>
                  </a:schemeClr>
                </a:solidFill>
                <a:latin typeface="微软雅黑" panose="020B0503020204020204" pitchFamily="34" charset="-122"/>
                <a:ea typeface="微软雅黑" panose="020B0503020204020204" pitchFamily="34" charset="-122"/>
              </a:rPr>
              <a:t>需深度开发排产模块</a:t>
            </a:r>
            <a:r>
              <a:rPr lang="zh-CN" altLang="en-US" sz="1865" dirty="0">
                <a:latin typeface="微软雅黑" panose="020B0503020204020204" pitchFamily="34" charset="-122"/>
                <a:ea typeface="微软雅黑" panose="020B0503020204020204" pitchFamily="34" charset="-122"/>
              </a:rPr>
              <a:t>，提升交付数据可信度，支撑大客户代工（吉益等）对交期极致要求；覆盖高明基地</a:t>
            </a:r>
            <a:r>
              <a:rPr lang="en-US" altLang="zh-CN" sz="1865" dirty="0">
                <a:latin typeface="微软雅黑" panose="020B0503020204020204" pitchFamily="34" charset="-122"/>
                <a:ea typeface="微软雅黑" panose="020B0503020204020204" pitchFamily="34" charset="-122"/>
              </a:rPr>
              <a:t>3</a:t>
            </a:r>
            <a:r>
              <a:rPr lang="zh-CN" altLang="en-US" sz="1865" dirty="0">
                <a:latin typeface="微软雅黑" panose="020B0503020204020204" pitchFamily="34" charset="-122"/>
                <a:ea typeface="微软雅黑" panose="020B0503020204020204" pitchFamily="34" charset="-122"/>
              </a:rPr>
              <a:t>个生产车间（球泡灯、灯饰灯、智能产品）。</a:t>
            </a:r>
            <a:endParaRPr lang="en-US" altLang="zh-CN" sz="1865" dirty="0">
              <a:latin typeface="微软雅黑" panose="020B0503020204020204" pitchFamily="34" charset="-122"/>
              <a:ea typeface="微软雅黑" panose="020B0503020204020204" pitchFamily="34" charset="-122"/>
            </a:endParaRPr>
          </a:p>
          <a:p>
            <a:pPr marL="525780" indent="-381000">
              <a:spcBef>
                <a:spcPts val="800"/>
              </a:spcBef>
              <a:buFont typeface="Wingdings" panose="05000000000000000000" charset="0"/>
              <a:buChar char="Ø"/>
            </a:pPr>
            <a:r>
              <a:rPr lang="zh-CN" altLang="en-US" sz="1865" b="1" dirty="0">
                <a:latin typeface="微软雅黑" panose="020B0503020204020204" pitchFamily="34" charset="-122"/>
                <a:ea typeface="微软雅黑" panose="020B0503020204020204" pitchFamily="34" charset="-122"/>
              </a:rPr>
              <a:t>顾问处理意见：</a:t>
            </a:r>
            <a:endParaRPr lang="en-US" altLang="zh-CN" sz="1865" b="1" dirty="0">
              <a:latin typeface="微软雅黑" panose="020B0503020204020204" pitchFamily="34" charset="-122"/>
              <a:ea typeface="微软雅黑" panose="020B0503020204020204" pitchFamily="34" charset="-122"/>
            </a:endParaRPr>
          </a:p>
          <a:p>
            <a:pPr marL="525780" indent="-381000">
              <a:spcBef>
                <a:spcPts val="800"/>
              </a:spcBef>
              <a:buFont typeface="Wingdings" panose="05000000000000000000" pitchFamily="2" charset="2"/>
              <a:buChar char="n"/>
            </a:pPr>
            <a:r>
              <a:rPr lang="en-US" altLang="zh-CN" sz="1865" dirty="0">
                <a:latin typeface="微软雅黑" panose="020B0503020204020204" pitchFamily="34" charset="-122"/>
                <a:ea typeface="微软雅黑" panose="020B0503020204020204" pitchFamily="34" charset="-122"/>
              </a:rPr>
              <a:t>SAP MRP</a:t>
            </a:r>
            <a:r>
              <a:rPr lang="zh-CN" altLang="en-US" sz="1865" dirty="0">
                <a:latin typeface="微软雅黑" panose="020B0503020204020204" pitchFamily="34" charset="-122"/>
                <a:ea typeface="微软雅黑" panose="020B0503020204020204" pitchFamily="34" charset="-122"/>
              </a:rPr>
              <a:t>提供了</a:t>
            </a:r>
            <a:r>
              <a:rPr lang="zh-CN" altLang="en-US" sz="1865" b="1" u="sng" dirty="0">
                <a:solidFill>
                  <a:schemeClr val="accent1">
                    <a:lumMod val="75000"/>
                  </a:schemeClr>
                </a:solidFill>
                <a:latin typeface="微软雅黑" panose="020B0503020204020204" pitchFamily="34" charset="-122"/>
                <a:ea typeface="微软雅黑" panose="020B0503020204020204" pitchFamily="34" charset="-122"/>
              </a:rPr>
              <a:t>从前向后排、从后向前通过</a:t>
            </a:r>
            <a:r>
              <a:rPr lang="en-US" altLang="zh-CN" sz="1865" b="1" u="sng" dirty="0">
                <a:solidFill>
                  <a:schemeClr val="accent1">
                    <a:lumMod val="75000"/>
                  </a:schemeClr>
                </a:solidFill>
                <a:latin typeface="微软雅黑" panose="020B0503020204020204" pitchFamily="34" charset="-122"/>
                <a:ea typeface="微软雅黑" panose="020B0503020204020204" pitchFamily="34" charset="-122"/>
              </a:rPr>
              <a:t>Leadtime</a:t>
            </a:r>
            <a:r>
              <a:rPr lang="zh-CN" altLang="en-US" sz="1865" b="1" u="sng" dirty="0">
                <a:solidFill>
                  <a:schemeClr val="accent1">
                    <a:lumMod val="75000"/>
                  </a:schemeClr>
                </a:solidFill>
                <a:latin typeface="微软雅黑" panose="020B0503020204020204" pitchFamily="34" charset="-122"/>
                <a:ea typeface="微软雅黑" panose="020B0503020204020204" pitchFamily="34" charset="-122"/>
              </a:rPr>
              <a:t>排产的逻辑</a:t>
            </a:r>
            <a:r>
              <a:rPr lang="zh-CN" altLang="en-US" sz="1865" dirty="0">
                <a:solidFill>
                  <a:schemeClr val="accent1">
                    <a:lumMod val="75000"/>
                  </a:schemeClr>
                </a:solidFill>
                <a:latin typeface="微软雅黑" panose="020B0503020204020204" pitchFamily="34" charset="-122"/>
                <a:ea typeface="微软雅黑" panose="020B0503020204020204" pitchFamily="34" charset="-122"/>
              </a:rPr>
              <a:t>，</a:t>
            </a:r>
            <a:r>
              <a:rPr lang="zh-CN" altLang="en-US" sz="1865" b="1" u="sng" dirty="0">
                <a:solidFill>
                  <a:schemeClr val="accent1">
                    <a:lumMod val="75000"/>
                  </a:schemeClr>
                </a:solidFill>
                <a:latin typeface="微软雅黑" panose="020B0503020204020204" pitchFamily="34" charset="-122"/>
                <a:ea typeface="微软雅黑" panose="020B0503020204020204" pitchFamily="34" charset="-122"/>
              </a:rPr>
              <a:t>体现在生产订单开始时间和完成时间未来和实际生产订单完工入库时间做对比</a:t>
            </a:r>
          </a:p>
        </p:txBody>
      </p:sp>
      <p:sp>
        <p:nvSpPr>
          <p:cNvPr id="3" name="文本框 2">
            <a:extLst>
              <a:ext uri="{FF2B5EF4-FFF2-40B4-BE49-F238E27FC236}">
                <a16:creationId xmlns:a16="http://schemas.microsoft.com/office/drawing/2014/main" id="{B5100A9F-1AF2-91EA-75EE-8D2B3AE47546}"/>
              </a:ext>
            </a:extLst>
          </p:cNvPr>
          <p:cNvSpPr txBox="1"/>
          <p:nvPr/>
        </p:nvSpPr>
        <p:spPr>
          <a:xfrm>
            <a:off x="11300723" y="6602599"/>
            <a:ext cx="0" cy="0"/>
          </a:xfrm>
          <a:prstGeom prst="rect">
            <a:avLst/>
          </a:prstGeom>
          <a:noFill/>
        </p:spPr>
        <p:txBody>
          <a:bodyPr wrap="none" rtlCol="0">
            <a:noAutofit/>
          </a:bodyPr>
          <a:lstStyle/>
          <a:p>
            <a:pPr algn="l"/>
            <a:endParaRPr lang="zh-CN" altLang="en-US" dirty="0" err="1">
              <a:solidFill>
                <a:schemeClr val="accent3"/>
              </a:solidFill>
            </a:endParaRPr>
          </a:p>
        </p:txBody>
      </p:sp>
      <p:sp>
        <p:nvSpPr>
          <p:cNvPr id="4" name="文本框 3">
            <a:extLst>
              <a:ext uri="{FF2B5EF4-FFF2-40B4-BE49-F238E27FC236}">
                <a16:creationId xmlns:a16="http://schemas.microsoft.com/office/drawing/2014/main" id="{1987F454-FF75-76B5-03F3-4D3FC1D2738C}"/>
              </a:ext>
            </a:extLst>
          </p:cNvPr>
          <p:cNvSpPr txBox="1"/>
          <p:nvPr/>
        </p:nvSpPr>
        <p:spPr>
          <a:xfrm>
            <a:off x="11124149" y="6520618"/>
            <a:ext cx="0" cy="0"/>
          </a:xfrm>
          <a:prstGeom prst="rect">
            <a:avLst/>
          </a:prstGeom>
          <a:noFill/>
        </p:spPr>
        <p:txBody>
          <a:bodyPr wrap="none" rtlCol="0">
            <a:noAutofit/>
          </a:bodyPr>
          <a:lstStyle/>
          <a:p>
            <a:pPr algn="l"/>
            <a:endParaRPr lang="zh-CN" altLang="en-US" dirty="0" err="1">
              <a:solidFill>
                <a:schemeClr val="accent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2262502" y="2339893"/>
            <a:ext cx="2320369" cy="966547"/>
          </a:xfrm>
          <a:prstGeom prst="ellipse">
            <a:avLst/>
          </a:prstGeom>
          <a:solidFill>
            <a:schemeClr val="accent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000" b="1" dirty="0">
                <a:solidFill>
                  <a:schemeClr val="bg1"/>
                </a:solidFill>
              </a:rPr>
              <a:t>计划产出产</a:t>
            </a:r>
          </a:p>
        </p:txBody>
      </p:sp>
      <p:sp>
        <p:nvSpPr>
          <p:cNvPr id="4" name="椭圆 3"/>
          <p:cNvSpPr/>
          <p:nvPr/>
        </p:nvSpPr>
        <p:spPr>
          <a:xfrm>
            <a:off x="6632035" y="2211822"/>
            <a:ext cx="1845511" cy="1233032"/>
          </a:xfrm>
          <a:prstGeom prst="ellipse">
            <a:avLst/>
          </a:prstGeom>
          <a:solidFill>
            <a:schemeClr val="accent1"/>
          </a:solidFill>
        </p:spPr>
        <p:style>
          <a:lnRef idx="0">
            <a:schemeClr val="accent5"/>
          </a:lnRef>
          <a:fillRef idx="3">
            <a:schemeClr val="accent5"/>
          </a:fillRef>
          <a:effectRef idx="3">
            <a:schemeClr val="accent5"/>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2000" b="1" dirty="0">
                <a:solidFill>
                  <a:schemeClr val="bg1"/>
                </a:solidFill>
                <a:sym typeface="+mn-ea"/>
              </a:rPr>
              <a:t>车间实际产出入库数量</a:t>
            </a:r>
          </a:p>
        </p:txBody>
      </p:sp>
      <p:sp>
        <p:nvSpPr>
          <p:cNvPr id="5" name="AutoShape 4"/>
          <p:cNvSpPr>
            <a:spLocks noChangeArrowheads="1"/>
          </p:cNvSpPr>
          <p:nvPr/>
        </p:nvSpPr>
        <p:spPr bwMode="auto">
          <a:xfrm>
            <a:off x="4741860" y="4912865"/>
            <a:ext cx="1295400" cy="865188"/>
          </a:xfrm>
          <a:prstGeom prst="triangle">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sp>
        <p:nvSpPr>
          <p:cNvPr id="6" name="Rectangle 5" descr="纸莎草纸"/>
          <p:cNvSpPr>
            <a:spLocks noChangeArrowheads="1"/>
          </p:cNvSpPr>
          <p:nvPr/>
        </p:nvSpPr>
        <p:spPr bwMode="auto">
          <a:xfrm>
            <a:off x="1758967" y="4877940"/>
            <a:ext cx="7058025" cy="69850"/>
          </a:xfrm>
          <a:prstGeom prst="rect">
            <a:avLst/>
          </a:prstGeom>
          <a:blipFill dpi="0" rotWithShape="1">
            <a:blip r:embed="rId2"/>
            <a:srcRect/>
            <a:tile tx="0" ty="0" sx="100000" sy="100000" flip="none" algn="tl"/>
          </a:blipFill>
          <a:ln>
            <a:noFill/>
          </a:ln>
          <a:effectLst/>
          <a:scene3d>
            <a:camera prst="legacyObliqueTopRight"/>
            <a:lightRig rig="legacyFlat3" dir="b"/>
          </a:scene3d>
          <a:sp3d extrusionH="430200" prstMaterial="legacyMatte">
            <a:bevelT w="13500" h="13500" prst="angle"/>
            <a:bevelB w="13500" h="13500" prst="angle"/>
            <a:extrusionClr>
              <a:srgbClr val="FFCC99"/>
            </a:extrusionClr>
            <a:contourClr>
              <a:srgbClr val="FFCC99"/>
            </a:contourClr>
          </a:sp3d>
          <a:extLst>
            <a:ext uri="{91240B29-F687-4F45-9708-019B960494DF}">
              <a14:hiddenLine xmlns:a14="http://schemas.microsoft.com/office/drawing/2010/main" w="19050">
                <a:no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flatTx/>
          </a:bodyPr>
          <a:lstStyle/>
          <a:p>
            <a:endParaRPr lang="zh-CN" altLang="en-US" b="1"/>
          </a:p>
        </p:txBody>
      </p:sp>
      <p:sp>
        <p:nvSpPr>
          <p:cNvPr id="7" name="Text Box 6"/>
          <p:cNvSpPr txBox="1">
            <a:spLocks noChangeArrowheads="1"/>
          </p:cNvSpPr>
          <p:nvPr/>
        </p:nvSpPr>
        <p:spPr bwMode="auto">
          <a:xfrm>
            <a:off x="4880630" y="5324826"/>
            <a:ext cx="1338828" cy="369332"/>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spAutoFit/>
          </a:bodyPr>
          <a:lstStyle/>
          <a:p>
            <a:r>
              <a:rPr lang="zh-CN" altLang="en-US" sz="1800" b="1" dirty="0">
                <a:solidFill>
                  <a:schemeClr val="bg1"/>
                </a:solidFill>
              </a:rPr>
              <a:t>产销协调会</a:t>
            </a:r>
          </a:p>
        </p:txBody>
      </p:sp>
      <p:sp>
        <p:nvSpPr>
          <p:cNvPr id="8" name="Rectangle 7"/>
          <p:cNvSpPr>
            <a:spLocks noChangeArrowheads="1"/>
          </p:cNvSpPr>
          <p:nvPr/>
        </p:nvSpPr>
        <p:spPr bwMode="auto">
          <a:xfrm>
            <a:off x="2117667" y="4335312"/>
            <a:ext cx="2665115" cy="469206"/>
          </a:xfrm>
          <a:prstGeom prst="cube">
            <a:avLst>
              <a:gd name="adj" fmla="val 38200"/>
            </a:avLst>
          </a:prstGeom>
          <a:solidFill>
            <a:srgbClr val="00CCFF"/>
          </a:solidFill>
          <a:ln>
            <a:solidFill>
              <a:schemeClr val="bg1">
                <a:lumMod val="95000"/>
              </a:schemeClr>
            </a:solidFill>
          </a:ln>
          <a:effectLst/>
          <a:scene3d>
            <a:camera prst="legacyObliqueTopRight"/>
            <a:lightRig rig="legacyFlat3" dir="b"/>
          </a:scene3d>
          <a:sp3d extrusionH="430200" prstMaterial="legacyMatte">
            <a:bevelT w="13500" h="13500" prst="angle"/>
            <a:bevelB w="13500" h="13500" prst="angle"/>
            <a:extrusionClr>
              <a:schemeClr val="tx2"/>
            </a:extrusionClr>
            <a:contourClr>
              <a:schemeClr val="tx2"/>
            </a:contourClr>
          </a:sp3d>
        </p:spPr>
        <p:txBody>
          <a:bodyPr wrap="none" anchor="ctr">
            <a:flatTx/>
          </a:bodyPr>
          <a:lstStyle/>
          <a:p>
            <a:pPr algn="ctr"/>
            <a:r>
              <a:rPr lang="en-US" altLang="zh-CN" b="1" dirty="0">
                <a:solidFill>
                  <a:schemeClr val="bg1"/>
                </a:solidFill>
              </a:rPr>
              <a:t>N</a:t>
            </a:r>
            <a:r>
              <a:rPr lang="zh-CN" altLang="en-US" sz="1800" b="1" dirty="0">
                <a:solidFill>
                  <a:schemeClr val="bg1"/>
                </a:solidFill>
              </a:rPr>
              <a:t>月滚动生产计划</a:t>
            </a:r>
          </a:p>
        </p:txBody>
      </p:sp>
      <p:sp>
        <p:nvSpPr>
          <p:cNvPr id="9" name="Rectangle 7"/>
          <p:cNvSpPr>
            <a:spLocks noChangeArrowheads="1"/>
          </p:cNvSpPr>
          <p:nvPr/>
        </p:nvSpPr>
        <p:spPr bwMode="auto">
          <a:xfrm>
            <a:off x="6224704" y="4335312"/>
            <a:ext cx="2664296" cy="469206"/>
          </a:xfrm>
          <a:prstGeom prst="cube">
            <a:avLst>
              <a:gd name="adj" fmla="val 38200"/>
            </a:avLst>
          </a:prstGeom>
          <a:solidFill>
            <a:srgbClr val="00CCFF"/>
          </a:solidFill>
          <a:ln>
            <a:solidFill>
              <a:schemeClr val="bg1">
                <a:lumMod val="95000"/>
              </a:schemeClr>
            </a:solidFill>
          </a:ln>
          <a:effectLst/>
          <a:scene3d>
            <a:camera prst="legacyObliqueTopRight"/>
            <a:lightRig rig="legacyFlat3" dir="b"/>
          </a:scene3d>
          <a:sp3d extrusionH="430200" prstMaterial="legacyMatte">
            <a:bevelT w="13500" h="13500" prst="angle"/>
            <a:bevelB w="13500" h="13500" prst="angle"/>
            <a:extrusionClr>
              <a:schemeClr val="tx2"/>
            </a:extrusionClr>
            <a:contourClr>
              <a:schemeClr val="tx2"/>
            </a:contourClr>
          </a:sp3d>
        </p:spPr>
        <p:txBody>
          <a:bodyPr wrap="none" anchor="ctr">
            <a:noAutofit/>
            <a:flatTx/>
          </a:bodyPr>
          <a:lstStyle/>
          <a:p>
            <a:pPr lvl="0" algn="ctr">
              <a:buClrTx/>
              <a:buSzTx/>
              <a:buFontTx/>
            </a:pPr>
            <a:r>
              <a:rPr lang="zh-CN" altLang="en-US" b="1" dirty="0">
                <a:solidFill>
                  <a:schemeClr val="bg1"/>
                </a:solidFill>
                <a:sym typeface="+mn-ea"/>
              </a:rPr>
              <a:t>N月度实际产出入库数</a:t>
            </a:r>
          </a:p>
        </p:txBody>
      </p:sp>
      <p:sp>
        <p:nvSpPr>
          <p:cNvPr id="10" name="Rectangle 7"/>
          <p:cNvSpPr>
            <a:spLocks noChangeArrowheads="1"/>
          </p:cNvSpPr>
          <p:nvPr/>
        </p:nvSpPr>
        <p:spPr bwMode="auto">
          <a:xfrm>
            <a:off x="2262502" y="3976934"/>
            <a:ext cx="2376264" cy="469206"/>
          </a:xfrm>
          <a:prstGeom prst="cube">
            <a:avLst>
              <a:gd name="adj" fmla="val 38200"/>
            </a:avLst>
          </a:prstGeom>
          <a:solidFill>
            <a:srgbClr val="00CCFF"/>
          </a:solidFill>
          <a:ln>
            <a:solidFill>
              <a:schemeClr val="bg1">
                <a:lumMod val="95000"/>
              </a:schemeClr>
            </a:solidFill>
          </a:ln>
          <a:effectLst/>
          <a:scene3d>
            <a:camera prst="legacyObliqueTopRight"/>
            <a:lightRig rig="legacyFlat3" dir="b"/>
          </a:scene3d>
          <a:sp3d extrusionH="430200" prstMaterial="legacyMatte">
            <a:bevelT w="13500" h="13500" prst="angle"/>
            <a:bevelB w="13500" h="13500" prst="angle"/>
            <a:extrusionClr>
              <a:schemeClr val="tx2"/>
            </a:extrusionClr>
            <a:contourClr>
              <a:schemeClr val="tx2"/>
            </a:contourClr>
          </a:sp3d>
        </p:spPr>
        <p:txBody>
          <a:bodyPr wrap="none" anchor="ctr">
            <a:flatTx/>
          </a:bodyPr>
          <a:lstStyle/>
          <a:p>
            <a:pPr algn="ctr"/>
            <a:r>
              <a:rPr lang="zh-CN" altLang="en-US" sz="1800" b="1" dirty="0">
                <a:solidFill>
                  <a:schemeClr val="bg1"/>
                </a:solidFill>
              </a:rPr>
              <a:t>双周滚动生产计划</a:t>
            </a:r>
          </a:p>
        </p:txBody>
      </p:sp>
      <p:sp>
        <p:nvSpPr>
          <p:cNvPr id="11" name="Rectangle 7"/>
          <p:cNvSpPr>
            <a:spLocks noChangeArrowheads="1"/>
          </p:cNvSpPr>
          <p:nvPr/>
        </p:nvSpPr>
        <p:spPr bwMode="auto">
          <a:xfrm>
            <a:off x="2579630" y="3609254"/>
            <a:ext cx="1771104" cy="469206"/>
          </a:xfrm>
          <a:prstGeom prst="cube">
            <a:avLst>
              <a:gd name="adj" fmla="val 38200"/>
            </a:avLst>
          </a:prstGeom>
          <a:solidFill>
            <a:srgbClr val="00CCFF"/>
          </a:solidFill>
          <a:ln>
            <a:solidFill>
              <a:schemeClr val="bg1">
                <a:lumMod val="95000"/>
              </a:schemeClr>
            </a:solidFill>
          </a:ln>
          <a:effectLst/>
          <a:scene3d>
            <a:camera prst="legacyObliqueTopRight"/>
            <a:lightRig rig="legacyFlat3" dir="b"/>
          </a:scene3d>
          <a:sp3d extrusionH="430200" prstMaterial="legacyMatte">
            <a:bevelT w="13500" h="13500" prst="angle"/>
            <a:bevelB w="13500" h="13500" prst="angle"/>
            <a:extrusionClr>
              <a:schemeClr val="tx2"/>
            </a:extrusionClr>
            <a:contourClr>
              <a:schemeClr val="tx2"/>
            </a:contourClr>
          </a:sp3d>
        </p:spPr>
        <p:txBody>
          <a:bodyPr wrap="none" anchor="ctr">
            <a:flatTx/>
          </a:bodyPr>
          <a:lstStyle/>
          <a:p>
            <a:pPr algn="ctr"/>
            <a:r>
              <a:rPr lang="zh-CN" altLang="en-US" sz="1800" b="1" dirty="0">
                <a:solidFill>
                  <a:schemeClr val="bg1"/>
                </a:solidFill>
              </a:rPr>
              <a:t>日生产计划</a:t>
            </a:r>
          </a:p>
        </p:txBody>
      </p:sp>
      <p:sp>
        <p:nvSpPr>
          <p:cNvPr id="12" name="Rectangle 7"/>
          <p:cNvSpPr>
            <a:spLocks noChangeArrowheads="1"/>
          </p:cNvSpPr>
          <p:nvPr/>
        </p:nvSpPr>
        <p:spPr bwMode="auto">
          <a:xfrm>
            <a:off x="6366361" y="3970708"/>
            <a:ext cx="2376861" cy="469206"/>
          </a:xfrm>
          <a:prstGeom prst="cube">
            <a:avLst>
              <a:gd name="adj" fmla="val 38200"/>
            </a:avLst>
          </a:prstGeom>
          <a:solidFill>
            <a:srgbClr val="00CCFF"/>
          </a:solidFill>
          <a:ln>
            <a:solidFill>
              <a:schemeClr val="bg1">
                <a:lumMod val="95000"/>
              </a:schemeClr>
            </a:solidFill>
          </a:ln>
          <a:effectLst/>
          <a:scene3d>
            <a:camera prst="legacyObliqueTopRight"/>
            <a:lightRig rig="legacyFlat3" dir="b"/>
          </a:scene3d>
          <a:sp3d extrusionH="430200" prstMaterial="legacyMatte">
            <a:bevelT w="13500" h="13500" prst="angle"/>
            <a:bevelB w="13500" h="13500" prst="angle"/>
            <a:extrusionClr>
              <a:schemeClr val="tx2"/>
            </a:extrusionClr>
            <a:contourClr>
              <a:schemeClr val="tx2"/>
            </a:contourClr>
          </a:sp3d>
        </p:spPr>
        <p:txBody>
          <a:bodyPr wrap="none" anchor="ctr">
            <a:noAutofit/>
            <a:flatTx/>
          </a:bodyPr>
          <a:lstStyle/>
          <a:p>
            <a:pPr lvl="0" algn="ctr">
              <a:buClrTx/>
              <a:buSzTx/>
              <a:buFontTx/>
            </a:pPr>
            <a:r>
              <a:rPr lang="zh-CN" altLang="en-US" b="1" dirty="0">
                <a:solidFill>
                  <a:schemeClr val="bg1"/>
                </a:solidFill>
                <a:sym typeface="+mn-ea"/>
              </a:rPr>
              <a:t>双周产出入库数</a:t>
            </a:r>
          </a:p>
        </p:txBody>
      </p:sp>
      <p:sp>
        <p:nvSpPr>
          <p:cNvPr id="13" name="Rectangle 7"/>
          <p:cNvSpPr>
            <a:spLocks noChangeArrowheads="1"/>
          </p:cNvSpPr>
          <p:nvPr/>
        </p:nvSpPr>
        <p:spPr bwMode="auto">
          <a:xfrm>
            <a:off x="6728760" y="3594792"/>
            <a:ext cx="1765092" cy="469206"/>
          </a:xfrm>
          <a:prstGeom prst="cube">
            <a:avLst>
              <a:gd name="adj" fmla="val 38200"/>
            </a:avLst>
          </a:prstGeom>
          <a:solidFill>
            <a:srgbClr val="00CCFF"/>
          </a:solidFill>
          <a:ln>
            <a:solidFill>
              <a:schemeClr val="bg1">
                <a:lumMod val="95000"/>
              </a:schemeClr>
            </a:solidFill>
          </a:ln>
          <a:effectLst/>
          <a:scene3d>
            <a:camera prst="legacyObliqueTopRight"/>
            <a:lightRig rig="legacyFlat3" dir="b"/>
          </a:scene3d>
          <a:sp3d extrusionH="430200" prstMaterial="legacyMatte">
            <a:bevelT w="13500" h="13500" prst="angle"/>
            <a:bevelB w="13500" h="13500" prst="angle"/>
            <a:extrusionClr>
              <a:schemeClr val="tx2"/>
            </a:extrusionClr>
            <a:contourClr>
              <a:schemeClr val="tx2"/>
            </a:contourClr>
          </a:sp3d>
        </p:spPr>
        <p:txBody>
          <a:bodyPr wrap="none" anchor="ctr">
            <a:noAutofit/>
            <a:flatTx/>
          </a:bodyPr>
          <a:lstStyle/>
          <a:p>
            <a:pPr lvl="0" algn="ctr">
              <a:buClrTx/>
              <a:buSzTx/>
              <a:buFontTx/>
            </a:pPr>
            <a:r>
              <a:rPr lang="zh-CN" altLang="en-US" b="1" dirty="0">
                <a:solidFill>
                  <a:schemeClr val="bg1"/>
                </a:solidFill>
                <a:sym typeface="+mn-ea"/>
              </a:rPr>
              <a:t>日产出入库数</a:t>
            </a:r>
          </a:p>
        </p:txBody>
      </p:sp>
      <p:sp>
        <p:nvSpPr>
          <p:cNvPr id="14" name="左弧形箭头 13"/>
          <p:cNvSpPr/>
          <p:nvPr/>
        </p:nvSpPr>
        <p:spPr>
          <a:xfrm rot="1311817">
            <a:off x="2022052" y="3611497"/>
            <a:ext cx="270115" cy="533326"/>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endParaRPr>
          </a:p>
        </p:txBody>
      </p:sp>
      <p:sp>
        <p:nvSpPr>
          <p:cNvPr id="15" name="左弧形箭头 14"/>
          <p:cNvSpPr/>
          <p:nvPr/>
        </p:nvSpPr>
        <p:spPr>
          <a:xfrm rot="1311817">
            <a:off x="1804719" y="4158199"/>
            <a:ext cx="270115" cy="533326"/>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endParaRPr>
          </a:p>
        </p:txBody>
      </p:sp>
      <p:sp>
        <p:nvSpPr>
          <p:cNvPr id="16" name="左弧形箭头 15"/>
          <p:cNvSpPr/>
          <p:nvPr/>
        </p:nvSpPr>
        <p:spPr>
          <a:xfrm rot="19525358" flipH="1">
            <a:off x="8692809" y="3471505"/>
            <a:ext cx="207683" cy="53167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endParaRPr>
          </a:p>
        </p:txBody>
      </p:sp>
      <p:sp>
        <p:nvSpPr>
          <p:cNvPr id="17" name="左弧形箭头 16"/>
          <p:cNvSpPr/>
          <p:nvPr/>
        </p:nvSpPr>
        <p:spPr>
          <a:xfrm rot="20333415" flipH="1">
            <a:off x="8974758" y="4107873"/>
            <a:ext cx="260821" cy="52321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endParaRPr>
          </a:p>
        </p:txBody>
      </p:sp>
      <p:sp>
        <p:nvSpPr>
          <p:cNvPr id="18" name="左右箭头 17"/>
          <p:cNvSpPr/>
          <p:nvPr/>
        </p:nvSpPr>
        <p:spPr>
          <a:xfrm>
            <a:off x="5072576" y="4511922"/>
            <a:ext cx="790078" cy="14858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9" name="左右箭头 18"/>
          <p:cNvSpPr/>
          <p:nvPr/>
        </p:nvSpPr>
        <p:spPr>
          <a:xfrm>
            <a:off x="5072576" y="4181476"/>
            <a:ext cx="790078" cy="14858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0" name="左右箭头 19"/>
          <p:cNvSpPr/>
          <p:nvPr/>
        </p:nvSpPr>
        <p:spPr>
          <a:xfrm>
            <a:off x="5072576" y="3796406"/>
            <a:ext cx="790078" cy="14858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nvGrpSpPr>
          <p:cNvPr id="21" name="组合 20"/>
          <p:cNvGrpSpPr/>
          <p:nvPr/>
        </p:nvGrpSpPr>
        <p:grpSpPr>
          <a:xfrm>
            <a:off x="4796345" y="2305723"/>
            <a:ext cx="1284343" cy="1209526"/>
            <a:chOff x="3522142" y="1305024"/>
            <a:chExt cx="1983604" cy="1885628"/>
          </a:xfrm>
        </p:grpSpPr>
        <p:sp>
          <p:nvSpPr>
            <p:cNvPr id="22" name="Oval 49"/>
            <p:cNvSpPr>
              <a:spLocks noChangeArrowheads="1"/>
            </p:cNvSpPr>
            <p:nvPr/>
          </p:nvSpPr>
          <p:spPr bwMode="gray">
            <a:xfrm>
              <a:off x="3522142" y="1305024"/>
              <a:ext cx="1983604" cy="1885628"/>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ln>
            <a:effectLst/>
          </p:spPr>
          <p:txBody>
            <a:bodyPr wrap="square" anchor="ctr">
              <a:spAutoFit/>
            </a:bodyPr>
            <a:lstStyle/>
            <a:p>
              <a:pPr eaLnBrk="1" hangingPunct="1">
                <a:defRPr/>
              </a:pPr>
              <a:endParaRPr lang="zh-CN" altLang="en-US">
                <a:latin typeface="Arial" panose="020B0604020202020204" pitchFamily="34" charset="0"/>
                <a:ea typeface="宋体" panose="02010600030101010101" pitchFamily="2" charset="-122"/>
              </a:endParaRPr>
            </a:p>
          </p:txBody>
        </p:sp>
        <p:sp>
          <p:nvSpPr>
            <p:cNvPr id="23" name="Oval 50"/>
            <p:cNvSpPr>
              <a:spLocks noChangeArrowheads="1"/>
            </p:cNvSpPr>
            <p:nvPr/>
          </p:nvSpPr>
          <p:spPr bwMode="gray">
            <a:xfrm>
              <a:off x="3522142" y="1305024"/>
              <a:ext cx="1983604" cy="1885628"/>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ln>
            <a:effectLst/>
          </p:spPr>
          <p:txBody>
            <a:bodyPr wrap="square" anchor="ctr">
              <a:spAutoFit/>
            </a:bodyPr>
            <a:lstStyle/>
            <a:p>
              <a:pPr eaLnBrk="1" hangingPunct="1">
                <a:defRPr/>
              </a:pPr>
              <a:endParaRPr lang="zh-CN" altLang="en-US">
                <a:latin typeface="Arial" panose="020B0604020202020204" pitchFamily="34" charset="0"/>
                <a:ea typeface="宋体" panose="02010600030101010101" pitchFamily="2" charset="-122"/>
              </a:endParaRPr>
            </a:p>
          </p:txBody>
        </p:sp>
        <p:sp>
          <p:nvSpPr>
            <p:cNvPr id="24" name="Oval 51"/>
            <p:cNvSpPr>
              <a:spLocks noChangeArrowheads="1"/>
            </p:cNvSpPr>
            <p:nvPr/>
          </p:nvSpPr>
          <p:spPr bwMode="gray">
            <a:xfrm>
              <a:off x="3652316" y="1421061"/>
              <a:ext cx="1723563" cy="1639415"/>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ln>
            <a:effectLst/>
          </p:spPr>
          <p:txBody>
            <a:bodyPr wrap="square" anchor="ctr">
              <a:spAutoFit/>
            </a:bodyPr>
            <a:lstStyle/>
            <a:p>
              <a:pPr eaLnBrk="1" hangingPunct="1">
                <a:defRPr/>
              </a:pPr>
              <a:endParaRPr lang="zh-CN" altLang="en-US">
                <a:latin typeface="Arial" panose="020B0604020202020204" pitchFamily="34" charset="0"/>
                <a:ea typeface="宋体" panose="02010600030101010101" pitchFamily="2" charset="-122"/>
              </a:endParaRPr>
            </a:p>
          </p:txBody>
        </p:sp>
        <p:sp>
          <p:nvSpPr>
            <p:cNvPr id="25" name="Oval 52"/>
            <p:cNvSpPr>
              <a:spLocks noChangeArrowheads="1"/>
            </p:cNvSpPr>
            <p:nvPr/>
          </p:nvSpPr>
          <p:spPr bwMode="gray">
            <a:xfrm>
              <a:off x="3653904" y="1424236"/>
              <a:ext cx="1723562" cy="1639415"/>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ln>
            <a:effectLst/>
          </p:spPr>
          <p:txBody>
            <a:bodyPr wrap="square" anchor="ctr">
              <a:spAutoFit/>
            </a:bodyPr>
            <a:lstStyle/>
            <a:p>
              <a:pPr eaLnBrk="1" hangingPunct="1">
                <a:defRPr/>
              </a:pPr>
              <a:endParaRPr lang="zh-CN" altLang="en-US">
                <a:latin typeface="Arial" panose="020B0604020202020204" pitchFamily="34" charset="0"/>
                <a:ea typeface="宋体" panose="02010600030101010101" pitchFamily="2" charset="-122"/>
              </a:endParaRPr>
            </a:p>
          </p:txBody>
        </p:sp>
        <p:sp>
          <p:nvSpPr>
            <p:cNvPr id="26" name="Oval 53"/>
            <p:cNvSpPr>
              <a:spLocks noChangeArrowheads="1"/>
            </p:cNvSpPr>
            <p:nvPr/>
          </p:nvSpPr>
          <p:spPr bwMode="gray">
            <a:xfrm>
              <a:off x="3738041" y="1497390"/>
              <a:ext cx="1552317" cy="1475775"/>
            </a:xfrm>
            <a:prstGeom prst="ellipse">
              <a:avLst/>
            </a:prstGeom>
            <a:solidFill>
              <a:srgbClr val="333333"/>
            </a:solidFill>
            <a:ln>
              <a:noFill/>
            </a:ln>
            <a:extLst>
              <a:ext uri="{91240B29-F687-4F45-9708-019B960494DF}">
                <a14:hiddenLine xmlns:a14="http://schemas.microsoft.com/office/drawing/2010/main" w="38100">
                  <a:solidFill>
                    <a:srgbClr val="000000"/>
                  </a:solidFill>
                  <a:round/>
                </a14:hiddenLine>
              </a:ext>
            </a:extLst>
          </p:spPr>
          <p:txBody>
            <a:bodyPr wrap="square" anchor="ctr">
              <a:spAutoFit/>
            </a:bodyPr>
            <a:lstStyle>
              <a:lvl1pPr>
                <a:spcBef>
                  <a:spcPct val="20000"/>
                </a:spcBef>
                <a:buClr>
                  <a:schemeClr val="tx2"/>
                </a:buClr>
                <a:buFont typeface="Wingdings" panose="05000000000000000000" pitchFamily="2" charset="2"/>
                <a:buChar char="v"/>
                <a:defRPr sz="28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chemeClr val="tx1"/>
                  </a:solidFill>
                  <a:latin typeface="Arial" panose="020B0604020202020204" pitchFamily="34" charset="0"/>
                </a:defRPr>
              </a:lvl2pPr>
              <a:lvl3pPr marL="1143000" indent="-228600">
                <a:spcBef>
                  <a:spcPct val="20000"/>
                </a:spcBef>
                <a:buClr>
                  <a:schemeClr val="accent2"/>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a:ea typeface="宋体" panose="02010600030101010101" pitchFamily="2" charset="-122"/>
              </a:endParaRPr>
            </a:p>
          </p:txBody>
        </p:sp>
        <p:grpSp>
          <p:nvGrpSpPr>
            <p:cNvPr id="27" name="Group 54"/>
            <p:cNvGrpSpPr/>
            <p:nvPr/>
          </p:nvGrpSpPr>
          <p:grpSpPr bwMode="auto">
            <a:xfrm>
              <a:off x="3763441" y="1512181"/>
              <a:ext cx="1501577" cy="1429234"/>
              <a:chOff x="4166" y="1706"/>
              <a:chExt cx="1252" cy="1252"/>
            </a:xfrm>
          </p:grpSpPr>
          <p:sp>
            <p:nvSpPr>
              <p:cNvPr id="29" name="Oval 55"/>
              <p:cNvSpPr>
                <a:spLocks noChangeArrowheads="1"/>
              </p:cNvSpPr>
              <p:nvPr/>
            </p:nvSpPr>
            <p:spPr bwMode="gray">
              <a:xfrm>
                <a:off x="4166" y="1706"/>
                <a:ext cx="1252" cy="1252"/>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tx2"/>
                  </a:buClr>
                  <a:buFont typeface="Wingdings" panose="05000000000000000000" pitchFamily="2" charset="2"/>
                  <a:buChar char="v"/>
                  <a:defRPr sz="28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chemeClr val="tx1"/>
                    </a:solidFill>
                    <a:latin typeface="Arial" panose="020B0604020202020204" pitchFamily="34" charset="0"/>
                  </a:defRPr>
                </a:lvl2pPr>
                <a:lvl3pPr marL="1143000" indent="-228600">
                  <a:spcBef>
                    <a:spcPct val="20000"/>
                  </a:spcBef>
                  <a:buClr>
                    <a:schemeClr val="accent2"/>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a:ea typeface="宋体" panose="02010600030101010101" pitchFamily="2" charset="-122"/>
                </a:endParaRPr>
              </a:p>
            </p:txBody>
          </p:sp>
          <p:sp>
            <p:nvSpPr>
              <p:cNvPr id="30" name="Oval 56"/>
              <p:cNvSpPr>
                <a:spLocks noChangeArrowheads="1"/>
              </p:cNvSpPr>
              <p:nvPr/>
            </p:nvSpPr>
            <p:spPr bwMode="gray">
              <a:xfrm>
                <a:off x="4182" y="1713"/>
                <a:ext cx="1222" cy="122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tx2"/>
                  </a:buClr>
                  <a:buFont typeface="Wingdings" panose="05000000000000000000" pitchFamily="2" charset="2"/>
                  <a:buChar char="v"/>
                  <a:defRPr sz="28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chemeClr val="tx1"/>
                    </a:solidFill>
                    <a:latin typeface="Arial" panose="020B0604020202020204" pitchFamily="34" charset="0"/>
                  </a:defRPr>
                </a:lvl2pPr>
                <a:lvl3pPr marL="1143000" indent="-228600">
                  <a:spcBef>
                    <a:spcPct val="20000"/>
                  </a:spcBef>
                  <a:buClr>
                    <a:schemeClr val="accent2"/>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a:ea typeface="宋体" panose="02010600030101010101" pitchFamily="2" charset="-122"/>
                </a:endParaRPr>
              </a:p>
            </p:txBody>
          </p:sp>
          <p:sp>
            <p:nvSpPr>
              <p:cNvPr id="31" name="Oval 57"/>
              <p:cNvSpPr>
                <a:spLocks noChangeArrowheads="1"/>
              </p:cNvSpPr>
              <p:nvPr/>
            </p:nvSpPr>
            <p:spPr bwMode="gray">
              <a:xfrm>
                <a:off x="4195" y="1725"/>
                <a:ext cx="1162" cy="1141"/>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tx2"/>
                  </a:buClr>
                  <a:buFont typeface="Wingdings" panose="05000000000000000000" pitchFamily="2" charset="2"/>
                  <a:buChar char="v"/>
                  <a:defRPr sz="28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chemeClr val="tx1"/>
                    </a:solidFill>
                    <a:latin typeface="Arial" panose="020B0604020202020204" pitchFamily="34" charset="0"/>
                  </a:defRPr>
                </a:lvl2pPr>
                <a:lvl3pPr marL="1143000" indent="-228600">
                  <a:spcBef>
                    <a:spcPct val="20000"/>
                  </a:spcBef>
                  <a:buClr>
                    <a:schemeClr val="accent2"/>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a:ea typeface="宋体" panose="02010600030101010101" pitchFamily="2" charset="-122"/>
                </a:endParaRPr>
              </a:p>
            </p:txBody>
          </p:sp>
          <p:sp>
            <p:nvSpPr>
              <p:cNvPr id="32" name="Oval 58"/>
              <p:cNvSpPr>
                <a:spLocks noChangeArrowheads="1"/>
              </p:cNvSpPr>
              <p:nvPr/>
            </p:nvSpPr>
            <p:spPr bwMode="gray">
              <a:xfrm>
                <a:off x="4263" y="1757"/>
                <a:ext cx="1033" cy="92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tx2"/>
                  </a:buClr>
                  <a:buFont typeface="Wingdings" panose="05000000000000000000" pitchFamily="2" charset="2"/>
                  <a:buChar char="v"/>
                  <a:defRPr sz="28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chemeClr val="tx1"/>
                    </a:solidFill>
                    <a:latin typeface="Arial" panose="020B0604020202020204" pitchFamily="34" charset="0"/>
                  </a:defRPr>
                </a:lvl2pPr>
                <a:lvl3pPr marL="1143000" indent="-228600">
                  <a:spcBef>
                    <a:spcPct val="20000"/>
                  </a:spcBef>
                  <a:buClr>
                    <a:schemeClr val="accent2"/>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a:ea typeface="宋体" panose="02010600030101010101" pitchFamily="2" charset="-122"/>
                </a:endParaRPr>
              </a:p>
            </p:txBody>
          </p:sp>
        </p:grpSp>
        <p:sp>
          <p:nvSpPr>
            <p:cNvPr id="28" name="Text Box 68"/>
            <p:cNvSpPr txBox="1">
              <a:spLocks noChangeArrowheads="1"/>
            </p:cNvSpPr>
            <p:nvPr/>
          </p:nvSpPr>
          <p:spPr bwMode="gray">
            <a:xfrm>
              <a:off x="3878661" y="1963436"/>
              <a:ext cx="1293446" cy="623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Font typeface="Wingdings" panose="05000000000000000000" pitchFamily="2" charset="2"/>
                <a:buChar char="v"/>
                <a:defRPr sz="28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chemeClr val="tx1"/>
                  </a:solidFill>
                  <a:latin typeface="Arial" panose="020B0604020202020204" pitchFamily="34" charset="0"/>
                </a:defRPr>
              </a:lvl2pPr>
              <a:lvl3pPr marL="1143000" indent="-228600">
                <a:spcBef>
                  <a:spcPct val="20000"/>
                </a:spcBef>
                <a:buClr>
                  <a:schemeClr val="accent2"/>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zh-CN" sz="2000" b="1" dirty="0">
                  <a:solidFill>
                    <a:srgbClr val="C00000"/>
                  </a:solidFill>
                  <a:ea typeface="宋体" panose="02010600030101010101" pitchFamily="2" charset="-122"/>
                </a:rPr>
                <a:t>SAP</a:t>
              </a:r>
            </a:p>
          </p:txBody>
        </p:sp>
      </p:grpSp>
      <p:sp>
        <p:nvSpPr>
          <p:cNvPr id="33" name="文本框 32"/>
          <p:cNvSpPr txBox="1"/>
          <p:nvPr/>
        </p:nvSpPr>
        <p:spPr>
          <a:xfrm>
            <a:off x="907659" y="1004887"/>
            <a:ext cx="10346057" cy="966547"/>
          </a:xfrm>
          <a:prstGeom prst="rect">
            <a:avLst/>
          </a:prstGeom>
          <a:noFill/>
        </p:spPr>
        <p:txBody>
          <a:bodyPr wrap="square" rtlCol="0">
            <a:spAutoFit/>
          </a:bodyPr>
          <a:lstStyle/>
          <a:p>
            <a:pPr>
              <a:lnSpc>
                <a:spcPct val="150000"/>
              </a:lnSpc>
            </a:pPr>
            <a:r>
              <a:rPr lang="zh-CN" altLang="en-US" sz="2000" b="1" dirty="0"/>
              <a:t>      通过计划层面（销售订单，销售预测，生产预测），主导生产车间进度，形成生产计划和实际生产进度对比的日报车间看板。</a:t>
            </a:r>
            <a:endParaRPr lang="en-US" altLang="zh-CN" sz="2000" b="1" dirty="0"/>
          </a:p>
        </p:txBody>
      </p:sp>
      <p:sp>
        <p:nvSpPr>
          <p:cNvPr id="34" name="标题 1"/>
          <p:cNvSpPr txBox="1"/>
          <p:nvPr/>
        </p:nvSpPr>
        <p:spPr>
          <a:xfrm>
            <a:off x="624001" y="72307"/>
            <a:ext cx="4598239" cy="665096"/>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800" kern="1200">
                <a:solidFill>
                  <a:schemeClr val="accent1"/>
                </a:solidFill>
                <a:latin typeface="+mj-lt"/>
                <a:ea typeface="+mj-ea"/>
                <a:cs typeface="+mj-cs"/>
              </a:defRPr>
            </a:lvl1pPr>
          </a:lstStyle>
          <a:p>
            <a:pPr defTabSz="1623695">
              <a:defRPr/>
            </a:pPr>
            <a:r>
              <a:rPr lang="zh-CN" altLang="en-US" sz="2665" b="1" dirty="0">
                <a:latin typeface="微软雅黑" panose="020B0503020204020204" pitchFamily="34" charset="-122"/>
                <a:ea typeface="微软雅黑" panose="020B0503020204020204" pitchFamily="34" charset="-122"/>
                <a:sym typeface="Biennale Bold"/>
              </a:rPr>
              <a:t>生产进度看板实现逻辑</a:t>
            </a:r>
            <a:endParaRPr lang="zh-CN" altLang="en-US" sz="2665" b="1" dirty="0">
              <a:latin typeface="微软雅黑" panose="020B0503020204020204" pitchFamily="34" charset="-122"/>
              <a:ea typeface="微软雅黑" panose="020B0503020204020204" pitchFamily="34" charset="-122"/>
            </a:endParaRPr>
          </a:p>
          <a:p>
            <a:pPr defTabSz="1623695">
              <a:defRPr/>
            </a:pPr>
            <a:endParaRPr lang="zh-CN" altLang="en-US" sz="2665"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0098" y="389618"/>
            <a:ext cx="1247136" cy="1477328"/>
          </a:xfrm>
        </p:spPr>
        <p:txBody>
          <a:bodyPr/>
          <a:lstStyle/>
          <a:p>
            <a:r>
              <a:rPr lang="en-US" altLang="zh-CN" dirty="0"/>
              <a:t>03</a:t>
            </a:r>
            <a:endParaRPr lang="zh-CN" altLang="en-US" dirty="0"/>
          </a:p>
        </p:txBody>
      </p:sp>
      <p:sp>
        <p:nvSpPr>
          <p:cNvPr id="3" name="Title 2"/>
          <p:cNvSpPr>
            <a:spLocks noGrp="1"/>
          </p:cNvSpPr>
          <p:nvPr>
            <p:ph type="title"/>
          </p:nvPr>
        </p:nvSpPr>
        <p:spPr/>
        <p:txBody>
          <a:bodyPr/>
          <a:lstStyle/>
          <a:p>
            <a:r>
              <a:rPr lang="zh-CN" altLang="en-US" dirty="0"/>
              <a:t>配套行动计划</a:t>
            </a:r>
          </a:p>
        </p:txBody>
      </p:sp>
      <p:pic>
        <p:nvPicPr>
          <p:cNvPr id="4" name="图片 3"/>
          <p:cNvPicPr>
            <a:picLocks noChangeAspect="1"/>
          </p:cNvPicPr>
          <p:nvPr/>
        </p:nvPicPr>
        <p:blipFill>
          <a:blip r:embed="rId2"/>
          <a:stretch>
            <a:fillRect/>
          </a:stretch>
        </p:blipFill>
        <p:spPr>
          <a:xfrm>
            <a:off x="48466" y="125649"/>
            <a:ext cx="1930400" cy="381000"/>
          </a:xfrm>
          <a:prstGeom prst="rect">
            <a:avLst/>
          </a:prstGeom>
        </p:spPr>
      </p:pic>
      <p:sp>
        <p:nvSpPr>
          <p:cNvPr id="5" name="文本框 4"/>
          <p:cNvSpPr txBox="1"/>
          <p:nvPr/>
        </p:nvSpPr>
        <p:spPr>
          <a:xfrm>
            <a:off x="-1293962" y="2622430"/>
            <a:ext cx="0" cy="0"/>
          </a:xfrm>
          <a:prstGeom prst="rect">
            <a:avLst/>
          </a:prstGeom>
          <a:noFill/>
        </p:spPr>
        <p:txBody>
          <a:bodyPr wrap="none" rtlCol="0">
            <a:noAutofit/>
          </a:bodyPr>
          <a:lstStyle/>
          <a:p>
            <a:pPr algn="l"/>
            <a:endParaRPr kumimoji="1" lang="zh-CN" altLang="en-US" dirty="0" err="1">
              <a:solidFill>
                <a:schemeClr val="accent3"/>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24001" y="72307"/>
            <a:ext cx="10510199" cy="665096"/>
          </a:xfrm>
          <a:prstGeom prst="rect">
            <a:avLst/>
          </a:prstGeom>
        </p:spPr>
        <p:txBody>
          <a:bodyPr/>
          <a:lstStyle/>
          <a:p>
            <a:pPr defTabSz="1623695">
              <a:defRPr/>
            </a:pPr>
            <a:r>
              <a:rPr lang="zh-CN" altLang="en-US" sz="2665" b="1" dirty="0">
                <a:latin typeface="微软雅黑" panose="020B0503020204020204" pitchFamily="34" charset="-122"/>
                <a:ea typeface="微软雅黑" panose="020B0503020204020204" pitchFamily="34" charset="-122"/>
              </a:rPr>
              <a:t>方案实现的前提条件</a:t>
            </a:r>
          </a:p>
        </p:txBody>
      </p:sp>
      <p:sp>
        <p:nvSpPr>
          <p:cNvPr id="10" name="文本框 9"/>
          <p:cNvSpPr txBox="1"/>
          <p:nvPr/>
        </p:nvSpPr>
        <p:spPr>
          <a:xfrm>
            <a:off x="372184" y="984959"/>
            <a:ext cx="10583491" cy="2616550"/>
          </a:xfrm>
          <a:prstGeom prst="rect">
            <a:avLst/>
          </a:prstGeom>
          <a:noFill/>
        </p:spPr>
        <p:txBody>
          <a:bodyPr wrap="square">
            <a:spAutoFit/>
          </a:bodyPr>
          <a:lstStyle/>
          <a:p>
            <a:pPr marL="525780" indent="-381000">
              <a:spcBef>
                <a:spcPts val="800"/>
              </a:spcBef>
              <a:buFont typeface="Wingdings" panose="05000000000000000000" charset="0"/>
              <a:buChar char="Ø"/>
            </a:pPr>
            <a:r>
              <a:rPr lang="zh-CN" altLang="en-US" sz="1865" b="1" dirty="0">
                <a:latin typeface="微软雅黑" panose="020B0503020204020204" pitchFamily="34" charset="-122"/>
                <a:ea typeface="微软雅黑" panose="020B0503020204020204" pitchFamily="34" charset="-122"/>
              </a:rPr>
              <a:t>方案实现的前提条件：</a:t>
            </a:r>
            <a:endParaRPr lang="en-US" altLang="zh-CN" sz="1865" b="1" dirty="0">
              <a:latin typeface="微软雅黑" panose="020B0503020204020204" pitchFamily="34" charset="-122"/>
              <a:ea typeface="微软雅黑" panose="020B0503020204020204" pitchFamily="34" charset="-122"/>
            </a:endParaRPr>
          </a:p>
          <a:p>
            <a:pPr marL="525780" indent="-381000">
              <a:spcBef>
                <a:spcPts val="800"/>
              </a:spcBef>
              <a:buClr>
                <a:schemeClr val="tx1"/>
              </a:buClr>
              <a:buFont typeface="Wingdings" panose="05000000000000000000" pitchFamily="2" charset="2"/>
              <a:buChar char="n"/>
              <a:defRPr/>
            </a:pPr>
            <a:r>
              <a:rPr lang="en-US" altLang="zh-CN" sz="1865" dirty="0">
                <a:latin typeface="微软雅黑" panose="020B0503020204020204" pitchFamily="34" charset="-122"/>
                <a:ea typeface="微软雅黑" panose="020B0503020204020204" pitchFamily="34" charset="-122"/>
              </a:rPr>
              <a:t>N+2</a:t>
            </a:r>
            <a:r>
              <a:rPr lang="zh-CN" altLang="en-US" sz="1865" dirty="0">
                <a:latin typeface="微软雅黑" panose="020B0503020204020204" pitchFamily="34" charset="-122"/>
                <a:ea typeface="微软雅黑" panose="020B0503020204020204" pitchFamily="34" charset="-122"/>
              </a:rPr>
              <a:t>主生产计划要求：要求</a:t>
            </a:r>
            <a:r>
              <a:rPr lang="zh-CN" altLang="en-US" sz="1865"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65" b="1" u="sng" dirty="0">
                <a:latin typeface="微软雅黑" panose="020B0503020204020204" pitchFamily="34" charset="-122"/>
                <a:ea typeface="微软雅黑" panose="020B0503020204020204" pitchFamily="34" charset="-122"/>
              </a:rPr>
              <a:t>本月</a:t>
            </a:r>
            <a:r>
              <a:rPr lang="en-US" altLang="zh-CN" sz="1865" b="1" u="sng" dirty="0">
                <a:latin typeface="微软雅黑" panose="020B0503020204020204" pitchFamily="34" charset="-122"/>
                <a:ea typeface="微软雅黑" panose="020B0503020204020204" pitchFamily="34" charset="-122"/>
              </a:rPr>
              <a:t>5</a:t>
            </a:r>
            <a:r>
              <a:rPr lang="zh-CN" altLang="en-US" sz="1865" b="1" u="sng" dirty="0">
                <a:latin typeface="微软雅黑" panose="020B0503020204020204" pitchFamily="34" charset="-122"/>
                <a:ea typeface="微软雅黑" panose="020B0503020204020204" pitchFamily="34" charset="-122"/>
              </a:rPr>
              <a:t>号</a:t>
            </a:r>
            <a:r>
              <a:rPr lang="zh-CN" altLang="en-US" sz="1865" dirty="0">
                <a:latin typeface="微软雅黑" panose="020B0503020204020204" pitchFamily="34" charset="-122"/>
                <a:ea typeface="微软雅黑" panose="020B0503020204020204" pitchFamily="34" charset="-122"/>
              </a:rPr>
              <a:t>（</a:t>
            </a:r>
            <a:r>
              <a:rPr lang="en-US" altLang="zh-CN" sz="1865" dirty="0">
                <a:latin typeface="微软雅黑" panose="020B0503020204020204" pitchFamily="34" charset="-122"/>
                <a:ea typeface="微软雅黑" panose="020B0503020204020204" pitchFamily="34" charset="-122"/>
              </a:rPr>
              <a:t>7</a:t>
            </a:r>
            <a:r>
              <a:rPr lang="zh-CN" altLang="zh-CN" sz="1865" dirty="0">
                <a:latin typeface="微软雅黑" panose="020B0503020204020204" pitchFamily="34" charset="-122"/>
                <a:ea typeface="微软雅黑" panose="020B0503020204020204" pitchFamily="34" charset="-122"/>
              </a:rPr>
              <a:t>月</a:t>
            </a:r>
            <a:r>
              <a:rPr lang="en-US" altLang="zh-CN" sz="1865" dirty="0">
                <a:latin typeface="微软雅黑" panose="020B0503020204020204" pitchFamily="34" charset="-122"/>
                <a:ea typeface="微软雅黑" panose="020B0503020204020204" pitchFamily="34" charset="-122"/>
              </a:rPr>
              <a:t>5</a:t>
            </a:r>
            <a:r>
              <a:rPr lang="zh-CN" altLang="zh-CN" sz="1865" dirty="0">
                <a:latin typeface="微软雅黑" panose="020B0503020204020204" pitchFamily="34" charset="-122"/>
                <a:ea typeface="微软雅黑" panose="020B0503020204020204" pitchFamily="34" charset="-122"/>
              </a:rPr>
              <a:t>号要</a:t>
            </a:r>
            <a:r>
              <a:rPr lang="zh-CN" altLang="en-US" sz="1865" dirty="0">
                <a:latin typeface="微软雅黑" panose="020B0503020204020204" pitchFamily="34" charset="-122"/>
                <a:ea typeface="微软雅黑" panose="020B0503020204020204" pitchFamily="34" charset="-122"/>
              </a:rPr>
              <a:t>正式发布</a:t>
            </a:r>
            <a:r>
              <a:rPr lang="en-US" altLang="zh-CN" sz="1865" dirty="0">
                <a:latin typeface="微软雅黑" panose="020B0503020204020204" pitchFamily="34" charset="-122"/>
                <a:ea typeface="微软雅黑" panose="020B0503020204020204" pitchFamily="34" charset="-122"/>
              </a:rPr>
              <a:t>8</a:t>
            </a:r>
            <a:r>
              <a:rPr lang="zh-CN" altLang="zh-CN" sz="1865" dirty="0">
                <a:latin typeface="微软雅黑" panose="020B0503020204020204" pitchFamily="34" charset="-122"/>
                <a:ea typeface="微软雅黑" panose="020B0503020204020204" pitchFamily="34" charset="-122"/>
              </a:rPr>
              <a:t>月份的正式计划</a:t>
            </a:r>
            <a:r>
              <a:rPr lang="en-US" altLang="zh-CN" sz="1865" dirty="0">
                <a:latin typeface="微软雅黑" panose="020B0503020204020204" pitchFamily="34" charset="-122"/>
                <a:ea typeface="微软雅黑" panose="020B0503020204020204" pitchFamily="34" charset="-122"/>
              </a:rPr>
              <a:t>)</a:t>
            </a:r>
            <a:r>
              <a:rPr lang="zh-CN" altLang="en-US" sz="1865" b="1" u="sng" dirty="0">
                <a:latin typeface="微软雅黑" panose="020B0503020204020204" pitchFamily="34" charset="-122"/>
                <a:ea typeface="微软雅黑" panose="020B0503020204020204" pitchFamily="34" charset="-122"/>
              </a:rPr>
              <a:t>发布下月和下下月的计划</a:t>
            </a:r>
            <a:r>
              <a:rPr lang="zh-CN" altLang="en-US" sz="1865" dirty="0">
                <a:latin typeface="微软雅黑" panose="020B0503020204020204" pitchFamily="34" charset="-122"/>
                <a:ea typeface="微软雅黑" panose="020B0503020204020204" pitchFamily="34" charset="-122"/>
              </a:rPr>
              <a:t>（</a:t>
            </a:r>
            <a:r>
              <a:rPr lang="en-US" altLang="zh-CN" sz="1865" dirty="0">
                <a:latin typeface="微软雅黑" panose="020B0503020204020204" pitchFamily="34" charset="-122"/>
                <a:ea typeface="微软雅黑" panose="020B0503020204020204" pitchFamily="34" charset="-122"/>
              </a:rPr>
              <a:t>9</a:t>
            </a:r>
            <a:r>
              <a:rPr lang="zh-CN" altLang="zh-CN" sz="1865" dirty="0">
                <a:latin typeface="微软雅黑" panose="020B0503020204020204" pitchFamily="34" charset="-122"/>
                <a:ea typeface="微软雅黑" panose="020B0503020204020204" pitchFamily="34" charset="-122"/>
              </a:rPr>
              <a:t>月，</a:t>
            </a:r>
            <a:r>
              <a:rPr lang="en-US" altLang="zh-CN" sz="1865" dirty="0">
                <a:latin typeface="微软雅黑" panose="020B0503020204020204" pitchFamily="34" charset="-122"/>
                <a:ea typeface="微软雅黑" panose="020B0503020204020204" pitchFamily="34" charset="-122"/>
              </a:rPr>
              <a:t>10</a:t>
            </a:r>
            <a:r>
              <a:rPr lang="zh-CN" altLang="zh-CN" sz="1865" dirty="0">
                <a:latin typeface="微软雅黑" panose="020B0503020204020204" pitchFamily="34" charset="-122"/>
                <a:ea typeface="微软雅黑" panose="020B0503020204020204" pitchFamily="34" charset="-122"/>
              </a:rPr>
              <a:t>月的预测计划</a:t>
            </a:r>
            <a:r>
              <a:rPr lang="zh-CN" altLang="en-US" sz="1865" dirty="0">
                <a:latin typeface="微软雅黑" panose="020B0503020204020204" pitchFamily="34" charset="-122"/>
                <a:ea typeface="微软雅黑" panose="020B0503020204020204" pitchFamily="34" charset="-122"/>
              </a:rPr>
              <a:t>并导入</a:t>
            </a:r>
            <a:r>
              <a:rPr lang="en-US" altLang="zh-CN" sz="1865" dirty="0">
                <a:latin typeface="微软雅黑" panose="020B0503020204020204" pitchFamily="34" charset="-122"/>
                <a:ea typeface="微软雅黑" panose="020B0503020204020204" pitchFamily="34" charset="-122"/>
              </a:rPr>
              <a:t>SAP</a:t>
            </a:r>
            <a:r>
              <a:rPr lang="zh-CN" altLang="en-US" sz="1865" dirty="0">
                <a:latin typeface="微软雅黑" panose="020B0503020204020204" pitchFamily="34" charset="-122"/>
                <a:ea typeface="微软雅黑" panose="020B0503020204020204" pitchFamily="34" charset="-122"/>
              </a:rPr>
              <a:t>系统，驱动</a:t>
            </a:r>
            <a:r>
              <a:rPr lang="en-US" altLang="zh-CN" sz="1865" dirty="0">
                <a:latin typeface="微软雅黑" panose="020B0503020204020204" pitchFamily="34" charset="-122"/>
                <a:ea typeface="微软雅黑" panose="020B0503020204020204" pitchFamily="34" charset="-122"/>
              </a:rPr>
              <a:t>MRP</a:t>
            </a:r>
            <a:r>
              <a:rPr lang="zh-CN" altLang="en-US" sz="1865" dirty="0">
                <a:latin typeface="微软雅黑" panose="020B0503020204020204" pitchFamily="34" charset="-122"/>
                <a:ea typeface="微软雅黑" panose="020B0503020204020204" pitchFamily="34" charset="-122"/>
              </a:rPr>
              <a:t>运算），</a:t>
            </a:r>
            <a:r>
              <a:rPr lang="en-US" altLang="zh-CN" sz="1865" dirty="0">
                <a:latin typeface="微软雅黑" panose="020B0503020204020204" pitchFamily="34" charset="-122"/>
                <a:ea typeface="微软雅黑" panose="020B0503020204020204" pitchFamily="34" charset="-122"/>
              </a:rPr>
              <a:t>N+2 </a:t>
            </a:r>
            <a:r>
              <a:rPr lang="zh-CN" altLang="en-US" sz="1865" dirty="0">
                <a:latin typeface="微软雅黑" panose="020B0503020204020204" pitchFamily="34" charset="-122"/>
                <a:ea typeface="微软雅黑" panose="020B0503020204020204" pitchFamily="34" charset="-122"/>
              </a:rPr>
              <a:t>计划要进</a:t>
            </a:r>
            <a:r>
              <a:rPr lang="en-US" altLang="zh-CN" sz="1865" dirty="0">
                <a:latin typeface="微软雅黑" panose="020B0503020204020204" pitchFamily="34" charset="-122"/>
                <a:ea typeface="微软雅黑" panose="020B0503020204020204" pitchFamily="34" charset="-122"/>
              </a:rPr>
              <a:t>SAP</a:t>
            </a:r>
            <a:r>
              <a:rPr lang="zh-CN" altLang="en-US" sz="1865" dirty="0">
                <a:latin typeface="微软雅黑" panose="020B0503020204020204" pitchFamily="34" charset="-122"/>
                <a:ea typeface="微软雅黑" panose="020B0503020204020204" pitchFamily="34" charset="-122"/>
              </a:rPr>
              <a:t>系统</a:t>
            </a:r>
            <a:endParaRPr lang="en-US" altLang="zh-CN" sz="1865" dirty="0">
              <a:latin typeface="微软雅黑" panose="020B0503020204020204" pitchFamily="34" charset="-122"/>
              <a:ea typeface="微软雅黑" panose="020B0503020204020204" pitchFamily="34" charset="-122"/>
            </a:endParaRPr>
          </a:p>
          <a:p>
            <a:pPr marL="525780" indent="-381000">
              <a:spcBef>
                <a:spcPts val="800"/>
              </a:spcBef>
              <a:buClr>
                <a:schemeClr val="tx1"/>
              </a:buClr>
              <a:buFont typeface="Wingdings" panose="05000000000000000000" pitchFamily="2" charset="2"/>
              <a:buChar char="n"/>
              <a:defRPr/>
            </a:pPr>
            <a:r>
              <a:rPr lang="zh-CN" altLang="en-US" sz="1865" dirty="0">
                <a:latin typeface="微软雅黑" panose="020B0503020204020204" pitchFamily="34" charset="-122"/>
                <a:ea typeface="微软雅黑" panose="020B0503020204020204" pitchFamily="34" charset="-122"/>
                <a:sym typeface="+mn-ea"/>
              </a:rPr>
              <a:t>定制产品的</a:t>
            </a:r>
            <a:r>
              <a:rPr lang="en-US" altLang="zh-CN" sz="1865" dirty="0">
                <a:latin typeface="微软雅黑" panose="020B0503020204020204" pitchFamily="34" charset="-122"/>
                <a:ea typeface="微软雅黑" panose="020B0503020204020204" pitchFamily="34" charset="-122"/>
                <a:sym typeface="+mn-ea"/>
              </a:rPr>
              <a:t>BOM</a:t>
            </a:r>
            <a:r>
              <a:rPr lang="zh-CN" altLang="en-US" sz="1865" dirty="0">
                <a:latin typeface="微软雅黑" panose="020B0503020204020204" pitchFamily="34" charset="-122"/>
                <a:ea typeface="微软雅黑" panose="020B0503020204020204" pitchFamily="34" charset="-122"/>
                <a:sym typeface="+mn-ea"/>
              </a:rPr>
              <a:t>搭建要在</a:t>
            </a:r>
            <a:r>
              <a:rPr lang="en-US" altLang="zh-CN" sz="1865" dirty="0">
                <a:latin typeface="微软雅黑" panose="020B0503020204020204" pitchFamily="34" charset="-122"/>
                <a:ea typeface="微软雅黑" panose="020B0503020204020204" pitchFamily="34" charset="-122"/>
                <a:sym typeface="+mn-ea"/>
              </a:rPr>
              <a:t>MRP</a:t>
            </a:r>
            <a:r>
              <a:rPr lang="zh-CN" altLang="en-US" sz="1865" dirty="0">
                <a:latin typeface="微软雅黑" panose="020B0503020204020204" pitchFamily="34" charset="-122"/>
                <a:ea typeface="微软雅黑" panose="020B0503020204020204" pitchFamily="34" charset="-122"/>
                <a:sym typeface="+mn-ea"/>
              </a:rPr>
              <a:t>运行前完成</a:t>
            </a:r>
            <a:endParaRPr lang="en-US" altLang="zh-CN" sz="1865" dirty="0">
              <a:latin typeface="微软雅黑" panose="020B0503020204020204" pitchFamily="34" charset="-122"/>
              <a:ea typeface="微软雅黑" panose="020B0503020204020204" pitchFamily="34" charset="-122"/>
              <a:sym typeface="+mn-ea"/>
            </a:endParaRPr>
          </a:p>
          <a:p>
            <a:pPr marL="525780" indent="-381000">
              <a:spcBef>
                <a:spcPts val="800"/>
              </a:spcBef>
              <a:buClr>
                <a:schemeClr val="tx1"/>
              </a:buClr>
              <a:buFont typeface="Wingdings" panose="05000000000000000000" pitchFamily="2" charset="2"/>
              <a:buChar char="n"/>
              <a:defRPr/>
            </a:pPr>
            <a:r>
              <a:rPr lang="zh-CN" altLang="en-US" sz="1865" dirty="0">
                <a:latin typeface="微软雅黑" panose="020B0503020204020204" pitchFamily="34" charset="-122"/>
                <a:ea typeface="微软雅黑" panose="020B0503020204020204" pitchFamily="34" charset="-122"/>
                <a:sym typeface="+mn-ea"/>
              </a:rPr>
              <a:t>自制件、采购料件的提前期</a:t>
            </a:r>
            <a:r>
              <a:rPr lang="en-US" altLang="zh-CN" sz="1865" dirty="0">
                <a:latin typeface="微软雅黑" panose="020B0503020204020204" pitchFamily="34" charset="-122"/>
                <a:ea typeface="微软雅黑" panose="020B0503020204020204" pitchFamily="34" charset="-122"/>
                <a:sym typeface="+mn-ea"/>
              </a:rPr>
              <a:t>Leadtime</a:t>
            </a:r>
            <a:r>
              <a:rPr lang="zh-CN" altLang="en-US" sz="1865" dirty="0">
                <a:latin typeface="微软雅黑" panose="020B0503020204020204" pitchFamily="34" charset="-122"/>
                <a:ea typeface="微软雅黑" panose="020B0503020204020204" pitchFamily="34" charset="-122"/>
                <a:sym typeface="+mn-ea"/>
              </a:rPr>
              <a:t>要准确、完整</a:t>
            </a:r>
            <a:endParaRPr lang="en-US" altLang="zh-CN" sz="1865" dirty="0">
              <a:latin typeface="微软雅黑" panose="020B0503020204020204" pitchFamily="34" charset="-122"/>
              <a:ea typeface="微软雅黑" panose="020B0503020204020204" pitchFamily="34" charset="-122"/>
              <a:sym typeface="+mn-ea"/>
            </a:endParaRPr>
          </a:p>
          <a:p>
            <a:pPr marL="525780" indent="-381000">
              <a:spcBef>
                <a:spcPts val="800"/>
              </a:spcBef>
              <a:buClr>
                <a:schemeClr val="tx1"/>
              </a:buClr>
              <a:buFont typeface="Wingdings" panose="05000000000000000000" pitchFamily="2" charset="2"/>
              <a:buChar char="n"/>
            </a:pPr>
            <a:r>
              <a:rPr lang="zh-CN" altLang="en-US" sz="1865" dirty="0">
                <a:latin typeface="微软雅黑" panose="020B0503020204020204" pitchFamily="34" charset="-122"/>
                <a:ea typeface="微软雅黑" panose="020B0503020204020204" pitchFamily="34" charset="-122"/>
              </a:rPr>
              <a:t>生产订单、采购订单转单要及时</a:t>
            </a:r>
            <a:endParaRPr lang="en-US" altLang="zh-CN" sz="1865" dirty="0">
              <a:latin typeface="微软雅黑" panose="020B0503020204020204" pitchFamily="34" charset="-122"/>
              <a:ea typeface="微软雅黑" panose="020B0503020204020204" pitchFamily="34" charset="-122"/>
            </a:endParaRPr>
          </a:p>
          <a:p>
            <a:pPr marL="525780" indent="-381000">
              <a:spcBef>
                <a:spcPts val="800"/>
              </a:spcBef>
              <a:buFont typeface="Wingdings" panose="05000000000000000000" pitchFamily="2" charset="2"/>
              <a:buChar char="n"/>
            </a:pPr>
            <a:endParaRPr lang="en-US" altLang="zh-CN" sz="1865"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0098" y="389618"/>
            <a:ext cx="1247136" cy="1477328"/>
          </a:xfrm>
        </p:spPr>
        <p:txBody>
          <a:bodyPr/>
          <a:lstStyle/>
          <a:p>
            <a:r>
              <a:rPr lang="en-US" altLang="zh-CN" dirty="0"/>
              <a:t>04</a:t>
            </a:r>
            <a:endParaRPr lang="zh-CN" altLang="en-US" dirty="0"/>
          </a:p>
        </p:txBody>
      </p:sp>
      <p:sp>
        <p:nvSpPr>
          <p:cNvPr id="3" name="Title 2"/>
          <p:cNvSpPr>
            <a:spLocks noGrp="1"/>
          </p:cNvSpPr>
          <p:nvPr>
            <p:ph type="title"/>
          </p:nvPr>
        </p:nvSpPr>
        <p:spPr/>
        <p:txBody>
          <a:bodyPr/>
          <a:lstStyle/>
          <a:p>
            <a:r>
              <a:rPr lang="zh-CN" altLang="en-US" dirty="0"/>
              <a:t>附录</a:t>
            </a:r>
          </a:p>
        </p:txBody>
      </p:sp>
      <p:pic>
        <p:nvPicPr>
          <p:cNvPr id="4" name="图片 3"/>
          <p:cNvPicPr>
            <a:picLocks noChangeAspect="1"/>
          </p:cNvPicPr>
          <p:nvPr/>
        </p:nvPicPr>
        <p:blipFill>
          <a:blip r:embed="rId2"/>
          <a:stretch>
            <a:fillRect/>
          </a:stretch>
        </p:blipFill>
        <p:spPr>
          <a:xfrm>
            <a:off x="48466" y="125649"/>
            <a:ext cx="1930400" cy="381000"/>
          </a:xfrm>
          <a:prstGeom prst="rect">
            <a:avLst/>
          </a:prstGeom>
        </p:spPr>
      </p:pic>
      <p:sp>
        <p:nvSpPr>
          <p:cNvPr id="5" name="文本框 4"/>
          <p:cNvSpPr txBox="1"/>
          <p:nvPr/>
        </p:nvSpPr>
        <p:spPr>
          <a:xfrm>
            <a:off x="-1293962" y="2622430"/>
            <a:ext cx="0" cy="0"/>
          </a:xfrm>
          <a:prstGeom prst="rect">
            <a:avLst/>
          </a:prstGeom>
          <a:noFill/>
        </p:spPr>
        <p:txBody>
          <a:bodyPr wrap="none" rtlCol="0">
            <a:noAutofit/>
          </a:bodyPr>
          <a:lstStyle/>
          <a:p>
            <a:pPr algn="l"/>
            <a:endParaRPr kumimoji="1" lang="zh-CN" altLang="en-US" dirty="0" err="1">
              <a:solidFill>
                <a:schemeClr val="accent3"/>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0" y="1328383"/>
            <a:ext cx="12192000" cy="4726329"/>
          </a:xfrm>
          <a:prstGeom prst="rect">
            <a:avLst/>
          </a:prstGeom>
        </p:spPr>
      </p:pic>
      <p:sp>
        <p:nvSpPr>
          <p:cNvPr id="2" name="标题 1"/>
          <p:cNvSpPr>
            <a:spLocks noGrp="1"/>
          </p:cNvSpPr>
          <p:nvPr>
            <p:ph type="title" idx="4294967295"/>
          </p:nvPr>
        </p:nvSpPr>
        <p:spPr>
          <a:xfrm>
            <a:off x="624001" y="72307"/>
            <a:ext cx="10510199" cy="665096"/>
          </a:xfrm>
          <a:prstGeom prst="rect">
            <a:avLst/>
          </a:prstGeom>
        </p:spPr>
        <p:txBody>
          <a:bodyPr/>
          <a:lstStyle/>
          <a:p>
            <a:pPr defTabSz="1623695">
              <a:defRPr/>
            </a:pPr>
            <a:r>
              <a:rPr lang="zh-CN" altLang="en-US" sz="2665" b="1" dirty="0">
                <a:latin typeface="微软雅黑" panose="020B0503020204020204" pitchFamily="34" charset="-122"/>
                <a:ea typeface="微软雅黑" panose="020B0503020204020204" pitchFamily="34" charset="-122"/>
              </a:rPr>
              <a:t>未来日生产进度看板报表表样</a:t>
            </a:r>
          </a:p>
        </p:txBody>
      </p:sp>
      <p:pic>
        <p:nvPicPr>
          <p:cNvPr id="12" name="图片 11"/>
          <p:cNvPicPr>
            <a:picLocks noChangeAspect="1"/>
          </p:cNvPicPr>
          <p:nvPr/>
        </p:nvPicPr>
        <p:blipFill>
          <a:blip r:embed="rId3"/>
          <a:stretch>
            <a:fillRect/>
          </a:stretch>
        </p:blipFill>
        <p:spPr>
          <a:xfrm>
            <a:off x="10773175" y="32530"/>
            <a:ext cx="1125896" cy="1541516"/>
          </a:xfrm>
          <a:prstGeom prst="rect">
            <a:avLst/>
          </a:prstGeom>
        </p:spPr>
      </p:pic>
      <p:sp>
        <p:nvSpPr>
          <p:cNvPr id="7" name="文本框 6"/>
          <p:cNvSpPr txBox="1"/>
          <p:nvPr/>
        </p:nvSpPr>
        <p:spPr>
          <a:xfrm>
            <a:off x="477520" y="843065"/>
            <a:ext cx="6096000" cy="379656"/>
          </a:xfrm>
          <a:prstGeom prst="rect">
            <a:avLst/>
          </a:prstGeom>
          <a:noFill/>
        </p:spPr>
        <p:txBody>
          <a:bodyPr wrap="square">
            <a:spAutoFit/>
          </a:bodyPr>
          <a:lstStyle/>
          <a:p>
            <a:pPr marL="525780" indent="-381000">
              <a:spcBef>
                <a:spcPts val="800"/>
              </a:spcBef>
              <a:buFont typeface="Wingdings" panose="05000000000000000000" charset="0"/>
              <a:buChar char="Ø"/>
            </a:pPr>
            <a:r>
              <a:rPr lang="zh-CN" altLang="en-US" sz="1865" b="1" dirty="0">
                <a:latin typeface="微软雅黑" panose="020B0503020204020204" pitchFamily="34" charset="-122"/>
                <a:ea typeface="微软雅黑" panose="020B0503020204020204" pitchFamily="34" charset="-122"/>
              </a:rPr>
              <a:t>方案实现日进度报表表样格式：</a:t>
            </a:r>
            <a:endParaRPr lang="en-US" altLang="zh-CN" sz="1865"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63648"/>
            <a:ext cx="1231106" cy="492443"/>
          </a:xfrm>
        </p:spPr>
        <p:txBody>
          <a:bodyPr/>
          <a:lstStyle/>
          <a:p>
            <a:r>
              <a:rPr lang="zh-CN" altLang="en-US" sz="3200" b="1" dirty="0"/>
              <a:t>谢谢！</a:t>
            </a:r>
            <a:endParaRPr sz="3200" b="1" dirty="0"/>
          </a:p>
        </p:txBody>
      </p:sp>
      <p:sp>
        <p:nvSpPr>
          <p:cNvPr id="3" name="Text Placeholder 2"/>
          <p:cNvSpPr>
            <a:spLocks noGrp="1"/>
          </p:cNvSpPr>
          <p:nvPr>
            <p:ph type="body" sz="quarter" idx="11"/>
          </p:nvPr>
        </p:nvSpPr>
        <p:spPr/>
        <p:txBody>
          <a:bodyPr/>
          <a:lstStyle/>
          <a:p>
            <a:endParaRPr/>
          </a:p>
        </p:txBody>
      </p:sp>
    </p:spTree>
  </p:cSld>
  <p:clrMapOvr>
    <a:masterClrMapping/>
  </p:clrMapOvr>
</p:sld>
</file>

<file path=ppt/theme/theme1.xml><?xml version="1.0" encoding="utf-8"?>
<a:theme xmlns:a="http://schemas.openxmlformats.org/drawingml/2006/main" name="White background">
  <a:themeElements>
    <a:clrScheme name="New Atos">
      <a:dk1>
        <a:sysClr val="windowText" lastClr="000000"/>
      </a:dk1>
      <a:lt1>
        <a:sysClr val="window" lastClr="FFFFFF"/>
      </a:lt1>
      <a:dk2>
        <a:srgbClr val="000000"/>
      </a:dk2>
      <a:lt2>
        <a:srgbClr val="FFFFFF"/>
      </a:lt2>
      <a:accent1>
        <a:srgbClr val="0073E6"/>
      </a:accent1>
      <a:accent2>
        <a:srgbClr val="3DC7FF"/>
      </a:accent2>
      <a:accent3>
        <a:srgbClr val="00005C"/>
      </a:accent3>
      <a:accent4>
        <a:srgbClr val="EF5E82"/>
      </a:accent4>
      <a:accent5>
        <a:srgbClr val="4AA82D"/>
      </a:accent5>
      <a:accent6>
        <a:srgbClr val="663894"/>
      </a:accent6>
      <a:hlink>
        <a:srgbClr val="00005C"/>
      </a:hlink>
      <a:folHlink>
        <a:srgbClr val="00005C"/>
      </a:folHlink>
    </a:clrScheme>
    <a:fontScheme name="New Atos">
      <a:majorFont>
        <a:latin typeface="Biennale Bold"/>
        <a:ea typeface=""/>
        <a:cs typeface=""/>
      </a:majorFont>
      <a:minorFont>
        <a:latin typeface="Bienna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Autofit/>
      </a:bodyPr>
      <a:lstStyle>
        <a:defPPr algn="l">
          <a:defRPr dirty="0" err="1" smtClean="0">
            <a:solidFill>
              <a:schemeClr val="accent3"/>
            </a:solidFill>
          </a:defRPr>
        </a:defPPr>
      </a:lstStyle>
    </a:txDef>
  </a:objectDefaults>
  <a:extraClrSchemeLst/>
  <a:custClrLst>
    <a:custClr name="Atos Blue">
      <a:srgbClr val="0073E6"/>
    </a:custClr>
    <a:custClr name="Atos Light blue">
      <a:srgbClr val="3DC7FF"/>
    </a:custClr>
    <a:custClr name="Atos Deep blue">
      <a:srgbClr val="00005C"/>
    </a:custClr>
    <a:custClr name="Atos Pink">
      <a:srgbClr val="EF5E82"/>
    </a:custClr>
    <a:custClr name="Atos Green">
      <a:srgbClr val="4AA82D"/>
    </a:custClr>
    <a:custClr name="Atos Purple">
      <a:srgbClr val="663894"/>
    </a:custClr>
    <a:custClr name="Atos Orange">
      <a:srgbClr val="F56A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TemplafySlideFormConfiguration><![CDATA[{"formFields":[{"distinct":false,"hideIfNoUserInteractionRequired":false,"required":true,"autoSelectFirstOption":false,"shareValue":false,"type":"dropDown","dataSourceName":"PPTSubBrandLogos","dataSourceFieldName":"Name","name":"SAPLogo","label":"Select Template"},{"distinct":false,"hideIfNoUserInteractionRequired":false,"required":true,"autoSelectFirstOption":false,"shareValue":false,"type":"dropDown","dataSourceName":"Classification","dataSourceFieldName":"Name","name":"Classification","label":"Select Classification"},{"required":false,"shareValue":false,"type":"datePicker","name":"Date","label":"Date"},{"required":false,"placeholder":"","lines":1,"defaultValue":"{{StringJoin(\" \", UserProfile.FirstName,UserProfile.LastName)}}","helpTexts":{"prefix":"After your name, include your preferred pronouns (they/them, she/her, he/him)."},"shareValue":false,"type":"textBox","name":"SpeakerName","label":"Name and Pronouns"}],"formDataEntries":[]}]]></TemplafySlideFormConfiguration>
</file>

<file path=customXml/item2.xml><?xml version="1.0" encoding="utf-8"?>
<TemplafySlideTemplateConfiguration><![CDATA[{"slideVersion":2,"isValidatorEnabled":false,"isLocked":false,"elementsMetadata":[],"slideId":"1314779907816423427","enableDocumentContentUpdater":false,"version":"2.0"}]]></TemplafySlideTemplateConfiguration>
</file>

<file path=customXml/item3.xml><?xml version="1.0" encoding="utf-8"?>
<TemplafySlideFormConfiguration><![CDATA[{"formFields":[],"formDataEntries":[]}]]></TemplafySlideFormConfiguration>
</file>

<file path=customXml/item4.xml><?xml version="1.0" encoding="utf-8"?>
<TemplafySlideTemplateConfiguration><![CDATA[{"slideVersion":2,"isValidatorEnabled":false,"isLocked":false,"elementsMetadata":[{"type":"shape","elementConfiguration":{"binding":"{{StringJoin(\", \", Form.SpeakerName,\"SAP\")}}","type":"text","disableUpdates":false}},{"type":"shape","elementConfiguration":{"binding":"{{FormatDateTime(Form.Date,\"MMMM dd, yyyy\",\"en-US\")}}","type":"text","disableUpdates":false}},{"type":"shape","elementConfiguration":{"inheritDimensions":"{{InheritDimensions.InheritNone}}","width":"","height":"1 cm","image":"{{Form.SAPLogo.SubbrandBlue}}","visibility":"","type":"image","disableUpdates":false}},{"type":"shape","elementConfiguration":{"binding":"{{Form.Classification.Display}}","visibility":"","type":"text","disableUpdates":false}}],"slideId":"638313341292813786","enableDocumentContentUpdater":false,"version":"2.0"}]]></TemplafySlideTemplateConfiguration>
</file>

<file path=customXml/itemProps1.xml><?xml version="1.0" encoding="utf-8"?>
<ds:datastoreItem xmlns:ds="http://schemas.openxmlformats.org/officeDocument/2006/customXml" ds:itemID="{9B965239-770B-CA49-8A85-05CC8639E8EA}">
  <ds:schemaRefs/>
</ds:datastoreItem>
</file>

<file path=customXml/itemProps2.xml><?xml version="1.0" encoding="utf-8"?>
<ds:datastoreItem xmlns:ds="http://schemas.openxmlformats.org/officeDocument/2006/customXml" ds:itemID="{FE511B84-21F8-E546-9875-8BED6F722329}">
  <ds:schemaRefs/>
</ds:datastoreItem>
</file>

<file path=customXml/itemProps3.xml><?xml version="1.0" encoding="utf-8"?>
<ds:datastoreItem xmlns:ds="http://schemas.openxmlformats.org/officeDocument/2006/customXml" ds:itemID="{6B6BFCDD-2828-244C-B8B0-E2958472E4D3}">
  <ds:schemaRefs/>
</ds:datastoreItem>
</file>

<file path=customXml/itemProps4.xml><?xml version="1.0" encoding="utf-8"?>
<ds:datastoreItem xmlns:ds="http://schemas.openxmlformats.org/officeDocument/2006/customXml" ds:itemID="{BEA80D82-EDC8-0741-826D-933AA8F9EFEB}">
  <ds:schemaRefs/>
</ds:datastoreItem>
</file>

<file path=docProps/app.xml><?xml version="1.0" encoding="utf-8"?>
<Properties xmlns="http://schemas.openxmlformats.org/officeDocument/2006/extended-properties" xmlns:vt="http://schemas.openxmlformats.org/officeDocument/2006/docPropsVTypes">
  <TotalTime>19</TotalTime>
  <Words>1634</Words>
  <Application>Microsoft Office PowerPoint</Application>
  <PresentationFormat>宽屏</PresentationFormat>
  <Paragraphs>120</Paragraphs>
  <Slides>13</Slides>
  <Notes>4</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13</vt:i4>
      </vt:variant>
    </vt:vector>
  </HeadingPairs>
  <TitlesOfParts>
    <vt:vector size="29" baseType="lpstr">
      <vt:lpstr>Biennale</vt:lpstr>
      <vt:lpstr>Biennale Bold</vt:lpstr>
      <vt:lpstr>Biennale Medium</vt:lpstr>
      <vt:lpstr>Montserrat Bold</vt:lpstr>
      <vt:lpstr>宋体</vt:lpstr>
      <vt:lpstr>Microsoft YaHei</vt:lpstr>
      <vt:lpstr>Microsoft YaHei</vt:lpstr>
      <vt:lpstr>Aptos</vt:lpstr>
      <vt:lpstr>Arial</vt:lpstr>
      <vt:lpstr>Calibri</vt:lpstr>
      <vt:lpstr>Montserrat SemiBold</vt:lpstr>
      <vt:lpstr>Times New Roman</vt:lpstr>
      <vt:lpstr>Verdana</vt:lpstr>
      <vt:lpstr>Wingdings</vt:lpstr>
      <vt:lpstr>White background</vt:lpstr>
      <vt:lpstr>默认主题</vt:lpstr>
      <vt:lpstr>生产进度看板建设</vt:lpstr>
      <vt:lpstr>目录</vt:lpstr>
      <vt:lpstr>生产进度看板建设方案</vt:lpstr>
      <vt:lpstr>PowerPoint 演示文稿</vt:lpstr>
      <vt:lpstr>方案详解及系统实现 </vt:lpstr>
      <vt:lpstr>PowerPoint 演示文稿</vt:lpstr>
      <vt:lpstr>现状：主生产计划-MRP管理需求和问题</vt:lpstr>
      <vt:lpstr>PowerPoint 演示文稿</vt:lpstr>
      <vt:lpstr>配套行动计划</vt:lpstr>
      <vt:lpstr>方案实现的前提条件</vt:lpstr>
      <vt:lpstr>附录</vt:lpstr>
      <vt:lpstr>未来日生产进度看板报表表样</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泰国财务体系合规建设专项方案</dc:title>
  <dc:creator>Tan, Hong-liang</dc:creator>
  <cp:lastModifiedBy>2102125624@qq.com</cp:lastModifiedBy>
  <cp:revision>68</cp:revision>
  <dcterms:created xsi:type="dcterms:W3CDTF">2026-07-20T05:48:00Z</dcterms:created>
  <dcterms:modified xsi:type="dcterms:W3CDTF">2026-08-30T15:14:38Z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8C8A8E2263C4743E61B55D6AA9AF7B3D_42</vt:lpwstr>
  </property>
  <property fmtid="{D5CDD505-2E9C-101B-9397-08002B2CF9AE}" pid="3" name="KSOProductBuildVer">
    <vt:lpwstr>2052-12.1.0.28043</vt:lpwstr>
  </property>
</Properties>
</file>