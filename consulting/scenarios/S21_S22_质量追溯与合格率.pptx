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8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3"/>
    <p:sldMasterId id="2157483746" r:id="rId4"/>
    <p:sldMasterId id="2157483760" r:id="rId5"/>
  </p:sldMasterIdLst>
  <p:notesMasterIdLst>
    <p:notesMasterId r:id="rId31"/>
  </p:notesMasterIdLst>
  <p:handoutMasterIdLst>
    <p:handoutMasterId r:id="rId32"/>
  </p:handoutMasterIdLst>
  <p:sldIdLst>
    <p:sldId id="256" r:id="rId6"/>
    <p:sldId id="2147483474" r:id="rId7"/>
    <p:sldId id="258" r:id="rId8"/>
    <p:sldId id="259" r:id="rId9"/>
    <p:sldId id="275" r:id="rId10"/>
    <p:sldId id="261" r:id="rId11"/>
    <p:sldId id="2147483450" r:id="rId12"/>
    <p:sldId id="2147483462" r:id="rId13"/>
    <p:sldId id="2147483463" r:id="rId14"/>
    <p:sldId id="2147483465" r:id="rId15"/>
    <p:sldId id="2147483466" r:id="rId16"/>
    <p:sldId id="334" r:id="rId17"/>
    <p:sldId id="497" r:id="rId18"/>
    <p:sldId id="500" r:id="rId19"/>
    <p:sldId id="2147483461" r:id="rId20"/>
    <p:sldId id="2147483467" r:id="rId21"/>
    <p:sldId id="889" r:id="rId22"/>
    <p:sldId id="2147483468" r:id="rId23"/>
    <p:sldId id="2147483469" r:id="rId24"/>
    <p:sldId id="2147483471" r:id="rId25"/>
    <p:sldId id="276" r:id="rId26"/>
    <p:sldId id="277" r:id="rId27"/>
    <p:sldId id="278" r:id="rId28"/>
    <p:sldId id="279" r:id="rId29"/>
    <p:sldId id="297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默认节" id="{51C68A47-9DB7-4D88-896A-2EB43746D0C7}">
          <p14:sldIdLst>
            <p14:sldId id="256"/>
            <p14:sldId id="2147483474"/>
            <p14:sldId id="258"/>
            <p14:sldId id="259"/>
            <p14:sldId id="275"/>
            <p14:sldId id="261"/>
            <p14:sldId id="2147483450"/>
            <p14:sldId id="2147483462"/>
            <p14:sldId id="2147483463"/>
            <p14:sldId id="2147483465"/>
            <p14:sldId id="2147483466"/>
            <p14:sldId id="334"/>
            <p14:sldId id="497"/>
            <p14:sldId id="500"/>
            <p14:sldId id="2147483461"/>
            <p14:sldId id="2147483467"/>
            <p14:sldId id="889"/>
            <p14:sldId id="2147483468"/>
            <p14:sldId id="2147483469"/>
            <p14:sldId id="2147483471"/>
            <p14:sldId id="276"/>
            <p14:sldId id="277"/>
            <p14:sldId id="278"/>
            <p14:sldId id="279"/>
            <p14:sldId id="297"/>
          </p14:sldIdLst>
        </p14:section>
        <p14:section name="Default Section" id="{AA60364D-6557-4CF8-8F73-9A435259040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063" autoAdjust="0"/>
  </p:normalViewPr>
  <p:slideViewPr>
    <p:cSldViewPr snapToGrid="0">
      <p:cViewPr varScale="1">
        <p:scale>
          <a:sx n="69" d="100"/>
          <a:sy n="69" d="100"/>
        </p:scale>
        <p:origin x="45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737DE27-6481-FB91-D396-8E6C4BE15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DD64A2-308B-804F-BEB3-E8B1504A7D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29A0-A5F8-45CC-85EA-2963F21E61F0}" type="datetimeFigureOut">
              <a:rPr lang="zh-CN" altLang="en-US" smtClean="0"/>
              <a:t>2026-08-30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44FE75-0CE7-F259-CF1C-B8E8B7479D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E6CB48-655C-C29A-89FA-17584AD285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106CD-7978-41AC-8F23-B0A221CC40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187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标准</a:t>
            </a:r>
            <a:r>
              <a:rPr lang="en-US" sz="1200" b="0" i="0" u="none" strike="noStrike">
                <a:solidFill>
                  <a:srgbClr val="000000"/>
                </a:solidFill>
              </a:rPr>
              <a:t>、精细、协同、高效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精细化的成本分析。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有量化指标的提升。</a:t>
            </a:r>
          </a:p>
          <a:p>
            <a:pPr marL="0" indent="0" algn="l">
              <a:lnSpc>
                <a:spcPct val="100000"/>
              </a:lnSpc>
            </a:pPr>
            <a:endParaRPr sz="1200"/>
          </a:p>
          <a:p>
            <a:pPr marL="0" indent="0" algn="l">
              <a:lnSpc>
                <a:spcPct val="100000"/>
              </a:lnSpc>
            </a:pPr>
            <a:endParaRPr sz="12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张学权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现在停掉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SAP</a:t>
            </a:r>
            <a:r>
              <a:rPr lang="en-US" sz="1200" b="0" i="0" u="none" strike="noStrike">
                <a:solidFill>
                  <a:srgbClr val="000000"/>
                </a:solidFill>
              </a:rPr>
              <a:t>，业务是否还能够照常开展？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r>
              <a:rPr lang="en-US" sz="1200" b="0" i="0" u="none" strike="noStrike">
                <a:solidFill>
                  <a:srgbClr val="000000"/>
                </a:solidFill>
              </a:rPr>
              <a:t>、统一认识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r>
              <a:rPr lang="en-US" sz="1200" b="0" i="0" u="none" strike="noStrike">
                <a:solidFill>
                  <a:srgbClr val="000000"/>
                </a:solidFill>
              </a:rPr>
              <a:t>、锻炼内功，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SAP</a:t>
            </a: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的升级不是简单的更新，而是要把公司过往的组织能力、管理理念、管理流程进行全面的梳理和再造。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r>
              <a:rPr lang="en-US" sz="1200" b="0" i="0" u="none" strike="noStrike">
                <a:solidFill>
                  <a:srgbClr val="000000"/>
                </a:solidFill>
              </a:rPr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CRM</a:t>
            </a: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系统搞不下去了。每个单位指定一个责任心强、沟通能力强的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SAP</a:t>
            </a: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专员。外部公司既要专业，又要接地气。数字化部和财务部要协同好，跟艾维登要协同好。上下联动、左右协同、齐抓共管。系统要管用还要好用。</a:t>
            </a:r>
          </a:p>
          <a:p>
            <a:pPr marL="0" indent="0" algn="l">
              <a:lnSpc>
                <a:spcPct val="100000"/>
              </a:lnSpc>
            </a:pPr>
            <a:endParaRPr sz="12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099-691F-513A-F09D-2A3DCFFF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2DA38-AB69-11A3-2227-A6AB14DDB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651D-2B51-5F0E-8B74-058A3204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25EE-CA90-7DD4-FFF7-E96BBAE8D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6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第一章介绍QM质量追溯与合格率统计分析专项方案的整体概述，包括方案目标、现状差距、业务变革和关键任务等。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  <a:latin typeface="Microsoft YaHei"/>
              </a:defRPr>
            </a:lvl1pPr>
          </a:lstStyle>
          <a:p>
            <a:pPr marL="152400" indent="-1524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历史数据：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设定平行评估激活基准日（如2027年1月1日上线后首个完整月），基准日前的历史数据不回填。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各部门抵触：统一</a:t>
            </a:r>
          </a:p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业务变革：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判断1：这不是SAP实施项目，是一次利益格局重塑。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佛照内部加价制造的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虚拟利润池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按保守估算约为集团真实扣非净利润的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2-3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倍量级。一旦启动消除，任何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的账面利润变化都不是小数点之争，而是生死线的争夺。技术方案再完美，如果集团高层不愿意在年终奖分配上做出强制性决定，整个方案将在执行层被稀释为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系统里跑三套数字，考核还是按老逻辑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判断2：标准成本方向是对的，但前提条件被严重低估。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标准成本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平行评估的组合是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S/4HANA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上的正确架构，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SAP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技术层面完全支持。但佛照有两个硬约束：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LED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芯片等核心原材料年波动可达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20-40%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，若标准成本年度冻结，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Price Variance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可能吃掉全年利润；车灯（燎旺）高度客制化，强套标准成本会产生大量无意义差异。这两个问题不解决，标准成本体系上线即失信。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判断3：0.95%净利率是变革的最佳窗口，也是最大风险来源。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薄利倒逼透明化是有利时机，管理层被迫正视成本真相。但同时，容错空间几乎为零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——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如果标准成本制定错误导致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绩效失真，在如此薄利状态下任何决策偏差都可能直接亏损。数据准备和标准成本核定的精度要求，比财务健康期高一个数量级。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判断4：路径C（双轨KPI权重逐步迁移）是当前唯一可行路径，但"执行死结"在Year 2节点。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（完全集团成本考核）理想但不可落地；路径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（保留法律实体利润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集团视角仅供参考）换汤不换药。路径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可行，但历史上类似改革最常见的失败模式是：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Year 1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顺利，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Year 2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权重调整时受损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重启抵制，高层松动，改革被锁定在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"Year 1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状态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永远不推进。这个节点必须提前设计防御机制。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13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第二章详细介绍QM质量追溯与合格率统计分析的方案设计与系统实现，包括现状需求、质量追溯流程、合格率统计逻辑等。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2239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0927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835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第三章介绍QM质量追溯与合格率统计分析的配套行动计划，包括实施路径、阶段任务和交付成果。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这是QM质量追溯与合格率统计分析项目的实施路径图。项目分为蓝图设计、系统实现和上线保障三个阶段，每个阶段都有明确的时间规划、核心任务和交付成果。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第四章附录，包括QM质量追溯与合格率统计分析的相关术语说明和原始需求清单。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本附录汇总了QM质量追溯与合格率统计分析专项的6项核心需求，涵盖质量追溯5项和合格率统计1项，分别来自质量与客服中心、高明技术品控中心和国际事业部。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7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0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1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2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3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4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5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‹#›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6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7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8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‹#›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sp>
          <p:nvSpPr>
            <p:cNvPr id="3" name="AutoShape 3"/>
            <p:cNvSpPr/>
            <p:nvPr/>
          </p:nvSpPr>
          <p:spPr>
            <a:xfrm rot="10800000">
              <a:off x="6588030" y="0"/>
              <a:ext cx="4884392" cy="4884392"/>
            </a:xfrm>
            <a:prstGeom prst="rect">
              <a:avLst/>
            </a:prstGeom>
            <a:solidFill>
              <a:srgbClr val="EFF0F0">
                <a:alpha val="100000"/>
              </a:srgbClr>
            </a:solidFill>
            <a:ln w="12700">
              <a:solidFill>
                <a:srgbClr val="D0D3D6">
                  <a:alpha val="100000"/>
                </a:srgbClr>
              </a:solidFill>
              <a:prstDash val="dash"/>
            </a:ln>
          </p:spPr>
          <p:txBody>
            <a:bodyPr lIns="63500" tIns="63500" rIns="63500" bIns="63500" rtlCol="0" anchor="ctr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不支持导入的内容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703638" y="4884393"/>
              <a:ext cx="4884392" cy="1973607"/>
            </a:xfrm>
            <a:prstGeom prst="rect">
              <a:avLst/>
            </a:prstGeom>
            <a:solidFill>
              <a:srgbClr val="EFF0F0">
                <a:alpha val="100000"/>
              </a:srgbClr>
            </a:solidFill>
            <a:ln w="12700">
              <a:solidFill>
                <a:srgbClr val="D0D3D6">
                  <a:alpha val="100000"/>
                </a:srgbClr>
              </a:solidFill>
              <a:prstDash val="dash"/>
            </a:ln>
          </p:spPr>
          <p:txBody>
            <a:bodyPr lIns="63500" tIns="63500" rIns="63500" bIns="63500" rtlCol="0" anchor="ctr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不支持导入的内容</a:t>
              </a:r>
              <a:endParaRPr lang="en-US" sz="1100"/>
            </a:p>
          </p:txBody>
        </p:sp>
      </p:grpSp>
      <p:sp>
        <p:nvSpPr>
          <p:cNvPr id="5" name="AutoShape 5"/>
          <p:cNvSpPr>
            <a:spLocks noGrp="1"/>
          </p:cNvSpPr>
          <p:nvPr>
            <p:ph type="body" sz="quarter" idx="39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0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1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3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4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3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2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5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6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7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8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9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50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1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2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53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54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55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56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57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58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EFF0F0">
              <a:alpha val="100000"/>
            </a:srgbClr>
          </a:solidFill>
          <a:ln w="12700">
            <a:solidFill>
              <a:srgbClr val="D0D3D6">
                <a:alpha val="100000"/>
              </a:srgbClr>
            </a:solidFill>
            <a:prstDash val="dash"/>
          </a:ln>
        </p:spPr>
        <p:txBody>
          <a:bodyPr lIns="63500" tIns="63500" rIns="63500" bIns="63500" rtlCol="0" anchor="ctr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不支持导入的内容</a:t>
            </a:r>
            <a:endParaRPr lang="en-US" sz="1100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9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0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800000">
            <a:off x="6588030" y="0"/>
            <a:ext cx="4884392" cy="4884392"/>
          </a:xfrm>
          <a:prstGeom prst="rect">
            <a:avLst/>
          </a:prstGeom>
          <a:solidFill>
            <a:srgbClr val="EFF0F0">
              <a:alpha val="100000"/>
            </a:srgbClr>
          </a:solidFill>
          <a:ln w="12700">
            <a:solidFill>
              <a:srgbClr val="D0D3D6">
                <a:alpha val="100000"/>
              </a:srgbClr>
            </a:solidFill>
            <a:prstDash val="dash"/>
          </a:ln>
        </p:spPr>
        <p:txBody>
          <a:bodyPr lIns="63500" tIns="63500" rIns="63500" bIns="63500" rtlCol="0" anchor="ctr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不支持导入的内容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703638" y="4884393"/>
            <a:ext cx="4884392" cy="1973607"/>
          </a:xfrm>
          <a:prstGeom prst="rect">
            <a:avLst/>
          </a:prstGeom>
          <a:solidFill>
            <a:srgbClr val="EFF0F0">
              <a:alpha val="100000"/>
            </a:srgbClr>
          </a:solidFill>
          <a:ln w="12700">
            <a:solidFill>
              <a:srgbClr val="D0D3D6">
                <a:alpha val="100000"/>
              </a:srgbClr>
            </a:solidFill>
            <a:prstDash val="dash"/>
          </a:ln>
        </p:spPr>
        <p:txBody>
          <a:bodyPr lIns="63500" tIns="63500" rIns="63500" bIns="63500" rtlCol="0" anchor="ctr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不支持导入的内容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2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63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64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3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2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单击此处添加标题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617"/>
              </a:spcBef>
              <a:defRPr/>
            </a:pPr>
            <a:fld id="{7DE4A165-4630-40FF-B617-79D5CF830C91}" type="slidenum">
              <a:rPr sz="1332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3" b="0" i="0" u="none" strike="noStrike" spc="0">
                <a:solidFill>
                  <a:srgbClr val="000000">
                    <a:alpha val="100000"/>
                  </a:srgbClr>
                </a:solidFill>
                <a:latin typeface="Verdana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2" b="0" i="0" u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67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单击此处添加标题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8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单击此处添加文本</a:t>
            </a:r>
          </a:p>
        </p:txBody>
      </p:sp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fld id="{278452A6-020D-4083-816E-7C8B0EB001BB}" type="slidenum">
              <a:rPr sz="1200" b="0" i="0" u="none" strike="noStrike">
                <a:solidFill>
                  <a:srgbClr val="FF6D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‹#›</a:t>
            </a:fld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855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059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D4CF42-3464-EE68-0708-81915D84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C57648-F83C-424A-AC53-4C8A890E64A0}" type="datetimeFigureOut">
              <a:rPr lang="zh-CN" altLang="en-US"/>
              <a:pPr>
                <a:defRPr/>
              </a:pPr>
              <a:t>2026-08-30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E2D4ED-D141-790A-3AA4-42D2D2CC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3D6118-5259-16E2-AB04-B08A1B1A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A461DD7-93D2-4685-8716-B3BCA38CDC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045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7C43F-B668-4B9F-8037-55F77078C9D9}" type="datetime1">
              <a:rPr lang="zh-CN" altLang="en-US" smtClean="0"/>
              <a:pPr/>
              <a:t>2026-08-30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95883" y="6381329"/>
            <a:ext cx="2844800" cy="365125"/>
          </a:xfrm>
        </p:spPr>
        <p:txBody>
          <a:bodyPr/>
          <a:lstStyle/>
          <a:p>
            <a:fld id="{916BAF2F-20AB-46FF-A3BA-9BE697E58B1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321568" y="248773"/>
            <a:ext cx="5870443" cy="4772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815414" y="1268414"/>
            <a:ext cx="10273141" cy="4824883"/>
          </a:xfr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600"/>
            </a:lvl2pPr>
            <a:lvl3pPr>
              <a:lnSpc>
                <a:spcPct val="150000"/>
              </a:lnSpc>
              <a:defRPr sz="140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571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F34D30-4818-3BC1-C527-17B551C54F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E058D3-837E-4E91-82C8-452072F90C8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D40310E-C425-03E4-A680-F1A3B4F84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IBM Confidential</a:t>
            </a:r>
            <a:endParaRPr lang="en-US" altLang="zh-CN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5408775-F95A-5E16-D6E0-E8BAC0806F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73D3A-57D2-484F-8875-53E2442D4983}" type="datetime3">
              <a:rPr lang="zh-CN" altLang="en-US"/>
              <a:pPr>
                <a:defRPr/>
              </a:pPr>
              <a:t>2026年8月30日星期日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1368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7020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7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79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88545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9970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30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2773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2433425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32890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928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1062868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9134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4459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22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hite background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5266D8F-7EC0-AC1E-70CB-F2EB0F3561E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712" r:id="rId1"/>
    <p:sldLayoutId id="2157483713" r:id="rId2"/>
    <p:sldLayoutId id="2157483714" r:id="rId3"/>
    <p:sldLayoutId id="2157483715" r:id="rId4"/>
    <p:sldLayoutId id="2157483716" r:id="rId5"/>
    <p:sldLayoutId id="2157483717" r:id="rId6"/>
    <p:sldLayoutId id="2157483718" r:id="rId7"/>
    <p:sldLayoutId id="2157483719" r:id="rId8"/>
    <p:sldLayoutId id="2157483720" r:id="rId9"/>
    <p:sldLayoutId id="2157483721" r:id="rId10"/>
    <p:sldLayoutId id="2157483722" r:id="rId11"/>
    <p:sldLayoutId id="2157483723" r:id="rId12"/>
    <p:sldLayoutId id="2157483724" r:id="rId13"/>
    <p:sldLayoutId id="2157483727" r:id="rId14"/>
    <p:sldLayoutId id="2157483736" r:id="rId15"/>
    <p:sldLayoutId id="2157483738" r:id="rId16"/>
    <p:sldLayoutId id="2157483741" r:id="rId17"/>
    <p:sldLayoutId id="2157483743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08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47" r:id="rId1"/>
    <p:sldLayoutId id="2157483748" r:id="rId2"/>
    <p:sldLayoutId id="2157483749" r:id="rId3"/>
    <p:sldLayoutId id="2157483750" r:id="rId4"/>
    <p:sldLayoutId id="2157483751" r:id="rId5"/>
    <p:sldLayoutId id="2157483752" r:id="rId6"/>
    <p:sldLayoutId id="2157483753" r:id="rId7"/>
    <p:sldLayoutId id="2157483754" r:id="rId8"/>
    <p:sldLayoutId id="2157483755" r:id="rId9"/>
    <p:sldLayoutId id="2157483756" r:id="rId10"/>
    <p:sldLayoutId id="2157483757" r:id="rId11"/>
    <p:sldLayoutId id="2157483758" r:id="rId12"/>
    <p:sldLayoutId id="2157483759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1301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574837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notesSlide" Target="../notesSlides/notesSlide5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slideLayout" Target="../slideLayouts/slideLayout1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7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tags" Target="../tags/tag93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notesSlide" Target="../notesSlides/notesSlide8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tags" Target="../tags/tag106.xml"/><Relationship Id="rId18" Type="http://schemas.openxmlformats.org/officeDocument/2006/relationships/tags" Target="../tags/tag111.xml"/><Relationship Id="rId3" Type="http://schemas.openxmlformats.org/officeDocument/2006/relationships/tags" Target="../tags/tag96.xml"/><Relationship Id="rId21" Type="http://schemas.openxmlformats.org/officeDocument/2006/relationships/tags" Target="../tags/tag114.xml"/><Relationship Id="rId7" Type="http://schemas.openxmlformats.org/officeDocument/2006/relationships/tags" Target="../tags/tag100.xml"/><Relationship Id="rId12" Type="http://schemas.openxmlformats.org/officeDocument/2006/relationships/tags" Target="../tags/tag105.xml"/><Relationship Id="rId17" Type="http://schemas.openxmlformats.org/officeDocument/2006/relationships/tags" Target="../tags/tag110.xml"/><Relationship Id="rId2" Type="http://schemas.openxmlformats.org/officeDocument/2006/relationships/tags" Target="../tags/tag95.xml"/><Relationship Id="rId16" Type="http://schemas.openxmlformats.org/officeDocument/2006/relationships/tags" Target="../tags/tag109.xml"/><Relationship Id="rId20" Type="http://schemas.openxmlformats.org/officeDocument/2006/relationships/tags" Target="../tags/tag113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tags" Target="../tags/tag104.xml"/><Relationship Id="rId5" Type="http://schemas.openxmlformats.org/officeDocument/2006/relationships/tags" Target="../tags/tag98.xml"/><Relationship Id="rId15" Type="http://schemas.openxmlformats.org/officeDocument/2006/relationships/tags" Target="../tags/tag108.xml"/><Relationship Id="rId10" Type="http://schemas.openxmlformats.org/officeDocument/2006/relationships/tags" Target="../tags/tag103.xml"/><Relationship Id="rId19" Type="http://schemas.openxmlformats.org/officeDocument/2006/relationships/tags" Target="../tags/tag112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tags" Target="../tags/tag107.xml"/><Relationship Id="rId22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tags" Target="../tags/tag132.xml"/><Relationship Id="rId3" Type="http://schemas.openxmlformats.org/officeDocument/2006/relationships/tags" Target="../tags/tag117.xml"/><Relationship Id="rId21" Type="http://schemas.openxmlformats.org/officeDocument/2006/relationships/tags" Target="../tags/tag135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tags" Target="../tags/tag131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20" Type="http://schemas.openxmlformats.org/officeDocument/2006/relationships/tags" Target="../tags/tag134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19" Type="http://schemas.openxmlformats.org/officeDocument/2006/relationships/tags" Target="../tags/tag133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Relationship Id="rId22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" hasCustomPrompt="1"/>
          </p:nvPr>
        </p:nvSpPr>
        <p:spPr>
          <a:xfrm>
            <a:off x="423068" y="1672637"/>
            <a:ext cx="5486400" cy="16412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zh-CN" dirty="0" err="1">
                <a:solidFill>
                  <a:srgbClr val="0073E6"/>
                </a:solidFill>
                <a:ea typeface="Biennale Bold"/>
                <a:cs typeface="Biennale Bold"/>
                <a:sym typeface="Biennale Bold"/>
              </a:rPr>
              <a:t>QM质量追溯与合格率统计分析专项方案</a:t>
            </a:r>
            <a:endParaRPr lang="en-US" altLang="zh-CN" sz="1600" dirty="0"/>
          </a:p>
          <a:p>
            <a:pPr>
              <a:spcAft>
                <a:spcPts val="300"/>
              </a:spcAft>
            </a:pPr>
            <a:endParaRPr lang="en-US" altLang="zh-CN" dirty="0">
              <a:solidFill>
                <a:srgbClr val="0073E6"/>
              </a:solidFill>
              <a:sym typeface="Biennale Bold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endParaRPr lang="en-US" sz="4800" b="0" i="0" u="none" strike="noStrike" dirty="0">
              <a:solidFill>
                <a:srgbClr val="0073E6"/>
              </a:solidFill>
              <a:latin typeface="Biennale Bold"/>
              <a:ea typeface="Biennale Bold"/>
              <a:cs typeface="Biennale Bold"/>
              <a:sym typeface="Biennale Bold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1" hasCustomPrompt="1"/>
          </p:nvPr>
        </p:nvSpPr>
        <p:spPr>
          <a:xfrm>
            <a:off x="423068" y="5121701"/>
            <a:ext cx="3657600" cy="64008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 dirty="0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2026.07.16</a:t>
            </a:r>
          </a:p>
        </p:txBody>
      </p:sp>
      <p:pic>
        <p:nvPicPr>
          <p:cNvPr id="5" name="Picture 5"/>
          <p:cNvPicPr>
            <a:picLocks noGrp="1" noChangeAspect="1"/>
          </p:cNvPicPr>
          <p:nvPr>
            <p:ph type="pic" sz="quarter" idx="32"/>
          </p:nvPr>
        </p:nvPicPr>
        <p:blipFill>
          <a:blip r:embed="rId3"/>
          <a:srcRect l="107" r="106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D90DCF8-A5CF-561B-6A4B-DDE34A170A48}"/>
              </a:ext>
            </a:extLst>
          </p:cNvPr>
          <p:cNvSpPr txBox="1">
            <a:spLocks/>
          </p:cNvSpPr>
          <p:nvPr/>
        </p:nvSpPr>
        <p:spPr>
          <a:xfrm>
            <a:off x="306467" y="3734967"/>
            <a:ext cx="5486400" cy="11218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3600" dirty="0">
                <a:solidFill>
                  <a:srgbClr val="00005C"/>
                </a:solidFill>
                <a:latin typeface="Biennale Bold"/>
              </a:rPr>
              <a:t>业务诊断咨询及</a:t>
            </a:r>
            <a:r>
              <a:rPr lang="en-US" altLang="zh-CN" sz="3600" dirty="0">
                <a:solidFill>
                  <a:srgbClr val="00005C"/>
                </a:solidFill>
                <a:latin typeface="Biennale Bold"/>
              </a:rPr>
              <a:t>SAP</a:t>
            </a:r>
            <a:r>
              <a:rPr lang="zh-CN" altLang="en-US" sz="3600" dirty="0">
                <a:solidFill>
                  <a:srgbClr val="00005C"/>
                </a:solidFill>
                <a:latin typeface="Biennale Bold"/>
              </a:rPr>
              <a:t>系统升级实施项目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6438-7BA8-E489-8651-A1875BC5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CAD6ED9-8951-B688-33F4-3E98B7B6F5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68C3A93-8341-3E29-A3E2-722091ED34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83A23855-A582-76E3-8B61-D17384504B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2265A972-65DB-2F3A-7C3D-F1A090BD6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BDC34C5-051E-81BC-1A5F-5DDCA858EF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C792566-17F0-B653-DC15-60F3AA9C94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3F1A9DA2-457B-60D7-87D8-98DA7E892B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5845B33-F50A-959F-BE1D-27B13D52F04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ABBB06F-7718-FC39-B0BA-8E546E2F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DE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2E4B8EC-53DE-3D5C-3F73-2B75FEAA7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6082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6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专项方案概述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QM质量追溯与合格率统计分析：方案总览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D69C9FD-CD2A-451F-98DF-4B5A2F7E3D0B}" type="slidenum"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项目目标：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建立QM全链路质量追溯体系（来料/过程/成品/退货），实现质量问题精准定位与根源分析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建立合格率自动化统计分析体系，实现总批次/合格批次/合格率/让步收货/退货率的实时统计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产品包装/灯印信息系统化维护，支撑来料与成品光电数据对标分析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项目方案：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2.1 质量追溯体系：检验批+批次管理+质量通知单，实现供应商→工单→成品全链路追溯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2.2 合格率统计分析：主检验特性配置 + UD使用决策 + 自定义报表开发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通过 Group Reporting 实现集团层面成本还原和内部交易利润消除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建立质量不良统一归档，关联供应商/BOM版本，支撑研发优化。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现状：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产品包装/灯印信息未系统化，检验时需线下查找；来料IQC与成品FQC数据独立无关联，无法对标校验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检验批总览报表字段不足；QA32仅显示供应商代码；质量不良记录未统一归档。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合格率统计依赖人工Excel汇总，效率低且易出错，无法支撑车间精细化考核。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主要差距：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系统无多维度成本评估能力（法人成本 vs 集团成本无法并行）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质量追溯依赖人工经验排查，问题溯源效率低，供应商质量无法量化管理。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合格率统计无系统支撑，让步收货/退货批次无法自动分类统计。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9079" y="3008094"/>
            <a:ext cx="4522498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库存评估：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从移动平均价（佛照认为的实际成本），到标准价格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销售定价：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从无统一规则→ZTP1条件类型自动带出报关价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外部约束：客户对质量追溯能力要求日趋严格，供应商质量需量化管理。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容错空间：质量问题导致的客诉/退货成本高，质量追溯能力建设迫在眉睫。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328297"/>
            <a:ext cx="4522498" cy="17684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检验计划配置：增加成品检验包装特性（包装/灯印信息）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批次关联：建立物料批次+生产工单关联逻辑，实现来料与成品数据对标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报表优化：检验批总览增加缺陷/检验描述/生产车间字段；QA32增强供应商信息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质量归档：质量通知单统一归档，关联供应商/BOM版本，支撑研发优化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合格率配置：主检验特性（合格率/送检次数/退回批次）+ UD使用决策代码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税务合规文档化： 输出符合OECD要求的转移定价政策文档及系统操作手册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强依赖：物料/供应商/批次主数据准确性（追溯逻辑基础）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•MES系统集成依赖（车灯事业部过程检验数据交互）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•历史检验数据迁移与清洗，确保合格率统计基线准确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中文）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质量追溯效率提升：人工排查→系统秒级定位，客诉响应缩短80%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合格率统计：从手工Excel→系统自动报表，统计时间从天级降到分钟级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供应商质量量化管理，支撑采购决策与研发优化</a:t>
            </a:r>
          </a:p>
          <a:p>
            <a:pPr marL="127000" marR="0" lvl="0" indent="-127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质量不良记录统一归档，同类问题重复发生率降低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主责：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 质量与客服中心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配合：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 高明技术品控中心、国际事业部、MES车灯事业部、数智化部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外部：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Atos SAP QM顾问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5 责任部门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6 里程碑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7 风险与项目依赖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8 业务价值和数字化指标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73854" y="4165122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4 关键任务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90570" y="2913921"/>
            <a:ext cx="1376734" cy="2151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3 业务变革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 现状/差距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0731" y="91600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1 目标和范围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518896" y="2376115"/>
            <a:ext cx="103979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蓝图确认（强前置）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miter lim="1000000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984824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QM模块上线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9682457" y="2376115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系统实现+集成测试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2">
            <a:extLst>
              <a:ext uri="{FF2B5EF4-FFF2-40B4-BE49-F238E27FC236}">
                <a16:creationId xmlns:a16="http://schemas.microsoft.com/office/drawing/2014/main" id="{3A48C3BA-0948-C785-6B44-053D44A673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58364" y="2136757"/>
            <a:ext cx="2123955" cy="1689171"/>
          </a:xfrm>
          <a:custGeom>
            <a:avLst/>
            <a:gdLst>
              <a:gd name="connsiteX0" fmla="*/ 1715196 w 2742832"/>
              <a:gd name="connsiteY0" fmla="*/ 2181363 h 2181362"/>
              <a:gd name="connsiteX1" fmla="*/ 1700086 w 2742832"/>
              <a:gd name="connsiteY1" fmla="*/ 2178504 h 2181362"/>
              <a:gd name="connsiteX2" fmla="*/ 1674358 w 2742832"/>
              <a:gd name="connsiteY2" fmla="*/ 2140525 h 2181362"/>
              <a:gd name="connsiteX3" fmla="*/ 1674358 w 2742832"/>
              <a:gd name="connsiteY3" fmla="*/ 1766245 h 2181362"/>
              <a:gd name="connsiteX4" fmla="*/ 1715196 w 2742832"/>
              <a:gd name="connsiteY4" fmla="*/ 1725407 h 2181362"/>
              <a:gd name="connsiteX5" fmla="*/ 1756034 w 2742832"/>
              <a:gd name="connsiteY5" fmla="*/ 1766245 h 2181362"/>
              <a:gd name="connsiteX6" fmla="*/ 1756034 w 2742832"/>
              <a:gd name="connsiteY6" fmla="*/ 2037613 h 2181362"/>
              <a:gd name="connsiteX7" fmla="*/ 2646097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5196" y="2181363"/>
                </a:moveTo>
                <a:cubicBezTo>
                  <a:pt x="1710091" y="2181363"/>
                  <a:pt x="1704986" y="2180342"/>
                  <a:pt x="1700086" y="2178504"/>
                </a:cubicBezTo>
                <a:cubicBezTo>
                  <a:pt x="1684567" y="2172378"/>
                  <a:pt x="1674358" y="2157268"/>
                  <a:pt x="1674358" y="2140525"/>
                </a:cubicBezTo>
                <a:lnTo>
                  <a:pt x="1674358" y="1766245"/>
                </a:lnTo>
                <a:cubicBezTo>
                  <a:pt x="1674358" y="1743784"/>
                  <a:pt x="1692735" y="1725407"/>
                  <a:pt x="1715196" y="1725407"/>
                </a:cubicBezTo>
                <a:cubicBezTo>
                  <a:pt x="1737656" y="1725407"/>
                  <a:pt x="1756034" y="1743784"/>
                  <a:pt x="1756034" y="1766245"/>
                </a:cubicBezTo>
                <a:lnTo>
                  <a:pt x="1756034" y="2037613"/>
                </a:lnTo>
                <a:lnTo>
                  <a:pt x="2646097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61C05"/>
              </a:solidFill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76" name="Text3">
            <a:extLst>
              <a:ext uri="{FF2B5EF4-FFF2-40B4-BE49-F238E27FC236}">
                <a16:creationId xmlns:a16="http://schemas.microsoft.com/office/drawing/2014/main" id="{CD94BE81-E89D-671B-9551-3B41C2E261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545095" y="2136759"/>
            <a:ext cx="2123955" cy="1689171"/>
          </a:xfrm>
          <a:custGeom>
            <a:avLst/>
            <a:gdLst>
              <a:gd name="connsiteX0" fmla="*/ 1715196 w 2742832"/>
              <a:gd name="connsiteY0" fmla="*/ 0 h 2181362"/>
              <a:gd name="connsiteX1" fmla="*/ 1700085 w 2742832"/>
              <a:gd name="connsiteY1" fmla="*/ 2859 h 2181362"/>
              <a:gd name="connsiteX2" fmla="*/ 1674358 w 2742832"/>
              <a:gd name="connsiteY2" fmla="*/ 40838 h 2181362"/>
              <a:gd name="connsiteX3" fmla="*/ 1674358 w 2742832"/>
              <a:gd name="connsiteY3" fmla="*/ 415118 h 2181362"/>
              <a:gd name="connsiteX4" fmla="*/ 1715196 w 2742832"/>
              <a:gd name="connsiteY4" fmla="*/ 455956 h 2181362"/>
              <a:gd name="connsiteX5" fmla="*/ 1756034 w 2742832"/>
              <a:gd name="connsiteY5" fmla="*/ 415118 h 2181362"/>
              <a:gd name="connsiteX6" fmla="*/ 1756034 w 2742832"/>
              <a:gd name="connsiteY6" fmla="*/ 143750 h 2181362"/>
              <a:gd name="connsiteX7" fmla="*/ 2646097 w 2742832"/>
              <a:gd name="connsiteY7" fmla="*/ 1088944 h 2181362"/>
              <a:gd name="connsiteX8" fmla="*/ 1752766 w 2742832"/>
              <a:gd name="connsiteY8" fmla="*/ 2037610 h 2181362"/>
              <a:gd name="connsiteX9" fmla="*/ 1752766 w 2742832"/>
              <a:gd name="connsiteY9" fmla="*/ 1752561 h 2181362"/>
              <a:gd name="connsiteX10" fmla="*/ 1711928 w 2742832"/>
              <a:gd name="connsiteY10" fmla="*/ 1711723 h 2181362"/>
              <a:gd name="connsiteX11" fmla="*/ 40838 w 2742832"/>
              <a:gd name="connsiteY11" fmla="*/ 1711723 h 2181362"/>
              <a:gd name="connsiteX12" fmla="*/ 0 w 2742832"/>
              <a:gd name="connsiteY12" fmla="*/ 1752561 h 2181362"/>
              <a:gd name="connsiteX13" fmla="*/ 40838 w 2742832"/>
              <a:gd name="connsiteY13" fmla="*/ 1793399 h 2181362"/>
              <a:gd name="connsiteX14" fmla="*/ 1670886 w 2742832"/>
              <a:gd name="connsiteY14" fmla="*/ 1793399 h 2181362"/>
              <a:gd name="connsiteX15" fmla="*/ 1670886 w 2742832"/>
              <a:gd name="connsiteY15" fmla="*/ 2140522 h 2181362"/>
              <a:gd name="connsiteX16" fmla="*/ 1696614 w 2742832"/>
              <a:gd name="connsiteY16" fmla="*/ 2178501 h 2181362"/>
              <a:gd name="connsiteX17" fmla="*/ 1741332 w 2742832"/>
              <a:gd name="connsiteY17" fmla="*/ 2168496 h 2181362"/>
              <a:gd name="connsiteX18" fmla="*/ 2731653 w 2742832"/>
              <a:gd name="connsiteY18" fmla="*/ 1116918 h 2181362"/>
              <a:gd name="connsiteX19" fmla="*/ 2731653 w 2742832"/>
              <a:gd name="connsiteY19" fmla="*/ 1060970 h 2181362"/>
              <a:gd name="connsiteX20" fmla="*/ 1744803 w 2742832"/>
              <a:gd name="connsiteY20" fmla="*/ 12864 h 2181362"/>
              <a:gd name="connsiteX21" fmla="*/ 1714991 w 2742832"/>
              <a:gd name="connsiteY21" fmla="*/ 0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5196" y="0"/>
                </a:moveTo>
                <a:cubicBezTo>
                  <a:pt x="1710091" y="0"/>
                  <a:pt x="1704986" y="1021"/>
                  <a:pt x="1700085" y="2859"/>
                </a:cubicBezTo>
                <a:cubicBezTo>
                  <a:pt x="1684567" y="8984"/>
                  <a:pt x="1674358" y="24094"/>
                  <a:pt x="1674358" y="40838"/>
                </a:cubicBezTo>
                <a:lnTo>
                  <a:pt x="1674358" y="415118"/>
                </a:lnTo>
                <a:cubicBezTo>
                  <a:pt x="1674358" y="437579"/>
                  <a:pt x="1692735" y="455956"/>
                  <a:pt x="1715196" y="455956"/>
                </a:cubicBezTo>
                <a:cubicBezTo>
                  <a:pt x="1737657" y="455956"/>
                  <a:pt x="1756034" y="437579"/>
                  <a:pt x="1756034" y="415118"/>
                </a:cubicBezTo>
                <a:lnTo>
                  <a:pt x="1756034" y="143750"/>
                </a:lnTo>
                <a:lnTo>
                  <a:pt x="2646097" y="1088944"/>
                </a:lnTo>
                <a:lnTo>
                  <a:pt x="1752766" y="2037610"/>
                </a:lnTo>
                <a:lnTo>
                  <a:pt x="1752766" y="1752561"/>
                </a:lnTo>
                <a:cubicBezTo>
                  <a:pt x="1752766" y="1730100"/>
                  <a:pt x="1734389" y="1711723"/>
                  <a:pt x="1711928" y="1711723"/>
                </a:cubicBezTo>
                <a:lnTo>
                  <a:pt x="40838" y="1711723"/>
                </a:lnTo>
                <a:cubicBezTo>
                  <a:pt x="18377" y="1711723"/>
                  <a:pt x="0" y="1730100"/>
                  <a:pt x="0" y="1752561"/>
                </a:cubicBezTo>
                <a:cubicBezTo>
                  <a:pt x="0" y="1775022"/>
                  <a:pt x="18377" y="1793399"/>
                  <a:pt x="40838" y="1793399"/>
                </a:cubicBezTo>
                <a:lnTo>
                  <a:pt x="1670886" y="1793399"/>
                </a:lnTo>
                <a:lnTo>
                  <a:pt x="1670886" y="2140522"/>
                </a:lnTo>
                <a:cubicBezTo>
                  <a:pt x="1670886" y="2157265"/>
                  <a:pt x="1681096" y="2172375"/>
                  <a:pt x="1696614" y="2178501"/>
                </a:cubicBezTo>
                <a:cubicBezTo>
                  <a:pt x="1712133" y="2184627"/>
                  <a:pt x="1729897" y="2180747"/>
                  <a:pt x="1741332" y="2168496"/>
                </a:cubicBezTo>
                <a:lnTo>
                  <a:pt x="2731653" y="1116918"/>
                </a:lnTo>
                <a:cubicBezTo>
                  <a:pt x="2746559" y="1101196"/>
                  <a:pt x="2746559" y="1076693"/>
                  <a:pt x="2731653" y="1060970"/>
                </a:cubicBezTo>
                <a:lnTo>
                  <a:pt x="1744803" y="12864"/>
                </a:lnTo>
                <a:cubicBezTo>
                  <a:pt x="1736840" y="4492"/>
                  <a:pt x="1726018" y="0"/>
                  <a:pt x="1714991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61C05"/>
              </a:solidFill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77" name="Text4">
            <a:extLst>
              <a:ext uri="{FF2B5EF4-FFF2-40B4-BE49-F238E27FC236}">
                <a16:creationId xmlns:a16="http://schemas.microsoft.com/office/drawing/2014/main" id="{2155C526-61E5-089E-D8BF-FE6B9F99DC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23445" y="2136757"/>
            <a:ext cx="2123955" cy="1689171"/>
          </a:xfrm>
          <a:custGeom>
            <a:avLst/>
            <a:gdLst>
              <a:gd name="connsiteX0" fmla="*/ 1714991 w 2742832"/>
              <a:gd name="connsiteY0" fmla="*/ 2181363 h 2181362"/>
              <a:gd name="connsiteX1" fmla="*/ 1699881 w 2742832"/>
              <a:gd name="connsiteY1" fmla="*/ 2178504 h 2181362"/>
              <a:gd name="connsiteX2" fmla="*/ 1674153 w 2742832"/>
              <a:gd name="connsiteY2" fmla="*/ 2140525 h 2181362"/>
              <a:gd name="connsiteX3" fmla="*/ 1674153 w 2742832"/>
              <a:gd name="connsiteY3" fmla="*/ 1766245 h 2181362"/>
              <a:gd name="connsiteX4" fmla="*/ 1714991 w 2742832"/>
              <a:gd name="connsiteY4" fmla="*/ 1725407 h 2181362"/>
              <a:gd name="connsiteX5" fmla="*/ 1755829 w 2742832"/>
              <a:gd name="connsiteY5" fmla="*/ 1766245 h 2181362"/>
              <a:gd name="connsiteX6" fmla="*/ 1755829 w 2742832"/>
              <a:gd name="connsiteY6" fmla="*/ 2037613 h 2181362"/>
              <a:gd name="connsiteX7" fmla="*/ 2645893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2181363"/>
                </a:moveTo>
                <a:cubicBezTo>
                  <a:pt x="1709886" y="2181363"/>
                  <a:pt x="1704782" y="2180342"/>
                  <a:pt x="1699881" y="2178504"/>
                </a:cubicBezTo>
                <a:cubicBezTo>
                  <a:pt x="1684363" y="2172378"/>
                  <a:pt x="1674153" y="2157268"/>
                  <a:pt x="1674153" y="2140525"/>
                </a:cubicBezTo>
                <a:lnTo>
                  <a:pt x="1674153" y="1766245"/>
                </a:lnTo>
                <a:cubicBezTo>
                  <a:pt x="1674153" y="1743784"/>
                  <a:pt x="1692530" y="1725407"/>
                  <a:pt x="1714991" y="1725407"/>
                </a:cubicBezTo>
                <a:cubicBezTo>
                  <a:pt x="1737452" y="1725407"/>
                  <a:pt x="1755829" y="1743784"/>
                  <a:pt x="1755829" y="1766245"/>
                </a:cubicBezTo>
                <a:lnTo>
                  <a:pt x="1755829" y="2037613"/>
                </a:lnTo>
                <a:lnTo>
                  <a:pt x="2645893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zh-CN" altLang="en-US" b="1">
              <a:solidFill>
                <a:srgbClr val="461C05"/>
              </a:solidFill>
              <a:latin typeface="+mn-ea"/>
            </a:endParaRPr>
          </a:p>
        </p:txBody>
      </p:sp>
      <p:sp>
        <p:nvSpPr>
          <p:cNvPr id="78" name="Text5">
            <a:extLst>
              <a:ext uri="{FF2B5EF4-FFF2-40B4-BE49-F238E27FC236}">
                <a16:creationId xmlns:a16="http://schemas.microsoft.com/office/drawing/2014/main" id="{3A72A70C-0E55-CBE8-F7ED-9887F52E4B4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110175" y="2136759"/>
            <a:ext cx="2123955" cy="1689171"/>
          </a:xfrm>
          <a:custGeom>
            <a:avLst/>
            <a:gdLst>
              <a:gd name="connsiteX0" fmla="*/ 1714991 w 2742832"/>
              <a:gd name="connsiteY0" fmla="*/ 0 h 2181362"/>
              <a:gd name="connsiteX1" fmla="*/ 1699881 w 2742832"/>
              <a:gd name="connsiteY1" fmla="*/ 2859 h 2181362"/>
              <a:gd name="connsiteX2" fmla="*/ 1674153 w 2742832"/>
              <a:gd name="connsiteY2" fmla="*/ 40838 h 2181362"/>
              <a:gd name="connsiteX3" fmla="*/ 1674153 w 2742832"/>
              <a:gd name="connsiteY3" fmla="*/ 415118 h 2181362"/>
              <a:gd name="connsiteX4" fmla="*/ 1714991 w 2742832"/>
              <a:gd name="connsiteY4" fmla="*/ 455956 h 2181362"/>
              <a:gd name="connsiteX5" fmla="*/ 1755829 w 2742832"/>
              <a:gd name="connsiteY5" fmla="*/ 415118 h 2181362"/>
              <a:gd name="connsiteX6" fmla="*/ 1755829 w 2742832"/>
              <a:gd name="connsiteY6" fmla="*/ 143750 h 2181362"/>
              <a:gd name="connsiteX7" fmla="*/ 2645893 w 2742832"/>
              <a:gd name="connsiteY7" fmla="*/ 1088944 h 2181362"/>
              <a:gd name="connsiteX8" fmla="*/ 1752562 w 2742832"/>
              <a:gd name="connsiteY8" fmla="*/ 2037610 h 2181362"/>
              <a:gd name="connsiteX9" fmla="*/ 1752562 w 2742832"/>
              <a:gd name="connsiteY9" fmla="*/ 1752561 h 2181362"/>
              <a:gd name="connsiteX10" fmla="*/ 1711724 w 2742832"/>
              <a:gd name="connsiteY10" fmla="*/ 1711723 h 2181362"/>
              <a:gd name="connsiteX11" fmla="*/ 40838 w 2742832"/>
              <a:gd name="connsiteY11" fmla="*/ 1711723 h 2181362"/>
              <a:gd name="connsiteX12" fmla="*/ 0 w 2742832"/>
              <a:gd name="connsiteY12" fmla="*/ 1752561 h 2181362"/>
              <a:gd name="connsiteX13" fmla="*/ 40838 w 2742832"/>
              <a:gd name="connsiteY13" fmla="*/ 1793399 h 2181362"/>
              <a:gd name="connsiteX14" fmla="*/ 1670886 w 2742832"/>
              <a:gd name="connsiteY14" fmla="*/ 1793399 h 2181362"/>
              <a:gd name="connsiteX15" fmla="*/ 1670886 w 2742832"/>
              <a:gd name="connsiteY15" fmla="*/ 2140522 h 2181362"/>
              <a:gd name="connsiteX16" fmla="*/ 1696614 w 2742832"/>
              <a:gd name="connsiteY16" fmla="*/ 2178501 h 2181362"/>
              <a:gd name="connsiteX17" fmla="*/ 1741332 w 2742832"/>
              <a:gd name="connsiteY17" fmla="*/ 2168496 h 2181362"/>
              <a:gd name="connsiteX18" fmla="*/ 2731653 w 2742832"/>
              <a:gd name="connsiteY18" fmla="*/ 1116918 h 2181362"/>
              <a:gd name="connsiteX19" fmla="*/ 2731653 w 2742832"/>
              <a:gd name="connsiteY19" fmla="*/ 1060970 h 2181362"/>
              <a:gd name="connsiteX20" fmla="*/ 1744803 w 2742832"/>
              <a:gd name="connsiteY20" fmla="*/ 12864 h 2181362"/>
              <a:gd name="connsiteX21" fmla="*/ 1714991 w 2742832"/>
              <a:gd name="connsiteY21" fmla="*/ 0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0"/>
                </a:moveTo>
                <a:cubicBezTo>
                  <a:pt x="1709886" y="0"/>
                  <a:pt x="1704782" y="1021"/>
                  <a:pt x="1699881" y="2859"/>
                </a:cubicBezTo>
                <a:cubicBezTo>
                  <a:pt x="1684363" y="8984"/>
                  <a:pt x="1674153" y="24094"/>
                  <a:pt x="1674153" y="40838"/>
                </a:cubicBezTo>
                <a:lnTo>
                  <a:pt x="1674153" y="415118"/>
                </a:lnTo>
                <a:cubicBezTo>
                  <a:pt x="1674153" y="437579"/>
                  <a:pt x="1692530" y="455956"/>
                  <a:pt x="1714991" y="455956"/>
                </a:cubicBezTo>
                <a:cubicBezTo>
                  <a:pt x="1737452" y="455956"/>
                  <a:pt x="1755829" y="437579"/>
                  <a:pt x="1755829" y="415118"/>
                </a:cubicBezTo>
                <a:lnTo>
                  <a:pt x="1755829" y="143750"/>
                </a:lnTo>
                <a:lnTo>
                  <a:pt x="2645893" y="1088944"/>
                </a:lnTo>
                <a:lnTo>
                  <a:pt x="1752562" y="2037610"/>
                </a:lnTo>
                <a:lnTo>
                  <a:pt x="1752562" y="1752561"/>
                </a:lnTo>
                <a:cubicBezTo>
                  <a:pt x="1752562" y="1730100"/>
                  <a:pt x="1734185" y="1711723"/>
                  <a:pt x="1711724" y="1711723"/>
                </a:cubicBezTo>
                <a:lnTo>
                  <a:pt x="40838" y="1711723"/>
                </a:lnTo>
                <a:cubicBezTo>
                  <a:pt x="18377" y="1711723"/>
                  <a:pt x="0" y="1730100"/>
                  <a:pt x="0" y="1752561"/>
                </a:cubicBezTo>
                <a:cubicBezTo>
                  <a:pt x="0" y="1775022"/>
                  <a:pt x="18377" y="1793399"/>
                  <a:pt x="40838" y="1793399"/>
                </a:cubicBezTo>
                <a:lnTo>
                  <a:pt x="1670886" y="1793399"/>
                </a:lnTo>
                <a:lnTo>
                  <a:pt x="1670886" y="2140522"/>
                </a:lnTo>
                <a:cubicBezTo>
                  <a:pt x="1670886" y="2157265"/>
                  <a:pt x="1681096" y="2172375"/>
                  <a:pt x="1696614" y="2178501"/>
                </a:cubicBezTo>
                <a:cubicBezTo>
                  <a:pt x="1712133" y="2184627"/>
                  <a:pt x="1729897" y="2180747"/>
                  <a:pt x="1741332" y="2168496"/>
                </a:cubicBezTo>
                <a:lnTo>
                  <a:pt x="2731653" y="1116918"/>
                </a:lnTo>
                <a:cubicBezTo>
                  <a:pt x="2746559" y="1101196"/>
                  <a:pt x="2746559" y="1076693"/>
                  <a:pt x="2731653" y="1060970"/>
                </a:cubicBezTo>
                <a:lnTo>
                  <a:pt x="1744803" y="12864"/>
                </a:lnTo>
                <a:cubicBezTo>
                  <a:pt x="1736840" y="4492"/>
                  <a:pt x="1726018" y="0"/>
                  <a:pt x="1714991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zh-CN" altLang="en-US" b="1">
              <a:solidFill>
                <a:srgbClr val="461C05"/>
              </a:solidFill>
              <a:latin typeface="+mn-ea"/>
            </a:endParaRPr>
          </a:p>
        </p:txBody>
      </p:sp>
      <p:grpSp>
        <p:nvGrpSpPr>
          <p:cNvPr id="79" name="Text6">
            <a:extLst>
              <a:ext uri="{FF2B5EF4-FFF2-40B4-BE49-F238E27FC236}">
                <a16:creationId xmlns:a16="http://schemas.microsoft.com/office/drawing/2014/main" id="{48671195-0B3A-7010-CF36-2578A8EBE2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394788" y="3440913"/>
            <a:ext cx="85699" cy="722122"/>
            <a:chOff x="2088772" y="4313499"/>
            <a:chExt cx="110670" cy="932534"/>
          </a:xfr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5400000" scaled="1"/>
          </a:gradFill>
        </p:grpSpPr>
        <p:sp>
          <p:nvSpPr>
            <p:cNvPr id="80" name="任意多边形: 形状 9">
              <a:extLst>
                <a:ext uri="{FF2B5EF4-FFF2-40B4-BE49-F238E27FC236}">
                  <a16:creationId xmlns:a16="http://schemas.microsoft.com/office/drawing/2014/main" id="{AC829FBD-3DCD-F708-712C-4BF1310C86D2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2117767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1" name="任意多边形: 形状 10">
              <a:extLst>
                <a:ext uri="{FF2B5EF4-FFF2-40B4-BE49-F238E27FC236}">
                  <a16:creationId xmlns:a16="http://schemas.microsoft.com/office/drawing/2014/main" id="{41A6347F-7F28-641D-0ADF-ECA730F5672A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2117767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2" name="任意多边形: 形状 11">
              <a:extLst>
                <a:ext uri="{FF2B5EF4-FFF2-40B4-BE49-F238E27FC236}">
                  <a16:creationId xmlns:a16="http://schemas.microsoft.com/office/drawing/2014/main" id="{D89DC34C-C5D0-915F-A592-498CC20AF4A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2117767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3" name="任意多边形: 形状 12">
              <a:extLst>
                <a:ext uri="{FF2B5EF4-FFF2-40B4-BE49-F238E27FC236}">
                  <a16:creationId xmlns:a16="http://schemas.microsoft.com/office/drawing/2014/main" id="{C9237774-FB53-8ECC-CDB5-AF1DEA85E1E9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2117767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4" name="任意多边形: 形状 13">
              <a:extLst>
                <a:ext uri="{FF2B5EF4-FFF2-40B4-BE49-F238E27FC236}">
                  <a16:creationId xmlns:a16="http://schemas.microsoft.com/office/drawing/2014/main" id="{42B24A90-8FE2-3613-508F-D39579F6C024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2117767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5" name="任意多边形: 形状 15">
              <a:extLst>
                <a:ext uri="{FF2B5EF4-FFF2-40B4-BE49-F238E27FC236}">
                  <a16:creationId xmlns:a16="http://schemas.microsoft.com/office/drawing/2014/main" id="{9C1F3030-BEBA-4C2E-B10E-7048B1833B9B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2117767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6" name="任意多边形: 形状 25">
              <a:extLst>
                <a:ext uri="{FF2B5EF4-FFF2-40B4-BE49-F238E27FC236}">
                  <a16:creationId xmlns:a16="http://schemas.microsoft.com/office/drawing/2014/main" id="{AB68116B-0492-AA5A-7A9E-926661FB999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2088772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5" y="110671"/>
                  </a:cubicBezTo>
                  <a:cubicBezTo>
                    <a:pt x="24774" y="110671"/>
                    <a:pt x="0" y="85897"/>
                    <a:pt x="0" y="55335"/>
                  </a:cubicBezTo>
                  <a:cubicBezTo>
                    <a:pt x="0" y="24774"/>
                    <a:pt x="24774" y="0"/>
                    <a:pt x="55335" y="0"/>
                  </a:cubicBezTo>
                  <a:cubicBezTo>
                    <a:pt x="85896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grpSp>
        <p:nvGrpSpPr>
          <p:cNvPr id="87" name="Text7">
            <a:extLst>
              <a:ext uri="{FF2B5EF4-FFF2-40B4-BE49-F238E27FC236}">
                <a16:creationId xmlns:a16="http://schemas.microsoft.com/office/drawing/2014/main" id="{D5D65871-18BE-DC1C-7BB4-06456BD73BB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180095" y="2045070"/>
            <a:ext cx="85699" cy="721964"/>
            <a:chOff x="4394281" y="2209936"/>
            <a:chExt cx="110670" cy="932330"/>
          </a:xfr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</p:grpSpPr>
        <p:sp>
          <p:nvSpPr>
            <p:cNvPr id="88" name="任意多边形: 形状 30">
              <a:extLst>
                <a:ext uri="{FF2B5EF4-FFF2-40B4-BE49-F238E27FC236}">
                  <a16:creationId xmlns:a16="http://schemas.microsoft.com/office/drawing/2014/main" id="{3149C48F-E416-18E1-940B-336851C31E7D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4423276" y="3089585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9" name="任意多边形: 形状 33">
              <a:extLst>
                <a:ext uri="{FF2B5EF4-FFF2-40B4-BE49-F238E27FC236}">
                  <a16:creationId xmlns:a16="http://schemas.microsoft.com/office/drawing/2014/main" id="{601A73C9-1F9E-C972-F581-893F799E19F6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4423276" y="294665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0" name="任意多边形: 形状 37">
              <a:extLst>
                <a:ext uri="{FF2B5EF4-FFF2-40B4-BE49-F238E27FC236}">
                  <a16:creationId xmlns:a16="http://schemas.microsoft.com/office/drawing/2014/main" id="{47EF91E5-43DE-C970-1261-1301C6D21079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4423276" y="281066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1" name="任意多边形: 形状 38">
              <a:extLst>
                <a:ext uri="{FF2B5EF4-FFF2-40B4-BE49-F238E27FC236}">
                  <a16:creationId xmlns:a16="http://schemas.microsoft.com/office/drawing/2014/main" id="{F1009725-A077-6E24-56D9-C3B10AF956D8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4423276" y="266772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2" name="任意多边形: 形状 41">
              <a:extLst>
                <a:ext uri="{FF2B5EF4-FFF2-40B4-BE49-F238E27FC236}">
                  <a16:creationId xmlns:a16="http://schemas.microsoft.com/office/drawing/2014/main" id="{202DC4A0-3735-CCDA-0F05-80CF6C81B6C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4423276" y="2531534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1 w 52681"/>
                <a:gd name="connsiteY1" fmla="*/ 52681 h 52680"/>
                <a:gd name="connsiteX2" fmla="*/ 0 w 52681"/>
                <a:gd name="connsiteY2" fmla="*/ 26341 h 52680"/>
                <a:gd name="connsiteX3" fmla="*/ 26341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3" name="任意多边形: 形状 42">
              <a:extLst>
                <a:ext uri="{FF2B5EF4-FFF2-40B4-BE49-F238E27FC236}">
                  <a16:creationId xmlns:a16="http://schemas.microsoft.com/office/drawing/2014/main" id="{4FD10D47-3FA7-20E7-E82E-63014A4FA5D2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4423276" y="238860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4" name="任意多边形: 形状 44">
              <a:extLst>
                <a:ext uri="{FF2B5EF4-FFF2-40B4-BE49-F238E27FC236}">
                  <a16:creationId xmlns:a16="http://schemas.microsoft.com/office/drawing/2014/main" id="{924ABEBC-D17C-B1B1-118C-A9AD69661C08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4394281" y="2209936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7" y="110671"/>
                    <a:pt x="55335" y="110671"/>
                  </a:cubicBezTo>
                  <a:cubicBezTo>
                    <a:pt x="24774" y="110671"/>
                    <a:pt x="0" y="85896"/>
                    <a:pt x="0" y="55335"/>
                  </a:cubicBezTo>
                  <a:cubicBezTo>
                    <a:pt x="0" y="24775"/>
                    <a:pt x="24774" y="0"/>
                    <a:pt x="55335" y="0"/>
                  </a:cubicBezTo>
                  <a:cubicBezTo>
                    <a:pt x="85896" y="0"/>
                    <a:pt x="110671" y="24775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111" name="Text10">
            <a:extLst>
              <a:ext uri="{FF2B5EF4-FFF2-40B4-BE49-F238E27FC236}">
                <a16:creationId xmlns:a16="http://schemas.microsoft.com/office/drawing/2014/main" id="{5CBD5BF4-ED01-1D42-EAA5-17ED2FC7D97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77848" y="842706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45241F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导入质量检验工单，计划和安排来料检验、过程巡检、成品终检任务，并向检验岗位 </a:t>
            </a:r>
            <a:r>
              <a:rPr lang="en-US" altLang="zh-CN" b="1" dirty="0">
                <a:solidFill>
                  <a:schemeClr val="tx1"/>
                </a:solidFill>
              </a:rPr>
              <a:t>/ </a:t>
            </a:r>
            <a:r>
              <a:rPr lang="zh-CN" altLang="en-US" b="1" dirty="0">
                <a:solidFill>
                  <a:schemeClr val="tx1"/>
                </a:solidFill>
              </a:rPr>
              <a:t>实验室发送检验指令，以最大限度地利用检验资源。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12" name="Text11">
            <a:extLst>
              <a:ext uri="{FF2B5EF4-FFF2-40B4-BE49-F238E27FC236}">
                <a16:creationId xmlns:a16="http://schemas.microsoft.com/office/drawing/2014/main" id="{FC0D61DB-62EE-22E9-B140-5323AD8E0F6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877849" y="458429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质量计划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3" name="Text12">
            <a:extLst>
              <a:ext uri="{FF2B5EF4-FFF2-40B4-BE49-F238E27FC236}">
                <a16:creationId xmlns:a16="http://schemas.microsoft.com/office/drawing/2014/main" id="{71BED050-27D5-7726-B43B-8AAE68006F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2540" y="4657740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 b="1">
                <a:solidFill>
                  <a:schemeClr val="tx1"/>
                </a:solidFill>
                <a:latin typeface="+mn-ea"/>
              </a:defRPr>
            </a:lvl1pPr>
            <a:lvl2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接收、理解和管理输入数据（质量标准、检验规范、合规要求、</a:t>
            </a:r>
            <a:r>
              <a:rPr lang="en-US" altLang="zh-CN" dirty="0"/>
              <a:t>BOM </a:t>
            </a:r>
            <a:r>
              <a:rPr lang="zh-CN" altLang="en-US" dirty="0"/>
              <a:t>关联质量控制点），并定义全生命周期质量管控流程与检验模板。</a:t>
            </a:r>
            <a:endParaRPr lang="en-US" altLang="zh-CN" dirty="0"/>
          </a:p>
        </p:txBody>
      </p:sp>
      <p:sp>
        <p:nvSpPr>
          <p:cNvPr id="114" name="Text13">
            <a:extLst>
              <a:ext uri="{FF2B5EF4-FFF2-40B4-BE49-F238E27FC236}">
                <a16:creationId xmlns:a16="http://schemas.microsoft.com/office/drawing/2014/main" id="{FF182ABF-B744-B96D-6A2D-AD97EC0F762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2541" y="4273463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质量策划与标准定义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5" name="Text14">
            <a:extLst>
              <a:ext uri="{FF2B5EF4-FFF2-40B4-BE49-F238E27FC236}">
                <a16:creationId xmlns:a16="http://schemas.microsoft.com/office/drawing/2014/main" id="{5685FEB5-FE39-0C07-A4D1-0BD9855CC3A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449887" y="842706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45241F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捕获每个检验批次的详细信息，包括检验开始和结束时间、执行任务的检验员、使用的检测设备与量具、检测结果与判定结论等，以跟踪每个产品批次的完整质量履历。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16" name="Text15">
            <a:extLst>
              <a:ext uri="{FF2B5EF4-FFF2-40B4-BE49-F238E27FC236}">
                <a16:creationId xmlns:a16="http://schemas.microsoft.com/office/drawing/2014/main" id="{ACB880FF-C209-FBF7-0737-4418B7C7A51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449887" y="458429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跟踪和可追溯性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7" name="Text16">
            <a:extLst>
              <a:ext uri="{FF2B5EF4-FFF2-40B4-BE49-F238E27FC236}">
                <a16:creationId xmlns:a16="http://schemas.microsoft.com/office/drawing/2014/main" id="{56075F10-2E49-033C-99D7-F36280DAA5C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664578" y="4657740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45241F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根据主质量记录指导检验任务的执行：规格校验、抽样方案执行、检测设备数据采集、不良现象记录与判定，确保检验过程可追溯、可复现。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18" name="Text17">
            <a:extLst>
              <a:ext uri="{FF2B5EF4-FFF2-40B4-BE49-F238E27FC236}">
                <a16:creationId xmlns:a16="http://schemas.microsoft.com/office/drawing/2014/main" id="{834D79D0-8C98-B3E2-176E-733C3F0690F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664579" y="4273463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质量执行与数据采集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9" name="Text18">
            <a:extLst>
              <a:ext uri="{FF2B5EF4-FFF2-40B4-BE49-F238E27FC236}">
                <a16:creationId xmlns:a16="http://schemas.microsoft.com/office/drawing/2014/main" id="{44768F35-1DD4-6A71-7FDE-6BB643394DC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37895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Arial"/>
              </a:rPr>
              <a:t>PART 01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+mn-ea"/>
              <a:cs typeface="Arial"/>
            </a:endParaRPr>
          </a:p>
        </p:txBody>
      </p:sp>
      <p:sp>
        <p:nvSpPr>
          <p:cNvPr id="120" name="Text19">
            <a:extLst>
              <a:ext uri="{FF2B5EF4-FFF2-40B4-BE49-F238E27FC236}">
                <a16:creationId xmlns:a16="http://schemas.microsoft.com/office/drawing/2014/main" id="{1341DE41-5B1C-A04E-9124-98426C63817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782131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  <a:cs typeface="Arial"/>
              </a:rPr>
              <a:t>PART 02</a:t>
            </a:r>
            <a:endParaRPr lang="zh-CN" altLang="en-US" sz="2800" b="1" dirty="0">
              <a:solidFill>
                <a:schemeClr val="accent5">
                  <a:lumMod val="40000"/>
                  <a:lumOff val="60000"/>
                </a:schemeClr>
              </a:solidFill>
              <a:latin typeface="+mn-ea"/>
              <a:cs typeface="Arial"/>
            </a:endParaRPr>
          </a:p>
        </p:txBody>
      </p:sp>
      <p:sp>
        <p:nvSpPr>
          <p:cNvPr id="121" name="Text20">
            <a:extLst>
              <a:ext uri="{FF2B5EF4-FFF2-40B4-BE49-F238E27FC236}">
                <a16:creationId xmlns:a16="http://schemas.microsoft.com/office/drawing/2014/main" id="{0F1A69A8-E2ED-59E4-3331-D22AD6A5CEB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567439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914400" eaLnBrk="1" latinLnBrk="0" hangingPunct="1">
              <a:defRPr sz="2800" b="1" kern="120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defRPr>
            </a:lvl1pPr>
            <a:lvl2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03</a:t>
            </a:r>
            <a:endParaRPr lang="zh-CN" altLang="en-US" dirty="0"/>
          </a:p>
        </p:txBody>
      </p:sp>
      <p:sp>
        <p:nvSpPr>
          <p:cNvPr id="122" name="Text21">
            <a:extLst>
              <a:ext uri="{FF2B5EF4-FFF2-40B4-BE49-F238E27FC236}">
                <a16:creationId xmlns:a16="http://schemas.microsoft.com/office/drawing/2014/main" id="{91129F6E-2B26-516A-B07E-8CC2D6B2C0B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352747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914400" eaLnBrk="1" latinLnBrk="0" hangingPunct="1">
              <a:defRPr sz="28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  <a:ea typeface="+mn-ea"/>
              </a:defRPr>
            </a:lvl1pPr>
            <a:lvl2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04</a:t>
            </a:r>
            <a:endParaRPr lang="zh-CN" altLang="en-US" dirty="0"/>
          </a:p>
        </p:txBody>
      </p:sp>
      <p:sp>
        <p:nvSpPr>
          <p:cNvPr id="123" name="Text22">
            <a:extLst>
              <a:ext uri="{FF2B5EF4-FFF2-40B4-BE49-F238E27FC236}">
                <a16:creationId xmlns:a16="http://schemas.microsoft.com/office/drawing/2014/main" id="{AE379DFC-43F4-B8E8-06FD-B4C8E2FAEAB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895483" y="2136757"/>
            <a:ext cx="2123955" cy="1689171"/>
          </a:xfrm>
          <a:custGeom>
            <a:avLst/>
            <a:gdLst>
              <a:gd name="connsiteX0" fmla="*/ 1714991 w 2742832"/>
              <a:gd name="connsiteY0" fmla="*/ 2181363 h 2181362"/>
              <a:gd name="connsiteX1" fmla="*/ 1699881 w 2742832"/>
              <a:gd name="connsiteY1" fmla="*/ 2178504 h 2181362"/>
              <a:gd name="connsiteX2" fmla="*/ 1674153 w 2742832"/>
              <a:gd name="connsiteY2" fmla="*/ 2140525 h 2181362"/>
              <a:gd name="connsiteX3" fmla="*/ 1674153 w 2742832"/>
              <a:gd name="connsiteY3" fmla="*/ 1766245 h 2181362"/>
              <a:gd name="connsiteX4" fmla="*/ 1714991 w 2742832"/>
              <a:gd name="connsiteY4" fmla="*/ 1725407 h 2181362"/>
              <a:gd name="connsiteX5" fmla="*/ 1755829 w 2742832"/>
              <a:gd name="connsiteY5" fmla="*/ 1766245 h 2181362"/>
              <a:gd name="connsiteX6" fmla="*/ 1755829 w 2742832"/>
              <a:gd name="connsiteY6" fmla="*/ 2037613 h 2181362"/>
              <a:gd name="connsiteX7" fmla="*/ 2645893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2181363"/>
                </a:moveTo>
                <a:cubicBezTo>
                  <a:pt x="1709886" y="2181363"/>
                  <a:pt x="1704782" y="2180342"/>
                  <a:pt x="1699881" y="2178504"/>
                </a:cubicBezTo>
                <a:cubicBezTo>
                  <a:pt x="1684363" y="2172378"/>
                  <a:pt x="1674153" y="2157268"/>
                  <a:pt x="1674153" y="2140525"/>
                </a:cubicBezTo>
                <a:lnTo>
                  <a:pt x="1674153" y="1766245"/>
                </a:lnTo>
                <a:cubicBezTo>
                  <a:pt x="1674153" y="1743784"/>
                  <a:pt x="1692530" y="1725407"/>
                  <a:pt x="1714991" y="1725407"/>
                </a:cubicBezTo>
                <a:cubicBezTo>
                  <a:pt x="1737452" y="1725407"/>
                  <a:pt x="1755829" y="1743784"/>
                  <a:pt x="1755829" y="1766245"/>
                </a:cubicBezTo>
                <a:lnTo>
                  <a:pt x="1755829" y="2037613"/>
                </a:lnTo>
                <a:lnTo>
                  <a:pt x="2645893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zh-CN" altLang="en-US" b="1">
              <a:solidFill>
                <a:srgbClr val="461C05"/>
              </a:solidFill>
              <a:latin typeface="+mn-ea"/>
            </a:endParaRPr>
          </a:p>
        </p:txBody>
      </p:sp>
      <p:sp>
        <p:nvSpPr>
          <p:cNvPr id="132" name="Text24">
            <a:extLst>
              <a:ext uri="{FF2B5EF4-FFF2-40B4-BE49-F238E27FC236}">
                <a16:creationId xmlns:a16="http://schemas.microsoft.com/office/drawing/2014/main" id="{4B71B762-E009-98EB-A300-902739ED20C2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7236616" y="4657740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45241F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与异常报警、统计过程控制（</a:t>
            </a:r>
            <a:r>
              <a:rPr lang="en-US" altLang="zh-CN" b="1" dirty="0">
                <a:solidFill>
                  <a:schemeClr val="tx1"/>
                </a:solidFill>
              </a:rPr>
              <a:t>SPC</a:t>
            </a:r>
            <a:r>
              <a:rPr lang="zh-CN" altLang="en-US" b="1" dirty="0">
                <a:solidFill>
                  <a:schemeClr val="tx1"/>
                </a:solidFill>
              </a:rPr>
              <a:t>）、不良根因分析、纠正预防措施（</a:t>
            </a:r>
            <a:r>
              <a:rPr lang="en-US" altLang="zh-CN" b="1" dirty="0">
                <a:solidFill>
                  <a:schemeClr val="tx1"/>
                </a:solidFill>
              </a:rPr>
              <a:t>CAPA</a:t>
            </a:r>
            <a:r>
              <a:rPr lang="zh-CN" altLang="en-US" b="1" dirty="0">
                <a:solidFill>
                  <a:schemeClr val="tx1"/>
                </a:solidFill>
              </a:rPr>
              <a:t>）集成，用于在线 </a:t>
            </a:r>
            <a:r>
              <a:rPr lang="en-US" altLang="zh-CN" b="1" dirty="0">
                <a:solidFill>
                  <a:schemeClr val="tx1"/>
                </a:solidFill>
              </a:rPr>
              <a:t>/ </a:t>
            </a:r>
            <a:r>
              <a:rPr lang="zh-CN" altLang="en-US" b="1" dirty="0">
                <a:solidFill>
                  <a:schemeClr val="tx1"/>
                </a:solidFill>
              </a:rPr>
              <a:t>离线质量问题处理，实现从发现到改善的全流程闭环。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33" name="Text25">
            <a:extLst>
              <a:ext uri="{FF2B5EF4-FFF2-40B4-BE49-F238E27FC236}">
                <a16:creationId xmlns:a16="http://schemas.microsoft.com/office/drawing/2014/main" id="{F6B3144B-F7ED-4729-4BBE-990186B38B9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236617" y="4273463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质量问题闭环管理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4" name="Text26">
            <a:extLst>
              <a:ext uri="{FF2B5EF4-FFF2-40B4-BE49-F238E27FC236}">
                <a16:creationId xmlns:a16="http://schemas.microsoft.com/office/drawing/2014/main" id="{4060CA20-6C51-BEF2-C777-1582811F7CE5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139477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 defTabSz="914400" eaLnBrk="1" latinLnBrk="0" hangingPunct="1">
              <a:defRPr sz="2800" b="1" kern="120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defRPr>
            </a:lvl1pPr>
            <a:lvl2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05</a:t>
            </a:r>
            <a:endParaRPr lang="zh-CN" altLang="en-US" dirty="0"/>
          </a:p>
        </p:txBody>
      </p:sp>
      <p:sp>
        <p:nvSpPr>
          <p:cNvPr id="135" name="Text27">
            <a:extLst>
              <a:ext uri="{FF2B5EF4-FFF2-40B4-BE49-F238E27FC236}">
                <a16:creationId xmlns:a16="http://schemas.microsoft.com/office/drawing/2014/main" id="{3B40468A-D536-8F39-EF6D-30F9886E227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682213" y="2136759"/>
            <a:ext cx="2123955" cy="1689171"/>
          </a:xfrm>
          <a:custGeom>
            <a:avLst/>
            <a:gdLst>
              <a:gd name="connsiteX0" fmla="*/ 1714991 w 2742832"/>
              <a:gd name="connsiteY0" fmla="*/ 0 h 2181362"/>
              <a:gd name="connsiteX1" fmla="*/ 1699881 w 2742832"/>
              <a:gd name="connsiteY1" fmla="*/ 2859 h 2181362"/>
              <a:gd name="connsiteX2" fmla="*/ 1674153 w 2742832"/>
              <a:gd name="connsiteY2" fmla="*/ 40838 h 2181362"/>
              <a:gd name="connsiteX3" fmla="*/ 1674153 w 2742832"/>
              <a:gd name="connsiteY3" fmla="*/ 415118 h 2181362"/>
              <a:gd name="connsiteX4" fmla="*/ 1714991 w 2742832"/>
              <a:gd name="connsiteY4" fmla="*/ 455956 h 2181362"/>
              <a:gd name="connsiteX5" fmla="*/ 1755829 w 2742832"/>
              <a:gd name="connsiteY5" fmla="*/ 415118 h 2181362"/>
              <a:gd name="connsiteX6" fmla="*/ 1755829 w 2742832"/>
              <a:gd name="connsiteY6" fmla="*/ 143750 h 2181362"/>
              <a:gd name="connsiteX7" fmla="*/ 2645893 w 2742832"/>
              <a:gd name="connsiteY7" fmla="*/ 1088944 h 2181362"/>
              <a:gd name="connsiteX8" fmla="*/ 1752562 w 2742832"/>
              <a:gd name="connsiteY8" fmla="*/ 2037610 h 2181362"/>
              <a:gd name="connsiteX9" fmla="*/ 1752562 w 2742832"/>
              <a:gd name="connsiteY9" fmla="*/ 1752561 h 2181362"/>
              <a:gd name="connsiteX10" fmla="*/ 1711724 w 2742832"/>
              <a:gd name="connsiteY10" fmla="*/ 1711723 h 2181362"/>
              <a:gd name="connsiteX11" fmla="*/ 40838 w 2742832"/>
              <a:gd name="connsiteY11" fmla="*/ 1711723 h 2181362"/>
              <a:gd name="connsiteX12" fmla="*/ 0 w 2742832"/>
              <a:gd name="connsiteY12" fmla="*/ 1752561 h 2181362"/>
              <a:gd name="connsiteX13" fmla="*/ 40838 w 2742832"/>
              <a:gd name="connsiteY13" fmla="*/ 1793399 h 2181362"/>
              <a:gd name="connsiteX14" fmla="*/ 1670886 w 2742832"/>
              <a:gd name="connsiteY14" fmla="*/ 1793399 h 2181362"/>
              <a:gd name="connsiteX15" fmla="*/ 1670886 w 2742832"/>
              <a:gd name="connsiteY15" fmla="*/ 2140522 h 2181362"/>
              <a:gd name="connsiteX16" fmla="*/ 1696614 w 2742832"/>
              <a:gd name="connsiteY16" fmla="*/ 2178501 h 2181362"/>
              <a:gd name="connsiteX17" fmla="*/ 1741332 w 2742832"/>
              <a:gd name="connsiteY17" fmla="*/ 2168496 h 2181362"/>
              <a:gd name="connsiteX18" fmla="*/ 2731653 w 2742832"/>
              <a:gd name="connsiteY18" fmla="*/ 1116918 h 2181362"/>
              <a:gd name="connsiteX19" fmla="*/ 2731653 w 2742832"/>
              <a:gd name="connsiteY19" fmla="*/ 1060970 h 2181362"/>
              <a:gd name="connsiteX20" fmla="*/ 1744803 w 2742832"/>
              <a:gd name="connsiteY20" fmla="*/ 12864 h 2181362"/>
              <a:gd name="connsiteX21" fmla="*/ 1714991 w 2742832"/>
              <a:gd name="connsiteY21" fmla="*/ 0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0"/>
                </a:moveTo>
                <a:cubicBezTo>
                  <a:pt x="1709886" y="0"/>
                  <a:pt x="1704782" y="1021"/>
                  <a:pt x="1699881" y="2859"/>
                </a:cubicBezTo>
                <a:cubicBezTo>
                  <a:pt x="1684363" y="8984"/>
                  <a:pt x="1674153" y="24094"/>
                  <a:pt x="1674153" y="40838"/>
                </a:cubicBezTo>
                <a:lnTo>
                  <a:pt x="1674153" y="415118"/>
                </a:lnTo>
                <a:cubicBezTo>
                  <a:pt x="1674153" y="437579"/>
                  <a:pt x="1692530" y="455956"/>
                  <a:pt x="1714991" y="455956"/>
                </a:cubicBezTo>
                <a:cubicBezTo>
                  <a:pt x="1737452" y="455956"/>
                  <a:pt x="1755829" y="437579"/>
                  <a:pt x="1755829" y="415118"/>
                </a:cubicBezTo>
                <a:lnTo>
                  <a:pt x="1755829" y="143750"/>
                </a:lnTo>
                <a:lnTo>
                  <a:pt x="2645893" y="1088944"/>
                </a:lnTo>
                <a:lnTo>
                  <a:pt x="1752562" y="2037610"/>
                </a:lnTo>
                <a:lnTo>
                  <a:pt x="1752562" y="1752561"/>
                </a:lnTo>
                <a:cubicBezTo>
                  <a:pt x="1752562" y="1730100"/>
                  <a:pt x="1734185" y="1711723"/>
                  <a:pt x="1711724" y="1711723"/>
                </a:cubicBezTo>
                <a:lnTo>
                  <a:pt x="40838" y="1711723"/>
                </a:lnTo>
                <a:cubicBezTo>
                  <a:pt x="18377" y="1711723"/>
                  <a:pt x="0" y="1730100"/>
                  <a:pt x="0" y="1752561"/>
                </a:cubicBezTo>
                <a:cubicBezTo>
                  <a:pt x="0" y="1775022"/>
                  <a:pt x="18377" y="1793399"/>
                  <a:pt x="40838" y="1793399"/>
                </a:cubicBezTo>
                <a:lnTo>
                  <a:pt x="1670886" y="1793399"/>
                </a:lnTo>
                <a:lnTo>
                  <a:pt x="1670886" y="2140522"/>
                </a:lnTo>
                <a:cubicBezTo>
                  <a:pt x="1670886" y="2157265"/>
                  <a:pt x="1681096" y="2172375"/>
                  <a:pt x="1696614" y="2178501"/>
                </a:cubicBezTo>
                <a:cubicBezTo>
                  <a:pt x="1712133" y="2184627"/>
                  <a:pt x="1729897" y="2180747"/>
                  <a:pt x="1741332" y="2168496"/>
                </a:cubicBezTo>
                <a:lnTo>
                  <a:pt x="2731653" y="1116918"/>
                </a:lnTo>
                <a:cubicBezTo>
                  <a:pt x="2746559" y="1101196"/>
                  <a:pt x="2746559" y="1076693"/>
                  <a:pt x="2731653" y="1060970"/>
                </a:cubicBezTo>
                <a:lnTo>
                  <a:pt x="1744803" y="12864"/>
                </a:lnTo>
                <a:cubicBezTo>
                  <a:pt x="1736840" y="4492"/>
                  <a:pt x="1726018" y="0"/>
                  <a:pt x="1714991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zh-CN" altLang="en-US" b="1">
              <a:solidFill>
                <a:srgbClr val="461C05"/>
              </a:solidFill>
              <a:latin typeface="+mn-ea"/>
            </a:endParaRPr>
          </a:p>
        </p:txBody>
      </p:sp>
      <p:sp>
        <p:nvSpPr>
          <p:cNvPr id="144" name="Text29">
            <a:extLst>
              <a:ext uri="{FF2B5EF4-FFF2-40B4-BE49-F238E27FC236}">
                <a16:creationId xmlns:a16="http://schemas.microsoft.com/office/drawing/2014/main" id="{63F6F97E-2814-8EBA-A284-3964162AA01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021925" y="842706"/>
            <a:ext cx="2649400" cy="12679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200">
                <a:solidFill>
                  <a:srgbClr val="45241F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自动生成单个零件、原材料和装配套件的质量报告；保持检验、异常、改进活动的完整历史记录，为质量趋势分析和体系持续改进提供数据支撑。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45" name="Text30">
            <a:extLst>
              <a:ext uri="{FF2B5EF4-FFF2-40B4-BE49-F238E27FC236}">
                <a16:creationId xmlns:a16="http://schemas.microsoft.com/office/drawing/2014/main" id="{C4DBB49B-4170-1CD5-C04D-363A75D33FE1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021925" y="458429"/>
            <a:ext cx="2649400" cy="35649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461C05"/>
                </a:solidFill>
                <a:latin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质量报告与持续改进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6" name="Text31">
            <a:extLst>
              <a:ext uri="{FF2B5EF4-FFF2-40B4-BE49-F238E27FC236}">
                <a16:creationId xmlns:a16="http://schemas.microsoft.com/office/drawing/2014/main" id="{CCF6398D-1E79-186F-C8C8-D54BF3796AD8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924785" y="2750944"/>
            <a:ext cx="1764894" cy="523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 defTabSz="914400" eaLnBrk="1" latinLnBrk="0" hangingPunct="1">
              <a:defRPr sz="28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  <a:ea typeface="+mn-ea"/>
              </a:defRPr>
            </a:lvl1pPr>
            <a:lvl2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06</a:t>
            </a:r>
            <a:endParaRPr lang="zh-CN" alt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C1C21E-CB99-B44D-77B5-9719BB488B92}"/>
              </a:ext>
            </a:extLst>
          </p:cNvPr>
          <p:cNvSpPr txBox="1">
            <a:spLocks/>
          </p:cNvSpPr>
          <p:nvPr/>
        </p:nvSpPr>
        <p:spPr>
          <a:xfrm>
            <a:off x="770467" y="470428"/>
            <a:ext cx="10515600" cy="549275"/>
          </a:xfrm>
          <a:prstGeom prst="rect">
            <a:avLst/>
          </a:prstGeom>
        </p:spPr>
        <p:txBody>
          <a:bodyPr/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ea typeface="宋体" panose="02010600030101010101" pitchFamily="2" charset="-122"/>
                <a:cs typeface="+mj-cs"/>
              </a:defRPr>
            </a:lvl1pPr>
            <a:lvl2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2pPr>
            <a:lvl3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4pPr>
            <a:lvl5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等线 Light" panose="02010600030101010101" pitchFamily="2" charset="-122"/>
                <a:ea typeface="等线 Light" panose="02010600030101010101" pitchFamily="2" charset="-122"/>
              </a:defRPr>
            </a:lvl9pPr>
          </a:lstStyle>
          <a:p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1B05EE-0724-4FCA-FD22-359194250C1E}"/>
              </a:ext>
            </a:extLst>
          </p:cNvPr>
          <p:cNvSpPr txBox="1">
            <a:spLocks/>
          </p:cNvSpPr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623866">
              <a:defRPr/>
            </a:pPr>
            <a:r>
              <a:rPr lang="en-US" altLang="zh-CN" sz="2800" b="1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QM</a:t>
            </a:r>
            <a:r>
              <a:rPr lang="zh-CN" altLang="en-US" sz="2800" b="1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系统架构概览</a:t>
            </a:r>
          </a:p>
          <a:p>
            <a:pPr defTabSz="1623866">
              <a:defRPr/>
            </a:pPr>
            <a:endParaRPr lang="zh-CN" altLang="en-US" sz="26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Text6">
            <a:extLst>
              <a:ext uri="{FF2B5EF4-FFF2-40B4-BE49-F238E27FC236}">
                <a16:creationId xmlns:a16="http://schemas.microsoft.com/office/drawing/2014/main" id="{39C47CC5-052D-DD5F-8652-5B8BB0801884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4883261" y="3440913"/>
            <a:ext cx="85699" cy="722122"/>
            <a:chOff x="2088772" y="4313499"/>
            <a:chExt cx="110670" cy="932534"/>
          </a:xfr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5400000" scaled="1"/>
          </a:gradFill>
        </p:grpSpPr>
        <p:sp>
          <p:nvSpPr>
            <p:cNvPr id="5" name="任意多边形: 形状 9">
              <a:extLst>
                <a:ext uri="{FF2B5EF4-FFF2-40B4-BE49-F238E27FC236}">
                  <a16:creationId xmlns:a16="http://schemas.microsoft.com/office/drawing/2014/main" id="{9153B924-C0D5-A207-ED0D-65852CB8C22B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2117767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6" name="任意多边形: 形状 10">
              <a:extLst>
                <a:ext uri="{FF2B5EF4-FFF2-40B4-BE49-F238E27FC236}">
                  <a16:creationId xmlns:a16="http://schemas.microsoft.com/office/drawing/2014/main" id="{70E1F12A-45A0-DC05-37D6-E024442D622E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2117767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7" name="任意多边形: 形状 11">
              <a:extLst>
                <a:ext uri="{FF2B5EF4-FFF2-40B4-BE49-F238E27FC236}">
                  <a16:creationId xmlns:a16="http://schemas.microsoft.com/office/drawing/2014/main" id="{78ADE4E8-2D89-3225-CACA-6AFA9C15BA2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2117767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8" name="任意多边形: 形状 12">
              <a:extLst>
                <a:ext uri="{FF2B5EF4-FFF2-40B4-BE49-F238E27FC236}">
                  <a16:creationId xmlns:a16="http://schemas.microsoft.com/office/drawing/2014/main" id="{4A0D741F-6AD1-18CE-518B-A5F256ABCCF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2117767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9" name="任意多边形: 形状 13">
              <a:extLst>
                <a:ext uri="{FF2B5EF4-FFF2-40B4-BE49-F238E27FC236}">
                  <a16:creationId xmlns:a16="http://schemas.microsoft.com/office/drawing/2014/main" id="{90655B34-356A-396E-E1BB-775D3AD6926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2117767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0" name="任意多边形: 形状 15">
              <a:extLst>
                <a:ext uri="{FF2B5EF4-FFF2-40B4-BE49-F238E27FC236}">
                  <a16:creationId xmlns:a16="http://schemas.microsoft.com/office/drawing/2014/main" id="{03BEEB10-5B62-2C3E-EB52-8815586BBB3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2117767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1" name="任意多边形: 形状 25">
              <a:extLst>
                <a:ext uri="{FF2B5EF4-FFF2-40B4-BE49-F238E27FC236}">
                  <a16:creationId xmlns:a16="http://schemas.microsoft.com/office/drawing/2014/main" id="{D154A30B-FD23-C0DD-E44B-4812EF95F4B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2088772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5" y="110671"/>
                  </a:cubicBezTo>
                  <a:cubicBezTo>
                    <a:pt x="24774" y="110671"/>
                    <a:pt x="0" y="85897"/>
                    <a:pt x="0" y="55335"/>
                  </a:cubicBezTo>
                  <a:cubicBezTo>
                    <a:pt x="0" y="24774"/>
                    <a:pt x="24774" y="0"/>
                    <a:pt x="55335" y="0"/>
                  </a:cubicBezTo>
                  <a:cubicBezTo>
                    <a:pt x="85896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grpSp>
        <p:nvGrpSpPr>
          <p:cNvPr id="12" name="Text6">
            <a:extLst>
              <a:ext uri="{FF2B5EF4-FFF2-40B4-BE49-F238E27FC236}">
                <a16:creationId xmlns:a16="http://schemas.microsoft.com/office/drawing/2014/main" id="{5016B4AB-CACF-3F3D-1DE8-D50030251398}"/>
              </a:ext>
            </a:extLst>
          </p:cNvPr>
          <p:cNvGrpSpPr/>
          <p:nvPr>
            <p:custDataLst>
              <p:tags r:id="rId28"/>
            </p:custDataLst>
          </p:nvPr>
        </p:nvGrpSpPr>
        <p:grpSpPr>
          <a:xfrm>
            <a:off x="8561316" y="3447475"/>
            <a:ext cx="85699" cy="722122"/>
            <a:chOff x="2088772" y="4313499"/>
            <a:chExt cx="110670" cy="932534"/>
          </a:xfr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5400000" scaled="1"/>
          </a:gradFill>
        </p:grpSpPr>
        <p:sp>
          <p:nvSpPr>
            <p:cNvPr id="13" name="任意多边形: 形状 9">
              <a:extLst>
                <a:ext uri="{FF2B5EF4-FFF2-40B4-BE49-F238E27FC236}">
                  <a16:creationId xmlns:a16="http://schemas.microsoft.com/office/drawing/2014/main" id="{181E6548-5812-E096-51ED-007AB67D5FFC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2117767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4" name="任意多边形: 形状 10">
              <a:extLst>
                <a:ext uri="{FF2B5EF4-FFF2-40B4-BE49-F238E27FC236}">
                  <a16:creationId xmlns:a16="http://schemas.microsoft.com/office/drawing/2014/main" id="{6FDF0F7A-93B9-97F9-A67E-41AEE9B2D61C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2117767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5" name="任意多边形: 形状 11">
              <a:extLst>
                <a:ext uri="{FF2B5EF4-FFF2-40B4-BE49-F238E27FC236}">
                  <a16:creationId xmlns:a16="http://schemas.microsoft.com/office/drawing/2014/main" id="{14851025-59A6-7A2C-930C-4E704B24CF6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2117767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6" name="任意多边形: 形状 12">
              <a:extLst>
                <a:ext uri="{FF2B5EF4-FFF2-40B4-BE49-F238E27FC236}">
                  <a16:creationId xmlns:a16="http://schemas.microsoft.com/office/drawing/2014/main" id="{AD6596A7-0A88-64BE-063F-465D360874AD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2117767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7" name="任意多边形: 形状 13">
              <a:extLst>
                <a:ext uri="{FF2B5EF4-FFF2-40B4-BE49-F238E27FC236}">
                  <a16:creationId xmlns:a16="http://schemas.microsoft.com/office/drawing/2014/main" id="{3F96BF23-B489-9EBB-1E62-29AF22EDA3A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2117767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8" name="任意多边形: 形状 15">
              <a:extLst>
                <a:ext uri="{FF2B5EF4-FFF2-40B4-BE49-F238E27FC236}">
                  <a16:creationId xmlns:a16="http://schemas.microsoft.com/office/drawing/2014/main" id="{56653332-7E4D-C28F-2948-3B164EF2913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2117767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19" name="任意多边形: 形状 25">
              <a:extLst>
                <a:ext uri="{FF2B5EF4-FFF2-40B4-BE49-F238E27FC236}">
                  <a16:creationId xmlns:a16="http://schemas.microsoft.com/office/drawing/2014/main" id="{DF95D082-A8FC-FCAA-9783-64351FA4EC8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2088772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5" y="110671"/>
                  </a:cubicBezTo>
                  <a:cubicBezTo>
                    <a:pt x="24774" y="110671"/>
                    <a:pt x="0" y="85897"/>
                    <a:pt x="0" y="55335"/>
                  </a:cubicBezTo>
                  <a:cubicBezTo>
                    <a:pt x="0" y="24774"/>
                    <a:pt x="24774" y="0"/>
                    <a:pt x="55335" y="0"/>
                  </a:cubicBezTo>
                  <a:cubicBezTo>
                    <a:pt x="85896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grpSp>
        <p:nvGrpSpPr>
          <p:cNvPr id="20" name="Text7">
            <a:extLst>
              <a:ext uri="{FF2B5EF4-FFF2-40B4-BE49-F238E27FC236}">
                <a16:creationId xmlns:a16="http://schemas.microsoft.com/office/drawing/2014/main" id="{5DC9F18F-0441-4ACF-6EFB-8F6B6D0A6B7E}"/>
              </a:ext>
            </a:extLst>
          </p:cNvPr>
          <p:cNvGrpSpPr/>
          <p:nvPr>
            <p:custDataLst>
              <p:tags r:id="rId29"/>
            </p:custDataLst>
          </p:nvPr>
        </p:nvGrpSpPr>
        <p:grpSpPr>
          <a:xfrm>
            <a:off x="6799243" y="2046017"/>
            <a:ext cx="85699" cy="721964"/>
            <a:chOff x="4394281" y="2209936"/>
            <a:chExt cx="110670" cy="932330"/>
          </a:xfr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</p:grpSpPr>
        <p:sp>
          <p:nvSpPr>
            <p:cNvPr id="21" name="任意多边形: 形状 30">
              <a:extLst>
                <a:ext uri="{FF2B5EF4-FFF2-40B4-BE49-F238E27FC236}">
                  <a16:creationId xmlns:a16="http://schemas.microsoft.com/office/drawing/2014/main" id="{EFCBEA48-C2F5-D4AB-C01F-7C7B0F1685F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423276" y="3089585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2" name="任意多边形: 形状 33">
              <a:extLst>
                <a:ext uri="{FF2B5EF4-FFF2-40B4-BE49-F238E27FC236}">
                  <a16:creationId xmlns:a16="http://schemas.microsoft.com/office/drawing/2014/main" id="{C0C6CA1D-CB67-269B-E2D3-F40D163B29E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4423276" y="294665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3" name="任意多边形: 形状 37">
              <a:extLst>
                <a:ext uri="{FF2B5EF4-FFF2-40B4-BE49-F238E27FC236}">
                  <a16:creationId xmlns:a16="http://schemas.microsoft.com/office/drawing/2014/main" id="{93877890-FBEF-7676-B59F-08392F475F4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4423276" y="281066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4" name="任意多边形: 形状 38">
              <a:extLst>
                <a:ext uri="{FF2B5EF4-FFF2-40B4-BE49-F238E27FC236}">
                  <a16:creationId xmlns:a16="http://schemas.microsoft.com/office/drawing/2014/main" id="{270E870B-34C2-D091-D458-980359C004C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423276" y="266772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5" name="任意多边形: 形状 41">
              <a:extLst>
                <a:ext uri="{FF2B5EF4-FFF2-40B4-BE49-F238E27FC236}">
                  <a16:creationId xmlns:a16="http://schemas.microsoft.com/office/drawing/2014/main" id="{2DA820DF-DC73-7408-8C8B-D35C5235C0C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423276" y="2531534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1 w 52681"/>
                <a:gd name="connsiteY1" fmla="*/ 52681 h 52680"/>
                <a:gd name="connsiteX2" fmla="*/ 0 w 52681"/>
                <a:gd name="connsiteY2" fmla="*/ 26341 h 52680"/>
                <a:gd name="connsiteX3" fmla="*/ 26341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6" name="任意多边形: 形状 42">
              <a:extLst>
                <a:ext uri="{FF2B5EF4-FFF2-40B4-BE49-F238E27FC236}">
                  <a16:creationId xmlns:a16="http://schemas.microsoft.com/office/drawing/2014/main" id="{68257B00-51DA-89EA-9C2C-9920FA627A6E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4423276" y="238860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27" name="任意多边形: 形状 44">
              <a:extLst>
                <a:ext uri="{FF2B5EF4-FFF2-40B4-BE49-F238E27FC236}">
                  <a16:creationId xmlns:a16="http://schemas.microsoft.com/office/drawing/2014/main" id="{90DD75F8-A5B3-0AD1-0CB7-0782BA90B928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4394281" y="2209936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7" y="110671"/>
                    <a:pt x="55335" y="110671"/>
                  </a:cubicBezTo>
                  <a:cubicBezTo>
                    <a:pt x="24774" y="110671"/>
                    <a:pt x="0" y="85896"/>
                    <a:pt x="0" y="55335"/>
                  </a:cubicBezTo>
                  <a:cubicBezTo>
                    <a:pt x="0" y="24775"/>
                    <a:pt x="24774" y="0"/>
                    <a:pt x="55335" y="0"/>
                  </a:cubicBezTo>
                  <a:cubicBezTo>
                    <a:pt x="85896" y="0"/>
                    <a:pt x="110671" y="24775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grpSp>
        <p:nvGrpSpPr>
          <p:cNvPr id="28" name="Text7">
            <a:extLst>
              <a:ext uri="{FF2B5EF4-FFF2-40B4-BE49-F238E27FC236}">
                <a16:creationId xmlns:a16="http://schemas.microsoft.com/office/drawing/2014/main" id="{387FB604-FD58-10E7-4E62-3136ADED3ED3}"/>
              </a:ext>
            </a:extLst>
          </p:cNvPr>
          <p:cNvGrpSpPr/>
          <p:nvPr>
            <p:custDataLst>
              <p:tags r:id="rId30"/>
            </p:custDataLst>
          </p:nvPr>
        </p:nvGrpSpPr>
        <p:grpSpPr>
          <a:xfrm>
            <a:off x="10463275" y="2028979"/>
            <a:ext cx="85699" cy="721964"/>
            <a:chOff x="4394281" y="2209936"/>
            <a:chExt cx="110670" cy="932330"/>
          </a:xfr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</p:grpSpPr>
        <p:sp>
          <p:nvSpPr>
            <p:cNvPr id="29" name="任意多边形: 形状 30">
              <a:extLst>
                <a:ext uri="{FF2B5EF4-FFF2-40B4-BE49-F238E27FC236}">
                  <a16:creationId xmlns:a16="http://schemas.microsoft.com/office/drawing/2014/main" id="{09928B5C-94B0-2FFB-47AF-754B69E2079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423276" y="3089585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0" name="任意多边形: 形状 33">
              <a:extLst>
                <a:ext uri="{FF2B5EF4-FFF2-40B4-BE49-F238E27FC236}">
                  <a16:creationId xmlns:a16="http://schemas.microsoft.com/office/drawing/2014/main" id="{79C7F66A-CE00-402F-8E98-3689C580701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423276" y="294665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1" name="任意多边形: 形状 37">
              <a:extLst>
                <a:ext uri="{FF2B5EF4-FFF2-40B4-BE49-F238E27FC236}">
                  <a16:creationId xmlns:a16="http://schemas.microsoft.com/office/drawing/2014/main" id="{67AA7127-C633-9C65-F6F3-4C1E4E370FA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423276" y="281066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2" name="任意多边形: 形状 38">
              <a:extLst>
                <a:ext uri="{FF2B5EF4-FFF2-40B4-BE49-F238E27FC236}">
                  <a16:creationId xmlns:a16="http://schemas.microsoft.com/office/drawing/2014/main" id="{1F3BAAD2-AC01-EC10-E014-198813727F6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423276" y="266772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3" name="任意多边形: 形状 41">
              <a:extLst>
                <a:ext uri="{FF2B5EF4-FFF2-40B4-BE49-F238E27FC236}">
                  <a16:creationId xmlns:a16="http://schemas.microsoft.com/office/drawing/2014/main" id="{61F071E0-6C0F-2F2B-3CEB-8C8AD6B7FE3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423276" y="2531534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1 w 52681"/>
                <a:gd name="connsiteY1" fmla="*/ 52681 h 52680"/>
                <a:gd name="connsiteX2" fmla="*/ 0 w 52681"/>
                <a:gd name="connsiteY2" fmla="*/ 26341 h 52680"/>
                <a:gd name="connsiteX3" fmla="*/ 26341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4" name="任意多边形: 形状 42">
              <a:extLst>
                <a:ext uri="{FF2B5EF4-FFF2-40B4-BE49-F238E27FC236}">
                  <a16:creationId xmlns:a16="http://schemas.microsoft.com/office/drawing/2014/main" id="{FB5DEE48-A16E-8E21-A1F5-2D62CDABF53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423276" y="238860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  <p:sp>
          <p:nvSpPr>
            <p:cNvPr id="35" name="任意多边形: 形状 44">
              <a:extLst>
                <a:ext uri="{FF2B5EF4-FFF2-40B4-BE49-F238E27FC236}">
                  <a16:creationId xmlns:a16="http://schemas.microsoft.com/office/drawing/2014/main" id="{5896934F-8B16-7691-F082-ECCFBFE33372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394281" y="2209936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7" y="110671"/>
                    <a:pt x="55335" y="110671"/>
                  </a:cubicBezTo>
                  <a:cubicBezTo>
                    <a:pt x="24774" y="110671"/>
                    <a:pt x="0" y="85896"/>
                    <a:pt x="0" y="55335"/>
                  </a:cubicBezTo>
                  <a:cubicBezTo>
                    <a:pt x="0" y="24775"/>
                    <a:pt x="24774" y="0"/>
                    <a:pt x="55335" y="0"/>
                  </a:cubicBezTo>
                  <a:cubicBezTo>
                    <a:pt x="85896" y="0"/>
                    <a:pt x="110671" y="24775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61C05"/>
                </a:solidFill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97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方案详解及系统实现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ADF3-0AA6-C9C7-BEB8-8B39529F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39D9E-4A3C-93F0-89D8-61078DDF97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3810E-C9F1-0FAF-6E36-352C3D90F1B4}"/>
              </a:ext>
            </a:extLst>
          </p:cNvPr>
          <p:cNvSpPr txBox="1"/>
          <p:nvPr/>
        </p:nvSpPr>
        <p:spPr>
          <a:xfrm>
            <a:off x="382344" y="984959"/>
            <a:ext cx="10583491" cy="29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诉求：产品包装信息系统化（质量与客服中心）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目前系统上查不到产品的包装、灯印等信息，产品检验时需要线下找相关人员提供；建议产品包装信息系统化，相关负责包装信息部门需要在系统上维护包装资料、灯体丝印信息等，方便产品检验时核查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增加检验计划的成品检验的包装特性为：包装和灯印信息，在检验的时候输入检验核查结果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478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B709-5AD6-9366-941B-44B48B91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BE616-1614-447D-A424-502386B0A2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B086B9-07B7-6188-B754-5BEFF30C5B8D}"/>
              </a:ext>
            </a:extLst>
          </p:cNvPr>
          <p:cNvSpPr txBox="1"/>
          <p:nvPr/>
        </p:nvSpPr>
        <p:spPr>
          <a:xfrm>
            <a:off x="382344" y="984959"/>
            <a:ext cx="10583491" cy="4360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诉求：质量追溯专项方案：来料检验与成品光电数据对比分析（高明技术品控中心）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系统中来料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IQC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检验数据、成品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FQC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检验数据相互独立，无关联匹配逻辑，无法实现原材料批次来料质量参数、光电性能数据，与对应工单成品的光电检测数据、不良数据的对标校验。业务端无法精准判定成品光电不良是否由原材料来料异常导致，只能依靠人工经验排查，问题溯源效率低。需在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建立批次关联逻辑，以物料批次、生产工单为纽带，绑定来料检验光电参数、检测结果与对应成品光电检测数据；支持单批次、多批次数据横向对比、差异分析；可统计来料合格但成品异常、来料不良导致成品不良等场景数据，精准定位质量根源，优化来料准入标准与供应商质量管控。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0715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：质量来料检验不是全检，在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IPQC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检验现场发现来料质量不合格，需要追溯供应商（关键物料启用批次管理）；需要手工台账记录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N+2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天车间配料发料记录供应商信息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194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B0C0-3951-F528-EF81-58942BD1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2151D-A4CD-483C-DE71-F6EC0AF9D2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F03AA6-1A59-4E1A-12CE-AC83FFF3544C}"/>
              </a:ext>
            </a:extLst>
          </p:cNvPr>
          <p:cNvSpPr txBox="1"/>
          <p:nvPr/>
        </p:nvSpPr>
        <p:spPr>
          <a:xfrm>
            <a:off x="382344" y="984959"/>
            <a:ext cx="10583491" cy="263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诉求：质量追溯专项方案：优化质量报表“检验批总览”（质量与客服中心）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为了方便数据统计，质量报表“检验批总览”需要增加检验缺陷、检验描述、生产车间等字段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缺陷信息需要质量通知单信息查询、检验特性描述可以取检验计划信息、生产车间可以在质检工序上体现（工厂名称可以体现）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365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9955-64F9-5BCB-5E59-AC1B646C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299CA-0CFF-20ED-B6DE-923D589772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7F11A4-BCA7-C990-7777-DD0298827298}"/>
              </a:ext>
            </a:extLst>
          </p:cNvPr>
          <p:cNvSpPr txBox="1"/>
          <p:nvPr/>
        </p:nvSpPr>
        <p:spPr>
          <a:xfrm>
            <a:off x="382344" y="984959"/>
            <a:ext cx="10583491" cy="263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777">
              <a:spcBef>
                <a:spcPts val="800"/>
              </a:spcBef>
            </a:pP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诉求：质量追溯专项方案：优化“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QA32 -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为检验批修改数据 ”（质量与客服中心）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QA32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事务增加供应商，目前只显示供应商代码，不能直观看出材料、产品的供应商是哪家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双击采购订单信息能浏览到供应商信息（制造商的货几个供应商在供货，需要增加采购货源清单来追溯信息）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99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B930-0252-88D7-BC49-D6EBE408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36EFC-B045-7922-B56A-DB9AC8902E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CA1A93-A926-7729-68E7-D2E668FBA5AF}"/>
              </a:ext>
            </a:extLst>
          </p:cNvPr>
          <p:cNvSpPr txBox="1"/>
          <p:nvPr/>
        </p:nvSpPr>
        <p:spPr>
          <a:xfrm>
            <a:off x="382344" y="984959"/>
            <a:ext cx="10583491" cy="4668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质量追溯需求和问题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诉求：质量追溯专项方案：产品质量追溯归档（国际事业部（佛照光电））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现状痛点：产品质量反馈，来料检查和整灯生产过程出现不良的，要让步接收不良，相关质量问题、责任供应商、对应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版本信息没有统一归档记录。需求解决：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统一归档质量不良记录，一键关联对应供应商、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版本，支撑研发优化设计规避同类问题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来料检验可以通过检验批找见采购订单，找见本次来料检验不合格，追溯到供应商质量问题 （需要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N+2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天配料到车间，手工台账记录供应商原材料批次）         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过程检验（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IPQC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），只能判断本次加工过程中的质量问题，不能确定是哪个供应商发的物料导致质量问题，如果要追溯到供应商需要做条码跟踪每一个物料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追溯原始的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，启用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ECN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并启用质量通知单记录半成品或成品物料编码和质量缺陷；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197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F5C79E4-409A-3BFD-DD5D-EF9B56F6211A}"/>
              </a:ext>
            </a:extLst>
          </p:cNvPr>
          <p:cNvSpPr/>
          <p:nvPr/>
        </p:nvSpPr>
        <p:spPr bwMode="gray">
          <a:xfrm>
            <a:off x="427968" y="883659"/>
            <a:ext cx="1414882" cy="10665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供应商数据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营业执照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质量保证协议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法人授权书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latin typeface="+mn-ea"/>
              </a:rPr>
              <a:t>……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C8D725-5A37-CDDA-2967-5B44D2D4CA84}"/>
              </a:ext>
            </a:extLst>
          </p:cNvPr>
          <p:cNvSpPr/>
          <p:nvPr/>
        </p:nvSpPr>
        <p:spPr bwMode="gray">
          <a:xfrm>
            <a:off x="2111004" y="896035"/>
            <a:ext cx="1741767" cy="36588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建立采购订单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供应商</a:t>
            </a:r>
            <a:endParaRPr lang="en-US" sz="10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3A965B-991B-3B42-DAF9-CFD8930B8240}"/>
              </a:ext>
            </a:extLst>
          </p:cNvPr>
          <p:cNvSpPr/>
          <p:nvPr/>
        </p:nvSpPr>
        <p:spPr bwMode="gray">
          <a:xfrm>
            <a:off x="2111005" y="1427353"/>
            <a:ext cx="1741766" cy="159363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采购收货入库</a:t>
            </a:r>
            <a:endParaRPr lang="en-US" altLang="zh-CN" sz="1000" b="1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初验记录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品名、规格、来源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或产地）、供货单位、供应商批号、采购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加工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)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日期、外包装状态、到货日期、进厂批次、验收结论、验收人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…)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入库单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请验单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20116-55A0-9639-79B1-B45978BF8FF0}"/>
              </a:ext>
            </a:extLst>
          </p:cNvPr>
          <p:cNvSpPr/>
          <p:nvPr/>
        </p:nvSpPr>
        <p:spPr bwMode="gray">
          <a:xfrm>
            <a:off x="2111004" y="4449828"/>
            <a:ext cx="1741766" cy="100616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采购入库质检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检检验项目、检验结果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检验人、检验日期、检验设备</a:t>
            </a:r>
            <a:r>
              <a:rPr lang="en-US" altLang="zh-CN" sz="1000" dirty="0">
                <a:latin typeface="+mn-ea"/>
              </a:rPr>
              <a:t>……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复核人、批准人</a:t>
            </a:r>
            <a:endParaRPr lang="en-US" sz="10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161509-9719-7A8B-5236-8E8AFF990A66}"/>
              </a:ext>
            </a:extLst>
          </p:cNvPr>
          <p:cNvSpPr/>
          <p:nvPr/>
        </p:nvSpPr>
        <p:spPr bwMode="gray">
          <a:xfrm>
            <a:off x="2111004" y="5650153"/>
            <a:ext cx="1741766" cy="61517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采购入库放行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物料放行审核单</a:t>
            </a:r>
            <a:r>
              <a:rPr lang="en-US" altLang="zh-CN" sz="1000" dirty="0">
                <a:latin typeface="+mn-ea"/>
              </a:rPr>
              <a:t>(</a:t>
            </a:r>
            <a:r>
              <a:rPr lang="zh-CN" altLang="en-US" sz="1000" dirty="0">
                <a:latin typeface="+mn-ea"/>
              </a:rPr>
              <a:t>放行结论、放行人、放行日期</a:t>
            </a:r>
            <a:r>
              <a:rPr lang="en-US" altLang="zh-CN" sz="1000" dirty="0">
                <a:latin typeface="+mn-ea"/>
              </a:rPr>
              <a:t>)</a:t>
            </a:r>
            <a:endParaRPr lang="en-US" sz="1000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C5D9A7-EFD8-78FE-A1DB-9CADA4E9F28E}"/>
              </a:ext>
            </a:extLst>
          </p:cNvPr>
          <p:cNvSpPr/>
          <p:nvPr/>
        </p:nvSpPr>
        <p:spPr bwMode="gray">
          <a:xfrm>
            <a:off x="6096000" y="890663"/>
            <a:ext cx="1486941" cy="68982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生产指令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批生产指令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批生产记录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配料单</a:t>
            </a:r>
            <a:endParaRPr lang="en-US" sz="10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7C61D5-DD16-6B44-60FA-3B1D03FD7D36}"/>
              </a:ext>
            </a:extLst>
          </p:cNvPr>
          <p:cNvSpPr/>
          <p:nvPr/>
        </p:nvSpPr>
        <p:spPr bwMode="gray">
          <a:xfrm>
            <a:off x="6096000" y="1923512"/>
            <a:ext cx="1486941" cy="69238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生产投料</a:t>
            </a:r>
            <a:endParaRPr lang="en-US" altLang="zh-CN" sz="1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06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投料记录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品名、批次、投料量</a:t>
            </a:r>
            <a:r>
              <a:rPr lang="en-US" altLang="zh-CN" sz="1000" dirty="0">
                <a:solidFill>
                  <a:schemeClr val="bg1"/>
                </a:solidFill>
                <a:latin typeface="+mn-ea"/>
              </a:rPr>
              <a:t>…)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921414-F9B4-71E2-3202-8EECC420BEBB}"/>
              </a:ext>
            </a:extLst>
          </p:cNvPr>
          <p:cNvSpPr/>
          <p:nvPr/>
        </p:nvSpPr>
        <p:spPr bwMode="gray">
          <a:xfrm>
            <a:off x="6096000" y="2954048"/>
            <a:ext cx="1486941" cy="41672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生产执行，</a:t>
            </a:r>
            <a:r>
              <a:rPr lang="en-US" altLang="zh-CN" sz="1000" b="1" dirty="0">
                <a:latin typeface="+mn-ea"/>
              </a:rPr>
              <a:t>IPQC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检验报告</a:t>
            </a:r>
            <a:endParaRPr lang="en-US" sz="10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250910-CC8E-4278-E859-0FF30979F2A2}"/>
              </a:ext>
            </a:extLst>
          </p:cNvPr>
          <p:cNvSpPr/>
          <p:nvPr/>
        </p:nvSpPr>
        <p:spPr bwMode="gray">
          <a:xfrm>
            <a:off x="6096000" y="3795425"/>
            <a:ext cx="1486941" cy="78375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000" b="1" dirty="0">
                <a:latin typeface="+mn-ea"/>
              </a:rPr>
              <a:t>IPQC</a:t>
            </a:r>
            <a:r>
              <a:rPr lang="zh-CN" altLang="en-US" sz="1000" b="1" dirty="0">
                <a:latin typeface="+mn-ea"/>
              </a:rPr>
              <a:t>放行</a:t>
            </a:r>
            <a:endParaRPr lang="en-US" altLang="zh-CN" sz="1000" b="1" dirty="0">
              <a:latin typeface="+mn-ea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（后续工序）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+mn-ea"/>
              </a:rPr>
              <a:t>IPQC</a:t>
            </a:r>
            <a:r>
              <a:rPr lang="zh-CN" altLang="en-US" sz="1000" dirty="0">
                <a:latin typeface="+mn-ea"/>
              </a:rPr>
              <a:t>检验记录</a:t>
            </a:r>
            <a:endParaRPr lang="en-US" sz="1000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587FE4-2081-071E-EA5A-90789F222F4C}"/>
              </a:ext>
            </a:extLst>
          </p:cNvPr>
          <p:cNvSpPr/>
          <p:nvPr/>
        </p:nvSpPr>
        <p:spPr bwMode="gray">
          <a:xfrm>
            <a:off x="7992922" y="2000827"/>
            <a:ext cx="1511705" cy="79542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完工生产入库</a:t>
            </a:r>
            <a:endParaRPr lang="en-US" altLang="zh-CN" sz="1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06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品名、规格、物料、生产日期、生产批号、保质期、有效期至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FC423D-92F8-8CBB-08E4-BAB07AD305A1}"/>
              </a:ext>
            </a:extLst>
          </p:cNvPr>
          <p:cNvSpPr/>
          <p:nvPr/>
        </p:nvSpPr>
        <p:spPr bwMode="gray">
          <a:xfrm>
            <a:off x="7992921" y="3020987"/>
            <a:ext cx="1511705" cy="32441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CN" altLang="en-US" sz="1000" b="1" dirty="0">
                <a:latin typeface="+mn-ea"/>
              </a:rPr>
              <a:t>生产入库质检</a:t>
            </a:r>
            <a:r>
              <a:rPr lang="en-US" altLang="zh-CN" sz="1000" b="1" dirty="0">
                <a:latin typeface="+mn-ea"/>
              </a:rPr>
              <a:t>FQC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+mn-ea"/>
              </a:rPr>
              <a:t>FQC</a:t>
            </a:r>
            <a:r>
              <a:rPr lang="zh-CN" altLang="en-US" sz="1000" dirty="0">
                <a:latin typeface="+mn-ea"/>
              </a:rPr>
              <a:t>检验报告</a:t>
            </a:r>
            <a:endParaRPr lang="en-US" sz="1000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074B81-CDB6-FF15-0CDA-378ABC12345C}"/>
              </a:ext>
            </a:extLst>
          </p:cNvPr>
          <p:cNvSpPr/>
          <p:nvPr/>
        </p:nvSpPr>
        <p:spPr bwMode="gray">
          <a:xfrm>
            <a:off x="7992921" y="3640172"/>
            <a:ext cx="1511705" cy="5591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CN" sz="1000" b="1" dirty="0">
                <a:latin typeface="+mn-ea"/>
              </a:rPr>
              <a:t>FQC</a:t>
            </a:r>
            <a:r>
              <a:rPr lang="zh-CN" altLang="en-US" sz="1000" b="1" dirty="0">
                <a:latin typeface="+mn-ea"/>
              </a:rPr>
              <a:t>放行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+mn-ea"/>
              </a:rPr>
              <a:t>FQC</a:t>
            </a:r>
            <a:r>
              <a:rPr lang="zh-CN" altLang="en-US" sz="1000" dirty="0">
                <a:latin typeface="+mn-ea"/>
              </a:rPr>
              <a:t>放行记录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批生产记录</a:t>
            </a:r>
            <a:endParaRPr lang="en-US" sz="1000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339010-12AA-297A-5855-17FB981BA4EA}"/>
              </a:ext>
            </a:extLst>
          </p:cNvPr>
          <p:cNvSpPr/>
          <p:nvPr/>
        </p:nvSpPr>
        <p:spPr bwMode="gray">
          <a:xfrm>
            <a:off x="4298816" y="3182496"/>
            <a:ext cx="1360555" cy="344391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dirty="0">
                <a:latin typeface="+mn-ea"/>
              </a:rPr>
              <a:t>物料周期性复验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检验报告</a:t>
            </a:r>
            <a:endParaRPr lang="en-US" sz="1000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286A17-106D-BC32-38FF-8D61F12F33C4}"/>
              </a:ext>
            </a:extLst>
          </p:cNvPr>
          <p:cNvSpPr/>
          <p:nvPr/>
        </p:nvSpPr>
        <p:spPr bwMode="gray">
          <a:xfrm>
            <a:off x="4289402" y="1583278"/>
            <a:ext cx="1369969" cy="93804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物料周期性复验放行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放行记录（放行结论、放行人、放行日期</a:t>
            </a:r>
            <a:r>
              <a:rPr lang="en-US" altLang="zh-CN" sz="1000" dirty="0">
                <a:latin typeface="+mn-ea"/>
              </a:rPr>
              <a:t>…</a:t>
            </a:r>
            <a:r>
              <a:rPr lang="zh-CN" altLang="en-US" sz="1000" dirty="0">
                <a:latin typeface="+mn-ea"/>
              </a:rPr>
              <a:t>）</a:t>
            </a:r>
            <a:endParaRPr lang="en-US" sz="1000" dirty="0"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3EE02F-907D-2BE9-708F-C7E9CD48543A}"/>
              </a:ext>
            </a:extLst>
          </p:cNvPr>
          <p:cNvSpPr/>
          <p:nvPr/>
        </p:nvSpPr>
        <p:spPr bwMode="gray">
          <a:xfrm>
            <a:off x="10360650" y="2628911"/>
            <a:ext cx="1542985" cy="40206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销售出库复核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复核记录</a:t>
            </a:r>
            <a:endParaRPr lang="en-US" sz="1000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F57599-3150-19A8-B521-F1EB1C26D9D1}"/>
              </a:ext>
            </a:extLst>
          </p:cNvPr>
          <p:cNvSpPr/>
          <p:nvPr/>
        </p:nvSpPr>
        <p:spPr bwMode="gray">
          <a:xfrm>
            <a:off x="10360649" y="1950234"/>
            <a:ext cx="1542986" cy="47454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dirty="0">
                <a:latin typeface="+mn-ea"/>
              </a:rPr>
              <a:t>创建交货单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品名、生产批号、数量</a:t>
            </a:r>
            <a:endParaRPr lang="en-US" sz="1000" dirty="0"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3B7CE0-9A27-7BF6-DB72-CDDC7E04E723}"/>
              </a:ext>
            </a:extLst>
          </p:cNvPr>
          <p:cNvSpPr/>
          <p:nvPr/>
        </p:nvSpPr>
        <p:spPr bwMode="gray">
          <a:xfrm>
            <a:off x="10360649" y="1434267"/>
            <a:ext cx="1529941" cy="36208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创建销售订单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客户</a:t>
            </a:r>
            <a:endParaRPr lang="en-US" sz="1000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B3711E-BCED-853D-0196-E2A1A079FA54}"/>
              </a:ext>
            </a:extLst>
          </p:cNvPr>
          <p:cNvSpPr/>
          <p:nvPr/>
        </p:nvSpPr>
        <p:spPr bwMode="gray">
          <a:xfrm>
            <a:off x="10360648" y="890664"/>
            <a:ext cx="1529942" cy="39122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CN" altLang="en-US" sz="1000" b="1" dirty="0">
                <a:latin typeface="+mn-ea"/>
              </a:rPr>
              <a:t>客户数据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客户首营资质</a:t>
            </a:r>
            <a:endParaRPr lang="en-US" sz="1000" dirty="0"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0F87AE-DD24-FF95-CE28-800FCBA4B663}"/>
              </a:ext>
            </a:extLst>
          </p:cNvPr>
          <p:cNvSpPr/>
          <p:nvPr/>
        </p:nvSpPr>
        <p:spPr bwMode="gray">
          <a:xfrm>
            <a:off x="10360650" y="3247517"/>
            <a:ext cx="1542985" cy="8052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</a:rPr>
              <a:t>销售发货过账</a:t>
            </a:r>
            <a:endParaRPr lang="en-US" altLang="zh-CN" sz="1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06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品名、生产批号、销售日期、检验报告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06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客户、地址、联系方式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EE07BF-93FE-CF2C-E573-327B367C2351}"/>
              </a:ext>
            </a:extLst>
          </p:cNvPr>
          <p:cNvSpPr/>
          <p:nvPr/>
        </p:nvSpPr>
        <p:spPr bwMode="gray">
          <a:xfrm>
            <a:off x="10360648" y="4783306"/>
            <a:ext cx="1542987" cy="99674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销售退货与产品召回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退货记录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召回记录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退货检验记录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退货放行记录</a:t>
            </a:r>
            <a:endParaRPr lang="en-US" sz="1000" dirty="0"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8EC16AE-16BB-CDDF-0DD6-6DC7F279F776}"/>
              </a:ext>
            </a:extLst>
          </p:cNvPr>
          <p:cNvCxnSpPr>
            <a:endCxn id="4" idx="1"/>
          </p:cNvCxnSpPr>
          <p:nvPr/>
        </p:nvCxnSpPr>
        <p:spPr>
          <a:xfrm>
            <a:off x="1797938" y="1078845"/>
            <a:ext cx="313066" cy="13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FAE3D37-16BA-4384-9224-25065CB31DC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81888" y="1261922"/>
            <a:ext cx="0" cy="16543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4C9E642-8E91-4F61-C3E4-070606E9582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981887" y="5455990"/>
            <a:ext cx="0" cy="194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肘形连接符 41">
            <a:extLst>
              <a:ext uri="{FF2B5EF4-FFF2-40B4-BE49-F238E27FC236}">
                <a16:creationId xmlns:a16="http://schemas.microsoft.com/office/drawing/2014/main" id="{184D218D-6A20-D040-9238-855599C2AEF3}"/>
              </a:ext>
            </a:extLst>
          </p:cNvPr>
          <p:cNvCxnSpPr>
            <a:stCxn id="7" idx="3"/>
            <a:endCxn id="28" idx="1"/>
          </p:cNvCxnSpPr>
          <p:nvPr/>
        </p:nvCxnSpPr>
        <p:spPr>
          <a:xfrm flipV="1">
            <a:off x="3852770" y="4997647"/>
            <a:ext cx="436631" cy="9600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FE15FC8-89A9-7164-3313-9ED02F1848B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839471" y="2615898"/>
            <a:ext cx="0" cy="338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A6F08247-4532-09F2-0E6C-7CEF6FFE60CE}"/>
              </a:ext>
            </a:extLst>
          </p:cNvPr>
          <p:cNvSpPr/>
          <p:nvPr/>
        </p:nvSpPr>
        <p:spPr bwMode="gray">
          <a:xfrm>
            <a:off x="4289402" y="4539302"/>
            <a:ext cx="1369970" cy="91668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库存管理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出入库记录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贮存条件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贮存期限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销毁记录</a:t>
            </a:r>
            <a:endParaRPr lang="en-US" sz="1000" dirty="0">
              <a:latin typeface="+mn-ea"/>
            </a:endParaRPr>
          </a:p>
        </p:txBody>
      </p:sp>
      <p:cxnSp>
        <p:nvCxnSpPr>
          <p:cNvPr id="29" name="直接箭头连接符 56">
            <a:extLst>
              <a:ext uri="{FF2B5EF4-FFF2-40B4-BE49-F238E27FC236}">
                <a16:creationId xmlns:a16="http://schemas.microsoft.com/office/drawing/2014/main" id="{BD85330F-61E4-AF20-49F4-BE34DC30519E}"/>
              </a:ext>
            </a:extLst>
          </p:cNvPr>
          <p:cNvCxnSpPr>
            <a:stCxn id="28" idx="3"/>
            <a:endCxn id="9" idx="1"/>
          </p:cNvCxnSpPr>
          <p:nvPr/>
        </p:nvCxnSpPr>
        <p:spPr>
          <a:xfrm flipV="1">
            <a:off x="5659372" y="2269705"/>
            <a:ext cx="436629" cy="2727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3AC0BDC-BE99-D380-FBB8-3379F7475C8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839471" y="1580485"/>
            <a:ext cx="0" cy="343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D95AB43-DCDF-E287-07F5-26B66FE8FB42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6839471" y="3370772"/>
            <a:ext cx="0" cy="424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肘形连接符 47">
            <a:extLst>
              <a:ext uri="{FF2B5EF4-FFF2-40B4-BE49-F238E27FC236}">
                <a16:creationId xmlns:a16="http://schemas.microsoft.com/office/drawing/2014/main" id="{10A60404-19BD-F0B1-F70C-0647A92D7CE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7582941" y="2398541"/>
            <a:ext cx="409981" cy="17887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C69E47B-BCBB-B98B-7929-A2DDB0B16F2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8748774" y="2796253"/>
            <a:ext cx="0" cy="224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BF1EA70-FEBF-429B-F0DD-98EAE4FF2B21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8748773" y="3345401"/>
            <a:ext cx="0" cy="294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F1B7A12-54F5-0B72-3D3B-503884B12E18}"/>
              </a:ext>
            </a:extLst>
          </p:cNvPr>
          <p:cNvSpPr/>
          <p:nvPr/>
        </p:nvSpPr>
        <p:spPr bwMode="gray">
          <a:xfrm>
            <a:off x="7992921" y="4579177"/>
            <a:ext cx="1511705" cy="86833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库存管理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出入库记录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储存条件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销毁记录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养护记录</a:t>
            </a:r>
            <a:endParaRPr lang="en-US" sz="1000" dirty="0">
              <a:latin typeface="+mn-ea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5636235-3E2D-A03B-782B-7FBB70D28B24}"/>
              </a:ext>
            </a:extLst>
          </p:cNvPr>
          <p:cNvCxnSpPr>
            <a:stCxn id="14" idx="2"/>
            <a:endCxn id="35" idx="0"/>
          </p:cNvCxnSpPr>
          <p:nvPr/>
        </p:nvCxnSpPr>
        <p:spPr>
          <a:xfrm>
            <a:off x="8748773" y="4199310"/>
            <a:ext cx="0" cy="37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85">
            <a:extLst>
              <a:ext uri="{FF2B5EF4-FFF2-40B4-BE49-F238E27FC236}">
                <a16:creationId xmlns:a16="http://schemas.microsoft.com/office/drawing/2014/main" id="{DA776FB9-7C2C-B53D-D80F-DB8A70D9C82F}"/>
              </a:ext>
            </a:extLst>
          </p:cNvPr>
          <p:cNvCxnSpPr>
            <a:stCxn id="35" idx="3"/>
            <a:endCxn id="21" idx="1"/>
          </p:cNvCxnSpPr>
          <p:nvPr/>
        </p:nvCxnSpPr>
        <p:spPr>
          <a:xfrm flipV="1">
            <a:off x="9504626" y="3650162"/>
            <a:ext cx="856024" cy="13631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0732272-1E77-0E84-603E-088CADD9B34E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11125619" y="1281886"/>
            <a:ext cx="0" cy="152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1C79D61-AF69-0BEA-37A1-D2EB8525E148}"/>
              </a:ext>
            </a:extLst>
          </p:cNvPr>
          <p:cNvCxnSpPr>
            <a:stCxn id="19" idx="2"/>
            <a:endCxn id="18" idx="0"/>
          </p:cNvCxnSpPr>
          <p:nvPr/>
        </p:nvCxnSpPr>
        <p:spPr>
          <a:xfrm>
            <a:off x="11125619" y="1796348"/>
            <a:ext cx="6523" cy="153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3291271-AC46-2150-AABD-2530E5850245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>
            <a:off x="11132142" y="2424782"/>
            <a:ext cx="0" cy="20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F0127DB-2DEF-838D-03FA-A8291DE794A8}"/>
              </a:ext>
            </a:extLst>
          </p:cNvPr>
          <p:cNvCxnSpPr>
            <a:stCxn id="17" idx="2"/>
            <a:endCxn id="21" idx="0"/>
          </p:cNvCxnSpPr>
          <p:nvPr/>
        </p:nvCxnSpPr>
        <p:spPr>
          <a:xfrm>
            <a:off x="11132142" y="3030979"/>
            <a:ext cx="0" cy="21653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4B540DF-F45A-F93B-4407-11E854AA49CD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11132141" y="4052807"/>
            <a:ext cx="1" cy="730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D479D079-C0CB-AF83-18C6-FEDBE5A25116}"/>
              </a:ext>
            </a:extLst>
          </p:cNvPr>
          <p:cNvSpPr/>
          <p:nvPr/>
        </p:nvSpPr>
        <p:spPr bwMode="gray">
          <a:xfrm>
            <a:off x="4289402" y="3913212"/>
            <a:ext cx="1369970" cy="29419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复验期</a:t>
            </a:r>
            <a:endParaRPr lang="en-US" sz="1000" b="1" dirty="0">
              <a:latin typeface="+mn-ea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113B396-0A44-80F2-308F-CCDEF9B24D62}"/>
              </a:ext>
            </a:extLst>
          </p:cNvPr>
          <p:cNvCxnSpPr>
            <a:stCxn id="43" idx="0"/>
            <a:endCxn id="15" idx="2"/>
          </p:cNvCxnSpPr>
          <p:nvPr/>
        </p:nvCxnSpPr>
        <p:spPr>
          <a:xfrm flipV="1">
            <a:off x="4974387" y="3526888"/>
            <a:ext cx="4706" cy="386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E7C2B44-9493-1D86-150A-1482D89DD693}"/>
              </a:ext>
            </a:extLst>
          </p:cNvPr>
          <p:cNvCxnSpPr>
            <a:stCxn id="15" idx="0"/>
            <a:endCxn id="16" idx="2"/>
          </p:cNvCxnSpPr>
          <p:nvPr/>
        </p:nvCxnSpPr>
        <p:spPr>
          <a:xfrm flipH="1" flipV="1">
            <a:off x="4974386" y="2521320"/>
            <a:ext cx="4707" cy="661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肘形连接符 61">
            <a:extLst>
              <a:ext uri="{FF2B5EF4-FFF2-40B4-BE49-F238E27FC236}">
                <a16:creationId xmlns:a16="http://schemas.microsoft.com/office/drawing/2014/main" id="{4A16DAE3-F43C-F0AA-0B67-28A40F29D9A5}"/>
              </a:ext>
            </a:extLst>
          </p:cNvPr>
          <p:cNvCxnSpPr>
            <a:stCxn id="16" idx="1"/>
            <a:endCxn id="28" idx="1"/>
          </p:cNvCxnSpPr>
          <p:nvPr/>
        </p:nvCxnSpPr>
        <p:spPr>
          <a:xfrm rot="10800000" flipV="1">
            <a:off x="4289402" y="2052299"/>
            <a:ext cx="12478" cy="294534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052D9608-5C79-EEFF-B5DC-7F3A53BAA022}"/>
              </a:ext>
            </a:extLst>
          </p:cNvPr>
          <p:cNvSpPr/>
          <p:nvPr/>
        </p:nvSpPr>
        <p:spPr bwMode="gray">
          <a:xfrm>
            <a:off x="427968" y="595281"/>
            <a:ext cx="1414882" cy="24731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400" b="1" dirty="0">
                <a:latin typeface="+mn-ea"/>
              </a:rPr>
              <a:t>供应商</a:t>
            </a:r>
            <a:endParaRPr lang="en-US" sz="1400" b="1" dirty="0"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6B3A6D-A35F-3907-F266-4D769D73D9E8}"/>
              </a:ext>
            </a:extLst>
          </p:cNvPr>
          <p:cNvSpPr/>
          <p:nvPr/>
        </p:nvSpPr>
        <p:spPr bwMode="gray">
          <a:xfrm>
            <a:off x="2111003" y="595281"/>
            <a:ext cx="3753352" cy="237893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400" b="1" dirty="0">
                <a:latin typeface="+mn-ea"/>
              </a:rPr>
              <a:t>采购及仓储</a:t>
            </a:r>
            <a:endParaRPr lang="en-US" sz="1400" b="1" dirty="0">
              <a:latin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1F0BC02-BD15-214A-83AA-08EA988E582B}"/>
              </a:ext>
            </a:extLst>
          </p:cNvPr>
          <p:cNvSpPr/>
          <p:nvPr/>
        </p:nvSpPr>
        <p:spPr bwMode="gray">
          <a:xfrm>
            <a:off x="6096000" y="588057"/>
            <a:ext cx="3980366" cy="24731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400" b="1" dirty="0">
                <a:latin typeface="+mn-ea"/>
              </a:rPr>
              <a:t>生产</a:t>
            </a:r>
            <a:endParaRPr lang="en-US" sz="1400" b="1" dirty="0"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715091-159D-671E-00A5-03757D842369}"/>
              </a:ext>
            </a:extLst>
          </p:cNvPr>
          <p:cNvSpPr/>
          <p:nvPr/>
        </p:nvSpPr>
        <p:spPr bwMode="gray">
          <a:xfrm>
            <a:off x="10315805" y="585858"/>
            <a:ext cx="1587830" cy="24731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400" b="1" dirty="0">
                <a:latin typeface="+mn-ea"/>
              </a:rPr>
              <a:t>销售</a:t>
            </a:r>
            <a:endParaRPr lang="en-US" sz="1400" b="1" dirty="0">
              <a:latin typeface="+mn-ea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CB634A0-E7D1-2765-8D9D-0A88BBDF8ED7}"/>
              </a:ext>
            </a:extLst>
          </p:cNvPr>
          <p:cNvCxnSpPr>
            <a:stCxn id="28" idx="0"/>
            <a:endCxn id="43" idx="2"/>
          </p:cNvCxnSpPr>
          <p:nvPr/>
        </p:nvCxnSpPr>
        <p:spPr>
          <a:xfrm flipV="1">
            <a:off x="4974387" y="4207408"/>
            <a:ext cx="0" cy="331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DC31ACF7-5285-D56B-4096-86887ECAD64E}"/>
              </a:ext>
            </a:extLst>
          </p:cNvPr>
          <p:cNvSpPr/>
          <p:nvPr/>
        </p:nvSpPr>
        <p:spPr bwMode="gray">
          <a:xfrm>
            <a:off x="2111003" y="3249287"/>
            <a:ext cx="1741767" cy="100616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CN" altLang="en-US" sz="1000" b="1" dirty="0">
                <a:latin typeface="+mn-ea"/>
              </a:rPr>
              <a:t>取样</a:t>
            </a:r>
            <a:endParaRPr lang="en-US" altLang="zh-CN" sz="1000" b="1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检验批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取样记录</a:t>
            </a:r>
            <a:r>
              <a:rPr lang="en-US" altLang="zh-CN" sz="1000" dirty="0">
                <a:latin typeface="+mn-ea"/>
              </a:rPr>
              <a:t>(</a:t>
            </a:r>
            <a:r>
              <a:rPr lang="zh-CN" altLang="en-US" sz="1000" dirty="0">
                <a:latin typeface="+mn-ea"/>
              </a:rPr>
              <a:t>取样量、取样人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日期</a:t>
            </a:r>
            <a:r>
              <a:rPr lang="en-US" altLang="zh-CN" sz="1000" dirty="0">
                <a:latin typeface="+mn-ea"/>
              </a:rPr>
              <a:t>)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留样记录</a:t>
            </a:r>
            <a:r>
              <a:rPr lang="en-US" altLang="zh-CN" sz="1000" dirty="0">
                <a:latin typeface="+mn-ea"/>
              </a:rPr>
              <a:t>(</a:t>
            </a:r>
            <a:r>
              <a:rPr lang="zh-CN" altLang="en-US" sz="1000" dirty="0">
                <a:latin typeface="+mn-ea"/>
              </a:rPr>
              <a:t>留样量、存储位置、留样期限</a:t>
            </a:r>
            <a:r>
              <a:rPr lang="en-US" altLang="zh-CN" sz="1000" dirty="0">
                <a:latin typeface="+mn-ea"/>
              </a:rPr>
              <a:t>)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EC38867-AB76-B430-3E4B-B0842F8A21DB}"/>
              </a:ext>
            </a:extLst>
          </p:cNvPr>
          <p:cNvCxnSpPr>
            <a:stCxn id="52" idx="2"/>
            <a:endCxn id="6" idx="0"/>
          </p:cNvCxnSpPr>
          <p:nvPr/>
        </p:nvCxnSpPr>
        <p:spPr>
          <a:xfrm>
            <a:off x="2981887" y="4255449"/>
            <a:ext cx="0" cy="194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4530A44-F23E-6CBB-7A16-8FA39C333628}"/>
              </a:ext>
            </a:extLst>
          </p:cNvPr>
          <p:cNvCxnSpPr>
            <a:stCxn id="5" idx="2"/>
            <a:endCxn id="52" idx="0"/>
          </p:cNvCxnSpPr>
          <p:nvPr/>
        </p:nvCxnSpPr>
        <p:spPr>
          <a:xfrm flipH="1">
            <a:off x="2981887" y="3020987"/>
            <a:ext cx="1" cy="228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标题 1">
            <a:extLst>
              <a:ext uri="{FF2B5EF4-FFF2-40B4-BE49-F238E27FC236}">
                <a16:creationId xmlns:a16="http://schemas.microsoft.com/office/drawing/2014/main" id="{DDDCA38F-F5F4-2060-C638-705395435386}"/>
              </a:ext>
            </a:extLst>
          </p:cNvPr>
          <p:cNvSpPr txBox="1">
            <a:spLocks/>
          </p:cNvSpPr>
          <p:nvPr/>
        </p:nvSpPr>
        <p:spPr>
          <a:xfrm>
            <a:off x="624001" y="72307"/>
            <a:ext cx="114663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623866">
              <a:defRPr/>
            </a:pPr>
            <a:r>
              <a:rPr lang="en-US" altLang="zh-CN" sz="2400" b="1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QM</a:t>
            </a:r>
            <a:r>
              <a:rPr lang="zh-CN" altLang="en-US" sz="2400" b="1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质量追溯：通过检验批、批次管理功能对业务进行完整及便捷质量追溯</a:t>
            </a:r>
          </a:p>
          <a:p>
            <a:pPr defTabSz="1623866">
              <a:defRPr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501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Content Placeholder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5989938"/>
              </p:ext>
            </p:extLst>
          </p:nvPr>
        </p:nvGraphicFramePr>
        <p:xfrm>
          <a:off x="291167" y="91509"/>
          <a:ext cx="9123758" cy="5783281"/>
        </p:xfrm>
        <a:graphic>
          <a:graphicData uri="http://schemas.openxmlformats.org/drawingml/2006/table">
            <a:tbl>
              <a:tblPr/>
              <a:tblGrid>
                <a:gridCol w="607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2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系统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9906" marR="99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defTabSz="1623866">
                        <a:defRPr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来料检验</a:t>
                      </a: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质量追溯过程</a:t>
                      </a:r>
                    </a:p>
                  </a:txBody>
                  <a:tcPr marL="49530" marR="49530" anchor="ctr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7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itchFamily="34" charset="0"/>
                        </a:rPr>
                        <a:t>MM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3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TW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7" name="Group 30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6256389" y="3275069"/>
            <a:ext cx="897731" cy="771525"/>
            <a:chOff x="4108450" y="2093807"/>
            <a:chExt cx="781050" cy="503012"/>
          </a:xfrm>
        </p:grpSpPr>
        <p:sp>
          <p:nvSpPr>
            <p:cNvPr id="58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使用决策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59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5" name="Group 30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988119" y="3307152"/>
            <a:ext cx="908050" cy="755650"/>
            <a:chOff x="4108450" y="2093807"/>
            <a:chExt cx="781050" cy="503012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送货单（物料凭证</a:t>
              </a:r>
              <a:r>
                <a:rPr lang="en-US" altLang="zh-CN" sz="1000" dirty="0">
                  <a:ea typeface="微软雅黑" pitchFamily="34" charset="-122"/>
                  <a:cs typeface="Segoe UI" pitchFamily="34" charset="0"/>
                </a:rPr>
                <a:t>+</a:t>
              </a: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检验批号）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8" name="Group 3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2247492" y="3288919"/>
            <a:ext cx="897731" cy="771525"/>
            <a:chOff x="4108450" y="2093807"/>
            <a:chExt cx="781050" cy="503012"/>
          </a:xfrm>
        </p:grpSpPr>
        <p:sp>
          <p:nvSpPr>
            <p:cNvPr id="9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录入检验结果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11" name="Group 30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394654" y="1151594"/>
            <a:ext cx="969963" cy="790575"/>
            <a:chOff x="4108450" y="2093807"/>
            <a:chExt cx="781050" cy="503012"/>
          </a:xfrm>
        </p:grpSpPr>
        <p:sp>
          <p:nvSpPr>
            <p:cNvPr id="12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收货到待检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3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sp>
        <p:nvSpPr>
          <p:cNvPr id="22" name="Flowchart: Stored Data 240"/>
          <p:cNvSpPr/>
          <p:nvPr>
            <p:custDataLst>
              <p:tags r:id="rId6"/>
            </p:custDataLst>
          </p:nvPr>
        </p:nvSpPr>
        <p:spPr>
          <a:xfrm>
            <a:off x="1025444" y="3865380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1-1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3" name="Flowchart: Stored Data 242"/>
          <p:cNvSpPr/>
          <p:nvPr>
            <p:custDataLst>
              <p:tags r:id="rId7"/>
            </p:custDataLst>
          </p:nvPr>
        </p:nvSpPr>
        <p:spPr>
          <a:xfrm>
            <a:off x="2306866" y="3865250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1-2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4" name="Flowchart: Stored Data 247"/>
          <p:cNvSpPr/>
          <p:nvPr>
            <p:custDataLst>
              <p:tags r:id="rId8"/>
            </p:custDataLst>
          </p:nvPr>
        </p:nvSpPr>
        <p:spPr>
          <a:xfrm>
            <a:off x="6251750" y="3838135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1-3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grpSp>
        <p:nvGrpSpPr>
          <p:cNvPr id="29" name="Group 30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992643" y="1129946"/>
            <a:ext cx="969963" cy="790575"/>
            <a:chOff x="4108450" y="2093807"/>
            <a:chExt cx="781050" cy="503012"/>
          </a:xfrm>
        </p:grpSpPr>
        <p:sp>
          <p:nvSpPr>
            <p:cNvPr id="30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采购订单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31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40" name="Group 30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4714717" y="4856412"/>
            <a:ext cx="1054232" cy="898525"/>
            <a:chOff x="4108450" y="2093807"/>
            <a:chExt cx="781050" cy="503012"/>
          </a:xfrm>
        </p:grpSpPr>
        <p:sp>
          <p:nvSpPr>
            <p:cNvPr id="41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59929"/>
            </a:xfrm>
            <a:prstGeom prst="flowChartProcess">
              <a:avLst/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zh-CN" altLang="en-US" sz="1000" dirty="0">
                  <a:ea typeface="微軟正黑體" pitchFamily="34" charset="-120"/>
                  <a:cs typeface="Calibri" pitchFamily="34" charset="0"/>
                </a:rPr>
                <a:t>质量通知单</a:t>
              </a:r>
              <a:endParaRPr lang="en-US" altLang="zh-CN" sz="1000" dirty="0"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42" name="AutoShape 3"/>
            <p:cNvSpPr>
              <a:spLocks noChangeArrowheads="1"/>
            </p:cNvSpPr>
            <p:nvPr/>
          </p:nvSpPr>
          <p:spPr bwMode="auto">
            <a:xfrm>
              <a:off x="4108450" y="2449293"/>
              <a:ext cx="781050" cy="147526"/>
            </a:xfrm>
            <a:prstGeom prst="flowChartProcess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en-US" altLang="zh-CN" sz="1000" dirty="0">
                  <a:ea typeface="微軟正黑體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43" name="Group 30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4346839" y="643882"/>
            <a:ext cx="969963" cy="790575"/>
            <a:chOff x="4108450" y="2093807"/>
            <a:chExt cx="781050" cy="503012"/>
          </a:xfrm>
        </p:grpSpPr>
        <p:sp>
          <p:nvSpPr>
            <p:cNvPr id="44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物料凭证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45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46" name="Group 30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4346839" y="1533540"/>
            <a:ext cx="969963" cy="765013"/>
            <a:chOff x="4108450" y="2110071"/>
            <a:chExt cx="781050" cy="486748"/>
          </a:xfrm>
        </p:grpSpPr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4108450" y="211007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检验批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118181" y="4133182"/>
            <a:ext cx="338554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不合格返修、报废</a:t>
            </a:r>
          </a:p>
        </p:txBody>
      </p:sp>
      <p:cxnSp>
        <p:nvCxnSpPr>
          <p:cNvPr id="52" name="直接连接符 51"/>
          <p:cNvCxnSpPr/>
          <p:nvPr/>
        </p:nvCxnSpPr>
        <p:spPr bwMode="auto">
          <a:xfrm>
            <a:off x="5316801" y="799476"/>
            <a:ext cx="691194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直接连接符 52"/>
          <p:cNvCxnSpPr/>
          <p:nvPr/>
        </p:nvCxnSpPr>
        <p:spPr bwMode="auto">
          <a:xfrm>
            <a:off x="5996120" y="799476"/>
            <a:ext cx="0" cy="1121044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直接连接符 53"/>
          <p:cNvCxnSpPr/>
          <p:nvPr/>
        </p:nvCxnSpPr>
        <p:spPr bwMode="auto">
          <a:xfrm>
            <a:off x="5316801" y="1918480"/>
            <a:ext cx="691194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肘形连接符 54"/>
          <p:cNvCxnSpPr/>
          <p:nvPr/>
        </p:nvCxnSpPr>
        <p:spPr bwMode="auto">
          <a:xfrm rot="16200000" flipH="1">
            <a:off x="5512548" y="1744653"/>
            <a:ext cx="1553344" cy="538699"/>
          </a:xfrm>
          <a:prstGeom prst="bentConnector3">
            <a:avLst>
              <a:gd name="adj1" fmla="val 107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endCxn id="6" idx="0"/>
          </p:cNvCxnSpPr>
          <p:nvPr/>
        </p:nvCxnSpPr>
        <p:spPr bwMode="auto">
          <a:xfrm rot="10800000" flipV="1">
            <a:off x="1442144" y="2790675"/>
            <a:ext cx="5116426" cy="516477"/>
          </a:xfrm>
          <a:prstGeom prst="bentConnector2">
            <a:avLst/>
          </a:prstGeom>
          <a:ln>
            <a:headEnd type="none" w="med" len="med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hape 227"/>
          <p:cNvCxnSpPr>
            <a:cxnSpLocks noChangeShapeType="1"/>
          </p:cNvCxnSpPr>
          <p:nvPr>
            <p:custDataLst>
              <p:tags r:id="rId13"/>
            </p:custDataLst>
          </p:nvPr>
        </p:nvCxnSpPr>
        <p:spPr bwMode="auto">
          <a:xfrm>
            <a:off x="1891537" y="3658295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hape 227"/>
          <p:cNvCxnSpPr>
            <a:cxnSpLocks noChangeShapeType="1"/>
          </p:cNvCxnSpPr>
          <p:nvPr>
            <p:custDataLst>
              <p:tags r:id="rId14"/>
            </p:custDataLst>
          </p:nvPr>
        </p:nvCxnSpPr>
        <p:spPr bwMode="auto">
          <a:xfrm>
            <a:off x="3149994" y="3655237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hape 227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4426530" y="3650919"/>
            <a:ext cx="1923470" cy="4318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3849722" y="868686"/>
            <a:ext cx="522348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接连接符 65"/>
          <p:cNvCxnSpPr/>
          <p:nvPr/>
        </p:nvCxnSpPr>
        <p:spPr bwMode="auto">
          <a:xfrm>
            <a:off x="3836365" y="1882793"/>
            <a:ext cx="522348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接连接符 66"/>
          <p:cNvCxnSpPr/>
          <p:nvPr/>
        </p:nvCxnSpPr>
        <p:spPr bwMode="auto">
          <a:xfrm>
            <a:off x="3849722" y="868687"/>
            <a:ext cx="0" cy="1014107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Shape 227"/>
          <p:cNvCxnSpPr>
            <a:cxnSpLocks noChangeShapeType="1"/>
          </p:cNvCxnSpPr>
          <p:nvPr>
            <p:custDataLst>
              <p:tags r:id="rId16"/>
            </p:custDataLst>
          </p:nvPr>
        </p:nvCxnSpPr>
        <p:spPr bwMode="auto">
          <a:xfrm>
            <a:off x="3330757" y="1475621"/>
            <a:ext cx="535360" cy="4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0" name="Group 30"/>
          <p:cNvGrpSpPr>
            <a:grpSpLocks/>
          </p:cNvGrpSpPr>
          <p:nvPr>
            <p:custDataLst>
              <p:tags r:id="rId17"/>
            </p:custDataLst>
          </p:nvPr>
        </p:nvGrpSpPr>
        <p:grpSpPr bwMode="auto">
          <a:xfrm>
            <a:off x="7120474" y="1506462"/>
            <a:ext cx="878813" cy="648074"/>
            <a:chOff x="4108450" y="2110214"/>
            <a:chExt cx="781050" cy="486605"/>
          </a:xfrm>
        </p:grpSpPr>
        <p:sp>
          <p:nvSpPr>
            <p:cNvPr id="71" name="AutoShape 3"/>
            <p:cNvSpPr>
              <a:spLocks noChangeArrowheads="1"/>
            </p:cNvSpPr>
            <p:nvPr/>
          </p:nvSpPr>
          <p:spPr bwMode="auto">
            <a:xfrm>
              <a:off x="4108450" y="2110214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合格的使用决策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72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187901" y="4884952"/>
            <a:ext cx="71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质量通知单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2391" y="3180997"/>
            <a:ext cx="718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流程图: 决策 285"/>
          <p:cNvSpPr/>
          <p:nvPr/>
        </p:nvSpPr>
        <p:spPr>
          <a:xfrm>
            <a:off x="3563821" y="3334886"/>
            <a:ext cx="914400" cy="612648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是否放行</a:t>
            </a:r>
          </a:p>
        </p:txBody>
      </p:sp>
      <p:cxnSp>
        <p:nvCxnSpPr>
          <p:cNvPr id="288" name="Elbow Connector 286"/>
          <p:cNvCxnSpPr>
            <a:cxnSpLocks noChangeShapeType="1"/>
            <a:stCxn id="286" idx="2"/>
            <a:endCxn id="41" idx="1"/>
          </p:cNvCxnSpPr>
          <p:nvPr>
            <p:custDataLst>
              <p:tags r:id="rId18"/>
            </p:custDataLst>
          </p:nvPr>
        </p:nvCxnSpPr>
        <p:spPr bwMode="auto">
          <a:xfrm rot="16200000" flipH="1">
            <a:off x="3752696" y="4215859"/>
            <a:ext cx="1230347" cy="693696"/>
          </a:xfrm>
          <a:prstGeom prst="bentConnector2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3" name="直接连接符 302"/>
          <p:cNvCxnSpPr/>
          <p:nvPr/>
        </p:nvCxnSpPr>
        <p:spPr bwMode="auto">
          <a:xfrm>
            <a:off x="307437" y="2575182"/>
            <a:ext cx="9144000" cy="11403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 bwMode="auto">
          <a:xfrm>
            <a:off x="307437" y="4300358"/>
            <a:ext cx="9144000" cy="11403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>
            <a:cxnSpLocks/>
          </p:cNvCxnSpPr>
          <p:nvPr/>
        </p:nvCxnSpPr>
        <p:spPr>
          <a:xfrm>
            <a:off x="7154120" y="3658297"/>
            <a:ext cx="1068018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直接箭头连接符 328"/>
          <p:cNvCxnSpPr/>
          <p:nvPr/>
        </p:nvCxnSpPr>
        <p:spPr>
          <a:xfrm flipV="1">
            <a:off x="8180457" y="2262926"/>
            <a:ext cx="0" cy="1359745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" name="直接箭头连接符 337"/>
          <p:cNvCxnSpPr/>
          <p:nvPr/>
        </p:nvCxnSpPr>
        <p:spPr>
          <a:xfrm flipV="1">
            <a:off x="1962605" y="1490164"/>
            <a:ext cx="433050" cy="16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extBox 2"/>
          <p:cNvSpPr txBox="1"/>
          <p:nvPr/>
        </p:nvSpPr>
        <p:spPr>
          <a:xfrm>
            <a:off x="5145485" y="340465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Arial" pitchFamily="34" charset="0"/>
                <a:ea typeface="微软雅黑" pitchFamily="34" charset="-122"/>
                <a:cs typeface="Segoe UI" pitchFamily="34" charset="0"/>
              </a:rPr>
              <a:t>合格</a:t>
            </a:r>
          </a:p>
        </p:txBody>
      </p:sp>
      <p:grpSp>
        <p:nvGrpSpPr>
          <p:cNvPr id="287" name="Group 30"/>
          <p:cNvGrpSpPr>
            <a:grpSpLocks/>
          </p:cNvGrpSpPr>
          <p:nvPr>
            <p:custDataLst>
              <p:tags r:id="rId19"/>
            </p:custDataLst>
          </p:nvPr>
        </p:nvGrpSpPr>
        <p:grpSpPr bwMode="auto">
          <a:xfrm>
            <a:off x="7787903" y="585344"/>
            <a:ext cx="878813" cy="683717"/>
            <a:chOff x="4108450" y="2083451"/>
            <a:chExt cx="781050" cy="513368"/>
          </a:xfrm>
        </p:grpSpPr>
        <p:sp>
          <p:nvSpPr>
            <p:cNvPr id="289" name="AutoShape 3"/>
            <p:cNvSpPr>
              <a:spLocks noChangeArrowheads="1"/>
            </p:cNvSpPr>
            <p:nvPr/>
          </p:nvSpPr>
          <p:spPr bwMode="auto">
            <a:xfrm>
              <a:off x="4108450" y="208345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仓库过账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290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291" name="Group 30"/>
          <p:cNvGrpSpPr>
            <a:grpSpLocks/>
          </p:cNvGrpSpPr>
          <p:nvPr>
            <p:custDataLst>
              <p:tags r:id="rId20"/>
            </p:custDataLst>
          </p:nvPr>
        </p:nvGrpSpPr>
        <p:grpSpPr bwMode="auto">
          <a:xfrm>
            <a:off x="8282125" y="1470820"/>
            <a:ext cx="878813" cy="683717"/>
            <a:chOff x="4108450" y="2083451"/>
            <a:chExt cx="781050" cy="513368"/>
          </a:xfrm>
        </p:grpSpPr>
        <p:sp>
          <p:nvSpPr>
            <p:cNvPr id="292" name="AutoShape 3"/>
            <p:cNvSpPr>
              <a:spLocks noChangeArrowheads="1"/>
            </p:cNvSpPr>
            <p:nvPr/>
          </p:nvSpPr>
          <p:spPr bwMode="auto">
            <a:xfrm>
              <a:off x="4108450" y="208345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不合格的使用决策（报废）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293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8188122" y="1246294"/>
            <a:ext cx="0" cy="116155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>
          <a:xfrm>
            <a:off x="7559880" y="1376836"/>
            <a:ext cx="1161651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接连接符 48"/>
          <p:cNvCxnSpPr/>
          <p:nvPr/>
        </p:nvCxnSpPr>
        <p:spPr>
          <a:xfrm>
            <a:off x="7559879" y="1376836"/>
            <a:ext cx="0" cy="113328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接连接符 68"/>
          <p:cNvCxnSpPr>
            <a:endCxn id="292" idx="0"/>
          </p:cNvCxnSpPr>
          <p:nvPr/>
        </p:nvCxnSpPr>
        <p:spPr>
          <a:xfrm>
            <a:off x="8721531" y="1376837"/>
            <a:ext cx="1" cy="93983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" name="直接连接符 306"/>
          <p:cNvCxnSpPr/>
          <p:nvPr/>
        </p:nvCxnSpPr>
        <p:spPr>
          <a:xfrm>
            <a:off x="7559879" y="2272101"/>
            <a:ext cx="1161651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" name="直接连接符 307"/>
          <p:cNvCxnSpPr/>
          <p:nvPr/>
        </p:nvCxnSpPr>
        <p:spPr>
          <a:xfrm flipH="1">
            <a:off x="8731358" y="2140282"/>
            <a:ext cx="2265" cy="15827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4" name="直接连接符 313"/>
          <p:cNvCxnSpPr/>
          <p:nvPr/>
        </p:nvCxnSpPr>
        <p:spPr>
          <a:xfrm flipH="1">
            <a:off x="7562524" y="2139759"/>
            <a:ext cx="2265" cy="158270"/>
          </a:xfrm>
          <a:prstGeom prst="line">
            <a:avLst/>
          </a:prstGeom>
          <a:noFill/>
          <a:ln w="25400" algn="ctr">
            <a:solidFill>
              <a:srgbClr val="00B05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DA0B242-5B4E-5D49-4FF2-2D9E1CCC66AF}"/>
              </a:ext>
            </a:extLst>
          </p:cNvPr>
          <p:cNvSpPr txBox="1"/>
          <p:nvPr/>
        </p:nvSpPr>
        <p:spPr>
          <a:xfrm>
            <a:off x="9338804" y="213099"/>
            <a:ext cx="2592594" cy="374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来料检验质量追溯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通过检验批、关键物料的批次号、工厂、物料编码、质量通知单追溯质量检验指标和质量缺陷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未来开发报表提取来料检验批检索质量缺陷信息、追溯供应商信息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Group 30">
            <a:extLst>
              <a:ext uri="{FF2B5EF4-FFF2-40B4-BE49-F238E27FC236}">
                <a16:creationId xmlns:a16="http://schemas.microsoft.com/office/drawing/2014/main" id="{618E6E2D-EFAA-AF82-372D-49B17CAF3AA0}"/>
              </a:ext>
            </a:extLst>
          </p:cNvPr>
          <p:cNvGrpSpPr>
            <a:grpSpLocks/>
          </p:cNvGrpSpPr>
          <p:nvPr>
            <p:custDataLst>
              <p:tags r:id="rId21"/>
            </p:custDataLst>
          </p:nvPr>
        </p:nvGrpSpPr>
        <p:grpSpPr bwMode="auto">
          <a:xfrm>
            <a:off x="6265062" y="4948351"/>
            <a:ext cx="878813" cy="683717"/>
            <a:chOff x="4108450" y="2083451"/>
            <a:chExt cx="781050" cy="513368"/>
          </a:xfrm>
        </p:grpSpPr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88EC924A-26F7-1B44-E7CC-1604E340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8345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评审结论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E9CEF5C-5B3D-6E01-E1EF-663272EB9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Microsoft JhengHei" pitchFamily="34" charset="-120"/>
                  <a:cs typeface="Calibri" pitchFamily="34" charset="0"/>
                </a:rPr>
                <a:t>线下</a:t>
              </a:r>
              <a:endParaRPr lang="en-US" altLang="zh-CN" sz="1000" dirty="0">
                <a:ea typeface="Microsoft JhengHei" pitchFamily="34" charset="-120"/>
                <a:cs typeface="Calibri" pitchFamily="34" charset="0"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51C88D8-6495-750D-9765-84B1269A1D4A}"/>
              </a:ext>
            </a:extLst>
          </p:cNvPr>
          <p:cNvCxnSpPr>
            <a:cxnSpLocks/>
          </p:cNvCxnSpPr>
          <p:nvPr/>
        </p:nvCxnSpPr>
        <p:spPr>
          <a:xfrm>
            <a:off x="5768949" y="5293907"/>
            <a:ext cx="496112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肘形连接符 120">
            <a:extLst>
              <a:ext uri="{FF2B5EF4-FFF2-40B4-BE49-F238E27FC236}">
                <a16:creationId xmlns:a16="http://schemas.microsoft.com/office/drawing/2014/main" id="{F1FA4FAC-E0F4-D926-89E0-B6593BCA1A24}"/>
              </a:ext>
            </a:extLst>
          </p:cNvPr>
          <p:cNvCxnSpPr>
            <a:cxnSpLocks/>
            <a:stCxn id="17" idx="0"/>
            <a:endCxn id="59" idx="2"/>
          </p:cNvCxnSpPr>
          <p:nvPr/>
        </p:nvCxnSpPr>
        <p:spPr>
          <a:xfrm rot="5400000" flipH="1" flipV="1">
            <a:off x="6253984" y="4497080"/>
            <a:ext cx="901757" cy="786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48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8698646"/>
              </p:ext>
            </p:extLst>
          </p:nvPr>
        </p:nvGraphicFramePr>
        <p:xfrm>
          <a:off x="429287" y="128429"/>
          <a:ext cx="9123758" cy="5813229"/>
        </p:xfrm>
        <a:graphic>
          <a:graphicData uri="http://schemas.openxmlformats.org/drawingml/2006/table">
            <a:tbl>
              <a:tblPr/>
              <a:tblGrid>
                <a:gridCol w="607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2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系统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9906" marR="99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过程检验（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IPQC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）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-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质量追溯过程（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MES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  <a:sym typeface="Arial"/>
                        </a:rPr>
                        <a:t>车灯事业部）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  <a:sym typeface="Arial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anchor="ctr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7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itchFamily="34" charset="0"/>
                        </a:rPr>
                        <a:t>PP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3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TW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30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238407" y="3578106"/>
            <a:ext cx="908050" cy="755650"/>
            <a:chOff x="4108450" y="2093807"/>
            <a:chExt cx="781050" cy="503012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微软雅黑" pitchFamily="34" charset="-122"/>
                  <a:cs typeface="Segoe UI" pitchFamily="34" charset="0"/>
                </a:rPr>
                <a:t>IPQC</a:t>
              </a: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检验批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8" name="Group 30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497780" y="3559873"/>
            <a:ext cx="897731" cy="771525"/>
            <a:chOff x="4108450" y="2093807"/>
            <a:chExt cx="781050" cy="503012"/>
          </a:xfrm>
        </p:grpSpPr>
        <p:sp>
          <p:nvSpPr>
            <p:cNvPr id="9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录入检验结果（工序检验和完工检验）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QMS</a:t>
              </a:r>
            </a:p>
          </p:txBody>
        </p:sp>
      </p:grpSp>
      <p:grpSp>
        <p:nvGrpSpPr>
          <p:cNvPr id="11" name="Group 3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2574358" y="1347382"/>
            <a:ext cx="969963" cy="790575"/>
            <a:chOff x="4108450" y="2093807"/>
            <a:chExt cx="781050" cy="503012"/>
          </a:xfrm>
        </p:grpSpPr>
        <p:sp>
          <p:nvSpPr>
            <p:cNvPr id="12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生产订单下达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3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14" name="Group 30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035159" y="3574357"/>
            <a:ext cx="835819" cy="708025"/>
            <a:chOff x="4108450" y="2093807"/>
            <a:chExt cx="781050" cy="503012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放行确认追溯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6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cxnSp>
        <p:nvCxnSpPr>
          <p:cNvPr id="18" name="Shape 227"/>
          <p:cNvCxnSpPr>
            <a:cxnSpLocks noChangeShapeType="1"/>
          </p:cNvCxnSpPr>
          <p:nvPr>
            <p:custDataLst>
              <p:tags r:id="rId6"/>
            </p:custDataLst>
          </p:nvPr>
        </p:nvCxnSpPr>
        <p:spPr bwMode="auto">
          <a:xfrm>
            <a:off x="2152145" y="1671411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Flowchart: Stored Data 240"/>
          <p:cNvSpPr/>
          <p:nvPr>
            <p:custDataLst>
              <p:tags r:id="rId7"/>
            </p:custDataLst>
          </p:nvPr>
        </p:nvSpPr>
        <p:spPr>
          <a:xfrm>
            <a:off x="1275732" y="4136334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1-1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3" name="Flowchart: Stored Data 242"/>
          <p:cNvSpPr/>
          <p:nvPr>
            <p:custDataLst>
              <p:tags r:id="rId8"/>
            </p:custDataLst>
          </p:nvPr>
        </p:nvSpPr>
        <p:spPr>
          <a:xfrm>
            <a:off x="2557154" y="4136204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1-2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4" name="Flowchart: Stored Data 247"/>
          <p:cNvSpPr/>
          <p:nvPr>
            <p:custDataLst>
              <p:tags r:id="rId9"/>
            </p:custDataLst>
          </p:nvPr>
        </p:nvSpPr>
        <p:spPr>
          <a:xfrm>
            <a:off x="5059477" y="4089206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1-4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grpSp>
        <p:nvGrpSpPr>
          <p:cNvPr id="29" name="Group 30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156936" y="1325734"/>
            <a:ext cx="969963" cy="790575"/>
            <a:chOff x="4108450" y="2093807"/>
            <a:chExt cx="781050" cy="503012"/>
          </a:xfrm>
        </p:grpSpPr>
        <p:sp>
          <p:nvSpPr>
            <p:cNvPr id="30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生产订单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31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40" name="Group 30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4411966" y="4991125"/>
            <a:ext cx="1054232" cy="898525"/>
            <a:chOff x="4108450" y="2093807"/>
            <a:chExt cx="781050" cy="503012"/>
          </a:xfrm>
        </p:grpSpPr>
        <p:sp>
          <p:nvSpPr>
            <p:cNvPr id="41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59929"/>
            </a:xfrm>
            <a:prstGeom prst="flowChartProcess">
              <a:avLst/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zh-CN" altLang="en-US" sz="1000" dirty="0">
                  <a:ea typeface="微軟正黑體" pitchFamily="34" charset="-120"/>
                  <a:cs typeface="Calibri" pitchFamily="34" charset="0"/>
                </a:rPr>
                <a:t>质量通知单</a:t>
              </a:r>
              <a:endParaRPr lang="en-US" altLang="zh-CN" sz="1000" dirty="0"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42" name="AutoShape 3"/>
            <p:cNvSpPr>
              <a:spLocks noChangeArrowheads="1"/>
            </p:cNvSpPr>
            <p:nvPr/>
          </p:nvSpPr>
          <p:spPr bwMode="auto">
            <a:xfrm>
              <a:off x="4108450" y="2449293"/>
              <a:ext cx="781050" cy="147526"/>
            </a:xfrm>
            <a:prstGeom prst="flowChartProcess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en-US" altLang="zh-CN" sz="1000" dirty="0">
                  <a:ea typeface="微軟正黑體" pitchFamily="34" charset="-120"/>
                  <a:cs typeface="Calibri" pitchFamily="34" charset="0"/>
                </a:rPr>
                <a:t>QM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097837" y="364262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合格放行</a:t>
            </a:r>
          </a:p>
        </p:txBody>
      </p:sp>
      <p:cxnSp>
        <p:nvCxnSpPr>
          <p:cNvPr id="55" name="肘形连接符 54"/>
          <p:cNvCxnSpPr>
            <a:stCxn id="12" idx="3"/>
          </p:cNvCxnSpPr>
          <p:nvPr/>
        </p:nvCxnSpPr>
        <p:spPr bwMode="auto">
          <a:xfrm>
            <a:off x="3544320" y="1630702"/>
            <a:ext cx="807740" cy="1430926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endCxn id="6" idx="0"/>
          </p:cNvCxnSpPr>
          <p:nvPr/>
        </p:nvCxnSpPr>
        <p:spPr bwMode="auto">
          <a:xfrm rot="10800000" flipV="1">
            <a:off x="1692432" y="3061628"/>
            <a:ext cx="2659628" cy="516478"/>
          </a:xfrm>
          <a:prstGeom prst="bentConnector2">
            <a:avLst/>
          </a:prstGeom>
          <a:ln>
            <a:headEnd type="none" w="med" len="med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57" name="Group 30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766430" y="3546023"/>
            <a:ext cx="897731" cy="771525"/>
            <a:chOff x="4108450" y="2093807"/>
            <a:chExt cx="781050" cy="503012"/>
          </a:xfrm>
        </p:grpSpPr>
        <p:sp>
          <p:nvSpPr>
            <p:cNvPr id="58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使用决策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59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QMS</a:t>
              </a:r>
            </a:p>
          </p:txBody>
        </p:sp>
      </p:grpSp>
      <p:sp>
        <p:nvSpPr>
          <p:cNvPr id="60" name="Flowchart: Stored Data 242"/>
          <p:cNvSpPr/>
          <p:nvPr>
            <p:custDataLst>
              <p:tags r:id="rId13"/>
            </p:custDataLst>
          </p:nvPr>
        </p:nvSpPr>
        <p:spPr>
          <a:xfrm>
            <a:off x="3825804" y="4122354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1-3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cxnSp>
        <p:nvCxnSpPr>
          <p:cNvPr id="61" name="Shape 227"/>
          <p:cNvCxnSpPr>
            <a:cxnSpLocks noChangeShapeType="1"/>
          </p:cNvCxnSpPr>
          <p:nvPr>
            <p:custDataLst>
              <p:tags r:id="rId14"/>
            </p:custDataLst>
          </p:nvPr>
        </p:nvCxnSpPr>
        <p:spPr bwMode="auto">
          <a:xfrm>
            <a:off x="2141825" y="3929249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hape 227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3400282" y="3926191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hape 227"/>
          <p:cNvCxnSpPr>
            <a:cxnSpLocks noChangeShapeType="1"/>
          </p:cNvCxnSpPr>
          <p:nvPr>
            <p:custDataLst>
              <p:tags r:id="rId16"/>
            </p:custDataLst>
          </p:nvPr>
        </p:nvCxnSpPr>
        <p:spPr bwMode="auto">
          <a:xfrm>
            <a:off x="4676818" y="3921873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hape 227"/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>
            <a:off x="5870977" y="3920792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73"/>
          <p:cNvCxnSpPr/>
          <p:nvPr/>
        </p:nvCxnSpPr>
        <p:spPr bwMode="auto">
          <a:xfrm>
            <a:off x="358415" y="4709707"/>
            <a:ext cx="9144000" cy="11403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38189" y="5155906"/>
            <a:ext cx="71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质量通知单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189" y="3443249"/>
            <a:ext cx="718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0" name="Group 30"/>
          <p:cNvGrpSpPr>
            <a:grpSpLocks/>
          </p:cNvGrpSpPr>
          <p:nvPr>
            <p:custDataLst>
              <p:tags r:id="rId18"/>
            </p:custDataLst>
          </p:nvPr>
        </p:nvGrpSpPr>
        <p:grpSpPr bwMode="auto">
          <a:xfrm>
            <a:off x="8019505" y="3577619"/>
            <a:ext cx="813461" cy="708025"/>
            <a:chOff x="4108450" y="2093807"/>
            <a:chExt cx="781055" cy="503012"/>
          </a:xfrm>
        </p:grpSpPr>
        <p:sp>
          <p:nvSpPr>
            <p:cNvPr id="81" name="AutoShape 3"/>
            <p:cNvSpPr>
              <a:spLocks noChangeArrowheads="1"/>
            </p:cNvSpPr>
            <p:nvPr/>
          </p:nvSpPr>
          <p:spPr bwMode="auto">
            <a:xfrm>
              <a:off x="4108454" y="2093807"/>
              <a:ext cx="781051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最终使用决策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82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sp>
        <p:nvSpPr>
          <p:cNvPr id="83" name="Flowchart: Stored Data 288"/>
          <p:cNvSpPr/>
          <p:nvPr>
            <p:custDataLst>
              <p:tags r:id="rId19"/>
            </p:custDataLst>
          </p:nvPr>
        </p:nvSpPr>
        <p:spPr>
          <a:xfrm>
            <a:off x="8047357" y="4081674"/>
            <a:ext cx="526256" cy="192448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600" dirty="0">
                <a:solidFill>
                  <a:srgbClr val="FF0000"/>
                </a:solidFill>
                <a:ea typeface="微软雅黑" pitchFamily="34" charset="-122"/>
              </a:rPr>
              <a:t>1-5</a:t>
            </a:r>
            <a:endParaRPr kumimoji="0" lang="zh-CN" altLang="en-US" sz="600" dirty="0">
              <a:solidFill>
                <a:srgbClr val="FF0000"/>
              </a:solidFill>
              <a:ea typeface="微软雅黑" pitchFamily="34" charset="-122"/>
            </a:endParaRPr>
          </a:p>
        </p:txBody>
      </p:sp>
      <p:cxnSp>
        <p:nvCxnSpPr>
          <p:cNvPr id="91" name="直接箭头连接符 90"/>
          <p:cNvCxnSpPr/>
          <p:nvPr/>
        </p:nvCxnSpPr>
        <p:spPr>
          <a:xfrm>
            <a:off x="7054239" y="3929250"/>
            <a:ext cx="993118" cy="13491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4" name="Group 30"/>
          <p:cNvGrpSpPr>
            <a:grpSpLocks/>
          </p:cNvGrpSpPr>
          <p:nvPr>
            <p:custDataLst>
              <p:tags r:id="rId20"/>
            </p:custDataLst>
          </p:nvPr>
        </p:nvGrpSpPr>
        <p:grpSpPr bwMode="auto">
          <a:xfrm>
            <a:off x="6688405" y="5126150"/>
            <a:ext cx="878813" cy="683717"/>
            <a:chOff x="4108450" y="2083451"/>
            <a:chExt cx="781050" cy="513368"/>
          </a:xfrm>
        </p:grpSpPr>
        <p:sp>
          <p:nvSpPr>
            <p:cNvPr id="105" name="AutoShape 3"/>
            <p:cNvSpPr>
              <a:spLocks noChangeArrowheads="1"/>
            </p:cNvSpPr>
            <p:nvPr/>
          </p:nvSpPr>
          <p:spPr bwMode="auto">
            <a:xfrm>
              <a:off x="4108450" y="208345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质量评审结论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106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Microsoft JhengHei" pitchFamily="34" charset="-120"/>
                  <a:cs typeface="Calibri" pitchFamily="34" charset="0"/>
                </a:rPr>
                <a:t>线下</a:t>
              </a:r>
              <a:endParaRPr lang="en-US" altLang="zh-CN" sz="1000" dirty="0">
                <a:ea typeface="Microsoft JhengHei" pitchFamily="34" charset="-120"/>
                <a:cs typeface="Calibri" pitchFamily="34" charset="0"/>
              </a:endParaRPr>
            </a:p>
          </p:txBody>
        </p:sp>
      </p:grpSp>
      <p:cxnSp>
        <p:nvCxnSpPr>
          <p:cNvPr id="111" name="肘形连接符 110"/>
          <p:cNvCxnSpPr>
            <a:stCxn id="2" idx="2"/>
            <a:endCxn id="41" idx="0"/>
          </p:cNvCxnSpPr>
          <p:nvPr/>
        </p:nvCxnSpPr>
        <p:spPr>
          <a:xfrm rot="5400000">
            <a:off x="5424989" y="3732583"/>
            <a:ext cx="772636" cy="1744449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5" name="TextBox 114"/>
          <p:cNvSpPr txBox="1"/>
          <p:nvPr/>
        </p:nvSpPr>
        <p:spPr>
          <a:xfrm>
            <a:off x="5349577" y="4657739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返工或报废</a:t>
            </a:r>
            <a:endParaRPr lang="zh-CN" altLang="en-US" sz="1000" dirty="0"/>
          </a:p>
        </p:txBody>
      </p:sp>
      <p:cxnSp>
        <p:nvCxnSpPr>
          <p:cNvPr id="117" name="直接箭头连接符 116"/>
          <p:cNvCxnSpPr/>
          <p:nvPr/>
        </p:nvCxnSpPr>
        <p:spPr>
          <a:xfrm>
            <a:off x="5466198" y="5463068"/>
            <a:ext cx="1222206" cy="8638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" name="肘形连接符 120"/>
          <p:cNvCxnSpPr/>
          <p:nvPr/>
        </p:nvCxnSpPr>
        <p:spPr>
          <a:xfrm rot="5400000" flipH="1" flipV="1">
            <a:off x="7404655" y="4456368"/>
            <a:ext cx="1177900" cy="852776"/>
          </a:xfrm>
          <a:prstGeom prst="bentConnector3">
            <a:avLst>
              <a:gd name="adj1" fmla="val 1337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6226331" y="3605840"/>
            <a:ext cx="914400" cy="612648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是否放行</a:t>
            </a:r>
          </a:p>
        </p:txBody>
      </p:sp>
      <p:grpSp>
        <p:nvGrpSpPr>
          <p:cNvPr id="189" name="Group 30"/>
          <p:cNvGrpSpPr>
            <a:grpSpLocks/>
          </p:cNvGrpSpPr>
          <p:nvPr>
            <p:custDataLst>
              <p:tags r:id="rId21"/>
            </p:custDataLst>
          </p:nvPr>
        </p:nvGrpSpPr>
        <p:grpSpPr bwMode="auto">
          <a:xfrm>
            <a:off x="7935011" y="1181098"/>
            <a:ext cx="969963" cy="790575"/>
            <a:chOff x="4108450" y="2093807"/>
            <a:chExt cx="781050" cy="503012"/>
          </a:xfrm>
        </p:grpSpPr>
        <p:sp>
          <p:nvSpPr>
            <p:cNvPr id="190" name="AutoShape 3"/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合格品入库过账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91" name="AutoShape 3"/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cxnSp>
        <p:nvCxnSpPr>
          <p:cNvPr id="43" name="直接箭头连接符 42"/>
          <p:cNvCxnSpPr/>
          <p:nvPr/>
        </p:nvCxnSpPr>
        <p:spPr>
          <a:xfrm flipH="1" flipV="1">
            <a:off x="8463418" y="1946194"/>
            <a:ext cx="6245" cy="160594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518452F-2115-09DB-45D5-E8431A57D84F}"/>
              </a:ext>
            </a:extLst>
          </p:cNvPr>
          <p:cNvSpPr txBox="1"/>
          <p:nvPr/>
        </p:nvSpPr>
        <p:spPr>
          <a:xfrm>
            <a:off x="9338804" y="213099"/>
            <a:ext cx="2592594" cy="374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IPQC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过程检验质量追溯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通过检验批、关键物料的批次号、工厂、物料编码、质量通知单追溯质量检验指标和质量缺陷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未来开发报表提取来料检验批检索质量缺陷信息、追溯供应商信息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5E90-8F0A-4401-6C5B-58362B96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4AA705A6-66DF-E0D5-F025-E845A0490DA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346195"/>
              </p:ext>
            </p:extLst>
          </p:nvPr>
        </p:nvGraphicFramePr>
        <p:xfrm>
          <a:off x="378486" y="179227"/>
          <a:ext cx="9123758" cy="5783281"/>
        </p:xfrm>
        <a:graphic>
          <a:graphicData uri="http://schemas.openxmlformats.org/drawingml/2006/table">
            <a:tbl>
              <a:tblPr/>
              <a:tblGrid>
                <a:gridCol w="607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2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系统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9906" marR="990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销售退货检验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-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微软雅黑" pitchFamily="34" charset="-122"/>
                          <a:cs typeface="Segoe UI" pitchFamily="34" charset="0"/>
                        </a:rPr>
                        <a:t>质量追溯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anchor="ctr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7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itchFamily="34" charset="0"/>
                        </a:rPr>
                        <a:t>PP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3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ED6D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TW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egoe UI" pitchFamily="34" charset="0"/>
                        <a:ea typeface="微软雅黑" pitchFamily="34" charset="-122"/>
                        <a:cs typeface="Segoe UI" pitchFamily="34" charset="0"/>
                      </a:endParaRPr>
                    </a:p>
                  </a:txBody>
                  <a:tcPr marL="49530" marR="49530" horzOverflow="overflow">
                    <a:lnL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30">
            <a:extLst>
              <a:ext uri="{FF2B5EF4-FFF2-40B4-BE49-F238E27FC236}">
                <a16:creationId xmlns:a16="http://schemas.microsoft.com/office/drawing/2014/main" id="{F23A14BC-86B2-4754-211B-345343D1FCB3}"/>
              </a:ext>
            </a:extLst>
          </p:cNvPr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187606" y="3628904"/>
            <a:ext cx="908050" cy="755650"/>
            <a:chOff x="4108450" y="2093807"/>
            <a:chExt cx="781050" cy="503012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1DF3F687-D3A9-B092-1BFD-7102DB103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检验批</a:t>
              </a:r>
              <a:r>
                <a:rPr lang="en-US" altLang="zh-CN" sz="1000" dirty="0">
                  <a:ea typeface="微软雅黑" pitchFamily="34" charset="-122"/>
                  <a:cs typeface="Segoe UI" pitchFamily="34" charset="0"/>
                </a:rPr>
                <a:t>06</a:t>
              </a:r>
            </a:p>
          </p:txBody>
        </p:sp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6B8F5988-60F2-2F30-070D-4963E7E71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67B70D9C-B1B2-6423-22D8-AAD97AA7BE39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446979" y="3610671"/>
            <a:ext cx="897731" cy="771525"/>
            <a:chOff x="4108450" y="2093807"/>
            <a:chExt cx="781050" cy="503012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A5882F14-F0AE-23D8-9268-31E794AC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录入检验结果（工序检验和完工检验）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007B221C-53F8-6FC9-CA4A-C124ABFA4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grpSp>
        <p:nvGrpSpPr>
          <p:cNvPr id="11" name="Group 30">
            <a:extLst>
              <a:ext uri="{FF2B5EF4-FFF2-40B4-BE49-F238E27FC236}">
                <a16:creationId xmlns:a16="http://schemas.microsoft.com/office/drawing/2014/main" id="{B546D801-8118-1A3E-7388-09B0DA3845C2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2523557" y="1398180"/>
            <a:ext cx="969963" cy="790575"/>
            <a:chOff x="4108450" y="2093807"/>
            <a:chExt cx="781050" cy="503012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A3078850-E34A-192B-3E62-08D5FF07E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退货单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8F32E5C-08F1-7796-A705-5C3A97AF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14" name="Group 30">
            <a:extLst>
              <a:ext uri="{FF2B5EF4-FFF2-40B4-BE49-F238E27FC236}">
                <a16:creationId xmlns:a16="http://schemas.microsoft.com/office/drawing/2014/main" id="{77921D89-10B9-A272-DE95-B2A6626FDFC7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4984358" y="3625155"/>
            <a:ext cx="835819" cy="708025"/>
            <a:chOff x="4108450" y="2093807"/>
            <a:chExt cx="781050" cy="503012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5CB77918-B612-090D-0912-86A97D8D2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放行确认追溯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6" name="AutoShape 3">
              <a:extLst>
                <a:ext uri="{FF2B5EF4-FFF2-40B4-BE49-F238E27FC236}">
                  <a16:creationId xmlns:a16="http://schemas.microsoft.com/office/drawing/2014/main" id="{9A87773F-8E31-BAF1-9432-2806F01F8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cxnSp>
        <p:nvCxnSpPr>
          <p:cNvPr id="18" name="Shape 227">
            <a:extLst>
              <a:ext uri="{FF2B5EF4-FFF2-40B4-BE49-F238E27FC236}">
                <a16:creationId xmlns:a16="http://schemas.microsoft.com/office/drawing/2014/main" id="{70323F66-252C-63E6-6D4D-6DE855A8F897}"/>
              </a:ext>
            </a:extLst>
          </p:cNvPr>
          <p:cNvCxnSpPr>
            <a:cxnSpLocks noChangeShapeType="1"/>
          </p:cNvCxnSpPr>
          <p:nvPr>
            <p:custDataLst>
              <p:tags r:id="rId6"/>
            </p:custDataLst>
          </p:nvPr>
        </p:nvCxnSpPr>
        <p:spPr bwMode="auto">
          <a:xfrm>
            <a:off x="2101344" y="1722209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Flowchart: Stored Data 240">
            <a:extLst>
              <a:ext uri="{FF2B5EF4-FFF2-40B4-BE49-F238E27FC236}">
                <a16:creationId xmlns:a16="http://schemas.microsoft.com/office/drawing/2014/main" id="{1C5671A5-6EAF-A1A3-22A9-B921C5C3971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224931" y="4187132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1-1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3" name="Flowchart: Stored Data 242">
            <a:extLst>
              <a:ext uri="{FF2B5EF4-FFF2-40B4-BE49-F238E27FC236}">
                <a16:creationId xmlns:a16="http://schemas.microsoft.com/office/drawing/2014/main" id="{FAF389A4-A1E8-97C0-789A-039B6400A25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506353" y="4187002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1-2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sp>
        <p:nvSpPr>
          <p:cNvPr id="24" name="Flowchart: Stored Data 247">
            <a:extLst>
              <a:ext uri="{FF2B5EF4-FFF2-40B4-BE49-F238E27FC236}">
                <a16:creationId xmlns:a16="http://schemas.microsoft.com/office/drawing/2014/main" id="{46622D4B-241C-1B6F-4731-00E0A45358D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008676" y="4140004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1-4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grpSp>
        <p:nvGrpSpPr>
          <p:cNvPr id="29" name="Group 30">
            <a:extLst>
              <a:ext uri="{FF2B5EF4-FFF2-40B4-BE49-F238E27FC236}">
                <a16:creationId xmlns:a16="http://schemas.microsoft.com/office/drawing/2014/main" id="{C08A94B4-E749-4254-B29B-D63188817C10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106135" y="1376532"/>
            <a:ext cx="969963" cy="790575"/>
            <a:chOff x="4108450" y="2093807"/>
            <a:chExt cx="781050" cy="503012"/>
          </a:xfrm>
        </p:grpSpPr>
        <p:sp>
          <p:nvSpPr>
            <p:cNvPr id="30" name="AutoShape 3">
              <a:extLst>
                <a:ext uri="{FF2B5EF4-FFF2-40B4-BE49-F238E27FC236}">
                  <a16:creationId xmlns:a16="http://schemas.microsoft.com/office/drawing/2014/main" id="{14B1C989-0FD9-B987-25DB-B66D1292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销售订单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75969F30-79FC-27E3-0BA1-97EB31D6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grpSp>
        <p:nvGrpSpPr>
          <p:cNvPr id="40" name="Group 30">
            <a:extLst>
              <a:ext uri="{FF2B5EF4-FFF2-40B4-BE49-F238E27FC236}">
                <a16:creationId xmlns:a16="http://schemas.microsoft.com/office/drawing/2014/main" id="{6039DDE0-046A-2586-A1B5-6795D979F09D}"/>
              </a:ext>
            </a:extLst>
          </p:cNvPr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4361165" y="5041923"/>
            <a:ext cx="1054232" cy="898525"/>
            <a:chOff x="4108450" y="2093807"/>
            <a:chExt cx="781050" cy="503012"/>
          </a:xfrm>
        </p:grpSpPr>
        <p:sp>
          <p:nvSpPr>
            <p:cNvPr id="41" name="AutoShape 3">
              <a:extLst>
                <a:ext uri="{FF2B5EF4-FFF2-40B4-BE49-F238E27FC236}">
                  <a16:creationId xmlns:a16="http://schemas.microsoft.com/office/drawing/2014/main" id="{76ACD50E-D27E-E1B3-FC94-65211D775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59929"/>
            </a:xfrm>
            <a:prstGeom prst="flowChartProcess">
              <a:avLst/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zh-CN" altLang="en-US" sz="1000" dirty="0">
                  <a:ea typeface="微軟正黑體" pitchFamily="34" charset="-120"/>
                  <a:cs typeface="Calibri" pitchFamily="34" charset="0"/>
                </a:rPr>
                <a:t>质量通知单</a:t>
              </a:r>
              <a:endParaRPr lang="en-US" altLang="zh-CN" sz="1000" dirty="0"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C291B475-A121-7F8B-5422-36879C0C6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293"/>
              <a:ext cx="781050" cy="147526"/>
            </a:xfrm>
            <a:prstGeom prst="flowChartProcess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lang="en-US" altLang="zh-CN" sz="1000" dirty="0">
                  <a:ea typeface="微軟正黑體" pitchFamily="34" charset="-120"/>
                  <a:cs typeface="Calibri" pitchFamily="34" charset="0"/>
                </a:rPr>
                <a:t>QM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66B2389A-9BC3-3793-59F9-F606F89C3121}"/>
              </a:ext>
            </a:extLst>
          </p:cNvPr>
          <p:cNvSpPr txBox="1"/>
          <p:nvPr/>
        </p:nvSpPr>
        <p:spPr>
          <a:xfrm>
            <a:off x="7047036" y="369341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合格放行</a:t>
            </a:r>
          </a:p>
        </p:txBody>
      </p:sp>
      <p:cxnSp>
        <p:nvCxnSpPr>
          <p:cNvPr id="55" name="肘形连接符 54">
            <a:extLst>
              <a:ext uri="{FF2B5EF4-FFF2-40B4-BE49-F238E27FC236}">
                <a16:creationId xmlns:a16="http://schemas.microsoft.com/office/drawing/2014/main" id="{349DB700-EE51-3C96-6FEA-50C50A5E2813}"/>
              </a:ext>
            </a:extLst>
          </p:cNvPr>
          <p:cNvCxnSpPr>
            <a:stCxn id="12" idx="3"/>
          </p:cNvCxnSpPr>
          <p:nvPr/>
        </p:nvCxnSpPr>
        <p:spPr bwMode="auto">
          <a:xfrm>
            <a:off x="3493519" y="1681500"/>
            <a:ext cx="807740" cy="1430926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90BF69A4-C85C-7C42-AD4E-C0DA8493944B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1641631" y="3112426"/>
            <a:ext cx="2659628" cy="516478"/>
          </a:xfrm>
          <a:prstGeom prst="bentConnector2">
            <a:avLst/>
          </a:prstGeom>
          <a:ln>
            <a:headEnd type="none" w="med" len="med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57" name="Group 30">
            <a:extLst>
              <a:ext uri="{FF2B5EF4-FFF2-40B4-BE49-F238E27FC236}">
                <a16:creationId xmlns:a16="http://schemas.microsoft.com/office/drawing/2014/main" id="{40CB5AC8-F27B-A098-803E-6A193C39022E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715629" y="3596821"/>
            <a:ext cx="897731" cy="771525"/>
            <a:chOff x="4108450" y="2093807"/>
            <a:chExt cx="781050" cy="503012"/>
          </a:xfrm>
        </p:grpSpPr>
        <p:sp>
          <p:nvSpPr>
            <p:cNvPr id="58" name="AutoShape 3">
              <a:extLst>
                <a:ext uri="{FF2B5EF4-FFF2-40B4-BE49-F238E27FC236}">
                  <a16:creationId xmlns:a16="http://schemas.microsoft.com/office/drawing/2014/main" id="{BC77A09D-E91B-591A-EAAA-C180D108C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使用决策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59" name="AutoShape 3">
              <a:extLst>
                <a:ext uri="{FF2B5EF4-FFF2-40B4-BE49-F238E27FC236}">
                  <a16:creationId xmlns:a16="http://schemas.microsoft.com/office/drawing/2014/main" id="{10F4600B-6545-E090-C09E-A79FFC1D9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sp>
        <p:nvSpPr>
          <p:cNvPr id="60" name="Flowchart: Stored Data 242">
            <a:extLst>
              <a:ext uri="{FF2B5EF4-FFF2-40B4-BE49-F238E27FC236}">
                <a16:creationId xmlns:a16="http://schemas.microsoft.com/office/drawing/2014/main" id="{07D8A8D8-09D0-171F-6045-E662B5B653C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775003" y="4173152"/>
            <a:ext cx="526256" cy="171450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700" dirty="0">
                <a:solidFill>
                  <a:srgbClr val="0000FF"/>
                </a:solidFill>
                <a:ea typeface="微软雅黑" pitchFamily="34" charset="-122"/>
              </a:rPr>
              <a:t>1-3</a:t>
            </a:r>
            <a:endParaRPr kumimoji="0" lang="zh-CN" altLang="en-US" sz="700" dirty="0">
              <a:solidFill>
                <a:srgbClr val="0000FF"/>
              </a:solidFill>
              <a:ea typeface="微软雅黑" pitchFamily="34" charset="-122"/>
            </a:endParaRPr>
          </a:p>
        </p:txBody>
      </p:sp>
      <p:cxnSp>
        <p:nvCxnSpPr>
          <p:cNvPr id="61" name="Shape 227">
            <a:extLst>
              <a:ext uri="{FF2B5EF4-FFF2-40B4-BE49-F238E27FC236}">
                <a16:creationId xmlns:a16="http://schemas.microsoft.com/office/drawing/2014/main" id="{97130828-6046-75DA-1B02-FE718CDD3A92}"/>
              </a:ext>
            </a:extLst>
          </p:cNvPr>
          <p:cNvCxnSpPr>
            <a:cxnSpLocks noChangeShapeType="1"/>
          </p:cNvCxnSpPr>
          <p:nvPr>
            <p:custDataLst>
              <p:tags r:id="rId14"/>
            </p:custDataLst>
          </p:nvPr>
        </p:nvCxnSpPr>
        <p:spPr bwMode="auto">
          <a:xfrm>
            <a:off x="2091024" y="3980047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hape 227">
            <a:extLst>
              <a:ext uri="{FF2B5EF4-FFF2-40B4-BE49-F238E27FC236}">
                <a16:creationId xmlns:a16="http://schemas.microsoft.com/office/drawing/2014/main" id="{9736B68E-B740-3018-A742-5BA28F60729C}"/>
              </a:ext>
            </a:extLst>
          </p:cNvPr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>
            <a:off x="3349481" y="3976989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hape 227">
            <a:extLst>
              <a:ext uri="{FF2B5EF4-FFF2-40B4-BE49-F238E27FC236}">
                <a16:creationId xmlns:a16="http://schemas.microsoft.com/office/drawing/2014/main" id="{AB0D6787-D2E0-C285-B66B-36045D44E1AA}"/>
              </a:ext>
            </a:extLst>
          </p:cNvPr>
          <p:cNvCxnSpPr>
            <a:cxnSpLocks noChangeShapeType="1"/>
          </p:cNvCxnSpPr>
          <p:nvPr>
            <p:custDataLst>
              <p:tags r:id="rId16"/>
            </p:custDataLst>
          </p:nvPr>
        </p:nvCxnSpPr>
        <p:spPr bwMode="auto">
          <a:xfrm>
            <a:off x="4626017" y="3972671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hape 227">
            <a:extLst>
              <a:ext uri="{FF2B5EF4-FFF2-40B4-BE49-F238E27FC236}">
                <a16:creationId xmlns:a16="http://schemas.microsoft.com/office/drawing/2014/main" id="{FD8D7A05-96B5-C6A4-FAF4-370A8C787E6B}"/>
              </a:ext>
            </a:extLst>
          </p:cNvPr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>
            <a:off x="5820176" y="3971590"/>
            <a:ext cx="385318" cy="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258726CA-B346-BF30-5C2E-5612739C488A}"/>
              </a:ext>
            </a:extLst>
          </p:cNvPr>
          <p:cNvCxnSpPr/>
          <p:nvPr/>
        </p:nvCxnSpPr>
        <p:spPr bwMode="auto">
          <a:xfrm>
            <a:off x="307614" y="4760505"/>
            <a:ext cx="9144000" cy="11403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F94FF0B-F435-B42C-E98D-70CD2A723AA1}"/>
              </a:ext>
            </a:extLst>
          </p:cNvPr>
          <p:cNvSpPr txBox="1"/>
          <p:nvPr/>
        </p:nvSpPr>
        <p:spPr>
          <a:xfrm>
            <a:off x="387388" y="5206704"/>
            <a:ext cx="718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8AC666-2424-9C00-F7E8-4D26F62F26D3}"/>
              </a:ext>
            </a:extLst>
          </p:cNvPr>
          <p:cNvSpPr txBox="1"/>
          <p:nvPr/>
        </p:nvSpPr>
        <p:spPr>
          <a:xfrm>
            <a:off x="387388" y="3494047"/>
            <a:ext cx="718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0" name="Group 30">
            <a:extLst>
              <a:ext uri="{FF2B5EF4-FFF2-40B4-BE49-F238E27FC236}">
                <a16:creationId xmlns:a16="http://schemas.microsoft.com/office/drawing/2014/main" id="{DC1C7145-AE95-0BD7-E6D4-A0C74799A7E6}"/>
              </a:ext>
            </a:extLst>
          </p:cNvPr>
          <p:cNvGrpSpPr>
            <a:grpSpLocks/>
          </p:cNvGrpSpPr>
          <p:nvPr>
            <p:custDataLst>
              <p:tags r:id="rId18"/>
            </p:custDataLst>
          </p:nvPr>
        </p:nvGrpSpPr>
        <p:grpSpPr bwMode="auto">
          <a:xfrm>
            <a:off x="7968704" y="3628417"/>
            <a:ext cx="813461" cy="708025"/>
            <a:chOff x="4108450" y="2093807"/>
            <a:chExt cx="781055" cy="503012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5F065A5A-49DC-BDAA-5913-B15779728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4" y="2093807"/>
              <a:ext cx="781051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最终使用决策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FA532613-A5C3-681F-306B-CB6F921CD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 dirty="0">
                  <a:ea typeface="Microsoft JhengHei" pitchFamily="34" charset="-120"/>
                  <a:cs typeface="Calibri" pitchFamily="34" charset="0"/>
                </a:rPr>
                <a:t>QM</a:t>
              </a:r>
            </a:p>
          </p:txBody>
        </p:sp>
      </p:grpSp>
      <p:sp>
        <p:nvSpPr>
          <p:cNvPr id="83" name="Flowchart: Stored Data 288">
            <a:extLst>
              <a:ext uri="{FF2B5EF4-FFF2-40B4-BE49-F238E27FC236}">
                <a16:creationId xmlns:a16="http://schemas.microsoft.com/office/drawing/2014/main" id="{54DEEAFE-33C5-B4E0-AE61-812EFFF4E1B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6556" y="4132472"/>
            <a:ext cx="526256" cy="192448"/>
          </a:xfrm>
          <a:prstGeom prst="flowChartOnlineStorage">
            <a:avLst/>
          </a:prstGeom>
          <a:solidFill>
            <a:srgbClr val="F8FED2"/>
          </a:solidFill>
          <a:ln w="12700" cap="flat" cmpd="sng" algn="ctr">
            <a:gradFill>
              <a:gsLst>
                <a:gs pos="0">
                  <a:srgbClr val="BBE0E3">
                    <a:shade val="30000"/>
                    <a:satMod val="115000"/>
                  </a:srgbClr>
                </a:gs>
                <a:gs pos="50000">
                  <a:srgbClr val="BBE0E3">
                    <a:shade val="67500"/>
                    <a:satMod val="115000"/>
                  </a:srgbClr>
                </a:gs>
                <a:gs pos="100000">
                  <a:srgbClr val="BBE0E3">
                    <a:shade val="100000"/>
                    <a:satMod val="115000"/>
                  </a:srgbClr>
                </a:gs>
              </a:gsLst>
              <a:lin ang="5400000" scaled="0"/>
            </a:gradFill>
            <a:prstDash val="solid"/>
          </a:ln>
          <a:effectLst/>
        </p:spPr>
        <p:txBody>
          <a:bodyPr anchor="ctr"/>
          <a:lstStyle>
            <a:lvl1pPr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600" dirty="0">
                <a:solidFill>
                  <a:srgbClr val="FF0000"/>
                </a:solidFill>
                <a:ea typeface="微软雅黑" pitchFamily="34" charset="-122"/>
              </a:rPr>
              <a:t>1-5</a:t>
            </a:r>
            <a:endParaRPr kumimoji="0" lang="zh-CN" altLang="en-US" sz="600" dirty="0">
              <a:solidFill>
                <a:srgbClr val="FF0000"/>
              </a:solidFill>
              <a:ea typeface="微软雅黑" pitchFamily="34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76F6BEB-5A00-02DA-1B19-B14C3AAD2836}"/>
              </a:ext>
            </a:extLst>
          </p:cNvPr>
          <p:cNvCxnSpPr/>
          <p:nvPr/>
        </p:nvCxnSpPr>
        <p:spPr>
          <a:xfrm>
            <a:off x="7003438" y="3980048"/>
            <a:ext cx="993118" cy="13491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4" name="Group 30">
            <a:extLst>
              <a:ext uri="{FF2B5EF4-FFF2-40B4-BE49-F238E27FC236}">
                <a16:creationId xmlns:a16="http://schemas.microsoft.com/office/drawing/2014/main" id="{84F1AAC1-B3D9-7842-0F11-534AD7B9D4A9}"/>
              </a:ext>
            </a:extLst>
          </p:cNvPr>
          <p:cNvGrpSpPr>
            <a:grpSpLocks/>
          </p:cNvGrpSpPr>
          <p:nvPr>
            <p:custDataLst>
              <p:tags r:id="rId20"/>
            </p:custDataLst>
          </p:nvPr>
        </p:nvGrpSpPr>
        <p:grpSpPr bwMode="auto">
          <a:xfrm>
            <a:off x="6637604" y="5176948"/>
            <a:ext cx="878813" cy="683717"/>
            <a:chOff x="4108450" y="2083451"/>
            <a:chExt cx="781050" cy="513368"/>
          </a:xfrm>
        </p:grpSpPr>
        <p:sp>
          <p:nvSpPr>
            <p:cNvPr id="105" name="AutoShape 3">
              <a:extLst>
                <a:ext uri="{FF2B5EF4-FFF2-40B4-BE49-F238E27FC236}">
                  <a16:creationId xmlns:a16="http://schemas.microsoft.com/office/drawing/2014/main" id="{5A8EF900-524D-FBEE-644F-E5210CC7B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83451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SzPct val="100000"/>
                <a:defRPr/>
              </a:pPr>
              <a:r>
                <a:rPr kumimoji="0" lang="zh-CN" altLang="en-US" sz="1000" dirty="0">
                  <a:solidFill>
                    <a:srgbClr val="000000"/>
                  </a:solidFill>
                  <a:latin typeface="Arial"/>
                  <a:ea typeface="微軟正黑體" pitchFamily="34" charset="-120"/>
                  <a:cs typeface="Calibri" pitchFamily="34" charset="0"/>
                </a:rPr>
                <a:t>评审结论</a:t>
              </a:r>
              <a:endParaRPr kumimoji="0" lang="en-US" altLang="zh-CN" sz="1000" dirty="0">
                <a:solidFill>
                  <a:srgbClr val="000000"/>
                </a:solidFill>
                <a:latin typeface="Arial"/>
                <a:ea typeface="微軟正黑體" pitchFamily="34" charset="-120"/>
                <a:cs typeface="Calibri" pitchFamily="34" charset="0"/>
              </a:endParaRPr>
            </a:p>
          </p:txBody>
        </p:sp>
        <p:sp>
          <p:nvSpPr>
            <p:cNvPr id="106" name="AutoShape 3">
              <a:extLst>
                <a:ext uri="{FF2B5EF4-FFF2-40B4-BE49-F238E27FC236}">
                  <a16:creationId xmlns:a16="http://schemas.microsoft.com/office/drawing/2014/main" id="{96960F17-CB67-A6FB-8BE7-F2766131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Microsoft JhengHei" pitchFamily="34" charset="-120"/>
                  <a:cs typeface="Calibri" pitchFamily="34" charset="0"/>
                </a:rPr>
                <a:t>线下</a:t>
              </a:r>
              <a:endParaRPr lang="en-US" altLang="zh-CN" sz="1000" dirty="0">
                <a:ea typeface="Microsoft JhengHei" pitchFamily="34" charset="-120"/>
                <a:cs typeface="Calibri" pitchFamily="34" charset="0"/>
              </a:endParaRPr>
            </a:p>
          </p:txBody>
        </p:sp>
      </p:grpSp>
      <p:cxnSp>
        <p:nvCxnSpPr>
          <p:cNvPr id="111" name="肘形连接符 110">
            <a:extLst>
              <a:ext uri="{FF2B5EF4-FFF2-40B4-BE49-F238E27FC236}">
                <a16:creationId xmlns:a16="http://schemas.microsoft.com/office/drawing/2014/main" id="{7EAC6A42-0B91-897F-1BCC-8077B22CB6EF}"/>
              </a:ext>
            </a:extLst>
          </p:cNvPr>
          <p:cNvCxnSpPr>
            <a:stCxn id="2" idx="2"/>
            <a:endCxn id="41" idx="0"/>
          </p:cNvCxnSpPr>
          <p:nvPr/>
        </p:nvCxnSpPr>
        <p:spPr>
          <a:xfrm rot="5400000">
            <a:off x="5374188" y="3783381"/>
            <a:ext cx="772636" cy="1744449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DD580E9-B33A-08EC-4E72-DC044E743482}"/>
              </a:ext>
            </a:extLst>
          </p:cNvPr>
          <p:cNvSpPr txBox="1"/>
          <p:nvPr/>
        </p:nvSpPr>
        <p:spPr>
          <a:xfrm>
            <a:off x="5298776" y="4708537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返工或报废</a:t>
            </a:r>
            <a:endParaRPr lang="zh-CN" altLang="en-US" sz="1000" dirty="0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964551F5-AFB8-76AF-60CE-419793280377}"/>
              </a:ext>
            </a:extLst>
          </p:cNvPr>
          <p:cNvCxnSpPr/>
          <p:nvPr/>
        </p:nvCxnSpPr>
        <p:spPr>
          <a:xfrm>
            <a:off x="5415397" y="5513866"/>
            <a:ext cx="1222206" cy="8638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0634AC05-FEA0-3C20-75E4-E36CF04C2DFC}"/>
              </a:ext>
            </a:extLst>
          </p:cNvPr>
          <p:cNvCxnSpPr/>
          <p:nvPr/>
        </p:nvCxnSpPr>
        <p:spPr>
          <a:xfrm rot="5400000" flipH="1" flipV="1">
            <a:off x="7353854" y="4507166"/>
            <a:ext cx="1177900" cy="852776"/>
          </a:xfrm>
          <a:prstGeom prst="bentConnector3">
            <a:avLst>
              <a:gd name="adj1" fmla="val 1337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流程图: 决策 1">
            <a:extLst>
              <a:ext uri="{FF2B5EF4-FFF2-40B4-BE49-F238E27FC236}">
                <a16:creationId xmlns:a16="http://schemas.microsoft.com/office/drawing/2014/main" id="{945911B5-9413-960A-70C8-18A23E031657}"/>
              </a:ext>
            </a:extLst>
          </p:cNvPr>
          <p:cNvSpPr/>
          <p:nvPr/>
        </p:nvSpPr>
        <p:spPr>
          <a:xfrm>
            <a:off x="6175530" y="3656638"/>
            <a:ext cx="914400" cy="612648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是否放行</a:t>
            </a:r>
          </a:p>
        </p:txBody>
      </p:sp>
      <p:grpSp>
        <p:nvGrpSpPr>
          <p:cNvPr id="189" name="Group 30">
            <a:extLst>
              <a:ext uri="{FF2B5EF4-FFF2-40B4-BE49-F238E27FC236}">
                <a16:creationId xmlns:a16="http://schemas.microsoft.com/office/drawing/2014/main" id="{788AB84B-4D0C-1B14-48A1-8E5FF49EC289}"/>
              </a:ext>
            </a:extLst>
          </p:cNvPr>
          <p:cNvGrpSpPr>
            <a:grpSpLocks/>
          </p:cNvGrpSpPr>
          <p:nvPr>
            <p:custDataLst>
              <p:tags r:id="rId21"/>
            </p:custDataLst>
          </p:nvPr>
        </p:nvGrpSpPr>
        <p:grpSpPr bwMode="auto">
          <a:xfrm>
            <a:off x="7884210" y="1231896"/>
            <a:ext cx="969963" cy="790575"/>
            <a:chOff x="4108450" y="2093807"/>
            <a:chExt cx="781050" cy="503012"/>
          </a:xfrm>
        </p:grpSpPr>
        <p:sp>
          <p:nvSpPr>
            <p:cNvPr id="190" name="AutoShape 3">
              <a:extLst>
                <a:ext uri="{FF2B5EF4-FFF2-40B4-BE49-F238E27FC236}">
                  <a16:creationId xmlns:a16="http://schemas.microsoft.com/office/drawing/2014/main" id="{E2C593F8-64B4-2E82-6039-12D3BE67F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093807"/>
              <a:ext cx="781050" cy="36053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zh-CN" altLang="en-US" sz="1000" dirty="0">
                  <a:ea typeface="微软雅黑" pitchFamily="34" charset="-122"/>
                  <a:cs typeface="Segoe UI" pitchFamily="34" charset="0"/>
                </a:rPr>
                <a:t>合格品入库过账</a:t>
              </a:r>
              <a:endParaRPr lang="en-US" altLang="zh-CN" sz="1000" dirty="0">
                <a:ea typeface="微软雅黑" pitchFamily="34" charset="-122"/>
                <a:cs typeface="Segoe UI" pitchFamily="34" charset="0"/>
              </a:endParaRPr>
            </a:p>
          </p:txBody>
        </p:sp>
        <p:sp>
          <p:nvSpPr>
            <p:cNvPr id="191" name="AutoShape 3">
              <a:extLst>
                <a:ext uri="{FF2B5EF4-FFF2-40B4-BE49-F238E27FC236}">
                  <a16:creationId xmlns:a16="http://schemas.microsoft.com/office/drawing/2014/main" id="{915D1FAE-EEBA-F5E9-E574-98177878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2449592"/>
              <a:ext cx="781050" cy="14722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44" rIns="9144" anchor="ctr"/>
            <a:lstStyle>
              <a:lvl1pPr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zh-CN" sz="1000">
                  <a:ea typeface="Microsoft JhengHei" pitchFamily="34" charset="-120"/>
                  <a:cs typeface="Calibri" pitchFamily="34" charset="0"/>
                </a:rPr>
                <a:t>SAP</a:t>
              </a:r>
            </a:p>
          </p:txBody>
        </p:sp>
      </p:grp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2C55B5-FE6E-A01E-552C-7AD54F9C1A66}"/>
              </a:ext>
            </a:extLst>
          </p:cNvPr>
          <p:cNvCxnSpPr/>
          <p:nvPr/>
        </p:nvCxnSpPr>
        <p:spPr>
          <a:xfrm flipH="1" flipV="1">
            <a:off x="8412617" y="1996992"/>
            <a:ext cx="6245" cy="160594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8A169E6-D06C-6341-1049-F194CE10480D}"/>
              </a:ext>
            </a:extLst>
          </p:cNvPr>
          <p:cNvSpPr txBox="1"/>
          <p:nvPr/>
        </p:nvSpPr>
        <p:spPr>
          <a:xfrm>
            <a:off x="9338804" y="213099"/>
            <a:ext cx="2592594" cy="374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销售出货退货检验质量追溯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通过检验批、关键物料的批次号、工厂、物料编码、质量通知单追溯质量检验指标和质量缺陷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未来开发报表提取来料检验批检索质量缺陷信息、追溯供应商信息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572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F62B-1571-7C1A-21E7-2419A0F5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607D9-F8F4-AC0F-9C26-ECDE2F1A9F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合格率统计分析需求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C25531-191B-5DBF-EE21-5946C4306CF5}"/>
              </a:ext>
            </a:extLst>
          </p:cNvPr>
          <p:cNvSpPr txBox="1"/>
          <p:nvPr/>
        </p:nvSpPr>
        <p:spPr>
          <a:xfrm>
            <a:off x="382344" y="984959"/>
            <a:ext cx="10583491" cy="44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合格率统计分析需求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诉求：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需求：总批次、合格批次、合格率、让步收货批次、让步收货率、退货批次、退货率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777">
              <a:spcBef>
                <a:spcPts val="800"/>
              </a:spcBef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</a:rPr>
              <a:t>采用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主检验特性、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UD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合格次数、把质检合格率、送检次数、退回批次次数作为主检验特性项目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</a:rPr>
              <a:t>采取报表开发的方式实现，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质检合格率、送检次数、退回批次次数的统计通过检验后的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</a:rPr>
              <a:t>SAP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</a:rPr>
              <a:t>历史数据统计</a:t>
            </a:r>
            <a:endParaRPr lang="zh-CN" altLang="en-GB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09999"/>
              </a:solidFill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8372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>
            <a:extLst>
              <a:ext uri="{FF2B5EF4-FFF2-40B4-BE49-F238E27FC236}">
                <a16:creationId xmlns:a16="http://schemas.microsoft.com/office/drawing/2014/main" id="{3EBB83F3-25E6-42AB-A8B0-39B055B5A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9pPr>
          </a:lstStyle>
          <a:p>
            <a:pPr eaLnBrk="1" hangingPunct="1"/>
            <a:fld id="{07C12AD9-5EAD-4F0F-99F2-773044FF775E}" type="slidenum">
              <a:rPr lang="zh-CN" altLang="en-US" sz="800" b="0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17</a:t>
            </a:fld>
            <a:endParaRPr lang="en-US" altLang="zh-CN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右箭头 4">
            <a:extLst>
              <a:ext uri="{FF2B5EF4-FFF2-40B4-BE49-F238E27FC236}">
                <a16:creationId xmlns:a16="http://schemas.microsoft.com/office/drawing/2014/main" id="{6E3D4640-D497-8342-AD54-E6DC723AC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799" y="1278194"/>
            <a:ext cx="5710903" cy="1149094"/>
          </a:xfrm>
          <a:prstGeom prst="rightArrow">
            <a:avLst>
              <a:gd name="adj1" fmla="val 50000"/>
              <a:gd name="adj2" fmla="val 50048"/>
            </a:avLst>
          </a:prstGeom>
          <a:solidFill>
            <a:schemeClr val="accent1"/>
          </a:solidFill>
          <a:ln w="6350" algn="ctr">
            <a:solidFill>
              <a:srgbClr val="0000FF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9pPr>
          </a:lstStyle>
          <a:p>
            <a:pPr algn="ctr" eaLnBrk="1" latinLnBrk="1">
              <a:buClr>
                <a:srgbClr val="0066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系统操作输入、输出更简化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28E0B-1972-5EA7-9AB8-FD48E503CE32}"/>
              </a:ext>
            </a:extLst>
          </p:cNvPr>
          <p:cNvSpPr txBox="1"/>
          <p:nvPr/>
        </p:nvSpPr>
        <p:spPr>
          <a:xfrm>
            <a:off x="3998247" y="3002111"/>
            <a:ext cx="3839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合格率报表统计的方案</a:t>
            </a:r>
          </a:p>
        </p:txBody>
      </p:sp>
      <p:sp>
        <p:nvSpPr>
          <p:cNvPr id="3" name="右箭头 4">
            <a:extLst>
              <a:ext uri="{FF2B5EF4-FFF2-40B4-BE49-F238E27FC236}">
                <a16:creationId xmlns:a16="http://schemas.microsoft.com/office/drawing/2014/main" id="{5F8DE86C-2355-A5AE-FC43-AB1B8FE16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799" y="4156869"/>
            <a:ext cx="5779729" cy="1280370"/>
          </a:xfrm>
          <a:prstGeom prst="rightArrow">
            <a:avLst>
              <a:gd name="adj1" fmla="val 50000"/>
              <a:gd name="adj2" fmla="val 50048"/>
            </a:avLst>
          </a:prstGeom>
          <a:solidFill>
            <a:schemeClr val="accent1"/>
          </a:solidFill>
          <a:ln w="6350" algn="ctr">
            <a:solidFill>
              <a:srgbClr val="0000FF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bg1"/>
                </a:solidFill>
                <a:latin typeface="华文楷体" panose="02010600040101010101" pitchFamily="2" charset="-122"/>
                <a:ea typeface="SimSun" panose="02010600030101010101" pitchFamily="2" charset="-122"/>
              </a:defRPr>
            </a:lvl9pPr>
          </a:lstStyle>
          <a:p>
            <a:pPr algn="ctr" eaLnBrk="1" latinLnBrk="1">
              <a:buClr>
                <a:srgbClr val="0066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管理信息更明细、车间考核更细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0D6C22D-B543-A5E6-C097-A7B9A997D508}"/>
              </a:ext>
            </a:extLst>
          </p:cNvPr>
          <p:cNvSpPr txBox="1">
            <a:spLocks/>
          </p:cNvSpPr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合格率统计分析实现思路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14B7474-0EEE-54E1-EAB2-282498F3E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128" y="88081"/>
            <a:ext cx="10972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575391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2BD8B-AFD7-A790-6B91-4FD50C55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4232" y="148407"/>
            <a:ext cx="10002838" cy="625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4107170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BD96D20-8C66-9600-9C85-5C98FB1F5004}"/>
              </a:ext>
            </a:extLst>
          </p:cNvPr>
          <p:cNvSpPr txBox="1">
            <a:spLocks/>
          </p:cNvSpPr>
          <p:nvPr/>
        </p:nvSpPr>
        <p:spPr>
          <a:xfrm>
            <a:off x="470578" y="78250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623866">
              <a:defRPr/>
            </a:pPr>
            <a:r>
              <a:rPr lang="zh-CN" altLang="en-US" sz="2800" b="1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合格率统计分析计算逻辑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537B56-2DA5-B643-A3D8-0CEE88CFCC56}"/>
              </a:ext>
            </a:extLst>
          </p:cNvPr>
          <p:cNvSpPr txBox="1"/>
          <p:nvPr/>
        </p:nvSpPr>
        <p:spPr>
          <a:xfrm>
            <a:off x="372386" y="617436"/>
            <a:ext cx="11662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777">
              <a:spcBef>
                <a:spcPts val="800"/>
              </a:spcBef>
            </a:pP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合格率统计取数逻辑（计算公式）检验批次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=∑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检验批次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CHARG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（检验了多少批）合格批次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=∑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检验批次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CHARG IF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使用决策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KURZTEXT=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合格批次合格率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=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合格批次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/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检验批次检验数量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=∑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检验数量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LOSMENGE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（检验了多少量）合格数量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=∑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检验数量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LOSMENGE IF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使用决策</a:t>
            </a:r>
            <a:r>
              <a:rPr lang="en-US" altLang="zh-CN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KURZTEXT=</a:t>
            </a:r>
            <a:r>
              <a:rPr lang="zh-CN" altLang="en-US" sz="1600" b="1" kern="1200" dirty="0">
                <a:solidFill>
                  <a:schemeClr val="tx1"/>
                </a:solidFill>
                <a:latin typeface="Noto Sans SC"/>
                <a:ea typeface="Noto Sans SC"/>
              </a:rPr>
              <a:t>合格</a:t>
            </a:r>
            <a:endParaRPr lang="en-US" altLang="zh-CN" sz="1600" b="1" kern="1200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86B8F5B-55D1-53B7-E5CB-7ED5279B4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079665"/>
              </p:ext>
            </p:extLst>
          </p:nvPr>
        </p:nvGraphicFramePr>
        <p:xfrm>
          <a:off x="624000" y="1448433"/>
          <a:ext cx="11341861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24">
                  <a:extLst>
                    <a:ext uri="{9D8B030D-6E8A-4147-A177-3AD203B41FA5}">
                      <a16:colId xmlns:a16="http://schemas.microsoft.com/office/drawing/2014/main" val="2541203262"/>
                    </a:ext>
                  </a:extLst>
                </a:gridCol>
                <a:gridCol w="2255055">
                  <a:extLst>
                    <a:ext uri="{9D8B030D-6E8A-4147-A177-3AD203B41FA5}">
                      <a16:colId xmlns:a16="http://schemas.microsoft.com/office/drawing/2014/main" val="17360961"/>
                    </a:ext>
                  </a:extLst>
                </a:gridCol>
                <a:gridCol w="994180">
                  <a:extLst>
                    <a:ext uri="{9D8B030D-6E8A-4147-A177-3AD203B41FA5}">
                      <a16:colId xmlns:a16="http://schemas.microsoft.com/office/drawing/2014/main" val="3503505531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4229157477"/>
                    </a:ext>
                  </a:extLst>
                </a:gridCol>
                <a:gridCol w="927419">
                  <a:extLst>
                    <a:ext uri="{9D8B030D-6E8A-4147-A177-3AD203B41FA5}">
                      <a16:colId xmlns:a16="http://schemas.microsoft.com/office/drawing/2014/main" val="227047207"/>
                    </a:ext>
                  </a:extLst>
                </a:gridCol>
                <a:gridCol w="684484">
                  <a:extLst>
                    <a:ext uri="{9D8B030D-6E8A-4147-A177-3AD203B41FA5}">
                      <a16:colId xmlns:a16="http://schemas.microsoft.com/office/drawing/2014/main" val="3141797782"/>
                    </a:ext>
                  </a:extLst>
                </a:gridCol>
                <a:gridCol w="1106425">
                  <a:extLst>
                    <a:ext uri="{9D8B030D-6E8A-4147-A177-3AD203B41FA5}">
                      <a16:colId xmlns:a16="http://schemas.microsoft.com/office/drawing/2014/main" val="3853284876"/>
                    </a:ext>
                  </a:extLst>
                </a:gridCol>
                <a:gridCol w="1106425">
                  <a:extLst>
                    <a:ext uri="{9D8B030D-6E8A-4147-A177-3AD203B41FA5}">
                      <a16:colId xmlns:a16="http://schemas.microsoft.com/office/drawing/2014/main" val="3215370774"/>
                    </a:ext>
                  </a:extLst>
                </a:gridCol>
                <a:gridCol w="1106425">
                  <a:extLst>
                    <a:ext uri="{9D8B030D-6E8A-4147-A177-3AD203B41FA5}">
                      <a16:colId xmlns:a16="http://schemas.microsoft.com/office/drawing/2014/main" val="4075563160"/>
                    </a:ext>
                  </a:extLst>
                </a:gridCol>
                <a:gridCol w="1106425">
                  <a:extLst>
                    <a:ext uri="{9D8B030D-6E8A-4147-A177-3AD203B41FA5}">
                      <a16:colId xmlns:a16="http://schemas.microsoft.com/office/drawing/2014/main" val="222131241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供应商代码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总批次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合格批次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合格率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让步收货批次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让步收货率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退货批次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退货率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805088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18X022011571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电源板XDNYTS-1071-A1.1 CEM-3 厚1铜25单面OSP无卤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992075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18X022020846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电源板B22-3276-2.0 FR-4 双面板厚1铜35 喷锡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780458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18X022030062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电源板OD24W-DP9512-A1.0厚1CEM3铜25单面OSP无卤硫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4481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18X022030257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 MBD45W-KP1072-V1.0 CEM3 厚1铜25 OSP无卤硫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50816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18X022030261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 RFGKD200W-KP123-V1 CEM3 厚1铜25 OSP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1710162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18X022040148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电源板T818W-SDH790X-A1.0 CEM-3单厚1铜25 OSP无卤硫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401933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18X022030036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电源板 OGT8-9056X-V1.0 CEM-3 厚1 铜25 OSP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A44010388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9873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334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配套行动计划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1714500"/>
            <a:ext cx="317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蓝图设计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2225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2026年8月 - 9月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749">
            <a:off x="698513" y="2660650"/>
            <a:ext cx="31750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98500" y="27940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核心规划任务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3175000"/>
            <a:ext cx="317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确认QM质量追溯与合格率统计业务需求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输出检验计划/批次管理/报表配置方案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完成来料/过程/成品/退货追溯流程设计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制定合格率统计口径与主检验特性方案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50546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交付：蓝图设计书 + 配置规格书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12700" cap="flat" cmpd="sng">
            <a:solidFill>
              <a:srgbClr val="A5F3F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08500" y="1714500"/>
            <a:ext cx="317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891B2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08500" y="22225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2026年10月 - 11月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749">
            <a:off x="4508513" y="2660650"/>
            <a:ext cx="31750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FF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27940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配置与开发落地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3175000"/>
            <a:ext cx="317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完成QM检验计划/检验批/使用决策配置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开发合格率统计自定义报表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配置主检验特性与UD使用决策代码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完成MES系统集成与批次关联逻辑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0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CFF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50546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5E75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交付：系统配置成果 + 测试报告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318500" y="1714500"/>
            <a:ext cx="317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上线保障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2225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2026年12月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749">
            <a:off x="8318513" y="2660650"/>
            <a:ext cx="31750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18500" y="2794000"/>
            <a:ext cx="317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验证与平稳过渡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3175000"/>
            <a:ext cx="317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质量业务场景全量集成测试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开展质量追溯与合格率报表实战演练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完成质量关键用户操作与运维培训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系统正式切换 + 30天Hypercare护航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445500" y="50546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交付：上线确认书 + 标准运营手册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5969000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通过分阶段、强管控的实施路径，保障QM质量追溯与合格率统计体系从设计到落地的全流程可控，确保按时、按质达成质量数字化建设目标。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三阶段实施路径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附录：相关文档及原始数据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 QM质量追溯与合格率统计分析需求清单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08000" y="1143000"/>
          <a:ext cx="11176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需求简述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来源部门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归属子方案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产品包装信息系统化（包装/灯印信息维护与检验核查）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质量与客服中心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来料检验与成品光电数据对比分析（批次关联对标）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高明技术品控中心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优化质量报表"检验批总览"（增加缺陷/描述/车间字段）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质量与客服中心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优化"QA32"增加供应商信息显示（货源清单追溯）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质量与客服中心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产品质量追溯归档（统一归档不良记录/供应商/BOM版本）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国际事业部（佛照光电）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合格率统计分析（总批次/合格批次/合格率/让步收货/退货率）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质量与客服中心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合格率统计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09" y="6412865"/>
            <a:ext cx="1742694" cy="34391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Freeform 5"/>
          <p:cNvSpPr/>
          <p:nvPr/>
        </p:nvSpPr>
        <p:spPr>
          <a:xfrm>
            <a:off x="10944225" y="6446139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7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1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1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0538"/>
            <a:ext cx="1846659" cy="738664"/>
          </a:xfrm>
        </p:spPr>
        <p:txBody>
          <a:bodyPr/>
          <a:lstStyle/>
          <a:p>
            <a:r>
              <a:rPr lang="zh-CN" altLang="en-US" sz="4800" b="1" dirty="0"/>
              <a:t>谢谢！</a:t>
            </a:r>
            <a:endParaRPr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DECOR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DECOR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da917867a63747f280d1ef72c8fb3310"/>
  <p:tag name="TAG_CONTENT_GROUPCOUNT" val="6"/>
  <p:tag name="TAG_CONTENT_GROUPINDEX" val="3"/>
  <p:tag name="TAG_CONTENT_SUBINDEX" val="3"/>
  <p:tag name="YOO_CHATSHAPE_TYPE" val="YOO_CHATSHAPE_CHILDDECOR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da917867a63747f280d1ef72c8fb3310"/>
  <p:tag name="TAG_CONTENT_GROUPCOUNT" val="6"/>
  <p:tag name="TAG_CONTENT_GROUPINDEX" val="4"/>
  <p:tag name="TAG_CONTENT_SUBINDEX" val="4"/>
  <p:tag name="YOO_CHATSHAPE_TYPE" val="YOO_CHATSHAPE_CHILDDECORA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DECOR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DECORA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CONTEN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CONTEN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4"/>
  <p:tag name="TAG_CONTENT_SUBINDEX" val="4"/>
  <p:tag name="YOO_CHATSHAPE_TYPE" val="YOO_CHATSHAPE_CHILDCONTEN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4"/>
  <p:tag name="TAG_CONTENT_SUBINDEX" val="4"/>
  <p:tag name="YOO_CHATSHAPE_TYPE" val="YOO_CHATSHAPE_CHILD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3"/>
  <p:tag name="TAG_CONTENT_SUBINDEX" val="3"/>
  <p:tag name="YOO_CHATSHAPE_TYPE" val="YOO_CHATSHAPE_CHILDCONTEN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3"/>
  <p:tag name="TAG_CONTENT_SUBINDEX" val="3"/>
  <p:tag name="YOO_CHATSHAPE_TYPE" val="YOO_CHATSHAPE_CHIL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NU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NU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3"/>
  <p:tag name="TAG_CONTENT_SUBINDEX" val="3"/>
  <p:tag name="YOO_CHATSHAPE_TYPE" val="YOO_CHATSHAPE_NU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4"/>
  <p:tag name="TAG_CONTENT_SUBINDEX" val="4"/>
  <p:tag name="YOO_CHATSHAPE_TYPE" val="YOO_CHATSHAPE_NU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da917867a63747f280d1ef72c8fb3310"/>
  <p:tag name="TAG_CONTENT_GROUPCOUNT" val="6"/>
  <p:tag name="TAG_CONTENT_GROUPINDEX" val="5"/>
  <p:tag name="TAG_CONTENT_SUBINDEX" val="5"/>
  <p:tag name="YOO_CHATSHAPE_TYPE" val="YOO_CHATSHAPE_CHILDDECORA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5"/>
  <p:tag name="TAG_CONTENT_SUBINDEX" val="5"/>
  <p:tag name="YOO_CHATSHAPE_TYPE" val="YOO_CHATSHAPE_CHILDCONTEN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5"/>
  <p:tag name="TAG_CONTENT_SUBINDEX" val="5"/>
  <p:tag name="YOO_CHATSHAPE_TYPE" val="YOO_CHATSHAPE_CHILD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5"/>
  <p:tag name="TAG_CONTENT_SUBINDEX" val="5"/>
  <p:tag name="YOO_CHATSHAPE_TYPE" val="YOO_CHATSHAPE_NU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6"/>
  <p:tag name="TAG_CONTENT_DIAGRAM_INDEX" val="da917867a63747f280d1ef72c8fb3310"/>
  <p:tag name="TAG_CONTENT_GROUPCOUNT" val="6"/>
  <p:tag name="TAG_CONTENT_GROUPINDEX" val="6"/>
  <p:tag name="TAG_CONTENT_SUBINDEX" val="6"/>
  <p:tag name="YOO_CHATSHAPE_TYPE" val="YOO_CHATSHAPE_CHILDDECORA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6"/>
  <p:tag name="TAG_CONTENT_SUBINDEX" val="6"/>
  <p:tag name="YOO_CHATSHAPE_TYPE" val="YOO_CHATSHAPE_CHILDCONTEN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6"/>
  <p:tag name="TAG_CONTENT_SUBINDEX" val="6"/>
  <p:tag name="YOO_CHATSHAPE_TYPE" val="YOO_CHATSHAPE_CHIL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da917867a63747f280d1ef72c8fb3310"/>
  <p:tag name="TAG_CONTENT_GROUPCOUNT" val="6"/>
  <p:tag name="TAG_CONTENT_GROUPINDEX" val="6"/>
  <p:tag name="TAG_CONTENT_SUBINDEX" val="6"/>
  <p:tag name="YOO_CHATSHAPE_TYPE" val="YOO_CHATSHAPE_NU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DECORA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CHILDDECORA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DECOR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CHILDDECORA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da917867a63747f280d1ef72c8fb3310"/>
  <p:tag name="TAG_CONTENT_GROUPCOUNT" val="6"/>
  <p:tag name="TAG_CONTENT_GROUPINDEX" val="2"/>
  <p:tag name="TAG_CONTENT_SUBINDEX" val="2"/>
  <p:tag name="YOO_CHATSHAPE_TYPE" val="YOO_CHATSHAPE_DECORATI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da917867a63747f280d1ef72c8fb3310"/>
  <p:tag name="TAG_CONTENT_GROUPCOUNT" val="6"/>
  <p:tag name="TAG_CONTENT_GROUPINDEX" val="1"/>
  <p:tag name="TAG_CONTENT_SUBINDEX" val="1"/>
  <p:tag name="YOO_CHATSHAPE_TYPE" val="YOO_CHATSHAPE_DECORA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2JhuHAZB02ydSC8yLERc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iWJySXwk0.hH9NdpS0V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Tj262Y__UGfwqUADt2ct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m_cqrHSkWfXIGT4TtXP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Sw9pET_6UmMnDohlaIB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5IvUMbUki1lGYptYbs_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xT1.nL_z0mINAd_2ku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2JhuHAZB02ydSC8yLERc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iWJySXwk0.hH9NdpS0V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vFDHFaBukmji9NnbNMZU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Tj262Y__UGfwqUADt2ct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m_cqrHSkWfXIGT4TtXP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Sw9pET_6UmMnDohlaIB_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5IvUMbUki1lGYptYbs_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m_cqrHSkWfXIGT4TtXP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vRzHPvK0._at3zh684X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9.y5POXHUWPYeUzzQpAt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2JhuHAZB02ydSC8yLERc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iWJySXwk0.hH9NdpS0V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vFDHFaBukmji9NnbNMZU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Tj262Y__UGfwqUADt2ct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m_cqrHSkWfXIGT4TtXP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Sw9pET_6UmMnDohlaIB_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5IvUMbUki1lGYptYbs_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hmfHq4SEqAO_8T8yUgw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m_cqrHSkWfXIGT4TtXP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EFs5MrN0u_0iTWGgHnx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vRzHPvK0._at3zh684X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9.y5POXHUWPYeUzzQpAt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OyhbWiwaEGGppwvM0gzm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Vfu6c3tqEue1EScbMsBzA"/>
</p:tagLst>
</file>

<file path=ppt/theme/theme1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B6BFCDD-2828-244C-B8B0-E2958472E4D3}">
  <ds:schemaRefs/>
</ds:datastoreItem>
</file>

<file path=customXml/itemProps2.xml><?xml version="1.0" encoding="utf-8"?>
<ds:datastoreItem xmlns:ds="http://schemas.openxmlformats.org/officeDocument/2006/customXml" ds:itemID="{FE511B84-21F8-E546-9875-8BED6F72232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4606</Words>
  <Application>Microsoft Office PowerPoint</Application>
  <PresentationFormat>宽屏</PresentationFormat>
  <Paragraphs>514</Paragraphs>
  <Slides>25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9" baseType="lpstr">
      <vt:lpstr>Biennale</vt:lpstr>
      <vt:lpstr>Biennale Bold</vt:lpstr>
      <vt:lpstr>Biennale Medium</vt:lpstr>
      <vt:lpstr>Microsoft JhengHei</vt:lpstr>
      <vt:lpstr>Microsoft JhengHei</vt:lpstr>
      <vt:lpstr>Montserrat Bold</vt:lpstr>
      <vt:lpstr>Noto Sans SC</vt:lpstr>
      <vt:lpstr>等线</vt:lpstr>
      <vt:lpstr>华文楷体</vt:lpstr>
      <vt:lpstr>宋体</vt:lpstr>
      <vt:lpstr>微软雅黑</vt:lpstr>
      <vt:lpstr>微软雅黑</vt:lpstr>
      <vt:lpstr>Aptos</vt:lpstr>
      <vt:lpstr>Arial</vt:lpstr>
      <vt:lpstr>Calibri</vt:lpstr>
      <vt:lpstr>Montserrat SemiBold</vt:lpstr>
      <vt:lpstr>Segoe UI</vt:lpstr>
      <vt:lpstr>Times New Roman</vt:lpstr>
      <vt:lpstr>Verdana</vt:lpstr>
      <vt:lpstr>Wingdings</vt:lpstr>
      <vt:lpstr>Wingdings 2</vt:lpstr>
      <vt:lpstr>White background</vt:lpstr>
      <vt:lpstr>1_White background</vt:lpstr>
      <vt:lpstr>自定义主题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现状：QM质量追溯需求和问题</vt:lpstr>
      <vt:lpstr>现状：QM质量追溯需求和问题</vt:lpstr>
      <vt:lpstr>现状：QM质量追溯需求和问题</vt:lpstr>
      <vt:lpstr>现状：QM质量追溯需求和问题</vt:lpstr>
      <vt:lpstr>现状：QM质量追溯需求和问题</vt:lpstr>
      <vt:lpstr>PowerPoint 演示文稿</vt:lpstr>
      <vt:lpstr>PowerPoint 演示文稿</vt:lpstr>
      <vt:lpstr>PowerPoint 演示文稿</vt:lpstr>
      <vt:lpstr>PowerPoint 演示文稿</vt:lpstr>
      <vt:lpstr>合格率统计分析需求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yxc</dc:creator>
  <cp:lastModifiedBy>2102125624@qq.com</cp:lastModifiedBy>
  <cp:revision>191</cp:revision>
  <dcterms:modified xsi:type="dcterms:W3CDTF">2026-08-30T14:16:22Z</dcterms:modified>
</cp:coreProperties>
</file>