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5"/>
  </p:sldMasterIdLst>
  <p:notesMasterIdLst>
    <p:notesMasterId r:id="rId27"/>
  </p:notesMasterIdLst>
  <p:sldIdLst>
    <p:sldId id="402" r:id="rId6"/>
    <p:sldId id="256" r:id="rId7"/>
    <p:sldId id="283" r:id="rId8"/>
    <p:sldId id="2180" r:id="rId9"/>
    <p:sldId id="403" r:id="rId10"/>
    <p:sldId id="276" r:id="rId11"/>
    <p:sldId id="2233" r:id="rId12"/>
    <p:sldId id="16146186" r:id="rId13"/>
    <p:sldId id="2234" r:id="rId14"/>
    <p:sldId id="2235" r:id="rId15"/>
    <p:sldId id="2236" r:id="rId16"/>
    <p:sldId id="2237" r:id="rId17"/>
    <p:sldId id="16146187" r:id="rId18"/>
    <p:sldId id="16146188" r:id="rId19"/>
    <p:sldId id="16146189" r:id="rId20"/>
    <p:sldId id="16146190" r:id="rId21"/>
    <p:sldId id="404" r:id="rId22"/>
    <p:sldId id="277" r:id="rId23"/>
    <p:sldId id="405" r:id="rId24"/>
    <p:sldId id="2182" r:id="rId25"/>
    <p:sldId id="297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196C"/>
    <a:srgbClr val="003366"/>
    <a:srgbClr val="0073E6"/>
    <a:srgbClr val="0066CC"/>
    <a:srgbClr val="EC6012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661"/>
    <p:restoredTop sz="85938"/>
  </p:normalViewPr>
  <p:slideViewPr>
    <p:cSldViewPr snapToGrid="0">
      <p:cViewPr varScale="1">
        <p:scale>
          <a:sx n="76" d="100"/>
          <a:sy n="76" d="100"/>
        </p:scale>
        <p:origin x="750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ableStyles" Target="tableStyle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7ED242-3ED6-ED4B-A493-BFAB0D2DA00B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A415C3-E7E8-ED47-896B-87929403F89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标准</a:t>
            </a:r>
            <a:r>
              <a:rPr lang="zh-CN" altLang="en-US" dirty="0"/>
              <a:t>、精细、协同、高效</a:t>
            </a:r>
            <a:endParaRPr lang="en-US" altLang="zh-CN" dirty="0"/>
          </a:p>
          <a:p>
            <a:r>
              <a:rPr lang="zh-CN" altLang="en-US" dirty="0"/>
              <a:t>精细化的成本分析。</a:t>
            </a:r>
            <a:endParaRPr lang="en-US" altLang="zh-CN" dirty="0"/>
          </a:p>
          <a:p>
            <a:r>
              <a:rPr lang="zh-CN" altLang="en-US" dirty="0"/>
              <a:t>有量化指标的提升。</a:t>
            </a:r>
            <a:endParaRPr lang="en-US" altLang="zh-CN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张学权</a:t>
            </a:r>
            <a:endParaRPr lang="en-US" dirty="0"/>
          </a:p>
          <a:p>
            <a:r>
              <a:rPr lang="zh-CN" altLang="en-US" dirty="0"/>
              <a:t>现在停掉</a:t>
            </a:r>
            <a:r>
              <a:rPr lang="en-US" altLang="zh-CN" dirty="0"/>
              <a:t>SAP</a:t>
            </a:r>
            <a:r>
              <a:rPr lang="zh-CN" altLang="en-US" dirty="0"/>
              <a:t>，业务是否还能够照常开展？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、统一认识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、锻炼内功，</a:t>
            </a:r>
            <a:r>
              <a:rPr lang="en-US" altLang="zh-CN" dirty="0"/>
              <a:t>SAP</a:t>
            </a:r>
            <a:r>
              <a:rPr lang="zh-CN" altLang="en-US" dirty="0"/>
              <a:t>的升级不是简单的更新，而是要把公司过往的组织能力、管理理念、管理流程进行全面的梳理和再造。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、对公司内部各个部门以及相关分子公司的负责人，一定要高度重视，亲自参与。过去几年的数字化项目，成功的不多，失败的不少，甚至变烂尾了，各个部门的负责人没参与。营销的数字化中台、</a:t>
            </a:r>
            <a:r>
              <a:rPr lang="en-US" altLang="zh-CN" dirty="0"/>
              <a:t>CRM</a:t>
            </a:r>
            <a:r>
              <a:rPr lang="zh-CN" altLang="en-US" dirty="0"/>
              <a:t>系统搞不下去了。每个单位指定一个责任心强、沟通能力强的</a:t>
            </a:r>
            <a:r>
              <a:rPr lang="en-US" altLang="zh-CN" dirty="0"/>
              <a:t>SAP</a:t>
            </a:r>
            <a:r>
              <a:rPr lang="zh-CN" altLang="en-US" dirty="0"/>
              <a:t>专员。外部公司既要专业，又要接地气。数字化部和财务部要协同好，跟艾维登要协同好。上下联动、左右协同、齐抓共管。系统要管用还要好用。</a:t>
            </a:r>
            <a:endParaRPr lang="en-US" altLang="zh-CN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0890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D8C2C35-2B8A-446E-BEC0-FD36716C29A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0890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D8C2C35-2B8A-446E-BEC0-FD36716C29A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415C3-E7E8-ED47-896B-87929403F899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A415C3-E7E8-ED47-896B-87929403F8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CB467-FD81-4899-D067-6DDE00B88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2CCCE96-3B15-804C-93E1-D79F564B86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48127FD-490C-D561-352D-7246CE0F2B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4E4FE09-9582-AC86-14E6-3D947F3AC0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A415C3-E7E8-ED47-896B-87929403F899}" type="slidenum">
              <a:rPr kumimoji="0" lang="en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72848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DAC76-9D86-7C56-C192-E4A17F020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748B6E1-E3D8-A653-B147-CCA38C1EC9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3830263-E734-FCE8-D8CD-0DCBB70221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748BC6E-B35F-C464-9C8E-76470FCC80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A415C3-E7E8-ED47-896B-87929403F899}" type="slidenum">
              <a:rPr kumimoji="0" lang="en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93692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84F3B-6A70-3D3C-C84C-A69D1C6D5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00E7FC1-18A1-8A36-5740-556E28D8C8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F091F4C-C2F2-EA61-30A6-BFEF3B8A5D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ABFC01-EA9F-080B-D524-1C52A3B969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A415C3-E7E8-ED47-896B-87929403F899}" type="slidenum">
              <a:rPr kumimoji="0" lang="en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88589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4439A-67A9-8FF3-3307-B1BBDEC64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1867ADC-9C70-E470-03B2-E2516BED60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8029DB7-CEAB-E3AE-93C0-D889C4D3FE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F35B22-3BEF-1D23-F84B-351674862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A415C3-E7E8-ED47-896B-87929403F899}" type="slidenum">
              <a:rPr kumimoji="0" lang="en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19321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804C7-7D7C-6514-E763-5E5906A84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51383B6-DEBD-1E4D-00CE-BCFE69ECDC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71C7AFD-5790-7E7F-B86E-FDC3FD1127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BE5BBD-7024-2716-C7A8-F886C5E7BC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A415C3-E7E8-ED47-896B-87929403F899}" type="slidenum">
              <a:rPr kumimoji="0" lang="en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17356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68A31-E0DD-0DE6-7BF6-57F1E639D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7645AA0-7A41-A905-1493-CD7F629C64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E8FABF1-7115-6B05-A554-0335265FC2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C47092C-EA05-0237-F6DC-8827E53A08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A415C3-E7E8-ED47-896B-87929403F899}" type="slidenum">
              <a:rPr kumimoji="0" lang="en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765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1BACC-B24B-6C01-521E-8F2C4EF8D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8E89BC3-8116-D6F7-79E4-13C5FD6ADA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73718D8-E8EC-AF3C-1A52-D6303128DA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022C8AA-A190-F3AC-8A9D-29CB487BD8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A415C3-E7E8-ED47-896B-87929403F899}" type="slidenum">
              <a:rPr kumimoji="0" lang="en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74118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C440E-AA86-8915-6920-077E6B8CC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30A5685-D470-6060-578F-907E0207AB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7723680-A85D-7512-3DE1-13F14882D4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5A709-1FB5-E17D-6DD8-C28854C4D7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A415C3-E7E8-ED47-896B-87929403F899}" type="slidenum">
              <a:rPr kumimoji="0" lang="en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65722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49FF9-C1AE-DD5E-134B-D8D110C55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4553725-EDAD-E2BB-CE06-C9A92DEE17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C94F009-B31F-41FF-7EF6-2EA2D4F578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5801CDD-C7F8-2E38-9E98-64459D010B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A415C3-E7E8-ED47-896B-87929403F899}" type="slidenum">
              <a:rPr kumimoji="0" lang="en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53335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D2E3F-3F0E-71ED-0583-6E320A15A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1393323-B52F-039E-2415-3F0DBAC3CA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08D3BD5-7819-F661-EC8C-92F1A8CB15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95B9C93-ED7D-8259-874A-AD54A06852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A415C3-E7E8-ED47-896B-87929403F899}" type="slidenum">
              <a:rPr kumimoji="0" lang="en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78336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最后，这是我们整个项目的实施路径图。我们将项目分为三个阶段：蓝图设计、系统实现和上线保障。每个阶段都有明确的时间规划、核心任务和交付成果。通过这个清晰的路线图，我们可以确保项目按计划、高质量地推进，最终成功上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emf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4"/>
          <p:cNvSpPr>
            <a:spLocks noGrp="1"/>
          </p:cNvSpPr>
          <p:nvPr>
            <p:ph type="title" hasCustomPrompt="1"/>
          </p:nvPr>
        </p:nvSpPr>
        <p:spPr>
          <a:xfrm>
            <a:off x="423068" y="2415203"/>
            <a:ext cx="5486400" cy="1828800"/>
          </a:xfrm>
        </p:spPr>
        <p:txBody>
          <a:bodyPr anchor="t"/>
          <a:lstStyle>
            <a:lvl1pPr>
              <a:spcAft>
                <a:spcPts val="300"/>
              </a:spcAft>
              <a:defRPr lang="en-US" sz="4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23068" y="3138594"/>
            <a:ext cx="5486400" cy="1216152"/>
          </a:xfrm>
        </p:spPr>
        <p:txBody>
          <a:bodyPr/>
          <a:lstStyle>
            <a:lvl1pPr marL="0" indent="0">
              <a:buNone/>
              <a:defRPr sz="36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 sz="3200">
                <a:solidFill>
                  <a:srgbClr val="3DC7FF"/>
                </a:solidFill>
                <a:latin typeface="+mj-lt"/>
              </a:defRPr>
            </a:lvl2pPr>
            <a:lvl3pPr marL="457200" indent="0">
              <a:buNone/>
              <a:defRPr sz="3200">
                <a:solidFill>
                  <a:srgbClr val="3DC7FF"/>
                </a:solidFill>
                <a:latin typeface="+mj-lt"/>
              </a:defRPr>
            </a:lvl3pPr>
            <a:lvl4pPr marL="685800" indent="0">
              <a:buNone/>
              <a:defRPr sz="3200">
                <a:solidFill>
                  <a:srgbClr val="3DC7FF"/>
                </a:solidFill>
                <a:latin typeface="+mj-lt"/>
              </a:defRPr>
            </a:lvl4pPr>
            <a:lvl5pPr marL="914400" indent="0">
              <a:buNone/>
              <a:defRPr sz="3200">
                <a:solidFill>
                  <a:srgbClr val="3DC7FF"/>
                </a:solidFill>
                <a:latin typeface="+mj-lt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423068" y="4771707"/>
            <a:ext cx="3657600" cy="640080"/>
          </a:xfrm>
        </p:spPr>
        <p:txBody>
          <a:bodyPr/>
          <a:lstStyle>
            <a:lvl1pPr marL="0" indent="0">
              <a:buNone/>
              <a:defRPr lang="en-US" sz="1600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1" name="AddCustomFooter#1"/>
          <p:cNvSpPr txBox="1"/>
          <p:nvPr userDrawn="1"/>
        </p:nvSpPr>
        <p:spPr bwMode="gray">
          <a:xfrm>
            <a:off x="423068" y="6391780"/>
            <a:ext cx="83516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74320" algn="l"/>
                <a:tab pos="411480" algn="l"/>
              </a:tabLst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© Atos  Group</a:t>
            </a:r>
            <a:endParaRPr lang="nl-NL" sz="900" baseline="0">
              <a:solidFill>
                <a:schemeClr val="accent3"/>
              </a:solidFill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" name="Picture Placeholder 13"/>
          <p:cNvSpPr>
            <a:spLocks noGrp="1"/>
          </p:cNvSpPr>
          <p:nvPr>
            <p:ph type="pic" sz="quarter" idx="12"/>
          </p:nvPr>
        </p:nvSpPr>
        <p:spPr>
          <a:xfrm>
            <a:off x="6092952" y="0"/>
            <a:ext cx="6099048" cy="6858000"/>
          </a:xfrm>
        </p:spPr>
        <p:txBody>
          <a:bodyPr tIns="914400" bIns="0" anchor="ctr"/>
          <a:lstStyle>
            <a:lvl1pPr marL="0" indent="0" algn="ctr">
              <a:buNone/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28624" y="291451"/>
            <a:ext cx="11337925" cy="91231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4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709990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8625" y="6507907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anose="020B0604030504040204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t>‹#›</a:t>
            </a:fld>
            <a:endParaRPr lang="nl-NL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ep Blue Title Only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28624" y="291451"/>
            <a:ext cx="11337925" cy="912315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4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709990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bg1"/>
                </a:solidFill>
                <a:latin typeface="+mn-lt"/>
                <a:ea typeface="Verdana" panose="020B0604030504040204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t>‹#›</a:t>
            </a:fld>
            <a:endParaRPr lang="nl-NL"/>
          </a:p>
        </p:txBody>
      </p:sp>
      <p:sp>
        <p:nvSpPr>
          <p:cNvPr id="8" name="AddCustomFooter#1"/>
          <p:cNvSpPr txBox="1"/>
          <p:nvPr userDrawn="1"/>
        </p:nvSpPr>
        <p:spPr bwMode="gray">
          <a:xfrm>
            <a:off x="428625" y="6420355"/>
            <a:ext cx="127951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74320" algn="l"/>
                <a:tab pos="411480" algn="l"/>
              </a:tabLst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	|	 © Atos Group </a:t>
            </a:r>
            <a:endParaRPr lang="nl-NL" sz="900" baseline="0">
              <a:solidFill>
                <a:schemeClr val="bg1"/>
              </a:solidFill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Graphique 10" descr="Atos logo"/>
          <p:cNvSpPr>
            <a:spLocks noChangeAspect="1"/>
          </p:cNvSpPr>
          <p:nvPr userDrawn="1"/>
        </p:nvSpPr>
        <p:spPr>
          <a:xfrm>
            <a:off x="10944224" y="6309897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>
          <a:xfrm>
            <a:off x="1703638" y="0"/>
            <a:ext cx="9768784" cy="6858000"/>
            <a:chOff x="1703638" y="0"/>
            <a:chExt cx="9768784" cy="6858000"/>
          </a:xfrm>
        </p:grpSpPr>
        <p:pic>
          <p:nvPicPr>
            <p:cNvPr id="6" name="Graphic 5"/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flipH="1" flipV="1">
              <a:off x="6588030" y="0"/>
              <a:ext cx="4884392" cy="4884392"/>
            </a:xfrm>
            <a:prstGeom prst="rect">
              <a:avLst/>
            </a:prstGeom>
          </p:spPr>
        </p:pic>
        <p:pic>
          <p:nvPicPr>
            <p:cNvPr id="8" name="Graphic 7"/>
            <p:cNvPicPr>
              <a:picLocks noChangeAspect="1"/>
            </p:cNvPicPr>
            <p:nvPr userDrawn="1"/>
          </p:nvPicPr>
          <p:blipFill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b="59594"/>
            <a:stretch>
              <a:fillRect/>
            </a:stretch>
          </p:blipFill>
          <p:spPr>
            <a:xfrm>
              <a:off x="1703638" y="4884393"/>
              <a:ext cx="4884392" cy="1973607"/>
            </a:xfrm>
            <a:prstGeom prst="rect">
              <a:avLst/>
            </a:prstGeom>
          </p:spPr>
        </p:pic>
      </p:grpSp>
      <p:sp>
        <p:nvSpPr>
          <p:cNvPr id="3" name="Title 4"/>
          <p:cNvSpPr>
            <a:spLocks noGrp="1"/>
          </p:cNvSpPr>
          <p:nvPr>
            <p:ph type="title" hasCustomPrompt="1"/>
          </p:nvPr>
        </p:nvSpPr>
        <p:spPr>
          <a:xfrm>
            <a:off x="428625" y="1196367"/>
            <a:ext cx="5852160" cy="1554480"/>
          </a:xfrm>
        </p:spPr>
        <p:txBody>
          <a:bodyPr anchor="b"/>
          <a:lstStyle>
            <a:lvl1pPr>
              <a:spcAft>
                <a:spcPts val="300"/>
              </a:spcAft>
              <a:defRPr lang="en-US" sz="48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Chapter title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28625" y="2748074"/>
            <a:ext cx="5852160" cy="1216152"/>
          </a:xfrm>
        </p:spPr>
        <p:txBody>
          <a:bodyPr/>
          <a:lstStyle>
            <a:lvl1pPr marL="0" indent="0">
              <a:buNone/>
              <a:defRPr sz="3600">
                <a:solidFill>
                  <a:srgbClr val="3DC7FF"/>
                </a:solidFill>
                <a:latin typeface="+mj-lt"/>
              </a:defRPr>
            </a:lvl1pPr>
            <a:lvl2pPr marL="228600" indent="0">
              <a:buNone/>
              <a:defRPr sz="3200">
                <a:solidFill>
                  <a:srgbClr val="3DC7FF"/>
                </a:solidFill>
                <a:latin typeface="+mj-lt"/>
              </a:defRPr>
            </a:lvl2pPr>
            <a:lvl3pPr marL="457200" indent="0">
              <a:buNone/>
              <a:defRPr sz="3200">
                <a:solidFill>
                  <a:srgbClr val="3DC7FF"/>
                </a:solidFill>
                <a:latin typeface="+mj-lt"/>
              </a:defRPr>
            </a:lvl3pPr>
            <a:lvl4pPr marL="685800" indent="0">
              <a:buNone/>
              <a:defRPr sz="3200">
                <a:solidFill>
                  <a:srgbClr val="3DC7FF"/>
                </a:solidFill>
                <a:latin typeface="+mj-lt"/>
              </a:defRPr>
            </a:lvl4pPr>
            <a:lvl5pPr marL="914400" indent="0">
              <a:buNone/>
              <a:defRPr sz="3200">
                <a:solidFill>
                  <a:srgbClr val="3DC7FF"/>
                </a:solidFill>
                <a:latin typeface="+mj-lt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" name="Graphique 10" descr="Atos logo"/>
          <p:cNvSpPr>
            <a:spLocks noChangeAspect="1"/>
          </p:cNvSpPr>
          <p:nvPr userDrawn="1"/>
        </p:nvSpPr>
        <p:spPr>
          <a:xfrm>
            <a:off x="10944224" y="6309897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28625" y="1189363"/>
            <a:ext cx="5370060" cy="1231106"/>
          </a:xfrm>
        </p:spPr>
        <p:txBody>
          <a:bodyPr wrap="none" anchor="ctr">
            <a:spAutoFit/>
          </a:bodyPr>
          <a:lstStyle>
            <a:lvl1pPr algn="l">
              <a:lnSpc>
                <a:spcPct val="100000"/>
              </a:lnSpc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US"/>
              <a:t>Thank you!</a:t>
            </a:r>
          </a:p>
        </p:txBody>
      </p:sp>
      <p:sp>
        <p:nvSpPr>
          <p:cNvPr id="3" name="AddNotifier#1"/>
          <p:cNvSpPr txBox="1">
            <a:spLocks noChangeArrowheads="1"/>
          </p:cNvSpPr>
          <p:nvPr userDrawn="1"/>
        </p:nvSpPr>
        <p:spPr bwMode="invGray">
          <a:xfrm>
            <a:off x="428625" y="5422415"/>
            <a:ext cx="3383281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b" anchorCtr="0">
            <a:spAutoFit/>
          </a:bodyPr>
          <a:lstStyle>
            <a:lvl1pPr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r>
              <a:rPr lang="en-US" sz="800" kern="1200" baseline="0">
                <a:solidFill>
                  <a:schemeClr val="accent3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Atos is a registered trademark of Atos SE. © 2024 Atos. Confidential information owned by Atos, to be used by the recipient only. This document, or any part of it, may not be reproduced, copied, circulated and/or distributed nor quoted without prior written approval from Atos.</a:t>
            </a:r>
            <a:endParaRPr lang="en-US" sz="800" baseline="0">
              <a:solidFill>
                <a:schemeClr val="accent3"/>
              </a:solidFill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428625" y="6316314"/>
            <a:ext cx="2560320" cy="92333"/>
          </a:xfrm>
        </p:spPr>
        <p:txBody>
          <a:bodyPr wrap="none" anchor="ctr">
            <a:noAutofit/>
          </a:bodyPr>
          <a:lstStyle>
            <a:lvl1pPr marL="0" indent="0">
              <a:spcAft>
                <a:spcPts val="0"/>
              </a:spcAft>
              <a:buNone/>
              <a:defRPr sz="600">
                <a:solidFill>
                  <a:schemeClr val="accent3"/>
                </a:solidFill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Job Number-Designer-BP</a:t>
            </a:r>
          </a:p>
        </p:txBody>
      </p:sp>
      <p:sp>
        <p:nvSpPr>
          <p:cNvPr id="2" name="AddCustomFooter#1"/>
          <p:cNvSpPr txBox="1"/>
          <p:nvPr userDrawn="1"/>
        </p:nvSpPr>
        <p:spPr bwMode="gray">
          <a:xfrm>
            <a:off x="5884404" y="6391780"/>
            <a:ext cx="423193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74320" algn="l"/>
                <a:tab pos="411480" algn="l"/>
              </a:tabLst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© Atos </a:t>
            </a:r>
            <a:endParaRPr lang="nl-NL" sz="900" baseline="0">
              <a:solidFill>
                <a:schemeClr val="accent3"/>
              </a:solidFill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Graphique 10" descr="Atos logo"/>
          <p:cNvSpPr/>
          <p:nvPr userDrawn="1"/>
        </p:nvSpPr>
        <p:spPr>
          <a:xfrm>
            <a:off x="9848292" y="5921362"/>
            <a:ext cx="1920640" cy="587312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accent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s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303548" y="164637"/>
            <a:ext cx="11436096" cy="338554"/>
          </a:xfrm>
        </p:spPr>
        <p:txBody>
          <a:bodyPr/>
          <a:lstStyle/>
          <a:p>
            <a:pPr lvl="0"/>
            <a:r>
              <a:rPr lang="en-US"/>
              <a:t>Title in </a:t>
            </a:r>
            <a:r>
              <a:rPr lang="en-US" err="1"/>
              <a:t>Raleway</a:t>
            </a:r>
            <a:r>
              <a:rPr lang="en-US"/>
              <a:t> </a:t>
            </a:r>
            <a:r>
              <a:rPr lang="en-US" err="1"/>
              <a:t>SemiBold</a:t>
            </a:r>
            <a:r>
              <a:rPr lang="en-US"/>
              <a:t> 20pt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303547" y="556610"/>
            <a:ext cx="11436096" cy="580529"/>
          </a:xfrm>
        </p:spPr>
        <p:txBody>
          <a:bodyPr/>
          <a:lstStyle>
            <a:lvl1pPr marL="0" indent="0">
              <a:buNone/>
              <a:defRPr sz="2135">
                <a:solidFill>
                  <a:srgbClr val="0596FF"/>
                </a:solidFill>
                <a:latin typeface="+mj-lt"/>
              </a:defRPr>
            </a:lvl1pPr>
          </a:lstStyle>
          <a:p>
            <a:pPr lvl="0"/>
            <a:r>
              <a:rPr lang="en-US"/>
              <a:t>Subtitle in </a:t>
            </a:r>
            <a:r>
              <a:rPr lang="en-US" err="1"/>
              <a:t>Raleway</a:t>
            </a:r>
            <a:r>
              <a:rPr lang="en-US"/>
              <a:t> </a:t>
            </a:r>
            <a:r>
              <a:rPr lang="en-US" err="1"/>
              <a:t>SemiBold</a:t>
            </a:r>
            <a:r>
              <a:rPr lang="en-US"/>
              <a:t> 16pt</a:t>
            </a: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/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1117917" y="1285493"/>
            <a:ext cx="1545853" cy="1545853"/>
          </a:xfrm>
          <a:prstGeom prst="rect">
            <a:avLst/>
          </a:prstGeom>
        </p:spPr>
      </p:pic>
      <p:sp>
        <p:nvSpPr>
          <p:cNvPr id="15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2954745" y="1446367"/>
            <a:ext cx="343043" cy="369332"/>
          </a:xfrm>
        </p:spPr>
        <p:txBody>
          <a:bodyPr wrap="none">
            <a:spAutoFit/>
          </a:bodyPr>
          <a:lstStyle>
            <a:lvl1pPr marL="0" indent="0" algn="l"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3674348" y="1446367"/>
            <a:ext cx="7521210" cy="822960"/>
          </a:xfrm>
        </p:spPr>
        <p:txBody>
          <a:bodyPr wrap="none">
            <a:noAutofit/>
          </a:bodyPr>
          <a:lstStyle>
            <a:lvl1pPr marL="0" indent="0">
              <a:spcAft>
                <a:spcPts val="0"/>
              </a:spcAft>
              <a:buNone/>
              <a:defRPr sz="24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Chapter title example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11406268" y="1446367"/>
            <a:ext cx="355867" cy="307777"/>
          </a:xfrm>
        </p:spPr>
        <p:txBody>
          <a:bodyPr wrap="none">
            <a:spAutoFit/>
          </a:bodyPr>
          <a:lstStyle>
            <a:lvl1pPr marL="0" indent="0" algn="r">
              <a:spcAft>
                <a:spcPts val="0"/>
              </a:spcAft>
              <a:buNone/>
              <a:defRPr sz="20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6"/>
          <p:cNvSpPr>
            <a:spLocks noGrp="1"/>
          </p:cNvSpPr>
          <p:nvPr>
            <p:ph type="body" sz="quarter" idx="16" hasCustomPrompt="1"/>
          </p:nvPr>
        </p:nvSpPr>
        <p:spPr>
          <a:xfrm>
            <a:off x="2954745" y="2713569"/>
            <a:ext cx="395942" cy="369332"/>
          </a:xfrm>
        </p:spPr>
        <p:txBody>
          <a:bodyPr wrap="none">
            <a:spAutoFit/>
          </a:bodyPr>
          <a:lstStyle>
            <a:lvl1pPr marL="0" indent="0" algn="l"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3674348" y="2713569"/>
            <a:ext cx="7521210" cy="822960"/>
          </a:xfrm>
        </p:spPr>
        <p:txBody>
          <a:bodyPr wrap="none">
            <a:noAutofit/>
          </a:bodyPr>
          <a:lstStyle>
            <a:lvl1pPr marL="0" indent="0">
              <a:spcAft>
                <a:spcPts val="0"/>
              </a:spcAft>
              <a:buNone/>
              <a:defRPr sz="24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Chapter title example</a:t>
            </a:r>
          </a:p>
        </p:txBody>
      </p:sp>
      <p:sp>
        <p:nvSpPr>
          <p:cNvPr id="23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11406268" y="2713569"/>
            <a:ext cx="355867" cy="307777"/>
          </a:xfrm>
        </p:spPr>
        <p:txBody>
          <a:bodyPr wrap="none">
            <a:spAutoFit/>
          </a:bodyPr>
          <a:lstStyle>
            <a:lvl1pPr marL="0" indent="0" algn="r">
              <a:spcAft>
                <a:spcPts val="0"/>
              </a:spcAft>
              <a:buNone/>
              <a:defRPr sz="20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2954745" y="3980771"/>
            <a:ext cx="397545" cy="369332"/>
          </a:xfrm>
        </p:spPr>
        <p:txBody>
          <a:bodyPr wrap="none">
            <a:spAutoFit/>
          </a:bodyPr>
          <a:lstStyle>
            <a:lvl1pPr marL="0" indent="0" algn="l"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8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3674348" y="3980771"/>
            <a:ext cx="7521210" cy="822960"/>
          </a:xfrm>
        </p:spPr>
        <p:txBody>
          <a:bodyPr wrap="none">
            <a:noAutofit/>
          </a:bodyPr>
          <a:lstStyle>
            <a:lvl1pPr marL="0" indent="0">
              <a:spcAft>
                <a:spcPts val="0"/>
              </a:spcAft>
              <a:buNone/>
              <a:defRPr sz="24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Chapter title example</a:t>
            </a:r>
          </a:p>
        </p:txBody>
      </p:sp>
      <p:sp>
        <p:nvSpPr>
          <p:cNvPr id="29" name="Text Placeholder 6"/>
          <p:cNvSpPr>
            <a:spLocks noGrp="1"/>
          </p:cNvSpPr>
          <p:nvPr>
            <p:ph type="body" sz="quarter" idx="24" hasCustomPrompt="1"/>
          </p:nvPr>
        </p:nvSpPr>
        <p:spPr>
          <a:xfrm>
            <a:off x="11406268" y="3980771"/>
            <a:ext cx="355867" cy="307777"/>
          </a:xfrm>
        </p:spPr>
        <p:txBody>
          <a:bodyPr wrap="none">
            <a:spAutoFit/>
          </a:bodyPr>
          <a:lstStyle>
            <a:lvl1pPr marL="0" indent="0" algn="r">
              <a:spcAft>
                <a:spcPts val="0"/>
              </a:spcAft>
              <a:buNone/>
              <a:defRPr sz="20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0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2954745" y="5247973"/>
            <a:ext cx="403957" cy="369332"/>
          </a:xfrm>
        </p:spPr>
        <p:txBody>
          <a:bodyPr wrap="none">
            <a:spAutoFit/>
          </a:bodyPr>
          <a:lstStyle>
            <a:lvl1pPr marL="0" indent="0" algn="l"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31" name="Text Placeholder 6"/>
          <p:cNvSpPr>
            <a:spLocks noGrp="1"/>
          </p:cNvSpPr>
          <p:nvPr>
            <p:ph type="body" sz="quarter" idx="26" hasCustomPrompt="1"/>
          </p:nvPr>
        </p:nvSpPr>
        <p:spPr>
          <a:xfrm>
            <a:off x="3674348" y="5247973"/>
            <a:ext cx="7521210" cy="822960"/>
          </a:xfrm>
        </p:spPr>
        <p:txBody>
          <a:bodyPr wrap="none">
            <a:noAutofit/>
          </a:bodyPr>
          <a:lstStyle>
            <a:lvl1pPr marL="0" indent="0">
              <a:spcAft>
                <a:spcPts val="0"/>
              </a:spcAft>
              <a:buNone/>
              <a:defRPr sz="24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Chapter title example</a:t>
            </a:r>
          </a:p>
        </p:txBody>
      </p:sp>
      <p:sp>
        <p:nvSpPr>
          <p:cNvPr id="32" name="Text Placeholder 6"/>
          <p:cNvSpPr>
            <a:spLocks noGrp="1"/>
          </p:cNvSpPr>
          <p:nvPr>
            <p:ph type="body" sz="quarter" idx="27" hasCustomPrompt="1"/>
          </p:nvPr>
        </p:nvSpPr>
        <p:spPr>
          <a:xfrm>
            <a:off x="11406268" y="5247973"/>
            <a:ext cx="355867" cy="307777"/>
          </a:xfrm>
        </p:spPr>
        <p:txBody>
          <a:bodyPr wrap="none">
            <a:spAutoFit/>
          </a:bodyPr>
          <a:lstStyle>
            <a:lvl1pPr marL="0" indent="0" algn="r">
              <a:spcAft>
                <a:spcPts val="0"/>
              </a:spcAft>
              <a:buNone/>
              <a:defRPr sz="20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28624" y="291451"/>
            <a:ext cx="11337925" cy="912315"/>
          </a:xfrm>
        </p:spPr>
        <p:txBody>
          <a:bodyPr/>
          <a:lstStyle>
            <a:lvl1pPr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/>
              <a:t>Contents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8625" y="6507907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anose="020B0604030504040204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hap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/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390098" y="389618"/>
            <a:ext cx="1376980" cy="1477328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4" name="Graphique 10"/>
          <p:cNvSpPr>
            <a:spLocks noChangeAspect="1"/>
          </p:cNvSpPr>
          <p:nvPr userDrawn="1"/>
        </p:nvSpPr>
        <p:spPr>
          <a:xfrm>
            <a:off x="10944224" y="6309897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accent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86976" y="1866946"/>
            <a:ext cx="7094047" cy="1929683"/>
          </a:xfrm>
        </p:spPr>
        <p:txBody>
          <a:bodyPr wrap="square">
            <a:noAutofit/>
          </a:bodyPr>
          <a:lstStyle>
            <a:lvl1pPr>
              <a:lnSpc>
                <a:spcPct val="100000"/>
              </a:lnSpc>
              <a:defRPr sz="5400">
                <a:solidFill>
                  <a:schemeClr val="accent3"/>
                </a:solidFill>
              </a:defRPr>
            </a:lvl1pPr>
          </a:lstStyle>
          <a:p>
            <a:r>
              <a:rPr lang="en-US"/>
              <a:t>Chapter title</a:t>
            </a:r>
            <a:br>
              <a:rPr lang="en-US"/>
            </a:br>
            <a:r>
              <a:rPr lang="en-US"/>
              <a:t>two lines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wo curv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/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 flipV="1">
            <a:off x="6588030" y="0"/>
            <a:ext cx="4884392" cy="4884392"/>
          </a:xfrm>
          <a:prstGeom prst="rect">
            <a:avLst/>
          </a:prstGeom>
        </p:spPr>
      </p:pic>
      <p:pic>
        <p:nvPicPr>
          <p:cNvPr id="8" name="Graphic 7"/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b="59594"/>
          <a:stretch>
            <a:fillRect/>
          </a:stretch>
        </p:blipFill>
        <p:spPr>
          <a:xfrm>
            <a:off x="1703638" y="4884393"/>
            <a:ext cx="4884392" cy="1973607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28625" y="4765675"/>
            <a:ext cx="3992904" cy="969962"/>
          </a:xfrm>
        </p:spPr>
        <p:txBody>
          <a:bodyPr wrap="none">
            <a:noAutofit/>
          </a:bodyPr>
          <a:lstStyle>
            <a:lvl1pPr marL="0" indent="0" algn="l">
              <a:spcAft>
                <a:spcPts val="0"/>
              </a:spcAft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Date</a:t>
            </a:r>
          </a:p>
        </p:txBody>
      </p:sp>
      <p:sp>
        <p:nvSpPr>
          <p:cNvPr id="4" name="Graphique 10"/>
          <p:cNvSpPr>
            <a:spLocks noChangeAspect="1"/>
          </p:cNvSpPr>
          <p:nvPr userDrawn="1"/>
        </p:nvSpPr>
        <p:spPr>
          <a:xfrm>
            <a:off x="9848292" y="5921362"/>
            <a:ext cx="1920640" cy="587312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2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1456679"/>
            <a:ext cx="6766560" cy="1844936"/>
          </a:xfrm>
        </p:spPr>
        <p:txBody>
          <a:bodyPr/>
          <a:lstStyle>
            <a:lvl1pPr marL="0" indent="0">
              <a:spcAft>
                <a:spcPts val="300"/>
              </a:spcAft>
              <a:buNone/>
              <a:defRPr sz="4400">
                <a:solidFill>
                  <a:schemeClr val="bg1"/>
                </a:solidFill>
                <a:latin typeface="+mj-lt"/>
              </a:defRPr>
            </a:lvl1pPr>
            <a:lvl2pPr marL="0" indent="0">
              <a:spcAft>
                <a:spcPts val="300"/>
              </a:spcAft>
              <a:buNone/>
              <a:defRPr sz="3200" baseline="0">
                <a:solidFill>
                  <a:schemeClr val="accent3"/>
                </a:solidFill>
                <a:latin typeface="+mj-lt"/>
              </a:defRPr>
            </a:lvl2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428625" y="2084535"/>
            <a:ext cx="6766560" cy="1217080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中文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ildergebnis fÃ¼r industrie 4.0 futuristisch"/>
          <p:cNvPicPr>
            <a:picLocks noChangeAspect="1" noChangeArrowheads="1"/>
          </p:cNvPicPr>
          <p:nvPr userDrawn="1"/>
        </p:nvPicPr>
        <p:blipFill rotWithShape="1">
          <a:blip r:embed="rId2" cstate="email"/>
          <a:srcRect/>
          <a:stretch>
            <a:fillRect/>
          </a:stretch>
        </p:blipFill>
        <p:spPr bwMode="auto">
          <a:xfrm>
            <a:off x="0" y="0"/>
            <a:ext cx="12192000" cy="6881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hteck 24"/>
          <p:cNvSpPr/>
          <p:nvPr userDrawn="1"/>
        </p:nvSpPr>
        <p:spPr>
          <a:xfrm>
            <a:off x="-4" y="0"/>
            <a:ext cx="12192000" cy="6881005"/>
          </a:xfrm>
          <a:prstGeom prst="rect">
            <a:avLst/>
          </a:prstGeom>
          <a:gradFill>
            <a:gsLst>
              <a:gs pos="42000">
                <a:schemeClr val="tx1">
                  <a:lumMod val="0"/>
                  <a:lumOff val="100000"/>
                </a:schemeClr>
              </a:gs>
              <a:gs pos="100000">
                <a:schemeClr val="bg1">
                  <a:alpha val="6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>
              <a:latin typeface="Verdana" panose="020B0604030504040204"/>
            </a:endParaRPr>
          </a:p>
        </p:txBody>
      </p:sp>
      <p:sp>
        <p:nvSpPr>
          <p:cNvPr id="5" name="object 2"/>
          <p:cNvSpPr/>
          <p:nvPr userDrawn="1"/>
        </p:nvSpPr>
        <p:spPr>
          <a:xfrm>
            <a:off x="5" y="6503027"/>
            <a:ext cx="390617" cy="0"/>
          </a:xfrm>
          <a:custGeom>
            <a:avLst/>
            <a:gdLst/>
            <a:ahLst/>
            <a:cxnLst/>
            <a:rect l="l" t="t" r="r" b="b"/>
            <a:pathLst>
              <a:path w="293370">
                <a:moveTo>
                  <a:pt x="0" y="0"/>
                </a:moveTo>
                <a:lnTo>
                  <a:pt x="293268" y="0"/>
                </a:lnTo>
              </a:path>
            </a:pathLst>
          </a:custGeom>
          <a:ln w="12700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12"/>
          <p:cNvSpPr/>
          <p:nvPr userDrawn="1"/>
        </p:nvSpPr>
        <p:spPr>
          <a:xfrm>
            <a:off x="5" y="518500"/>
            <a:ext cx="390617" cy="0"/>
          </a:xfrm>
          <a:custGeom>
            <a:avLst/>
            <a:gdLst/>
            <a:ahLst/>
            <a:cxnLst/>
            <a:rect l="l" t="t" r="r" b="b"/>
            <a:pathLst>
              <a:path w="293370">
                <a:moveTo>
                  <a:pt x="0" y="0"/>
                </a:moveTo>
                <a:lnTo>
                  <a:pt x="293268" y="0"/>
                </a:lnTo>
              </a:path>
            </a:pathLst>
          </a:custGeom>
          <a:ln w="12700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Picture 1" descr="Trusted Digital Partner w- Atos Logo blue blk.png"/>
          <p:cNvPicPr>
            <a:picLocks noChangeAspect="1"/>
          </p:cNvPicPr>
          <p:nvPr userDrawn="1"/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10970283" y="6294153"/>
            <a:ext cx="960924" cy="317975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98287" y="222339"/>
            <a:ext cx="11655040" cy="756000"/>
          </a:xfrm>
          <a:prstGeom prst="rect">
            <a:avLst/>
          </a:prstGeom>
        </p:spPr>
        <p:txBody>
          <a:bodyPr/>
          <a:lstStyle>
            <a:lvl1pPr>
              <a:defRPr sz="2935" b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Verdana" panose="020B0604030504040204" pitchFamily="34" charset="0"/>
              </a:defRPr>
            </a:lvl1pPr>
          </a:lstStyle>
          <a:p>
            <a:endParaRPr lang="nl-NL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988" y="6424099"/>
            <a:ext cx="2180299" cy="114767"/>
          </a:xfrm>
          <a:prstGeom prst="rect">
            <a:avLst/>
          </a:prstGeom>
        </p:spPr>
      </p:pic>
      <p:sp>
        <p:nvSpPr>
          <p:cNvPr id="13" name="Text Box 5"/>
          <p:cNvSpPr txBox="1">
            <a:spLocks noChangeArrowheads="1"/>
          </p:cNvSpPr>
          <p:nvPr userDrawn="1"/>
        </p:nvSpPr>
        <p:spPr bwMode="auto">
          <a:xfrm>
            <a:off x="-16213" y="6276266"/>
            <a:ext cx="825500" cy="339793"/>
          </a:xfrm>
          <a:prstGeom prst="rect">
            <a:avLst/>
          </a:prstGeom>
          <a:noFill/>
          <a:ln>
            <a:noFill/>
          </a:ln>
        </p:spPr>
        <p:txBody>
          <a:bodyPr lIns="133359" tIns="66685" rIns="133359" bIns="66685" anchor="ctr">
            <a:spAutoFit/>
          </a:bodyPr>
          <a:lstStyle>
            <a:lvl1pPr defTabSz="415925" eaLnBrk="0" hangingPunct="0">
              <a:tabLst>
                <a:tab pos="0" algn="l"/>
                <a:tab pos="847725" algn="l"/>
                <a:tab pos="1695450" algn="l"/>
                <a:tab pos="2543175" algn="l"/>
                <a:tab pos="3388995" algn="l"/>
                <a:tab pos="4238625" algn="l"/>
                <a:tab pos="5083175" algn="l"/>
                <a:tab pos="5934075" algn="l"/>
                <a:tab pos="6778625" algn="l"/>
                <a:tab pos="7627620" algn="l"/>
                <a:tab pos="8474075" algn="l"/>
                <a:tab pos="9316720" algn="l"/>
              </a:tabLst>
              <a:defRPr sz="2400">
                <a:solidFill>
                  <a:schemeClr val="tx1"/>
                </a:solidFill>
                <a:latin typeface="Lucida Sans Unicode" panose="020B0602030504020204" pitchFamily="34" charset="0"/>
                <a:ea typeface="MS PGothic" pitchFamily="34" charset="-128"/>
              </a:defRPr>
            </a:lvl1pPr>
            <a:lvl2pPr marL="742950" indent="-285750" defTabSz="415925" eaLnBrk="0" hangingPunct="0">
              <a:tabLst>
                <a:tab pos="0" algn="l"/>
                <a:tab pos="847725" algn="l"/>
                <a:tab pos="1695450" algn="l"/>
                <a:tab pos="2543175" algn="l"/>
                <a:tab pos="3388995" algn="l"/>
                <a:tab pos="4238625" algn="l"/>
                <a:tab pos="5083175" algn="l"/>
                <a:tab pos="5934075" algn="l"/>
                <a:tab pos="6778625" algn="l"/>
                <a:tab pos="7627620" algn="l"/>
                <a:tab pos="8474075" algn="l"/>
                <a:tab pos="9316720" algn="l"/>
              </a:tabLst>
              <a:defRPr sz="2400">
                <a:solidFill>
                  <a:schemeClr val="tx1"/>
                </a:solidFill>
                <a:latin typeface="Lucida Sans Unicode" panose="020B0602030504020204" pitchFamily="34" charset="0"/>
                <a:ea typeface="MS PGothic" pitchFamily="34" charset="-128"/>
              </a:defRPr>
            </a:lvl2pPr>
            <a:lvl3pPr marL="1143000" indent="-228600" defTabSz="415925" eaLnBrk="0" hangingPunct="0">
              <a:tabLst>
                <a:tab pos="0" algn="l"/>
                <a:tab pos="847725" algn="l"/>
                <a:tab pos="1695450" algn="l"/>
                <a:tab pos="2543175" algn="l"/>
                <a:tab pos="3388995" algn="l"/>
                <a:tab pos="4238625" algn="l"/>
                <a:tab pos="5083175" algn="l"/>
                <a:tab pos="5934075" algn="l"/>
                <a:tab pos="6778625" algn="l"/>
                <a:tab pos="7627620" algn="l"/>
                <a:tab pos="8474075" algn="l"/>
                <a:tab pos="9316720" algn="l"/>
              </a:tabLst>
              <a:defRPr sz="2400">
                <a:solidFill>
                  <a:schemeClr val="tx1"/>
                </a:solidFill>
                <a:latin typeface="Lucida Sans Unicode" panose="020B0602030504020204" pitchFamily="34" charset="0"/>
                <a:ea typeface="MS PGothic" pitchFamily="34" charset="-128"/>
              </a:defRPr>
            </a:lvl3pPr>
            <a:lvl4pPr marL="1600200" indent="-228600" defTabSz="415925" eaLnBrk="0" hangingPunct="0">
              <a:tabLst>
                <a:tab pos="0" algn="l"/>
                <a:tab pos="847725" algn="l"/>
                <a:tab pos="1695450" algn="l"/>
                <a:tab pos="2543175" algn="l"/>
                <a:tab pos="3388995" algn="l"/>
                <a:tab pos="4238625" algn="l"/>
                <a:tab pos="5083175" algn="l"/>
                <a:tab pos="5934075" algn="l"/>
                <a:tab pos="6778625" algn="l"/>
                <a:tab pos="7627620" algn="l"/>
                <a:tab pos="8474075" algn="l"/>
                <a:tab pos="9316720" algn="l"/>
              </a:tabLst>
              <a:defRPr sz="2400">
                <a:solidFill>
                  <a:schemeClr val="tx1"/>
                </a:solidFill>
                <a:latin typeface="Lucida Sans Unicode" panose="020B0602030504020204" pitchFamily="34" charset="0"/>
                <a:ea typeface="MS PGothic" pitchFamily="34" charset="-128"/>
              </a:defRPr>
            </a:lvl4pPr>
            <a:lvl5pPr marL="2057400" indent="-228600" defTabSz="415925" eaLnBrk="0" hangingPunct="0">
              <a:tabLst>
                <a:tab pos="0" algn="l"/>
                <a:tab pos="847725" algn="l"/>
                <a:tab pos="1695450" algn="l"/>
                <a:tab pos="2543175" algn="l"/>
                <a:tab pos="3388995" algn="l"/>
                <a:tab pos="4238625" algn="l"/>
                <a:tab pos="5083175" algn="l"/>
                <a:tab pos="5934075" algn="l"/>
                <a:tab pos="6778625" algn="l"/>
                <a:tab pos="7627620" algn="l"/>
                <a:tab pos="8474075" algn="l"/>
                <a:tab pos="9316720" algn="l"/>
              </a:tabLst>
              <a:defRPr sz="2400">
                <a:solidFill>
                  <a:schemeClr val="tx1"/>
                </a:solidFill>
                <a:latin typeface="Lucida Sans Unicode" panose="020B0602030504020204" pitchFamily="34" charset="0"/>
                <a:ea typeface="MS PGothic" pitchFamily="34" charset="-128"/>
              </a:defRPr>
            </a:lvl5pPr>
            <a:lvl6pPr marL="2514600" indent="-228600" defTabSz="41592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847725" algn="l"/>
                <a:tab pos="1695450" algn="l"/>
                <a:tab pos="2543175" algn="l"/>
                <a:tab pos="3388995" algn="l"/>
                <a:tab pos="4238625" algn="l"/>
                <a:tab pos="5083175" algn="l"/>
                <a:tab pos="5934075" algn="l"/>
                <a:tab pos="6778625" algn="l"/>
                <a:tab pos="7627620" algn="l"/>
                <a:tab pos="8474075" algn="l"/>
                <a:tab pos="9316720" algn="l"/>
              </a:tabLst>
              <a:defRPr sz="2400">
                <a:solidFill>
                  <a:schemeClr val="tx1"/>
                </a:solidFill>
                <a:latin typeface="Lucida Sans Unicode" panose="020B0602030504020204" pitchFamily="34" charset="0"/>
                <a:ea typeface="MS PGothic" pitchFamily="34" charset="-128"/>
              </a:defRPr>
            </a:lvl6pPr>
            <a:lvl7pPr marL="2971800" indent="-228600" defTabSz="41592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847725" algn="l"/>
                <a:tab pos="1695450" algn="l"/>
                <a:tab pos="2543175" algn="l"/>
                <a:tab pos="3388995" algn="l"/>
                <a:tab pos="4238625" algn="l"/>
                <a:tab pos="5083175" algn="l"/>
                <a:tab pos="5934075" algn="l"/>
                <a:tab pos="6778625" algn="l"/>
                <a:tab pos="7627620" algn="l"/>
                <a:tab pos="8474075" algn="l"/>
                <a:tab pos="9316720" algn="l"/>
              </a:tabLst>
              <a:defRPr sz="2400">
                <a:solidFill>
                  <a:schemeClr val="tx1"/>
                </a:solidFill>
                <a:latin typeface="Lucida Sans Unicode" panose="020B0602030504020204" pitchFamily="34" charset="0"/>
                <a:ea typeface="MS PGothic" pitchFamily="34" charset="-128"/>
              </a:defRPr>
            </a:lvl7pPr>
            <a:lvl8pPr marL="3429000" indent="-228600" defTabSz="41592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847725" algn="l"/>
                <a:tab pos="1695450" algn="l"/>
                <a:tab pos="2543175" algn="l"/>
                <a:tab pos="3388995" algn="l"/>
                <a:tab pos="4238625" algn="l"/>
                <a:tab pos="5083175" algn="l"/>
                <a:tab pos="5934075" algn="l"/>
                <a:tab pos="6778625" algn="l"/>
                <a:tab pos="7627620" algn="l"/>
                <a:tab pos="8474075" algn="l"/>
                <a:tab pos="9316720" algn="l"/>
              </a:tabLst>
              <a:defRPr sz="2400">
                <a:solidFill>
                  <a:schemeClr val="tx1"/>
                </a:solidFill>
                <a:latin typeface="Lucida Sans Unicode" panose="020B0602030504020204" pitchFamily="34" charset="0"/>
                <a:ea typeface="MS PGothic" pitchFamily="34" charset="-128"/>
              </a:defRPr>
            </a:lvl8pPr>
            <a:lvl9pPr marL="3886200" indent="-228600" defTabSz="41592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847725" algn="l"/>
                <a:tab pos="1695450" algn="l"/>
                <a:tab pos="2543175" algn="l"/>
                <a:tab pos="3388995" algn="l"/>
                <a:tab pos="4238625" algn="l"/>
                <a:tab pos="5083175" algn="l"/>
                <a:tab pos="5934075" algn="l"/>
                <a:tab pos="6778625" algn="l"/>
                <a:tab pos="7627620" algn="l"/>
                <a:tab pos="8474075" algn="l"/>
                <a:tab pos="9316720" algn="l"/>
              </a:tabLst>
              <a:defRPr sz="2400">
                <a:solidFill>
                  <a:schemeClr val="tx1"/>
                </a:solidFill>
                <a:latin typeface="Lucida Sans Unicode" panose="020B0602030504020204" pitchFamily="34" charset="0"/>
                <a:ea typeface="MS PGothic" pitchFamily="34" charset="-128"/>
              </a:defRPr>
            </a:lvl9pPr>
          </a:lstStyle>
          <a:p>
            <a:pPr algn="r" eaLnBrk="1" hangingPunct="1">
              <a:spcBef>
                <a:spcPts val="61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fld id="{6632A639-65F6-44E7-9705-34D092A42112}" type="slidenum">
              <a:rPr lang="en-US" sz="1335" smtClean="0">
                <a:solidFill>
                  <a:schemeClr val="accent1"/>
                </a:solidFill>
                <a:latin typeface="+mj-lt"/>
                <a:ea typeface="Verdana" panose="020B0604030504040204" pitchFamily="34" charset="0"/>
                <a:cs typeface="+mn-cs"/>
              </a:rPr>
              <a:t>‹#›</a:t>
            </a:fld>
            <a:endParaRPr lang="en-US" sz="1335">
              <a:solidFill>
                <a:schemeClr val="accent1"/>
              </a:solidFill>
              <a:latin typeface="+mj-lt"/>
              <a:ea typeface="Verdana" panose="020B0604030504040204" pitchFamily="34" charset="0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0400" y="6326136"/>
            <a:ext cx="591024" cy="2880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5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DAF489CC-3B7A-4DA5-A8C0-4984788D0EC5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320400" y="164637"/>
            <a:ext cx="11632251" cy="960107"/>
          </a:xfrm>
        </p:spPr>
        <p:txBody>
          <a:bodyPr lIns="0" rIns="0"/>
          <a:lstStyle>
            <a:lvl1pPr>
              <a:defRPr sz="2400">
                <a:solidFill>
                  <a:srgbClr val="0066A1"/>
                </a:solidFill>
              </a:defRPr>
            </a:lvl1pPr>
          </a:lstStyle>
          <a:p>
            <a:r>
              <a:rPr lang="en-US" dirty="0"/>
              <a:t>Click to edit the header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One column - char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 pattern&#10;&#10;Description automatically generated with low confidence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 bwMode="invGray">
          <a:xfrm>
            <a:off x="316799" y="471915"/>
            <a:ext cx="11484000" cy="343237"/>
          </a:xfrm>
          <a:prstGeom prst="rect">
            <a:avLst/>
          </a:prstGeom>
        </p:spPr>
        <p:txBody>
          <a:bodyPr anchor="t">
            <a:spAutoFit/>
          </a:bodyPr>
          <a:lstStyle>
            <a:lvl1pPr>
              <a:defRPr sz="2200">
                <a:solidFill>
                  <a:srgbClr val="000000"/>
                </a:solidFill>
                <a:latin typeface="Montserrat Bold" panose="000008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0"/>
          </p:nvPr>
        </p:nvSpPr>
        <p:spPr bwMode="invGray">
          <a:xfrm>
            <a:off x="316799" y="830931"/>
            <a:ext cx="11484000" cy="338554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600">
                <a:solidFill>
                  <a:srgbClr val="000000"/>
                </a:solidFill>
                <a:latin typeface="Montserrat SemiBold" pitchFamily="2" charset="0"/>
              </a:defRPr>
            </a:lvl1pPr>
          </a:lstStyle>
          <a:p>
            <a:pPr lvl="0"/>
            <a:endParaRPr lang="en-US"/>
          </a:p>
        </p:txBody>
      </p:sp>
      <p:pic>
        <p:nvPicPr>
          <p:cNvPr id="3" name="Graphic 2"/>
          <p:cNvPicPr>
            <a:picLocks noChangeAspect="1"/>
          </p:cNvPicPr>
          <p:nvPr userDrawn="1"/>
        </p:nvPicPr>
        <p:blipFill>
          <a:blip cstate="print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4338" y="6261619"/>
            <a:ext cx="1111378" cy="198900"/>
          </a:xfrm>
          <a:prstGeom prst="rect">
            <a:avLst/>
          </a:prstGeom>
        </p:spPr>
      </p:pic>
      <p:sp>
        <p:nvSpPr>
          <p:cNvPr id="4" name="Slide Number Placeholder 10"/>
          <p:cNvSpPr txBox="1"/>
          <p:nvPr userDrawn="1"/>
        </p:nvSpPr>
        <p:spPr>
          <a:xfrm>
            <a:off x="11429230" y="6298599"/>
            <a:ext cx="458064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nl-NL"/>
            </a:defPPr>
            <a:lvl1pPr marL="0" algn="l" defTabSz="914400" rtl="0" eaLnBrk="1" latinLnBrk="0" hangingPunct="1">
              <a:defRPr lang="nl-NL" sz="1200" kern="1200" smtClean="0">
                <a:solidFill>
                  <a:srgbClr val="FF6D43"/>
                </a:solidFill>
                <a:latin typeface="Montserrat SemiBold" pitchFamily="2" charset="0"/>
                <a:ea typeface="Verdana" panose="020B0604030504040204" pitchFamily="34" charset="0"/>
                <a:cs typeface="Montserrat SemiBold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DAF489CC-3B7A-4DA5-A8C0-4984788D0EC5}" type="slidenum">
              <a:rPr lang="en-IN" smtClean="0"/>
              <a:t>‹#›</a:t>
            </a:fld>
            <a:endParaRPr lang="en-IN"/>
          </a:p>
        </p:txBody>
      </p:sp>
      <p:sp>
        <p:nvSpPr>
          <p:cNvPr id="5" name="AddCustomFooter#1"/>
          <p:cNvSpPr txBox="1"/>
          <p:nvPr userDrawn="1"/>
        </p:nvSpPr>
        <p:spPr bwMode="invGray">
          <a:xfrm>
            <a:off x="5793038" y="6384973"/>
            <a:ext cx="605935" cy="10002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90500" algn="l"/>
              </a:tabLst>
              <a:defRPr/>
            </a:pPr>
            <a:r>
              <a:rPr kumimoji="0" lang="en-US" sz="65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© </a:t>
            </a:r>
            <a:r>
              <a:rPr kumimoji="0" lang="fr-FR" sz="65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EVIDEN</a:t>
            </a:r>
            <a:r>
              <a:rPr kumimoji="0" lang="en-US" sz="65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 SAS</a:t>
            </a:r>
            <a:endParaRPr lang="nl-NL" sz="650" baseline="0">
              <a:solidFill>
                <a:schemeClr val="bg1">
                  <a:lumMod val="50000"/>
                </a:schemeClr>
              </a:solidFill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8624" y="291452"/>
            <a:ext cx="11337925" cy="79656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8624" y="1446212"/>
            <a:ext cx="11337926" cy="46307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  <a:p>
            <a:pPr marL="1143000" marR="0" lvl="4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lang="en-US"/>
              <a:t>Level 05</a:t>
            </a:r>
          </a:p>
          <a:p>
            <a:pPr marL="1371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lang="en-US"/>
              <a:t>Level 06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8625" y="6517632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anose="020B0604030504040204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t>‹#›</a:t>
            </a:fld>
            <a:endParaRPr lang="nl-NL"/>
          </a:p>
        </p:txBody>
      </p:sp>
      <p:sp>
        <p:nvSpPr>
          <p:cNvPr id="7" name="AddCustomFooter#1"/>
          <p:cNvSpPr txBox="1"/>
          <p:nvPr userDrawn="1"/>
        </p:nvSpPr>
        <p:spPr bwMode="gray">
          <a:xfrm>
            <a:off x="428625" y="6517632"/>
            <a:ext cx="135421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74320" algn="l"/>
                <a:tab pos="411480" algn="l"/>
              </a:tabLst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	Atos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Confidential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endParaRPr lang="nl-NL" sz="900" baseline="0" dirty="0">
              <a:solidFill>
                <a:schemeClr val="accent3"/>
              </a:solidFill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Graphique 10" descr="Atos logo"/>
          <p:cNvSpPr>
            <a:spLocks noChangeAspect="1"/>
          </p:cNvSpPr>
          <p:nvPr userDrawn="1"/>
        </p:nvSpPr>
        <p:spPr>
          <a:xfrm>
            <a:off x="10944224" y="6446085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accent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accent3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accent3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accent3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accent3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None/>
        <a:defRPr sz="16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0200" indent="9144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slideLayout" Target="../slideLayouts/slideLayout2.xml"/><Relationship Id="rId18" Type="http://schemas.openxmlformats.org/officeDocument/2006/relationships/image" Target="../media/image18.png"/><Relationship Id="rId3" Type="http://schemas.openxmlformats.org/officeDocument/2006/relationships/tags" Target="../tags/tag3.xml"/><Relationship Id="rId21" Type="http://schemas.openxmlformats.org/officeDocument/2006/relationships/image" Target="../media/image21.png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image" Target="../media/image17.png"/><Relationship Id="rId2" Type="http://schemas.openxmlformats.org/officeDocument/2006/relationships/tags" Target="../tags/tag2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image" Target="../media/image15.png"/><Relationship Id="rId10" Type="http://schemas.openxmlformats.org/officeDocument/2006/relationships/tags" Target="../tags/tag10.xml"/><Relationship Id="rId19" Type="http://schemas.openxmlformats.org/officeDocument/2006/relationships/image" Target="../media/image19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notesSlide" Target="../notesSlides/notesSlide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20.xml"/><Relationship Id="rId13" Type="http://schemas.openxmlformats.org/officeDocument/2006/relationships/package" Target="../embeddings/Microsoft_Excel_Worksheet1.xlsx"/><Relationship Id="rId3" Type="http://schemas.openxmlformats.org/officeDocument/2006/relationships/tags" Target="../tags/tag15.xml"/><Relationship Id="rId7" Type="http://schemas.openxmlformats.org/officeDocument/2006/relationships/tags" Target="../tags/tag19.xml"/><Relationship Id="rId12" Type="http://schemas.openxmlformats.org/officeDocument/2006/relationships/notesSlide" Target="../notesSlides/notesSlide14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tags" Target="../tags/tag18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17.xml"/><Relationship Id="rId10" Type="http://schemas.openxmlformats.org/officeDocument/2006/relationships/tags" Target="../tags/tag22.xml"/><Relationship Id="rId4" Type="http://schemas.openxmlformats.org/officeDocument/2006/relationships/tags" Target="../tags/tag16.xml"/><Relationship Id="rId9" Type="http://schemas.openxmlformats.org/officeDocument/2006/relationships/tags" Target="../tags/tag21.xml"/><Relationship Id="rId14" Type="http://schemas.openxmlformats.org/officeDocument/2006/relationships/image" Target="../media/image23.e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423068" y="1847166"/>
            <a:ext cx="5486400" cy="1581833"/>
          </a:xfrm>
        </p:spPr>
        <p:txBody>
          <a:bodyPr/>
          <a:lstStyle/>
          <a:p>
            <a:r>
              <a:rPr lang="zh-CN" altLang="en-US" dirty="0"/>
              <a:t>法定财务合并建设专项方案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423068" y="4077251"/>
            <a:ext cx="5486400" cy="1121887"/>
          </a:xfrm>
        </p:spPr>
        <p:txBody>
          <a:bodyPr/>
          <a:lstStyle/>
          <a:p>
            <a:r>
              <a:rPr lang="zh-CN" altLang="en-US" dirty="0"/>
              <a:t>业务诊断咨询及</a:t>
            </a:r>
            <a:r>
              <a:rPr lang="en-US" altLang="zh-CN" dirty="0"/>
              <a:t>SAP</a:t>
            </a:r>
            <a:r>
              <a:rPr lang="zh-CN" altLang="en-US" dirty="0"/>
              <a:t>系统升级实施项目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5"/>
          </p:nvPr>
        </p:nvSpPr>
        <p:spPr>
          <a:xfrm>
            <a:off x="423068" y="5491978"/>
            <a:ext cx="3657600" cy="640080"/>
          </a:xfrm>
        </p:spPr>
        <p:txBody>
          <a:bodyPr/>
          <a:lstStyle/>
          <a:p>
            <a:r>
              <a:rPr lang="en-US" altLang="zh-CN" dirty="0"/>
              <a:t>2026.08.04</a:t>
            </a:r>
            <a:endParaRPr lang="zh-CN" altLang="en-US" dirty="0"/>
          </a:p>
        </p:txBody>
      </p:sp>
      <p:pic>
        <p:nvPicPr>
          <p:cNvPr id="10" name="Picture Placeholder 14"/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3" cstate="screen"/>
          <a:srcRect l="107" r="107"/>
          <a:stretch>
            <a:fillRect/>
          </a:stretch>
        </p:blipFill>
        <p:spPr bwMode="black"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068" y="340653"/>
            <a:ext cx="19304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/>
          </p:nvPr>
        </p:nvSpPr>
        <p:spPr>
          <a:xfrm>
            <a:off x="2954745" y="1446367"/>
            <a:ext cx="310983" cy="369332"/>
          </a:xfrm>
        </p:spPr>
        <p:txBody>
          <a:bodyPr/>
          <a:lstStyle/>
          <a:p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专项方案概述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</p:nvPr>
        </p:nvSpPr>
        <p:spPr>
          <a:xfrm>
            <a:off x="2954745" y="2713569"/>
            <a:ext cx="310983" cy="369332"/>
          </a:xfrm>
        </p:spPr>
        <p:txBody>
          <a:bodyPr/>
          <a:lstStyle/>
          <a:p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zh-CN" altLang="en-US" dirty="0"/>
              <a:t>方案详解及系统实现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22"/>
          </p:nvPr>
        </p:nvSpPr>
        <p:spPr>
          <a:xfrm>
            <a:off x="2954745" y="3980771"/>
            <a:ext cx="310983" cy="369332"/>
          </a:xfrm>
        </p:spPr>
        <p:txBody>
          <a:bodyPr/>
          <a:lstStyle/>
          <a:p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zh-CN" altLang="en-US" dirty="0"/>
              <a:t>配套行动计划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9" name="文本占位符 18"/>
          <p:cNvSpPr>
            <a:spLocks noGrp="1"/>
          </p:cNvSpPr>
          <p:nvPr>
            <p:ph type="body" sz="quarter" idx="25"/>
          </p:nvPr>
        </p:nvSpPr>
        <p:spPr>
          <a:xfrm>
            <a:off x="2954745" y="5247973"/>
            <a:ext cx="310983" cy="369332"/>
          </a:xfrm>
        </p:spPr>
        <p:txBody>
          <a:bodyPr/>
          <a:lstStyle/>
          <a:p>
            <a:r>
              <a:rPr lang="en-US" altLang="zh-CN" dirty="0"/>
              <a:t>04</a:t>
            </a:r>
            <a:endParaRPr lang="zh-CN" altLang="en-US" dirty="0"/>
          </a:p>
        </p:txBody>
      </p:sp>
      <p:sp>
        <p:nvSpPr>
          <p:cNvPr id="20" name="文本占位符 19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zh-CN" altLang="en-US" dirty="0"/>
              <a:t>附录：相关文档及原始数据</a:t>
            </a:r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目录</a:t>
            </a:r>
            <a:endParaRPr lang="en-US" b="1"/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455" y="100951"/>
            <a:ext cx="19304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90098" y="389618"/>
            <a:ext cx="1247136" cy="1477328"/>
          </a:xfrm>
        </p:spPr>
        <p:txBody>
          <a:bodyPr/>
          <a:lstStyle/>
          <a:p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法定财务合并建设</a:t>
            </a:r>
            <a:r>
              <a:rPr lang="zh-CN" altLang="zh-CN" dirty="0"/>
              <a:t>专项方案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6" y="125649"/>
            <a:ext cx="1930400" cy="381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-1293962" y="2622430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kumimoji="1" lang="zh-CN" altLang="en-US" dirty="0" err="1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法定财务合并建设：</a:t>
            </a:r>
            <a:r>
              <a:rPr lang="zh-CN" altLang="en-US" dirty="0"/>
              <a:t>方案总览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F489CC-3B7A-4DA5-A8C0-4984788D0EC5}" type="slidenum">
              <a:rPr lang="nl-NL" smtClean="0"/>
              <a:t>4</a:t>
            </a:fld>
            <a:endParaRPr lang="nl-NL"/>
          </a:p>
        </p:txBody>
      </p:sp>
      <p:sp>
        <p:nvSpPr>
          <p:cNvPr id="7" name="矩形 6"/>
          <p:cNvSpPr/>
          <p:nvPr/>
        </p:nvSpPr>
        <p:spPr>
          <a:xfrm>
            <a:off x="509577" y="1078301"/>
            <a:ext cx="7582000" cy="1768416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项目目标：</a:t>
            </a:r>
            <a:endParaRPr kumimoji="1" lang="en-US" altLang="zh-CN" sz="1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实现佛山照明</a:t>
            </a:r>
            <a:r>
              <a:rPr kumimoji="1"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FZ01</a:t>
            </a:r>
            <a:r>
              <a:rPr kumimoji="1"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各分子公司的法定合并功能，主要包括单体数据收集，货币换算，单体调整，合并抵消（往来，收入成本，固定资产，投资，手工抵消），并出具法定合并资产负债表，合并利润表，合并现金流量表，以及费用类四个附注。</a:t>
            </a:r>
            <a:endParaRPr kumimoji="1" lang="zh-CN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kumimoji="1"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kumimoji="1"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项目方案：</a:t>
            </a:r>
            <a:endParaRPr kumimoji="1" lang="en-US" altLang="zh-CN" sz="1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单体公司数据采集、以及单体调整，对账，单体自动或手工重分类。</a:t>
            </a:r>
            <a:endParaRPr kumimoji="1"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实现核心的抵消逻辑，包括往来抵消，收入成本费用抵消，投资抵消，存货抵消。</a:t>
            </a:r>
            <a:endParaRPr kumimoji="1"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出具核心合并报表。</a:t>
            </a:r>
            <a:endParaRPr kumimoji="1" lang="zh-CN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98949" y="3020370"/>
            <a:ext cx="2812522" cy="3076343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现状：</a:t>
            </a:r>
            <a:endParaRPr lang="zh-CN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人工加工报表，并人工</a:t>
            </a:r>
            <a:r>
              <a:rPr kumimoji="1"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excel</a:t>
            </a:r>
            <a:r>
              <a:rPr kumimoji="1"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合并抵消，效率和准确度受限。</a:t>
            </a:r>
            <a:endParaRPr kumimoji="1"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合并处理过程无系统支撑，业务规则没有软件</a:t>
            </a:r>
            <a:r>
              <a:rPr kumimoji="1" lang="en-US" altLang="zh-CN" sz="1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kumimoji="1"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系统固化。</a:t>
            </a:r>
            <a:endParaRPr kumimoji="1"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不利于满足审计的要求</a:t>
            </a:r>
            <a:endParaRPr kumimoji="1"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主要差距：</a:t>
            </a:r>
            <a:endParaRPr lang="zh-CN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无系统。</a:t>
            </a:r>
            <a:endParaRPr kumimoji="1"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合并报表人工加工处理，无法满足审计要求。</a:t>
            </a:r>
            <a:endParaRPr kumimoji="1"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集团月结效率相比系统的高度自动化有所差距。</a:t>
            </a:r>
            <a:endParaRPr kumimoji="1" lang="zh-CN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569079" y="3008094"/>
            <a:ext cx="4522498" cy="1132936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单体核算：</a:t>
            </a:r>
            <a:r>
              <a:rPr kumimoji="1"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各种内部抵消相关的业务需要自动派生内部交易贸易伙伴</a:t>
            </a:r>
            <a:endParaRPr kumimoji="1"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抵消逻辑固化：</a:t>
            </a:r>
            <a:r>
              <a:rPr kumimoji="1"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业务需按照会计准则的要求，系统清晰定义并实现各种抵消规则，并预留无法系统处理抵消逻辑，便于人工补充抵消和调整凭证。</a:t>
            </a:r>
            <a:endParaRPr kumimoji="1" lang="zh-CN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569079" y="4328297"/>
            <a:ext cx="4522498" cy="1768417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kumimoji="1"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合并组织架构：确定合并组织架构哦</a:t>
            </a:r>
            <a:endParaRPr kumimoji="1"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kumimoji="1"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数据采集方案：对使用</a:t>
            </a:r>
            <a:r>
              <a:rPr kumimoji="1"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SAP</a:t>
            </a:r>
            <a:r>
              <a:rPr kumimoji="1"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和不使用</a:t>
            </a:r>
            <a:r>
              <a:rPr kumimoji="1"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SAP</a:t>
            </a:r>
            <a:r>
              <a:rPr kumimoji="1"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的公司，提供对应的自动或者</a:t>
            </a:r>
            <a:r>
              <a:rPr kumimoji="1"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EXCEL</a:t>
            </a:r>
            <a:r>
              <a:rPr kumimoji="1"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采集单体数据的方案</a:t>
            </a:r>
            <a:endParaRPr kumimoji="1"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kumimoji="1"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重分类逻辑梳理和固化：梳理单体公司的重分类逻辑。</a:t>
            </a:r>
            <a:endParaRPr kumimoji="1"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kumimoji="1"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自动抵消规则：实现能自动抵消的业务规则。</a:t>
            </a:r>
            <a:endParaRPr kumimoji="1"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kumimoji="1"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报表出具：在抵消结果上基础上自动化出具合并报表</a:t>
            </a:r>
            <a:endParaRPr kumimoji="1" lang="zh-CN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399872" y="2128930"/>
            <a:ext cx="3282551" cy="1406388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8399872" y="4950372"/>
            <a:ext cx="3282551" cy="1146342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满足法定合并要求</a:t>
            </a:r>
            <a:endParaRPr kumimoji="1"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降低审计风险</a:t>
            </a:r>
            <a:endParaRPr kumimoji="1"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提高合并报表效率</a:t>
            </a:r>
            <a:endParaRPr kumimoji="1" lang="zh-CN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8399872" y="1078301"/>
            <a:ext cx="3282551" cy="840006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主责：</a:t>
            </a:r>
            <a:r>
              <a:rPr lang="zh-CN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集团财务部</a:t>
            </a:r>
            <a:endParaRPr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配合：</a:t>
            </a:r>
            <a:r>
              <a:rPr lang="zh-CN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数智化部、集团财务部</a:t>
            </a:r>
            <a:endParaRPr lang="zh-CN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外部：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艾维登</a:t>
            </a:r>
            <a:r>
              <a:rPr lang="zh-CN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DRC专家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泰国本地税务顾问</a:t>
            </a:r>
          </a:p>
        </p:txBody>
      </p:sp>
      <p:sp>
        <p:nvSpPr>
          <p:cNvPr id="15" name="矩形 14"/>
          <p:cNvSpPr/>
          <p:nvPr/>
        </p:nvSpPr>
        <p:spPr>
          <a:xfrm>
            <a:off x="8562025" y="900920"/>
            <a:ext cx="1039792" cy="2929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 </a:t>
            </a:r>
            <a:r>
              <a:rPr kumimoji="1"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责任部门</a:t>
            </a:r>
          </a:p>
        </p:txBody>
      </p:sp>
      <p:sp>
        <p:nvSpPr>
          <p:cNvPr id="16" name="矩形 15"/>
          <p:cNvSpPr/>
          <p:nvPr/>
        </p:nvSpPr>
        <p:spPr>
          <a:xfrm>
            <a:off x="8562025" y="1985697"/>
            <a:ext cx="1039792" cy="2929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 </a:t>
            </a:r>
            <a:r>
              <a:rPr kumimoji="1"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里程碑</a:t>
            </a:r>
          </a:p>
        </p:txBody>
      </p:sp>
      <p:sp>
        <p:nvSpPr>
          <p:cNvPr id="18" name="矩形 17"/>
          <p:cNvSpPr/>
          <p:nvPr/>
        </p:nvSpPr>
        <p:spPr>
          <a:xfrm>
            <a:off x="8508577" y="4803894"/>
            <a:ext cx="2100224" cy="2929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 </a:t>
            </a:r>
            <a:r>
              <a:rPr kumimoji="1"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业务价值和数字化指标</a:t>
            </a:r>
          </a:p>
        </p:txBody>
      </p:sp>
      <p:sp>
        <p:nvSpPr>
          <p:cNvPr id="19" name="矩形 18"/>
          <p:cNvSpPr/>
          <p:nvPr/>
        </p:nvSpPr>
        <p:spPr>
          <a:xfrm>
            <a:off x="3773854" y="4165122"/>
            <a:ext cx="1376734" cy="2929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kumimoji="1"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关键任务</a:t>
            </a:r>
          </a:p>
        </p:txBody>
      </p:sp>
      <p:sp>
        <p:nvSpPr>
          <p:cNvPr id="20" name="矩形 19"/>
          <p:cNvSpPr/>
          <p:nvPr/>
        </p:nvSpPr>
        <p:spPr>
          <a:xfrm>
            <a:off x="3790570" y="2913921"/>
            <a:ext cx="1376734" cy="2151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kumimoji="1"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业务变革</a:t>
            </a:r>
          </a:p>
        </p:txBody>
      </p:sp>
      <p:sp>
        <p:nvSpPr>
          <p:cNvPr id="21" name="矩形 20"/>
          <p:cNvSpPr/>
          <p:nvPr/>
        </p:nvSpPr>
        <p:spPr>
          <a:xfrm>
            <a:off x="690731" y="2905836"/>
            <a:ext cx="1376734" cy="2929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kumimoji="1"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现状</a:t>
            </a:r>
            <a:r>
              <a:rPr kumimoji="1"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1"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差距</a:t>
            </a:r>
          </a:p>
        </p:txBody>
      </p:sp>
      <p:sp>
        <p:nvSpPr>
          <p:cNvPr id="22" name="矩形 21"/>
          <p:cNvSpPr/>
          <p:nvPr/>
        </p:nvSpPr>
        <p:spPr>
          <a:xfrm>
            <a:off x="690731" y="916009"/>
            <a:ext cx="1376734" cy="2929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kumimoji="1"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目标和范围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862642" y="1552755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kumimoji="1" lang="zh-CN" altLang="en-US" dirty="0" err="1">
              <a:solidFill>
                <a:schemeClr val="accent3"/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824823" y="2665562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1964838" y="2363638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kumimoji="1" lang="zh-CN" altLang="en-US" sz="1000" dirty="0" err="1">
              <a:solidFill>
                <a:schemeClr val="accent3"/>
              </a:solidFill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8518896" y="2376115"/>
            <a:ext cx="10397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 配置</a:t>
            </a:r>
          </a:p>
        </p:txBody>
      </p:sp>
      <p:grpSp>
        <p:nvGrpSpPr>
          <p:cNvPr id="35" name="组合 34"/>
          <p:cNvGrpSpPr/>
          <p:nvPr/>
        </p:nvGrpSpPr>
        <p:grpSpPr>
          <a:xfrm>
            <a:off x="8678174" y="3102633"/>
            <a:ext cx="2717320" cy="117898"/>
            <a:chOff x="8678174" y="3102633"/>
            <a:chExt cx="2717320" cy="117898"/>
          </a:xfrm>
        </p:grpSpPr>
        <p:cxnSp>
          <p:nvCxnSpPr>
            <p:cNvPr id="25" name="直线箭头连接符 24"/>
            <p:cNvCxnSpPr/>
            <p:nvPr/>
          </p:nvCxnSpPr>
          <p:spPr>
            <a:xfrm>
              <a:off x="8678174" y="3157265"/>
              <a:ext cx="2717320" cy="0"/>
            </a:xfrm>
            <a:prstGeom prst="straightConnector1">
              <a:avLst/>
            </a:prstGeom>
            <a:ln w="28575">
              <a:solidFill>
                <a:srgbClr val="00336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椭圆 27"/>
            <p:cNvSpPr/>
            <p:nvPr/>
          </p:nvSpPr>
          <p:spPr>
            <a:xfrm>
              <a:off x="8987033" y="3105505"/>
              <a:ext cx="103520" cy="10352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0"/>
            </a:p>
          </p:txBody>
        </p:sp>
        <p:sp>
          <p:nvSpPr>
            <p:cNvPr id="32" name="椭圆 31"/>
            <p:cNvSpPr/>
            <p:nvPr/>
          </p:nvSpPr>
          <p:spPr>
            <a:xfrm>
              <a:off x="9984824" y="3102633"/>
              <a:ext cx="103520" cy="10352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0"/>
            </a:p>
          </p:txBody>
        </p:sp>
        <p:sp>
          <p:nvSpPr>
            <p:cNvPr id="33" name="椭圆 32"/>
            <p:cNvSpPr/>
            <p:nvPr/>
          </p:nvSpPr>
          <p:spPr>
            <a:xfrm>
              <a:off x="11034366" y="3117011"/>
              <a:ext cx="103520" cy="10352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0"/>
            </a:p>
          </p:txBody>
        </p:sp>
      </p:grpSp>
      <p:sp>
        <p:nvSpPr>
          <p:cNvPr id="34" name="文本框 33"/>
          <p:cNvSpPr txBox="1"/>
          <p:nvPr/>
        </p:nvSpPr>
        <p:spPr>
          <a:xfrm>
            <a:off x="10662249" y="2402789"/>
            <a:ext cx="10201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上线后首次合并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9682457" y="2376115"/>
            <a:ext cx="8331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集成测试</a:t>
            </a:r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8652294" y="6599208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kumimoji="1" lang="zh-CN" altLang="en-US" dirty="0" err="1">
              <a:solidFill>
                <a:schemeClr val="accent3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EC027D4-E7DB-5AAC-1CAB-05763E3976C7}"/>
              </a:ext>
            </a:extLst>
          </p:cNvPr>
          <p:cNvSpPr/>
          <p:nvPr/>
        </p:nvSpPr>
        <p:spPr>
          <a:xfrm>
            <a:off x="8399872" y="3766696"/>
            <a:ext cx="3282551" cy="986460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zh-CN" sz="10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kumimoji="1" lang="zh-CN" altLang="en-US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单体公司的内无往来和内部交易对账需要提升</a:t>
            </a:r>
            <a:endParaRPr kumimoji="1" lang="en-US" altLang="zh-CN" sz="10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跨系统自动化处理受限，影响系统支撑高效运营</a:t>
            </a:r>
            <a:endParaRPr kumimoji="1" lang="zh-CN" altLang="zh-CN" sz="10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zh-CN" altLang="zh-CN" sz="1000" dirty="0"/>
              <a:t>/中文）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6A7A109-186A-4B2A-A272-B410D342E4C0}"/>
              </a:ext>
            </a:extLst>
          </p:cNvPr>
          <p:cNvSpPr/>
          <p:nvPr/>
        </p:nvSpPr>
        <p:spPr>
          <a:xfrm>
            <a:off x="8562025" y="3586056"/>
            <a:ext cx="1643023" cy="2929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 </a:t>
            </a:r>
            <a:r>
              <a:rPr kumimoji="1" lang="zh-CN" altLang="en-US" sz="12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风险与项目依赖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90098" y="389618"/>
            <a:ext cx="1247136" cy="1477328"/>
          </a:xfrm>
        </p:spPr>
        <p:txBody>
          <a:bodyPr/>
          <a:lstStyle/>
          <a:p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方案详解及系统实现</a:t>
            </a:r>
            <a:br>
              <a:rPr lang="zh-CN" altLang="en-US" dirty="0"/>
            </a:b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6" y="125649"/>
            <a:ext cx="1930400" cy="381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-1293962" y="2622430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kumimoji="1" lang="zh-CN" altLang="en-US" dirty="0" err="1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矩形 679"/>
          <p:cNvSpPr/>
          <p:nvPr/>
        </p:nvSpPr>
        <p:spPr>
          <a:xfrm>
            <a:off x="9615714" y="1778000"/>
            <a:ext cx="2452915" cy="4228514"/>
          </a:xfrm>
          <a:prstGeom prst="rect">
            <a:avLst/>
          </a:prstGeom>
          <a:solidFill>
            <a:schemeClr val="bg2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  <p:sp>
        <p:nvSpPr>
          <p:cNvPr id="679" name="矩形 678"/>
          <p:cNvSpPr/>
          <p:nvPr/>
        </p:nvSpPr>
        <p:spPr>
          <a:xfrm>
            <a:off x="6945086" y="1778000"/>
            <a:ext cx="2597714" cy="4956629"/>
          </a:xfrm>
          <a:prstGeom prst="rect">
            <a:avLst/>
          </a:prstGeom>
          <a:solidFill>
            <a:schemeClr val="bg2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254" y="284298"/>
            <a:ext cx="11337925" cy="912315"/>
          </a:xfrm>
        </p:spPr>
        <p:txBody>
          <a:bodyPr/>
          <a:lstStyle/>
          <a:p>
            <a:r>
              <a:rPr lang="zh-CN" altLang="en-US" dirty="0"/>
              <a:t>法定合并组织架构</a:t>
            </a:r>
            <a:r>
              <a:rPr lang="en-US" dirty="0"/>
              <a:t> </a:t>
            </a:r>
            <a:endParaRPr dirty="0"/>
          </a:p>
        </p:txBody>
      </p:sp>
      <p:grpSp>
        <p:nvGrpSpPr>
          <p:cNvPr id="312" name="Shape101"/>
          <p:cNvGrpSpPr/>
          <p:nvPr/>
        </p:nvGrpSpPr>
        <p:grpSpPr>
          <a:xfrm>
            <a:off x="28718" y="1873467"/>
            <a:ext cx="396000" cy="1892400"/>
            <a:chOff x="-2463442" y="-44510"/>
            <a:chExt cx="456000" cy="1892400"/>
          </a:xfrm>
        </p:grpSpPr>
        <p:sp>
          <p:nvSpPr>
            <p:cNvPr id="313" name="Rectangle"/>
            <p:cNvSpPr/>
            <p:nvPr/>
          </p:nvSpPr>
          <p:spPr>
            <a:xfrm>
              <a:off x="-2463442" y="-44510"/>
              <a:ext cx="456000" cy="1892400"/>
            </a:xfrm>
            <a:custGeom>
              <a:avLst/>
              <a:gdLst/>
              <a:ahLst/>
              <a:cxnLst/>
              <a:rect l="l" t="t" r="r" b="b"/>
              <a:pathLst>
                <a:path w="456000" h="1892400" stroke="0">
                  <a:moveTo>
                    <a:pt x="53200" y="0"/>
                  </a:moveTo>
                  <a:lnTo>
                    <a:pt x="402800" y="0"/>
                  </a:lnTo>
                  <a:cubicBezTo>
                    <a:pt x="432166" y="0"/>
                    <a:pt x="456000" y="23834"/>
                    <a:pt x="456000" y="53200"/>
                  </a:cubicBezTo>
                  <a:lnTo>
                    <a:pt x="456000" y="1839200"/>
                  </a:lnTo>
                  <a:cubicBezTo>
                    <a:pt x="456000" y="1868566"/>
                    <a:pt x="432166" y="1892400"/>
                    <a:pt x="402800" y="1892400"/>
                  </a:cubicBezTo>
                  <a:lnTo>
                    <a:pt x="53200" y="1892400"/>
                  </a:lnTo>
                  <a:cubicBezTo>
                    <a:pt x="23834" y="1892400"/>
                    <a:pt x="0" y="1868566"/>
                    <a:pt x="0" y="1839200"/>
                  </a:cubicBezTo>
                  <a:lnTo>
                    <a:pt x="0" y="53200"/>
                  </a:lnTo>
                  <a:cubicBezTo>
                    <a:pt x="0" y="23834"/>
                    <a:pt x="23834" y="0"/>
                    <a:pt x="53200" y="0"/>
                  </a:cubicBezTo>
                  <a:close/>
                </a:path>
                <a:path w="456000" h="1892400" fill="none">
                  <a:moveTo>
                    <a:pt x="53200" y="0"/>
                  </a:moveTo>
                  <a:lnTo>
                    <a:pt x="402800" y="0"/>
                  </a:lnTo>
                  <a:cubicBezTo>
                    <a:pt x="432166" y="0"/>
                    <a:pt x="456000" y="23834"/>
                    <a:pt x="456000" y="53200"/>
                  </a:cubicBezTo>
                  <a:lnTo>
                    <a:pt x="456000" y="1839200"/>
                  </a:lnTo>
                  <a:cubicBezTo>
                    <a:pt x="456000" y="1868566"/>
                    <a:pt x="432166" y="1892400"/>
                    <a:pt x="402800" y="1892400"/>
                  </a:cubicBezTo>
                  <a:lnTo>
                    <a:pt x="53200" y="1892400"/>
                  </a:lnTo>
                  <a:cubicBezTo>
                    <a:pt x="23834" y="1892400"/>
                    <a:pt x="0" y="1868566"/>
                    <a:pt x="0" y="1839200"/>
                  </a:cubicBezTo>
                  <a:lnTo>
                    <a:pt x="0" y="53200"/>
                  </a:lnTo>
                  <a:cubicBezTo>
                    <a:pt x="0" y="23834"/>
                    <a:pt x="23834" y="0"/>
                    <a:pt x="53200" y="0"/>
                  </a:cubicBezTo>
                  <a:close/>
                </a:path>
              </a:pathLst>
            </a:custGeom>
            <a:solidFill>
              <a:srgbClr val="5CD3F3"/>
            </a:solidFill>
            <a:ln w="7600" cap="flat">
              <a:solidFill>
                <a:srgbClr val="419BB3"/>
              </a:solidFill>
              <a:round/>
            </a:ln>
          </p:spPr>
        </p:sp>
        <p:sp>
          <p:nvSpPr>
            <p:cNvPr id="624" name="Text 624"/>
            <p:cNvSpPr txBox="1"/>
            <p:nvPr/>
          </p:nvSpPr>
          <p:spPr>
            <a:xfrm>
              <a:off x="-2425442" y="229090"/>
              <a:ext cx="414545" cy="1337600"/>
            </a:xfrm>
            <a:prstGeom prst="rect">
              <a:avLst/>
            </a:prstGeom>
            <a:noFill/>
          </p:spPr>
          <p:txBody>
            <a:bodyPr wrap="square" lIns="38100" tIns="38100" rIns="38100" bIns="38100" rtlCol="0" anchor="ctr"/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10" b="0" i="0" u="none" strike="noStrike" kern="1200" cap="none" spc="0" normalizeH="0" baseline="0" noProof="0" dirty="0">
                  <a:ln>
                    <a:noFill/>
                  </a:ln>
                  <a:solidFill>
                    <a:srgbClr val="454545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</a:rPr>
                <a:t>佛山照明禅昌光电有限公司</a:t>
              </a:r>
              <a:endParaRPr kumimoji="0" lang="en-US" altLang="zh-CN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454545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</a:rPr>
                <a:t>FZ05</a:t>
              </a:r>
              <a:endPara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454545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</a:rPr>
                <a:t>100%</a:t>
              </a:r>
            </a:p>
          </p:txBody>
        </p:sp>
      </p:grpSp>
      <p:sp>
        <p:nvSpPr>
          <p:cNvPr id="537" name="ConnectLine"/>
          <p:cNvSpPr/>
          <p:nvPr/>
        </p:nvSpPr>
        <p:spPr>
          <a:xfrm flipH="1">
            <a:off x="6587822" y="3765867"/>
            <a:ext cx="45719" cy="387189"/>
          </a:xfrm>
          <a:custGeom>
            <a:avLst/>
            <a:gdLst/>
            <a:ahLst/>
            <a:cxnLst/>
            <a:rect l="l" t="t" r="r" b="b"/>
            <a:pathLst>
              <a:path w="7600" h="266000" fill="none">
                <a:moveTo>
                  <a:pt x="0" y="0"/>
                </a:moveTo>
                <a:lnTo>
                  <a:pt x="0" y="266000"/>
                </a:lnTo>
              </a:path>
            </a:pathLst>
          </a:custGeom>
          <a:noFill/>
          <a:ln w="7600" cap="flat">
            <a:solidFill>
              <a:srgbClr val="000000"/>
            </a:solidFill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  <p:sp>
        <p:nvSpPr>
          <p:cNvPr id="51" name="Rectangle"/>
          <p:cNvSpPr/>
          <p:nvPr/>
        </p:nvSpPr>
        <p:spPr>
          <a:xfrm>
            <a:off x="488918" y="1873467"/>
            <a:ext cx="396000" cy="1892400"/>
          </a:xfrm>
          <a:custGeom>
            <a:avLst/>
            <a:gdLst/>
            <a:ahLst/>
            <a:cxnLst/>
            <a:rect l="l" t="t" r="r" b="b"/>
            <a:pathLst>
              <a:path w="456000" h="1892400" stroke="0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  <a:path w="456000" h="1892400" fill="none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</a:pathLst>
          </a:custGeom>
          <a:solidFill>
            <a:srgbClr val="5CD3F3"/>
          </a:solidFill>
          <a:ln w="7600" cap="flat">
            <a:solidFill>
              <a:srgbClr val="419BB3"/>
            </a:solidFill>
            <a:round/>
          </a:ln>
        </p:spPr>
      </p:sp>
      <p:sp>
        <p:nvSpPr>
          <p:cNvPr id="53" name="Text 624"/>
          <p:cNvSpPr txBox="1"/>
          <p:nvPr/>
        </p:nvSpPr>
        <p:spPr>
          <a:xfrm>
            <a:off x="521918" y="2213589"/>
            <a:ext cx="330000" cy="133760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佛山泰美时代灯具有限公司</a:t>
            </a:r>
            <a:endParaRPr kumimoji="0" lang="en-US" altLang="zh-CN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FZ06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70</a:t>
            </a: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%</a:t>
            </a:r>
          </a:p>
        </p:txBody>
      </p:sp>
      <p:sp>
        <p:nvSpPr>
          <p:cNvPr id="55" name="Rectangle"/>
          <p:cNvSpPr/>
          <p:nvPr/>
        </p:nvSpPr>
        <p:spPr>
          <a:xfrm>
            <a:off x="941616" y="1873467"/>
            <a:ext cx="396000" cy="1892400"/>
          </a:xfrm>
          <a:custGeom>
            <a:avLst/>
            <a:gdLst/>
            <a:ahLst/>
            <a:cxnLst/>
            <a:rect l="l" t="t" r="r" b="b"/>
            <a:pathLst>
              <a:path w="456000" h="1892400" stroke="0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  <a:path w="456000" h="1892400" fill="none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</a:pathLst>
          </a:custGeom>
          <a:solidFill>
            <a:srgbClr val="5CD3F3"/>
          </a:solidFill>
          <a:ln w="7600" cap="flat">
            <a:solidFill>
              <a:srgbClr val="419BB3"/>
            </a:solidFill>
            <a:round/>
          </a:ln>
        </p:spPr>
      </p:sp>
      <p:sp>
        <p:nvSpPr>
          <p:cNvPr id="57" name="Text 624"/>
          <p:cNvSpPr txBox="1"/>
          <p:nvPr/>
        </p:nvSpPr>
        <p:spPr>
          <a:xfrm>
            <a:off x="974616" y="2213589"/>
            <a:ext cx="360000" cy="133760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南京佛照照明器材制造有限公司</a:t>
            </a:r>
            <a:endParaRPr kumimoji="0" lang="en-US" altLang="zh-CN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FZ11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100%</a:t>
            </a:r>
          </a:p>
        </p:txBody>
      </p:sp>
      <p:sp>
        <p:nvSpPr>
          <p:cNvPr id="59" name="Rectangle"/>
          <p:cNvSpPr/>
          <p:nvPr/>
        </p:nvSpPr>
        <p:spPr>
          <a:xfrm>
            <a:off x="1404085" y="1873467"/>
            <a:ext cx="396000" cy="1892400"/>
          </a:xfrm>
          <a:custGeom>
            <a:avLst/>
            <a:gdLst/>
            <a:ahLst/>
            <a:cxnLst/>
            <a:rect l="l" t="t" r="r" b="b"/>
            <a:pathLst>
              <a:path w="456000" h="1892400" stroke="0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  <a:path w="456000" h="1892400" fill="none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</a:pathLst>
          </a:custGeom>
          <a:solidFill>
            <a:srgbClr val="5CD3F3"/>
          </a:solidFill>
          <a:ln w="7600" cap="flat">
            <a:solidFill>
              <a:srgbClr val="419BB3"/>
            </a:solidFill>
            <a:round/>
          </a:ln>
        </p:spPr>
      </p:sp>
      <p:sp>
        <p:nvSpPr>
          <p:cNvPr id="61" name="Text 624"/>
          <p:cNvSpPr txBox="1"/>
          <p:nvPr/>
        </p:nvSpPr>
        <p:spPr>
          <a:xfrm>
            <a:off x="1437085" y="2213589"/>
            <a:ext cx="360000" cy="133760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佛山电器照明股份有限公司高明分公司</a:t>
            </a:r>
            <a:endParaRPr kumimoji="0" lang="en-US" altLang="zh-CN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FZ13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100%</a:t>
            </a:r>
          </a:p>
        </p:txBody>
      </p:sp>
      <p:sp>
        <p:nvSpPr>
          <p:cNvPr id="475" name="Rectangle"/>
          <p:cNvSpPr/>
          <p:nvPr/>
        </p:nvSpPr>
        <p:spPr>
          <a:xfrm>
            <a:off x="1848385" y="1873467"/>
            <a:ext cx="396000" cy="1892400"/>
          </a:xfrm>
          <a:custGeom>
            <a:avLst/>
            <a:gdLst/>
            <a:ahLst/>
            <a:cxnLst/>
            <a:rect l="l" t="t" r="r" b="b"/>
            <a:pathLst>
              <a:path w="456000" h="1892400" stroke="0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  <a:path w="456000" h="1892400" fill="none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</a:pathLst>
          </a:custGeom>
          <a:solidFill>
            <a:srgbClr val="5CD3F3"/>
          </a:solidFill>
          <a:ln w="7600" cap="flat">
            <a:solidFill>
              <a:srgbClr val="419BB3"/>
            </a:solidFill>
            <a:round/>
          </a:ln>
        </p:spPr>
      </p:sp>
      <p:sp>
        <p:nvSpPr>
          <p:cNvPr id="477" name="Text 624"/>
          <p:cNvSpPr txBox="1"/>
          <p:nvPr/>
        </p:nvSpPr>
        <p:spPr>
          <a:xfrm>
            <a:off x="1881385" y="2216241"/>
            <a:ext cx="360000" cy="133760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佛山电器照明股份有限公司高明灯具分公司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FZ14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100%</a:t>
            </a:r>
          </a:p>
        </p:txBody>
      </p:sp>
      <p:sp>
        <p:nvSpPr>
          <p:cNvPr id="479" name="Rectangle"/>
          <p:cNvSpPr/>
          <p:nvPr/>
        </p:nvSpPr>
        <p:spPr>
          <a:xfrm>
            <a:off x="2287385" y="1873467"/>
            <a:ext cx="396000" cy="1892400"/>
          </a:xfrm>
          <a:custGeom>
            <a:avLst/>
            <a:gdLst/>
            <a:ahLst/>
            <a:cxnLst/>
            <a:rect l="l" t="t" r="r" b="b"/>
            <a:pathLst>
              <a:path w="456000" h="1892400" stroke="0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  <a:path w="456000" h="1892400" fill="none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</a:pathLst>
          </a:custGeom>
          <a:solidFill>
            <a:srgbClr val="5CD3F3"/>
          </a:solidFill>
          <a:ln w="7600" cap="flat">
            <a:solidFill>
              <a:srgbClr val="419BB3"/>
            </a:solidFill>
            <a:round/>
          </a:ln>
        </p:spPr>
      </p:sp>
      <p:sp>
        <p:nvSpPr>
          <p:cNvPr id="481" name="Text 624"/>
          <p:cNvSpPr txBox="1"/>
          <p:nvPr/>
        </p:nvSpPr>
        <p:spPr>
          <a:xfrm>
            <a:off x="2320385" y="2213589"/>
            <a:ext cx="360000" cy="133760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佛山电器照明（新乡）灯光有限公司</a:t>
            </a:r>
            <a:endParaRPr kumimoji="0" lang="en-US" altLang="zh-CN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FZ18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100%</a:t>
            </a:r>
          </a:p>
        </p:txBody>
      </p:sp>
      <p:sp>
        <p:nvSpPr>
          <p:cNvPr id="485" name="Rectangle"/>
          <p:cNvSpPr/>
          <p:nvPr/>
        </p:nvSpPr>
        <p:spPr>
          <a:xfrm>
            <a:off x="2745517" y="1873467"/>
            <a:ext cx="396000" cy="1892400"/>
          </a:xfrm>
          <a:custGeom>
            <a:avLst/>
            <a:gdLst/>
            <a:ahLst/>
            <a:cxnLst/>
            <a:rect l="l" t="t" r="r" b="b"/>
            <a:pathLst>
              <a:path w="456000" h="1892400" stroke="0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  <a:path w="456000" h="1892400" fill="none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</a:pathLst>
          </a:custGeom>
          <a:solidFill>
            <a:srgbClr val="5CD3F3"/>
          </a:solidFill>
          <a:ln w="7600" cap="flat">
            <a:solidFill>
              <a:srgbClr val="419BB3"/>
            </a:solidFill>
            <a:round/>
          </a:ln>
        </p:spPr>
      </p:sp>
      <p:sp>
        <p:nvSpPr>
          <p:cNvPr id="487" name="Text 624"/>
          <p:cNvSpPr txBox="1"/>
          <p:nvPr/>
        </p:nvSpPr>
        <p:spPr>
          <a:xfrm>
            <a:off x="2778517" y="2204148"/>
            <a:ext cx="360000" cy="133760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佛山市佛照智城科技有限公司</a:t>
            </a:r>
            <a:endParaRPr kumimoji="0" lang="en-US" altLang="zh-CN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FZ19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100%</a:t>
            </a:r>
          </a:p>
        </p:txBody>
      </p:sp>
      <p:sp>
        <p:nvSpPr>
          <p:cNvPr id="491" name="Rectangle"/>
          <p:cNvSpPr/>
          <p:nvPr/>
        </p:nvSpPr>
        <p:spPr>
          <a:xfrm>
            <a:off x="3208517" y="1873467"/>
            <a:ext cx="396000" cy="1892400"/>
          </a:xfrm>
          <a:custGeom>
            <a:avLst/>
            <a:gdLst/>
            <a:ahLst/>
            <a:cxnLst/>
            <a:rect l="l" t="t" r="r" b="b"/>
            <a:pathLst>
              <a:path w="456000" h="1892400" stroke="0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  <a:path w="456000" h="1892400" fill="none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</a:pathLst>
          </a:custGeom>
          <a:solidFill>
            <a:srgbClr val="5CD3F3"/>
          </a:solidFill>
          <a:ln w="7600" cap="flat">
            <a:solidFill>
              <a:srgbClr val="419BB3"/>
            </a:solidFill>
            <a:round/>
          </a:ln>
        </p:spPr>
      </p:sp>
      <p:sp>
        <p:nvSpPr>
          <p:cNvPr id="493" name="Text 624"/>
          <p:cNvSpPr txBox="1"/>
          <p:nvPr/>
        </p:nvSpPr>
        <p:spPr>
          <a:xfrm>
            <a:off x="3222266" y="2116948"/>
            <a:ext cx="432000" cy="151200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佛 山</a:t>
            </a:r>
            <a:endParaRPr kumimoji="0" lang="en-US" altLang="zh-CN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照 明</a:t>
            </a:r>
            <a:endParaRPr kumimoji="0" lang="en-US" altLang="zh-CN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智 达</a:t>
            </a:r>
            <a:endParaRPr kumimoji="0" lang="en-US" altLang="zh-CN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电 工</a:t>
            </a:r>
            <a:endParaRPr kumimoji="0" lang="en-US" altLang="zh-CN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科 技</a:t>
            </a:r>
            <a:endParaRPr kumimoji="0" lang="en-US" altLang="zh-CN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有 限</a:t>
            </a:r>
            <a:endParaRPr kumimoji="0" lang="en-US" altLang="zh-CN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公 司</a:t>
            </a:r>
            <a:endParaRPr kumimoji="0" lang="en-US" altLang="zh-CN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FZ22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66.84</a:t>
            </a: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%</a:t>
            </a:r>
          </a:p>
        </p:txBody>
      </p:sp>
      <p:sp>
        <p:nvSpPr>
          <p:cNvPr id="495" name="Rectangle"/>
          <p:cNvSpPr/>
          <p:nvPr/>
        </p:nvSpPr>
        <p:spPr>
          <a:xfrm>
            <a:off x="3664011" y="1873467"/>
            <a:ext cx="396000" cy="1892400"/>
          </a:xfrm>
          <a:custGeom>
            <a:avLst/>
            <a:gdLst/>
            <a:ahLst/>
            <a:cxnLst/>
            <a:rect l="l" t="t" r="r" b="b"/>
            <a:pathLst>
              <a:path w="456000" h="1892400" stroke="0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  <a:path w="456000" h="1892400" fill="none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</a:pathLst>
          </a:custGeom>
          <a:solidFill>
            <a:srgbClr val="5CD3F3"/>
          </a:solidFill>
          <a:ln w="7600" cap="flat">
            <a:solidFill>
              <a:srgbClr val="419BB3"/>
            </a:solidFill>
            <a:round/>
          </a:ln>
        </p:spPr>
      </p:sp>
      <p:sp>
        <p:nvSpPr>
          <p:cNvPr id="497" name="Text 624"/>
          <p:cNvSpPr txBox="1"/>
          <p:nvPr/>
        </p:nvSpPr>
        <p:spPr>
          <a:xfrm>
            <a:off x="3671517" y="1937667"/>
            <a:ext cx="360000" cy="176400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佛山电器照明股份有限公司南海务庄分公司</a:t>
            </a:r>
            <a:endParaRPr kumimoji="0" lang="en-US" altLang="zh-CN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FZ23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100%</a:t>
            </a:r>
          </a:p>
        </p:txBody>
      </p:sp>
      <p:sp>
        <p:nvSpPr>
          <p:cNvPr id="499" name="Rectangle"/>
          <p:cNvSpPr/>
          <p:nvPr/>
        </p:nvSpPr>
        <p:spPr>
          <a:xfrm>
            <a:off x="4129881" y="1873467"/>
            <a:ext cx="396000" cy="1892400"/>
          </a:xfrm>
          <a:custGeom>
            <a:avLst/>
            <a:gdLst/>
            <a:ahLst/>
            <a:cxnLst/>
            <a:rect l="l" t="t" r="r" b="b"/>
            <a:pathLst>
              <a:path w="456000" h="1892400" stroke="0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  <a:path w="456000" h="1892400" fill="none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</a:pathLst>
          </a:custGeom>
          <a:solidFill>
            <a:srgbClr val="5CD3F3"/>
          </a:solidFill>
          <a:ln w="7600" cap="flat">
            <a:solidFill>
              <a:srgbClr val="419BB3"/>
            </a:solidFill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  <p:sp>
        <p:nvSpPr>
          <p:cNvPr id="501" name="Text 624"/>
          <p:cNvSpPr txBox="1"/>
          <p:nvPr/>
        </p:nvSpPr>
        <p:spPr>
          <a:xfrm>
            <a:off x="4162881" y="2213589"/>
            <a:ext cx="360000" cy="133760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广东省佛照光电有限公司</a:t>
            </a:r>
            <a:endParaRPr kumimoji="0" lang="en-US" altLang="zh-CN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FZ25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100%</a:t>
            </a:r>
          </a:p>
        </p:txBody>
      </p:sp>
      <p:sp>
        <p:nvSpPr>
          <p:cNvPr id="65" name="Rectangle"/>
          <p:cNvSpPr/>
          <p:nvPr/>
        </p:nvSpPr>
        <p:spPr>
          <a:xfrm>
            <a:off x="6436817" y="1873467"/>
            <a:ext cx="396000" cy="1892400"/>
          </a:xfrm>
          <a:custGeom>
            <a:avLst/>
            <a:gdLst/>
            <a:ahLst/>
            <a:cxnLst/>
            <a:rect l="l" t="t" r="r" b="b"/>
            <a:pathLst>
              <a:path w="456000" h="1892400" stroke="0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  <a:path w="456000" h="1892400" fill="none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</a:pathLst>
          </a:custGeom>
          <a:solidFill>
            <a:srgbClr val="5CD3F3"/>
          </a:solidFill>
          <a:ln w="7600" cap="flat">
            <a:solidFill>
              <a:srgbClr val="419BB3"/>
            </a:solidFill>
            <a:round/>
          </a:ln>
        </p:spPr>
      </p:sp>
      <p:sp>
        <p:nvSpPr>
          <p:cNvPr id="67" name="Text 624"/>
          <p:cNvSpPr txBox="1"/>
          <p:nvPr/>
        </p:nvSpPr>
        <p:spPr>
          <a:xfrm>
            <a:off x="6469817" y="2211744"/>
            <a:ext cx="360000" cy="133760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佛照（海南）科技有限公司</a:t>
            </a:r>
            <a:endParaRPr kumimoji="0" lang="en-US" altLang="zh-CN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FZ29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100%</a:t>
            </a:r>
          </a:p>
        </p:txBody>
      </p:sp>
      <p:sp>
        <p:nvSpPr>
          <p:cNvPr id="69" name="Rectangle"/>
          <p:cNvSpPr/>
          <p:nvPr/>
        </p:nvSpPr>
        <p:spPr>
          <a:xfrm>
            <a:off x="5041578" y="1873467"/>
            <a:ext cx="396000" cy="1892400"/>
          </a:xfrm>
          <a:custGeom>
            <a:avLst/>
            <a:gdLst/>
            <a:ahLst/>
            <a:cxnLst/>
            <a:rect l="l" t="t" r="r" b="b"/>
            <a:pathLst>
              <a:path w="456000" h="1892400" stroke="0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  <a:path w="456000" h="1892400" fill="none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</a:pathLst>
          </a:custGeom>
          <a:solidFill>
            <a:srgbClr val="5CD3F3"/>
          </a:solidFill>
          <a:ln w="7600" cap="flat">
            <a:solidFill>
              <a:srgbClr val="419BB3"/>
            </a:solidFill>
            <a:round/>
          </a:ln>
        </p:spPr>
      </p:sp>
      <p:sp>
        <p:nvSpPr>
          <p:cNvPr id="71" name="Text 624"/>
          <p:cNvSpPr txBox="1"/>
          <p:nvPr/>
        </p:nvSpPr>
        <p:spPr>
          <a:xfrm>
            <a:off x="5074578" y="2211744"/>
            <a:ext cx="360000" cy="133760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佛山科联新能源产业科技有限公司</a:t>
            </a:r>
            <a:endParaRPr kumimoji="0" lang="en-US" altLang="zh-CN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FZ30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100%</a:t>
            </a:r>
          </a:p>
        </p:txBody>
      </p:sp>
      <p:sp>
        <p:nvSpPr>
          <p:cNvPr id="77" name="Rectangle"/>
          <p:cNvSpPr/>
          <p:nvPr/>
        </p:nvSpPr>
        <p:spPr>
          <a:xfrm>
            <a:off x="5507550" y="1873467"/>
            <a:ext cx="396000" cy="1892400"/>
          </a:xfrm>
          <a:custGeom>
            <a:avLst/>
            <a:gdLst/>
            <a:ahLst/>
            <a:cxnLst/>
            <a:rect l="l" t="t" r="r" b="b"/>
            <a:pathLst>
              <a:path w="456000" h="1892400" stroke="0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  <a:path w="456000" h="1892400" fill="none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</a:pathLst>
          </a:custGeom>
          <a:solidFill>
            <a:srgbClr val="5CD3F3"/>
          </a:solidFill>
          <a:ln w="7600" cap="flat">
            <a:solidFill>
              <a:srgbClr val="419BB3"/>
            </a:solidFill>
            <a:round/>
          </a:ln>
        </p:spPr>
      </p:sp>
      <p:sp>
        <p:nvSpPr>
          <p:cNvPr id="79" name="Text 624"/>
          <p:cNvSpPr txBox="1"/>
          <p:nvPr/>
        </p:nvSpPr>
        <p:spPr>
          <a:xfrm>
            <a:off x="5540550" y="2228048"/>
            <a:ext cx="360000" cy="133760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佛山市西格玛创业投资有限公司</a:t>
            </a:r>
            <a:endParaRPr kumimoji="0" lang="en-US" altLang="zh-CN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FZ35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100%</a:t>
            </a:r>
          </a:p>
        </p:txBody>
      </p:sp>
      <p:sp>
        <p:nvSpPr>
          <p:cNvPr id="81" name="Rectangle"/>
          <p:cNvSpPr/>
          <p:nvPr/>
        </p:nvSpPr>
        <p:spPr>
          <a:xfrm>
            <a:off x="5969217" y="1873467"/>
            <a:ext cx="396000" cy="1892400"/>
          </a:xfrm>
          <a:custGeom>
            <a:avLst/>
            <a:gdLst/>
            <a:ahLst/>
            <a:cxnLst/>
            <a:rect l="l" t="t" r="r" b="b"/>
            <a:pathLst>
              <a:path w="456000" h="1892400" stroke="0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  <a:path w="456000" h="1892400" fill="none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</a:pathLst>
          </a:custGeom>
          <a:solidFill>
            <a:srgbClr val="5CD3F3"/>
          </a:solidFill>
          <a:ln w="7600" cap="flat">
            <a:solidFill>
              <a:srgbClr val="419BB3"/>
            </a:solidFill>
            <a:round/>
          </a:ln>
        </p:spPr>
      </p:sp>
      <p:sp>
        <p:nvSpPr>
          <p:cNvPr id="83" name="Text 624"/>
          <p:cNvSpPr txBox="1"/>
          <p:nvPr/>
        </p:nvSpPr>
        <p:spPr>
          <a:xfrm>
            <a:off x="6002217" y="2211744"/>
            <a:ext cx="360000" cy="133760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佛照华光（茂名）科技有限公司</a:t>
            </a:r>
            <a:endParaRPr kumimoji="0" lang="en-US" altLang="zh-CN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FZ36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100%</a:t>
            </a:r>
          </a:p>
        </p:txBody>
      </p:sp>
      <p:sp>
        <p:nvSpPr>
          <p:cNvPr id="87" name="Rectangle"/>
          <p:cNvSpPr/>
          <p:nvPr/>
        </p:nvSpPr>
        <p:spPr>
          <a:xfrm>
            <a:off x="4582161" y="1873467"/>
            <a:ext cx="396000" cy="1892400"/>
          </a:xfrm>
          <a:custGeom>
            <a:avLst/>
            <a:gdLst/>
            <a:ahLst/>
            <a:cxnLst/>
            <a:rect l="l" t="t" r="r" b="b"/>
            <a:pathLst>
              <a:path w="456000" h="1892400" stroke="0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  <a:path w="456000" h="1892400" fill="none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</a:pathLst>
          </a:custGeom>
          <a:solidFill>
            <a:srgbClr val="5CD3F3"/>
          </a:solidFill>
          <a:ln w="7600" cap="flat">
            <a:solidFill>
              <a:srgbClr val="419BB3"/>
            </a:solidFill>
            <a:round/>
          </a:ln>
        </p:spPr>
      </p:sp>
      <p:sp>
        <p:nvSpPr>
          <p:cNvPr id="89" name="Text 624"/>
          <p:cNvSpPr txBox="1"/>
          <p:nvPr/>
        </p:nvSpPr>
        <p:spPr>
          <a:xfrm>
            <a:off x="4615161" y="2211744"/>
            <a:ext cx="330000" cy="133760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广东航信航空设备有限公司</a:t>
            </a:r>
            <a:endParaRPr kumimoji="0" lang="en-US" altLang="zh-CN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FZ38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45</a:t>
            </a: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%</a:t>
            </a:r>
          </a:p>
        </p:txBody>
      </p:sp>
      <p:sp>
        <p:nvSpPr>
          <p:cNvPr id="99" name="Rectangle"/>
          <p:cNvSpPr/>
          <p:nvPr/>
        </p:nvSpPr>
        <p:spPr>
          <a:xfrm>
            <a:off x="8076466" y="1873467"/>
            <a:ext cx="396000" cy="1892400"/>
          </a:xfrm>
          <a:custGeom>
            <a:avLst/>
            <a:gdLst/>
            <a:ahLst/>
            <a:cxnLst/>
            <a:rect l="l" t="t" r="r" b="b"/>
            <a:pathLst>
              <a:path w="456000" h="1892400" stroke="0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  <a:path w="456000" h="1892400" fill="none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</a:pathLst>
          </a:custGeom>
          <a:solidFill>
            <a:srgbClr val="FFE2B0"/>
          </a:solidFill>
          <a:ln w="7600" cap="flat">
            <a:solidFill>
              <a:srgbClr val="419BB3"/>
            </a:solidFill>
            <a:round/>
          </a:ln>
        </p:spPr>
      </p:sp>
      <p:sp>
        <p:nvSpPr>
          <p:cNvPr id="101" name="Text 624"/>
          <p:cNvSpPr txBox="1"/>
          <p:nvPr/>
        </p:nvSpPr>
        <p:spPr>
          <a:xfrm>
            <a:off x="8087566" y="1964564"/>
            <a:ext cx="432000" cy="172800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南宁</a:t>
            </a:r>
            <a:endParaRPr kumimoji="0" lang="en-US" altLang="zh-CN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燎旺</a:t>
            </a:r>
            <a:endParaRPr kumimoji="0" lang="en-US" altLang="zh-CN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车灯</a:t>
            </a:r>
            <a:endParaRPr kumimoji="0" lang="en-US" altLang="zh-CN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股份</a:t>
            </a:r>
            <a:endParaRPr kumimoji="0" lang="en-US" altLang="zh-CN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有限</a:t>
            </a:r>
            <a:endParaRPr kumimoji="0" lang="en-US" altLang="zh-CN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公司</a:t>
            </a:r>
            <a:endParaRPr kumimoji="0" lang="en-US" altLang="zh-CN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1000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55.39</a:t>
            </a: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%</a:t>
            </a:r>
          </a:p>
        </p:txBody>
      </p:sp>
      <p:sp>
        <p:nvSpPr>
          <p:cNvPr id="105" name="Rectangle"/>
          <p:cNvSpPr/>
          <p:nvPr/>
        </p:nvSpPr>
        <p:spPr>
          <a:xfrm>
            <a:off x="10651315" y="1873467"/>
            <a:ext cx="396000" cy="1892400"/>
          </a:xfrm>
          <a:custGeom>
            <a:avLst/>
            <a:gdLst/>
            <a:ahLst/>
            <a:cxnLst/>
            <a:rect l="l" t="t" r="r" b="b"/>
            <a:pathLst>
              <a:path w="456000" h="1892400" stroke="0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  <a:path w="456000" h="1892400" fill="none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 w="7600" cap="flat">
            <a:solidFill>
              <a:srgbClr val="419BB3"/>
            </a:solidFill>
            <a:round/>
          </a:ln>
        </p:spPr>
      </p:sp>
      <p:sp>
        <p:nvSpPr>
          <p:cNvPr id="107" name="Text 624"/>
          <p:cNvSpPr txBox="1"/>
          <p:nvPr/>
        </p:nvSpPr>
        <p:spPr>
          <a:xfrm>
            <a:off x="10657101" y="2021263"/>
            <a:ext cx="468000" cy="158400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佛山</a:t>
            </a:r>
            <a:endParaRPr kumimoji="0" lang="en-US" altLang="zh-CN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市国</a:t>
            </a:r>
            <a:endParaRPr kumimoji="0" lang="en-US" altLang="zh-CN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星光</a:t>
            </a:r>
            <a:endParaRPr kumimoji="0" lang="en-US" altLang="zh-CN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电股</a:t>
            </a:r>
            <a:endParaRPr kumimoji="0" lang="en-US" altLang="zh-CN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份有</a:t>
            </a:r>
            <a:endParaRPr kumimoji="0" lang="en-US" altLang="zh-CN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限公</a:t>
            </a:r>
            <a:endParaRPr kumimoji="0" lang="en-US" altLang="zh-CN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司</a:t>
            </a:r>
            <a:endParaRPr kumimoji="0" lang="en-US" altLang="zh-CN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GX1000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21.48</a:t>
            </a: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%</a:t>
            </a:r>
          </a:p>
        </p:txBody>
      </p:sp>
      <p:sp>
        <p:nvSpPr>
          <p:cNvPr id="113" name="Rectangle"/>
          <p:cNvSpPr/>
          <p:nvPr/>
        </p:nvSpPr>
        <p:spPr>
          <a:xfrm>
            <a:off x="4129650" y="4102303"/>
            <a:ext cx="396000" cy="1892400"/>
          </a:xfrm>
          <a:custGeom>
            <a:avLst/>
            <a:gdLst/>
            <a:ahLst/>
            <a:cxnLst/>
            <a:rect l="l" t="t" r="r" b="b"/>
            <a:pathLst>
              <a:path w="456000" h="1892400" stroke="0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  <a:path w="456000" h="1892400" fill="none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64000"/>
            </a:schemeClr>
          </a:solidFill>
          <a:ln w="7600" cap="flat">
            <a:solidFill>
              <a:srgbClr val="419BB3"/>
            </a:solidFill>
            <a:round/>
          </a:ln>
        </p:spPr>
      </p:sp>
      <p:sp>
        <p:nvSpPr>
          <p:cNvPr id="115" name="Text 624"/>
          <p:cNvSpPr txBox="1"/>
          <p:nvPr/>
        </p:nvSpPr>
        <p:spPr>
          <a:xfrm>
            <a:off x="4162650" y="4375903"/>
            <a:ext cx="360000" cy="133760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国星光电（德国）有限公司</a:t>
            </a:r>
            <a:endParaRPr kumimoji="0" lang="en-US" altLang="zh-CN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FZ33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100%</a:t>
            </a:r>
          </a:p>
        </p:txBody>
      </p:sp>
      <p:sp>
        <p:nvSpPr>
          <p:cNvPr id="121" name="Rectangle"/>
          <p:cNvSpPr/>
          <p:nvPr/>
        </p:nvSpPr>
        <p:spPr>
          <a:xfrm>
            <a:off x="3649485" y="4102303"/>
            <a:ext cx="396000" cy="1892400"/>
          </a:xfrm>
          <a:custGeom>
            <a:avLst/>
            <a:gdLst/>
            <a:ahLst/>
            <a:cxnLst/>
            <a:rect l="l" t="t" r="r" b="b"/>
            <a:pathLst>
              <a:path w="456000" h="1892400" stroke="0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  <a:path w="456000" h="1892400" fill="none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64000"/>
            </a:schemeClr>
          </a:solidFill>
          <a:ln w="7600" cap="flat">
            <a:solidFill>
              <a:srgbClr val="419BB3"/>
            </a:solidFill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  <p:sp>
        <p:nvSpPr>
          <p:cNvPr id="123" name="Text 624"/>
          <p:cNvSpPr txBox="1"/>
          <p:nvPr/>
        </p:nvSpPr>
        <p:spPr>
          <a:xfrm>
            <a:off x="3682485" y="4375903"/>
            <a:ext cx="360000" cy="133760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广东省佛照光电有限公司禅城分公司</a:t>
            </a:r>
            <a:endParaRPr kumimoji="0" lang="en-US" altLang="zh-CN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FZ28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100%</a:t>
            </a:r>
          </a:p>
        </p:txBody>
      </p:sp>
      <p:sp>
        <p:nvSpPr>
          <p:cNvPr id="125" name="Rectangle"/>
          <p:cNvSpPr/>
          <p:nvPr/>
        </p:nvSpPr>
        <p:spPr>
          <a:xfrm>
            <a:off x="4627078" y="4102303"/>
            <a:ext cx="396000" cy="1892400"/>
          </a:xfrm>
          <a:custGeom>
            <a:avLst/>
            <a:gdLst/>
            <a:ahLst/>
            <a:cxnLst/>
            <a:rect l="l" t="t" r="r" b="b"/>
            <a:pathLst>
              <a:path w="456000" h="1892400" stroke="0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  <a:path w="456000" h="1892400" fill="none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64000"/>
            </a:schemeClr>
          </a:solidFill>
          <a:ln w="7600" cap="flat">
            <a:solidFill>
              <a:srgbClr val="419BB3"/>
            </a:solidFill>
            <a:round/>
          </a:ln>
        </p:spPr>
      </p:sp>
      <p:sp>
        <p:nvSpPr>
          <p:cNvPr id="127" name="Text 624"/>
          <p:cNvSpPr txBox="1"/>
          <p:nvPr/>
        </p:nvSpPr>
        <p:spPr>
          <a:xfrm>
            <a:off x="4660078" y="4375903"/>
            <a:ext cx="360000" cy="133760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佛山照明（泰国）光电科技有限公司</a:t>
            </a:r>
            <a:endParaRPr kumimoji="0" lang="en-US" altLang="zh-CN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FZ40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51</a:t>
            </a: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%</a:t>
            </a:r>
          </a:p>
        </p:txBody>
      </p:sp>
      <p:sp>
        <p:nvSpPr>
          <p:cNvPr id="513" name="Rectangle"/>
          <p:cNvSpPr/>
          <p:nvPr/>
        </p:nvSpPr>
        <p:spPr>
          <a:xfrm>
            <a:off x="6436817" y="4114114"/>
            <a:ext cx="396000" cy="1892400"/>
          </a:xfrm>
          <a:custGeom>
            <a:avLst/>
            <a:gdLst/>
            <a:ahLst/>
            <a:cxnLst/>
            <a:rect l="l" t="t" r="r" b="b"/>
            <a:pathLst>
              <a:path w="456000" h="1892400" stroke="0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  <a:path w="456000" h="1892400" fill="none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64000"/>
            </a:schemeClr>
          </a:solidFill>
          <a:ln w="7600" cap="flat">
            <a:solidFill>
              <a:srgbClr val="419BB3"/>
            </a:solidFill>
            <a:round/>
          </a:ln>
        </p:spPr>
      </p:sp>
      <p:sp>
        <p:nvSpPr>
          <p:cNvPr id="515" name="Text 624"/>
          <p:cNvSpPr txBox="1"/>
          <p:nvPr/>
        </p:nvSpPr>
        <p:spPr>
          <a:xfrm>
            <a:off x="6469817" y="4387714"/>
            <a:ext cx="330000" cy="133760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浙江沪乐电气设备制造有限公司</a:t>
            </a:r>
            <a:endParaRPr kumimoji="0" lang="en-US" altLang="zh-CN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FZ37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66</a:t>
            </a: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%</a:t>
            </a:r>
          </a:p>
        </p:txBody>
      </p:sp>
      <p:sp>
        <p:nvSpPr>
          <p:cNvPr id="554" name="Rectangle"/>
          <p:cNvSpPr/>
          <p:nvPr/>
        </p:nvSpPr>
        <p:spPr>
          <a:xfrm rot="16200000" flipH="1">
            <a:off x="8103015" y="3166303"/>
            <a:ext cx="252000" cy="2268000"/>
          </a:xfrm>
          <a:custGeom>
            <a:avLst/>
            <a:gdLst/>
            <a:ahLst/>
            <a:cxnLst/>
            <a:rect l="l" t="t" r="r" b="b"/>
            <a:pathLst>
              <a:path w="456000" h="1892400" stroke="0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  <a:path w="456000" h="1892400" fill="none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</a:pathLst>
          </a:custGeom>
          <a:solidFill>
            <a:srgbClr val="FFE2B0">
              <a:alpha val="40000"/>
            </a:srgbClr>
          </a:solidFill>
          <a:ln w="7600" cap="flat">
            <a:solidFill>
              <a:srgbClr val="419BB3"/>
            </a:solidFill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  <p:sp>
        <p:nvSpPr>
          <p:cNvPr id="558" name="Text 624"/>
          <p:cNvSpPr txBox="1"/>
          <p:nvPr/>
        </p:nvSpPr>
        <p:spPr>
          <a:xfrm>
            <a:off x="7143422" y="4227296"/>
            <a:ext cx="2160000" cy="18000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柳州桂格光电科技有限公司 </a:t>
            </a:r>
            <a:r>
              <a:rPr kumimoji="0" lang="en-US" altLang="zh-CN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1010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186" name="Rectangle"/>
          <p:cNvSpPr/>
          <p:nvPr/>
        </p:nvSpPr>
        <p:spPr>
          <a:xfrm rot="16200000" flipH="1">
            <a:off x="8103015" y="3471297"/>
            <a:ext cx="252000" cy="2268000"/>
          </a:xfrm>
          <a:custGeom>
            <a:avLst/>
            <a:gdLst/>
            <a:ahLst/>
            <a:cxnLst/>
            <a:rect l="l" t="t" r="r" b="b"/>
            <a:pathLst>
              <a:path w="456000" h="1892400" stroke="0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  <a:path w="456000" h="1892400" fill="none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</a:pathLst>
          </a:custGeom>
          <a:solidFill>
            <a:srgbClr val="FFE2B0">
              <a:alpha val="40000"/>
            </a:srgbClr>
          </a:solidFill>
          <a:ln w="7600" cap="flat">
            <a:solidFill>
              <a:srgbClr val="419BB3"/>
            </a:solidFill>
            <a:round/>
          </a:ln>
        </p:spPr>
      </p:sp>
      <p:sp>
        <p:nvSpPr>
          <p:cNvPr id="188" name="Text 624"/>
          <p:cNvSpPr txBox="1"/>
          <p:nvPr/>
        </p:nvSpPr>
        <p:spPr>
          <a:xfrm>
            <a:off x="7143422" y="4532290"/>
            <a:ext cx="2160000" cy="18000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柳州桂格复煊科技有限公司 </a:t>
            </a:r>
            <a:r>
              <a:rPr kumimoji="0" lang="en-US" altLang="zh-CN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1020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190" name="Rectangle"/>
          <p:cNvSpPr/>
          <p:nvPr/>
        </p:nvSpPr>
        <p:spPr>
          <a:xfrm rot="16200000" flipH="1">
            <a:off x="8103015" y="3782576"/>
            <a:ext cx="252000" cy="2268000"/>
          </a:xfrm>
          <a:custGeom>
            <a:avLst/>
            <a:gdLst/>
            <a:ahLst/>
            <a:cxnLst/>
            <a:rect l="l" t="t" r="r" b="b"/>
            <a:pathLst>
              <a:path w="456000" h="1892400" stroke="0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  <a:path w="456000" h="1892400" fill="none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</a:pathLst>
          </a:custGeom>
          <a:solidFill>
            <a:srgbClr val="FFE2B0">
              <a:alpha val="40000"/>
            </a:srgbClr>
          </a:solidFill>
          <a:ln w="7600" cap="flat">
            <a:solidFill>
              <a:srgbClr val="419BB3"/>
            </a:solidFill>
            <a:round/>
          </a:ln>
        </p:spPr>
      </p:sp>
      <p:sp>
        <p:nvSpPr>
          <p:cNvPr id="576" name="Text 624"/>
          <p:cNvSpPr txBox="1"/>
          <p:nvPr/>
        </p:nvSpPr>
        <p:spPr>
          <a:xfrm>
            <a:off x="7143422" y="4843569"/>
            <a:ext cx="2160000" cy="18000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重庆桂诺光电科技有限公司 </a:t>
            </a:r>
            <a:r>
              <a:rPr kumimoji="0" lang="en-US" altLang="zh-CN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1030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578" name="Rectangle"/>
          <p:cNvSpPr/>
          <p:nvPr/>
        </p:nvSpPr>
        <p:spPr>
          <a:xfrm rot="16200000" flipH="1">
            <a:off x="8097422" y="4087570"/>
            <a:ext cx="252000" cy="2268000"/>
          </a:xfrm>
          <a:custGeom>
            <a:avLst/>
            <a:gdLst/>
            <a:ahLst/>
            <a:cxnLst/>
            <a:rect l="l" t="t" r="r" b="b"/>
            <a:pathLst>
              <a:path w="456000" h="1892400" stroke="0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  <a:path w="456000" h="1892400" fill="none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</a:pathLst>
          </a:custGeom>
          <a:solidFill>
            <a:srgbClr val="FFE2B0">
              <a:alpha val="40000"/>
            </a:srgbClr>
          </a:solidFill>
          <a:ln w="7600" cap="flat">
            <a:solidFill>
              <a:srgbClr val="419BB3"/>
            </a:solidFill>
            <a:round/>
          </a:ln>
        </p:spPr>
      </p:sp>
      <p:sp>
        <p:nvSpPr>
          <p:cNvPr id="580" name="Text 624"/>
          <p:cNvSpPr txBox="1"/>
          <p:nvPr/>
        </p:nvSpPr>
        <p:spPr>
          <a:xfrm>
            <a:off x="7137829" y="5148563"/>
            <a:ext cx="2160000" cy="18000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青岛桂格光电科技有限公司 </a:t>
            </a:r>
            <a:r>
              <a:rPr kumimoji="0" lang="en-US" altLang="zh-CN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1040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583" name="Rectangle"/>
          <p:cNvSpPr/>
          <p:nvPr/>
        </p:nvSpPr>
        <p:spPr>
          <a:xfrm rot="16200000" flipH="1">
            <a:off x="8097422" y="4392563"/>
            <a:ext cx="252000" cy="2268000"/>
          </a:xfrm>
          <a:custGeom>
            <a:avLst/>
            <a:gdLst/>
            <a:ahLst/>
            <a:cxnLst/>
            <a:rect l="l" t="t" r="r" b="b"/>
            <a:pathLst>
              <a:path w="456000" h="1892400" stroke="0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  <a:path w="456000" h="1892400" fill="none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</a:pathLst>
          </a:custGeom>
          <a:solidFill>
            <a:srgbClr val="FFE2B0">
              <a:alpha val="40000"/>
            </a:srgbClr>
          </a:solidFill>
          <a:ln w="7600" cap="flat">
            <a:solidFill>
              <a:srgbClr val="419BB3"/>
            </a:solidFill>
            <a:round/>
          </a:ln>
        </p:spPr>
      </p:sp>
      <p:sp>
        <p:nvSpPr>
          <p:cNvPr id="585" name="Text 624"/>
          <p:cNvSpPr txBox="1"/>
          <p:nvPr/>
        </p:nvSpPr>
        <p:spPr>
          <a:xfrm>
            <a:off x="7137829" y="5453556"/>
            <a:ext cx="2160000" cy="18000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印度尼西亚燎旺车灯有限公司 </a:t>
            </a:r>
            <a:r>
              <a:rPr kumimoji="0" lang="en-US" altLang="zh-CN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1050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587" name="Rectangle"/>
          <p:cNvSpPr/>
          <p:nvPr/>
        </p:nvSpPr>
        <p:spPr>
          <a:xfrm rot="16200000" flipH="1">
            <a:off x="8097422" y="4678550"/>
            <a:ext cx="252000" cy="2268000"/>
          </a:xfrm>
          <a:custGeom>
            <a:avLst/>
            <a:gdLst/>
            <a:ahLst/>
            <a:cxnLst/>
            <a:rect l="l" t="t" r="r" b="b"/>
            <a:pathLst>
              <a:path w="456000" h="1892400" stroke="0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  <a:path w="456000" h="1892400" fill="none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</a:pathLst>
          </a:custGeom>
          <a:solidFill>
            <a:srgbClr val="FFE2B0">
              <a:alpha val="40000"/>
            </a:srgbClr>
          </a:solidFill>
          <a:ln w="7600" cap="flat">
            <a:solidFill>
              <a:srgbClr val="419BB3"/>
            </a:solidFill>
            <a:round/>
          </a:ln>
        </p:spPr>
      </p:sp>
      <p:sp>
        <p:nvSpPr>
          <p:cNvPr id="590" name="Text 624"/>
          <p:cNvSpPr txBox="1"/>
          <p:nvPr/>
        </p:nvSpPr>
        <p:spPr>
          <a:xfrm>
            <a:off x="7137829" y="5739543"/>
            <a:ext cx="2160000" cy="18000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南宁燎旺车灯股份有限公司上海分公司 </a:t>
            </a:r>
            <a:r>
              <a:rPr kumimoji="0" lang="en-US" altLang="zh-CN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1060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592" name="Rectangle"/>
          <p:cNvSpPr/>
          <p:nvPr/>
        </p:nvSpPr>
        <p:spPr>
          <a:xfrm rot="16200000" flipH="1">
            <a:off x="8103015" y="4983544"/>
            <a:ext cx="252000" cy="2268000"/>
          </a:xfrm>
          <a:custGeom>
            <a:avLst/>
            <a:gdLst/>
            <a:ahLst/>
            <a:cxnLst/>
            <a:rect l="l" t="t" r="r" b="b"/>
            <a:pathLst>
              <a:path w="456000" h="1892400" stroke="0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  <a:path w="456000" h="1892400" fill="none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</a:pathLst>
          </a:custGeom>
          <a:solidFill>
            <a:srgbClr val="FFE2B0">
              <a:alpha val="40000"/>
            </a:srgbClr>
          </a:solidFill>
          <a:ln w="7600" cap="flat">
            <a:solidFill>
              <a:srgbClr val="419BB3"/>
            </a:solidFill>
            <a:round/>
          </a:ln>
        </p:spPr>
      </p:sp>
      <p:sp>
        <p:nvSpPr>
          <p:cNvPr id="594" name="Text 624"/>
          <p:cNvSpPr txBox="1"/>
          <p:nvPr/>
        </p:nvSpPr>
        <p:spPr>
          <a:xfrm>
            <a:off x="7143422" y="6044537"/>
            <a:ext cx="2160000" cy="18000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南宁燎旺车灯股份有限公司佛山分公司 </a:t>
            </a:r>
            <a:r>
              <a:rPr kumimoji="0" lang="en-US" altLang="zh-CN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1070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596" name="Rectangle"/>
          <p:cNvSpPr/>
          <p:nvPr/>
        </p:nvSpPr>
        <p:spPr>
          <a:xfrm rot="16200000" flipH="1">
            <a:off x="8097422" y="5319969"/>
            <a:ext cx="252000" cy="2268000"/>
          </a:xfrm>
          <a:custGeom>
            <a:avLst/>
            <a:gdLst/>
            <a:ahLst/>
            <a:cxnLst/>
            <a:rect l="l" t="t" r="r" b="b"/>
            <a:pathLst>
              <a:path w="456000" h="1892400" stroke="0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  <a:path w="456000" h="1892400" fill="none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</a:pathLst>
          </a:custGeom>
          <a:solidFill>
            <a:srgbClr val="FFE2B0">
              <a:alpha val="40000"/>
            </a:srgbClr>
          </a:solidFill>
          <a:ln w="7600" cap="flat">
            <a:solidFill>
              <a:srgbClr val="419BB3"/>
            </a:solidFill>
            <a:round/>
          </a:ln>
        </p:spPr>
      </p:sp>
      <p:sp>
        <p:nvSpPr>
          <p:cNvPr id="599" name="Text 624"/>
          <p:cNvSpPr txBox="1"/>
          <p:nvPr/>
        </p:nvSpPr>
        <p:spPr>
          <a:xfrm>
            <a:off x="7137829" y="6380962"/>
            <a:ext cx="2160000" cy="18000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燎旺车灯（苏州）有限责任公司 </a:t>
            </a:r>
            <a:r>
              <a:rPr kumimoji="0" lang="en-US" altLang="zh-CN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1080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604" name="Rectangle"/>
          <p:cNvSpPr/>
          <p:nvPr/>
        </p:nvSpPr>
        <p:spPr>
          <a:xfrm rot="16200000" flipH="1">
            <a:off x="10692229" y="3152035"/>
            <a:ext cx="252000" cy="2268000"/>
          </a:xfrm>
          <a:custGeom>
            <a:avLst/>
            <a:gdLst/>
            <a:ahLst/>
            <a:cxnLst/>
            <a:rect l="l" t="t" r="r" b="b"/>
            <a:pathLst>
              <a:path w="456000" h="1892400" stroke="0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  <a:path w="456000" h="1892400" fill="none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7600" cap="flat">
            <a:solidFill>
              <a:srgbClr val="419BB3"/>
            </a:solidFill>
            <a:round/>
          </a:ln>
        </p:spPr>
      </p:sp>
      <p:sp>
        <p:nvSpPr>
          <p:cNvPr id="607" name="Text 624"/>
          <p:cNvSpPr txBox="1"/>
          <p:nvPr/>
        </p:nvSpPr>
        <p:spPr>
          <a:xfrm>
            <a:off x="9732636" y="4213028"/>
            <a:ext cx="2268000" cy="18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lIns="38100" tIns="38100" rIns="38100" bIns="38100"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佛山市国星半导体技术有限公司 </a:t>
            </a:r>
            <a:r>
              <a:rPr kumimoji="0" lang="en-US" altLang="zh-CN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GX1100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609" name="Rectangle"/>
          <p:cNvSpPr/>
          <p:nvPr/>
        </p:nvSpPr>
        <p:spPr>
          <a:xfrm rot="16200000" flipH="1">
            <a:off x="10692229" y="3471297"/>
            <a:ext cx="252000" cy="2268000"/>
          </a:xfrm>
          <a:custGeom>
            <a:avLst/>
            <a:gdLst/>
            <a:ahLst/>
            <a:cxnLst/>
            <a:rect l="l" t="t" r="r" b="b"/>
            <a:pathLst>
              <a:path w="456000" h="1892400" stroke="0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  <a:path w="456000" h="1892400" fill="none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7600" cap="flat">
            <a:solidFill>
              <a:srgbClr val="419BB3"/>
            </a:solidFill>
            <a:round/>
          </a:ln>
        </p:spPr>
      </p:sp>
      <p:sp>
        <p:nvSpPr>
          <p:cNvPr id="611" name="Text 624"/>
          <p:cNvSpPr txBox="1"/>
          <p:nvPr/>
        </p:nvSpPr>
        <p:spPr>
          <a:xfrm>
            <a:off x="9732636" y="4532290"/>
            <a:ext cx="2160000" cy="18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lIns="38100" tIns="38100" rIns="38100" bIns="38100"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佛山市国星电子制造有限公司 </a:t>
            </a:r>
            <a:r>
              <a:rPr kumimoji="0" lang="en-US" altLang="zh-CN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GX1500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613" name="Rectangle"/>
          <p:cNvSpPr/>
          <p:nvPr/>
        </p:nvSpPr>
        <p:spPr>
          <a:xfrm rot="16200000" flipH="1">
            <a:off x="10692229" y="3782576"/>
            <a:ext cx="252000" cy="2268000"/>
          </a:xfrm>
          <a:custGeom>
            <a:avLst/>
            <a:gdLst/>
            <a:ahLst/>
            <a:cxnLst/>
            <a:rect l="l" t="t" r="r" b="b"/>
            <a:pathLst>
              <a:path w="456000" h="1892400" stroke="0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  <a:path w="456000" h="1892400" fill="none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7600" cap="flat">
            <a:solidFill>
              <a:srgbClr val="419BB3"/>
            </a:solidFill>
            <a:round/>
          </a:ln>
        </p:spPr>
      </p:sp>
      <p:sp>
        <p:nvSpPr>
          <p:cNvPr id="615" name="Text 624"/>
          <p:cNvSpPr txBox="1"/>
          <p:nvPr/>
        </p:nvSpPr>
        <p:spPr>
          <a:xfrm>
            <a:off x="9732636" y="4843569"/>
            <a:ext cx="2196000" cy="18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lIns="38100" tIns="38100" rIns="38100" bIns="38100"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广东省新立电子信息进出口有限公司</a:t>
            </a:r>
            <a:r>
              <a:rPr kumimoji="0" lang="en-US" altLang="zh-CN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GX1200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617" name="Rectangle"/>
          <p:cNvSpPr/>
          <p:nvPr/>
        </p:nvSpPr>
        <p:spPr>
          <a:xfrm rot="16200000" flipH="1">
            <a:off x="10692229" y="4087570"/>
            <a:ext cx="252000" cy="2268000"/>
          </a:xfrm>
          <a:custGeom>
            <a:avLst/>
            <a:gdLst/>
            <a:ahLst/>
            <a:cxnLst/>
            <a:rect l="l" t="t" r="r" b="b"/>
            <a:pathLst>
              <a:path w="456000" h="1892400" stroke="0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  <a:path w="456000" h="1892400" fill="none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7600" cap="flat">
            <a:solidFill>
              <a:srgbClr val="419BB3"/>
            </a:solidFill>
            <a:round/>
          </a:ln>
        </p:spPr>
      </p:sp>
      <p:sp>
        <p:nvSpPr>
          <p:cNvPr id="619" name="Text 624"/>
          <p:cNvSpPr txBox="1"/>
          <p:nvPr/>
        </p:nvSpPr>
        <p:spPr>
          <a:xfrm>
            <a:off x="9732636" y="5148563"/>
            <a:ext cx="2196000" cy="18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lIns="38100" tIns="38100" rIns="38100" bIns="38100"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广东风华芯电科技股份有限公司 </a:t>
            </a:r>
            <a:r>
              <a:rPr kumimoji="0" lang="en-US" altLang="zh-CN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GX1400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634" name="Rectangle"/>
          <p:cNvSpPr/>
          <p:nvPr/>
        </p:nvSpPr>
        <p:spPr>
          <a:xfrm rot="16200000" flipH="1">
            <a:off x="10692229" y="4392563"/>
            <a:ext cx="252000" cy="2268000"/>
          </a:xfrm>
          <a:custGeom>
            <a:avLst/>
            <a:gdLst/>
            <a:ahLst/>
            <a:cxnLst/>
            <a:rect l="l" t="t" r="r" b="b"/>
            <a:pathLst>
              <a:path w="456000" h="1892400" stroke="0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  <a:path w="456000" h="1892400" fill="none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7600" cap="flat">
            <a:solidFill>
              <a:srgbClr val="419BB3"/>
            </a:solidFill>
            <a:round/>
          </a:ln>
        </p:spPr>
      </p:sp>
      <p:sp>
        <p:nvSpPr>
          <p:cNvPr id="643" name="Text 624"/>
          <p:cNvSpPr txBox="1"/>
          <p:nvPr/>
        </p:nvSpPr>
        <p:spPr>
          <a:xfrm>
            <a:off x="9732636" y="5453556"/>
            <a:ext cx="2196000" cy="18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lIns="38100" tIns="38100" rIns="38100" bIns="38100"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高州市国星光电科技有限公司 </a:t>
            </a:r>
            <a:r>
              <a:rPr kumimoji="0" lang="en-US" altLang="zh-CN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GX1600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645" name="ConnectLine"/>
          <p:cNvSpPr/>
          <p:nvPr/>
        </p:nvSpPr>
        <p:spPr>
          <a:xfrm>
            <a:off x="3795561" y="3740205"/>
            <a:ext cx="524400" cy="348247"/>
          </a:xfrm>
          <a:custGeom>
            <a:avLst/>
            <a:gdLst/>
            <a:ahLst/>
            <a:cxnLst/>
            <a:rect l="l" t="t" r="r" b="b"/>
            <a:pathLst>
              <a:path w="524400" h="266000" fill="none">
                <a:moveTo>
                  <a:pt x="524400" y="0"/>
                </a:moveTo>
                <a:lnTo>
                  <a:pt x="524400" y="129200"/>
                </a:lnTo>
                <a:lnTo>
                  <a:pt x="0" y="129200"/>
                </a:lnTo>
                <a:lnTo>
                  <a:pt x="0" y="266000"/>
                </a:lnTo>
              </a:path>
            </a:pathLst>
          </a:custGeom>
          <a:noFill/>
          <a:ln w="7600" cap="flat">
            <a:solidFill>
              <a:srgbClr val="000000"/>
            </a:solidFill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  <p:sp>
        <p:nvSpPr>
          <p:cNvPr id="646" name="ConnectLine"/>
          <p:cNvSpPr/>
          <p:nvPr/>
        </p:nvSpPr>
        <p:spPr>
          <a:xfrm>
            <a:off x="4319961" y="3740206"/>
            <a:ext cx="524400" cy="348246"/>
          </a:xfrm>
          <a:custGeom>
            <a:avLst/>
            <a:gdLst/>
            <a:ahLst/>
            <a:cxnLst/>
            <a:rect l="l" t="t" r="r" b="b"/>
            <a:pathLst>
              <a:path w="524400" h="266000" fill="none">
                <a:moveTo>
                  <a:pt x="0" y="0"/>
                </a:moveTo>
                <a:lnTo>
                  <a:pt x="0" y="129200"/>
                </a:lnTo>
                <a:lnTo>
                  <a:pt x="524400" y="129200"/>
                </a:lnTo>
                <a:lnTo>
                  <a:pt x="524400" y="266000"/>
                </a:lnTo>
              </a:path>
            </a:pathLst>
          </a:custGeom>
          <a:noFill/>
          <a:ln w="7600" cap="flat">
            <a:solidFill>
              <a:srgbClr val="000000"/>
            </a:solidFill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  <p:sp>
        <p:nvSpPr>
          <p:cNvPr id="648" name="ConnectLine"/>
          <p:cNvSpPr/>
          <p:nvPr/>
        </p:nvSpPr>
        <p:spPr>
          <a:xfrm>
            <a:off x="4320050" y="3821103"/>
            <a:ext cx="7600" cy="266000"/>
          </a:xfrm>
          <a:custGeom>
            <a:avLst/>
            <a:gdLst/>
            <a:ahLst/>
            <a:cxnLst/>
            <a:rect l="l" t="t" r="r" b="b"/>
            <a:pathLst>
              <a:path w="7600" h="266000" fill="none">
                <a:moveTo>
                  <a:pt x="0" y="0"/>
                </a:moveTo>
                <a:lnTo>
                  <a:pt x="0" y="266000"/>
                </a:lnTo>
              </a:path>
            </a:pathLst>
          </a:custGeom>
          <a:noFill/>
          <a:ln w="7600" cap="flat">
            <a:solidFill>
              <a:srgbClr val="000000"/>
            </a:solidFill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  <p:sp>
        <p:nvSpPr>
          <p:cNvPr id="6" name="ConnectLine"/>
          <p:cNvSpPr/>
          <p:nvPr/>
        </p:nvSpPr>
        <p:spPr>
          <a:xfrm flipH="1">
            <a:off x="8222354" y="3765867"/>
            <a:ext cx="45719" cy="387189"/>
          </a:xfrm>
          <a:custGeom>
            <a:avLst/>
            <a:gdLst/>
            <a:ahLst/>
            <a:cxnLst/>
            <a:rect l="l" t="t" r="r" b="b"/>
            <a:pathLst>
              <a:path w="7600" h="266000" fill="none">
                <a:moveTo>
                  <a:pt x="0" y="0"/>
                </a:moveTo>
                <a:lnTo>
                  <a:pt x="0" y="266000"/>
                </a:lnTo>
              </a:path>
            </a:pathLst>
          </a:custGeom>
          <a:noFill/>
          <a:ln w="7600" cap="flat">
            <a:solidFill>
              <a:srgbClr val="000000"/>
            </a:solidFill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  <p:sp>
        <p:nvSpPr>
          <p:cNvPr id="8" name="ConnectLine"/>
          <p:cNvSpPr/>
          <p:nvPr/>
        </p:nvSpPr>
        <p:spPr>
          <a:xfrm flipH="1">
            <a:off x="10804797" y="3784606"/>
            <a:ext cx="45719" cy="387189"/>
          </a:xfrm>
          <a:custGeom>
            <a:avLst/>
            <a:gdLst/>
            <a:ahLst/>
            <a:cxnLst/>
            <a:rect l="l" t="t" r="r" b="b"/>
            <a:pathLst>
              <a:path w="7600" h="266000" fill="none">
                <a:moveTo>
                  <a:pt x="0" y="0"/>
                </a:moveTo>
                <a:lnTo>
                  <a:pt x="0" y="266000"/>
                </a:lnTo>
              </a:path>
            </a:pathLst>
          </a:custGeom>
          <a:noFill/>
          <a:ln w="7600" cap="flat">
            <a:solidFill>
              <a:srgbClr val="000000"/>
            </a:solidFill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693420" y="1691640"/>
            <a:ext cx="0" cy="1818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273844" y="1695450"/>
            <a:ext cx="0" cy="17801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1150620" y="1691640"/>
            <a:ext cx="0" cy="1818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1607820" y="1691640"/>
            <a:ext cx="0" cy="1818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2067402" y="1691640"/>
            <a:ext cx="0" cy="1818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2490985" y="1691640"/>
            <a:ext cx="0" cy="1818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2941041" y="1691640"/>
            <a:ext cx="0" cy="1818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3403004" y="1691640"/>
            <a:ext cx="0" cy="1818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3855442" y="1691640"/>
            <a:ext cx="0" cy="1818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4345979" y="1691640"/>
            <a:ext cx="0" cy="1818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4788891" y="1691640"/>
            <a:ext cx="0" cy="1818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5255616" y="1691640"/>
            <a:ext cx="0" cy="1818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5715197" y="1691640"/>
            <a:ext cx="0" cy="1818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6160490" y="1691640"/>
            <a:ext cx="0" cy="1818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6633738" y="1691640"/>
            <a:ext cx="0" cy="1818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6162069" y="837005"/>
            <a:ext cx="0" cy="85463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6106517" y="1691640"/>
            <a:ext cx="474399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10850516" y="1691640"/>
            <a:ext cx="0" cy="1818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8268073" y="1691640"/>
            <a:ext cx="0" cy="1818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H="1">
            <a:off x="273844" y="1691640"/>
            <a:ext cx="588883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2" name="Shape101"/>
          <p:cNvGrpSpPr/>
          <p:nvPr/>
        </p:nvGrpSpPr>
        <p:grpSpPr>
          <a:xfrm>
            <a:off x="4844361" y="12916"/>
            <a:ext cx="2580648" cy="858504"/>
            <a:chOff x="3269584" y="-1989517"/>
            <a:chExt cx="2580648" cy="858504"/>
          </a:xfrm>
        </p:grpSpPr>
        <p:sp>
          <p:nvSpPr>
            <p:cNvPr id="103" name="Rectangle"/>
            <p:cNvSpPr/>
            <p:nvPr/>
          </p:nvSpPr>
          <p:spPr>
            <a:xfrm>
              <a:off x="3269584" y="-1989517"/>
              <a:ext cx="2580648" cy="858504"/>
            </a:xfrm>
            <a:custGeom>
              <a:avLst/>
              <a:gdLst/>
              <a:ahLst/>
              <a:cxnLst/>
              <a:rect l="l" t="t" r="r" b="b"/>
              <a:pathLst>
                <a:path w="2580648" h="858504" stroke="0">
                  <a:moveTo>
                    <a:pt x="53200" y="0"/>
                  </a:moveTo>
                  <a:lnTo>
                    <a:pt x="2527448" y="0"/>
                  </a:lnTo>
                  <a:cubicBezTo>
                    <a:pt x="2556815" y="0"/>
                    <a:pt x="2580648" y="23834"/>
                    <a:pt x="2580648" y="53200"/>
                  </a:cubicBezTo>
                  <a:lnTo>
                    <a:pt x="2580648" y="805304"/>
                  </a:lnTo>
                  <a:cubicBezTo>
                    <a:pt x="2580648" y="834670"/>
                    <a:pt x="2556815" y="858504"/>
                    <a:pt x="2527448" y="858504"/>
                  </a:cubicBezTo>
                  <a:lnTo>
                    <a:pt x="53200" y="858504"/>
                  </a:lnTo>
                  <a:cubicBezTo>
                    <a:pt x="23834" y="858504"/>
                    <a:pt x="0" y="834670"/>
                    <a:pt x="0" y="805304"/>
                  </a:cubicBezTo>
                  <a:lnTo>
                    <a:pt x="0" y="53200"/>
                  </a:lnTo>
                  <a:cubicBezTo>
                    <a:pt x="0" y="23834"/>
                    <a:pt x="23834" y="0"/>
                    <a:pt x="53200" y="0"/>
                  </a:cubicBezTo>
                  <a:close/>
                </a:path>
                <a:path w="2580648" h="858504" fill="none">
                  <a:moveTo>
                    <a:pt x="53200" y="0"/>
                  </a:moveTo>
                  <a:lnTo>
                    <a:pt x="2527448" y="0"/>
                  </a:lnTo>
                  <a:cubicBezTo>
                    <a:pt x="2556815" y="0"/>
                    <a:pt x="2580648" y="23834"/>
                    <a:pt x="2580648" y="53200"/>
                  </a:cubicBezTo>
                  <a:lnTo>
                    <a:pt x="2580648" y="805304"/>
                  </a:lnTo>
                  <a:cubicBezTo>
                    <a:pt x="2580648" y="834670"/>
                    <a:pt x="2556815" y="858504"/>
                    <a:pt x="2527448" y="858504"/>
                  </a:cubicBezTo>
                  <a:lnTo>
                    <a:pt x="53200" y="858504"/>
                  </a:lnTo>
                  <a:cubicBezTo>
                    <a:pt x="23834" y="858504"/>
                    <a:pt x="0" y="834670"/>
                    <a:pt x="0" y="805304"/>
                  </a:cubicBezTo>
                  <a:lnTo>
                    <a:pt x="0" y="53200"/>
                  </a:lnTo>
                  <a:cubicBezTo>
                    <a:pt x="0" y="23834"/>
                    <a:pt x="23834" y="0"/>
                    <a:pt x="53200" y="0"/>
                  </a:cubicBezTo>
                  <a:close/>
                </a:path>
              </a:pathLst>
            </a:custGeom>
            <a:solidFill>
              <a:srgbClr val="E15456"/>
            </a:solidFill>
            <a:ln w="15200" cap="flat">
              <a:solidFill>
                <a:srgbClr val="191919"/>
              </a:solidFill>
              <a:round/>
            </a:ln>
          </p:spPr>
        </p:sp>
        <p:sp>
          <p:nvSpPr>
            <p:cNvPr id="598" name="Text 598"/>
            <p:cNvSpPr txBox="1"/>
            <p:nvPr/>
          </p:nvSpPr>
          <p:spPr>
            <a:xfrm>
              <a:off x="3307584" y="-1898317"/>
              <a:ext cx="2504648" cy="668800"/>
            </a:xfrm>
            <a:prstGeom prst="rect">
              <a:avLst/>
            </a:prstGeom>
            <a:noFill/>
          </p:spPr>
          <p:txBody>
            <a:bodyPr wrap="square" lIns="38100" tIns="38100" rIns="38100" bIns="381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75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</a:rPr>
                <a:t>佛山电器照明股份有限公司股份 </a:t>
              </a:r>
              <a:r>
                <a:rPr kumimoji="0" lang="en-US" altLang="zh-CN" sz="175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微软雅黑"/>
                </a:rPr>
                <a:t>FZ01</a:t>
              </a:r>
              <a:endParaRPr kumimoji="0" lang="zh-CN" altLang="en-US" sz="17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endParaRPr>
            </a:p>
          </p:txBody>
        </p:sp>
      </p:grpSp>
      <p:sp>
        <p:nvSpPr>
          <p:cNvPr id="4" name="标注: 弯曲线形 3"/>
          <p:cNvSpPr/>
          <p:nvPr/>
        </p:nvSpPr>
        <p:spPr>
          <a:xfrm>
            <a:off x="8846458" y="839747"/>
            <a:ext cx="2278643" cy="695293"/>
          </a:xfrm>
          <a:prstGeom prst="borderCallout2">
            <a:avLst>
              <a:gd name="adj1" fmla="val 51143"/>
              <a:gd name="adj2" fmla="val -448"/>
              <a:gd name="adj3" fmla="val 78581"/>
              <a:gd name="adj4" fmla="val -8974"/>
              <a:gd name="adj5" fmla="val 139938"/>
              <a:gd name="adj6" fmla="val -2443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ennale"/>
                <a:ea typeface="+mn-ea"/>
                <a:cs typeface="+mn-cs"/>
              </a:rPr>
              <a:t>燎旺车灯和国星光电以子合并的结果参与本次合并</a:t>
            </a:r>
          </a:p>
        </p:txBody>
      </p:sp>
      <p:cxnSp>
        <p:nvCxnSpPr>
          <p:cNvPr id="10" name="直接连接符 9"/>
          <p:cNvCxnSpPr>
            <a:stCxn id="4" idx="0"/>
            <a:endCxn id="680" idx="0"/>
          </p:cNvCxnSpPr>
          <p:nvPr/>
        </p:nvCxnSpPr>
        <p:spPr>
          <a:xfrm flipH="1">
            <a:off x="10842172" y="1187394"/>
            <a:ext cx="282929" cy="590606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930154" y="4973260"/>
          <a:ext cx="2045461" cy="17613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3" imgW="700405" imgH="603250" progId="Excel.Sheet.12">
                  <p:embed/>
                </p:oleObj>
              </mc:Choice>
              <mc:Fallback>
                <p:oleObj name="Worksheet" showAsIcon="1" r:id="rId3" imgW="700405" imgH="603250" progId="Excel.Sheet.12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30154" y="4973260"/>
                        <a:ext cx="2045461" cy="17613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">
            <a:extLst>
              <a:ext uri="{FF2B5EF4-FFF2-40B4-BE49-F238E27FC236}">
                <a16:creationId xmlns:a16="http://schemas.microsoft.com/office/drawing/2014/main" id="{1568C5A8-4A7A-46AC-2F77-34C5A790C071}"/>
              </a:ext>
            </a:extLst>
          </p:cNvPr>
          <p:cNvSpPr/>
          <p:nvPr/>
        </p:nvSpPr>
        <p:spPr>
          <a:xfrm>
            <a:off x="41771" y="4083606"/>
            <a:ext cx="396000" cy="1892400"/>
          </a:xfrm>
          <a:custGeom>
            <a:avLst/>
            <a:gdLst/>
            <a:ahLst/>
            <a:cxnLst/>
            <a:rect l="l" t="t" r="r" b="b"/>
            <a:pathLst>
              <a:path w="456000" h="1892400" stroke="0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  <a:path w="456000" h="1892400" fill="none">
                <a:moveTo>
                  <a:pt x="53200" y="0"/>
                </a:moveTo>
                <a:lnTo>
                  <a:pt x="402800" y="0"/>
                </a:lnTo>
                <a:cubicBezTo>
                  <a:pt x="432166" y="0"/>
                  <a:pt x="456000" y="23834"/>
                  <a:pt x="456000" y="53200"/>
                </a:cubicBezTo>
                <a:lnTo>
                  <a:pt x="456000" y="1839200"/>
                </a:lnTo>
                <a:cubicBezTo>
                  <a:pt x="456000" y="1868566"/>
                  <a:pt x="432166" y="1892400"/>
                  <a:pt x="402800" y="1892400"/>
                </a:cubicBezTo>
                <a:lnTo>
                  <a:pt x="53200" y="1892400"/>
                </a:lnTo>
                <a:cubicBezTo>
                  <a:pt x="23834" y="1892400"/>
                  <a:pt x="0" y="1868566"/>
                  <a:pt x="0" y="1839200"/>
                </a:cubicBezTo>
                <a:lnTo>
                  <a:pt x="0" y="53200"/>
                </a:lnTo>
                <a:cubicBezTo>
                  <a:pt x="0" y="23834"/>
                  <a:pt x="23834" y="0"/>
                  <a:pt x="53200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64000"/>
            </a:schemeClr>
          </a:solidFill>
          <a:ln w="7600" cap="flat">
            <a:solidFill>
              <a:srgbClr val="419BB3"/>
            </a:solidFill>
            <a:round/>
          </a:ln>
        </p:spPr>
      </p:sp>
      <p:sp>
        <p:nvSpPr>
          <p:cNvPr id="27" name="Text 624">
            <a:extLst>
              <a:ext uri="{FF2B5EF4-FFF2-40B4-BE49-F238E27FC236}">
                <a16:creationId xmlns:a16="http://schemas.microsoft.com/office/drawing/2014/main" id="{D16194CD-C580-CBE5-7665-0163B3249C28}"/>
              </a:ext>
            </a:extLst>
          </p:cNvPr>
          <p:cNvSpPr txBox="1"/>
          <p:nvPr/>
        </p:nvSpPr>
        <p:spPr>
          <a:xfrm>
            <a:off x="59771" y="4371339"/>
            <a:ext cx="360000" cy="133760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佛山照明（泰国）光电科技有限公司</a:t>
            </a:r>
            <a:endParaRPr kumimoji="0" lang="en-US" altLang="zh-CN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1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FZ40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454545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49</a:t>
            </a: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%</a:t>
            </a:r>
          </a:p>
        </p:txBody>
      </p:sp>
      <p:sp>
        <p:nvSpPr>
          <p:cNvPr id="30" name="ConnectLine">
            <a:extLst>
              <a:ext uri="{FF2B5EF4-FFF2-40B4-BE49-F238E27FC236}">
                <a16:creationId xmlns:a16="http://schemas.microsoft.com/office/drawing/2014/main" id="{7AD58824-04D6-B478-D6D0-110EFE5EBAE7}"/>
              </a:ext>
            </a:extLst>
          </p:cNvPr>
          <p:cNvSpPr/>
          <p:nvPr/>
        </p:nvSpPr>
        <p:spPr>
          <a:xfrm flipH="1">
            <a:off x="185972" y="3740205"/>
            <a:ext cx="62357" cy="362098"/>
          </a:xfrm>
          <a:custGeom>
            <a:avLst/>
            <a:gdLst/>
            <a:ahLst/>
            <a:cxnLst/>
            <a:rect l="l" t="t" r="r" b="b"/>
            <a:pathLst>
              <a:path w="7600" h="266000" fill="none">
                <a:moveTo>
                  <a:pt x="0" y="0"/>
                </a:moveTo>
                <a:lnTo>
                  <a:pt x="0" y="266000"/>
                </a:lnTo>
              </a:path>
            </a:pathLst>
          </a:custGeom>
          <a:noFill/>
          <a:ln w="7600" cap="flat">
            <a:solidFill>
              <a:srgbClr val="000000"/>
            </a:solidFill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BA25A-3182-63BA-6E2A-161F08160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6A6BF-54FB-19D1-A996-F5D01C136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254" y="284298"/>
            <a:ext cx="11337925" cy="912315"/>
          </a:xfrm>
        </p:spPr>
        <p:txBody>
          <a:bodyPr/>
          <a:lstStyle/>
          <a:p>
            <a:r>
              <a:rPr lang="zh-CN" altLang="en-US" dirty="0"/>
              <a:t>法定合并功能功能框架</a:t>
            </a:r>
            <a:endParaRPr dirty="0"/>
          </a:p>
        </p:txBody>
      </p:sp>
      <p:sp>
        <p:nvSpPr>
          <p:cNvPr id="598" name="Text 598">
            <a:extLst>
              <a:ext uri="{FF2B5EF4-FFF2-40B4-BE49-F238E27FC236}">
                <a16:creationId xmlns:a16="http://schemas.microsoft.com/office/drawing/2014/main" id="{56A646C3-6A9D-5E30-08BD-9BBF18C139CA}"/>
              </a:ext>
            </a:extLst>
          </p:cNvPr>
          <p:cNvSpPr txBox="1"/>
          <p:nvPr/>
        </p:nvSpPr>
        <p:spPr>
          <a:xfrm>
            <a:off x="4882361" y="104116"/>
            <a:ext cx="2504648" cy="66880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748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佛山电照明股份有限公司股份 </a:t>
            </a:r>
            <a:r>
              <a:rPr kumimoji="0" lang="en-US" altLang="zh-CN" sz="1748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FZ01</a:t>
            </a:r>
            <a:endParaRPr kumimoji="0" lang="zh-CN" altLang="en-US" sz="1748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3031770" y="1836507"/>
            <a:ext cx="1800000" cy="396000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公司新增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剥离</a:t>
            </a:r>
          </a:p>
        </p:txBody>
      </p:sp>
      <p:sp>
        <p:nvSpPr>
          <p:cNvPr id="5" name="矩形 4"/>
          <p:cNvSpPr/>
          <p:nvPr/>
        </p:nvSpPr>
        <p:spPr>
          <a:xfrm>
            <a:off x="3041650" y="2428693"/>
            <a:ext cx="1800225" cy="465455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合并组</a:t>
            </a:r>
            <a:b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b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股权管理数据</a:t>
            </a:r>
          </a:p>
        </p:txBody>
      </p:sp>
      <p:sp>
        <p:nvSpPr>
          <p:cNvPr id="41" name="矩形 40"/>
          <p:cNvSpPr/>
          <p:nvPr/>
        </p:nvSpPr>
        <p:spPr>
          <a:xfrm>
            <a:off x="7306168" y="1731951"/>
            <a:ext cx="1800000" cy="396000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单体重分类</a:t>
            </a:r>
          </a:p>
        </p:txBody>
      </p:sp>
      <p:sp>
        <p:nvSpPr>
          <p:cNvPr id="44" name="矩形 43"/>
          <p:cNvSpPr/>
          <p:nvPr/>
        </p:nvSpPr>
        <p:spPr>
          <a:xfrm>
            <a:off x="7306168" y="3227474"/>
            <a:ext cx="1800000" cy="396000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内部销售抵消</a:t>
            </a: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7306168" y="3974967"/>
            <a:ext cx="1800000" cy="396000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投资抵消</a:t>
            </a: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1076423" y="1732488"/>
            <a:ext cx="1488246" cy="189098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建立集团级的财务合并主数据库</a:t>
            </a:r>
          </a:p>
        </p:txBody>
      </p:sp>
      <p:sp>
        <p:nvSpPr>
          <p:cNvPr id="60" name="矩形 59"/>
          <p:cNvSpPr/>
          <p:nvPr/>
        </p:nvSpPr>
        <p:spPr>
          <a:xfrm>
            <a:off x="5494655" y="1732280"/>
            <a:ext cx="1419860" cy="472884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实现合并抵消，日记账，重分类等业务操作线上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化管理</a:t>
            </a:r>
            <a:endParaRPr lang="en-US" altLang="zh-CN" sz="1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7305533" y="2359233"/>
            <a:ext cx="1800000" cy="396000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单体公司损益结转</a:t>
            </a:r>
          </a:p>
        </p:txBody>
      </p:sp>
      <p:sp>
        <p:nvSpPr>
          <p:cNvPr id="27" name="矩形 26"/>
          <p:cNvSpPr/>
          <p:nvPr/>
        </p:nvSpPr>
        <p:spPr>
          <a:xfrm>
            <a:off x="9367262" y="1732488"/>
            <a:ext cx="1800000" cy="396000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货币折算</a:t>
            </a:r>
          </a:p>
        </p:txBody>
      </p:sp>
      <p:sp>
        <p:nvSpPr>
          <p:cNvPr id="28" name="矩形 27"/>
          <p:cNvSpPr/>
          <p:nvPr/>
        </p:nvSpPr>
        <p:spPr>
          <a:xfrm>
            <a:off x="9367262" y="2359331"/>
            <a:ext cx="1800000" cy="396000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内部往来抵消</a:t>
            </a: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9367262" y="3227474"/>
            <a:ext cx="1800000" cy="396000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存货未实现利润抵消</a:t>
            </a:r>
          </a:p>
        </p:txBody>
      </p:sp>
      <p:sp>
        <p:nvSpPr>
          <p:cNvPr id="32" name="矩形 31"/>
          <p:cNvSpPr/>
          <p:nvPr/>
        </p:nvSpPr>
        <p:spPr>
          <a:xfrm>
            <a:off x="9367262" y="3846827"/>
            <a:ext cx="1800225" cy="559435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内部固定资产</a:t>
            </a:r>
            <a:b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b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交易抵消</a:t>
            </a:r>
          </a:p>
        </p:txBody>
      </p:sp>
      <p:sp>
        <p:nvSpPr>
          <p:cNvPr id="36" name="矩形 35"/>
          <p:cNvSpPr/>
          <p:nvPr/>
        </p:nvSpPr>
        <p:spPr>
          <a:xfrm>
            <a:off x="7305533" y="4640766"/>
            <a:ext cx="1800000" cy="396000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合并组上的重分类</a:t>
            </a:r>
          </a:p>
        </p:txBody>
      </p:sp>
      <p:sp>
        <p:nvSpPr>
          <p:cNvPr id="38" name="矩形 37"/>
          <p:cNvSpPr/>
          <p:nvPr/>
        </p:nvSpPr>
        <p:spPr>
          <a:xfrm>
            <a:off x="9367262" y="4677828"/>
            <a:ext cx="1800000" cy="396000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日记账处理</a:t>
            </a:r>
          </a:p>
        </p:txBody>
      </p:sp>
      <p:sp>
        <p:nvSpPr>
          <p:cNvPr id="39" name="矩形 38"/>
          <p:cNvSpPr/>
          <p:nvPr/>
        </p:nvSpPr>
        <p:spPr>
          <a:xfrm>
            <a:off x="3066415" y="4074160"/>
            <a:ext cx="1797685" cy="581025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上线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SAP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单体公司财务数据自动采集</a:t>
            </a:r>
          </a:p>
        </p:txBody>
      </p:sp>
      <p:sp>
        <p:nvSpPr>
          <p:cNvPr id="40" name="矩形 39"/>
          <p:cNvSpPr/>
          <p:nvPr/>
        </p:nvSpPr>
        <p:spPr>
          <a:xfrm>
            <a:off x="3082361" y="5478559"/>
            <a:ext cx="1800000" cy="396000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SAP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公司以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EXCEL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导入单体数据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1070610" y="3913505"/>
            <a:ext cx="1488440" cy="25469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单体公司数据采集，单体公司对账线上自动化管理</a:t>
            </a:r>
          </a:p>
        </p:txBody>
      </p:sp>
      <p:sp>
        <p:nvSpPr>
          <p:cNvPr id="43" name="矩形 42"/>
          <p:cNvSpPr/>
          <p:nvPr/>
        </p:nvSpPr>
        <p:spPr>
          <a:xfrm>
            <a:off x="3064100" y="4757758"/>
            <a:ext cx="1800000" cy="660978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瞭望、国星光电</a:t>
            </a:r>
            <a:endParaRPr lang="en-US" altLang="zh-CN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以合并后的结果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EXCEL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导入系统内</a:t>
            </a:r>
          </a:p>
        </p:txBody>
      </p:sp>
      <p:sp>
        <p:nvSpPr>
          <p:cNvPr id="47" name="矩形 46"/>
          <p:cNvSpPr/>
          <p:nvPr/>
        </p:nvSpPr>
        <p:spPr>
          <a:xfrm>
            <a:off x="3072470" y="3142384"/>
            <a:ext cx="1800000" cy="396000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合并科目维护</a:t>
            </a:r>
          </a:p>
        </p:txBody>
      </p:sp>
      <p:sp>
        <p:nvSpPr>
          <p:cNvPr id="48" name="矩形 47"/>
          <p:cNvSpPr/>
          <p:nvPr/>
        </p:nvSpPr>
        <p:spPr>
          <a:xfrm>
            <a:off x="7305533" y="5312968"/>
            <a:ext cx="1800000" cy="396000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报表查阅</a:t>
            </a:r>
          </a:p>
        </p:txBody>
      </p:sp>
      <p:sp>
        <p:nvSpPr>
          <p:cNvPr id="49" name="矩形 48"/>
          <p:cNvSpPr/>
          <p:nvPr/>
        </p:nvSpPr>
        <p:spPr>
          <a:xfrm>
            <a:off x="1076423" y="817616"/>
            <a:ext cx="1488246" cy="74187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梳理报表体系</a:t>
            </a:r>
          </a:p>
        </p:txBody>
      </p:sp>
      <p:sp>
        <p:nvSpPr>
          <p:cNvPr id="52" name="矩形 51"/>
          <p:cNvSpPr/>
          <p:nvPr/>
        </p:nvSpPr>
        <p:spPr>
          <a:xfrm>
            <a:off x="3031770" y="958226"/>
            <a:ext cx="2823021" cy="396000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法定和管理合并报表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三大主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套表</a:t>
            </a:r>
          </a:p>
        </p:txBody>
      </p:sp>
      <p:sp>
        <p:nvSpPr>
          <p:cNvPr id="54" name="矩形 53"/>
          <p:cNvSpPr/>
          <p:nvPr/>
        </p:nvSpPr>
        <p:spPr>
          <a:xfrm>
            <a:off x="6134685" y="967532"/>
            <a:ext cx="2970848" cy="396000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附注（本期实现四大费用附表）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786260A2-2D7A-C833-B0BC-48F3D4EC84F8}"/>
              </a:ext>
            </a:extLst>
          </p:cNvPr>
          <p:cNvSpPr/>
          <p:nvPr/>
        </p:nvSpPr>
        <p:spPr>
          <a:xfrm>
            <a:off x="3064100" y="6044110"/>
            <a:ext cx="1800000" cy="396000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公司间对账平台建设</a:t>
            </a:r>
          </a:p>
        </p:txBody>
      </p:sp>
    </p:spTree>
    <p:extLst>
      <p:ext uri="{BB962C8B-B14F-4D97-AF65-F5344CB8AC3E}">
        <p14:creationId xmlns:p14="http://schemas.microsoft.com/office/powerpoint/2010/main" val="35850169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4719F-D4DC-771A-7CEF-36D0EE17B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63904-2CC6-281E-A860-F8233A3C8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254" y="284298"/>
            <a:ext cx="11337925" cy="912315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业务流程框架</a:t>
            </a:r>
            <a:r>
              <a:rPr lang="en-US" altLang="zh-CN" dirty="0"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（涉及财务合并有关的流程</a:t>
            </a:r>
            <a:r>
              <a:rPr lang="en-US" altLang="zh-CN" dirty="0"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r>
              <a:rPr lang="zh-CN" altLang="en-US" dirty="0"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个）</a:t>
            </a:r>
            <a:br>
              <a:rPr lang="zh-CN" altLang="en-US" dirty="0">
                <a:latin typeface="微软雅黑" panose="020B0503020204020204" pitchFamily="34" charset="-122"/>
                <a:cs typeface="微软雅黑" panose="020B0503020204020204" pitchFamily="34" charset="-122"/>
              </a:rPr>
            </a:br>
            <a:endParaRPr dirty="0"/>
          </a:p>
        </p:txBody>
      </p:sp>
      <p:sp>
        <p:nvSpPr>
          <p:cNvPr id="3" name="Arrow: Pentagon 16">
            <a:extLst>
              <a:ext uri="{FF2B5EF4-FFF2-40B4-BE49-F238E27FC236}">
                <a16:creationId xmlns:a16="http://schemas.microsoft.com/office/drawing/2014/main" id="{7F7D5439-45A6-9E06-2C2D-C1D0AB2B8B57}"/>
              </a:ext>
            </a:extLst>
          </p:cNvPr>
          <p:cNvSpPr/>
          <p:nvPr/>
        </p:nvSpPr>
        <p:spPr>
          <a:xfrm>
            <a:off x="9517775" y="2518410"/>
            <a:ext cx="1583055" cy="267335"/>
          </a:xfrm>
          <a:prstGeom prst="homePlate">
            <a:avLst/>
          </a:prstGeom>
          <a:solidFill>
            <a:srgbClr val="00538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0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本期</a:t>
            </a:r>
            <a:r>
              <a:rPr lang="en-US" altLang="zh-CN" sz="10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GR</a:t>
            </a:r>
            <a:r>
              <a:rPr lang="zh-CN" altLang="en-US" sz="10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涉及领域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CED5CC5-F8FD-7487-E17C-1072D7EE8CAA}"/>
              </a:ext>
            </a:extLst>
          </p:cNvPr>
          <p:cNvSpPr txBox="1"/>
          <p:nvPr/>
        </p:nvSpPr>
        <p:spPr>
          <a:xfrm>
            <a:off x="9654434" y="2242755"/>
            <a:ext cx="136144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图标颜色说明</a:t>
            </a:r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CB36210B-C335-EDC2-211A-876AC27D5B71}"/>
              </a:ext>
            </a:extLst>
          </p:cNvPr>
          <p:cNvSpPr/>
          <p:nvPr/>
        </p:nvSpPr>
        <p:spPr>
          <a:xfrm>
            <a:off x="449580" y="1669415"/>
            <a:ext cx="11289665" cy="3801745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127872" tIns="63940" rIns="127872" bIns="63940" rtlCol="0" anchor="t"/>
          <a:lstStyle/>
          <a:p>
            <a:pPr algn="ctr">
              <a:defRPr/>
            </a:pPr>
            <a:endParaRPr lang="en-US" sz="7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" name="Pentagon 80">
            <a:extLst>
              <a:ext uri="{FF2B5EF4-FFF2-40B4-BE49-F238E27FC236}">
                <a16:creationId xmlns:a16="http://schemas.microsoft.com/office/drawing/2014/main" id="{13321359-BB55-42D0-7965-9B8A1BBF2167}"/>
              </a:ext>
            </a:extLst>
          </p:cNvPr>
          <p:cNvSpPr/>
          <p:nvPr/>
        </p:nvSpPr>
        <p:spPr>
          <a:xfrm>
            <a:off x="975119" y="1711960"/>
            <a:ext cx="2892987" cy="3126740"/>
          </a:xfrm>
          <a:prstGeom prst="homePlate">
            <a:avLst/>
          </a:prstGeom>
          <a:solidFill>
            <a:schemeClr val="accent1">
              <a:lumMod val="60000"/>
              <a:lumOff val="4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35981" tIns="35981" rIns="35981" bIns="35981" rtlCol="0" anchor="ctr">
            <a:noAutofit/>
          </a:bodyPr>
          <a:lstStyle/>
          <a:p>
            <a:pPr lvl="0"/>
            <a:r>
              <a:rPr lang="en-US" altLang="zh-CN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GR-010-</a:t>
            </a:r>
            <a:r>
              <a:rPr lang="zh-CN" altLang="en-US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合并科目维护流程</a:t>
            </a:r>
          </a:p>
        </p:txBody>
      </p:sp>
      <p:sp>
        <p:nvSpPr>
          <p:cNvPr id="8" name="Pentagon 81">
            <a:extLst>
              <a:ext uri="{FF2B5EF4-FFF2-40B4-BE49-F238E27FC236}">
                <a16:creationId xmlns:a16="http://schemas.microsoft.com/office/drawing/2014/main" id="{FA9460CB-CCA7-5D02-F6C3-765F7FE3D1FA}"/>
              </a:ext>
            </a:extLst>
          </p:cNvPr>
          <p:cNvSpPr/>
          <p:nvPr/>
        </p:nvSpPr>
        <p:spPr>
          <a:xfrm>
            <a:off x="3677333" y="1776333"/>
            <a:ext cx="2555725" cy="3175001"/>
          </a:xfrm>
          <a:prstGeom prst="homePlate">
            <a:avLst/>
          </a:prstGeom>
          <a:solidFill>
            <a:schemeClr val="accent1">
              <a:lumMod val="60000"/>
              <a:lumOff val="4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35981" tIns="35981" rIns="35981" bIns="35981" rtlCol="0" anchor="ctr">
            <a:noAutofit/>
          </a:bodyPr>
          <a:lstStyle/>
          <a:p>
            <a:r>
              <a:rPr lang="en-US" altLang="zh-CN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GR-020-</a:t>
            </a:r>
            <a:r>
              <a:rPr lang="zh-CN" altLang="en-US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业务层面的公司间对账 </a:t>
            </a:r>
            <a:r>
              <a:rPr lang="en-US" altLang="zh-CN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v1.0</a:t>
            </a:r>
            <a:endParaRPr lang="zh-CN" altLang="en-US" b="1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Pentagon 82">
            <a:extLst>
              <a:ext uri="{FF2B5EF4-FFF2-40B4-BE49-F238E27FC236}">
                <a16:creationId xmlns:a16="http://schemas.microsoft.com/office/drawing/2014/main" id="{3D381CEB-8453-AC90-1882-FB22AF89EA68}"/>
              </a:ext>
            </a:extLst>
          </p:cNvPr>
          <p:cNvSpPr/>
          <p:nvPr/>
        </p:nvSpPr>
        <p:spPr>
          <a:xfrm>
            <a:off x="6060338" y="1776334"/>
            <a:ext cx="2496682" cy="3216954"/>
          </a:xfrm>
          <a:prstGeom prst="homePlate">
            <a:avLst/>
          </a:prstGeom>
          <a:solidFill>
            <a:schemeClr val="accent1">
              <a:lumMod val="60000"/>
              <a:lumOff val="4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35981" tIns="35981" rIns="35981" bIns="35981" rtlCol="0" anchor="ctr">
            <a:noAutofit/>
          </a:bodyPr>
          <a:lstStyle/>
          <a:p>
            <a:r>
              <a:rPr lang="en-US" altLang="zh-CN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GR-030-</a:t>
            </a:r>
            <a:r>
              <a:rPr lang="zh-CN" altLang="en-US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数据收集流程 </a:t>
            </a:r>
          </a:p>
        </p:txBody>
      </p:sp>
      <p:sp>
        <p:nvSpPr>
          <p:cNvPr id="10" name="Pentagon 83">
            <a:extLst>
              <a:ext uri="{FF2B5EF4-FFF2-40B4-BE49-F238E27FC236}">
                <a16:creationId xmlns:a16="http://schemas.microsoft.com/office/drawing/2014/main" id="{596A450C-1BEF-79DF-7452-018857B3042B}"/>
              </a:ext>
            </a:extLst>
          </p:cNvPr>
          <p:cNvSpPr/>
          <p:nvPr/>
        </p:nvSpPr>
        <p:spPr>
          <a:xfrm>
            <a:off x="8507807" y="1820523"/>
            <a:ext cx="2644726" cy="3216954"/>
          </a:xfrm>
          <a:prstGeom prst="homePlate">
            <a:avLst/>
          </a:prstGeom>
          <a:solidFill>
            <a:schemeClr val="accent1">
              <a:lumMod val="60000"/>
              <a:lumOff val="4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35981" tIns="35981" rIns="35981" bIns="35981" rtlCol="0" anchor="ctr">
            <a:noAutofit/>
          </a:bodyPr>
          <a:lstStyle/>
          <a:p>
            <a:r>
              <a:rPr lang="en-US" altLang="zh-CN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GR-040-</a:t>
            </a:r>
            <a:r>
              <a:rPr lang="zh-CN" altLang="en-US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合并处理流程 </a:t>
            </a:r>
          </a:p>
        </p:txBody>
      </p:sp>
      <p:sp>
        <p:nvSpPr>
          <p:cNvPr id="13" name="Rectangle 22">
            <a:extLst>
              <a:ext uri="{FF2B5EF4-FFF2-40B4-BE49-F238E27FC236}">
                <a16:creationId xmlns:a16="http://schemas.microsoft.com/office/drawing/2014/main" id="{9A573FB1-248D-4455-3C28-E8AB348CFE22}"/>
              </a:ext>
            </a:extLst>
          </p:cNvPr>
          <p:cNvSpPr/>
          <p:nvPr/>
        </p:nvSpPr>
        <p:spPr>
          <a:xfrm>
            <a:off x="449580" y="1310005"/>
            <a:ext cx="11289665" cy="36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zh-CN" altLang="en-US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财务合并管理核心业务流程</a:t>
            </a:r>
          </a:p>
        </p:txBody>
      </p:sp>
    </p:spTree>
    <p:extLst>
      <p:ext uri="{BB962C8B-B14F-4D97-AF65-F5344CB8AC3E}">
        <p14:creationId xmlns:p14="http://schemas.microsoft.com/office/powerpoint/2010/main" val="526475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98F3D-DEED-D178-C50F-AF355FA97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8B334-E0CF-C930-1B17-4CC0593D4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254" y="284298"/>
            <a:ext cx="11337925" cy="912315"/>
          </a:xfrm>
        </p:spPr>
        <p:txBody>
          <a:bodyPr/>
          <a:lstStyle/>
          <a:p>
            <a:r>
              <a:rPr lang="zh-CN" altLang="en-US" dirty="0"/>
              <a:t>法定合并功能核心业务流程</a:t>
            </a:r>
            <a:r>
              <a:rPr lang="en-US" altLang="zh-CN" dirty="0"/>
              <a:t>-</a:t>
            </a:r>
            <a:r>
              <a:rPr lang="zh-CN" altLang="en-US" dirty="0"/>
              <a:t>合并 科目</a:t>
            </a:r>
            <a:endParaRPr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599158E-7F5D-33DB-BED2-674BD417B6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575" y="1094292"/>
            <a:ext cx="11505604" cy="4271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7747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965E6-8927-4489-9B37-281C9A060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5BF3E-7C79-121C-271E-D67B1FDD2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254" y="284298"/>
            <a:ext cx="11337925" cy="912315"/>
          </a:xfrm>
        </p:spPr>
        <p:txBody>
          <a:bodyPr/>
          <a:lstStyle/>
          <a:p>
            <a:r>
              <a:rPr lang="zh-CN" altLang="en-US" dirty="0"/>
              <a:t>法定合并功能核心业务流程</a:t>
            </a:r>
            <a:r>
              <a:rPr lang="en-US" altLang="zh-CN" dirty="0"/>
              <a:t>-</a:t>
            </a:r>
            <a:r>
              <a:rPr lang="zh-CN" altLang="en-US" dirty="0"/>
              <a:t>内部往来对账</a:t>
            </a:r>
            <a:endParaRPr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6829E2B-FF33-4523-3110-B4F0A2D27D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429" y="1012914"/>
            <a:ext cx="11956571" cy="4581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3904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99404-2F74-FE14-C80F-EF952751A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B5A85-4D5C-D9F4-2647-8FDADDA37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254" y="284298"/>
            <a:ext cx="11337925" cy="912315"/>
          </a:xfrm>
        </p:spPr>
        <p:txBody>
          <a:bodyPr/>
          <a:lstStyle/>
          <a:p>
            <a:r>
              <a:rPr lang="zh-CN" altLang="en-US" dirty="0"/>
              <a:t>法定合并功能核心业务流程</a:t>
            </a:r>
            <a:r>
              <a:rPr lang="en-US" altLang="zh-CN" dirty="0"/>
              <a:t>-</a:t>
            </a:r>
            <a:r>
              <a:rPr lang="zh-CN" altLang="en-US" dirty="0"/>
              <a:t>数据收集流程</a:t>
            </a:r>
            <a:endParaRPr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213203F-7855-0835-BF07-D20B227E7E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254" y="1482625"/>
            <a:ext cx="11532193" cy="389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2444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A3C92-7493-23EE-5E7C-4AEC62F8F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C6628-8CD1-7786-DF25-49AF32A1B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254" y="284298"/>
            <a:ext cx="11337925" cy="912315"/>
          </a:xfrm>
        </p:spPr>
        <p:txBody>
          <a:bodyPr/>
          <a:lstStyle/>
          <a:p>
            <a:r>
              <a:rPr lang="zh-CN" altLang="en-US" dirty="0"/>
              <a:t>法定合并功能核心业务流程</a:t>
            </a:r>
            <a:r>
              <a:rPr lang="en-US" altLang="zh-CN" dirty="0"/>
              <a:t>-</a:t>
            </a:r>
            <a:r>
              <a:rPr lang="zh-CN" altLang="en-US" dirty="0"/>
              <a:t>合并处理流程</a:t>
            </a:r>
            <a:endParaRPr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7BC7340-504F-25B8-6E37-BA18CFD423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23" y="1196613"/>
            <a:ext cx="10833656" cy="3290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8280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6C537-7806-9B06-3D4B-373447B32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D7C94-69BB-6A9A-C5B7-74996DFE0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254" y="284298"/>
            <a:ext cx="11337925" cy="912315"/>
          </a:xfrm>
        </p:spPr>
        <p:txBody>
          <a:bodyPr/>
          <a:lstStyle/>
          <a:p>
            <a:r>
              <a:rPr lang="zh-CN" altLang="en-US" dirty="0">
                <a:sym typeface="+mn-ea"/>
              </a:rPr>
              <a:t>专题方案：合并科目相关的统一编码</a:t>
            </a:r>
            <a:br>
              <a:rPr lang="zh-CN" altLang="en-US" dirty="0"/>
            </a:br>
            <a:endParaRPr dirty="0"/>
          </a:p>
        </p:txBody>
      </p:sp>
      <p:sp>
        <p:nvSpPr>
          <p:cNvPr id="3" name="TextBox 67">
            <a:extLst>
              <a:ext uri="{FF2B5EF4-FFF2-40B4-BE49-F238E27FC236}">
                <a16:creationId xmlns:a16="http://schemas.microsoft.com/office/drawing/2014/main" id="{4F6BA6CE-144F-334D-0080-3946A53E0655}"/>
              </a:ext>
            </a:extLst>
          </p:cNvPr>
          <p:cNvSpPr txBox="1"/>
          <p:nvPr/>
        </p:nvSpPr>
        <p:spPr>
          <a:xfrm>
            <a:off x="220980" y="3604260"/>
            <a:ext cx="11191240" cy="2525373"/>
          </a:xfrm>
          <a:prstGeom prst="rect">
            <a:avLst/>
          </a:prstGeom>
          <a:noFill/>
          <a:ln>
            <a:solidFill>
              <a:schemeClr val="accent1"/>
            </a:solidFill>
            <a:prstDash val="lgDash"/>
          </a:ln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  <a:buClr>
                <a:srgbClr val="FFC000"/>
              </a:buClr>
              <a:buSzPct val="80000"/>
              <a:defRPr/>
            </a:pPr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业务特点：</a:t>
            </a:r>
            <a:endParaRPr lang="en-US" altLang="zh-CN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Clr>
                <a:srgbClr val="FFC000"/>
              </a:buClr>
              <a:buSzPct val="80000"/>
              <a:buFont typeface="Wingdings" panose="05000000000000000000" pitchFamily="2" charset="2"/>
              <a:buChar char="u"/>
              <a:defRPr/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合并模块的合并科目设置的粒度基本等同于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SAP GR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财务模块的运行科目，便于合并模块也出具非常明细的报告，也方便数据校验和核对；</a:t>
            </a:r>
            <a:endParaRPr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Clr>
                <a:srgbClr val="FFC000"/>
              </a:buClr>
              <a:buSzPct val="80000"/>
              <a:buFont typeface="Wingdings" panose="05000000000000000000" pitchFamily="2" charset="2"/>
              <a:buChar char="u"/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GR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的合并组科目会自动同步为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GR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的合并科目，减少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GR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模块格外的维护工作量。</a:t>
            </a:r>
          </a:p>
          <a:p>
            <a:pPr marL="285750" indent="-285750">
              <a:lnSpc>
                <a:spcPct val="150000"/>
              </a:lnSpc>
              <a:buClr>
                <a:srgbClr val="FFC000"/>
              </a:buClr>
              <a:buSzPct val="80000"/>
              <a:buFont typeface="Wingdings" panose="05000000000000000000" pitchFamily="2" charset="2"/>
              <a:buChar char="u"/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GR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的组科目，在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GR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合并科目层次关系，我们会建立一定的规则，比如利用国家会计准则的一级科目编码建立对应关系。</a:t>
            </a:r>
          </a:p>
          <a:p>
            <a:pPr marL="285750" indent="-285750">
              <a:lnSpc>
                <a:spcPct val="150000"/>
              </a:lnSpc>
              <a:buClr>
                <a:srgbClr val="FFC000"/>
              </a:buClr>
              <a:buSzPct val="80000"/>
              <a:buFont typeface="Wingdings" panose="05000000000000000000" pitchFamily="2" charset="2"/>
              <a:buChar char="u"/>
              <a:defRPr/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运行科目的核算，需要满足财务合并的需求，比如参与合并抵消，参与内部往来，内部交易对账要求的贸易伙伴，要满足附注披露要求附注核算要求，在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GR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财务核算模块就要落地。</a:t>
            </a:r>
            <a:endParaRPr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>
                <a:srgbClr val="FFC000"/>
              </a:buClr>
              <a:buSzPct val="80000"/>
              <a:defRPr/>
            </a:pPr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影响点：</a:t>
            </a:r>
            <a:endParaRPr lang="en-US" altLang="zh-CN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Clr>
                <a:srgbClr val="FFC000"/>
              </a:buClr>
              <a:buSzPct val="80000"/>
              <a:buFont typeface="Wingdings" panose="05000000000000000000" pitchFamily="2" charset="2"/>
              <a:buChar char="u"/>
              <a:defRPr/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内部客商编码（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BP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）和公司代码一致；</a:t>
            </a:r>
            <a:endParaRPr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Clr>
                <a:srgbClr val="FFC000"/>
              </a:buClr>
              <a:buSzPct val="80000"/>
              <a:buFont typeface="Wingdings" panose="05000000000000000000" pitchFamily="2" charset="2"/>
              <a:buChar char="u"/>
              <a:defRPr/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要参与合并抵消，对账的科目，要建立一个维护表，并维护科目编号信息，在财务核算的自动凭证，手工做账凭证，会有程序自动派生或者需要人工提供明确的贸易伙伴；</a:t>
            </a:r>
            <a:endParaRPr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E3B1701A-8787-7703-5499-24E4DF852703}"/>
              </a:ext>
            </a:extLst>
          </p:cNvPr>
          <p:cNvSpPr/>
          <p:nvPr/>
        </p:nvSpPr>
        <p:spPr bwMode="auto">
          <a:xfrm>
            <a:off x="4455909" y="2038432"/>
            <a:ext cx="354186" cy="461917"/>
          </a:xfrm>
          <a:prstGeom prst="rightArrow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36000" tIns="36000" rIns="54000" bIns="45720" numCol="1" rtlCol="0" anchor="ctr" anchorCtr="0" compatLnSpc="1"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</a:pPr>
            <a:endParaRPr kumimoji="0" lang="zh-CN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41E0F6D-A23D-A5A1-3547-3CD2B50EFE8A}"/>
              </a:ext>
            </a:extLst>
          </p:cNvPr>
          <p:cNvGrpSpPr/>
          <p:nvPr/>
        </p:nvGrpSpPr>
        <p:grpSpPr>
          <a:xfrm>
            <a:off x="7133371" y="779344"/>
            <a:ext cx="4277995" cy="2736850"/>
            <a:chOff x="958788" y="796489"/>
            <a:chExt cx="4802156" cy="2736850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E9F5720-2B43-565E-AED5-2A04C57F3DE4}"/>
                </a:ext>
              </a:extLst>
            </p:cNvPr>
            <p:cNvSpPr/>
            <p:nvPr/>
          </p:nvSpPr>
          <p:spPr bwMode="auto">
            <a:xfrm>
              <a:off x="958788" y="825699"/>
              <a:ext cx="4802156" cy="2707640"/>
            </a:xfrm>
            <a:prstGeom prst="rect">
              <a:avLst/>
            </a:prstGeom>
            <a:solidFill>
              <a:srgbClr val="BFBFB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36000" tIns="36000" rIns="54000" bIns="45720" numCol="1" rtlCol="0" anchor="ctr" anchorCtr="0" compatLnSpc="1"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Pct val="100000"/>
                <a:buFont typeface="Wingdings" panose="05000000000000000000" pitchFamily="2" charset="2"/>
                <a:buNone/>
              </a:pPr>
              <a:endParaRPr kumimoji="0" lang="zh-CN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6853E7D7-3EB6-F3DB-104F-07E906ABC8C3}"/>
                </a:ext>
              </a:extLst>
            </p:cNvPr>
            <p:cNvSpPr/>
            <p:nvPr/>
          </p:nvSpPr>
          <p:spPr bwMode="auto">
            <a:xfrm>
              <a:off x="1189736" y="1145739"/>
              <a:ext cx="4031616" cy="43497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36000" tIns="36000" rIns="54000" bIns="45720" numCol="1" rtlCol="0" anchor="ctr" anchorCtr="0" compatLnSpc="1">
              <a:noAutofit/>
            </a:bodyPr>
            <a:lstStyle/>
            <a:p>
              <a:pPr marL="0" marR="0" indent="0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Pct val="100000"/>
                <a:buFont typeface="Wingdings" panose="05000000000000000000" pitchFamily="2" charset="2"/>
                <a:buNone/>
              </a:pPr>
              <a:r>
                <a:rPr lang="zh-CN" sz="14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自</a:t>
              </a:r>
              <a:r>
                <a:rPr lang="en-US" altLang="zh-CN" sz="14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GR</a:t>
              </a:r>
              <a:r>
                <a:rPr lang="zh-CN" altLang="en-US" sz="14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财务模块的组科目自动程序同步为</a:t>
              </a:r>
              <a:r>
                <a:rPr lang="en-US" altLang="zh-CN" sz="14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GR</a:t>
              </a:r>
              <a:r>
                <a:rPr lang="zh-CN" altLang="en-US" sz="14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的合并科目</a:t>
              </a:r>
              <a:r>
                <a:rPr lang="en-US" altLang="zh-CN" sz="1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D414357E-7F35-0E90-DF54-0CB4CA790D0D}"/>
                </a:ext>
              </a:extLst>
            </p:cNvPr>
            <p:cNvSpPr txBox="1"/>
            <p:nvPr/>
          </p:nvSpPr>
          <p:spPr>
            <a:xfrm>
              <a:off x="958788" y="796489"/>
              <a:ext cx="3734377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GR</a:t>
              </a:r>
              <a:r>
                <a:rPr lang="zh-CN" altLang="en-US" dirty="0"/>
                <a:t>的合并科目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60BEBA9B-662E-84D2-2F21-77C3C1F3DEF4}"/>
              </a:ext>
            </a:extLst>
          </p:cNvPr>
          <p:cNvGrpSpPr/>
          <p:nvPr/>
        </p:nvGrpSpPr>
        <p:grpSpPr>
          <a:xfrm>
            <a:off x="788670" y="792480"/>
            <a:ext cx="5067935" cy="2731770"/>
            <a:chOff x="958788" y="796489"/>
            <a:chExt cx="4772931" cy="2736850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2AF919BB-0AFA-CBF4-7BCD-36EE7435962A}"/>
                </a:ext>
              </a:extLst>
            </p:cNvPr>
            <p:cNvSpPr/>
            <p:nvPr/>
          </p:nvSpPr>
          <p:spPr bwMode="auto">
            <a:xfrm>
              <a:off x="958788" y="825699"/>
              <a:ext cx="4641776" cy="2707640"/>
            </a:xfrm>
            <a:prstGeom prst="rect">
              <a:avLst/>
            </a:prstGeom>
            <a:solidFill>
              <a:srgbClr val="BFBFB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36000" tIns="36000" rIns="54000" bIns="45720" numCol="1" rtlCol="0" anchor="ctr" anchorCtr="0" compatLnSpc="1"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Pct val="100000"/>
                <a:buFont typeface="Wingdings" panose="05000000000000000000" pitchFamily="2" charset="2"/>
                <a:buNone/>
              </a:pPr>
              <a:endParaRPr kumimoji="0" lang="zh-CN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F37C3B98-EA0E-60AE-586A-477F0DC14455}"/>
                </a:ext>
              </a:extLst>
            </p:cNvPr>
            <p:cNvSpPr/>
            <p:nvPr/>
          </p:nvSpPr>
          <p:spPr bwMode="auto">
            <a:xfrm>
              <a:off x="1189630" y="1145752"/>
              <a:ext cx="4308256" cy="118075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36000" tIns="36000" rIns="54000" bIns="45720" numCol="1" rtlCol="0" anchor="ctr" anchorCtr="0" compatLnSpc="1">
              <a:noAutofit/>
            </a:bodyPr>
            <a:lstStyle/>
            <a:p>
              <a:pPr marL="0" marR="0" indent="0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Pct val="100000"/>
                <a:buFont typeface="Wingdings" panose="05000000000000000000" pitchFamily="2" charset="2"/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14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en-US" altLang="zh-CN" sz="14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GR</a:t>
              </a:r>
              <a:r>
                <a:rPr lang="zh-CN" altLang="en-US" sz="14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财务模块建立集团统一的财务核算运行科目</a:t>
              </a:r>
            </a:p>
            <a:p>
              <a:pPr marL="0" marR="0" indent="0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Pct val="100000"/>
                <a:buFont typeface="Wingdings" panose="05000000000000000000" pitchFamily="2" charset="2"/>
                <a:buNone/>
              </a:pPr>
              <a:r>
                <a:rPr lang="zh-CN" altLang="en-US" sz="14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要点：</a:t>
              </a:r>
              <a:br>
                <a:rPr lang="zh-CN" altLang="en-US" sz="14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altLang="zh-CN" sz="12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1. </a:t>
              </a:r>
              <a:r>
                <a:rPr lang="zh-CN" altLang="en-US" sz="12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核算要求满足合并贸易伙伴自动派生要求；</a:t>
              </a:r>
            </a:p>
            <a:p>
              <a:pPr marL="0" marR="0" indent="0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Pct val="100000"/>
                <a:buFont typeface="Wingdings" panose="05000000000000000000" pitchFamily="2" charset="2"/>
                <a:buNone/>
              </a:pPr>
              <a:r>
                <a:rPr lang="en-US" altLang="zh-CN" sz="12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 </a:t>
              </a:r>
              <a:r>
                <a:rPr lang="zh-CN" altLang="en-US" sz="12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或附注披露的格外要求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1C050DBD-4D17-CC21-666B-1DA636E2F758}"/>
                </a:ext>
              </a:extLst>
            </p:cNvPr>
            <p:cNvSpPr txBox="1"/>
            <p:nvPr/>
          </p:nvSpPr>
          <p:spPr>
            <a:xfrm>
              <a:off x="958788" y="796489"/>
              <a:ext cx="4772931" cy="3689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GR</a:t>
              </a:r>
              <a:r>
                <a:rPr lang="zh-CN" altLang="en-US" dirty="0"/>
                <a:t>的运行科目和合并组科目表</a:t>
              </a:r>
              <a:endParaRPr lang="en-US" altLang="zh-CN" dirty="0"/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F40EAB68-670D-99CF-215F-0FF39FD2F851}"/>
              </a:ext>
            </a:extLst>
          </p:cNvPr>
          <p:cNvSpPr/>
          <p:nvPr/>
        </p:nvSpPr>
        <p:spPr bwMode="auto">
          <a:xfrm>
            <a:off x="1002030" y="2351405"/>
            <a:ext cx="4606290" cy="102743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36000" tIns="36000" rIns="54000" bIns="45720" numCol="1" rtlCol="0" anchor="ctr" anchorCtr="0" compatLnSpc="1">
            <a:no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  <a:buSzPct val="100000"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GR</a:t>
            </a:r>
            <a:r>
              <a:rPr lang="zh-CN" alt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端财务模块设置一套合并组科目表</a:t>
            </a:r>
            <a:br>
              <a:rPr lang="zh-CN" alt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要点：</a:t>
            </a:r>
            <a:br>
              <a:rPr lang="zh-CN" alt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除现金银行科目之外，其他科目为一一对应。</a:t>
            </a:r>
            <a:br>
              <a:rPr lang="zh-CN" alt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银行科目，适当的分组，比如按照</a:t>
            </a:r>
            <a:r>
              <a:rPr lang="en-US" altLang="zh-CN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银行</a:t>
            </a:r>
            <a:r>
              <a:rPr lang="en-US" altLang="zh-CN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货币</a:t>
            </a:r>
            <a:r>
              <a:rPr lang="en-US" altLang="zh-CN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一致的科目，对应到同一个合并科目</a:t>
            </a:r>
            <a:endParaRPr lang="en-US" altLang="zh-CN" sz="1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右箭头 36">
            <a:extLst>
              <a:ext uri="{FF2B5EF4-FFF2-40B4-BE49-F238E27FC236}">
                <a16:creationId xmlns:a16="http://schemas.microsoft.com/office/drawing/2014/main" id="{5D0E2F83-3F39-E976-CBCE-6976808FD0AF}"/>
              </a:ext>
            </a:extLst>
          </p:cNvPr>
          <p:cNvSpPr/>
          <p:nvPr/>
        </p:nvSpPr>
        <p:spPr>
          <a:xfrm>
            <a:off x="6177915" y="1858010"/>
            <a:ext cx="590550" cy="461645"/>
          </a:xfrm>
          <a:prstGeom prst="rightArrow">
            <a:avLst/>
          </a:prstGeom>
          <a:noFill/>
          <a:ln>
            <a:solidFill>
              <a:srgbClr val="0070C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2EE92F3-3DC7-C993-47A3-325640200A40}"/>
              </a:ext>
            </a:extLst>
          </p:cNvPr>
          <p:cNvSpPr/>
          <p:nvPr/>
        </p:nvSpPr>
        <p:spPr bwMode="auto">
          <a:xfrm>
            <a:off x="7338060" y="1798320"/>
            <a:ext cx="3591560" cy="66611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36000" tIns="36000" rIns="54000" bIns="45720" numCol="1" rtlCol="0" anchor="ctr" anchorCtr="0" compatLnSpc="1">
            <a:noAutofit/>
          </a:bodyPr>
          <a:lstStyle/>
          <a:p>
            <a:pPr marL="0" marR="0" indent="0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GR</a:t>
            </a:r>
            <a:r>
              <a:rPr lang="zh-CN" alt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模块新建一些满足合并报表需求的组节点科目，维护为层次关系的父节点，这类科目不能记账数据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C265EC2-A4D9-CFF0-7437-3FE06FC407A9}"/>
              </a:ext>
            </a:extLst>
          </p:cNvPr>
          <p:cNvSpPr/>
          <p:nvPr/>
        </p:nvSpPr>
        <p:spPr bwMode="auto">
          <a:xfrm>
            <a:off x="7339330" y="2653030"/>
            <a:ext cx="3591560" cy="66611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36000" tIns="36000" rIns="54000" bIns="45720" numCol="1" rtlCol="0" anchor="ctr" anchorCtr="0" compatLnSpc="1">
            <a:noAutofit/>
          </a:bodyPr>
          <a:lstStyle/>
          <a:p>
            <a:pPr marL="0" marR="0" indent="0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GR</a:t>
            </a:r>
            <a:r>
              <a:rPr lang="zh-CN" alt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模块新建一些少数合并模块中特定的科目，比如少数股东损益，少数股东权益，商誉等科目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675037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848A2-E8D0-8054-7AF3-E6426C454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51C1A-E14C-728C-CEBE-9BAD49767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254" y="284298"/>
            <a:ext cx="11337925" cy="912315"/>
          </a:xfrm>
        </p:spPr>
        <p:txBody>
          <a:bodyPr/>
          <a:lstStyle/>
          <a:p>
            <a:r>
              <a:rPr lang="zh-CN" altLang="en-US" dirty="0">
                <a:sym typeface="+mn-ea"/>
              </a:rPr>
              <a:t>专题方案：</a:t>
            </a:r>
            <a:r>
              <a:rPr lang="zh-CN" altLang="en-US" dirty="0"/>
              <a:t>内部单体公司对账现状调研及分析</a:t>
            </a:r>
            <a:br>
              <a:rPr lang="zh-CN" altLang="en-US" dirty="0"/>
            </a:br>
            <a:endParaRPr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AC96E9A-1C4C-324B-A4F0-CFF1E9D2378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4810456" y="1190712"/>
            <a:ext cx="1123950" cy="933450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EF591D11-F6E3-C746-C7B2-E757CA3037AC}"/>
              </a:ext>
            </a:extLst>
          </p:cNvPr>
          <p:cNvSpPr txBox="1"/>
          <p:nvPr/>
        </p:nvSpPr>
        <p:spPr>
          <a:xfrm>
            <a:off x="5934406" y="1209123"/>
            <a:ext cx="15144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业务影响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5421932-C1B5-C80E-2079-5A3E92511A85}"/>
              </a:ext>
            </a:extLst>
          </p:cNvPr>
          <p:cNvSpPr txBox="1"/>
          <p:nvPr/>
        </p:nvSpPr>
        <p:spPr>
          <a:xfrm>
            <a:off x="5934406" y="1696919"/>
            <a:ext cx="13989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竞争受限</a:t>
            </a:r>
          </a:p>
        </p:txBody>
      </p:sp>
      <p:cxnSp>
        <p:nvCxnSpPr>
          <p:cNvPr id="20" name="直接连接符 7">
            <a:extLst>
              <a:ext uri="{FF2B5EF4-FFF2-40B4-BE49-F238E27FC236}">
                <a16:creationId xmlns:a16="http://schemas.microsoft.com/office/drawing/2014/main" id="{79477E8B-3A37-259C-44B4-0981BDEB6E6A}"/>
              </a:ext>
            </a:extLst>
          </p:cNvPr>
          <p:cNvCxnSpPr/>
          <p:nvPr/>
        </p:nvCxnSpPr>
        <p:spPr>
          <a:xfrm>
            <a:off x="4591381" y="2191472"/>
            <a:ext cx="2509159" cy="5652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1" name="图片 20">
            <a:extLst>
              <a:ext uri="{FF2B5EF4-FFF2-40B4-BE49-F238E27FC236}">
                <a16:creationId xmlns:a16="http://schemas.microsoft.com/office/drawing/2014/main" id="{61616D19-AE43-17FA-1752-FAC4F3D4979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4416121" y="2343237"/>
            <a:ext cx="579943" cy="844550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8F217A62-3435-1F73-A1A1-1928B032DF97}"/>
              </a:ext>
            </a:extLst>
          </p:cNvPr>
          <p:cNvSpPr txBox="1"/>
          <p:nvPr/>
        </p:nvSpPr>
        <p:spPr>
          <a:xfrm>
            <a:off x="4904740" y="2383790"/>
            <a:ext cx="2453005" cy="875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7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管理层：</a:t>
            </a: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影响决策分析数据的全面性、准确性及时性差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7EFCB849-C0AD-93F5-ED76-297B6B44BEB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4339921" y="3257062"/>
            <a:ext cx="640989" cy="762000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A3378DB4-BFEF-F746-0B0E-1A927466FCD4}"/>
              </a:ext>
            </a:extLst>
          </p:cNvPr>
          <p:cNvSpPr txBox="1"/>
          <p:nvPr/>
        </p:nvSpPr>
        <p:spPr>
          <a:xfrm>
            <a:off x="4893310" y="3333750"/>
            <a:ext cx="2465070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7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运营层：</a:t>
            </a: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大部分工作依靠</a:t>
            </a:r>
            <a:r>
              <a:rPr lang="en-US" altLang="zh-CN" sz="17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EXCEL</a:t>
            </a: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处理，合并月结效率不高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650EF225-0926-D614-A710-E0B2B47047B8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4371671" y="4546115"/>
            <a:ext cx="488373" cy="685800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10F82208-CC85-C6ED-1E17-50A061F33941}"/>
              </a:ext>
            </a:extLst>
          </p:cNvPr>
          <p:cNvSpPr txBox="1"/>
          <p:nvPr/>
        </p:nvSpPr>
        <p:spPr>
          <a:xfrm>
            <a:off x="4883028" y="4540686"/>
            <a:ext cx="2238375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7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风险控制：</a:t>
            </a: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可能出现多买、错买等风险漏洞</a:t>
            </a: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5E6AF270-2FBD-F253-BE08-804CDF48B3D7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4358971" y="5440074"/>
            <a:ext cx="534158" cy="711200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13E5E355-74C1-E4FE-963E-E04757EEE516}"/>
              </a:ext>
            </a:extLst>
          </p:cNvPr>
          <p:cNvSpPr txBox="1"/>
          <p:nvPr/>
        </p:nvSpPr>
        <p:spPr>
          <a:xfrm>
            <a:off x="4893006" y="5492144"/>
            <a:ext cx="2147823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7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信息系统：</a:t>
            </a: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跨系统自动化处理受限，影响系统支撑高效运营</a:t>
            </a: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9AA2FAA8-4270-08E0-AA86-7A06D1511BDF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572006" y="1299210"/>
            <a:ext cx="1085215" cy="871220"/>
          </a:xfrm>
          <a:prstGeom prst="rect">
            <a:avLst/>
          </a:prstGeom>
        </p:spPr>
      </p:pic>
      <p:sp>
        <p:nvSpPr>
          <p:cNvPr id="30" name="文本框 29">
            <a:extLst>
              <a:ext uri="{FF2B5EF4-FFF2-40B4-BE49-F238E27FC236}">
                <a16:creationId xmlns:a16="http://schemas.microsoft.com/office/drawing/2014/main" id="{157516BE-D7B7-C973-1FEB-9B3CAB397F86}"/>
              </a:ext>
            </a:extLst>
          </p:cNvPr>
          <p:cNvSpPr txBox="1"/>
          <p:nvPr/>
        </p:nvSpPr>
        <p:spPr>
          <a:xfrm>
            <a:off x="1718816" y="1209123"/>
            <a:ext cx="13696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管理现状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5E10866D-BA45-9F13-3EA4-8DEC2263DAD7}"/>
              </a:ext>
            </a:extLst>
          </p:cNvPr>
          <p:cNvSpPr txBox="1"/>
          <p:nvPr/>
        </p:nvSpPr>
        <p:spPr>
          <a:xfrm>
            <a:off x="1680871" y="1578174"/>
            <a:ext cx="1891348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单体公司的内部往来和内部交易对账需要提升</a:t>
            </a:r>
          </a:p>
        </p:txBody>
      </p:sp>
      <p:cxnSp>
        <p:nvCxnSpPr>
          <p:cNvPr id="32" name="直接连接符 19">
            <a:extLst>
              <a:ext uri="{FF2B5EF4-FFF2-40B4-BE49-F238E27FC236}">
                <a16:creationId xmlns:a16="http://schemas.microsoft.com/office/drawing/2014/main" id="{A47ECA55-BDB5-437A-91E7-8BD0073951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14856" y="2230120"/>
            <a:ext cx="3312000" cy="381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C6BA37D3-0801-2EEF-5FE6-78C332994D08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549145" y="2542112"/>
            <a:ext cx="3240000" cy="40894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zh-CN" altLang="en-US" sz="17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系统层面的支持不够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38E72F7-D83D-FC1F-194E-0D79C83288AE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548510" y="3557725"/>
            <a:ext cx="3240000" cy="40894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buClrTx/>
              <a:buSzTx/>
              <a:buFontTx/>
            </a:pPr>
            <a:r>
              <a:rPr lang="zh-CN" altLang="en-US" sz="17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单体月结流程无自动对账环节</a:t>
            </a: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0370E78D-FF20-9B02-9F93-AE188A68FFE4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8414385" y="1377950"/>
            <a:ext cx="952500" cy="742950"/>
          </a:xfrm>
          <a:prstGeom prst="rect">
            <a:avLst/>
          </a:prstGeom>
        </p:spPr>
      </p:pic>
      <p:sp>
        <p:nvSpPr>
          <p:cNvPr id="38" name="文本框 37">
            <a:extLst>
              <a:ext uri="{FF2B5EF4-FFF2-40B4-BE49-F238E27FC236}">
                <a16:creationId xmlns:a16="http://schemas.microsoft.com/office/drawing/2014/main" id="{918273E4-E441-F597-49F6-AC315B6DDA7A}"/>
              </a:ext>
            </a:extLst>
          </p:cNvPr>
          <p:cNvSpPr txBox="1"/>
          <p:nvPr/>
        </p:nvSpPr>
        <p:spPr>
          <a:xfrm>
            <a:off x="9572625" y="1209123"/>
            <a:ext cx="14566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管理建议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33AF075F-40EC-61F9-14C4-005C89F476E1}"/>
              </a:ext>
            </a:extLst>
          </p:cNvPr>
          <p:cNvSpPr txBox="1"/>
          <p:nvPr/>
        </p:nvSpPr>
        <p:spPr>
          <a:xfrm>
            <a:off x="9434195" y="1696919"/>
            <a:ext cx="23253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建立集成的，高度自动化的对账平台</a:t>
            </a:r>
          </a:p>
        </p:txBody>
      </p:sp>
      <p:cxnSp>
        <p:nvCxnSpPr>
          <p:cNvPr id="40" name="直接连接符 28">
            <a:extLst>
              <a:ext uri="{FF2B5EF4-FFF2-40B4-BE49-F238E27FC236}">
                <a16:creationId xmlns:a16="http://schemas.microsoft.com/office/drawing/2014/main" id="{AC03D981-DC77-C2AE-5B74-A643E2ADCC1B}"/>
              </a:ext>
            </a:extLst>
          </p:cNvPr>
          <p:cNvCxnSpPr/>
          <p:nvPr>
            <p:custDataLst>
              <p:tags r:id="rId11"/>
            </p:custDataLst>
          </p:nvPr>
        </p:nvCxnSpPr>
        <p:spPr>
          <a:xfrm>
            <a:off x="8208645" y="2179320"/>
            <a:ext cx="3600000" cy="381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1" name="右箭头 36">
            <a:extLst>
              <a:ext uri="{FF2B5EF4-FFF2-40B4-BE49-F238E27FC236}">
                <a16:creationId xmlns:a16="http://schemas.microsoft.com/office/drawing/2014/main" id="{63A6698E-46AE-321C-FC7A-2D8A9009BF3A}"/>
              </a:ext>
            </a:extLst>
          </p:cNvPr>
          <p:cNvSpPr/>
          <p:nvPr/>
        </p:nvSpPr>
        <p:spPr>
          <a:xfrm>
            <a:off x="3896360" y="1577975"/>
            <a:ext cx="590550" cy="461645"/>
          </a:xfrm>
          <a:prstGeom prst="rightArrow">
            <a:avLst/>
          </a:prstGeom>
          <a:noFill/>
          <a:ln>
            <a:solidFill>
              <a:srgbClr val="0070C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右箭头 37">
            <a:extLst>
              <a:ext uri="{FF2B5EF4-FFF2-40B4-BE49-F238E27FC236}">
                <a16:creationId xmlns:a16="http://schemas.microsoft.com/office/drawing/2014/main" id="{EE626348-5F76-1F97-0076-C9D587E89E39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7726505" y="1609046"/>
            <a:ext cx="590550" cy="461645"/>
          </a:xfrm>
          <a:prstGeom prst="rightArrow">
            <a:avLst/>
          </a:prstGeom>
          <a:noFill/>
          <a:ln>
            <a:solidFill>
              <a:srgbClr val="0070C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B856E52E-361F-2769-C4B5-4BCA1AAF9364}"/>
              </a:ext>
            </a:extLst>
          </p:cNvPr>
          <p:cNvSpPr txBox="1"/>
          <p:nvPr/>
        </p:nvSpPr>
        <p:spPr>
          <a:xfrm>
            <a:off x="548510" y="2957561"/>
            <a:ext cx="324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使用的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ECC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</a:t>
            </a:r>
            <a:r>
              <a:rPr lang="zh-CN" altLang="en-US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，无法支持系统层面的自动对账能力。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504752BF-29A1-312A-D891-51AFE41E7803}"/>
              </a:ext>
            </a:extLst>
          </p:cNvPr>
          <p:cNvSpPr txBox="1"/>
          <p:nvPr/>
        </p:nvSpPr>
        <p:spPr>
          <a:xfrm>
            <a:off x="548510" y="3988565"/>
            <a:ext cx="324000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i="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因为系统原因，直接导致单体公司财务月结无自动对账环节。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057C84C6-A883-B77F-732E-BADCC3C705F6}"/>
              </a:ext>
            </a:extLst>
          </p:cNvPr>
          <p:cNvSpPr txBox="1"/>
          <p:nvPr/>
        </p:nvSpPr>
        <p:spPr>
          <a:xfrm>
            <a:off x="7391401" y="2244365"/>
            <a:ext cx="4526280" cy="40789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梳理关联往来，关联交易的业务种类和自动对账规则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b="1" i="0" u="none" strike="noStrike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项目实施期</a:t>
            </a:r>
            <a:r>
              <a:rPr lang="zh-CN" altLang="en-US" sz="1100" b="0" i="0" u="none" strike="noStrike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100" b="0" i="0" u="none" strike="noStrike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搭建依照SAP </a:t>
            </a:r>
            <a:r>
              <a:rPr lang="en-US" altLang="zh-CN" sz="1100" b="0" i="0" u="none" strike="noStrike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GR</a:t>
            </a:r>
            <a:r>
              <a:rPr lang="zh-CN" altLang="en-US" sz="1100" b="0" i="0" u="none" strike="noStrike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系统为基础关联交易所涉及的相关财务科目，关联交易数据自动派生规则，并开发关联交易自动对账平台。单体月结结束前，有一个流程环节，单体对账是单体财务月结的一个步骤。</a:t>
            </a:r>
            <a:endParaRPr lang="en-US" altLang="zh-CN" sz="11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b="1" i="0" u="none" strike="noStrike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未来常态化管理：</a:t>
            </a:r>
            <a:r>
              <a:rPr lang="zh-CN" altLang="en-US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单体月结包含单体对账流程，先对账，再关账</a:t>
            </a:r>
            <a:r>
              <a:rPr lang="zh-CN" altLang="en-US" sz="1100" b="0" i="0" u="none" strike="noStrike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100" b="0" i="0" u="none" strike="noStrike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制定单体公司对账的标准化流程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结合系统实施，建立标准的对账业务流程，保证未来公司间对账标准化。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建立统一需要对账的财务科目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11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集团层面建立统一需要实现对账的财务科目，</a:t>
            </a:r>
            <a:r>
              <a:rPr lang="zh-CN" altLang="en-US" sz="1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对这些科目，通过业务执行，或者财务人工记账的不同条件下，能确保获得正确的对方公司信息。</a:t>
            </a:r>
          </a:p>
        </p:txBody>
      </p:sp>
    </p:spTree>
    <p:extLst>
      <p:ext uri="{BB962C8B-B14F-4D97-AF65-F5344CB8AC3E}">
        <p14:creationId xmlns:p14="http://schemas.microsoft.com/office/powerpoint/2010/main" val="16572687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6097A-2A4F-BA07-C8DC-608264C79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C0C3B-41A5-A865-34E7-3F6D733B8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254" y="284298"/>
            <a:ext cx="11337925" cy="912315"/>
          </a:xfrm>
        </p:spPr>
        <p:txBody>
          <a:bodyPr/>
          <a:lstStyle/>
          <a:p>
            <a:r>
              <a:rPr lang="zh-CN" altLang="en-US" dirty="0">
                <a:sym typeface="+mn-ea"/>
              </a:rPr>
              <a:t>专题方案：</a:t>
            </a:r>
            <a:r>
              <a:rPr lang="zh-CN" altLang="zh-CN" dirty="0"/>
              <a:t>内部单体公司自动对账平台</a:t>
            </a:r>
            <a:br>
              <a:rPr lang="zh-CN" altLang="en-US" dirty="0"/>
            </a:br>
            <a:endParaRPr dirty="0"/>
          </a:p>
        </p:txBody>
      </p:sp>
      <p:sp>
        <p:nvSpPr>
          <p:cNvPr id="3" name="Rectangle 7"/>
          <p:cNvSpPr>
            <a:spLocks noChangeArrowheads="1"/>
          </p:cNvSpPr>
          <p:nvPr/>
        </p:nvSpPr>
        <p:spPr bwMode="auto">
          <a:xfrm>
            <a:off x="394678" y="1406309"/>
            <a:ext cx="8505169" cy="4911444"/>
          </a:xfrm>
          <a:prstGeom prst="rect">
            <a:avLst/>
          </a:prstGeom>
          <a:solidFill>
            <a:srgbClr val="FFFFFF"/>
          </a:solidFill>
          <a:ln w="9525">
            <a:solidFill>
              <a:schemeClr val="bg1">
                <a:lumMod val="50000"/>
              </a:schemeClr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89977" tIns="46788" rIns="89977" bIns="46788" anchor="ctr"/>
          <a:lstStyle/>
          <a:p>
            <a:pPr defTabSz="914400">
              <a:spcBef>
                <a:spcPct val="20000"/>
              </a:spcBef>
              <a:spcAft>
                <a:spcPct val="20000"/>
              </a:spcAft>
              <a:defRPr/>
            </a:pPr>
            <a:endParaRPr lang="en-US" altLang="zh-CN" sz="1800" kern="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11"/>
          <p:cNvSpPr>
            <a:spLocks noChangeArrowheads="1"/>
          </p:cNvSpPr>
          <p:nvPr/>
        </p:nvSpPr>
        <p:spPr bwMode="auto">
          <a:xfrm>
            <a:off x="8900738" y="1414991"/>
            <a:ext cx="2760401" cy="184032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66"/>
            </a:solidFill>
            <a:miter lim="800000"/>
          </a:ln>
        </p:spPr>
        <p:txBody>
          <a:bodyPr lIns="17995" tIns="82778" rIns="53986"/>
          <a:lstStyle/>
          <a:p>
            <a:pPr marL="344170" indent="-285750" defTabSz="914400" eaLnBrk="0" hangingPunct="0">
              <a:lnSpc>
                <a:spcPct val="80000"/>
              </a:lnSpc>
              <a:tabLst>
                <a:tab pos="6461760" algn="r"/>
              </a:tabLst>
              <a:defRPr/>
            </a:pPr>
            <a:endParaRPr lang="en-US" altLang="zh-CN" sz="1400" kern="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4170" indent="-285750" defTabSz="914400" eaLnBrk="0" hangingPunct="0">
              <a:lnSpc>
                <a:spcPct val="80000"/>
              </a:lnSpc>
              <a:buFontTx/>
              <a:buAutoNum type="arabicPeriod"/>
              <a:tabLst>
                <a:tab pos="6461760" algn="r"/>
              </a:tabLst>
              <a:defRPr/>
            </a:pPr>
            <a:endParaRPr lang="en-US" altLang="zh-CN" sz="1400" kern="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4170" indent="-285750" defTabSz="914400" eaLnBrk="0" hangingPunct="0">
              <a:lnSpc>
                <a:spcPct val="80000"/>
              </a:lnSpc>
              <a:buFontTx/>
              <a:buAutoNum type="arabicPeriod"/>
              <a:tabLst>
                <a:tab pos="6461760" algn="r"/>
              </a:tabLst>
              <a:defRPr/>
            </a:pPr>
            <a:r>
              <a:rPr lang="zh-CN" altLang="en-US" sz="1400" kern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关联对账差异大，对账效率不高。</a:t>
            </a:r>
            <a:endParaRPr lang="en-US" altLang="zh-CN" sz="1400" kern="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4170" indent="-285750" defTabSz="914400" eaLnBrk="0" hangingPunct="0">
              <a:lnSpc>
                <a:spcPct val="80000"/>
              </a:lnSpc>
              <a:buFontTx/>
              <a:buAutoNum type="arabicPeriod"/>
              <a:tabLst>
                <a:tab pos="6461760" algn="r"/>
              </a:tabLst>
              <a:defRPr/>
            </a:pPr>
            <a:r>
              <a:rPr lang="zh-CN" altLang="en-US" sz="1400" kern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满足合并抵消核算要求的贸易伙伴操作不统一，对账结果不准确；对账数据并不直接来自</a:t>
            </a:r>
            <a:r>
              <a:rPr lang="en-US" altLang="zh-CN" sz="1400" kern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SAP</a:t>
            </a:r>
            <a:r>
              <a:rPr lang="zh-CN" altLang="en-US" sz="1400" kern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400" kern="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4170" indent="-285750" defTabSz="914400" eaLnBrk="0" hangingPunct="0">
              <a:lnSpc>
                <a:spcPct val="80000"/>
              </a:lnSpc>
              <a:buFontTx/>
              <a:buAutoNum type="arabicPeriod"/>
              <a:tabLst>
                <a:tab pos="6461760" algn="r"/>
              </a:tabLst>
              <a:defRPr/>
            </a:pPr>
            <a:r>
              <a:rPr lang="zh-CN" altLang="en-US" sz="1400" kern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对账依赖较多的人工处理</a:t>
            </a:r>
            <a:endParaRPr lang="en-US" altLang="zh-CN" sz="1400" kern="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4170" indent="-285750" defTabSz="914400" eaLnBrk="0" hangingPunct="0">
              <a:lnSpc>
                <a:spcPct val="80000"/>
              </a:lnSpc>
              <a:tabLst>
                <a:tab pos="6461760" algn="r"/>
              </a:tabLst>
              <a:defRPr/>
            </a:pPr>
            <a:r>
              <a:rPr lang="en-US" altLang="zh-CN" sz="1400" kern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endParaRPr lang="zh-CN" altLang="en-GB" sz="1200" kern="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ectangle 9"/>
          <p:cNvSpPr>
            <a:spLocks noChangeArrowheads="1"/>
          </p:cNvSpPr>
          <p:nvPr/>
        </p:nvSpPr>
        <p:spPr bwMode="auto">
          <a:xfrm>
            <a:off x="392525" y="1125095"/>
            <a:ext cx="8523452" cy="289644"/>
          </a:xfrm>
          <a:prstGeom prst="rect">
            <a:avLst/>
          </a:prstGeom>
          <a:solidFill>
            <a:srgbClr val="00B0F0"/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lvl="0" algn="ctr" eaLnBrk="0" hangingPunct="0">
              <a:lnSpc>
                <a:spcPct val="90000"/>
              </a:lnSpc>
              <a:buClrTx/>
              <a:buSzTx/>
              <a:buFontTx/>
              <a:tabLst>
                <a:tab pos="6461760" algn="r"/>
              </a:tabLst>
            </a:pPr>
            <a:r>
              <a:rPr lang="zh-CN" altLang="en-US" sz="1400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快速关联交易对账解决方案</a:t>
            </a:r>
          </a:p>
        </p:txBody>
      </p:sp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8919021" y="1116668"/>
            <a:ext cx="2760401" cy="289644"/>
          </a:xfrm>
          <a:prstGeom prst="rect">
            <a:avLst/>
          </a:prstGeom>
          <a:solidFill>
            <a:srgbClr val="00B0F0"/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lvl="0" algn="ctr" eaLnBrk="0" hangingPunct="0">
              <a:lnSpc>
                <a:spcPct val="90000"/>
              </a:lnSpc>
              <a:buClrTx/>
              <a:buSzTx/>
              <a:buFontTx/>
              <a:tabLst>
                <a:tab pos="6461760" algn="r"/>
              </a:tabLst>
            </a:pPr>
            <a:r>
              <a:rPr lang="zh-CN" altLang="en-US" sz="1400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对账业务疼点</a:t>
            </a:r>
          </a:p>
        </p:txBody>
      </p:sp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8919021" y="3255313"/>
            <a:ext cx="2760401" cy="289644"/>
          </a:xfrm>
          <a:prstGeom prst="rect">
            <a:avLst/>
          </a:prstGeom>
          <a:solidFill>
            <a:srgbClr val="00B0F0"/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lvl="0" algn="ctr" eaLnBrk="0" hangingPunct="0">
              <a:lnSpc>
                <a:spcPct val="90000"/>
              </a:lnSpc>
              <a:buClrTx/>
              <a:buSzTx/>
              <a:buFontTx/>
              <a:tabLst>
                <a:tab pos="6461760" algn="r"/>
              </a:tabLst>
            </a:pPr>
            <a:r>
              <a:rPr lang="zh-CN" altLang="en-US" sz="1400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项目达成的效果</a:t>
            </a:r>
          </a:p>
        </p:txBody>
      </p:sp>
      <p:sp>
        <p:nvSpPr>
          <p:cNvPr id="68" name="Rectangle 11"/>
          <p:cNvSpPr>
            <a:spLocks noChangeArrowheads="1"/>
          </p:cNvSpPr>
          <p:nvPr/>
        </p:nvSpPr>
        <p:spPr bwMode="auto">
          <a:xfrm>
            <a:off x="8919021" y="3544956"/>
            <a:ext cx="2760401" cy="277279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66"/>
            </a:solidFill>
            <a:miter lim="800000"/>
          </a:ln>
        </p:spPr>
        <p:txBody>
          <a:bodyPr lIns="17995" tIns="82778" rIns="53986"/>
          <a:lstStyle/>
          <a:p>
            <a:pPr marL="344170" indent="-285750" defTabSz="914400" eaLnBrk="0" hangingPunct="0">
              <a:lnSpc>
                <a:spcPct val="80000"/>
              </a:lnSpc>
              <a:tabLst>
                <a:tab pos="6461760" algn="r"/>
              </a:tabLst>
              <a:defRPr/>
            </a:pPr>
            <a:endParaRPr lang="en-US" altLang="zh-CN" sz="1400" kern="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4170" indent="-285750" defTabSz="914400" eaLnBrk="0" hangingPunct="0">
              <a:lnSpc>
                <a:spcPct val="80000"/>
              </a:lnSpc>
              <a:buFontTx/>
              <a:buAutoNum type="arabicPeriod"/>
              <a:tabLst>
                <a:tab pos="6461760" algn="r"/>
              </a:tabLst>
              <a:defRPr/>
            </a:pPr>
            <a:endParaRPr lang="en-US" altLang="zh-CN" sz="1400" kern="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4170" indent="-285750" eaLnBrk="0" hangingPunct="0">
              <a:lnSpc>
                <a:spcPct val="80000"/>
              </a:lnSpc>
              <a:buFontTx/>
              <a:buAutoNum type="arabicPeriod"/>
              <a:tabLst>
                <a:tab pos="6461760" algn="r"/>
              </a:tabLst>
              <a:defRPr/>
            </a:pPr>
            <a:r>
              <a:rPr lang="zh-CN" altLang="en-US" sz="1400" kern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高度自动化的对账处理。数据准确，效率高</a:t>
            </a:r>
            <a:br>
              <a:rPr lang="en-US" altLang="zh-CN" sz="1400" kern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400" kern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1400" kern="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4170" indent="-285750" eaLnBrk="0" hangingPunct="0">
              <a:lnSpc>
                <a:spcPct val="80000"/>
              </a:lnSpc>
              <a:buFontTx/>
              <a:buAutoNum type="arabicPeriod"/>
              <a:tabLst>
                <a:tab pos="6461760" algn="r"/>
              </a:tabLst>
              <a:defRPr/>
            </a:pPr>
            <a:r>
              <a:rPr lang="zh-CN" altLang="en-US" sz="1400" kern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数据具有穿透能力，可以直接在报表中追溯到明细单据报表，并进一步跳转到具体的凭证</a:t>
            </a:r>
            <a:br>
              <a:rPr lang="en-US" altLang="zh-CN" sz="1400" kern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en-US" altLang="zh-CN" sz="1400" kern="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4170" indent="-285750" eaLnBrk="0" hangingPunct="0">
              <a:lnSpc>
                <a:spcPct val="80000"/>
              </a:lnSpc>
              <a:buFontTx/>
              <a:buAutoNum type="arabicPeriod"/>
              <a:tabLst>
                <a:tab pos="6461760" algn="r"/>
              </a:tabLst>
              <a:defRPr/>
            </a:pPr>
            <a:r>
              <a:rPr lang="zh-CN" altLang="en-US" sz="1400" kern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400" kern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SAP GR</a:t>
            </a:r>
            <a:r>
              <a:rPr lang="zh-CN" altLang="en-US" sz="1400" kern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的的对账表，数据实时，对各单体公司财务及时处理账目，如发票及时入账，往来账目清晰。</a:t>
            </a:r>
            <a:endParaRPr lang="en-US" altLang="zh-CN" sz="1400" kern="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4170" indent="-285750" eaLnBrk="0" hangingPunct="0">
              <a:lnSpc>
                <a:spcPct val="80000"/>
              </a:lnSpc>
              <a:buFontTx/>
              <a:buAutoNum type="arabicPeriod"/>
              <a:tabLst>
                <a:tab pos="6461760" algn="r"/>
              </a:tabLst>
              <a:defRPr/>
            </a:pPr>
            <a:r>
              <a:rPr lang="zh-CN" altLang="en-US" sz="1400" kern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对收入、往来、投资、现金银行科目都可以对账。</a:t>
            </a:r>
            <a:endParaRPr lang="en-US" altLang="zh-CN" sz="1400" kern="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4170" indent="-285750" eaLnBrk="0" hangingPunct="0">
              <a:lnSpc>
                <a:spcPct val="80000"/>
              </a:lnSpc>
              <a:buFontTx/>
              <a:buAutoNum type="arabicPeriod"/>
              <a:tabLst>
                <a:tab pos="6461760" algn="r"/>
              </a:tabLst>
              <a:defRPr/>
            </a:pPr>
            <a:endParaRPr lang="en-US" altLang="zh-CN" sz="1400" kern="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4170" indent="-285750" defTabSz="914400" eaLnBrk="0" hangingPunct="0">
              <a:lnSpc>
                <a:spcPct val="80000"/>
              </a:lnSpc>
              <a:buFontTx/>
              <a:buAutoNum type="arabicPeriod"/>
              <a:tabLst>
                <a:tab pos="6461760" algn="r"/>
              </a:tabLst>
              <a:defRPr/>
            </a:pPr>
            <a:endParaRPr lang="en-US" altLang="zh-CN" sz="1400" kern="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4170" indent="-285750" defTabSz="914400" eaLnBrk="0" hangingPunct="0">
              <a:lnSpc>
                <a:spcPct val="80000"/>
              </a:lnSpc>
              <a:tabLst>
                <a:tab pos="6461760" algn="r"/>
              </a:tabLst>
              <a:defRPr/>
            </a:pPr>
            <a:r>
              <a:rPr lang="en-US" altLang="zh-CN" sz="1400" kern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endParaRPr lang="zh-CN" altLang="en-GB" sz="1200" kern="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83" y="1670368"/>
            <a:ext cx="7550076" cy="4383324"/>
          </a:xfrm>
          <a:prstGeom prst="rect">
            <a:avLst/>
          </a:prstGeom>
        </p:spPr>
      </p:pic>
      <p:sp>
        <p:nvSpPr>
          <p:cNvPr id="45" name="文本框 44"/>
          <p:cNvSpPr txBox="1"/>
          <p:nvPr/>
        </p:nvSpPr>
        <p:spPr>
          <a:xfrm>
            <a:off x="7591700" y="1735979"/>
            <a:ext cx="2030306" cy="2767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kumimoji="1" lang="zh-CN" altLang="en-US" sz="180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8"/>
              </a:rPr>
              <a:t>示例</a:t>
            </a:r>
          </a:p>
        </p:txBody>
      </p:sp>
      <p:sp>
        <p:nvSpPr>
          <p:cNvPr id="46" name="矩形 45"/>
          <p:cNvSpPr/>
          <p:nvPr/>
        </p:nvSpPr>
        <p:spPr bwMode="auto">
          <a:xfrm rot="2199168">
            <a:off x="7417435" y="1809115"/>
            <a:ext cx="1098550" cy="359410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36000" tIns="36000" rIns="54000" bIns="45720" numCol="1" rtlCol="0" anchor="ctr" anchorCtr="0" compatLnSpc="1"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</a:pP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示例</a:t>
            </a:r>
          </a:p>
        </p:txBody>
      </p:sp>
    </p:spTree>
    <p:extLst>
      <p:ext uri="{BB962C8B-B14F-4D97-AF65-F5344CB8AC3E}">
        <p14:creationId xmlns:p14="http://schemas.microsoft.com/office/powerpoint/2010/main" val="6069132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8E34C-8FB1-5F0C-4DD9-7C8A53196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84A86-8E47-A445-B989-B6A583DCF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254" y="284298"/>
            <a:ext cx="11337925" cy="912315"/>
          </a:xfrm>
        </p:spPr>
        <p:txBody>
          <a:bodyPr/>
          <a:lstStyle/>
          <a:p>
            <a:r>
              <a:rPr lang="zh-CN" altLang="en-US" dirty="0">
                <a:sym typeface="+mn-ea"/>
              </a:rPr>
              <a:t>专题方案：单体重分类，合并 抵消规则设计</a:t>
            </a:r>
            <a:br>
              <a:rPr lang="zh-CN" altLang="en-US" dirty="0"/>
            </a:br>
            <a:endParaRPr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DEAE3F3F-B0FA-E809-CA1B-E65111038558}"/>
              </a:ext>
            </a:extLst>
          </p:cNvPr>
          <p:cNvGrpSpPr/>
          <p:nvPr/>
        </p:nvGrpSpPr>
        <p:grpSpPr>
          <a:xfrm>
            <a:off x="403579" y="1054201"/>
            <a:ext cx="11599028" cy="5388807"/>
            <a:chOff x="395670" y="1342101"/>
            <a:chExt cx="11602049" cy="4805925"/>
          </a:xfrm>
        </p:grpSpPr>
        <p:sp>
          <p:nvSpPr>
            <p:cNvPr id="10" name="Rectangle 7">
              <a:extLst>
                <a:ext uri="{FF2B5EF4-FFF2-40B4-BE49-F238E27FC236}">
                  <a16:creationId xmlns:a16="http://schemas.microsoft.com/office/drawing/2014/main" id="{523250DD-1053-D1A2-6761-2B7B9B59E2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670" y="1396638"/>
              <a:ext cx="11602049" cy="47513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bg1">
                  <a:lumMod val="50000"/>
                </a:schemeClr>
              </a:solidFill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89977" tIns="46788" rIns="89977" bIns="46788" anchor="ctr"/>
            <a:lstStyle/>
            <a:p>
              <a:pPr defTabSz="914400">
                <a:spcBef>
                  <a:spcPct val="20000"/>
                </a:spcBef>
                <a:spcAft>
                  <a:spcPct val="20000"/>
                </a:spcAft>
                <a:defRPr/>
              </a:pPr>
              <a:endParaRPr lang="en-US" altLang="zh-CN" sz="1800" kern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Rectangle 9">
              <a:extLst>
                <a:ext uri="{FF2B5EF4-FFF2-40B4-BE49-F238E27FC236}">
                  <a16:creationId xmlns:a16="http://schemas.microsoft.com/office/drawing/2014/main" id="{EAD3FF91-7469-D73E-889E-BC066385BC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671" y="1342101"/>
              <a:ext cx="11602048" cy="312934"/>
            </a:xfrm>
            <a:prstGeom prst="rect">
              <a:avLst/>
            </a:prstGeom>
            <a:solidFill>
              <a:srgbClr val="0070C0"/>
            </a:solidFill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 eaLnBrk="0" hangingPunct="0">
                <a:lnSpc>
                  <a:spcPct val="90000"/>
                </a:lnSpc>
                <a:tabLst>
                  <a:tab pos="6461760" algn="r"/>
                </a:tabLst>
              </a:pPr>
              <a:r>
                <a:rPr lang="zh-CN" altLang="en-US" sz="1400" b="1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合并抵消业务规则和功能设计</a:t>
              </a:r>
              <a:endParaRPr lang="zh-CN" altLang="en-GB" sz="14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Rectangle 6">
              <a:extLst>
                <a:ext uri="{FF2B5EF4-FFF2-40B4-BE49-F238E27FC236}">
                  <a16:creationId xmlns:a16="http://schemas.microsoft.com/office/drawing/2014/main" id="{D2A8657C-EDB2-86A2-3D0B-5CD1137B36EC}"/>
                </a:ext>
              </a:extLst>
            </p:cNvPr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663247" y="1780244"/>
              <a:ext cx="2154692" cy="23885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</a:ln>
          </p:spPr>
          <p:txBody>
            <a:bodyPr lIns="89977" tIns="46788" rIns="89977" bIns="46788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单体重分类</a:t>
              </a:r>
              <a:endParaRPr lang="zh-CN" altLang="en-GB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Rectangle 6">
              <a:extLst>
                <a:ext uri="{FF2B5EF4-FFF2-40B4-BE49-F238E27FC236}">
                  <a16:creationId xmlns:a16="http://schemas.microsoft.com/office/drawing/2014/main" id="{A1F85D76-99F0-2F37-C49F-07AC48DDC701}"/>
                </a:ext>
              </a:extLst>
            </p:cNvPr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3028079" y="1785361"/>
              <a:ext cx="2130724" cy="23885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</a:ln>
          </p:spPr>
          <p:txBody>
            <a:bodyPr lIns="89977" tIns="46788" rIns="89977" bIns="46788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货币折算</a:t>
              </a:r>
              <a:endParaRPr lang="zh-CN" altLang="en-GB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Rectangle 6">
              <a:extLst>
                <a:ext uri="{FF2B5EF4-FFF2-40B4-BE49-F238E27FC236}">
                  <a16:creationId xmlns:a16="http://schemas.microsoft.com/office/drawing/2014/main" id="{F4CB9479-3CA7-C3F8-D210-822B029E2099}"/>
                </a:ext>
              </a:extLst>
            </p:cNvPr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5355763" y="1776217"/>
              <a:ext cx="2180480" cy="23885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</a:ln>
          </p:spPr>
          <p:txBody>
            <a:bodyPr lIns="89977" tIns="46788" rIns="89977" bIns="46788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内部往来抵消</a:t>
              </a:r>
              <a:endParaRPr lang="zh-CN" altLang="en-GB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Rectangle 6">
              <a:extLst>
                <a:ext uri="{FF2B5EF4-FFF2-40B4-BE49-F238E27FC236}">
                  <a16:creationId xmlns:a16="http://schemas.microsoft.com/office/drawing/2014/main" id="{0E0E9C9F-4BBF-F975-2DE1-150D4270D06D}"/>
                </a:ext>
              </a:extLst>
            </p:cNvPr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663247" y="2127112"/>
              <a:ext cx="2154692" cy="37829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89977" tIns="46788" rIns="89977" bIns="46788" anchor="t" anchorCtr="0"/>
            <a:lstStyle/>
            <a:p>
              <a:pPr>
                <a:lnSpc>
                  <a:spcPct val="90000"/>
                </a:lnSpc>
              </a:pP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主要包含的重分类规则有：</a:t>
              </a:r>
              <a:endPara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342900" indent="-342900">
                <a:lnSpc>
                  <a:spcPct val="90000"/>
                </a:lnSpc>
                <a:buAutoNum type="arabicPeriod"/>
              </a:pP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收购外部公司的公允价值调整</a:t>
              </a:r>
              <a:endPara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342900" indent="-342900">
                <a:lnSpc>
                  <a:spcPct val="90000"/>
                </a:lnSpc>
                <a:buAutoNum type="arabicPeriod"/>
              </a:pPr>
              <a:endPara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342900" indent="-342900">
                <a:lnSpc>
                  <a:spcPct val="90000"/>
                </a:lnSpc>
                <a:buAutoNum type="arabicPeriod"/>
              </a:pP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按照客商维度的往来类单体重分类</a:t>
              </a:r>
              <a:endPara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342900" indent="-342900">
                <a:lnSpc>
                  <a:spcPct val="90000"/>
                </a:lnSpc>
                <a:buAutoNum type="arabicPeriod"/>
              </a:pPr>
              <a:endPara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342900" indent="-342900">
                <a:lnSpc>
                  <a:spcPct val="90000"/>
                </a:lnSpc>
                <a:buAutoNum type="arabicPeriod"/>
              </a:pP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税金，以及其他科目的重分类</a:t>
              </a:r>
              <a:endPara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342900" indent="-342900">
                <a:lnSpc>
                  <a:spcPct val="90000"/>
                </a:lnSpc>
                <a:buAutoNum type="arabicPeriod"/>
              </a:pPr>
              <a:endPara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342900" indent="-342900">
                <a:lnSpc>
                  <a:spcPct val="90000"/>
                </a:lnSpc>
                <a:buAutoNum type="arabicPeriod"/>
              </a:pP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审计调整</a:t>
              </a:r>
              <a:endPara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90000"/>
                </a:lnSpc>
                <a:buFont typeface="Wingdings" panose="05000000000000000000" pitchFamily="2" charset="2"/>
                <a:buChar char="Ø"/>
              </a:pPr>
              <a:endParaRPr lang="en-US" altLang="zh-CN" sz="1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90000"/>
                </a:lnSpc>
                <a:buFont typeface="Wingdings" panose="05000000000000000000" pitchFamily="2" charset="2"/>
                <a:buChar char="Ø"/>
              </a:pPr>
              <a:endParaRPr lang="zh-CN" altLang="en-GB" sz="1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Rectangle 6">
              <a:extLst>
                <a:ext uri="{FF2B5EF4-FFF2-40B4-BE49-F238E27FC236}">
                  <a16:creationId xmlns:a16="http://schemas.microsoft.com/office/drawing/2014/main" id="{558636F7-0067-1F43-2C6A-540B570279CC}"/>
                </a:ext>
              </a:extLst>
            </p:cNvPr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3028079" y="2145400"/>
              <a:ext cx="2130724" cy="376467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89977" tIns="46788" rIns="89977" bIns="46788" anchor="t" anchorCtr="0"/>
            <a:lstStyle/>
            <a:p>
              <a:pPr>
                <a:lnSpc>
                  <a:spcPct val="90000"/>
                </a:lnSpc>
              </a:pP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主要需实现功能：</a:t>
              </a:r>
              <a:endPara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90000"/>
                </a:lnSpc>
              </a:pPr>
              <a:endPara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342900" indent="-342900">
                <a:lnSpc>
                  <a:spcPct val="90000"/>
                </a:lnSpc>
                <a:buAutoNum type="arabicPeriod"/>
              </a:pP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大部分资产负债表科目需要实现按照最新汇率换算为合并组汇率。</a:t>
              </a:r>
              <a:endPara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342900" indent="-342900">
                <a:lnSpc>
                  <a:spcPct val="90000"/>
                </a:lnSpc>
                <a:buAutoNum type="arabicPeriod"/>
              </a:pPr>
              <a:endPara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342900" indent="-342900">
                <a:lnSpc>
                  <a:spcPct val="90000"/>
                </a:lnSpc>
                <a:buAutoNum type="arabicPeriod"/>
              </a:pP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利润表科目按照平均汇率进行换算。</a:t>
              </a:r>
              <a:endPara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342900" indent="-342900">
                <a:lnSpc>
                  <a:spcPct val="90000"/>
                </a:lnSpc>
                <a:buAutoNum type="arabicPeriod"/>
              </a:pPr>
              <a:endPara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342900" indent="-342900">
                <a:lnSpc>
                  <a:spcPct val="90000"/>
                </a:lnSpc>
                <a:buAutoNum type="arabicPeriod"/>
              </a:pP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涉及长期股权投资，所有者权益的大部分科目，需要按照交易发生时的历史汇率进行换算。</a:t>
              </a:r>
              <a:endPara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Rectangle 6">
              <a:extLst>
                <a:ext uri="{FF2B5EF4-FFF2-40B4-BE49-F238E27FC236}">
                  <a16:creationId xmlns:a16="http://schemas.microsoft.com/office/drawing/2014/main" id="{C77CE8DF-4C1B-3782-309D-78E084F838BD}"/>
                </a:ext>
              </a:extLst>
            </p:cNvPr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5355763" y="2136256"/>
              <a:ext cx="2180480" cy="37829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89977" tIns="46788" rIns="89977" bIns="46788" anchor="t" anchorCtr="0"/>
            <a:lstStyle/>
            <a:p>
              <a:pPr>
                <a:lnSpc>
                  <a:spcPct val="90000"/>
                </a:lnSpc>
              </a:pP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往来抵消设计</a:t>
              </a:r>
              <a:endPara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342900" indent="-342900">
                <a:lnSpc>
                  <a:spcPct val="90000"/>
                </a:lnSpc>
                <a:buAutoNum type="arabicPeriod"/>
              </a:pP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内部往来的实现抵消</a:t>
              </a:r>
              <a:b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endPara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342900" indent="-342900">
                <a:lnSpc>
                  <a:spcPct val="90000"/>
                </a:lnSpc>
                <a:buAutoNum type="arabicPeriod"/>
              </a:pP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抵消的结果要和对账平台进行校验。</a:t>
              </a:r>
              <a:endPara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90000"/>
                </a:lnSpc>
              </a:pPr>
              <a:endPara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90000"/>
                </a:lnSpc>
              </a:pPr>
              <a:endPara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342900" indent="-342900">
                <a:lnSpc>
                  <a:spcPct val="90000"/>
                </a:lnSpc>
                <a:buAutoNum type="arabicPeriod"/>
              </a:pPr>
              <a:endParaRPr lang="zh-CN" altLang="en-GB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Rectangle 6">
              <a:extLst>
                <a:ext uri="{FF2B5EF4-FFF2-40B4-BE49-F238E27FC236}">
                  <a16:creationId xmlns:a16="http://schemas.microsoft.com/office/drawing/2014/main" id="{E0113BCD-7F50-29B2-7810-98F31446AD52}"/>
                </a:ext>
              </a:extLst>
            </p:cNvPr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7737411" y="1782313"/>
              <a:ext cx="2002536" cy="23885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</a:ln>
          </p:spPr>
          <p:txBody>
            <a:bodyPr lIns="89977" tIns="46788" rIns="89977" bIns="46788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内部销售抵消</a:t>
              </a:r>
              <a:endParaRPr lang="zh-CN" altLang="en-GB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Rectangle 6">
              <a:extLst>
                <a:ext uri="{FF2B5EF4-FFF2-40B4-BE49-F238E27FC236}">
                  <a16:creationId xmlns:a16="http://schemas.microsoft.com/office/drawing/2014/main" id="{A57B991A-0078-61CC-CA2F-C1C093271ED5}"/>
                </a:ext>
              </a:extLst>
            </p:cNvPr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7737411" y="2142352"/>
              <a:ext cx="2002536" cy="37616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89977" tIns="46788" rIns="89977" bIns="46788" anchor="t" anchorCtr="0"/>
            <a:lstStyle/>
            <a:p>
              <a:pPr>
                <a:lnSpc>
                  <a:spcPct val="90000"/>
                </a:lnSpc>
              </a:pP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按照详细的业务抵消类别进行内部销售的抵消规则设计，比如如下主题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:</a:t>
              </a:r>
            </a:p>
            <a:p>
              <a:pPr>
                <a:lnSpc>
                  <a:spcPct val="90000"/>
                </a:lnSpc>
              </a:pPr>
              <a:endPara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342900" lvl="0" indent="-342900">
                <a:buAutoNum type="arabicPeriod"/>
              </a:pPr>
              <a:r>
                <a:rPr lang="zh-CN" altLang="zh-CN" sz="1400" dirty="0"/>
                <a:t>服务</a:t>
              </a:r>
              <a:r>
                <a:rPr lang="zh-CN" altLang="en-US" sz="1400" dirty="0"/>
                <a:t>收入</a:t>
              </a:r>
              <a:endParaRPr lang="en-US" altLang="zh-CN" sz="1400" dirty="0"/>
            </a:p>
            <a:p>
              <a:pPr marL="342900" lvl="0" indent="-342900">
                <a:buAutoNum type="arabicPeriod"/>
              </a:pPr>
              <a:r>
                <a:rPr lang="zh-CN" altLang="zh-CN" sz="1400" dirty="0"/>
                <a:t>利息</a:t>
              </a:r>
              <a:r>
                <a:rPr lang="zh-CN" altLang="en-US" sz="1400" dirty="0"/>
                <a:t>收支</a:t>
              </a:r>
              <a:endParaRPr lang="en-US" altLang="zh-CN" sz="1400" dirty="0"/>
            </a:p>
            <a:p>
              <a:pPr marL="342900" lvl="0" indent="-342900">
                <a:buAutoNum type="arabicPeriod"/>
              </a:pPr>
              <a:r>
                <a:rPr lang="zh-CN" altLang="zh-CN" sz="1400" dirty="0"/>
                <a:t>采购固定资产</a:t>
              </a:r>
              <a:endParaRPr lang="en-US" altLang="zh-CN" sz="1400" dirty="0"/>
            </a:p>
            <a:p>
              <a:pPr marL="342900" lvl="0" indent="-342900">
                <a:buAutoNum type="arabicPeriod"/>
              </a:pPr>
              <a:r>
                <a:rPr lang="zh-CN" altLang="zh-CN" sz="1400" dirty="0">
                  <a:solidFill>
                    <a:schemeClr val="tx2"/>
                  </a:solidFill>
                </a:rPr>
                <a:t>采购</a:t>
              </a:r>
              <a:r>
                <a:rPr lang="en-US" altLang="zh-CN" sz="1400" dirty="0">
                  <a:solidFill>
                    <a:schemeClr val="tx2"/>
                  </a:solidFill>
                </a:rPr>
                <a:t>/</a:t>
              </a:r>
              <a:r>
                <a:rPr lang="zh-CN" altLang="zh-CN" sz="1400" dirty="0">
                  <a:solidFill>
                    <a:schemeClr val="tx2"/>
                  </a:solidFill>
                </a:rPr>
                <a:t>销售产成品，原材料低耗包装物</a:t>
              </a:r>
              <a:endParaRPr lang="en-US" altLang="zh-CN" sz="1400" dirty="0">
                <a:solidFill>
                  <a:schemeClr val="tx2"/>
                </a:solidFill>
              </a:endParaRPr>
            </a:p>
            <a:p>
              <a:pPr marL="342900" lvl="0" indent="-342900">
                <a:buAutoNum type="arabicPeriod"/>
              </a:pPr>
              <a:r>
                <a:rPr lang="zh-CN" altLang="zh-CN" sz="1400" dirty="0"/>
                <a:t>股息收入</a:t>
              </a:r>
            </a:p>
            <a:p>
              <a:pPr marL="342900" indent="-342900">
                <a:lnSpc>
                  <a:spcPct val="90000"/>
                </a:lnSpc>
                <a:buAutoNum type="arabicPeriod"/>
              </a:pPr>
              <a:endParaRPr lang="zh-CN" altLang="en-GB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Rectangle 6">
              <a:extLst>
                <a:ext uri="{FF2B5EF4-FFF2-40B4-BE49-F238E27FC236}">
                  <a16:creationId xmlns:a16="http://schemas.microsoft.com/office/drawing/2014/main" id="{0166FFED-E23E-DCFC-1F6E-85976B45184F}"/>
                </a:ext>
              </a:extLst>
            </p:cNvPr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9864915" y="1788409"/>
              <a:ext cx="1917140" cy="22666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</a:ln>
          </p:spPr>
          <p:txBody>
            <a:bodyPr lIns="89977" tIns="46788" rIns="89977" bIns="46788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投资抵消</a:t>
              </a:r>
              <a:endParaRPr lang="zh-CN" altLang="en-GB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Rectangle 6">
              <a:extLst>
                <a:ext uri="{FF2B5EF4-FFF2-40B4-BE49-F238E27FC236}">
                  <a16:creationId xmlns:a16="http://schemas.microsoft.com/office/drawing/2014/main" id="{DBCF9F64-9364-408D-5901-65A9B8A71AC1}"/>
                </a:ext>
              </a:extLst>
            </p:cNvPr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9864915" y="2148448"/>
              <a:ext cx="1917140" cy="37616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89977" tIns="46788" rIns="89977" bIns="46788" anchor="t" anchorCtr="0"/>
            <a:lstStyle/>
            <a:p>
              <a:pPr>
                <a:lnSpc>
                  <a:spcPct val="90000"/>
                </a:lnSpc>
              </a:pP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投资抵消主要包含两部分</a:t>
              </a:r>
              <a:endPara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342900" indent="-342900">
                <a:lnSpc>
                  <a:spcPct val="90000"/>
                </a:lnSpc>
                <a:buAutoNum type="arabicPeriod"/>
              </a:pP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期初上线的首次投资合并，以及后续月份的沿用。</a:t>
              </a:r>
              <a:endPara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342900" indent="-342900">
                <a:lnSpc>
                  <a:spcPct val="90000"/>
                </a:lnSpc>
                <a:buAutoNum type="arabicPeriod"/>
              </a:pPr>
              <a:endPara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342900" indent="-342900">
                <a:lnSpc>
                  <a:spcPct val="90000"/>
                </a:lnSpc>
                <a:buAutoNum type="arabicPeriod"/>
              </a:pP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后续月份每月的的少数股东权益，少数股东损益的计算。</a:t>
              </a:r>
              <a:endPara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342900" indent="-342900">
                <a:lnSpc>
                  <a:spcPct val="90000"/>
                </a:lnSpc>
                <a:buAutoNum type="arabicPeriod"/>
              </a:pPr>
              <a:endParaRPr lang="zh-CN" altLang="en-GB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F90D0D1B-081C-38E2-9F3A-27F9FC3E76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5196874"/>
              </p:ext>
            </p:extLst>
          </p:nvPr>
        </p:nvGraphicFramePr>
        <p:xfrm>
          <a:off x="902065" y="4402023"/>
          <a:ext cx="1295126" cy="11152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13" imgW="914577" imgH="787282" progId="Excel.Sheet.12">
                  <p:embed/>
                </p:oleObj>
              </mc:Choice>
              <mc:Fallback>
                <p:oleObj name="Worksheet" showAsIcon="1" r:id="rId13" imgW="914577" imgH="787282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902065" y="4402023"/>
                        <a:ext cx="1295126" cy="11152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535116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90098" y="389618"/>
            <a:ext cx="1247136" cy="1477328"/>
          </a:xfrm>
        </p:spPr>
        <p:txBody>
          <a:bodyPr/>
          <a:lstStyle/>
          <a:p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配套行动计划</a:t>
            </a:r>
            <a:br>
              <a:rPr lang="zh-CN" altLang="en-US" dirty="0"/>
            </a:b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6" y="125649"/>
            <a:ext cx="1930400" cy="381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-1293962" y="2622430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kumimoji="1" lang="zh-CN" altLang="en-US" dirty="0" err="1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/>
          <p:nvPr/>
        </p:nvSpPr>
        <p:spPr>
          <a:xfrm>
            <a:off x="508000" y="1524000"/>
            <a:ext cx="3556000" cy="4064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98500" y="1714500"/>
            <a:ext cx="317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01 蓝图设计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98500" y="2222500"/>
            <a:ext cx="3175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⏱ 2024年</a:t>
            </a:r>
            <a:r>
              <a:rPr lang="en-US" altLang="zh-CN" sz="14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7</a:t>
            </a:r>
            <a:r>
              <a:rPr lang="en-US" sz="14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月 - </a:t>
            </a:r>
            <a:r>
              <a:rPr lang="en-US" altLang="zh-CN" sz="14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8</a:t>
            </a:r>
            <a:r>
              <a:rPr lang="en-US" sz="14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月</a:t>
            </a:r>
            <a:endParaRPr lang="en-US" sz="1100" dirty="0"/>
          </a:p>
        </p:txBody>
      </p:sp>
      <p:cxnSp>
        <p:nvCxnSpPr>
          <p:cNvPr id="8" name="Connector 8"/>
          <p:cNvCxnSpPr/>
          <p:nvPr/>
        </p:nvCxnSpPr>
        <p:spPr>
          <a:xfrm rot="-13750">
            <a:off x="698513" y="26606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BEAF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698500" y="2794000"/>
            <a:ext cx="3175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核心规划任务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98500" y="3175000"/>
            <a:ext cx="3175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zh-CN" alt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规定系统蓝图和方案</a:t>
            </a:r>
            <a:endParaRPr lang="en-US" sz="1100" dirty="0"/>
          </a:p>
        </p:txBody>
      </p:sp>
      <p:sp>
        <p:nvSpPr>
          <p:cNvPr id="11" name="AutoShape 11"/>
          <p:cNvSpPr/>
          <p:nvPr/>
        </p:nvSpPr>
        <p:spPr>
          <a:xfrm>
            <a:off x="698500" y="4953000"/>
            <a:ext cx="3175000" cy="635000"/>
          </a:xfrm>
          <a:prstGeom prst="roundRect">
            <a:avLst>
              <a:gd name="adj" fmla="val 0"/>
            </a:avLst>
          </a:prstGeom>
          <a:solidFill>
            <a:srgbClr val="DBEAF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825500" y="5054600"/>
            <a:ext cx="292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📄 交付：蓝图设计书 + 配置规格书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318000" y="1524000"/>
            <a:ext cx="3556000" cy="4064000"/>
          </a:xfrm>
          <a:prstGeom prst="roundRect">
            <a:avLst>
              <a:gd name="adj" fmla="val 0"/>
            </a:avLst>
          </a:prstGeom>
          <a:solidFill>
            <a:srgbClr val="ECFEFF">
              <a:alpha val="100000"/>
            </a:srgbClr>
          </a:solidFill>
          <a:ln w="12700" cap="flat" cmpd="sng">
            <a:solidFill>
              <a:srgbClr val="A5F3F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4508500" y="1714500"/>
            <a:ext cx="317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891B2"/>
                </a:solidFill>
                <a:latin typeface="Noto Sans SC"/>
                <a:ea typeface="Noto Sans SC"/>
                <a:cs typeface="Noto Sans SC"/>
                <a:sym typeface="Noto Sans SC"/>
              </a:rPr>
              <a:t>02 系统实现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13750">
            <a:off x="4508513" y="26606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FFAF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4508500" y="2794000"/>
            <a:ext cx="3175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配置与开发落地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508500" y="3175000"/>
            <a:ext cx="3175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285750" indent="-285750" algn="l">
              <a:lnSpc>
                <a:spcPct val="117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300" dirty="0">
                <a:solidFill>
                  <a:srgbClr val="4B5563"/>
                </a:solidFill>
                <a:latin typeface="Noto Sans SC"/>
                <a:ea typeface="Noto Sans SC"/>
                <a:sym typeface="Noto Sans SC"/>
              </a:rPr>
              <a:t>  完成</a:t>
            </a:r>
            <a:r>
              <a:rPr lang="en-US" altLang="zh-CN" sz="1300" dirty="0">
                <a:solidFill>
                  <a:srgbClr val="4B5563"/>
                </a:solidFill>
                <a:latin typeface="Noto Sans SC"/>
                <a:ea typeface="Noto Sans SC"/>
                <a:sym typeface="Noto Sans SC"/>
              </a:rPr>
              <a:t>GR</a:t>
            </a:r>
            <a:r>
              <a:rPr lang="zh-CN" altLang="en-US" sz="1300" dirty="0">
                <a:solidFill>
                  <a:srgbClr val="4B5563"/>
                </a:solidFill>
                <a:latin typeface="Noto Sans SC"/>
                <a:ea typeface="Noto Sans SC"/>
                <a:sym typeface="Noto Sans SC"/>
              </a:rPr>
              <a:t>的配置</a:t>
            </a:r>
            <a:endParaRPr lang="en-US" altLang="zh-CN" sz="1300" dirty="0">
              <a:solidFill>
                <a:srgbClr val="4B5563"/>
              </a:solidFill>
              <a:latin typeface="Noto Sans SC"/>
              <a:ea typeface="Noto Sans SC"/>
              <a:sym typeface="Noto Sans SC"/>
            </a:endParaRPr>
          </a:p>
          <a:p>
            <a:pPr marL="285750" indent="-285750" algn="l">
              <a:lnSpc>
                <a:spcPct val="117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300" dirty="0">
                <a:solidFill>
                  <a:srgbClr val="4B5563"/>
                </a:solidFill>
                <a:latin typeface="Noto Sans SC"/>
                <a:ea typeface="Noto Sans SC"/>
                <a:sym typeface="Noto Sans SC"/>
              </a:rPr>
              <a:t>个性化二次开发</a:t>
            </a:r>
            <a:endParaRPr lang="en-US" altLang="zh-CN" sz="1300" dirty="0">
              <a:solidFill>
                <a:srgbClr val="4B5563"/>
              </a:solidFill>
              <a:latin typeface="Noto Sans SC"/>
              <a:ea typeface="Noto Sans SC"/>
              <a:sym typeface="Noto Sans SC"/>
            </a:endParaRPr>
          </a:p>
          <a:p>
            <a:pPr marL="285750" indent="-285750" algn="l">
              <a:lnSpc>
                <a:spcPct val="117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300" dirty="0">
                <a:solidFill>
                  <a:srgbClr val="4B5563"/>
                </a:solidFill>
                <a:latin typeface="Noto Sans SC"/>
                <a:ea typeface="Noto Sans SC"/>
                <a:sym typeface="Noto Sans SC"/>
              </a:rPr>
              <a:t>单元测试、用户测试</a:t>
            </a:r>
            <a:endParaRPr lang="en-US" altLang="zh-CN" sz="1300" dirty="0">
              <a:solidFill>
                <a:srgbClr val="4B5563"/>
              </a:solidFill>
              <a:latin typeface="Noto Sans SC"/>
              <a:ea typeface="Noto Sans SC"/>
              <a:sym typeface="Noto Sans SC"/>
            </a:endParaRPr>
          </a:p>
          <a:p>
            <a:pPr marL="0" indent="0" algn="l">
              <a:lnSpc>
                <a:spcPct val="117000"/>
              </a:lnSpc>
              <a:defRPr/>
            </a:pPr>
            <a:endParaRPr lang="en-US" sz="1100" dirty="0"/>
          </a:p>
        </p:txBody>
      </p:sp>
      <p:sp>
        <p:nvSpPr>
          <p:cNvPr id="19" name="AutoShape 19"/>
          <p:cNvSpPr/>
          <p:nvPr/>
        </p:nvSpPr>
        <p:spPr>
          <a:xfrm>
            <a:off x="4508500" y="4953000"/>
            <a:ext cx="3175000" cy="635000"/>
          </a:xfrm>
          <a:prstGeom prst="roundRect">
            <a:avLst>
              <a:gd name="adj" fmla="val 0"/>
            </a:avLst>
          </a:prstGeom>
          <a:solidFill>
            <a:srgbClr val="CFFAF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4635500" y="5054600"/>
            <a:ext cx="292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55E75"/>
                </a:solidFill>
                <a:latin typeface="Noto Sans SC"/>
                <a:ea typeface="Noto Sans SC"/>
                <a:cs typeface="Noto Sans SC"/>
                <a:sym typeface="Noto Sans SC"/>
              </a:rPr>
              <a:t>🛠 交付：系统配置成果 + 测试报告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128000" y="1524000"/>
            <a:ext cx="3556000" cy="4064000"/>
          </a:xfrm>
          <a:prstGeom prst="roundRect">
            <a:avLst>
              <a:gd name="adj" fmla="val 0"/>
            </a:avLst>
          </a:prstGeom>
          <a:solidFill>
            <a:srgbClr val="ECFDF5">
              <a:alpha val="100000"/>
            </a:srgbClr>
          </a:solidFill>
          <a:ln w="12700" cap="flat" cmpd="sng">
            <a:solidFill>
              <a:srgbClr val="A7F3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8318500" y="1714500"/>
            <a:ext cx="317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59669"/>
                </a:solidFill>
                <a:latin typeface="Noto Sans SC"/>
                <a:ea typeface="Noto Sans SC"/>
                <a:cs typeface="Noto Sans SC"/>
                <a:sym typeface="Noto Sans SC"/>
              </a:rPr>
              <a:t>03 上线保障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318500" y="2222500"/>
            <a:ext cx="3175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⏱</a:t>
            </a:r>
            <a:endParaRPr lang="en-US" sz="1100" dirty="0"/>
          </a:p>
        </p:txBody>
      </p:sp>
      <p:cxnSp>
        <p:nvCxnSpPr>
          <p:cNvPr id="24" name="Connector 24"/>
          <p:cNvCxnSpPr/>
          <p:nvPr/>
        </p:nvCxnSpPr>
        <p:spPr>
          <a:xfrm rot="-13750">
            <a:off x="8318513" y="26606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FAE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8318500" y="2794000"/>
            <a:ext cx="3175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验证与平稳过渡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318500" y="3175000"/>
            <a:ext cx="3175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zh-CN" alt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首月月结</a:t>
            </a:r>
            <a:endParaRPr lang="en-US" sz="1100" dirty="0"/>
          </a:p>
        </p:txBody>
      </p:sp>
      <p:sp>
        <p:nvSpPr>
          <p:cNvPr id="27" name="AutoShape 27"/>
          <p:cNvSpPr/>
          <p:nvPr/>
        </p:nvSpPr>
        <p:spPr>
          <a:xfrm>
            <a:off x="8318500" y="4953000"/>
            <a:ext cx="3175000" cy="635000"/>
          </a:xfrm>
          <a:prstGeom prst="roundRect">
            <a:avLst>
              <a:gd name="adj" fmla="val 0"/>
            </a:avLst>
          </a:prstGeom>
          <a:solidFill>
            <a:srgbClr val="D1FAE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8445500" y="5054600"/>
            <a:ext cx="292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65F46"/>
                </a:solidFill>
                <a:latin typeface="Noto Sans SC"/>
                <a:ea typeface="Noto Sans SC"/>
                <a:cs typeface="Noto Sans SC"/>
                <a:sym typeface="Noto Sans SC"/>
              </a:rPr>
              <a:t>🚀 交付：上线确认书 + 标准运营手册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508000" y="5969000"/>
            <a:ext cx="1117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通过分阶段、强管控的实施路径，保障项目从设计到落地的全流程可控，确保按时、按质达成合规建设目标。</a:t>
            </a:r>
            <a:endParaRPr lang="en-US" sz="1100"/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  <p:sp>
        <p:nvSpPr>
          <p:cNvPr id="31" name="标题 3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cap="all" dirty="0"/>
              <a:t>三阶段实施路径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90098" y="389618"/>
            <a:ext cx="1247136" cy="1477328"/>
          </a:xfrm>
        </p:spPr>
        <p:txBody>
          <a:bodyPr/>
          <a:lstStyle/>
          <a:p>
            <a:r>
              <a:rPr lang="en-US" altLang="zh-CN" dirty="0"/>
              <a:t>04</a:t>
            </a:r>
            <a:endParaRPr lang="zh-C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附录：相关文档及原始数据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6" y="125649"/>
            <a:ext cx="1930400" cy="381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-1293962" y="2622430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kumimoji="1" lang="zh-CN" altLang="en-US" dirty="0" err="1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cap="all" dirty="0"/>
              <a:t>附录 原始需求清单（27条，P05关联）</a:t>
            </a:r>
            <a:endParaRPr lang="zh-CN" altLang="en-US" b="1" cap="all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8710404"/>
              </p:ext>
            </p:extLst>
          </p:nvPr>
        </p:nvGraphicFramePr>
        <p:xfrm>
          <a:off x="427037" y="1422907"/>
          <a:ext cx="11337925" cy="4899772"/>
        </p:xfrm>
        <a:graphic>
          <a:graphicData uri="http://schemas.openxmlformats.org/drawingml/2006/table">
            <a:tbl>
              <a:tblPr/>
              <a:tblGrid>
                <a:gridCol w="1313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3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54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75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675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584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000" b="1" cap="all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编号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000" b="1" cap="all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需求简述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000" b="1" cap="all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优先级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000" b="1" cap="all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来源部门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000" b="1" cap="all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归属子方案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91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 b="1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A2</a:t>
                      </a:r>
                      <a:r>
                        <a:rPr lang="en-US" altLang="zh-CN" sz="1000" b="1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98</a:t>
                      </a:r>
                      <a:endParaRPr lang="zh-CN" sz="1000" b="1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altLang="en-US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当前单体报表编制的主要瓶颈在于：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SAP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系统取数后，重分类工作和部分调整分录仍需依赖人工线下操作，系统无法直接输出审定报表，这不仅降低了结账效率，也增加了数据误差风险。为此，我们希望优化流程，通过配置实现重分类自动处理，同时支持在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SAP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内部完成所有手工调整账务，确保报表数据的完整性与可追溯性。</a:t>
                      </a:r>
                      <a:endParaRPr lang="zh-CN" sz="10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 b="1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高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altLang="en-US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财务管理部</a:t>
                      </a:r>
                      <a:endParaRPr lang="zh-CN" sz="10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91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 b="1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A2</a:t>
                      </a:r>
                      <a:r>
                        <a:rPr lang="en-US" altLang="zh-CN" sz="1000" b="1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99</a:t>
                      </a:r>
                      <a:endParaRPr lang="zh-CN" sz="1000" b="1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altLang="en-US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当前合并报表主要依赖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Excel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手工编制，编报周期较长。我们希望升级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SAP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系统后，由系统自动完成权益、往来、交易及现金流等常规抵消，同时支持手工录入特殊抵消分录，以满足个性化调整需求，实现合并报表的自动化生成。从根本上缩短报表出具时间，加快财务数据反馈速度，并提升合并过程的准确性和规范性。</a:t>
                      </a:r>
                      <a:endParaRPr lang="zh-CN" sz="10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 b="1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高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altLang="en-US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财务管理部</a:t>
                      </a:r>
                      <a:endParaRPr lang="zh-CN" altLang="zh-CN" sz="10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291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 b="1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r>
                        <a:rPr lang="en-US" altLang="zh-CN" sz="1000" b="1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300</a:t>
                      </a:r>
                      <a:endParaRPr lang="zh-CN" sz="1000" b="1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altLang="en-US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目前附注编制全流程为人工操作，耗时长且准确性难以保障。我们希望能在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SAP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中构建附注自动提取与格式化输出能力，实现编报自动化，有效提升效率并规避手工误差。</a:t>
                      </a:r>
                      <a:endParaRPr lang="zh-CN" altLang="zh-CN" sz="10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 b="1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高</a:t>
                      </a: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altLang="en-US" sz="10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财务管理部</a:t>
                      </a:r>
                      <a:endParaRPr lang="zh-CN" altLang="zh-CN" sz="10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291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b="1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b="1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291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b="1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b="1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291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b="1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b="1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291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b="1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b="1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291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b="1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b="1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5291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b="1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b="1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5291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b="1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b="1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5291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b="1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b="1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5291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b="1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b="1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5291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b="1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b="1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5291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b="1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b="1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zh-CN" sz="10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9739" marR="59739" marT="29869" marB="298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63648"/>
            <a:ext cx="1231106" cy="492443"/>
          </a:xfrm>
        </p:spPr>
        <p:txBody>
          <a:bodyPr/>
          <a:lstStyle/>
          <a:p>
            <a:r>
              <a:rPr lang="zh-CN" altLang="en-US" sz="3200" b="1" dirty="0"/>
              <a:t>谢谢！</a:t>
            </a:r>
            <a:endParaRPr sz="3200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ZsmubqRM3kujuh0vh7oLqw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ZsmubqRM3kujuh0vh7oLqw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ZsmubqRM3kujuh0vh7oLq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ZsmubqRM3kujuh0vh7oLq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ZsmubqRM3kujuh0vh7oLqw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ZsmubqRM3kujuh0vh7oLqw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ZsmubqRM3kujuh0vh7oLqw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ZsmubqRM3kujuh0vh7oLqw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ZsmubqRM3kujuh0vh7oLqw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ZsmubqRM3kujuh0vh7oLqw"/>
</p:tagLst>
</file>

<file path=ppt/theme/theme1.xml><?xml version="1.0" encoding="utf-8"?>
<a:theme xmlns:a="http://schemas.openxmlformats.org/drawingml/2006/main" name="White background">
  <a:themeElements>
    <a:clrScheme name="New Atos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73E6"/>
      </a:accent1>
      <a:accent2>
        <a:srgbClr val="3DC7FF"/>
      </a:accent2>
      <a:accent3>
        <a:srgbClr val="00005C"/>
      </a:accent3>
      <a:accent4>
        <a:srgbClr val="EF5E82"/>
      </a:accent4>
      <a:accent5>
        <a:srgbClr val="4AA82D"/>
      </a:accent5>
      <a:accent6>
        <a:srgbClr val="663894"/>
      </a:accent6>
      <a:hlink>
        <a:srgbClr val="00005C"/>
      </a:hlink>
      <a:folHlink>
        <a:srgbClr val="00005C"/>
      </a:folHlink>
    </a:clrScheme>
    <a:fontScheme name="New Atos">
      <a:majorFont>
        <a:latin typeface="Biennale Bold"/>
        <a:ea typeface=""/>
        <a:cs typeface=""/>
      </a:majorFont>
      <a:minorFont>
        <a:latin typeface="Bienna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noAutofit/>
      </a:bodyPr>
      <a:lstStyle>
        <a:defPPr algn="l">
          <a:defRPr dirty="0" err="1" smtClean="0">
            <a:solidFill>
              <a:schemeClr val="accent3"/>
            </a:solidFill>
          </a:defRPr>
        </a:defPPr>
      </a:lstStyle>
    </a:txDef>
  </a:objectDefaults>
  <a:extraClrSchemeLst/>
  <a:custClrLst>
    <a:custClr name="Atos Blue">
      <a:srgbClr val="0073E6"/>
    </a:custClr>
    <a:custClr name="Atos Light blue">
      <a:srgbClr val="3DC7FF"/>
    </a:custClr>
    <a:custClr name="Atos Deep blue">
      <a:srgbClr val="00005C"/>
    </a:custClr>
    <a:custClr name="Atos Pink">
      <a:srgbClr val="EF5E82"/>
    </a:custClr>
    <a:custClr name="Atos Green">
      <a:srgbClr val="4AA82D"/>
    </a:custClr>
    <a:custClr name="Atos Purple">
      <a:srgbClr val="663894"/>
    </a:custClr>
    <a:custClr name="Atos Orange">
      <a:srgbClr val="F56A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TemplafySlideFormConfiguration><![CDATA[{"formFields":[],"formDataEntries":[]}]]></TemplafySlideFormConfiguration>
</file>

<file path=customXml/item2.xml><?xml version="1.0" encoding="utf-8"?>
<TemplafySlideTemplateConfiguration><![CDATA[{"slideVersion":2,"isValidatorEnabled":false,"isLocked":false,"elementsMetadata":[{"type":"shape","elementConfiguration":{"binding":"{{StringJoin(\", \", Form.SpeakerName,\"SAP\")}}","type":"text","disableUpdates":false}},{"type":"shape","elementConfiguration":{"binding":"{{FormatDateTime(Form.Date,\"MMMM dd, yyyy\",\"en-US\")}}","type":"text","disableUpdates":false}},{"type":"shape","elementConfiguration":{"inheritDimensions":"{{InheritDimensions.InheritNone}}","width":"","height":"1 cm","image":"{{Form.SAPLogo.SubbrandBlue}}","visibility":"","type":"image","disableUpdates":false}},{"type":"shape","elementConfiguration":{"binding":"{{Form.Classification.Display}}","visibility":"","type":"text","disableUpdates":false}}],"slideId":"638313341292813786","enableDocumentContentUpdater":false,"version":"2.0"}]]></TemplafySlideTemplateConfiguration>
</file>

<file path=customXml/item3.xml><?xml version="1.0" encoding="utf-8"?>
<TemplafySlideFormConfiguration><![CDATA[{"formFields":[{"distinct":false,"hideIfNoUserInteractionRequired":false,"required":true,"autoSelectFirstOption":false,"shareValue":false,"type":"dropDown","dataSourceName":"PPTSubBrandLogos","dataSourceFieldName":"Name","name":"SAPLogo","label":"Select Template"},{"distinct":false,"hideIfNoUserInteractionRequired":false,"required":true,"autoSelectFirstOption":false,"shareValue":false,"type":"dropDown","dataSourceName":"Classification","dataSourceFieldName":"Name","name":"Classification","label":"Select Classification"},{"required":false,"shareValue":false,"type":"datePicker","name":"Date","label":"Date"},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],"formDataEntries":[]}]]></TemplafySlideFormConfiguration>
</file>

<file path=customXml/item4.xml><?xml version="1.0" encoding="utf-8"?>
<TemplafySlideTemplateConfiguration><![CDATA[{"slideVersion":2,"isValidatorEnabled":false,"isLocked":false,"elementsMetadata":[],"slideId":"1314779907816423427","enableDocumentContentUpdater":false,"version":"2.0"}]]></TemplafySlideTemplateConfiguration>
</file>

<file path=customXml/itemProps1.xml><?xml version="1.0" encoding="utf-8"?>
<ds:datastoreItem xmlns:ds="http://schemas.openxmlformats.org/officeDocument/2006/customXml" ds:itemID="{6B6BFCDD-2828-244C-B8B0-E2958472E4D3}">
  <ds:schemaRefs/>
</ds:datastoreItem>
</file>

<file path=customXml/itemProps2.xml><?xml version="1.0" encoding="utf-8"?>
<ds:datastoreItem xmlns:ds="http://schemas.openxmlformats.org/officeDocument/2006/customXml" ds:itemID="{BEA80D82-EDC8-0741-826D-933AA8F9EFEB}">
  <ds:schemaRefs/>
</ds:datastoreItem>
</file>

<file path=customXml/itemProps3.xml><?xml version="1.0" encoding="utf-8"?>
<ds:datastoreItem xmlns:ds="http://schemas.openxmlformats.org/officeDocument/2006/customXml" ds:itemID="{9B965239-770B-CA49-8A85-05CC8639E8EA}">
  <ds:schemaRefs/>
</ds:datastoreItem>
</file>

<file path=customXml/itemProps4.xml><?xml version="1.0" encoding="utf-8"?>
<ds:datastoreItem xmlns:ds="http://schemas.openxmlformats.org/officeDocument/2006/customXml" ds:itemID="{FE511B84-21F8-E546-9875-8BED6F722329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4460</Words>
  <Application>Microsoft Office PowerPoint</Application>
  <PresentationFormat>宽屏</PresentationFormat>
  <Paragraphs>452</Paragraphs>
  <Slides>21</Slides>
  <Notes>15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7" baseType="lpstr">
      <vt:lpstr>Biennale</vt:lpstr>
      <vt:lpstr>Biennale Bold</vt:lpstr>
      <vt:lpstr>Biennale Medium</vt:lpstr>
      <vt:lpstr>Montserrat Bold</vt:lpstr>
      <vt:lpstr>Noto Sans SC</vt:lpstr>
      <vt:lpstr>微软雅黑</vt:lpstr>
      <vt:lpstr>微软雅黑</vt:lpstr>
      <vt:lpstr>Aptos</vt:lpstr>
      <vt:lpstr>Arial</vt:lpstr>
      <vt:lpstr>Calibri</vt:lpstr>
      <vt:lpstr>Montserrat SemiBold</vt:lpstr>
      <vt:lpstr>Times New Roman</vt:lpstr>
      <vt:lpstr>Verdana</vt:lpstr>
      <vt:lpstr>Wingdings</vt:lpstr>
      <vt:lpstr>White background</vt:lpstr>
      <vt:lpstr>Worksheet</vt:lpstr>
      <vt:lpstr>法定财务合并建设专项方案</vt:lpstr>
      <vt:lpstr>目录</vt:lpstr>
      <vt:lpstr>法定财务合并建设专项方案</vt:lpstr>
      <vt:lpstr>法定财务合并建设：方案总览</vt:lpstr>
      <vt:lpstr>方案详解及系统实现 </vt:lpstr>
      <vt:lpstr>法定合并组织架构 </vt:lpstr>
      <vt:lpstr>法定合并功能功能框架</vt:lpstr>
      <vt:lpstr>业务流程框架-（涉及财务合并有关的流程4个） </vt:lpstr>
      <vt:lpstr>法定合并功能核心业务流程-合并 科目</vt:lpstr>
      <vt:lpstr>法定合并功能核心业务流程-内部往来对账</vt:lpstr>
      <vt:lpstr>法定合并功能核心业务流程-数据收集流程</vt:lpstr>
      <vt:lpstr>法定合并功能核心业务流程-合并处理流程</vt:lpstr>
      <vt:lpstr>专题方案：合并科目相关的统一编码 </vt:lpstr>
      <vt:lpstr>专题方案：内部单体公司对账现状调研及分析 </vt:lpstr>
      <vt:lpstr>专题方案：内部单体公司自动对账平台 </vt:lpstr>
      <vt:lpstr>专题方案：单体重分类，合并 抵消规则设计 </vt:lpstr>
      <vt:lpstr>配套行动计划 </vt:lpstr>
      <vt:lpstr>三阶段实施路径</vt:lpstr>
      <vt:lpstr>附录：相关文档及原始数据</vt:lpstr>
      <vt:lpstr>附录 原始需求清单（27条，P05关联）</vt:lpstr>
      <vt:lpstr>谢谢！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泰国财务体系合规建设专项方案</dc:title>
  <dc:creator>Tan, Hong-liang</dc:creator>
  <cp:lastModifiedBy>2102125624@qq.com</cp:lastModifiedBy>
  <cp:revision>8</cp:revision>
  <dcterms:created xsi:type="dcterms:W3CDTF">2026-07-20T05:48:17Z</dcterms:created>
  <dcterms:modified xsi:type="dcterms:W3CDTF">2026-08-30T08:55:29Z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8C8A8E2263C4743E61B55D6AA9AF7B3D_42</vt:lpwstr>
  </property>
  <property fmtid="{D5CDD505-2E9C-101B-9397-08002B2CF9AE}" pid="3" name="KSOProductBuildVer">
    <vt:lpwstr>2052-0.0.0.0</vt:lpwstr>
  </property>
</Properties>
</file>