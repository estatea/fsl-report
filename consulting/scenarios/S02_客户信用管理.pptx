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72" r:id="rId3"/>
  </p:sldMasterIdLst>
  <p:notesMasterIdLst>
    <p:notesMasterId r:id="rId2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9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3E6"/>
    <a:srgbClr val="0000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3" d="100"/>
          <a:sy n="83" d="100"/>
        </p:scale>
        <p:origin x="225" y="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大家好，欢迎参加本次关于SAP S/4HANA信用监控升级方案的分享。随着企业数字化转型的深入，SAP S/4HANA为信用管理带来了革命性的变化。今天，我们将深入探讨从传统的SAP ECC升级到S/4HANA平台后，信用监控在设计理念、技术架构和功能实现上的核心变化，分析新版本的显著优势，并提供一套详尽的配置指南和前端应用案例。希望通过这次分享，能帮助大家更好地理解和利用S/4HANA的强大功能，提升企业的信用风险管理水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本次分享将分为四个部分。首先，我们将回顾从ECC到S/4HANA，信用管理在设计与实现上的核心变化。其次，我们将重点分析S/4HANA信用控制相比旧版本的显著优点。接着，我们会提供一套详细的配置指南，帮助大家在实际项目中落地。最后，我们将展示S/4HANA现代化的前端Fiori应用案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现在，我们进入第一部分：设计与实现的核心变化。从SAP ECC到S/4HANA，信用管理模块经历了从FI-AR到FSCM的重大架构迁移，这不仅是模块归属的变化，更是设计思想和技术实现的全面革新。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ptos"/>
              </a:defRPr>
            </a:lvl1pPr>
          </a:lstStyle>
          <a:p>
            <a:pPr marL="171450" indent="-17145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了解了核心变化后，我们来总结一下S/4HANA信用控制相比ECC的显著优点。这些优点主要体现在效率、灵活性和智能化方面。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ptos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首先看架构的变化。在ECC中，信用管理是FI-AR的一个子模块，比较独立。而在S/4HANA中，它被整合到了FSCM，也就是财务供应链管理中。这意味着信用管理不再是孤立的，而是与销售、采购、财务等模块紧密集成，能够提供一个端到端的供应链风险视图。同时，主数据也从传统的客户主数据迁移到了统一的业务伙伴BP中，这为数据一致性和跨模块集成奠定了坚实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首先看架构的变化。在ECC中，信用管理是FI-AR的一个子模块，比较独立。而在S/4HANA中，它被整合到了FSCM，也就是财务供应链管理中。这意味着信用管理不再是孤立的，而是与销售、采购、财务等模块紧密集成，能够提供一个端到端的供应链风险视图。同时，主数据也从传统的客户主数据迁移到了统一的业务伙伴BP中，这为数据一致性和跨模块集成奠定了坚实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首先看架构的变化。在ECC中，信用管理是FI-AR的一个子模块，比较独立。而在S/4HANA中，它被整合到了FSCM，也就是财务供应链管理中。这意味着信用管理不再是孤立的，而是与销售、采购、财务等模块紧密集成，能够提供一个端到端的供应链风险视图。同时，主数据也从传统的客户主数据迁移到了统一的业务伙伴BP中，这为数据一致性和跨模块集成奠定了坚实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首先看架构的变化。在ECC中，信用管理是FI-AR的一个子模块，比较独立。而在S/4HANA中，它被整合到了FSCM，也就是财务供应链管理中。这意味着信用管理不再是孤立的，而是与销售、采购、财务等模块紧密集成，能够提供一个端到端的供应链风险视图。同时，主数据也从传统的客户主数据迁移到了统一的业务伙伴BP中，这为数据一致性和跨模块集成奠定了坚实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首先看架构的变化。在ECC中，信用管理是FI-AR的一个子模块，比较独立。而在S/4HANA中，它被整合到了FSCM，也就是财务供应链管理中。这意味着信用管理不再是孤立的，而是与销售、采购、财务等模块紧密集成，能够提供一个端到端的供应链风险视图。同时，主数据也从传统的客户主数据迁移到了统一的业务伙伴BP中，这为数据一致性和跨模块集成奠定了坚实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首先看架构的变化。在ECC中，信用管理是FI-AR的一个子模块，比较独立。而在S/4HANA中，它被整合到了FSCM，也就是财务供应链管理中。这意味着信用管理不再是孤立的，而是与销售、采购、财务等模块紧密集成，能够提供一个端到端的供应链风险视图。同时，主数据也从传统的客户主数据迁移到了统一的业务伙伴BP中，这为数据一致性和跨模块集成奠定了坚实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配置的第一步是组织架构的定义和分配。首先，我们需要使用事务码OB45定义信用控制范围，这是信用管理的最高组织单元。我们创建了CCA1和CCA2，分别对应公司代码1000和2000。然后，使用事务码OX19将公司代码分配给对应的信用控制范围。最关键的一步是使用事务码OVFL，将销售范围（销售组织+分销渠道+产品组）分配给信用控制范围。这一步实现了我们要求的“公司代码+销售组织+分销渠道”层级的控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接下来是精细化控制和规则定义。首先，我们定义信用段，比如我们创建了代表直销的SEG_DIRECT和代表分销的SEG_DIST。然后将这些信用段分配给之前创建的信用控制范围。接着，我们定义风险类别，如高、中、低风险。最后，也是最核心的一步，是使用事务码OVA8定义自动信用控制规则。在这里，我们将信用控制范围、风险类别和信用组进行组合，来配置具体的检查规则，比如对高风险客户采取硬冻结，对中风险客户发出警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接下来是精细化控制和规则定义。首先，我们定义信用段，比如我们创建了代表直销的SEG_DIRECT和代表分销的SEG_DIST。然后将这些信用段分配给之前创建的信用控制范围。接着，我们定义风险类别，如高、中、低风险。最后，也是最核心的一步，是使用事务码OVA8定义自动信用控制规则。在这里，我们将信用控制范围、风险类别和信用组进行组合，来配置具体的检查规则，比如对高风险客户采取硬冻结，对中风险客户发出警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配置的最后一步是在业务伙伴主数据中维护信用信息。我们使用事务码BP，切换到信用管理角色，为每个客户指定所属的信用控制范围、风险类别，并为不同的信用段设置具体的信用限额。这样，当一个销售订单创建时，系统会自动根据订单的销售范围找到对应的信用控制范围，再根据客户的风险类别和信用段，应用我们在OVA8中配置的检查规则，从而实现自动化、精细化的信用管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配置完成后，我们来看看用户如何与系统交互。第四部分，我们将介绍S/4HANA提供的现代化前端Fiori应用，这些应用极大地提升了信用经理的工作效率。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19100" y="6388100"/>
            <a:ext cx="1524000" cy="1524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Group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19100" y="1841500"/>
            <a:ext cx="54864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sz="4800" b="0" i="0" u="none" strike="noStrike" dirty="0">
                <a:solidFill>
                  <a:srgbClr val="0073E6"/>
                </a:solidFill>
                <a:latin typeface="微软雅黑"/>
                <a:ea typeface="微软雅黑"/>
                <a:cs typeface="微软雅黑"/>
                <a:sym typeface="微软雅黑"/>
              </a:rPr>
              <a:t>SAP S/4HANA </a:t>
            </a:r>
            <a:r>
              <a:rPr lang="zh-CN" altLang="en-US" sz="4800" b="0" i="0" u="none" strike="noStrike" dirty="0">
                <a:solidFill>
                  <a:srgbClr val="0073E6"/>
                </a:solidFill>
                <a:latin typeface="微软雅黑"/>
                <a:ea typeface="微软雅黑"/>
                <a:cs typeface="微软雅黑"/>
                <a:sym typeface="微软雅黑"/>
              </a:rPr>
              <a:t>客户</a:t>
            </a:r>
            <a:r>
              <a:rPr lang="en-US" sz="4800" b="0" i="0" u="none" strike="noStrike" dirty="0" err="1">
                <a:solidFill>
                  <a:srgbClr val="0073E6"/>
                </a:solidFill>
                <a:latin typeface="微软雅黑"/>
                <a:ea typeface="微软雅黑"/>
                <a:cs typeface="微软雅黑"/>
                <a:sym typeface="微软雅黑"/>
              </a:rPr>
              <a:t>信用</a:t>
            </a:r>
            <a:r>
              <a:rPr lang="zh-CN" altLang="en-US" sz="4800" b="0" i="0" u="none" strike="noStrike" dirty="0">
                <a:solidFill>
                  <a:srgbClr val="0073E6"/>
                </a:solidFill>
                <a:latin typeface="微软雅黑"/>
                <a:ea typeface="微软雅黑"/>
                <a:cs typeface="微软雅黑"/>
                <a:sym typeface="微软雅黑"/>
              </a:rPr>
              <a:t>管理提升</a:t>
            </a:r>
            <a:r>
              <a:rPr lang="en-US" sz="4800" b="0" i="0" u="none" strike="noStrike" dirty="0" err="1">
                <a:solidFill>
                  <a:srgbClr val="0073E6"/>
                </a:solidFill>
                <a:latin typeface="微软雅黑"/>
                <a:ea typeface="微软雅黑"/>
                <a:cs typeface="微软雅黑"/>
                <a:sym typeface="微软雅黑"/>
              </a:rPr>
              <a:t>方案</a:t>
            </a:r>
            <a:endParaRPr lang="en-US" sz="4800" dirty="0"/>
          </a:p>
        </p:txBody>
      </p:sp>
      <p:sp>
        <p:nvSpPr>
          <p:cNvPr id="5" name="AutoShape 5"/>
          <p:cNvSpPr/>
          <p:nvPr/>
        </p:nvSpPr>
        <p:spPr>
          <a:xfrm>
            <a:off x="419100" y="5486400"/>
            <a:ext cx="3657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600" b="0" i="0" u="none" strike="noStrike" dirty="0">
                <a:solidFill>
                  <a:srgbClr val="00005C"/>
                </a:solidFill>
                <a:latin typeface="微软雅黑"/>
                <a:ea typeface="微软雅黑"/>
                <a:cs typeface="微软雅黑"/>
                <a:sym typeface="微软雅黑"/>
              </a:rPr>
              <a:t>2026.08.26</a:t>
            </a:r>
            <a:endParaRPr lang="en-US" sz="1600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106" r="105"/>
          <a:stretch>
            <a:fillRect/>
          </a:stretch>
        </p:blipFill>
        <p:spPr>
          <a:xfrm>
            <a:off x="6286500" y="0"/>
            <a:ext cx="6096000" cy="6858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19100" y="342900"/>
            <a:ext cx="1930400" cy="381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4E586114-0BBE-80F4-1FC8-EB623A6ADBAB}"/>
              </a:ext>
            </a:extLst>
          </p:cNvPr>
          <p:cNvSpPr txBox="1">
            <a:spLocks/>
          </p:cNvSpPr>
          <p:nvPr/>
        </p:nvSpPr>
        <p:spPr>
          <a:xfrm>
            <a:off x="423068" y="4077251"/>
            <a:ext cx="5486400" cy="112188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zh-CN" altLang="en-US" sz="3600" kern="1200" dirty="0">
                <a:solidFill>
                  <a:srgbClr val="0000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业务诊断咨询及</a:t>
            </a:r>
            <a:r>
              <a:rPr lang="en-US" altLang="zh-CN" sz="3600" kern="1200" dirty="0">
                <a:solidFill>
                  <a:srgbClr val="0000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SAP</a:t>
            </a:r>
            <a:r>
              <a:rPr lang="zh-CN" altLang="en-US" sz="3600" kern="1200" dirty="0">
                <a:solidFill>
                  <a:srgbClr val="0000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系统升级实施项目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1800" y="6515100"/>
            <a:ext cx="1358900" cy="1524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微软雅黑"/>
                <a:ea typeface="微软雅黑"/>
                <a:cs typeface="微软雅黑"/>
                <a:sym typeface="微软雅黑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7400" y="6451600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-5400000">
            <a:off x="1117600" y="1282700"/>
            <a:ext cx="1549400" cy="15494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grpSp>
        <p:nvGrpSpPr>
          <p:cNvPr id="5" name="Group 5"/>
          <p:cNvGrpSpPr/>
          <p:nvPr/>
        </p:nvGrpSpPr>
        <p:grpSpPr>
          <a:xfrm>
            <a:off x="4059555" y="1616075"/>
            <a:ext cx="4608195" cy="465455"/>
            <a:chOff x="4059555" y="1616075"/>
            <a:chExt cx="4608195" cy="465455"/>
          </a:xfrm>
        </p:grpSpPr>
        <p:sp>
          <p:nvSpPr>
            <p:cNvPr id="6" name="AutoShape 6"/>
            <p:cNvSpPr/>
            <p:nvPr/>
          </p:nvSpPr>
          <p:spPr>
            <a:xfrm>
              <a:off x="4059555" y="1616075"/>
              <a:ext cx="304800" cy="368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2400" b="0" i="0" u="none" strike="noStrike">
                  <a:solidFill>
                    <a:srgbClr val="0073E6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01</a:t>
              </a:r>
              <a:endParaRPr lang="en-US" sz="110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4770755" y="1616075"/>
              <a:ext cx="3896995" cy="465455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2400" b="0" i="0" u="none" strike="noStrike">
                  <a:solidFill>
                    <a:srgbClr val="00005C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专项方案概述</a:t>
              </a:r>
              <a:endParaRPr lang="en-US" sz="1100"/>
            </a:p>
          </p:txBody>
        </p:sp>
      </p:grpSp>
      <p:sp>
        <p:nvSpPr>
          <p:cNvPr id="8" name="AutoShape 8"/>
          <p:cNvSpPr/>
          <p:nvPr/>
        </p:nvSpPr>
        <p:spPr>
          <a:xfrm>
            <a:off x="431800" y="292100"/>
            <a:ext cx="113411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5C"/>
                </a:solidFill>
                <a:latin typeface="微软雅黑"/>
                <a:ea typeface="微软雅黑"/>
                <a:cs typeface="微软雅黑"/>
                <a:sym typeface="微软雅黑"/>
              </a:rPr>
              <a:t>目录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0" y="101600"/>
            <a:ext cx="1930400" cy="381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grpSp>
        <p:nvGrpSpPr>
          <p:cNvPr id="10" name="Group 10"/>
          <p:cNvGrpSpPr/>
          <p:nvPr/>
        </p:nvGrpSpPr>
        <p:grpSpPr>
          <a:xfrm>
            <a:off x="4059555" y="2582545"/>
            <a:ext cx="4608195" cy="465455"/>
            <a:chOff x="4059555" y="2582545"/>
            <a:chExt cx="4608195" cy="465455"/>
          </a:xfrm>
        </p:grpSpPr>
        <p:sp>
          <p:nvSpPr>
            <p:cNvPr id="11" name="AutoShape 11"/>
            <p:cNvSpPr/>
            <p:nvPr/>
          </p:nvSpPr>
          <p:spPr>
            <a:xfrm>
              <a:off x="4059555" y="2582545"/>
              <a:ext cx="304800" cy="368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2400" b="0" i="0" u="none" strike="noStrike">
                  <a:solidFill>
                    <a:srgbClr val="0073E6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02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4770755" y="2582545"/>
              <a:ext cx="3896995" cy="465455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2400" b="0" i="0" u="none" strike="noStrike">
                  <a:solidFill>
                    <a:srgbClr val="00005C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方案详解及系统实现</a:t>
              </a:r>
              <a:endParaRPr lang="en-US" sz="110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079240" y="4647565"/>
            <a:ext cx="4608195" cy="465455"/>
            <a:chOff x="4079240" y="4647565"/>
            <a:chExt cx="4608195" cy="465455"/>
          </a:xfrm>
        </p:grpSpPr>
        <p:sp>
          <p:nvSpPr>
            <p:cNvPr id="14" name="AutoShape 14"/>
            <p:cNvSpPr/>
            <p:nvPr/>
          </p:nvSpPr>
          <p:spPr>
            <a:xfrm>
              <a:off x="4079240" y="4647565"/>
              <a:ext cx="304800" cy="368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2400" b="0" i="0" u="none" strike="noStrike">
                  <a:solidFill>
                    <a:srgbClr val="0073E6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04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4790440" y="4647565"/>
              <a:ext cx="3896995" cy="465455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2400" b="0" i="0" u="none" strike="noStrike">
                  <a:solidFill>
                    <a:srgbClr val="00005C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附录：相关文档及原始数据</a:t>
              </a:r>
              <a:endParaRPr lang="en-US" sz="1100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75430" y="3615055"/>
            <a:ext cx="4608195" cy="465455"/>
            <a:chOff x="4075430" y="3615055"/>
            <a:chExt cx="4608195" cy="465455"/>
          </a:xfrm>
        </p:grpSpPr>
        <p:sp>
          <p:nvSpPr>
            <p:cNvPr id="17" name="AutoShape 17"/>
            <p:cNvSpPr/>
            <p:nvPr/>
          </p:nvSpPr>
          <p:spPr>
            <a:xfrm>
              <a:off x="4075430" y="3615055"/>
              <a:ext cx="304800" cy="368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2400" b="0" i="0" u="none" strike="noStrike" dirty="0">
                  <a:solidFill>
                    <a:srgbClr val="0073E6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03</a:t>
              </a:r>
              <a:endParaRPr lang="en-US" sz="1100" dirty="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4786630" y="3615055"/>
              <a:ext cx="3896995" cy="465455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2400" b="0" i="0" u="none" strike="noStrike" dirty="0" err="1">
                  <a:solidFill>
                    <a:srgbClr val="00005C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重点建设任务及本期落地方案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10947400" y="6311900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93700" y="393700"/>
            <a:ext cx="1244600" cy="147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600" b="0" i="0" u="none" strike="noStrike">
                <a:solidFill>
                  <a:srgbClr val="00005C"/>
                </a:solidFill>
                <a:latin typeface="微软雅黑"/>
                <a:ea typeface="微软雅黑"/>
                <a:cs typeface="微软雅黑"/>
                <a:sym typeface="微软雅黑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790700" y="1866900"/>
            <a:ext cx="7099300" cy="193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0" i="0" u="none" strike="noStrike" dirty="0" err="1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方案综述</a:t>
            </a:r>
            <a:endParaRPr lang="en-US" sz="1100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800" y="127000"/>
            <a:ext cx="1930400" cy="381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-1295400" y="2616200"/>
            <a:ext cx="12700" cy="127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集团级智能信用与风控中台建设方案：方案总览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9577" y="1078301"/>
            <a:ext cx="7582000" cy="176841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项目目标：</a:t>
            </a:r>
            <a:endParaRPr lang="en-US" sz="1100"/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建立集团统一信用管控体系，实现信用规则统一归口、统一审批、统一生效。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建立客户信用档案与动态授信模型，实现额度自动核定与实时调整。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构建从准入、授信、下单、发货到回款的全流程信用闭环，降低坏账风险。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建立信用运营分析与BI预警体系，为集团信用风险管理提供数据支撑。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项目方案：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2.1 信用管控时点重构：下单前置校验、发货拦截、逾期自动预警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2.2 动态授信模型：固定额度、临时额度、特殊批文额度规则引擎化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2.3 系统集成与数据同源：SAP、CRM、OA、商城系统数据打通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2.4 流程自动化闭环：逾期→自动审批→反馈开票拦截全流程线上化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2.5 信用档案与BI预警：客户360视图、账龄分析、可视化预警</a:t>
            </a:r>
          </a:p>
        </p:txBody>
      </p:sp>
      <p:sp>
        <p:nvSpPr>
          <p:cNvPr id="8" name="AutoShape 8"/>
          <p:cNvSpPr/>
          <p:nvPr/>
        </p:nvSpPr>
        <p:spPr>
          <a:xfrm>
            <a:off x="498949" y="3020370"/>
            <a:ext cx="2812522" cy="3076343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现状：</a:t>
            </a:r>
            <a:endParaRPr lang="en-US" sz="1100"/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信用控制仅在出库环节拦截，下单环节不强制校验，前置管控缺失。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临时额度规则复杂，人工审批工作量大，效率低易出错。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信用额度、逾期数据无法自动输出报表，需手工统计。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系统割裂，SAP、商城、OA数据不同源，账龄与额度不准确。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特殊信用批文全流程人工登记，无系统流程支撑。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客户信用档案缺失，缺乏外部数据与可视化预警。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主要差距：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信用管控时点错位，风险前置缺失。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规则复杂且人工判断为主，未形成规则引擎。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系统割裂，数据不同源，账龄与额度不准确。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审批流程无系统支撑，无法自动化闭环。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信用档案缺失，缺乏外部数据与可视化预警。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3564766" y="3009009"/>
            <a:ext cx="4522498" cy="1526230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授信管理：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由人工核定➡️规则引擎自动计算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额度控制：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由事后拦截➡️事前校验+事中预警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账龄管理：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由手工统计➡️系统自动计算+分级预警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审批流程：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由线下人工➡️OA系统自动化闭环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信用分析：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由离线报表➡️实时BI预警驾驶舱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569079" y="4669971"/>
            <a:ext cx="4522498" cy="1426743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✓ 重构信用管控时点与分层策略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✓ 建立规则引擎化的动态授信模型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✓ 推动系统集成与数据同源治理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✓ 设计流程自动化闭环（逾期到拦截）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✓ </a:t>
            </a:r>
            <a:r>
              <a:rPr lang="en-US" sz="10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构建客户信用档案与BI预警体系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✓ </a:t>
            </a:r>
            <a:r>
              <a:rPr lang="en-US" sz="10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SAP信用管理标准功能启用与增强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399872" y="2128930"/>
            <a:ext cx="3282551" cy="1218117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399872" y="3620220"/>
            <a:ext cx="3282551" cy="113293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0" indent="0" algn="l">
              <a:lnSpc>
                <a:spcPct val="100000"/>
              </a:lnSpc>
              <a:defRPr/>
            </a:pPr>
            <a:endParaRPr lang="en-US" sz="1100"/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信用管控规则需统一确认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客户SAP与CRM/OA/商城接口边界需确认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SAP与CRM/OA/商城接口边界需确认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外部征信数据接入需评估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关键用户需全过程参与</a:t>
            </a: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/</a:t>
            </a: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中文）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399872" y="4963779"/>
            <a:ext cx="3282551" cy="113293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授信效率：额度核定周期缩短50%</a:t>
            </a:r>
            <a:endParaRPr lang="en-US" sz="1100"/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风险控制：逾期订单自动拦截率100%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账龄准确：系统自动计算，与财务数据一致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审批效率：特殊批文审批线上化，周期缩短60%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预警能力：客户信用风险实时可视化预警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399872" y="1078301"/>
            <a:ext cx="3282551" cy="84000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主责：财务管理部、各事业部销售管理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配合：数智化部、审计工作部、法务部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外部：SAP实施团队、BI实施团队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562025" y="900920"/>
            <a:ext cx="1039792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5 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责任部门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8562025" y="1985697"/>
            <a:ext cx="1039792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6 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里程碑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8562025" y="3473741"/>
            <a:ext cx="1643023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7 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风险与项目依赖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8562025" y="4789456"/>
            <a:ext cx="2100224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8 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业务价值和数字化指标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4596814" y="4587944"/>
            <a:ext cx="1376734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4 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关键任务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4596796" y="2913921"/>
            <a:ext cx="1376734" cy="215127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3 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业务变革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1259691" y="2905836"/>
            <a:ext cx="1376734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2 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现状</a:t>
            </a:r>
            <a:r>
              <a:rPr lang="en-US" sz="12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/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差距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1259691" y="916009"/>
            <a:ext cx="1376734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1 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目标和范围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862642" y="1552755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824823" y="2665562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1964838" y="2363638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518896" y="2403009"/>
            <a:ext cx="1039793" cy="24622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规则确认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>
            <a:off x="8678174" y="3157265"/>
            <a:ext cx="27173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3366">
                <a:alpha val="100000"/>
              </a:srgbClr>
            </a:solidFill>
            <a:prstDash val="solid"/>
            <a:miter lim="1000000"/>
            <a:headEnd type="none" w="med" len="med"/>
            <a:tailEnd type="triangle" w="med" len="med"/>
          </a:ln>
        </p:spPr>
      </p:cxnSp>
      <p:sp>
        <p:nvSpPr>
          <p:cNvPr id="28" name="AutoShape 28"/>
          <p:cNvSpPr/>
          <p:nvPr/>
        </p:nvSpPr>
        <p:spPr>
          <a:xfrm>
            <a:off x="8987033" y="3105505"/>
            <a:ext cx="103520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662096" y="3102633"/>
            <a:ext cx="103520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1034366" y="3117011"/>
            <a:ext cx="103520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0662249" y="2402789"/>
            <a:ext cx="1020175" cy="400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BI预警上线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211812" y="2403009"/>
            <a:ext cx="833143" cy="400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授信模型上线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652294" y="6599208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3722914" y="31242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10365823" y="3107116"/>
            <a:ext cx="103520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956750" y="2403009"/>
            <a:ext cx="833143" cy="400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流程闭环上线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10947400" y="6311900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93700" y="393700"/>
            <a:ext cx="1244600" cy="147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600" b="0" i="0" u="none" strike="noStrike">
                <a:solidFill>
                  <a:srgbClr val="00005C"/>
                </a:solidFill>
                <a:latin typeface="微软雅黑"/>
                <a:ea typeface="微软雅黑"/>
                <a:cs typeface="微软雅黑"/>
                <a:sym typeface="微软雅黑"/>
              </a:rPr>
              <a:t>02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790700" y="1866900"/>
            <a:ext cx="7099300" cy="193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0" i="0" u="none" strike="noStrike" dirty="0" err="1">
                <a:solidFill>
                  <a:srgbClr val="00005C"/>
                </a:solidFill>
                <a:latin typeface="微软雅黑"/>
                <a:ea typeface="微软雅黑"/>
                <a:cs typeface="微软雅黑"/>
                <a:sym typeface="微软雅黑"/>
              </a:rPr>
              <a:t>方案详解及系统实现</a:t>
            </a:r>
            <a:endParaRPr lang="en-US" sz="1100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800" y="127000"/>
            <a:ext cx="1930400" cy="381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-1295400" y="2616200"/>
            <a:ext cx="12700" cy="127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形成从客户准入到BI预警的信用风控端到端业务闭环</a:t>
            </a: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439545"/>
            <a:ext cx="26035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1500" y="1503045"/>
            <a:ext cx="2476500" cy="1079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01 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客户准入建档</a:t>
            </a: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(CRM/MDG)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归集客户基本信息、工商登记、经营状况，建立标准化信用档案，筑牢客户合规基石。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3365500" y="1439545"/>
            <a:ext cx="26035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29000" y="1503045"/>
            <a:ext cx="2476500" cy="1079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02 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信用评级授信</a:t>
            </a: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(规则引擎)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基于客户类型、合作年限、回款记录，规则引擎自动核定授信额度，形成合规授信依据。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1439545"/>
            <a:ext cx="2603500" cy="12065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86500" y="1503045"/>
            <a:ext cx="2476500" cy="1079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03 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额度下单校验</a:t>
            </a: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(SAP SD)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下单环节强制校验信用额度，超额自动拦截或触发审批，作为后续发货的刚性额度基准。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9080500" y="1439545"/>
            <a:ext cx="2603500" cy="12065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144000" y="1503045"/>
            <a:ext cx="2476500" cy="1079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04 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发货逾期拦截</a:t>
            </a: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(SAP SD/FI)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发货前校验逾期状态，系统自动拦截逾期客户订单，规范发货前置风险管控。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397000" y="3217545"/>
            <a:ext cx="2603500" cy="12065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460500" y="3281045"/>
            <a:ext cx="2476500" cy="1079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07 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信用分析预警</a:t>
            </a: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(BI/帆软)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客户信用360视图，账龄可视化分析，风险分级预警，形成管理闭环，持续优化风控。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762500" y="3217545"/>
            <a:ext cx="2603500" cy="12065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826000" y="3281045"/>
            <a:ext cx="2476500" cy="1079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06 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特殊审批额度</a:t>
            </a: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(OA)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临时额度、特殊批文额度线上审批，审批结果自动反馈至SAP执行，实时拦截异常。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128000" y="3217545"/>
            <a:ext cx="26035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91500" y="3281045"/>
            <a:ext cx="2476500" cy="1079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05 </a:t>
            </a: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回款账龄更新</a:t>
            </a:r>
            <a:r>
              <a:rPr lang="en-US" sz="10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(SAP FI)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系统自动根据发票日期计算账龄，回款后实时核销更新，保障额度数据准确性。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cxnSp>
        <p:nvCxnSpPr>
          <p:cNvPr id="20" name="Connector 20"/>
          <p:cNvCxnSpPr/>
          <p:nvPr/>
        </p:nvCxnSpPr>
        <p:spPr>
          <a:xfrm rot="-171529">
            <a:off x="3111659" y="2030095"/>
            <a:ext cx="25431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21" name="Connector 21"/>
          <p:cNvCxnSpPr/>
          <p:nvPr/>
        </p:nvCxnSpPr>
        <p:spPr>
          <a:xfrm rot="-171529">
            <a:off x="5969159" y="2030095"/>
            <a:ext cx="25431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22" name="Connector 22"/>
          <p:cNvCxnSpPr/>
          <p:nvPr/>
        </p:nvCxnSpPr>
        <p:spPr>
          <a:xfrm rot="-171529">
            <a:off x="8826659" y="2030095"/>
            <a:ext cx="25431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23" name="Connector 23"/>
          <p:cNvCxnSpPr/>
          <p:nvPr/>
        </p:nvCxnSpPr>
        <p:spPr>
          <a:xfrm rot="5323636">
            <a:off x="10090079" y="2925587"/>
            <a:ext cx="57164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24" name="Connector 24"/>
          <p:cNvCxnSpPr/>
          <p:nvPr/>
        </p:nvCxnSpPr>
        <p:spPr>
          <a:xfrm rot="10714063">
            <a:off x="7365934" y="3811270"/>
            <a:ext cx="76202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25" name="Connector 25"/>
          <p:cNvCxnSpPr/>
          <p:nvPr/>
        </p:nvCxnSpPr>
        <p:spPr>
          <a:xfrm rot="10714063">
            <a:off x="4000434" y="3811270"/>
            <a:ext cx="76202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26" name="Connector 26"/>
          <p:cNvCxnSpPr/>
          <p:nvPr/>
        </p:nvCxnSpPr>
        <p:spPr>
          <a:xfrm rot="-5399981">
            <a:off x="2450996" y="2925339"/>
            <a:ext cx="5717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7" name="AutoShape 27"/>
          <p:cNvSpPr/>
          <p:nvPr/>
        </p:nvSpPr>
        <p:spPr>
          <a:xfrm>
            <a:off x="508000" y="4920615"/>
            <a:ext cx="3683000" cy="1270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98500" y="5047615"/>
            <a:ext cx="304800" cy="3048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 dirty="0"/>
          </a:p>
        </p:txBody>
      </p:sp>
      <p:sp>
        <p:nvSpPr>
          <p:cNvPr id="29" name="AutoShape 29"/>
          <p:cNvSpPr/>
          <p:nvPr/>
        </p:nvSpPr>
        <p:spPr>
          <a:xfrm>
            <a:off x="1079500" y="5047615"/>
            <a:ext cx="3048000" cy="317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信用规则系统化落地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98500" y="5428615"/>
            <a:ext cx="33020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将授信、管控等规则固化至系统，实现从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人为判断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向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规则引擎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转变，消除判断偏差。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4254500" y="4920615"/>
            <a:ext cx="3683000" cy="1270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1E3A8A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445000" y="5047615"/>
            <a:ext cx="304800" cy="3048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4826000" y="5047615"/>
            <a:ext cx="3048000" cy="317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风控流程全程可追溯</a:t>
            </a:r>
            <a:endParaRPr lang="en-US" sz="1100" dirty="0"/>
          </a:p>
        </p:txBody>
      </p:sp>
      <p:sp>
        <p:nvSpPr>
          <p:cNvPr id="34" name="AutoShape 34"/>
          <p:cNvSpPr/>
          <p:nvPr/>
        </p:nvSpPr>
        <p:spPr>
          <a:xfrm>
            <a:off x="4445000" y="5428615"/>
            <a:ext cx="33020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从准入到回款全链路数据留痕，关键节点信息实时可查，为审计与管理复盘提供完整依据。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001000" y="4920615"/>
            <a:ext cx="3683000" cy="1270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1E3A8A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36" name="AutoShape 36"/>
          <p:cNvSpPr/>
          <p:nvPr/>
        </p:nvSpPr>
        <p:spPr>
          <a:xfrm>
            <a:off x="8191500" y="5047615"/>
            <a:ext cx="304800" cy="3048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 dirty="0"/>
          </a:p>
        </p:txBody>
      </p:sp>
      <p:sp>
        <p:nvSpPr>
          <p:cNvPr id="37" name="AutoShape 37"/>
          <p:cNvSpPr/>
          <p:nvPr/>
        </p:nvSpPr>
        <p:spPr>
          <a:xfrm>
            <a:off x="8572500" y="5047615"/>
            <a:ext cx="3048000" cy="317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dirty="0" err="1">
                <a:solidFill>
                  <a:srgbClr val="1E3A8A"/>
                </a:solidFill>
                <a:latin typeface="Noto Sans SC"/>
                <a:ea typeface="Noto Sans SC"/>
                <a:sym typeface="Noto Sans SC"/>
              </a:rPr>
              <a:t>逾期风险前置化管控</a:t>
            </a:r>
            <a:endParaRPr lang="en-US" b="1" dirty="0">
              <a:solidFill>
                <a:srgbClr val="1E3A8A"/>
              </a:solidFill>
              <a:latin typeface="Noto Sans SC"/>
              <a:ea typeface="Noto Sans SC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8191500" y="5428615"/>
            <a:ext cx="33020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系统自动校验额度与逾期，对异常订单实时拦截预警，将信用风险从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事后补救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转为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事前预防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1800" y="6515100"/>
            <a:ext cx="1358900" cy="1524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7400" y="6451600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2100" y="6413500"/>
            <a:ext cx="1739900" cy="3429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1023620"/>
            <a:ext cx="1066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当前信用管控存在五大核心痛点，制约集团信用风险管理效能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595120"/>
            <a:ext cx="10668000" cy="762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1747520"/>
            <a:ext cx="457200" cy="4572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1785620"/>
            <a:ext cx="45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01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587500" y="1696720"/>
            <a:ext cx="965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管控时点错位，风险前置缺失</a:t>
            </a:r>
            <a:endParaRPr lang="en-US" sz="11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587500" y="1976120"/>
            <a:ext cx="965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 dirty="0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信用控制仅在出库环节拦截，下单环节不强制校验，风险发现滞后，损失已造成。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762000" y="2458720"/>
            <a:ext cx="10668000" cy="762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chemeClr val="accent1">
                <a:lumMod val="60000"/>
                <a:lumOff val="4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261112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52500" y="2649220"/>
            <a:ext cx="45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87500" y="2560320"/>
            <a:ext cx="965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规则复杂人工判断，效率低易出错</a:t>
            </a:r>
            <a:endParaRPr lang="en-US" sz="11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587500" y="2839720"/>
            <a:ext cx="965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临时额度规则复杂，特殊批文全流程人工登记，审批工作量大，效率低且易出错。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322320"/>
            <a:ext cx="10668000" cy="762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52500" y="3474720"/>
            <a:ext cx="457200" cy="457200"/>
          </a:xfrm>
          <a:prstGeom prst="ellipse">
            <a:avLst/>
          </a:prstGeom>
          <a:solidFill>
            <a:srgbClr val="3B82F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52500" y="3512820"/>
            <a:ext cx="45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03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587500" y="3423920"/>
            <a:ext cx="965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B82F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系统割裂数据不同源，账龄额度不准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587500" y="3703320"/>
            <a:ext cx="965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SAP、CRM、商城、OA系统割裂，数据不同源，信用额度、逾期数据需手工统计，不准确。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4185920"/>
            <a:ext cx="10668000" cy="762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chemeClr val="accent1">
                <a:lumMod val="75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52500" y="4338320"/>
            <a:ext cx="457200" cy="4572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52500" y="4376420"/>
            <a:ext cx="45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04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587500" y="4287520"/>
            <a:ext cx="965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审批流程无系统支撑，无法自动化闭环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1587500" y="4566920"/>
            <a:ext cx="965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逾期处理、临时额度、特殊批文等审批流程无系统支撑，无法实现从逾期到拦截的自动化闭环。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5049520"/>
            <a:ext cx="10668000" cy="762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chemeClr val="accent5">
                <a:lumMod val="5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52500" y="5201920"/>
            <a:ext cx="457200" cy="457200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52500" y="5240020"/>
            <a:ext cx="45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05</a:t>
            </a:r>
            <a:endParaRPr lang="en-US" sz="1100" dirty="0"/>
          </a:p>
        </p:txBody>
      </p:sp>
      <p:sp>
        <p:nvSpPr>
          <p:cNvPr id="29" name="AutoShape 29"/>
          <p:cNvSpPr/>
          <p:nvPr/>
        </p:nvSpPr>
        <p:spPr>
          <a:xfrm>
            <a:off x="1587500" y="5151120"/>
            <a:ext cx="965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chemeClr val="accent5">
                    <a:lumMod val="50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信用档案缺失，缺乏外部数据与可视化预警</a:t>
            </a:r>
            <a:endParaRPr lang="en-US" sz="11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1587500" y="5430520"/>
            <a:ext cx="965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客户信用档案不完整，缺乏外部征信数据接入，无BI可视化预警体系，风险无法及时识别。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集团级智能信用与风控中台建设方案：核心痛点摘要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1800" y="6515100"/>
            <a:ext cx="1358900" cy="1524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7400" y="6451600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2100" y="6413500"/>
            <a:ext cx="1739900" cy="3429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01-重构信用管控时点与分层策略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6" name="AutoShape 6"/>
          <p:cNvSpPr/>
          <p:nvPr/>
        </p:nvSpPr>
        <p:spPr>
          <a:xfrm>
            <a:off x="538480" y="1092200"/>
            <a:ext cx="5080000" cy="2159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7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28980" y="121920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3E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现状与痛点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28980" y="1600200"/>
            <a:ext cx="469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marL="279400" indent="-139700"/>
            <a:lvl2pPr marL="736600" indent="-139700"/>
            <a:lvl3pPr marL="1193800" indent="-139700"/>
            <a:lvl4pPr marL="1651000" indent="-139700"/>
            <a:lvl5pPr marL="2108200" indent="-139700"/>
            <a:lvl6pPr marL="2565400" indent="-139700"/>
            <a:lvl7pPr marL="3022600" indent="-139700"/>
            <a:lvl8pPr marL="3479800" indent="-139700"/>
            <a:lvl9pPr marL="3937000" indent="-139700"/>
          </a:lstStyle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信用控制仅在出库环节拦截，下单环节不强制校验</a:t>
            </a:r>
            <a:endParaRPr lang="en-US" sz="1100"/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管控时点错位，风险发现滞后，损失已造成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缺乏分层管控策略，所有客户一刀切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新客户与老客户、大客户与小客户无差异化管理</a:t>
            </a:r>
          </a:p>
        </p:txBody>
      </p:sp>
      <p:sp>
        <p:nvSpPr>
          <p:cNvPr id="9" name="AutoShape 9"/>
          <p:cNvSpPr/>
          <p:nvPr/>
        </p:nvSpPr>
        <p:spPr>
          <a:xfrm>
            <a:off x="6126480" y="1092200"/>
            <a:ext cx="5080000" cy="2159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472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16980" y="121920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3E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管理咨询解决方案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16980" y="1600200"/>
            <a:ext cx="469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marL="279400" indent="-139700"/>
            <a:lvl2pPr marL="736600" indent="-139700"/>
            <a:lvl3pPr marL="1193800" indent="-139700"/>
            <a:lvl4pPr marL="1651000" indent="-139700"/>
            <a:lvl5pPr marL="2108200" indent="-139700"/>
            <a:lvl6pPr marL="2565400" indent="-139700"/>
            <a:lvl7pPr marL="3022600" indent="-139700"/>
            <a:lvl8pPr marL="3479800" indent="-139700"/>
            <a:lvl9pPr marL="3937000" indent="-139700"/>
          </a:lstStyle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将信用管控前置到下单环节，实现事前校验</a:t>
            </a:r>
            <a:endParaRPr lang="en-US" sz="1100"/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建立客户分层管理体系，按风险等级实施差异化管控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设置下单、发货、开票三道管控关卡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高风险客户严格管控，低风险客户适度放宽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38480" y="3441700"/>
            <a:ext cx="10668000" cy="1778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7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28980" y="3568700"/>
            <a:ext cx="1028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3E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关键行动举措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28980" y="3949700"/>
            <a:ext cx="10287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marL="279400" indent="-139700"/>
            <a:lvl2pPr marL="736600" indent="-139700"/>
            <a:lvl3pPr marL="1193800" indent="-139700"/>
            <a:lvl4pPr marL="1651000" indent="-139700"/>
            <a:lvl5pPr marL="2108200" indent="-139700"/>
            <a:lvl6pPr marL="2565400" indent="-139700"/>
            <a:lvl7pPr marL="3022600" indent="-139700"/>
            <a:lvl8pPr marL="3479800" indent="-139700"/>
            <a:lvl9pPr marL="3937000" indent="-139700"/>
          </a:lstStyle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梳理现有信用管控节点，识别管控缺口与重叠</a:t>
            </a:r>
            <a:endParaRPr lang="en-US" sz="1100"/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设计下单前置校验规则，超额/逾期自动拦截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建立客户分层标准（A/B/C/D四级），匹配差异化管控策略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配置SAP信用控制范围、风险类别、信用限额字段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制定管控时点切换方案，确保业务平稳过渡</a:t>
            </a:r>
          </a:p>
        </p:txBody>
      </p:sp>
      <p:sp>
        <p:nvSpPr>
          <p:cNvPr id="15" name="AutoShape 15"/>
          <p:cNvSpPr/>
          <p:nvPr/>
        </p:nvSpPr>
        <p:spPr>
          <a:xfrm>
            <a:off x="538480" y="5410200"/>
            <a:ext cx="10668000" cy="444500"/>
          </a:xfrm>
          <a:prstGeom prst="roundRect">
            <a:avLst>
              <a:gd name="adj" fmla="val 11427"/>
            </a:avLst>
          </a:pr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28980" y="5473700"/>
            <a:ext cx="1028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涉及需求号：A0261、A0262、A0263、A0264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1800" y="6515100"/>
            <a:ext cx="1358900" cy="1524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7400" y="6451600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2100" y="6413500"/>
            <a:ext cx="1739900" cy="3429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02-建立规则引擎化的动态授信模型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6" name="AutoShape 6"/>
          <p:cNvSpPr/>
          <p:nvPr/>
        </p:nvSpPr>
        <p:spPr>
          <a:xfrm>
            <a:off x="568960" y="1122680"/>
            <a:ext cx="5080000" cy="2159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59460" y="124968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3E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现状与痛点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59460" y="1630680"/>
            <a:ext cx="469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marL="279400" indent="-139700"/>
            <a:lvl2pPr marL="736600" indent="-139700"/>
            <a:lvl3pPr marL="1193800" indent="-139700"/>
            <a:lvl4pPr marL="1651000" indent="-139700"/>
            <a:lvl5pPr marL="2108200" indent="-139700"/>
            <a:lvl6pPr marL="2565400" indent="-139700"/>
            <a:lvl7pPr marL="3022600" indent="-139700"/>
            <a:lvl8pPr marL="3479800" indent="-139700"/>
            <a:lvl9pPr marL="3937000" indent="-139700"/>
          </a:lstStyle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临时额度规则复杂，人工审批工作量大</a:t>
            </a:r>
            <a:endParaRPr lang="en-US" sz="1100"/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固定额度、临时额度、特殊批文额度无统一规则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授信核定依赖人工判断，效率低易出错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额度调整不及时，无法反映客户最新信用状况</a:t>
            </a:r>
          </a:p>
        </p:txBody>
      </p:sp>
      <p:sp>
        <p:nvSpPr>
          <p:cNvPr id="9" name="AutoShape 9"/>
          <p:cNvSpPr/>
          <p:nvPr/>
        </p:nvSpPr>
        <p:spPr>
          <a:xfrm>
            <a:off x="6156960" y="1122680"/>
            <a:ext cx="5080000" cy="2159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3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47460" y="124968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3E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管理咨询解决方案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47460" y="1630680"/>
            <a:ext cx="469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marL="279400" indent="-139700"/>
            <a:lvl2pPr marL="736600" indent="-139700"/>
            <a:lvl3pPr marL="1193800" indent="-139700"/>
            <a:lvl4pPr marL="1651000" indent="-139700"/>
            <a:lvl5pPr marL="2108200" indent="-139700"/>
            <a:lvl6pPr marL="2565400" indent="-139700"/>
            <a:lvl7pPr marL="3022600" indent="-139700"/>
            <a:lvl8pPr marL="3479800" indent="-139700"/>
            <a:lvl9pPr marL="3937000" indent="-139700"/>
          </a:lstStyle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建立规则引擎化的动态授信模型，实现自动核定</a:t>
            </a:r>
            <a:endParaRPr lang="en-US" sz="1100"/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统一固定额度、临时额度、特殊批文额度管理规则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基于客户类型、合作年限、回款记录自动计算额度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额度实时调整，定期复评，动态反映客户信用状况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68960" y="3472180"/>
            <a:ext cx="10668000" cy="1778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59460" y="3599180"/>
            <a:ext cx="1028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3E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关键行动举措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59460" y="3980180"/>
            <a:ext cx="10287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marL="279400" indent="-139700"/>
            <a:lvl2pPr marL="736600" indent="-139700"/>
            <a:lvl3pPr marL="1193800" indent="-139700"/>
            <a:lvl4pPr marL="1651000" indent="-139700"/>
            <a:lvl5pPr marL="2108200" indent="-139700"/>
            <a:lvl6pPr marL="2565400" indent="-139700"/>
            <a:lvl7pPr marL="3022600" indent="-139700"/>
            <a:lvl8pPr marL="3479800" indent="-139700"/>
            <a:lvl9pPr marL="3937000" indent="-139700"/>
          </a:lstStyle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梳理现有授信规则，标准化固定额度、临时额度、特殊批文额度</a:t>
            </a:r>
            <a:endParaRPr lang="en-US" sz="1100"/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设计授信评分模型，纳入财务指标、交易记录、外部征信等维度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配置SAP信用管理功能，启用信用限额、风险类别、信用控制范围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开发临时额度自动审批规则，设定审批阈值与流程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建立额度定期复评机制，确保额度动态调整</a:t>
            </a:r>
          </a:p>
        </p:txBody>
      </p:sp>
      <p:sp>
        <p:nvSpPr>
          <p:cNvPr id="15" name="AutoShape 15"/>
          <p:cNvSpPr/>
          <p:nvPr/>
        </p:nvSpPr>
        <p:spPr>
          <a:xfrm>
            <a:off x="568960" y="5440680"/>
            <a:ext cx="10668000" cy="444500"/>
          </a:xfrm>
          <a:prstGeom prst="roundRect">
            <a:avLst>
              <a:gd name="adj" fmla="val 11427"/>
            </a:avLst>
          </a:pr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59460" y="5504180"/>
            <a:ext cx="1028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涉及需求号：A0266、A0267、A0293、A0410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1800" y="6515100"/>
            <a:ext cx="1358900" cy="1524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7400" y="6451600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2100" y="6413500"/>
            <a:ext cx="1739900" cy="3429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03-推动系统集成与数据同源治理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endParaRPr sz="2800"/>
          </a:p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6" name="AutoShape 6"/>
          <p:cNvSpPr/>
          <p:nvPr/>
        </p:nvSpPr>
        <p:spPr>
          <a:xfrm>
            <a:off x="538480" y="1092200"/>
            <a:ext cx="5080000" cy="2159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28980" y="121920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现状与痛点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28980" y="1600200"/>
            <a:ext cx="469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marL="279400" indent="-139700"/>
            <a:lvl2pPr marL="736600" indent="-139700"/>
            <a:lvl3pPr marL="1193800" indent="-139700"/>
            <a:lvl4pPr marL="1651000" indent="-139700"/>
            <a:lvl5pPr marL="2108200" indent="-139700"/>
            <a:lvl6pPr marL="2565400" indent="-139700"/>
            <a:lvl7pPr marL="3022600" indent="-139700"/>
            <a:lvl8pPr marL="3479800" indent="-139700"/>
            <a:lvl9pPr marL="3937000" indent="-139700"/>
          </a:lstStyle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SAP、CRM、商城、OA系统割裂，数据不同源</a:t>
            </a:r>
            <a:endParaRPr lang="en-US" sz="1100"/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信用额度、逾期数据无法自动输出报表，需手工统计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账龄计算不准确，与财务数据不一致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客户主数据分散，缺乏统一管理</a:t>
            </a:r>
          </a:p>
        </p:txBody>
      </p:sp>
      <p:sp>
        <p:nvSpPr>
          <p:cNvPr id="9" name="AutoShape 9"/>
          <p:cNvSpPr/>
          <p:nvPr/>
        </p:nvSpPr>
        <p:spPr>
          <a:xfrm>
            <a:off x="6126480" y="1092200"/>
            <a:ext cx="5080000" cy="2159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16980" y="121920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管理咨询解决方案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16980" y="1600200"/>
            <a:ext cx="469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marL="279400" indent="-139700"/>
            <a:lvl2pPr marL="736600" indent="-139700"/>
            <a:lvl3pPr marL="1193800" indent="-139700"/>
            <a:lvl4pPr marL="1651000" indent="-139700"/>
            <a:lvl5pPr marL="2108200" indent="-139700"/>
            <a:lvl6pPr marL="2565400" indent="-139700"/>
            <a:lvl7pPr marL="3022600" indent="-139700"/>
            <a:lvl8pPr marL="3479800" indent="-139700"/>
            <a:lvl9pPr marL="3937000" indent="-139700"/>
          </a:lstStyle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推动SAP与CRM、OA、商城系统集成，实现数据同源</a:t>
            </a:r>
            <a:endParaRPr lang="en-US" sz="1100"/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建立统一客户主数据管理，确保数据一致性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实现账龄自动计算，与财务数据实时同步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信用额度、逾期数据自动输出报表，无需手工统计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38480" y="3441700"/>
            <a:ext cx="10668000" cy="1778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28980" y="3568700"/>
            <a:ext cx="1028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关键行动举措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28980" y="3949700"/>
            <a:ext cx="10287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marL="279400" indent="-139700"/>
            <a:lvl2pPr marL="736600" indent="-139700"/>
            <a:lvl3pPr marL="1193800" indent="-139700"/>
            <a:lvl4pPr marL="1651000" indent="-139700"/>
            <a:lvl5pPr marL="2108200" indent="-139700"/>
            <a:lvl6pPr marL="2565400" indent="-139700"/>
            <a:lvl7pPr marL="3022600" indent="-139700"/>
            <a:lvl8pPr marL="3479800" indent="-139700"/>
            <a:lvl9pPr marL="3937000" indent="-139700"/>
          </a:lstStyle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梳理各系统数据接口，识别数据断点与不一致</a:t>
            </a:r>
            <a:endParaRPr lang="en-US" sz="1100"/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设计SAP与CRM、OA、商城系统集成方案，明确接口边界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建立客户主数据治理规范，统一编码、分类、属性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配置SAP账龄分析功能，实现自动计算与财务同步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开发信用数据报表，自动输出额度、逾期、账龄等数据</a:t>
            </a:r>
          </a:p>
        </p:txBody>
      </p:sp>
      <p:sp>
        <p:nvSpPr>
          <p:cNvPr id="15" name="AutoShape 15"/>
          <p:cNvSpPr/>
          <p:nvPr/>
        </p:nvSpPr>
        <p:spPr>
          <a:xfrm>
            <a:off x="538480" y="5410200"/>
            <a:ext cx="10668000" cy="444500"/>
          </a:xfrm>
          <a:prstGeom prst="roundRect">
            <a:avLst>
              <a:gd name="adj" fmla="val 11427"/>
            </a:avLst>
          </a:prstGeom>
          <a:solidFill>
            <a:srgbClr val="3B82F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28980" y="5473700"/>
            <a:ext cx="1028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涉及需求号：A0424、A0446、A0673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1800" y="6515100"/>
            <a:ext cx="1358900" cy="1524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7400" y="6451600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2100" y="6413500"/>
            <a:ext cx="1739900" cy="3429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04-设计流程自动化闭环（从逾期到拦截）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endParaRPr sz="2800"/>
          </a:p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6" name="AutoShape 6"/>
          <p:cNvSpPr/>
          <p:nvPr/>
        </p:nvSpPr>
        <p:spPr>
          <a:xfrm>
            <a:off x="538480" y="1092200"/>
            <a:ext cx="5080000" cy="2159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28980" y="121920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现状与痛点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28980" y="1600200"/>
            <a:ext cx="469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marL="279400" indent="-139700"/>
            <a:lvl2pPr marL="736600" indent="-139700"/>
            <a:lvl3pPr marL="1193800" indent="-139700"/>
            <a:lvl4pPr marL="1651000" indent="-139700"/>
            <a:lvl5pPr marL="2108200" indent="-139700"/>
            <a:lvl6pPr marL="2565400" indent="-139700"/>
            <a:lvl7pPr marL="3022600" indent="-139700"/>
            <a:lvl8pPr marL="3479800" indent="-139700"/>
            <a:lvl9pPr marL="3937000" indent="-139700"/>
          </a:lstStyle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逾期处理、临时额度、特殊批文等审批流程无系统支撑</a:t>
            </a:r>
            <a:endParaRPr lang="en-US" sz="1100"/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特殊信用批文全流程人工登记，效率低易出错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无法实现从逾期到拦截的自动化闭环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审批结果无法自动反馈至SAP执行，需人工操作</a:t>
            </a:r>
          </a:p>
        </p:txBody>
      </p:sp>
      <p:sp>
        <p:nvSpPr>
          <p:cNvPr id="9" name="AutoShape 9"/>
          <p:cNvSpPr/>
          <p:nvPr/>
        </p:nvSpPr>
        <p:spPr>
          <a:xfrm>
            <a:off x="6126480" y="1092200"/>
            <a:ext cx="5080000" cy="2159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16980" y="121920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管理咨询解决方案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16980" y="1600200"/>
            <a:ext cx="469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marL="279400" indent="-139700"/>
            <a:lvl2pPr marL="736600" indent="-139700"/>
            <a:lvl3pPr marL="1193800" indent="-139700"/>
            <a:lvl4pPr marL="1651000" indent="-139700"/>
            <a:lvl5pPr marL="2108200" indent="-139700"/>
            <a:lvl6pPr marL="2565400" indent="-139700"/>
            <a:lvl7pPr marL="3022600" indent="-139700"/>
            <a:lvl8pPr marL="3479800" indent="-139700"/>
            <a:lvl9pPr marL="3937000" indent="-139700"/>
          </a:lstStyle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设计从逾期识别到自动拦截的全流程自动化闭环</a:t>
            </a:r>
            <a:endParaRPr lang="en-US" sz="1100"/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将临时额度、特殊批文审批流程线上化（OA系统）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审批结果自动反馈至SAP，实时更新额度与拦截状态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实现逾期自动预警、自动审批、自动拦截的闭环管理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38480" y="3441700"/>
            <a:ext cx="10668000" cy="1778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28980" y="3568700"/>
            <a:ext cx="1028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关键行动举措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28980" y="3949700"/>
            <a:ext cx="10287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marL="279400" indent="-139700"/>
            <a:lvl2pPr marL="736600" indent="-139700"/>
            <a:lvl3pPr marL="1193800" indent="-139700"/>
            <a:lvl4pPr marL="1651000" indent="-139700"/>
            <a:lvl5pPr marL="2108200" indent="-139700"/>
            <a:lvl6pPr marL="2565400" indent="-139700"/>
            <a:lvl7pPr marL="3022600" indent="-139700"/>
            <a:lvl8pPr marL="3479800" indent="-139700"/>
            <a:lvl9pPr marL="3937000" indent="-139700"/>
          </a:lstStyle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梳理现有信用审批流程，识别断点与低效环节</a:t>
            </a:r>
            <a:endParaRPr lang="en-US" sz="1100"/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设计逾期自动预警规则，按账龄分级触发预警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在OA系统配置临时额度、特殊批文审批流程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开发OA与SAP接口，审批结果自动反馈执行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配置SAP自动拦截规则，逾期/超额订单自动冻结</a:t>
            </a:r>
          </a:p>
        </p:txBody>
      </p:sp>
      <p:sp>
        <p:nvSpPr>
          <p:cNvPr id="15" name="AutoShape 15"/>
          <p:cNvSpPr/>
          <p:nvPr/>
        </p:nvSpPr>
        <p:spPr>
          <a:xfrm>
            <a:off x="538480" y="5410200"/>
            <a:ext cx="10668000" cy="444500"/>
          </a:xfrm>
          <a:prstGeom prst="roundRect">
            <a:avLst>
              <a:gd name="adj" fmla="val 11427"/>
            </a:avLst>
          </a:prstGeom>
          <a:solidFill>
            <a:srgbClr val="3B82F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28980" y="5473700"/>
            <a:ext cx="1028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涉及需求号：A0424、A0446、A0673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1800" y="6515100"/>
            <a:ext cx="1358900" cy="1524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7400" y="6451600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2100" y="6413500"/>
            <a:ext cx="1739900" cy="3429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05-构建客户信用档案与BI预警体系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endParaRPr sz="2800"/>
          </a:p>
          <a:p>
            <a:pPr marL="0" indent="0" algn="l">
              <a:lnSpc>
                <a:spcPct val="100000"/>
              </a:lnSpc>
            </a:pPr>
            <a:endParaRPr sz="2800"/>
          </a:p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6" name="AutoShape 6"/>
          <p:cNvSpPr/>
          <p:nvPr/>
        </p:nvSpPr>
        <p:spPr>
          <a:xfrm>
            <a:off x="538480" y="1092200"/>
            <a:ext cx="5080000" cy="2159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28980" y="121920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现状与痛点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28980" y="1600200"/>
            <a:ext cx="469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marL="279400" indent="-139700"/>
            <a:lvl2pPr marL="736600" indent="-139700"/>
            <a:lvl3pPr marL="1193800" indent="-139700"/>
            <a:lvl4pPr marL="1651000" indent="-139700"/>
            <a:lvl5pPr marL="2108200" indent="-139700"/>
            <a:lvl6pPr marL="2565400" indent="-139700"/>
            <a:lvl7pPr marL="3022600" indent="-139700"/>
            <a:lvl8pPr marL="3479800" indent="-139700"/>
            <a:lvl9pPr marL="3937000" indent="-139700"/>
          </a:lstStyle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客户信用档案不完整，缺乏统一管理</a:t>
            </a:r>
            <a:endParaRPr lang="en-US" sz="1100"/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缺乏外部征信数据接入，信息来源单一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无BI可视化预警体系，风险无法及时识别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信用分析依赖离线报表，时效性差</a:t>
            </a:r>
          </a:p>
        </p:txBody>
      </p:sp>
      <p:sp>
        <p:nvSpPr>
          <p:cNvPr id="9" name="AutoShape 9"/>
          <p:cNvSpPr/>
          <p:nvPr/>
        </p:nvSpPr>
        <p:spPr>
          <a:xfrm>
            <a:off x="6126480" y="1092200"/>
            <a:ext cx="5080000" cy="2159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16980" y="121920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管理咨询解决方案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16980" y="1600200"/>
            <a:ext cx="469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marL="279400" indent="-139700"/>
            <a:lvl2pPr marL="736600" indent="-139700"/>
            <a:lvl3pPr marL="1193800" indent="-139700"/>
            <a:lvl4pPr marL="1651000" indent="-139700"/>
            <a:lvl5pPr marL="2108200" indent="-139700"/>
            <a:lvl6pPr marL="2565400" indent="-139700"/>
            <a:lvl7pPr marL="3022600" indent="-139700"/>
            <a:lvl8pPr marL="3479800" indent="-139700"/>
            <a:lvl9pPr marL="3937000" indent="-139700"/>
          </a:lstStyle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构建客户360度信用档案，整合内外部数据</a:t>
            </a:r>
            <a:endParaRPr lang="en-US" sz="1100"/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接入外部征信数据，丰富客户信用信息来源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建立BI可视化预警体系，实现风险实时监控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开发信用分析驾驶舱，提供多维度信用分析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38480" y="3441700"/>
            <a:ext cx="10668000" cy="1778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28980" y="3568700"/>
            <a:ext cx="1028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关键行动举措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28980" y="3949700"/>
            <a:ext cx="10287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>
            <a:lvl1pPr marL="279400" indent="-139700"/>
            <a:lvl2pPr marL="736600" indent="-139700"/>
            <a:lvl3pPr marL="1193800" indent="-139700"/>
            <a:lvl4pPr marL="1651000" indent="-139700"/>
            <a:lvl5pPr marL="2108200" indent="-139700"/>
            <a:lvl6pPr marL="2565400" indent="-139700"/>
            <a:lvl7pPr marL="3022600" indent="-139700"/>
            <a:lvl8pPr marL="3479800" indent="-139700"/>
            <a:lvl9pPr marL="3937000" indent="-139700"/>
          </a:lstStyle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设计客户信用档案数据模型，涵盖基本信息、交易记录、回款记录、外部征信等</a:t>
            </a:r>
            <a:endParaRPr lang="en-US" sz="1100"/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评估外部征信数据接入方案（企查查、天眼查等）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开发BI信用分析看板，包括账龄分析、额度使用率、逾期排行等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配置风险预警规则，按客户分层设置预警阈值</a:t>
            </a:r>
          </a:p>
          <a:p>
            <a:pPr marL="139700" indent="-139700" algn="l">
              <a:lnSpc>
                <a:spcPct val="117000"/>
              </a:lnSpc>
              <a:buClr>
                <a:srgbClr val="4B5563"/>
              </a:buClr>
              <a:buFont typeface="Arial" panose="020B0604020202020204"/>
              <a:buChar char="•"/>
            </a:pPr>
            <a:r>
              <a:rPr lang="en-US" sz="11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建立信用定期报告机制，为管理层提供决策支持</a:t>
            </a:r>
          </a:p>
        </p:txBody>
      </p:sp>
      <p:sp>
        <p:nvSpPr>
          <p:cNvPr id="15" name="AutoShape 15"/>
          <p:cNvSpPr/>
          <p:nvPr/>
        </p:nvSpPr>
        <p:spPr>
          <a:xfrm>
            <a:off x="538480" y="5410200"/>
            <a:ext cx="10668000" cy="444500"/>
          </a:xfrm>
          <a:prstGeom prst="roundRect">
            <a:avLst>
              <a:gd name="adj" fmla="val 11427"/>
            </a:avLst>
          </a:prstGeom>
          <a:solidFill>
            <a:srgbClr val="3B82F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28980" y="5473700"/>
            <a:ext cx="1028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涉及需求号：A0424、A0446、A0673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1800" y="6515100"/>
            <a:ext cx="1358900" cy="1524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7400" y="6451600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2100" y="6413500"/>
            <a:ext cx="1739900" cy="3429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31800" y="292100"/>
            <a:ext cx="113411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配置步骤（一）：组织架构定义与分配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663700"/>
            <a:ext cx="3556000" cy="2794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11200" y="1866900"/>
            <a:ext cx="31496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01 定义信用控制范围 (CCA)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11200" y="2298700"/>
            <a:ext cx="3149600" cy="25400"/>
          </a:xfrm>
          <a:prstGeom prst="roundRect">
            <a:avLst>
              <a:gd name="adj" fmla="val 0"/>
            </a:avLst>
          </a:prstGeom>
          <a:solidFill>
            <a:srgbClr val="2563EB">
              <a:alpha val="3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11200" y="2489200"/>
            <a:ext cx="3149600" cy="1841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事务码：OB45</a:t>
            </a:r>
            <a:b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作为信用管理的最高组织单元，需按业务边界创建。示例：为公司代码1000创建CCA1，为2000创建CCA2，以此划定信用检查与额度管控的独立核算范围，是信用体系搭建的基础前提。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18000" y="1663700"/>
            <a:ext cx="3556000" cy="2794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21200" y="1866900"/>
            <a:ext cx="31496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02 </a:t>
            </a:r>
            <a:r>
              <a:rPr lang="en-US" sz="1400" b="1" i="0" u="none" strike="noStrike" dirty="0" err="1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分配公司代码给信用控制范围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4521200" y="2298700"/>
            <a:ext cx="3149600" cy="25400"/>
          </a:xfrm>
          <a:prstGeom prst="roundRect">
            <a:avLst>
              <a:gd name="adj" fmla="val 0"/>
            </a:avLst>
          </a:prstGeom>
          <a:solidFill>
            <a:srgbClr val="2563EB">
              <a:alpha val="3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21200" y="2489200"/>
            <a:ext cx="3149600" cy="1841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事务码：OB38</a:t>
            </a:r>
            <a:b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建立公司代码与CCA的关联，实现财务视角的信用数据归集。示例：将公司代码1000分配至CCA1，2000分配至CCA2，确保不同法人主体的信用风险独立核算，保障财务数据与信用管控的匹配性。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663700"/>
            <a:ext cx="3556000" cy="2794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331200" y="1866900"/>
            <a:ext cx="31496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dirty="0">
                <a:solidFill>
                  <a:srgbClr val="2563EB"/>
                </a:solidFill>
                <a:latin typeface="Biennale"/>
                <a:sym typeface="Biennale"/>
              </a:rPr>
              <a:t>03 </a:t>
            </a:r>
            <a:r>
              <a:rPr lang="en-US" b="1" dirty="0" err="1">
                <a:solidFill>
                  <a:srgbClr val="2563EB"/>
                </a:solidFill>
                <a:latin typeface="Biennale"/>
                <a:sym typeface="Biennale"/>
              </a:rPr>
              <a:t>分配销售范围给信用控制范围</a:t>
            </a:r>
            <a:endParaRPr lang="en-US" b="1" dirty="0">
              <a:solidFill>
                <a:srgbClr val="2563EB"/>
              </a:solidFill>
              <a:latin typeface="Biennale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331200" y="2298700"/>
            <a:ext cx="3149600" cy="25400"/>
          </a:xfrm>
          <a:prstGeom prst="roundRect">
            <a:avLst>
              <a:gd name="adj" fmla="val 0"/>
            </a:avLst>
          </a:prstGeom>
          <a:solidFill>
            <a:srgbClr val="2563EB">
              <a:alpha val="3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331200" y="2489200"/>
            <a:ext cx="3149600" cy="1841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事务码：OVFL</a:t>
            </a:r>
            <a:b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实现信用管控向销售业务端的穿透，是触发销售环节信用检查的关键。示例：将(1000,10,00)等销售范围分配至对应CCA，让信用规则精准覆盖到“销售组织+分销渠道+产品组”的业务维度。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08000" y="4965700"/>
            <a:ext cx="11176000" cy="889000"/>
          </a:xfrm>
          <a:prstGeom prst="roundRect">
            <a:avLst>
              <a:gd name="adj" fmla="val 0"/>
            </a:avLst>
          </a:prstGeom>
          <a:solidFill>
            <a:srgbClr val="1E3A8A">
              <a:alpha val="8000"/>
            </a:srgbClr>
          </a:solidFill>
          <a:ln w="12700" cap="flat" cmpd="sng">
            <a:solidFill>
              <a:srgbClr val="1E3A8A">
                <a:alpha val="15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156200"/>
            <a:ext cx="106680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落地价值：完成信用管控组织架构的底层搭建，构建“信用控制范围-公司代码-销售范围”的层级关联体系，为后续客户信用主数据维护、自动信用检查规则配置及额度管控奠定坚实的组织基础，保障信用管理在业务全流程的精准生效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1800" y="6515100"/>
            <a:ext cx="1358900" cy="1524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7400" y="6451600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2100" y="6413500"/>
            <a:ext cx="1739900" cy="3429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31800" y="292100"/>
            <a:ext cx="113411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配置步骤（二）：精细化控制与规则定义一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714500"/>
            <a:ext cx="54610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4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1714500"/>
            <a:ext cx="762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25500" y="1866900"/>
            <a:ext cx="49530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01 </a:t>
            </a:r>
            <a:r>
              <a:rPr lang="en-US" sz="1400" b="1" i="0" u="none" strike="noStrike" dirty="0" err="1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定义信用段：构建业务分层核算基础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825500" y="2324100"/>
            <a:ext cx="4953000" cy="1143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路径：SPRO &gt; FSCM &gt; 信用管理 &gt; 信贷风险监视 &gt;主数据 &gt;创建信用段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配置：按业务属性创建独立信用段（如直销、分销）</a:t>
            </a:r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价值：实现不同业务线信用额度独立核算，风险隔离互不占用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1714500"/>
            <a:ext cx="54610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4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714500"/>
            <a:ext cx="76200" cy="1841500"/>
          </a:xfrm>
          <a:prstGeom prst="roundRect">
            <a:avLst>
              <a:gd name="adj" fmla="val 0"/>
            </a:avLst>
          </a:prstGeom>
          <a:solidFill>
            <a:schemeClr val="accent5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40500" y="1866900"/>
            <a:ext cx="49530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02 分配信用段：关联信贷控制范围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40500" y="2324100"/>
            <a:ext cx="4953000" cy="1143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路径：SPRO &gt; FSCM &gt; 信用管理 &gt;与应收账款模板与销售分销模块的集成 &gt;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有销售和分销的集成 &gt;指定信用控制区域及信用部分</a:t>
            </a:r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配置：将信用段（如SEG_DIRECT）分配给指定的信用控制范围(CCA)</a:t>
            </a:r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规则：支持“一对多”分配，实现同一控制范围内多业务的细分管理</a:t>
            </a:r>
          </a:p>
        </p:txBody>
      </p:sp>
      <p:sp>
        <p:nvSpPr>
          <p:cNvPr id="14" name="AutoShape 14"/>
          <p:cNvSpPr/>
          <p:nvPr/>
        </p:nvSpPr>
        <p:spPr>
          <a:xfrm>
            <a:off x="508000" y="3683000"/>
            <a:ext cx="54610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4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508000" y="3683000"/>
            <a:ext cx="76200" cy="1841500"/>
          </a:xfrm>
          <a:prstGeom prst="roundRect">
            <a:avLst>
              <a:gd name="adj" fmla="val 0"/>
            </a:avLst>
          </a:prstGeom>
          <a:solidFill>
            <a:schemeClr val="accent5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25500" y="3835400"/>
            <a:ext cx="49530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dirty="0">
                <a:solidFill>
                  <a:srgbClr val="2563EB"/>
                </a:solidFill>
                <a:latin typeface="Biennale"/>
                <a:sym typeface="Biennale"/>
              </a:rPr>
              <a:t>03 </a:t>
            </a:r>
            <a:r>
              <a:rPr lang="en-US" b="1" dirty="0" err="1">
                <a:solidFill>
                  <a:srgbClr val="2563EB"/>
                </a:solidFill>
                <a:latin typeface="Biennale"/>
                <a:sym typeface="Biennale"/>
              </a:rPr>
              <a:t>定义风险类别：量化客户信用风险等级</a:t>
            </a:r>
            <a:endParaRPr lang="en-US" b="1" dirty="0">
              <a:solidFill>
                <a:srgbClr val="2563EB"/>
              </a:solidFill>
              <a:latin typeface="Biennale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25500" y="4292600"/>
            <a:ext cx="4953000" cy="1143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路径：SPRO &gt; FSCM &gt; 信用管理 &gt;与应收账款模板与销售分销模块的集成 &gt;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有销售和分销的集成 &gt;定义风险类别</a:t>
            </a:r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配置：按违约概率划分等级（如HIGH高风险、MED中风险、LOW低风险）</a:t>
            </a:r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作用：作为自动信用控制规则的核心判定因子，触发差异化管控动作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223000" y="3683000"/>
            <a:ext cx="54610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4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23000" y="3683000"/>
            <a:ext cx="762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540500" y="3835400"/>
            <a:ext cx="49530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b="1" dirty="0">
                <a:solidFill>
                  <a:srgbClr val="2563EB"/>
                </a:solidFill>
                <a:latin typeface="Biennale"/>
                <a:sym typeface="Biennale"/>
              </a:rPr>
              <a:t>04 </a:t>
            </a:r>
            <a:r>
              <a:rPr lang="en-US" b="1" dirty="0" err="1">
                <a:solidFill>
                  <a:srgbClr val="2563EB"/>
                </a:solidFill>
                <a:latin typeface="Biennale"/>
                <a:sym typeface="Biennale"/>
              </a:rPr>
              <a:t>定义风险类：风险类与风险类别具有同步关系</a:t>
            </a:r>
            <a:endParaRPr lang="en-US" b="1" dirty="0">
              <a:solidFill>
                <a:srgbClr val="2563EB"/>
              </a:solidFill>
              <a:latin typeface="Biennale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540500" y="4292600"/>
            <a:ext cx="4953000" cy="1143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路径：SPRO &gt; FSCM &gt; 信用管理 &gt; 信贷风险监视 &gt;主数据 &gt;创建风险类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配置：对客户信贷得分的类别划分，分数段不能重复</a:t>
            </a:r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管控：风险类别和风险类的值需要相同，然后风险类会和风险类别自动同步</a:t>
            </a:r>
          </a:p>
        </p:txBody>
      </p:sp>
      <p:sp>
        <p:nvSpPr>
          <p:cNvPr id="22" name="AutoShape 22"/>
          <p:cNvSpPr/>
          <p:nvPr/>
        </p:nvSpPr>
        <p:spPr>
          <a:xfrm>
            <a:off x="254000" y="5715000"/>
            <a:ext cx="11684000" cy="558800"/>
          </a:xfrm>
          <a:prstGeom prst="roundRect">
            <a:avLst>
              <a:gd name="adj" fmla="val 0"/>
            </a:avLst>
          </a:prstGeom>
          <a:solidFill>
            <a:srgbClr val="1E3A8A">
              <a:alpha val="6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81000" y="5803900"/>
            <a:ext cx="114300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落地价值：通过多维度信用参数的精细化配置，实现从“单一额度管控”向“场景化、差异化的智能风控”转变，有效平衡业务增长与坏账风险。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1800" y="6515100"/>
            <a:ext cx="1358900" cy="1524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7400" y="6451600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2100" y="6413500"/>
            <a:ext cx="1739900" cy="3429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31800" y="292100"/>
            <a:ext cx="113411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配置步骤（三）：精细化控制与规则定义二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1800" y="1714500"/>
            <a:ext cx="54610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4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1714500"/>
            <a:ext cx="762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25500" y="1866900"/>
            <a:ext cx="49530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01 </a:t>
            </a:r>
            <a:r>
              <a:rPr lang="en-US" sz="1400" b="1" i="0" u="none" strike="noStrike" dirty="0" err="1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定义信贷组：配置订单级信用检查触发条件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825500" y="2324100"/>
            <a:ext cx="4953000" cy="1143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事务码：SPRO &gt; FSCM &gt; 信用管理 &gt;信贷风险监视 &gt;与应收账款模板与销售分销模块的集成 &gt;有销售和分销的集成 &gt;定义信贷组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配置：信贷组用于区分不同单据业务类型</a:t>
            </a:r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规则：信贷组作为自动信用管控规则的核心维度之一，与信贷控制范围、风险类别组合，实现订单全流程风控触发管控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1714500"/>
            <a:ext cx="54610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4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714500"/>
            <a:ext cx="76200" cy="1841500"/>
          </a:xfrm>
          <a:prstGeom prst="roundRect">
            <a:avLst>
              <a:gd name="adj" fmla="val 0"/>
            </a:avLst>
          </a:prstGeom>
          <a:solidFill>
            <a:schemeClr val="accent5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40500" y="1866900"/>
            <a:ext cx="49530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02 分配信贷组：将信贷组与销售凭证和交货凭证进行关联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40500" y="2324100"/>
            <a:ext cx="4953000" cy="1143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事务码：SPRO &gt; FSCM &gt; 信用管理 &gt;信贷风险监视 &gt;与应收账款模板与销售分销模块的集成 &gt;有销售和分销的集成 &gt;分配销售凭证和交货凭证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配置：将信贷组分配至订单类型、交货类型，标识哪些业务环节需要触发 FSCM 信用校验</a:t>
            </a:r>
          </a:p>
        </p:txBody>
      </p:sp>
      <p:sp>
        <p:nvSpPr>
          <p:cNvPr id="14" name="AutoShape 14"/>
          <p:cNvSpPr/>
          <p:nvPr/>
        </p:nvSpPr>
        <p:spPr>
          <a:xfrm>
            <a:off x="508000" y="3683000"/>
            <a:ext cx="54610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4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508000" y="3683000"/>
            <a:ext cx="76200" cy="1841500"/>
          </a:xfrm>
          <a:prstGeom prst="roundRect">
            <a:avLst>
              <a:gd name="adj" fmla="val 0"/>
            </a:avLst>
          </a:prstGeom>
          <a:solidFill>
            <a:schemeClr val="accent5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5500" y="3835400"/>
            <a:ext cx="49530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dirty="0">
                <a:solidFill>
                  <a:srgbClr val="2563EB"/>
                </a:solidFill>
                <a:latin typeface="Biennale"/>
                <a:sym typeface="Biennale"/>
              </a:rPr>
              <a:t>03 </a:t>
            </a:r>
            <a:r>
              <a:rPr lang="en-US" b="1" dirty="0" err="1">
                <a:solidFill>
                  <a:srgbClr val="2563EB"/>
                </a:solidFill>
                <a:latin typeface="Biennale"/>
                <a:sym typeface="Biennale"/>
              </a:rPr>
              <a:t>自动信用控制：配置核心检查规则</a:t>
            </a:r>
            <a:endParaRPr lang="en-US" b="1" dirty="0">
              <a:solidFill>
                <a:srgbClr val="2563EB"/>
              </a:solidFill>
              <a:latin typeface="Biennale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25500" y="4292600"/>
            <a:ext cx="4953000" cy="1143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事务码：OVA8（自动信用控制规则配置的核心事务码）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核心：组合“信用控制范围 + 风险类别 + 信用组”形成管控策略</a:t>
            </a:r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管控：配置检查规则（硬冻结阻断、警告提示、免检查），覆盖订单全流程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223000" y="3683000"/>
            <a:ext cx="54610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4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23000" y="3683000"/>
            <a:ext cx="762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540500" y="3835400"/>
            <a:ext cx="49530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b="1" dirty="0">
                <a:solidFill>
                  <a:srgbClr val="2563EB"/>
                </a:solidFill>
                <a:latin typeface="Biennale"/>
                <a:sym typeface="Biennale"/>
              </a:rPr>
              <a:t>04 </a:t>
            </a:r>
            <a:r>
              <a:rPr lang="en-US" b="1" dirty="0" err="1">
                <a:solidFill>
                  <a:srgbClr val="2563EB"/>
                </a:solidFill>
                <a:latin typeface="Biennale"/>
                <a:sym typeface="Biennale"/>
              </a:rPr>
              <a:t>定义检查规则：配置订单信用校验管控策略</a:t>
            </a:r>
            <a:endParaRPr lang="en-US" b="1" dirty="0">
              <a:solidFill>
                <a:srgbClr val="2563EB"/>
              </a:solidFill>
              <a:latin typeface="Biennale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540500" y="4292600"/>
            <a:ext cx="4953000" cy="1143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事务码：OVA8（自动信用控制规则配置的核心事务码）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配置：配置额度、逾期未清项等检查项目；针对校验结果设置硬冻结阻断、警告提示、免检查放行等响应动作</a:t>
            </a:r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价值：实现销售单据全流程自动信用校验，差异化拦截高风险交易</a:t>
            </a:r>
          </a:p>
        </p:txBody>
      </p:sp>
      <p:sp>
        <p:nvSpPr>
          <p:cNvPr id="22" name="AutoShape 22"/>
          <p:cNvSpPr/>
          <p:nvPr/>
        </p:nvSpPr>
        <p:spPr>
          <a:xfrm>
            <a:off x="254000" y="5715000"/>
            <a:ext cx="11684000" cy="558800"/>
          </a:xfrm>
          <a:prstGeom prst="roundRect">
            <a:avLst>
              <a:gd name="adj" fmla="val 0"/>
            </a:avLst>
          </a:prstGeom>
          <a:solidFill>
            <a:srgbClr val="1E3A8A">
              <a:alpha val="6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81000" y="5803900"/>
            <a:ext cx="114300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落地价值：通过多维度信用参数的精细化配置，实现从“单一额度管控”向“场景化、差异化的智能风控”转变，有效平衡业务增长与坏账风险。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1800" y="6515100"/>
            <a:ext cx="1358900" cy="1524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7400" y="6451600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2100" y="6413500"/>
            <a:ext cx="1739900" cy="3429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31800" y="292100"/>
            <a:ext cx="113411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0073E6"/>
                </a:solidFill>
                <a:latin typeface="微软雅黑"/>
                <a:ea typeface="微软雅黑"/>
                <a:cs typeface="微软雅黑"/>
                <a:sym typeface="微软雅黑"/>
              </a:rPr>
              <a:t>配置步骤（四）：在业务伙伴(BP)中维护信用主数据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612900"/>
            <a:ext cx="58420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01 关键配置步骤拆解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2247900"/>
            <a:ext cx="5842000" cy="762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C0D0E6">
                <a:alpha val="6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2374900"/>
            <a:ext cx="5080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06500" y="2311400"/>
            <a:ext cx="5080000" cy="698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Biennale"/>
                <a:ea typeface="Biennale"/>
                <a:cs typeface="Biennale"/>
                <a:sym typeface="Biennale"/>
              </a:rPr>
              <a:t>路径与角色切换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使用事务码BP进入业务伙伴维护，切换至“UKM000 (SAP Credit Management)”角色，激活信用控制专属视图。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08000" y="3073400"/>
            <a:ext cx="5842000" cy="762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C0D0E6">
                <a:alpha val="6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" y="3200400"/>
            <a:ext cx="5080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206500" y="3136900"/>
            <a:ext cx="5080000" cy="698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Biennale"/>
                <a:ea typeface="Biennale"/>
                <a:cs typeface="Biennale"/>
                <a:sym typeface="Biennale"/>
              </a:rPr>
              <a:t>核心参数定义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指定信用控制范围（如CCA1/CCA2），评估并设定风险类别（HIGH/MED/LOW），确立客户信用风险等级。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08000" y="3898900"/>
            <a:ext cx="5842000" cy="762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C0D0E6">
                <a:alpha val="6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" y="4025900"/>
            <a:ext cx="5080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206500" y="3962400"/>
            <a:ext cx="5080000" cy="698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Biennale"/>
                <a:ea typeface="Biennale"/>
                <a:cs typeface="Biennale"/>
                <a:sym typeface="Biennale"/>
              </a:rPr>
              <a:t>信用段与限额分配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为不同业务场景（如直销SEG_DIRECT、分销SEG_DIST）配置独立信用限额，实现分渠道的精细化额度管控。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508000" y="4724400"/>
            <a:ext cx="5842000" cy="762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C0D0E6">
                <a:alpha val="6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" y="4851400"/>
            <a:ext cx="5080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206500" y="4787900"/>
            <a:ext cx="5080000" cy="698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Biennale"/>
                <a:ea typeface="Biennale"/>
                <a:cs typeface="Biennale"/>
                <a:sym typeface="Biennale"/>
              </a:rPr>
              <a:t>数据一致性校验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确保信用视图与客户财务/销售主数据的组织信息（公司代码、销售范围）保持一致，避免配置冲突。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731000" y="1612900"/>
            <a:ext cx="48260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chemeClr val="accent5">
                    <a:lumMod val="50000"/>
                  </a:schemeClr>
                </a:solidFill>
                <a:latin typeface="Biennale"/>
                <a:ea typeface="Biennale"/>
                <a:cs typeface="Biennale"/>
                <a:sym typeface="Biennale"/>
              </a:rPr>
              <a:t>02 </a:t>
            </a:r>
            <a:r>
              <a:rPr lang="en-US" sz="1600" b="1" i="0" u="none" strike="noStrike" dirty="0" err="1">
                <a:solidFill>
                  <a:schemeClr val="accent5">
                    <a:lumMod val="50000"/>
                  </a:schemeClr>
                </a:solidFill>
                <a:latin typeface="Biennale"/>
                <a:ea typeface="Biennale"/>
                <a:cs typeface="Biennale"/>
                <a:sym typeface="Biennale"/>
              </a:rPr>
              <a:t>配置界面与系统生效逻辑</a:t>
            </a:r>
            <a:endParaRPr lang="en-US" sz="11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rcRect l="2100" r="2100"/>
          <a:stretch>
            <a:fillRect/>
          </a:stretch>
        </p:blipFill>
        <p:spPr>
          <a:xfrm>
            <a:off x="6731000" y="2247900"/>
            <a:ext cx="4826000" cy="10795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6731000" y="3556000"/>
            <a:ext cx="1524000" cy="10795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范围匹配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订单销售范围</a:t>
            </a:r>
            <a:b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映射信用控制范围</a:t>
            </a:r>
          </a:p>
        </p:txBody>
      </p:sp>
      <p:sp>
        <p:nvSpPr>
          <p:cNvPr id="22" name="AutoShape 22"/>
          <p:cNvSpPr/>
          <p:nvPr/>
        </p:nvSpPr>
        <p:spPr>
          <a:xfrm>
            <a:off x="8382000" y="3556000"/>
            <a:ext cx="1524000" cy="10795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风险判定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读取BP主数据</a:t>
            </a:r>
            <a:b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风险等级与信用段</a:t>
            </a:r>
          </a:p>
        </p:txBody>
      </p:sp>
      <p:sp>
        <p:nvSpPr>
          <p:cNvPr id="23" name="AutoShape 23"/>
          <p:cNvSpPr/>
          <p:nvPr/>
        </p:nvSpPr>
        <p:spPr>
          <a:xfrm>
            <a:off x="10033000" y="3556000"/>
            <a:ext cx="1524000" cy="1079500"/>
          </a:xfrm>
          <a:prstGeom prst="roundRect">
            <a:avLst>
              <a:gd name="adj" fmla="val 0"/>
            </a:avLst>
          </a:prstGeom>
          <a:solidFill>
            <a:srgbClr val="93C5FD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规则执行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触发OVA8检查</a:t>
            </a:r>
            <a:b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超限额自动预警</a:t>
            </a:r>
          </a:p>
        </p:txBody>
      </p:sp>
      <p:sp>
        <p:nvSpPr>
          <p:cNvPr id="24" name="AutoShape 24"/>
          <p:cNvSpPr/>
          <p:nvPr/>
        </p:nvSpPr>
        <p:spPr>
          <a:xfrm>
            <a:off x="6731000" y="4762500"/>
            <a:ext cx="4826000" cy="825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系统将根据配置自动执行信用评估：销售订单创建时，基于销售范围匹配信用控制范围，结合客户风险等级与信用段限额，实时触发预设的信用检查规则，实现风险的自动化管控。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0" y="5740400"/>
            <a:ext cx="12192000" cy="508000"/>
          </a:xfrm>
          <a:prstGeom prst="roundRect">
            <a:avLst>
              <a:gd name="adj" fmla="val 0"/>
            </a:avLst>
          </a:prstGeom>
          <a:solidFill>
            <a:srgbClr val="1E3A8A">
              <a:alpha val="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81000" y="5829300"/>
            <a:ext cx="114300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落地价值：完成信用主数据的标准化配置，实现从“人工控险”到“系统自动控险”的转变，有效降低坏账风险，同时减少人工审核成本，提升订单处理效率。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10947400" y="6311900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93700" y="393700"/>
            <a:ext cx="1778000" cy="147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600" b="0" i="0" u="none" strike="noStrike" dirty="0">
                <a:solidFill>
                  <a:srgbClr val="00005C"/>
                </a:solidFill>
                <a:latin typeface="微软雅黑"/>
                <a:ea typeface="微软雅黑"/>
                <a:cs typeface="微软雅黑"/>
                <a:sym typeface="微软雅黑"/>
              </a:rPr>
              <a:t>03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1790700" y="1866900"/>
            <a:ext cx="7793990" cy="193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0" i="0" u="none" strike="noStrike" dirty="0">
                <a:solidFill>
                  <a:srgbClr val="00005C"/>
                </a:solidFill>
                <a:latin typeface="微软雅黑"/>
                <a:ea typeface="微软雅黑"/>
                <a:cs typeface="微软雅黑"/>
                <a:sym typeface="微软雅黑"/>
              </a:rPr>
              <a:t>重点建设任务及</a:t>
            </a:r>
            <a:endParaRPr lang="en-US" sz="1100" dirty="0">
              <a:solidFill>
                <a:srgbClr val="00005C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5400" b="0" i="0" u="none" strike="noStrike" dirty="0">
                <a:solidFill>
                  <a:srgbClr val="00005C"/>
                </a:solidFill>
                <a:latin typeface="微软雅黑"/>
                <a:ea typeface="微软雅黑"/>
                <a:cs typeface="微软雅黑"/>
                <a:sym typeface="微软雅黑"/>
              </a:rPr>
              <a:t>本期落地方案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800" y="127000"/>
            <a:ext cx="1930400" cy="381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-1295400" y="2616200"/>
            <a:ext cx="12700" cy="127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1800" y="6515100"/>
            <a:ext cx="1358900" cy="1524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微软雅黑"/>
                <a:ea typeface="微软雅黑"/>
                <a:cs typeface="微软雅黑"/>
                <a:sym typeface="微软雅黑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7400" y="6451600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2100" y="6413500"/>
            <a:ext cx="1739900" cy="3429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31800" y="292100"/>
            <a:ext cx="113411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0073E6"/>
                </a:solidFill>
                <a:latin typeface="微软雅黑"/>
                <a:ea typeface="微软雅黑"/>
                <a:cs typeface="微软雅黑"/>
                <a:sym typeface="微软雅黑"/>
              </a:rPr>
              <a:t>三大重点建设任务：构建系统化的信用管控与数据驱动体系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413000"/>
            <a:ext cx="3556000" cy="27940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1200" y="2641600"/>
            <a:ext cx="355600" cy="3556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168400" y="2641600"/>
            <a:ext cx="27940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01 优化信用管控流程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11200" y="3238500"/>
            <a:ext cx="3149600" cy="1841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推动信用检查点从交货环节前移至销售订单源头，实现风险前置防控；建立基于客户类型与合作年限的分级信用策略；将临时额度申请审批全流程线上化并固化规则；打通OA与SAP系统，实现特殊批文审批结果自动同步，全面提升管控效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18000" y="2413000"/>
            <a:ext cx="3556000" cy="27940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21200" y="2641600"/>
            <a:ext cx="355600" cy="3556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4978400" y="2641600"/>
            <a:ext cx="27940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02 升级SAP系统功能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21200" y="3238500"/>
            <a:ext cx="3149600" cy="1841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实现多渠道经销商信用额度的独立拆分与精细化管理；开发台账自动更新功能，实时同步剩余授信余额；建立逾期自动预警机制，对异常信用情况即时触达相关人员；搭建信用数据自助查询平台，赋能销售、客服及经销商实时查询，强化信息透明化与协同效率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2413000"/>
            <a:ext cx="3556000" cy="27940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331200" y="2641600"/>
            <a:ext cx="355600" cy="3556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8788400" y="2641600"/>
            <a:ext cx="27940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03 构建统一数据视图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31200" y="3238500"/>
            <a:ext cx="3149600" cy="1841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整合内外部客户数据资源，建立360度全景式客户信用信息库；通过完成账龄计算与多维度分类统计，精准掌握账期结构；搭建标准化信用报表体系，支持数据钻取与动态分析，实现信用风险可视化呈现，为经营决策提供精准的数据支撑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1800" y="6515100"/>
            <a:ext cx="1358900" cy="1524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微软雅黑"/>
                <a:ea typeface="微软雅黑"/>
                <a:cs typeface="微软雅黑"/>
                <a:sym typeface="微软雅黑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7400" y="6451600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2100" y="6413500"/>
            <a:ext cx="1739900" cy="3429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31800" y="292100"/>
            <a:ext cx="113411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0073E6"/>
                </a:solidFill>
                <a:latin typeface="微软雅黑"/>
                <a:ea typeface="微软雅黑"/>
                <a:cs typeface="微软雅黑"/>
                <a:sym typeface="微软雅黑"/>
              </a:rPr>
              <a:t>SAP本期实施范围聚焦核心痛点，非本期需求规划后置落地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" y="1524000"/>
            <a:ext cx="5842000" cy="444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微软雅黑"/>
                <a:ea typeface="微软雅黑"/>
                <a:cs typeface="微软雅黑"/>
                <a:sym typeface="微软雅黑"/>
              </a:rPr>
              <a:t>本期实施：核心信用管理功能落地（系统标准功能迁移）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7473">
            <a:off x="381007" y="2025650"/>
            <a:ext cx="584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2563EB">
                <a:alpha val="2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381000" y="2222500"/>
            <a:ext cx="5842000" cy="7112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71500" y="2514600"/>
            <a:ext cx="101600" cy="10160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2260600"/>
            <a:ext cx="54610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E3A8A"/>
                </a:solidFill>
                <a:latin typeface="微软雅黑"/>
                <a:ea typeface="微软雅黑"/>
                <a:cs typeface="微软雅黑"/>
                <a:sym typeface="微软雅黑"/>
              </a:rPr>
              <a:t>交货单信用控制：启用SD模块信用校验，在发货环节进行最终拦截，杜绝超信用发货的业务风险。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81000" y="3022600"/>
            <a:ext cx="5842000" cy="7112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71500" y="3314700"/>
            <a:ext cx="101600" cy="10160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060700"/>
            <a:ext cx="54610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E3A8A"/>
                </a:solidFill>
                <a:latin typeface="微软雅黑"/>
                <a:ea typeface="微软雅黑"/>
                <a:cs typeface="微软雅黑"/>
                <a:sym typeface="微软雅黑"/>
              </a:rPr>
              <a:t>逾期规则与报表：统一集团逾期计算逻辑，配置SAP标准报表，实现逾期数据实时可查与统一口径。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81000" y="3822700"/>
            <a:ext cx="5842000" cy="7112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71500" y="4114800"/>
            <a:ext cx="101600" cy="10160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860800"/>
            <a:ext cx="54610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E3A8A"/>
                </a:solidFill>
                <a:latin typeface="微软雅黑"/>
                <a:ea typeface="微软雅黑"/>
                <a:cs typeface="微软雅黑"/>
                <a:sym typeface="微软雅黑"/>
              </a:rPr>
              <a:t>应收账龄自动核算：基于FICO模块标准功能实现账龄自动计算，替代人工统计，提升财务数据时效性与准确性。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81000" y="4622800"/>
            <a:ext cx="5842000" cy="7112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71500" y="4914900"/>
            <a:ext cx="101600" cy="10160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660900"/>
            <a:ext cx="54610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E3A8A"/>
                </a:solidFill>
                <a:latin typeface="微软雅黑"/>
                <a:ea typeface="微软雅黑"/>
                <a:cs typeface="微软雅黑"/>
                <a:sym typeface="微软雅黑"/>
              </a:rPr>
              <a:t>客户付款条件治理：在MDG系统中规范付款条件的录入标准与审批流程，夯实信用管控的主数据基础。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1524000"/>
            <a:ext cx="5080000" cy="444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微软雅黑"/>
                <a:ea typeface="微软雅黑"/>
                <a:cs typeface="微软雅黑"/>
                <a:sym typeface="微软雅黑"/>
              </a:rPr>
              <a:t>二期实施：规划后置与替代方案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8594">
            <a:off x="6604008" y="2025650"/>
            <a:ext cx="508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10B981">
                <a:alpha val="2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604000" y="2222500"/>
            <a:ext cx="5080000" cy="914400"/>
          </a:xfrm>
          <a:prstGeom prst="roundRect">
            <a:avLst>
              <a:gd name="adj" fmla="val 0"/>
            </a:avLst>
          </a:prstGeom>
          <a:solidFill>
            <a:srgbClr val="ECFDF5">
              <a:alpha val="8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794500" y="2413000"/>
            <a:ext cx="254000" cy="254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24" name="AutoShape 24"/>
          <p:cNvSpPr/>
          <p:nvPr/>
        </p:nvSpPr>
        <p:spPr>
          <a:xfrm>
            <a:off x="7112000" y="2311400"/>
            <a:ext cx="4508500" cy="762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65F46"/>
                </a:solidFill>
                <a:latin typeface="微软雅黑"/>
                <a:ea typeface="微软雅黑"/>
                <a:cs typeface="微软雅黑"/>
                <a:sym typeface="微软雅黑"/>
              </a:rPr>
              <a:t>报价与下单解绑：涉及CRM与SAP系统的深度集成改造，业务复杂度高，拟纳入二期项目规划逐步推进落地。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604000" y="3238500"/>
            <a:ext cx="5080000" cy="914400"/>
          </a:xfrm>
          <a:prstGeom prst="roundRect">
            <a:avLst>
              <a:gd name="adj" fmla="val 0"/>
            </a:avLst>
          </a:prstGeom>
          <a:solidFill>
            <a:srgbClr val="ECFDF5">
              <a:alpha val="8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794500" y="3429000"/>
            <a:ext cx="254000" cy="254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27" name="AutoShape 27"/>
          <p:cNvSpPr/>
          <p:nvPr/>
        </p:nvSpPr>
        <p:spPr>
          <a:xfrm>
            <a:off x="7112000" y="3327400"/>
            <a:ext cx="4508500" cy="762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65F46"/>
                </a:solidFill>
                <a:latin typeface="微软雅黑"/>
                <a:ea typeface="微软雅黑"/>
                <a:cs typeface="微软雅黑"/>
                <a:sym typeface="微软雅黑"/>
              </a:rPr>
              <a:t>特殊信用批文流程：建议复用现有OA系统完成审批流转，本期SAP系统不做定制化开发，避免功能重复建设。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604000" y="4254500"/>
            <a:ext cx="5080000" cy="914400"/>
          </a:xfrm>
          <a:prstGeom prst="roundRect">
            <a:avLst>
              <a:gd name="adj" fmla="val 0"/>
            </a:avLst>
          </a:prstGeom>
          <a:solidFill>
            <a:srgbClr val="ECFDF5">
              <a:alpha val="8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794500" y="4445000"/>
            <a:ext cx="254000" cy="254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30" name="AutoShape 30"/>
          <p:cNvSpPr/>
          <p:nvPr/>
        </p:nvSpPr>
        <p:spPr>
          <a:xfrm>
            <a:off x="7112000" y="4343400"/>
            <a:ext cx="4508500" cy="762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65F46"/>
                </a:solidFill>
                <a:latin typeface="微软雅黑"/>
                <a:ea typeface="微软雅黑"/>
                <a:cs typeface="微软雅黑"/>
                <a:sym typeface="微软雅黑"/>
              </a:rPr>
              <a:t>统一信用信息库：规划依托CRM系统或企业数据中台建设实现，整合多渠道客户数据，非本期SAP实施范畴。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604000" y="5270500"/>
            <a:ext cx="5080000" cy="914400"/>
          </a:xfrm>
          <a:prstGeom prst="roundRect">
            <a:avLst>
              <a:gd name="adj" fmla="val 0"/>
            </a:avLst>
          </a:prstGeom>
          <a:solidFill>
            <a:srgbClr val="ECFDF5">
              <a:alpha val="8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794500" y="5461000"/>
            <a:ext cx="254000" cy="254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33" name="AutoShape 33"/>
          <p:cNvSpPr/>
          <p:nvPr/>
        </p:nvSpPr>
        <p:spPr>
          <a:xfrm>
            <a:off x="7112000" y="5359400"/>
            <a:ext cx="4508500" cy="762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65F46"/>
                </a:solidFill>
                <a:latin typeface="微软雅黑"/>
                <a:ea typeface="微软雅黑"/>
                <a:cs typeface="微软雅黑"/>
                <a:sym typeface="微软雅黑"/>
              </a:rPr>
              <a:t>可视化图表展示：拟通过帆软BI等专业前端工具实现多维度分析，本期SAP系统仅负责提供底层数据支撑。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381000" y="6197600"/>
            <a:ext cx="11430000" cy="254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1" u="none" strike="noStrike">
                <a:solidFill>
                  <a:srgbClr val="9CA3AF"/>
                </a:solidFill>
                <a:latin typeface="微软雅黑"/>
                <a:ea typeface="微软雅黑"/>
                <a:cs typeface="微软雅黑"/>
                <a:sym typeface="微软雅黑"/>
              </a:rPr>
              <a:t>说明：以上实施范围与边界基于当前业务需求紧迫性与系统复杂度评估，后续可根据项目推进情况动态调整。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10947400" y="6311900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93700" y="393700"/>
            <a:ext cx="1244600" cy="147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600" b="0" i="0" u="none" strike="noStrike">
                <a:solidFill>
                  <a:srgbClr val="00005C"/>
                </a:solidFill>
                <a:latin typeface="微软雅黑"/>
                <a:ea typeface="微软雅黑"/>
                <a:cs typeface="微软雅黑"/>
                <a:sym typeface="微软雅黑"/>
              </a:rPr>
              <a:t>04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790700" y="1866900"/>
            <a:ext cx="8467725" cy="193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0" i="0" u="none" strike="noStrike">
                <a:solidFill>
                  <a:srgbClr val="00005C"/>
                </a:solidFill>
                <a:latin typeface="微软雅黑"/>
                <a:ea typeface="微软雅黑"/>
                <a:cs typeface="微软雅黑"/>
                <a:sym typeface="微软雅黑"/>
              </a:rPr>
              <a:t>附录：核心概念与原始需求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0800" y="127000"/>
            <a:ext cx="1930400" cy="381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-1295400" y="2616200"/>
            <a:ext cx="12700" cy="127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1800" y="6515100"/>
            <a:ext cx="1358900" cy="1524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微软雅黑"/>
                <a:ea typeface="微软雅黑"/>
                <a:cs typeface="微软雅黑"/>
                <a:sym typeface="微软雅黑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7400" y="6451600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2100" y="6413500"/>
            <a:ext cx="1739900" cy="3429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31800" y="292100"/>
            <a:ext cx="113411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0073E6"/>
                </a:solidFill>
                <a:latin typeface="微软雅黑"/>
                <a:ea typeface="微软雅黑"/>
                <a:cs typeface="微软雅黑"/>
                <a:sym typeface="微软雅黑"/>
              </a:rPr>
              <a:t>业务痛点与需求的原始摘录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51840" y="868680"/>
            <a:ext cx="1066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本方案共涉及12项信用管理相关需求，按优先级排列如下</a:t>
            </a: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751840" y="1313180"/>
          <a:ext cx="10668000" cy="4673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需求号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98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需求描述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98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责任部门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98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优先级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98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A0261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信用控制范围与风险类别配置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财务管理部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EF444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高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A0262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下单环节信用额度前置校验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销售管理部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EF444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高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A0263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发货环节逾期客户自动拦截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销售管理部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EF444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高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A0264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特殊信用批文线上审批流程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财务管理部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59E0B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中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A0266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临时额度自动审批规则配置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财务管理部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EF444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高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A0267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固定额度定期复评机制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财务管理部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59E0B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中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A0293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客户分层管理与差异化管控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销售管理部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59E0B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中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A0410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OA与SAP信用审批接口开发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数智化部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EF444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高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A0424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客户信用主数据治理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数智化部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EF444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高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A0446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账龄自动计算与财务同步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财务管理部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EF4444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高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A0673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BI信用分析看板开发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数智化部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59E0B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中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A0674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外部征信数据接入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数智化部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0B98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低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1800" y="6515100"/>
            <a:ext cx="1358900" cy="1524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微软雅黑"/>
                <a:ea typeface="微软雅黑"/>
                <a:cs typeface="微软雅黑"/>
                <a:sym typeface="微软雅黑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7400" y="6451600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2100" y="6413500"/>
            <a:ext cx="1739900" cy="3429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31800" y="292100"/>
            <a:ext cx="113411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0073E6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核心概念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987550"/>
            <a:ext cx="2133600" cy="1968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09600" y="2139950"/>
            <a:ext cx="19304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微软雅黑"/>
                <a:ea typeface="微软雅黑"/>
                <a:cs typeface="微软雅黑"/>
                <a:sym typeface="微软雅黑"/>
              </a:rPr>
              <a:t>01 固定额度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基于客户信用评级与历史交易记录核定的长期基础额度，是企业授信管理的核心基准，保障日常业务的稳定开展。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2743200" y="1987550"/>
            <a:ext cx="2133600" cy="1968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844800" y="2139950"/>
            <a:ext cx="19304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微软雅黑"/>
                <a:ea typeface="微软雅黑"/>
                <a:cs typeface="微软雅黑"/>
                <a:sym typeface="微软雅黑"/>
              </a:rPr>
              <a:t>02 临时额度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针对客户突发性大额采购或旺季备货需求，在固定额度外临时追加的短期授信，灵活匹配市场变化与客户需求。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978400" y="1987550"/>
            <a:ext cx="2133600" cy="1968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80000" y="2139950"/>
            <a:ext cx="19304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微软雅黑"/>
                <a:ea typeface="微软雅黑"/>
                <a:cs typeface="微软雅黑"/>
                <a:sym typeface="微软雅黑"/>
              </a:rPr>
              <a:t>03 特殊批文额度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面向战略级客户或紧急业务场景，经管理层特批授予的一次性信用额度，突破常规审批流程与额度限制。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213600" y="1987550"/>
            <a:ext cx="2133600" cy="1968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315200" y="2139950"/>
            <a:ext cx="19304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微软雅黑"/>
                <a:ea typeface="微软雅黑"/>
                <a:cs typeface="微软雅黑"/>
                <a:sym typeface="微软雅黑"/>
              </a:rPr>
              <a:t>04 自动信用检查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系统依据预设规则实时校验客户信用状态，对超额度、超账龄业务自动拦截，从源头防控坏账风险。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9448800" y="1987550"/>
            <a:ext cx="2133600" cy="1968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50400" y="2139950"/>
            <a:ext cx="19304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微软雅黑"/>
                <a:ea typeface="微软雅黑"/>
                <a:cs typeface="微软雅黑"/>
                <a:sym typeface="微软雅黑"/>
              </a:rPr>
              <a:t>05 应收账款账龄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统计应收账款形成至当前的存续时长，是评估资产质量、测算坏账损失及制定催收策略的关键指标。</a:t>
            </a:r>
          </a:p>
        </p:txBody>
      </p:sp>
      <p:cxnSp>
        <p:nvCxnSpPr>
          <p:cNvPr id="16" name="Connector 16"/>
          <p:cNvCxnSpPr/>
          <p:nvPr/>
        </p:nvCxnSpPr>
        <p:spPr>
          <a:xfrm rot="-3906">
            <a:off x="508004" y="426720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5422415"/>
            <a:ext cx="3383281" cy="4924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8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884404" y="6391780"/>
            <a:ext cx="423193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57200" y="2463648"/>
            <a:ext cx="820738" cy="4924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 dirty="0" err="1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谢谢</a:t>
            </a:r>
            <a:r>
              <a:rPr lang="zh-CN" altLang="en-US" sz="3200" b="1" i="0" u="none" strike="noStrike" dirty="0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！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428625" y="6316314"/>
            <a:ext cx="2560320" cy="9233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algn="l">
              <a:defRPr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2602</Words>
  <Application>Microsoft Office PowerPoint</Application>
  <PresentationFormat>宽屏</PresentationFormat>
  <Paragraphs>581</Paragraphs>
  <Slides>23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Biennale</vt:lpstr>
      <vt:lpstr>Biennale Bold</vt:lpstr>
      <vt:lpstr>Noto Sans SC</vt:lpstr>
      <vt:lpstr>Songti SC</vt:lpstr>
      <vt:lpstr>微软雅黑</vt:lpstr>
      <vt:lpstr>Aptos</vt:lpstr>
      <vt:lpstr>Arial</vt:lpstr>
      <vt:lpstr>Office 主题​​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2102125624@qq.com</cp:lastModifiedBy>
  <cp:revision>3</cp:revision>
  <dcterms:created xsi:type="dcterms:W3CDTF">2026-08-27T08:16:31Z</dcterms:created>
  <dcterms:modified xsi:type="dcterms:W3CDTF">2026-08-30T15:22:56Z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042A53D8DCCAA4735FF28F6AF823F0B2_42</vt:lpwstr>
  </property>
  <property fmtid="{D5CDD505-2E9C-101B-9397-08002B2CF9AE}" pid="3" name="KSOProductBuildVer">
    <vt:lpwstr>2052-0.0.0.0</vt:lpwstr>
  </property>
</Properties>
</file>