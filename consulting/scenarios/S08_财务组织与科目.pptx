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  <p:sldMasterId id="2147483660" r:id="rId6"/>
  </p:sldMasterIdLst>
  <p:notesMasterIdLst>
    <p:notesMasterId r:id="rId14"/>
  </p:notesMasterIdLst>
  <p:sldIdLst>
    <p:sldId id="402" r:id="rId7"/>
    <p:sldId id="408" r:id="rId8"/>
    <p:sldId id="276" r:id="rId9"/>
    <p:sldId id="409" r:id="rId10"/>
    <p:sldId id="405" r:id="rId11"/>
    <p:sldId id="406" r:id="rId12"/>
    <p:sldId id="2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red" initials="G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B0"/>
    <a:srgbClr val="F8F5CA"/>
    <a:srgbClr val="FDDAF0"/>
    <a:srgbClr val="0066CC"/>
    <a:srgbClr val="003366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97"/>
    <p:restoredTop sz="85885"/>
  </p:normalViewPr>
  <p:slideViewPr>
    <p:cSldViewPr snapToGrid="0">
      <p:cViewPr varScale="1">
        <p:scale>
          <a:sx n="76" d="100"/>
          <a:sy n="76" d="100"/>
        </p:scale>
        <p:origin x="83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标准</a:t>
            </a:r>
            <a:r>
              <a:rPr lang="zh-CN" altLang="en-US" dirty="0"/>
              <a:t>、精细、协同、高效</a:t>
            </a:r>
            <a:endParaRPr lang="en-US" altLang="zh-CN" dirty="0"/>
          </a:p>
          <a:p>
            <a:r>
              <a:rPr lang="zh-CN" altLang="en-US" dirty="0"/>
              <a:t>精细化的成本分析。</a:t>
            </a:r>
            <a:endParaRPr lang="en-US" altLang="zh-CN" dirty="0"/>
          </a:p>
          <a:p>
            <a:r>
              <a:rPr lang="zh-CN" altLang="en-US" dirty="0"/>
              <a:t>有量化指标的提升。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张学权</a:t>
            </a:r>
            <a:endParaRPr lang="en-US" dirty="0"/>
          </a:p>
          <a:p>
            <a:r>
              <a:rPr lang="zh-CN" altLang="en-US" dirty="0"/>
              <a:t>现在停掉</a:t>
            </a:r>
            <a:r>
              <a:rPr lang="en-US" altLang="zh-CN" dirty="0"/>
              <a:t>SAP</a:t>
            </a:r>
            <a:r>
              <a:rPr lang="zh-CN" altLang="en-US" dirty="0"/>
              <a:t>，业务是否还能够照常开展？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、统一认识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、锻炼内功，</a:t>
            </a:r>
            <a:r>
              <a:rPr lang="en-US" altLang="zh-CN" dirty="0"/>
              <a:t>SAP</a:t>
            </a:r>
            <a:r>
              <a:rPr lang="zh-CN" altLang="en-US" dirty="0"/>
              <a:t>的升级不是简单的更新，而是要把公司过往的组织能力、管理理念、管理流程进行全面的梳理和再造。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altLang="zh-CN" dirty="0"/>
              <a:t>CRM</a:t>
            </a:r>
            <a:r>
              <a:rPr lang="zh-CN" altLang="en-US" dirty="0"/>
              <a:t>系统搞不下去了。每个单位指定一个责任心强、沟通能力强的</a:t>
            </a:r>
            <a:r>
              <a:rPr lang="en-US" altLang="zh-CN" dirty="0"/>
              <a:t>SAP</a:t>
            </a:r>
            <a:r>
              <a:rPr lang="zh-CN" altLang="en-US" dirty="0"/>
              <a:t>专员。外部公司既要专业，又要接地气。数字化部和财务部要协同好，跟艾维登要协同好。上下联动、左右协同、齐抓共管。系统要管用还要好用。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A415C3-E7E8-ED47-896B-87929403F8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02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5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97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/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AddCustomFooter#1"/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/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/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/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5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/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 panose="020B0604030504040204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5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6632A639-65F6-44E7-9705-34D092A42112}" type="slidenum">
              <a:rPr lang="en-US" sz="1335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t>‹#›</a:t>
            </a:fld>
            <a:endParaRPr lang="en-US" sz="1335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/>
          <p:cNvSpPr txBox="1"/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anose="020B0604030504040204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AddCustomFooter#1"/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EVIDEN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>
            <a:extLst>
              <a:ext uri="{FF2B5EF4-FFF2-40B4-BE49-F238E27FC236}">
                <a16:creationId xmlns:a16="http://schemas.microsoft.com/office/drawing/2014/main" id="{F39EB0DD-D0DC-DA16-5E5D-31E1423EEE20}"/>
              </a:ext>
            </a:extLst>
          </p:cNvPr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244C200-9183-F55D-E6CC-770D8E368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46527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1CA85C-6201-B8A4-E228-2E44846E1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84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AddCustomFooter#1">
            <a:extLst>
              <a:ext uri="{FF2B5EF4-FFF2-40B4-BE49-F238E27FC236}">
                <a16:creationId xmlns:a16="http://schemas.microsoft.com/office/drawing/2014/main" id="{9E621BAA-298E-0A96-9DAD-9537810468A3}"/>
              </a:ext>
            </a:extLst>
          </p:cNvPr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Graphique 10" descr="Atos logo">
            <a:extLst>
              <a:ext uri="{FF2B5EF4-FFF2-40B4-BE49-F238E27FC236}">
                <a16:creationId xmlns:a16="http://schemas.microsoft.com/office/drawing/2014/main" id="{290DD583-0438-8BA3-4FC8-30C7186F1307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398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257223-1877-0216-0C14-9CA40A2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A34858E-D148-7198-C034-ACB6341C8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00F83A-91AD-A010-303E-88AA5DEB0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/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2BFDF0E7-1C79-FBA3-FBFE-0F62B0F09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9E067F1-2180-52EC-D9AF-DC18F8C4B4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>
            <a:extLst>
              <a:ext uri="{FF2B5EF4-FFF2-40B4-BE49-F238E27FC236}">
                <a16:creationId xmlns:a16="http://schemas.microsoft.com/office/drawing/2014/main" id="{709BCC25-10DB-D648-02CE-B89CE7D50AA6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519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50BEC9-5EE0-B57E-CAE5-7C3F4E023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>
            <a:extLst>
              <a:ext uri="{FF2B5EF4-FFF2-40B4-BE49-F238E27FC236}">
                <a16:creationId xmlns:a16="http://schemas.microsoft.com/office/drawing/2014/main" id="{148CD210-AEE5-E817-AEC9-A7C881D1EE4E}"/>
              </a:ext>
            </a:extLst>
          </p:cNvPr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3853EE69-6ADE-F322-8014-F5E83A8E8155}"/>
              </a:ext>
            </a:extLst>
          </p:cNvPr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5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860FF-1E07-729E-ADC9-9B961C40C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04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42947083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05326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>
            <a:extLst>
              <a:ext uri="{FF2B5EF4-FFF2-40B4-BE49-F238E27FC236}">
                <a16:creationId xmlns:a16="http://schemas.microsoft.com/office/drawing/2014/main" id="{CC803DD5-BCD9-4D75-85D5-025E5354ED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>
            <a:extLst>
              <a:ext uri="{FF2B5EF4-FFF2-40B4-BE49-F238E27FC236}">
                <a16:creationId xmlns:a16="http://schemas.microsoft.com/office/drawing/2014/main" id="{E8E63726-F274-4B91-A5DE-2B04CF3D1750}"/>
              </a:ext>
            </a:extLst>
          </p:cNvPr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>
            <a:extLst>
              <a:ext uri="{FF2B5EF4-FFF2-40B4-BE49-F238E27FC236}">
                <a16:creationId xmlns:a16="http://schemas.microsoft.com/office/drawing/2014/main" id="{F7A722DF-422F-4247-B41C-60932DE1D8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6A21E8-E7FA-4143-A68F-832F81B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3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02A5-0C35-4763-B0E6-261F90A1E5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E2DECC81-7758-4FBB-9420-3AAB334AA1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7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6632A639-65F6-44E7-9705-34D092A42112}" type="slidenum">
              <a:rPr lang="en-US" sz="1333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pPr algn="r" eaLnBrk="1" hangingPunct="1">
                <a:spcBef>
                  <a:spcPts val="617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sz="1333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49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597929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D9EE093-55A3-29E0-7972-5D3613436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CDFC35-BF4B-36FA-747E-8D51735094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0782D689-7655-E54B-5AF8-A11200745C1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  <p:sp>
        <p:nvSpPr>
          <p:cNvPr id="5" name="AddCustomFooter#1">
            <a:extLst>
              <a:ext uri="{FF2B5EF4-FFF2-40B4-BE49-F238E27FC236}">
                <a16:creationId xmlns:a16="http://schemas.microsoft.com/office/drawing/2014/main" id="{1D6B7308-D40A-31F4-FFCB-AB8092B9A567}"/>
              </a:ext>
            </a:extLst>
          </p:cNvPr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842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74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7" name="AddCustomFooter#1"/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15C2D0D6-BF6D-767D-7DA9-9C0E308BD27E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712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23068" y="2415203"/>
            <a:ext cx="5486400" cy="649730"/>
          </a:xfrm>
        </p:spPr>
        <p:txBody>
          <a:bodyPr/>
          <a:lstStyle/>
          <a:p>
            <a:r>
              <a:rPr lang="zh-CN" altLang="en-US" dirty="0"/>
              <a:t>财务组织架构设计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23068" y="3356980"/>
            <a:ext cx="5486400" cy="1121887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2026.06.25</a:t>
            </a:r>
            <a:endParaRPr lang="zh-CN" altLang="en-US" dirty="0"/>
          </a:p>
        </p:txBody>
      </p:sp>
      <p:pic>
        <p:nvPicPr>
          <p:cNvPr id="10" name="Picture Placeholder 1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/>
          <a:srcRect l="107" r="107"/>
          <a:stretch>
            <a:fillRect/>
          </a:stretch>
        </p:blipFill>
        <p:spPr bwMode="black"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47C0-F8A3-D797-0280-B5FFF368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AD1C-6A07-C07A-199A-A66F49CB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本次</a:t>
            </a:r>
            <a:r>
              <a:rPr lang="en-US" altLang="zh-CN" dirty="0"/>
              <a:t>SAP ERP</a:t>
            </a:r>
            <a:r>
              <a:rPr lang="zh-CN" altLang="en-US" dirty="0"/>
              <a:t>升级项目涉及的</a:t>
            </a:r>
            <a:r>
              <a:rPr lang="en-US" altLang="zh-CN" dirty="0"/>
              <a:t>SAP</a:t>
            </a:r>
            <a:r>
              <a:rPr lang="zh-CN" altLang="en-US" dirty="0"/>
              <a:t>公司清单</a:t>
            </a:r>
            <a:endParaRPr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B60D427-F0CF-C5F6-060D-2558AB890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579850"/>
              </p:ext>
            </p:extLst>
          </p:nvPr>
        </p:nvGraphicFramePr>
        <p:xfrm>
          <a:off x="425451" y="831996"/>
          <a:ext cx="10534649" cy="4479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30">
                  <a:extLst>
                    <a:ext uri="{9D8B030D-6E8A-4147-A177-3AD203B41FA5}">
                      <a16:colId xmlns:a16="http://schemas.microsoft.com/office/drawing/2014/main" val="133618117"/>
                    </a:ext>
                  </a:extLst>
                </a:gridCol>
                <a:gridCol w="3835929">
                  <a:extLst>
                    <a:ext uri="{9D8B030D-6E8A-4147-A177-3AD203B41FA5}">
                      <a16:colId xmlns:a16="http://schemas.microsoft.com/office/drawing/2014/main" val="84674750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3008732203"/>
                    </a:ext>
                  </a:extLst>
                </a:gridCol>
                <a:gridCol w="1151360">
                  <a:extLst>
                    <a:ext uri="{9D8B030D-6E8A-4147-A177-3AD203B41FA5}">
                      <a16:colId xmlns:a16="http://schemas.microsoft.com/office/drawing/2014/main" val="191244108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055693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公司代码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公司描述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国家代码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货币代码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14119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FZ01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佛山电器照明股份有限公司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3530271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FZ05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佛山照明禅昌光电有限公司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7888044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FZ06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佛山泰美时代灯具有限公司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018948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FZ11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南京佛照照明器材制造有限公司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9174459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FZ13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佛山电器照明股份有限公司高明分公司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佛山市高明区富湾镇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8097032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佛山电器照明股份有限公司高明灯具分公司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4669396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佛山电器照明（新乡）灯光有限公司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475488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佛山市佛照智城科技有限公司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440125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佛山照明智达电工科技有限公司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9714775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佛山电器照明股份有限公司南海务庄分公司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佛山市南海务庄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423330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广东省佛照光电有限公司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475200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广东省佛照光电有限公司禅城分公司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627185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FZ29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佛照（海南）科技有限公司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海口市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5717127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佛山科联新能源产业科技有限公司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4981053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国星光电（德国）有限公司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德国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6897517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佛山市西格玛创业投资有限公司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 dirty="0">
                          <a:effectLst/>
                        </a:rPr>
                        <a:t>佛山市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210188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FZ36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佛照华光（茂名）科技有限公司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茂名市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CNY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950235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FZ38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广东航信航空设备有限公司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 广东广州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CNY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299625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FZ40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佛山照明（泰国）光电科技有限公司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泰国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THB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0940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599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矩形 679"/>
          <p:cNvSpPr/>
          <p:nvPr/>
        </p:nvSpPr>
        <p:spPr>
          <a:xfrm>
            <a:off x="9615714" y="1778000"/>
            <a:ext cx="2452915" cy="4228514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79" name="矩形 678"/>
          <p:cNvSpPr/>
          <p:nvPr/>
        </p:nvSpPr>
        <p:spPr>
          <a:xfrm>
            <a:off x="6945086" y="1778000"/>
            <a:ext cx="2597714" cy="495662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法定合并组织架构</a:t>
            </a:r>
            <a:r>
              <a:rPr lang="en-US" dirty="0"/>
              <a:t> </a:t>
            </a:r>
            <a:endParaRPr dirty="0"/>
          </a:p>
        </p:txBody>
      </p:sp>
      <p:grpSp>
        <p:nvGrpSpPr>
          <p:cNvPr id="312" name="Shape101"/>
          <p:cNvGrpSpPr/>
          <p:nvPr/>
        </p:nvGrpSpPr>
        <p:grpSpPr>
          <a:xfrm>
            <a:off x="28718" y="1873467"/>
            <a:ext cx="396000" cy="1892400"/>
            <a:chOff x="-2463442" y="-44510"/>
            <a:chExt cx="456000" cy="1892400"/>
          </a:xfrm>
        </p:grpSpPr>
        <p:sp>
          <p:nvSpPr>
            <p:cNvPr id="313" name="Rectangle"/>
            <p:cNvSpPr/>
            <p:nvPr/>
          </p:nvSpPr>
          <p:spPr>
            <a:xfrm>
              <a:off x="-2463442" y="-44510"/>
              <a:ext cx="456000" cy="1892400"/>
            </a:xfrm>
            <a:custGeom>
              <a:avLst/>
              <a:gdLst/>
              <a:ahLst/>
              <a:cxnLst/>
              <a:rect l="l" t="t" r="r" b="b"/>
              <a:pathLst>
                <a:path w="456000" h="1892400" stroke="0">
                  <a:moveTo>
                    <a:pt x="53200" y="0"/>
                  </a:moveTo>
                  <a:lnTo>
                    <a:pt x="402800" y="0"/>
                  </a:lnTo>
                  <a:cubicBezTo>
                    <a:pt x="432166" y="0"/>
                    <a:pt x="456000" y="23834"/>
                    <a:pt x="456000" y="53200"/>
                  </a:cubicBezTo>
                  <a:lnTo>
                    <a:pt x="456000" y="1839200"/>
                  </a:lnTo>
                  <a:cubicBezTo>
                    <a:pt x="456000" y="1868566"/>
                    <a:pt x="432166" y="1892400"/>
                    <a:pt x="402800" y="1892400"/>
                  </a:cubicBezTo>
                  <a:lnTo>
                    <a:pt x="53200" y="1892400"/>
                  </a:lnTo>
                  <a:cubicBezTo>
                    <a:pt x="23834" y="1892400"/>
                    <a:pt x="0" y="1868566"/>
                    <a:pt x="0" y="1839200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  <a:path w="456000" h="1892400" fill="none">
                  <a:moveTo>
                    <a:pt x="53200" y="0"/>
                  </a:moveTo>
                  <a:lnTo>
                    <a:pt x="402800" y="0"/>
                  </a:lnTo>
                  <a:cubicBezTo>
                    <a:pt x="432166" y="0"/>
                    <a:pt x="456000" y="23834"/>
                    <a:pt x="456000" y="53200"/>
                  </a:cubicBezTo>
                  <a:lnTo>
                    <a:pt x="456000" y="1839200"/>
                  </a:lnTo>
                  <a:cubicBezTo>
                    <a:pt x="456000" y="1868566"/>
                    <a:pt x="432166" y="1892400"/>
                    <a:pt x="402800" y="1892400"/>
                  </a:cubicBezTo>
                  <a:lnTo>
                    <a:pt x="53200" y="1892400"/>
                  </a:lnTo>
                  <a:cubicBezTo>
                    <a:pt x="23834" y="1892400"/>
                    <a:pt x="0" y="1868566"/>
                    <a:pt x="0" y="1839200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</a:pathLst>
            </a:custGeom>
            <a:solidFill>
              <a:srgbClr val="5CD3F3"/>
            </a:solidFill>
            <a:ln w="7600" cap="flat">
              <a:solidFill>
                <a:srgbClr val="419BB3"/>
              </a:solidFill>
              <a:round/>
            </a:ln>
          </p:spPr>
        </p:sp>
        <p:sp>
          <p:nvSpPr>
            <p:cNvPr id="624" name="Text 624"/>
            <p:cNvSpPr txBox="1"/>
            <p:nvPr/>
          </p:nvSpPr>
          <p:spPr>
            <a:xfrm>
              <a:off x="-2425442" y="229090"/>
              <a:ext cx="414545" cy="13376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1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佛山照明禅昌光电有限公司</a:t>
              </a:r>
              <a:endPara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FZ05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100%</a:t>
              </a:r>
            </a:p>
          </p:txBody>
        </p:sp>
      </p:grpSp>
      <p:sp>
        <p:nvSpPr>
          <p:cNvPr id="537" name="ConnectLine"/>
          <p:cNvSpPr/>
          <p:nvPr/>
        </p:nvSpPr>
        <p:spPr>
          <a:xfrm flipH="1">
            <a:off x="6587822" y="3765867"/>
            <a:ext cx="45719" cy="387189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1" name="Rectangle"/>
          <p:cNvSpPr/>
          <p:nvPr/>
        </p:nvSpPr>
        <p:spPr>
          <a:xfrm>
            <a:off x="488918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3" name="Text 624"/>
          <p:cNvSpPr txBox="1"/>
          <p:nvPr/>
        </p:nvSpPr>
        <p:spPr>
          <a:xfrm>
            <a:off x="521918" y="2213589"/>
            <a:ext cx="33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佛山泰美时代灯具有限公司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FZ06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70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5" name="Rectangle"/>
          <p:cNvSpPr/>
          <p:nvPr/>
        </p:nvSpPr>
        <p:spPr>
          <a:xfrm>
            <a:off x="941616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7" name="Text 624"/>
          <p:cNvSpPr txBox="1"/>
          <p:nvPr/>
        </p:nvSpPr>
        <p:spPr>
          <a:xfrm>
            <a:off x="974616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南京佛照照明器材制造有限公司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FZ11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59" name="Rectangle"/>
          <p:cNvSpPr/>
          <p:nvPr/>
        </p:nvSpPr>
        <p:spPr>
          <a:xfrm>
            <a:off x="140408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" name="Text 624"/>
          <p:cNvSpPr txBox="1"/>
          <p:nvPr/>
        </p:nvSpPr>
        <p:spPr>
          <a:xfrm>
            <a:off x="1437085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佛山电器照明股份有限公司高明分公司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75" name="Rectangle"/>
          <p:cNvSpPr/>
          <p:nvPr/>
        </p:nvSpPr>
        <p:spPr>
          <a:xfrm>
            <a:off x="184838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77" name="Text 624"/>
          <p:cNvSpPr txBox="1"/>
          <p:nvPr/>
        </p:nvSpPr>
        <p:spPr>
          <a:xfrm>
            <a:off x="1881385" y="2216241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佛山电器照明股份有限公司高明灯具分公司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79" name="Rectangle"/>
          <p:cNvSpPr/>
          <p:nvPr/>
        </p:nvSpPr>
        <p:spPr>
          <a:xfrm>
            <a:off x="228738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81" name="Text 624"/>
          <p:cNvSpPr txBox="1"/>
          <p:nvPr/>
        </p:nvSpPr>
        <p:spPr>
          <a:xfrm>
            <a:off x="2320385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佛山电器照明（新乡）灯光有限公司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FZ18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85" name="Rectangle"/>
          <p:cNvSpPr/>
          <p:nvPr/>
        </p:nvSpPr>
        <p:spPr>
          <a:xfrm>
            <a:off x="27455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87" name="Text 624"/>
          <p:cNvSpPr txBox="1"/>
          <p:nvPr/>
        </p:nvSpPr>
        <p:spPr>
          <a:xfrm>
            <a:off x="2778517" y="2204148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佛山市佛照智城科技有限公司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FZ19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91" name="Rectangle"/>
          <p:cNvSpPr/>
          <p:nvPr/>
        </p:nvSpPr>
        <p:spPr>
          <a:xfrm>
            <a:off x="32085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93" name="Text 624"/>
          <p:cNvSpPr txBox="1"/>
          <p:nvPr/>
        </p:nvSpPr>
        <p:spPr>
          <a:xfrm>
            <a:off x="3222266" y="2116948"/>
            <a:ext cx="432000" cy="1512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 山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照 明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智 达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电 工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科 技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有 限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公 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FZ22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66.84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495" name="Rectangle"/>
          <p:cNvSpPr/>
          <p:nvPr/>
        </p:nvSpPr>
        <p:spPr>
          <a:xfrm>
            <a:off x="3664011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97" name="Text 624"/>
          <p:cNvSpPr txBox="1"/>
          <p:nvPr/>
        </p:nvSpPr>
        <p:spPr>
          <a:xfrm>
            <a:off x="3671517" y="1937667"/>
            <a:ext cx="360000" cy="1764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佛山电器照明股份有限公司南海务庄分公司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99" name="Rectangle"/>
          <p:cNvSpPr/>
          <p:nvPr/>
        </p:nvSpPr>
        <p:spPr>
          <a:xfrm>
            <a:off x="4129881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01" name="Text 624"/>
          <p:cNvSpPr txBox="1"/>
          <p:nvPr/>
        </p:nvSpPr>
        <p:spPr>
          <a:xfrm>
            <a:off x="4162881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lvl="0" algn="just">
              <a:defRPr/>
            </a:pPr>
            <a:r>
              <a:rPr lang="zh-CN" altLang="en-US" sz="910" dirty="0">
                <a:solidFill>
                  <a:srgbClr val="454545"/>
                </a:solidFill>
                <a:latin typeface="微软雅黑"/>
                <a:ea typeface="微软雅黑"/>
                <a:cs typeface="微软雅黑"/>
              </a:rPr>
              <a:t>广东省佛照光电有限公司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FZ25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5" name="Rectangle"/>
          <p:cNvSpPr/>
          <p:nvPr/>
        </p:nvSpPr>
        <p:spPr>
          <a:xfrm>
            <a:off x="64368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7" name="Text 624"/>
          <p:cNvSpPr txBox="1"/>
          <p:nvPr/>
        </p:nvSpPr>
        <p:spPr>
          <a:xfrm>
            <a:off x="6469817" y="2211744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佛照（海南）科技有限公司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FZ29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9" name="Rectangle"/>
          <p:cNvSpPr/>
          <p:nvPr/>
        </p:nvSpPr>
        <p:spPr>
          <a:xfrm>
            <a:off x="5041578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71" name="Text 624"/>
          <p:cNvSpPr txBox="1"/>
          <p:nvPr/>
        </p:nvSpPr>
        <p:spPr>
          <a:xfrm>
            <a:off x="5074578" y="2211744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佛山科联新能源产业科技有限公司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77" name="Rectangle"/>
          <p:cNvSpPr/>
          <p:nvPr/>
        </p:nvSpPr>
        <p:spPr>
          <a:xfrm>
            <a:off x="5507550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79" name="Text 624"/>
          <p:cNvSpPr txBox="1"/>
          <p:nvPr/>
        </p:nvSpPr>
        <p:spPr>
          <a:xfrm>
            <a:off x="5540550" y="2228048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佛山市西格玛创业投资有限公司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FZ35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81" name="Rectangle"/>
          <p:cNvSpPr/>
          <p:nvPr/>
        </p:nvSpPr>
        <p:spPr>
          <a:xfrm>
            <a:off x="59692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83" name="Text 624"/>
          <p:cNvSpPr txBox="1"/>
          <p:nvPr/>
        </p:nvSpPr>
        <p:spPr>
          <a:xfrm>
            <a:off x="6002217" y="2211744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佛照华光（茂名）科技有限公司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FZ36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87" name="Rectangle"/>
          <p:cNvSpPr/>
          <p:nvPr/>
        </p:nvSpPr>
        <p:spPr>
          <a:xfrm>
            <a:off x="4582161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89" name="Text 624"/>
          <p:cNvSpPr txBox="1"/>
          <p:nvPr/>
        </p:nvSpPr>
        <p:spPr>
          <a:xfrm>
            <a:off x="4615161" y="2211744"/>
            <a:ext cx="33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广东航信航空设备有限公司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FZ38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45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99" name="Rectangle"/>
          <p:cNvSpPr/>
          <p:nvPr/>
        </p:nvSpPr>
        <p:spPr>
          <a:xfrm>
            <a:off x="8076466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01" name="Text 624"/>
          <p:cNvSpPr txBox="1"/>
          <p:nvPr/>
        </p:nvSpPr>
        <p:spPr>
          <a:xfrm>
            <a:off x="8087566" y="1964564"/>
            <a:ext cx="432000" cy="1728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南宁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燎旺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车灯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股份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有限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55.39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105" name="Rectangle"/>
          <p:cNvSpPr/>
          <p:nvPr/>
        </p:nvSpPr>
        <p:spPr>
          <a:xfrm>
            <a:off x="1065131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07" name="Text 624"/>
          <p:cNvSpPr txBox="1"/>
          <p:nvPr/>
        </p:nvSpPr>
        <p:spPr>
          <a:xfrm>
            <a:off x="10657101" y="2021263"/>
            <a:ext cx="468000" cy="1584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市国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星光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电股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份有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限公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GX1000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21.48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113" name="Rectangle"/>
          <p:cNvSpPr/>
          <p:nvPr/>
        </p:nvSpPr>
        <p:spPr>
          <a:xfrm>
            <a:off x="4129650" y="4102303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15" name="Text 624"/>
          <p:cNvSpPr txBox="1"/>
          <p:nvPr/>
        </p:nvSpPr>
        <p:spPr>
          <a:xfrm>
            <a:off x="4162650" y="4375903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国星光电（德国）有限公司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21" name="Rectangle"/>
          <p:cNvSpPr/>
          <p:nvPr/>
        </p:nvSpPr>
        <p:spPr>
          <a:xfrm>
            <a:off x="3649485" y="4102303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123" name="Text 624"/>
          <p:cNvSpPr txBox="1"/>
          <p:nvPr/>
        </p:nvSpPr>
        <p:spPr>
          <a:xfrm>
            <a:off x="3682485" y="4375903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lvl="0" algn="just">
              <a:defRPr/>
            </a:pPr>
            <a:r>
              <a:rPr lang="zh-CN" altLang="en-US" sz="910" dirty="0">
                <a:solidFill>
                  <a:srgbClr val="454545"/>
                </a:solidFill>
                <a:latin typeface="微软雅黑"/>
                <a:ea typeface="微软雅黑"/>
                <a:cs typeface="微软雅黑"/>
              </a:rPr>
              <a:t>广东省佛照光电有限公司</a:t>
            </a: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禅城分公司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FZ28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25" name="Rectangle"/>
          <p:cNvSpPr/>
          <p:nvPr/>
        </p:nvSpPr>
        <p:spPr>
          <a:xfrm>
            <a:off x="4627078" y="4102303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27" name="Text 624"/>
          <p:cNvSpPr txBox="1"/>
          <p:nvPr/>
        </p:nvSpPr>
        <p:spPr>
          <a:xfrm>
            <a:off x="4660078" y="4375903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佛山照明（泰国）光电科技有限公司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FZ40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dirty="0">
                <a:solidFill>
                  <a:srgbClr val="454545"/>
                </a:solidFill>
                <a:latin typeface="微软雅黑"/>
                <a:ea typeface="微软雅黑"/>
                <a:cs typeface="微软雅黑"/>
              </a:rPr>
              <a:t>51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13" name="Rectangle"/>
          <p:cNvSpPr/>
          <p:nvPr/>
        </p:nvSpPr>
        <p:spPr>
          <a:xfrm>
            <a:off x="6436817" y="4114114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15" name="Text 624"/>
          <p:cNvSpPr txBox="1"/>
          <p:nvPr/>
        </p:nvSpPr>
        <p:spPr>
          <a:xfrm>
            <a:off x="6469817" y="4387714"/>
            <a:ext cx="33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浙江沪乐电气设备制造有限公司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FZ37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66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54" name="Rectangle"/>
          <p:cNvSpPr/>
          <p:nvPr/>
        </p:nvSpPr>
        <p:spPr>
          <a:xfrm rot="16200000" flipH="1">
            <a:off x="8103015" y="3166303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58" name="Text 624"/>
          <p:cNvSpPr txBox="1"/>
          <p:nvPr/>
        </p:nvSpPr>
        <p:spPr>
          <a:xfrm>
            <a:off x="7143422" y="4227296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柳州桂格光电科技有限公司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1010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86" name="Rectangle"/>
          <p:cNvSpPr/>
          <p:nvPr/>
        </p:nvSpPr>
        <p:spPr>
          <a:xfrm rot="16200000" flipH="1">
            <a:off x="8103015" y="3471297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88" name="Text 624"/>
          <p:cNvSpPr txBox="1"/>
          <p:nvPr/>
        </p:nvSpPr>
        <p:spPr>
          <a:xfrm>
            <a:off x="7143422" y="4532290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柳州桂格复煊科技有限公司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1020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" name="Rectangle"/>
          <p:cNvSpPr/>
          <p:nvPr/>
        </p:nvSpPr>
        <p:spPr>
          <a:xfrm rot="16200000" flipH="1">
            <a:off x="8103015" y="3782576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76" name="Text 624"/>
          <p:cNvSpPr txBox="1"/>
          <p:nvPr/>
        </p:nvSpPr>
        <p:spPr>
          <a:xfrm>
            <a:off x="7143422" y="4843569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重庆桂诺光电科技有限公司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1030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78" name="Rectangle"/>
          <p:cNvSpPr/>
          <p:nvPr/>
        </p:nvSpPr>
        <p:spPr>
          <a:xfrm rot="16200000" flipH="1">
            <a:off x="8097422" y="4087570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80" name="Text 624"/>
          <p:cNvSpPr txBox="1"/>
          <p:nvPr/>
        </p:nvSpPr>
        <p:spPr>
          <a:xfrm>
            <a:off x="7137829" y="5148563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青岛桂格光电科技有限公司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1040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83" name="Rectangle"/>
          <p:cNvSpPr/>
          <p:nvPr/>
        </p:nvSpPr>
        <p:spPr>
          <a:xfrm rot="16200000" flipH="1">
            <a:off x="8097422" y="4392563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85" name="Text 624"/>
          <p:cNvSpPr txBox="1"/>
          <p:nvPr/>
        </p:nvSpPr>
        <p:spPr>
          <a:xfrm>
            <a:off x="7137829" y="5453556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印度尼西亚燎旺车灯有限公司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1050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87" name="Rectangle"/>
          <p:cNvSpPr/>
          <p:nvPr/>
        </p:nvSpPr>
        <p:spPr>
          <a:xfrm rot="16200000" flipH="1">
            <a:off x="8097422" y="4678550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90" name="Text 624"/>
          <p:cNvSpPr txBox="1"/>
          <p:nvPr/>
        </p:nvSpPr>
        <p:spPr>
          <a:xfrm>
            <a:off x="7137829" y="5739543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南宁燎旺车灯股份有限公司上海分公司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1060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92" name="Rectangle"/>
          <p:cNvSpPr/>
          <p:nvPr/>
        </p:nvSpPr>
        <p:spPr>
          <a:xfrm rot="16200000" flipH="1">
            <a:off x="8103015" y="4983544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94" name="Text 624"/>
          <p:cNvSpPr txBox="1"/>
          <p:nvPr/>
        </p:nvSpPr>
        <p:spPr>
          <a:xfrm>
            <a:off x="7143422" y="6044537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南宁燎旺车灯股份有限公司佛山分公司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1070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96" name="Rectangle"/>
          <p:cNvSpPr/>
          <p:nvPr/>
        </p:nvSpPr>
        <p:spPr>
          <a:xfrm rot="16200000" flipH="1">
            <a:off x="8097422" y="5319969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99" name="Text 624"/>
          <p:cNvSpPr txBox="1"/>
          <p:nvPr/>
        </p:nvSpPr>
        <p:spPr>
          <a:xfrm>
            <a:off x="7137829" y="6380962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燎旺车灯（苏州）有限责任公司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1080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04" name="Rectangle"/>
          <p:cNvSpPr/>
          <p:nvPr/>
        </p:nvSpPr>
        <p:spPr>
          <a:xfrm rot="16200000" flipH="1">
            <a:off x="10692229" y="3152035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07" name="Text 624"/>
          <p:cNvSpPr txBox="1"/>
          <p:nvPr/>
        </p:nvSpPr>
        <p:spPr>
          <a:xfrm>
            <a:off x="9732636" y="4213028"/>
            <a:ext cx="2268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佛山市国星半导体技术有限公司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GX1100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09" name="Rectangle"/>
          <p:cNvSpPr/>
          <p:nvPr/>
        </p:nvSpPr>
        <p:spPr>
          <a:xfrm rot="16200000" flipH="1">
            <a:off x="10692229" y="3471297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1" name="Text 624"/>
          <p:cNvSpPr txBox="1"/>
          <p:nvPr/>
        </p:nvSpPr>
        <p:spPr>
          <a:xfrm>
            <a:off x="9732636" y="4532290"/>
            <a:ext cx="2160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佛山市国星电子制造有限公司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GX1500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13" name="Rectangle"/>
          <p:cNvSpPr/>
          <p:nvPr/>
        </p:nvSpPr>
        <p:spPr>
          <a:xfrm rot="16200000" flipH="1">
            <a:off x="10692229" y="3782576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5" name="Text 624"/>
          <p:cNvSpPr txBox="1"/>
          <p:nvPr/>
        </p:nvSpPr>
        <p:spPr>
          <a:xfrm>
            <a:off x="9732636" y="4843569"/>
            <a:ext cx="2196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广东省新立电子信息进出口有限公司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GX1200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17" name="Rectangle"/>
          <p:cNvSpPr/>
          <p:nvPr/>
        </p:nvSpPr>
        <p:spPr>
          <a:xfrm rot="16200000" flipH="1">
            <a:off x="10692229" y="4087570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9" name="Text 624"/>
          <p:cNvSpPr txBox="1"/>
          <p:nvPr/>
        </p:nvSpPr>
        <p:spPr>
          <a:xfrm>
            <a:off x="9732636" y="5148563"/>
            <a:ext cx="2196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广东风华芯电科技股份有限公司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GX1400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34" name="Rectangle"/>
          <p:cNvSpPr/>
          <p:nvPr/>
        </p:nvSpPr>
        <p:spPr>
          <a:xfrm rot="16200000" flipH="1">
            <a:off x="10692229" y="4392563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43" name="Text 624"/>
          <p:cNvSpPr txBox="1"/>
          <p:nvPr/>
        </p:nvSpPr>
        <p:spPr>
          <a:xfrm>
            <a:off x="9732636" y="5453556"/>
            <a:ext cx="2196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高州市国星光电科技有限公司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GX1600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45" name="ConnectLine"/>
          <p:cNvSpPr/>
          <p:nvPr/>
        </p:nvSpPr>
        <p:spPr>
          <a:xfrm>
            <a:off x="3795561" y="3740205"/>
            <a:ext cx="524400" cy="348247"/>
          </a:xfrm>
          <a:custGeom>
            <a:avLst/>
            <a:gdLst/>
            <a:ahLst/>
            <a:cxnLst/>
            <a:rect l="l" t="t" r="r" b="b"/>
            <a:pathLst>
              <a:path w="524400" h="266000" fill="none">
                <a:moveTo>
                  <a:pt x="524400" y="0"/>
                </a:moveTo>
                <a:lnTo>
                  <a:pt x="524400" y="129200"/>
                </a:lnTo>
                <a:lnTo>
                  <a:pt x="0" y="129200"/>
                </a:ln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46" name="ConnectLine"/>
          <p:cNvSpPr/>
          <p:nvPr/>
        </p:nvSpPr>
        <p:spPr>
          <a:xfrm>
            <a:off x="4319961" y="3740206"/>
            <a:ext cx="524400" cy="348246"/>
          </a:xfrm>
          <a:custGeom>
            <a:avLst/>
            <a:gdLst/>
            <a:ahLst/>
            <a:cxnLst/>
            <a:rect l="l" t="t" r="r" b="b"/>
            <a:pathLst>
              <a:path w="524400" h="266000" fill="none">
                <a:moveTo>
                  <a:pt x="0" y="0"/>
                </a:moveTo>
                <a:lnTo>
                  <a:pt x="0" y="129200"/>
                </a:lnTo>
                <a:lnTo>
                  <a:pt x="524400" y="129200"/>
                </a:lnTo>
                <a:lnTo>
                  <a:pt x="52440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48" name="ConnectLine"/>
          <p:cNvSpPr/>
          <p:nvPr/>
        </p:nvSpPr>
        <p:spPr>
          <a:xfrm>
            <a:off x="4320050" y="3821103"/>
            <a:ext cx="7600" cy="266000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" name="ConnectLine"/>
          <p:cNvSpPr/>
          <p:nvPr/>
        </p:nvSpPr>
        <p:spPr>
          <a:xfrm flipH="1">
            <a:off x="8222354" y="3765867"/>
            <a:ext cx="45719" cy="387189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8" name="ConnectLine"/>
          <p:cNvSpPr/>
          <p:nvPr/>
        </p:nvSpPr>
        <p:spPr>
          <a:xfrm flipH="1">
            <a:off x="10804797" y="3784606"/>
            <a:ext cx="45719" cy="387189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9342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73844" y="1695450"/>
            <a:ext cx="0" cy="1780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15062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60782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067402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490985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941041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403004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855442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45979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788891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255616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715197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16049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633738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162069" y="837005"/>
            <a:ext cx="0" cy="8546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106517" y="1691640"/>
            <a:ext cx="4743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0850516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268073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73844" y="1691640"/>
            <a:ext cx="5888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2" name="Shape101"/>
          <p:cNvGrpSpPr/>
          <p:nvPr/>
        </p:nvGrpSpPr>
        <p:grpSpPr>
          <a:xfrm>
            <a:off x="4844361" y="12916"/>
            <a:ext cx="2580648" cy="858504"/>
            <a:chOff x="3269584" y="-1989517"/>
            <a:chExt cx="2580648" cy="858504"/>
          </a:xfrm>
        </p:grpSpPr>
        <p:sp>
          <p:nvSpPr>
            <p:cNvPr id="103" name="Rectangle"/>
            <p:cNvSpPr/>
            <p:nvPr/>
          </p:nvSpPr>
          <p:spPr>
            <a:xfrm>
              <a:off x="3269584" y="-1989517"/>
              <a:ext cx="2580648" cy="858504"/>
            </a:xfrm>
            <a:custGeom>
              <a:avLst/>
              <a:gdLst/>
              <a:ahLst/>
              <a:cxnLst/>
              <a:rect l="l" t="t" r="r" b="b"/>
              <a:pathLst>
                <a:path w="2580648" h="858504" stroke="0">
                  <a:moveTo>
                    <a:pt x="53200" y="0"/>
                  </a:moveTo>
                  <a:lnTo>
                    <a:pt x="2527448" y="0"/>
                  </a:lnTo>
                  <a:cubicBezTo>
                    <a:pt x="2556815" y="0"/>
                    <a:pt x="2580648" y="23834"/>
                    <a:pt x="2580648" y="53200"/>
                  </a:cubicBezTo>
                  <a:lnTo>
                    <a:pt x="2580648" y="805304"/>
                  </a:lnTo>
                  <a:cubicBezTo>
                    <a:pt x="2580648" y="834670"/>
                    <a:pt x="2556815" y="858504"/>
                    <a:pt x="2527448" y="858504"/>
                  </a:cubicBezTo>
                  <a:lnTo>
                    <a:pt x="53200" y="858504"/>
                  </a:lnTo>
                  <a:cubicBezTo>
                    <a:pt x="23834" y="858504"/>
                    <a:pt x="0" y="834670"/>
                    <a:pt x="0" y="805304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  <a:path w="2580648" h="858504" fill="none">
                  <a:moveTo>
                    <a:pt x="53200" y="0"/>
                  </a:moveTo>
                  <a:lnTo>
                    <a:pt x="2527448" y="0"/>
                  </a:lnTo>
                  <a:cubicBezTo>
                    <a:pt x="2556815" y="0"/>
                    <a:pt x="2580648" y="23834"/>
                    <a:pt x="2580648" y="53200"/>
                  </a:cubicBezTo>
                  <a:lnTo>
                    <a:pt x="2580648" y="805304"/>
                  </a:lnTo>
                  <a:cubicBezTo>
                    <a:pt x="2580648" y="834670"/>
                    <a:pt x="2556815" y="858504"/>
                    <a:pt x="2527448" y="858504"/>
                  </a:cubicBezTo>
                  <a:lnTo>
                    <a:pt x="53200" y="858504"/>
                  </a:lnTo>
                  <a:cubicBezTo>
                    <a:pt x="23834" y="858504"/>
                    <a:pt x="0" y="834670"/>
                    <a:pt x="0" y="805304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</a:pathLst>
            </a:custGeom>
            <a:solidFill>
              <a:srgbClr val="E15456"/>
            </a:solidFill>
            <a:ln w="15200" cap="flat">
              <a:solidFill>
                <a:srgbClr val="191919"/>
              </a:solidFill>
              <a:round/>
            </a:ln>
          </p:spPr>
        </p:sp>
        <p:sp>
          <p:nvSpPr>
            <p:cNvPr id="598" name="Text 598"/>
            <p:cNvSpPr txBox="1"/>
            <p:nvPr/>
          </p:nvSpPr>
          <p:spPr>
            <a:xfrm>
              <a:off x="3307584" y="-1898317"/>
              <a:ext cx="2504648" cy="668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佛山电器照明股份有限公司股份 </a:t>
              </a:r>
              <a:r>
                <a:rPr kumimoji="0" lang="en-US" altLang="zh-CN" sz="17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FZ01</a:t>
              </a:r>
              <a:endParaRPr kumimoji="0" lang="zh-CN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4" name="标注: 弯曲线形 3"/>
          <p:cNvSpPr/>
          <p:nvPr/>
        </p:nvSpPr>
        <p:spPr>
          <a:xfrm>
            <a:off x="8846458" y="839747"/>
            <a:ext cx="2278643" cy="695293"/>
          </a:xfrm>
          <a:prstGeom prst="borderCallout2">
            <a:avLst>
              <a:gd name="adj1" fmla="val 51143"/>
              <a:gd name="adj2" fmla="val -448"/>
              <a:gd name="adj3" fmla="val 78581"/>
              <a:gd name="adj4" fmla="val -8974"/>
              <a:gd name="adj5" fmla="val 139938"/>
              <a:gd name="adj6" fmla="val -2443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燎旺车灯和国星光电以子合并的结果参与本次合并</a:t>
            </a:r>
          </a:p>
        </p:txBody>
      </p:sp>
      <p:cxnSp>
        <p:nvCxnSpPr>
          <p:cNvPr id="10" name="直接连接符 9"/>
          <p:cNvCxnSpPr>
            <a:stCxn id="4" idx="0"/>
            <a:endCxn id="680" idx="0"/>
          </p:cNvCxnSpPr>
          <p:nvPr/>
        </p:nvCxnSpPr>
        <p:spPr>
          <a:xfrm flipH="1">
            <a:off x="10842172" y="1187394"/>
            <a:ext cx="282929" cy="59060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65219"/>
              </p:ext>
            </p:extLst>
          </p:nvPr>
        </p:nvGraphicFramePr>
        <p:xfrm>
          <a:off x="930154" y="4973260"/>
          <a:ext cx="2045461" cy="176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700405" imgH="603250" progId="Excel.Sheet.12">
                  <p:embed/>
                </p:oleObj>
              </mc:Choice>
              <mc:Fallback>
                <p:oleObj name="Worksheet" showAsIcon="1" r:id="rId3" imgW="700405" imgH="603250" progId="Excel.Sheet.12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0154" y="4973260"/>
                        <a:ext cx="2045461" cy="1761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">
            <a:extLst>
              <a:ext uri="{FF2B5EF4-FFF2-40B4-BE49-F238E27FC236}">
                <a16:creationId xmlns:a16="http://schemas.microsoft.com/office/drawing/2014/main" id="{1568C5A8-4A7A-46AC-2F77-34C5A790C071}"/>
              </a:ext>
            </a:extLst>
          </p:cNvPr>
          <p:cNvSpPr/>
          <p:nvPr/>
        </p:nvSpPr>
        <p:spPr>
          <a:xfrm>
            <a:off x="41771" y="4083606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27" name="Text 624">
            <a:extLst>
              <a:ext uri="{FF2B5EF4-FFF2-40B4-BE49-F238E27FC236}">
                <a16:creationId xmlns:a16="http://schemas.microsoft.com/office/drawing/2014/main" id="{D16194CD-C580-CBE5-7665-0163B3249C28}"/>
              </a:ext>
            </a:extLst>
          </p:cNvPr>
          <p:cNvSpPr txBox="1"/>
          <p:nvPr/>
        </p:nvSpPr>
        <p:spPr>
          <a:xfrm>
            <a:off x="59771" y="437133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佛山照明（泰国）光电科技有限公司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FZ40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49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30" name="ConnectLine">
            <a:extLst>
              <a:ext uri="{FF2B5EF4-FFF2-40B4-BE49-F238E27FC236}">
                <a16:creationId xmlns:a16="http://schemas.microsoft.com/office/drawing/2014/main" id="{7AD58824-04D6-B478-D6D0-110EFE5EBAE7}"/>
              </a:ext>
            </a:extLst>
          </p:cNvPr>
          <p:cNvSpPr/>
          <p:nvPr/>
        </p:nvSpPr>
        <p:spPr>
          <a:xfrm flipH="1">
            <a:off x="185972" y="3740205"/>
            <a:ext cx="62357" cy="362098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558B-6DAE-2707-88BF-039A7483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9608-B9BC-C986-017F-9DD66875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事业部组织架构设计</a:t>
            </a:r>
            <a:endParaRPr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BC64D51-B28D-CC8A-9E3A-459B24A0B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632"/>
              </p:ext>
            </p:extLst>
          </p:nvPr>
        </p:nvGraphicFramePr>
        <p:xfrm>
          <a:off x="425451" y="1081616"/>
          <a:ext cx="10471152" cy="451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192">
                  <a:extLst>
                    <a:ext uri="{9D8B030D-6E8A-4147-A177-3AD203B41FA5}">
                      <a16:colId xmlns:a16="http://schemas.microsoft.com/office/drawing/2014/main" val="160349495"/>
                    </a:ext>
                  </a:extLst>
                </a:gridCol>
                <a:gridCol w="1745192">
                  <a:extLst>
                    <a:ext uri="{9D8B030D-6E8A-4147-A177-3AD203B41FA5}">
                      <a16:colId xmlns:a16="http://schemas.microsoft.com/office/drawing/2014/main" val="2776797238"/>
                    </a:ext>
                  </a:extLst>
                </a:gridCol>
                <a:gridCol w="1745192">
                  <a:extLst>
                    <a:ext uri="{9D8B030D-6E8A-4147-A177-3AD203B41FA5}">
                      <a16:colId xmlns:a16="http://schemas.microsoft.com/office/drawing/2014/main" val="2959656742"/>
                    </a:ext>
                  </a:extLst>
                </a:gridCol>
                <a:gridCol w="1745192">
                  <a:extLst>
                    <a:ext uri="{9D8B030D-6E8A-4147-A177-3AD203B41FA5}">
                      <a16:colId xmlns:a16="http://schemas.microsoft.com/office/drawing/2014/main" val="3357474093"/>
                    </a:ext>
                  </a:extLst>
                </a:gridCol>
                <a:gridCol w="1745192">
                  <a:extLst>
                    <a:ext uri="{9D8B030D-6E8A-4147-A177-3AD203B41FA5}">
                      <a16:colId xmlns:a16="http://schemas.microsoft.com/office/drawing/2014/main" val="4114379986"/>
                    </a:ext>
                  </a:extLst>
                </a:gridCol>
                <a:gridCol w="1745192">
                  <a:extLst>
                    <a:ext uri="{9D8B030D-6E8A-4147-A177-3AD203B41FA5}">
                      <a16:colId xmlns:a16="http://schemas.microsoft.com/office/drawing/2014/main" val="46125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一级利润中心</a:t>
                      </a:r>
                      <a:endParaRPr lang="zh-CN" altLang="en-US" sz="1100" b="1" i="0" u="none" strike="noStrike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一级利润中心描述</a:t>
                      </a:r>
                      <a:endParaRPr lang="zh-CN" altLang="en-US" sz="1100" b="1" i="0" u="none" strike="noStrike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二级利润中心 （ 比如</a:t>
                      </a:r>
                      <a:r>
                        <a:rPr lang="en-US" altLang="zh-CN" sz="1100" u="none" strike="noStrike" dirty="0">
                          <a:effectLst/>
                        </a:rPr>
                        <a:t>PC5010</a:t>
                      </a:r>
                      <a:r>
                        <a:rPr lang="zh-CN" altLang="en-US" sz="1100" u="none" strike="noStrike" dirty="0">
                          <a:effectLst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二级利润中心描述 </a:t>
                      </a:r>
                      <a:endParaRPr lang="zh-CN" altLang="en-US" sz="1100" b="1" i="0" u="none" strike="noStrike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三级级利润中心 （ 比如</a:t>
                      </a:r>
                      <a:r>
                        <a:rPr lang="en-US" altLang="zh-CN" sz="1100" u="none" strike="noStrike">
                          <a:effectLst/>
                        </a:rPr>
                        <a:t>PC501010</a:t>
                      </a:r>
                      <a:r>
                        <a:rPr lang="zh-CN" altLang="en-US" sz="1100" u="none" strike="noStrike">
                          <a:effectLst/>
                        </a:rPr>
                        <a:t>）</a:t>
                      </a:r>
                      <a:endParaRPr lang="zh-CN" altLang="en-US" sz="1100" b="1" i="0" u="none" strike="noStrike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三级利润中心描述 </a:t>
                      </a:r>
                      <a:endParaRPr lang="zh-CN" altLang="en-US" sz="1100" b="1" i="0" u="none" strike="noStrike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427544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PC00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事业部无关</a:t>
                      </a:r>
                      <a:r>
                        <a:rPr lang="en-US" altLang="zh-CN" sz="1100" u="none" strike="noStrike">
                          <a:effectLst/>
                        </a:rPr>
                        <a:t>/</a:t>
                      </a:r>
                      <a:r>
                        <a:rPr lang="zh-CN" altLang="en-US" sz="1100" u="none" strike="noStrike">
                          <a:effectLst/>
                        </a:rPr>
                        <a:t>公共用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4815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家用事业部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PC1000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家用事业部</a:t>
                      </a:r>
                      <a:r>
                        <a:rPr lang="en-US" altLang="zh-CN" sz="1100" u="none" strike="noStrike">
                          <a:effectLst/>
                        </a:rPr>
                        <a:t>-</a:t>
                      </a:r>
                      <a:r>
                        <a:rPr lang="zh-CN" altLang="en-US" sz="1100" u="none" strike="noStrike">
                          <a:effectLst/>
                        </a:rPr>
                        <a:t>公共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321704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PC1010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五金渠道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176950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PC1020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零售渠道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04347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039566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PC20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商用事业部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PC2000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商用事业部</a:t>
                      </a:r>
                      <a:r>
                        <a:rPr lang="en-US" altLang="zh-CN" sz="1100" u="none" strike="noStrike">
                          <a:effectLst/>
                        </a:rPr>
                        <a:t>-</a:t>
                      </a:r>
                      <a:r>
                        <a:rPr lang="zh-CN" altLang="en-US" sz="1100" u="none" strike="noStrike">
                          <a:effectLst/>
                        </a:rPr>
                        <a:t>公共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94945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PC2010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分销渠道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1717079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PC2020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路灯业务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03421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421452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电商事业部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电商事业部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公共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700341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线上分销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31247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自营品牌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PC302010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天猫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88850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PC302020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拼多多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31892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PC302030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新媒体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324803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PC302040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1688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997490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车灯事业部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PC302050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京东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179194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国际事业部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国际事业部</a:t>
                      </a:r>
                      <a:r>
                        <a:rPr lang="en-US" altLang="zh-CN" sz="1100" u="none" strike="noStrike">
                          <a:effectLst/>
                        </a:rPr>
                        <a:t>-</a:t>
                      </a:r>
                      <a:r>
                        <a:rPr lang="zh-CN" altLang="en-US" sz="1100" u="none" strike="noStrike">
                          <a:effectLst/>
                        </a:rPr>
                        <a:t>公共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4195896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出口自营品牌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PC500010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FSL</a:t>
                      </a:r>
                      <a:r>
                        <a:rPr lang="zh-CN" altLang="en-US" sz="1100" u="none" strike="noStrike" dirty="0">
                          <a:effectLst/>
                        </a:rPr>
                        <a:t>品牌部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1601906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出口</a:t>
                      </a:r>
                      <a:r>
                        <a:rPr lang="en-US" sz="1100" u="none" strike="noStrike">
                          <a:effectLst/>
                        </a:rPr>
                        <a:t>OEM</a:t>
                      </a:r>
                      <a:r>
                        <a:rPr lang="zh-CN" altLang="en-US" sz="1100" u="none" strike="noStrike">
                          <a:effectLst/>
                        </a:rPr>
                        <a:t>业务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北美部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1188214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欧洲部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9997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亚非拉部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440606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大客户部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369352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车灯部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299974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PC502060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拓展部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156" marR="6156" marT="6156" marB="0" anchor="ctr"/>
                </a:tc>
                <a:extLst>
                  <a:ext uri="{0D108BD9-81ED-4DB2-BD59-A6C34878D82A}">
                    <a16:rowId xmlns:a16="http://schemas.microsoft.com/office/drawing/2014/main" val="1095005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06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成本中心组织架构设计</a:t>
            </a:r>
            <a:endParaRPr dirty="0"/>
          </a:p>
        </p:txBody>
      </p:sp>
      <p:sp>
        <p:nvSpPr>
          <p:cNvPr id="4" name="Rectangle 13"/>
          <p:cNvSpPr/>
          <p:nvPr/>
        </p:nvSpPr>
        <p:spPr>
          <a:xfrm>
            <a:off x="6468178" y="899336"/>
            <a:ext cx="5199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14"/>
          <p:cNvSpPr/>
          <p:nvPr/>
        </p:nvSpPr>
        <p:spPr>
          <a:xfrm>
            <a:off x="7918738" y="899336"/>
            <a:ext cx="3749039" cy="438912"/>
          </a:xfrm>
          <a:prstGeom prst="rect">
            <a:avLst/>
          </a:prstGeom>
          <a:solidFill>
            <a:srgbClr val="0073E6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15"/>
          <p:cNvSpPr txBox="1"/>
          <p:nvPr/>
        </p:nvSpPr>
        <p:spPr>
          <a:xfrm>
            <a:off x="8028466" y="945056"/>
            <a:ext cx="3611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账簿 3L  管理账簿</a:t>
            </a:r>
          </a:p>
        </p:txBody>
      </p:sp>
      <p:sp>
        <p:nvSpPr>
          <p:cNvPr id="7" name="Rectangle 16"/>
          <p:cNvSpPr/>
          <p:nvPr/>
        </p:nvSpPr>
        <p:spPr>
          <a:xfrm>
            <a:off x="6468178" y="899336"/>
            <a:ext cx="5199599" cy="438912"/>
          </a:xfrm>
          <a:prstGeom prst="rect">
            <a:avLst/>
          </a:prstGeom>
          <a:solidFill>
            <a:srgbClr val="0073E6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7"/>
          <p:cNvSpPr txBox="1"/>
          <p:nvPr/>
        </p:nvSpPr>
        <p:spPr>
          <a:xfrm>
            <a:off x="6622181" y="945056"/>
            <a:ext cx="4926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FFFFFF"/>
                </a:solidFill>
              </a:rPr>
              <a:t>成本中心编码规则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9" name="TextBox 18"/>
          <p:cNvSpPr txBox="1"/>
          <p:nvPr/>
        </p:nvSpPr>
        <p:spPr>
          <a:xfrm>
            <a:off x="6764328" y="1426930"/>
            <a:ext cx="3520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100" b="1" dirty="0">
                <a:solidFill>
                  <a:srgbClr val="0073E6"/>
                </a:solidFill>
              </a:rPr>
              <a:t>AAAA </a:t>
            </a:r>
            <a:r>
              <a:rPr lang="zh-CN" altLang="en-US" sz="1100" b="1" dirty="0">
                <a:solidFill>
                  <a:srgbClr val="0073E6"/>
                </a:solidFill>
              </a:rPr>
              <a:t>（等同于公司代码）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algn="l"/>
            <a:r>
              <a:rPr lang="en-US" altLang="zh-CN" sz="1100" b="1" dirty="0">
                <a:solidFill>
                  <a:srgbClr val="0073E6"/>
                </a:solidFill>
              </a:rPr>
              <a:t>BB </a:t>
            </a:r>
            <a:r>
              <a:rPr lang="zh-CN" altLang="en-US" sz="1100" b="1" dirty="0">
                <a:solidFill>
                  <a:srgbClr val="0073E6"/>
                </a:solidFill>
              </a:rPr>
              <a:t>（区分管 </a:t>
            </a:r>
            <a:r>
              <a:rPr lang="en-US" altLang="zh-CN" sz="1100" b="1" dirty="0">
                <a:solidFill>
                  <a:srgbClr val="0073E6"/>
                </a:solidFill>
              </a:rPr>
              <a:t>01</a:t>
            </a:r>
            <a:r>
              <a:rPr lang="zh-CN" altLang="en-US" sz="1100" b="1" dirty="0">
                <a:solidFill>
                  <a:srgbClr val="0073E6"/>
                </a:solidFill>
              </a:rPr>
              <a:t>、销 </a:t>
            </a:r>
            <a:r>
              <a:rPr lang="en-US" altLang="zh-CN" sz="1100" b="1" dirty="0">
                <a:solidFill>
                  <a:srgbClr val="0073E6"/>
                </a:solidFill>
              </a:rPr>
              <a:t>02</a:t>
            </a:r>
            <a:r>
              <a:rPr lang="zh-CN" altLang="en-US" sz="1100" b="1" dirty="0">
                <a:solidFill>
                  <a:srgbClr val="0073E6"/>
                </a:solidFill>
              </a:rPr>
              <a:t>、研 </a:t>
            </a:r>
            <a:r>
              <a:rPr lang="en-US" altLang="zh-CN" sz="1100" b="1" dirty="0">
                <a:solidFill>
                  <a:srgbClr val="0073E6"/>
                </a:solidFill>
              </a:rPr>
              <a:t>03</a:t>
            </a:r>
            <a:r>
              <a:rPr lang="zh-CN" altLang="en-US" sz="1100" b="1" dirty="0">
                <a:solidFill>
                  <a:srgbClr val="0073E6"/>
                </a:solidFill>
              </a:rPr>
              <a:t>、制 </a:t>
            </a:r>
            <a:r>
              <a:rPr lang="en-US" altLang="zh-CN" sz="1100" b="1" dirty="0">
                <a:solidFill>
                  <a:srgbClr val="0073E6"/>
                </a:solidFill>
              </a:rPr>
              <a:t>04</a:t>
            </a:r>
            <a:r>
              <a:rPr lang="zh-CN" altLang="en-US" sz="1100" b="1" dirty="0">
                <a:solidFill>
                  <a:srgbClr val="0073E6"/>
                </a:solidFill>
              </a:rPr>
              <a:t>）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algn="l"/>
            <a:r>
              <a:rPr lang="en-US" altLang="zh-CN" sz="1100" b="1" dirty="0">
                <a:solidFill>
                  <a:srgbClr val="0073E6"/>
                </a:solidFill>
              </a:rPr>
              <a:t>CC   </a:t>
            </a:r>
            <a:r>
              <a:rPr lang="zh-CN" altLang="en-US" sz="1100" b="1" dirty="0">
                <a:solidFill>
                  <a:srgbClr val="0073E6"/>
                </a:solidFill>
              </a:rPr>
              <a:t>可选：用于组织分级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algn="l"/>
            <a:r>
              <a:rPr lang="en-US" altLang="zh-CN" sz="1100" b="1" dirty="0">
                <a:solidFill>
                  <a:srgbClr val="0073E6"/>
                </a:solidFill>
              </a:rPr>
              <a:t>DD   </a:t>
            </a:r>
            <a:r>
              <a:rPr lang="zh-CN" altLang="en-US" sz="1100" b="1" dirty="0">
                <a:solidFill>
                  <a:srgbClr val="0073E6"/>
                </a:solidFill>
              </a:rPr>
              <a:t>顺序编码</a:t>
            </a:r>
            <a:endParaRPr sz="1100" b="1" dirty="0">
              <a:solidFill>
                <a:srgbClr val="0073E6"/>
              </a:solidFill>
            </a:endParaRPr>
          </a:p>
        </p:txBody>
      </p:sp>
      <p:sp>
        <p:nvSpPr>
          <p:cNvPr id="12" name="Rectangle 13"/>
          <p:cNvSpPr/>
          <p:nvPr/>
        </p:nvSpPr>
        <p:spPr>
          <a:xfrm>
            <a:off x="6468178" y="2876141"/>
            <a:ext cx="5199600" cy="3351403"/>
          </a:xfrm>
          <a:prstGeom prst="rect">
            <a:avLst/>
          </a:prstGeom>
          <a:solidFill>
            <a:srgbClr val="FFFFFF"/>
          </a:solidFill>
          <a:ln w="9525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4"/>
          <p:cNvSpPr/>
          <p:nvPr/>
        </p:nvSpPr>
        <p:spPr>
          <a:xfrm>
            <a:off x="7918738" y="2876142"/>
            <a:ext cx="3749039" cy="438912"/>
          </a:xfrm>
          <a:prstGeom prst="rect">
            <a:avLst/>
          </a:prstGeom>
          <a:solidFill>
            <a:srgbClr val="0073E6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5"/>
          <p:cNvSpPr txBox="1"/>
          <p:nvPr/>
        </p:nvSpPr>
        <p:spPr>
          <a:xfrm>
            <a:off x="8028466" y="2921862"/>
            <a:ext cx="3611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账簿 3L  管理账簿</a:t>
            </a:r>
          </a:p>
        </p:txBody>
      </p:sp>
      <p:sp>
        <p:nvSpPr>
          <p:cNvPr id="15" name="Rectangle 16"/>
          <p:cNvSpPr/>
          <p:nvPr/>
        </p:nvSpPr>
        <p:spPr>
          <a:xfrm>
            <a:off x="6468178" y="2876142"/>
            <a:ext cx="5199599" cy="438912"/>
          </a:xfrm>
          <a:prstGeom prst="rect">
            <a:avLst/>
          </a:prstGeom>
          <a:solidFill>
            <a:srgbClr val="0073E6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7"/>
          <p:cNvSpPr txBox="1"/>
          <p:nvPr/>
        </p:nvSpPr>
        <p:spPr>
          <a:xfrm>
            <a:off x="6622181" y="2921862"/>
            <a:ext cx="4926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FFFFFF"/>
                </a:solidFill>
              </a:rPr>
              <a:t>成本中心组</a:t>
            </a:r>
            <a:r>
              <a:rPr lang="en-US" altLang="zh-CN" sz="1200" b="1" dirty="0">
                <a:solidFill>
                  <a:srgbClr val="FFFFFF"/>
                </a:solidFill>
              </a:rPr>
              <a:t>-</a:t>
            </a:r>
            <a:r>
              <a:rPr lang="zh-CN" altLang="en-US" sz="1200" b="1" dirty="0">
                <a:solidFill>
                  <a:srgbClr val="FFFFFF"/>
                </a:solidFill>
              </a:rPr>
              <a:t>标准层次结构（前三级），三级以下单体公司财务自主参考织管理结构</a:t>
            </a:r>
            <a:endParaRPr sz="1200" b="1" dirty="0">
              <a:solidFill>
                <a:srgbClr val="FFFFFF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83" y="3544162"/>
            <a:ext cx="4876017" cy="126137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29EFDD-7BD2-D24E-108F-C7E5F01CD7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307"/>
          <a:stretch>
            <a:fillRect/>
          </a:stretch>
        </p:blipFill>
        <p:spPr>
          <a:xfrm>
            <a:off x="450851" y="899336"/>
            <a:ext cx="5099049" cy="5328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新的科目梳理规划（本次核心优化）</a:t>
            </a:r>
            <a:endParaRPr dirty="0"/>
          </a:p>
        </p:txBody>
      </p:sp>
      <p:sp>
        <p:nvSpPr>
          <p:cNvPr id="5" name="Rectangle 13"/>
          <p:cNvSpPr/>
          <p:nvPr/>
        </p:nvSpPr>
        <p:spPr>
          <a:xfrm>
            <a:off x="425451" y="984309"/>
            <a:ext cx="6424219" cy="5211661"/>
          </a:xfrm>
          <a:prstGeom prst="rect">
            <a:avLst/>
          </a:prstGeom>
          <a:solidFill>
            <a:srgbClr val="FFFFFF"/>
          </a:solidFill>
          <a:ln w="9525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>
            <a:off x="425451" y="984310"/>
            <a:ext cx="6424219" cy="438912"/>
          </a:xfrm>
          <a:prstGeom prst="rect">
            <a:avLst/>
          </a:prstGeom>
          <a:solidFill>
            <a:srgbClr val="0073E6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7"/>
          <p:cNvSpPr txBox="1"/>
          <p:nvPr/>
        </p:nvSpPr>
        <p:spPr>
          <a:xfrm>
            <a:off x="535179" y="1011741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FFFFFF"/>
                </a:solidFill>
              </a:rPr>
              <a:t>科目编号优化三大亮点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0" name="TextBox 18"/>
          <p:cNvSpPr txBox="1"/>
          <p:nvPr/>
        </p:nvSpPr>
        <p:spPr>
          <a:xfrm>
            <a:off x="535179" y="1532950"/>
            <a:ext cx="352044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大幅度减少现金银行科目数量，避免不用的科目一直冗余（启用银行子账户模块功能）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algn="l"/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全新按照规律编排费用科目科目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r>
              <a:rPr lang="en-US" sz="1100" b="1" dirty="0">
                <a:solidFill>
                  <a:srgbClr val="0073E6"/>
                </a:solidFill>
              </a:rPr>
              <a:t>      </a:t>
            </a:r>
            <a:r>
              <a:rPr lang="en-US" altLang="zh-CN" sz="1100" b="1" dirty="0">
                <a:solidFill>
                  <a:srgbClr val="0073E6"/>
                </a:solidFill>
              </a:rPr>
              <a:t>AAAA+BBB+CCC</a:t>
            </a:r>
          </a:p>
          <a:p>
            <a:r>
              <a:rPr lang="en-US" sz="1100" b="1" dirty="0">
                <a:solidFill>
                  <a:srgbClr val="0073E6"/>
                </a:solidFill>
              </a:rPr>
              <a:t>      </a:t>
            </a:r>
            <a:r>
              <a:rPr lang="en-US" altLang="zh-CN" sz="1100" b="1" dirty="0">
                <a:solidFill>
                  <a:srgbClr val="0073E6"/>
                </a:solidFill>
              </a:rPr>
              <a:t>AAAA </a:t>
            </a:r>
            <a:r>
              <a:rPr lang="zh-CN" altLang="en-US" sz="1100" b="1" dirty="0">
                <a:solidFill>
                  <a:srgbClr val="0073E6"/>
                </a:solidFill>
              </a:rPr>
              <a:t>为一级科目编码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r>
              <a:rPr lang="en-US" altLang="zh-CN" sz="1100" b="1" dirty="0">
                <a:solidFill>
                  <a:srgbClr val="0073E6"/>
                </a:solidFill>
              </a:rPr>
              <a:t>      BBB    </a:t>
            </a:r>
            <a:r>
              <a:rPr lang="zh-CN" altLang="en-US" sz="1100" b="1" dirty="0">
                <a:solidFill>
                  <a:srgbClr val="0073E6"/>
                </a:solidFill>
              </a:rPr>
              <a:t>为费用科目类别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r>
              <a:rPr lang="en-US" altLang="zh-CN" sz="1100" b="1" dirty="0">
                <a:solidFill>
                  <a:srgbClr val="0073E6"/>
                </a:solidFill>
              </a:rPr>
              <a:t>      CCC    </a:t>
            </a:r>
            <a:r>
              <a:rPr lang="zh-CN" altLang="en-US" sz="1100" b="1" dirty="0">
                <a:solidFill>
                  <a:srgbClr val="0073E6"/>
                </a:solidFill>
              </a:rPr>
              <a:t>为一个类别下的具体科目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endParaRPr lang="en-US" altLang="zh-CN" sz="1100" b="1" dirty="0">
              <a:solidFill>
                <a:srgbClr val="0073E6"/>
              </a:solidFill>
            </a:endParaRPr>
          </a:p>
          <a:p>
            <a:r>
              <a:rPr lang="zh-CN" altLang="en-US" sz="1100" b="1" dirty="0">
                <a:solidFill>
                  <a:srgbClr val="0073E6"/>
                </a:solidFill>
              </a:rPr>
              <a:t>需要记录交易对象科目借用客户类统驭科目，避免新建大量科目，以及这些交易对象金额为零时，科目冗余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交易性金融资产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债券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交易性金融资产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股票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交易性金融资产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证券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交易性金融资产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基金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交易性金融资产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结构性存款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交易性金融资产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理财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长期股权投资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长期股权投资减值准备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合同资产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其他债权投资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实收资本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其他权益工具投资 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其他权益工具投资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公允价值变动、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其他权益工具投资</a:t>
            </a:r>
            <a:r>
              <a:rPr lang="en-US" altLang="zh-CN" sz="1100" b="1" dirty="0">
                <a:solidFill>
                  <a:srgbClr val="0073E6"/>
                </a:solidFill>
              </a:rPr>
              <a:t>-</a:t>
            </a:r>
            <a:r>
              <a:rPr lang="zh-CN" altLang="en-US" sz="1100" b="1" dirty="0">
                <a:solidFill>
                  <a:srgbClr val="0073E6"/>
                </a:solidFill>
              </a:rPr>
              <a:t>信用减值</a:t>
            </a:r>
            <a:endParaRPr lang="en-US" altLang="zh-CN" sz="1100" b="1" dirty="0">
              <a:solidFill>
                <a:srgbClr val="0073E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73E6"/>
                </a:solidFill>
              </a:rPr>
              <a:t>长期借款</a:t>
            </a:r>
            <a:br>
              <a:rPr lang="en-US" altLang="zh-CN" sz="1100" b="1" dirty="0">
                <a:solidFill>
                  <a:srgbClr val="0073E6"/>
                </a:solidFill>
              </a:rPr>
            </a:br>
            <a:endParaRPr lang="en-US" altLang="zh-CN" sz="1100" b="1" dirty="0">
              <a:solidFill>
                <a:srgbClr val="0073E6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5F783D-AFFA-E30E-F934-AB185E13A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297" y="984309"/>
            <a:ext cx="2567006" cy="15954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79DFE2F-194E-93F0-48D2-8DB9906F7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297" y="2720976"/>
            <a:ext cx="4495833" cy="17383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B7FB941-8073-80EE-EB87-D7B2332AA9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244"/>
          <a:stretch>
            <a:fillRect/>
          </a:stretch>
        </p:blipFill>
        <p:spPr>
          <a:xfrm>
            <a:off x="7270716" y="4551626"/>
            <a:ext cx="4495833" cy="1525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0538"/>
            <a:ext cx="1846659" cy="738664"/>
          </a:xfrm>
        </p:spPr>
        <p:txBody>
          <a:bodyPr/>
          <a:lstStyle/>
          <a:p>
            <a:r>
              <a:rPr lang="zh-CN" altLang="en-US" sz="4800" b="1" dirty="0"/>
              <a:t>谢谢！</a:t>
            </a:r>
            <a:endParaRPr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 Template - External_v2_more file size 2nd option" id="{5C96949D-A511-4C27-8972-49E175CB9004}" vid="{FDF2C615-E964-4855-905F-9BF4DFE40C1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2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BEA80D82-EDC8-0741-826D-933AA8F9EFEB}">
  <ds:schemaRefs/>
</ds:datastoreItem>
</file>

<file path=customXml/itemProps2.xml><?xml version="1.0" encoding="utf-8"?>
<ds:datastoreItem xmlns:ds="http://schemas.openxmlformats.org/officeDocument/2006/customXml" ds:itemID="{9B965239-770B-CA49-8A85-05CC8639E8EA}">
  <ds:schemaRefs/>
</ds:datastoreItem>
</file>

<file path=customXml/itemProps3.xml><?xml version="1.0" encoding="utf-8"?>
<ds:datastoreItem xmlns:ds="http://schemas.openxmlformats.org/officeDocument/2006/customXml" ds:itemID="{6B6BFCDD-2828-244C-B8B0-E2958472E4D3}">
  <ds:schemaRefs/>
</ds:datastoreItem>
</file>

<file path=customXml/itemProps4.xml><?xml version="1.0" encoding="utf-8"?>
<ds:datastoreItem xmlns:ds="http://schemas.openxmlformats.org/officeDocument/2006/customXml" ds:itemID="{FE511B84-21F8-E546-9875-8BED6F72232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2104</Words>
  <Application>Microsoft Office PowerPoint</Application>
  <PresentationFormat>宽屏</PresentationFormat>
  <Paragraphs>491</Paragraphs>
  <Slides>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Biennale</vt:lpstr>
      <vt:lpstr>Biennale Bold</vt:lpstr>
      <vt:lpstr>Montserrat Bold</vt:lpstr>
      <vt:lpstr>等线</vt:lpstr>
      <vt:lpstr>宋体</vt:lpstr>
      <vt:lpstr>微软雅黑</vt:lpstr>
      <vt:lpstr>Aptos</vt:lpstr>
      <vt:lpstr>Arial</vt:lpstr>
      <vt:lpstr>Montserrat SemiBold</vt:lpstr>
      <vt:lpstr>Times New Roman</vt:lpstr>
      <vt:lpstr>Verdana</vt:lpstr>
      <vt:lpstr>White background</vt:lpstr>
      <vt:lpstr>1_White background</vt:lpstr>
      <vt:lpstr>Worksheet</vt:lpstr>
      <vt:lpstr>财务组织架构设计</vt:lpstr>
      <vt:lpstr>本次SAP ERP升级项目涉及的SAP公司清单</vt:lpstr>
      <vt:lpstr>法定合并组织架构 </vt:lpstr>
      <vt:lpstr>事业部组织架构设计</vt:lpstr>
      <vt:lpstr>成本中心组织架构设计</vt:lpstr>
      <vt:lpstr>新的科目梳理规划（本次核心优化）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财务组织架构设计</dc:title>
  <dc:creator>Tan, Hong-liang</dc:creator>
  <cp:lastModifiedBy>2102125624@qq.com</cp:lastModifiedBy>
  <cp:revision>5</cp:revision>
  <dcterms:created xsi:type="dcterms:W3CDTF">2026-08-27T09:49:13Z</dcterms:created>
  <dcterms:modified xsi:type="dcterms:W3CDTF">2026-08-30T15:27:59Z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C7CE217C7381801B1908906A9A598F8C_42</vt:lpwstr>
  </property>
  <property fmtid="{D5CDD505-2E9C-101B-9397-08002B2CF9AE}" pid="3" name="KSOProductBuildVer">
    <vt:lpwstr>2052-0.0.0.0</vt:lpwstr>
  </property>
</Properties>
</file>