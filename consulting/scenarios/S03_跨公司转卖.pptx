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3" r:id="rId3"/>
    <p:sldMasterId id="2147483681" r:id="rId4"/>
  </p:sldMasterIdLst>
  <p:notesMasterIdLst>
    <p:notesMasterId r:id="rId30"/>
  </p:notesMasterIdLst>
  <p:sldIdLst>
    <p:sldId id="256" r:id="rId5"/>
    <p:sldId id="257" r:id="rId6"/>
    <p:sldId id="258" r:id="rId7"/>
    <p:sldId id="259" r:id="rId8"/>
    <p:sldId id="260" r:id="rId9"/>
    <p:sldId id="261" r:id="rId10"/>
    <p:sldId id="262" r:id="rId11"/>
    <p:sldId id="263" r:id="rId12"/>
    <p:sldId id="281" r:id="rId13"/>
    <p:sldId id="280" r:id="rId14"/>
    <p:sldId id="282" r:id="rId15"/>
    <p:sldId id="288" r:id="rId16"/>
    <p:sldId id="283" r:id="rId17"/>
    <p:sldId id="284" r:id="rId18"/>
    <p:sldId id="285" r:id="rId19"/>
    <p:sldId id="286" r:id="rId20"/>
    <p:sldId id="287" r:id="rId21"/>
    <p:sldId id="264" r:id="rId22"/>
    <p:sldId id="265" r:id="rId23"/>
    <p:sldId id="271" r:id="rId24"/>
    <p:sldId id="270" r:id="rId25"/>
    <p:sldId id="290" r:id="rId26"/>
    <p:sldId id="291" r:id="rId27"/>
    <p:sldId id="289" r:id="rId28"/>
    <p:sldId id="267" r:id="rId2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2" userDrawn="1">
          <p15:clr>
            <a:srgbClr val="747775"/>
          </p15:clr>
        </p15:guide>
        <p15:guide id="2" pos="289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3" d="100"/>
          <a:sy n="83" d="100"/>
        </p:scale>
        <p:origin x="225" y="54"/>
      </p:cViewPr>
      <p:guideLst>
        <p:guide orient="horz" pos="1622"/>
        <p:guide pos="28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各位领导，大家好</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今天我代表项目组，向大家汇报《采购价格与货源策略一体化管控提升方案</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本次方案是基于佛山照明SAP升级项目的背景，旨在通过数字化手段，优化采购流程，实现价格与货源的精细化管控，降本增效</a:t>
            </a:r>
            <a:r>
              <a:rPr lang="en-US" sz="1200" b="0" i="0" u="none" strike="noStrike">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各位领导、各位同事，大家好</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今天我们将围绕数字化转型项目进行详细汇报</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本次汇报的目录共分为九个部分，从管理层的执行摘要开始，我们将深入剖析现状问题、明确建设目标与治理架构，并重点介绍六项建设任务及SAP系统的本期落地方案。</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同时，我们也会对实施路径、价值评估、风险应对以及后续的决策事项进行全面阐述</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接下来，让我们正式进入第一部分</a:t>
            </a:r>
            <a:r>
              <a:rPr lang="en-US" sz="1200" b="0" i="0" u="none" strike="noStrike">
                <a:solidFill>
                  <a:srgbClr val="000000"/>
                </a:solidFill>
              </a:rPr>
              <a:t>。</a:t>
            </a:r>
          </a:p>
          <a:p>
            <a:pPr algn="l">
              <a:lnSpc>
                <a:spcPct val="100000"/>
              </a:lnSpc>
            </a:pP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171450" indent="-17145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dirty="0">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重点关注IC销售模式下的税务合规问题。这是一个至关重要的环节，直接关系到公司的财务安全。首先，我们要理解跨公司销售的核心税务原则，同时也要认识到标准SAP系统在处理复杂交易时的局限性。为了确保合规，我们必须在系统中进行精细配置，包括正确设置税码、保证主数据一致性，并重视国际贸易术语的影响。最后，我们识别了三个主要风险点，并提出了相应的应对策略，以确保整个流程的税务合规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为了方便大家记忆，我将今天提到的核心概念汇总成了这张表格。从Country Version到DRC Monitor，再到数字签名和三单匹配，这些术语共同构成了我们整个DRC解决方案的核心。希望大家能通过这张表，对DRC有一个更系统的理解。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3A415C3-E7E8-ED47-896B-87929403F899}" type="slidenum">
              <a:rPr lang="en-US" smtClean="0"/>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p:cNvSpPr>
            <a:spLocks noGrp="1"/>
          </p:cNvSpPr>
          <p:nvPr>
            <p:ph type="sldNum" sz="quarter" idx="4"/>
          </p:nvPr>
        </p:nvSpPr>
        <p:spPr>
          <a:xfrm>
            <a:off x="428625" y="6507907"/>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pic>
        <p:nvPicPr>
          <p:cNvPr id="5" name="图片 4"/>
          <p:cNvPicPr>
            <a:picLocks noChangeAspect="1"/>
          </p:cNvPicPr>
          <p:nvPr userDrawn="1"/>
        </p:nvPicPr>
        <p:blipFill>
          <a:blip r:embed="rId2"/>
          <a:stretch>
            <a:fillRect/>
          </a:stretch>
        </p:blipFill>
        <p:spPr>
          <a:xfrm>
            <a:off x="287947" y="6412870"/>
            <a:ext cx="1742736" cy="343961"/>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AutoShape 2"/>
          <p:cNvSpPr>
            <a:spLocks noGrp="1"/>
          </p:cNvSpPr>
          <p:nvPr>
            <p:ph type="body" sz="quarter" idx="4" hasCustomPrompt="1"/>
          </p:nvPr>
        </p:nvSpPr>
        <p:spPr>
          <a:xfrm>
            <a:off x="423068" y="2415203"/>
            <a:ext cx="5486400" cy="1828800"/>
          </a:xfrm>
          <a:prstGeom prst="rect">
            <a:avLst/>
          </a:prstGeom>
          <a:noFill/>
          <a:ln w="12700">
            <a:noFill/>
            <a:prstDash val="solid"/>
          </a:ln>
        </p:spPr>
        <p:txBody>
          <a:bodyPr wrap="square" lIns="0" tIns="0" rIns="0" bIns="0" anchor="t">
            <a:noAutofit/>
          </a:bodyPr>
          <a:lstStyle>
            <a:lvl1pPr algn="l">
              <a:lnSpc>
                <a:spcPct val="100000"/>
              </a:lnSpc>
              <a:defRPr sz="4800" b="0" i="0" u="none" strike="noStrike" spc="0">
                <a:solidFill>
                  <a:srgbClr val="0073E6">
                    <a:alpha val="100000"/>
                  </a:srgbClr>
                </a:solidFill>
                <a:latin typeface="Biennale Bold"/>
              </a:defRPr>
            </a:lvl1pPr>
          </a:lstStyle>
          <a:p>
            <a:pPr marL="0" indent="0" algn="l">
              <a:lnSpc>
                <a:spcPct val="100000"/>
              </a:lnSpc>
              <a:spcAft>
                <a:spcPts val="300"/>
              </a:spcAft>
            </a:pPr>
            <a:r>
              <a:rPr lang="en-US" sz="4800" b="0" i="0" u="none" strike="noStrike">
                <a:solidFill>
                  <a:srgbClr val="0073E6"/>
                </a:solidFill>
                <a:latin typeface="Biennale Bold"/>
                <a:ea typeface="Biennale Bold"/>
                <a:cs typeface="Biennale Bold"/>
                <a:sym typeface="Biennale Bold"/>
              </a:rPr>
              <a:t>Presentation title</a:t>
            </a:r>
          </a:p>
        </p:txBody>
      </p:sp>
      <p:sp>
        <p:nvSpPr>
          <p:cNvPr id="3" name="AutoShape 3"/>
          <p:cNvSpPr>
            <a:spLocks noGrp="1"/>
          </p:cNvSpPr>
          <p:nvPr>
            <p:ph type="body" sz="quarter" idx="5" hasCustomPrompt="1"/>
          </p:nvPr>
        </p:nvSpPr>
        <p:spPr>
          <a:xfrm>
            <a:off x="423068" y="3138594"/>
            <a:ext cx="548640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spcAft>
                <a:spcPts val="600"/>
              </a:spcAft>
            </a:pPr>
            <a:r>
              <a:rPr lang="en-US" sz="36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6" hasCustomPrompt="1"/>
          </p:nvPr>
        </p:nvSpPr>
        <p:spPr>
          <a:xfrm>
            <a:off x="423068" y="4771707"/>
            <a:ext cx="3657600" cy="640080"/>
          </a:xfrm>
          <a:prstGeom prst="rect">
            <a:avLst/>
          </a:prstGeom>
          <a:noFill/>
          <a:ln w="12700">
            <a:noFill/>
            <a:prstDash val="solid"/>
          </a:ln>
        </p:spPr>
        <p:txBody>
          <a:bodyPr wrap="square" lIns="0" tIns="0" rIns="0" bIns="0" anchor="t">
            <a:noAutofit/>
          </a:bodyPr>
          <a:lstStyle>
            <a:lvl1pPr algn="l">
              <a:lnSpc>
                <a:spcPct val="100000"/>
              </a:lnSpc>
              <a:defRPr sz="1600" b="0" i="0" u="none" strike="noStrike" spc="0">
                <a:solidFill>
                  <a:srgbClr val="00005C">
                    <a:alpha val="100000"/>
                  </a:srgbClr>
                </a:solidFill>
                <a:latin typeface="Biennale"/>
              </a:defRPr>
            </a:lvl1pPr>
          </a:lstStyle>
          <a:p>
            <a:pPr marL="0" indent="0" algn="l">
              <a:lnSpc>
                <a:spcPct val="100000"/>
              </a:lnSpc>
              <a:spcAft>
                <a:spcPts val="600"/>
              </a:spcAft>
            </a:pPr>
            <a:r>
              <a:rPr lang="en-US" sz="1600" b="0" i="0" u="none" strike="noStrike">
                <a:solidFill>
                  <a:srgbClr val="00005C"/>
                </a:solidFill>
                <a:latin typeface="Biennale"/>
                <a:ea typeface="Biennale"/>
                <a:cs typeface="Biennale"/>
                <a:sym typeface="Biennale"/>
              </a:rPr>
              <a:t>Date</a:t>
            </a:r>
          </a:p>
        </p:txBody>
      </p:sp>
      <p:sp>
        <p:nvSpPr>
          <p:cNvPr id="5" name="AutoShape 5"/>
          <p:cNvSpPr/>
          <p:nvPr/>
        </p:nvSpPr>
        <p:spPr>
          <a:xfrm>
            <a:off x="423068" y="6391780"/>
            <a:ext cx="835165"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6" name="AutoShape 6"/>
          <p:cNvSpPr>
            <a:spLocks noGrp="1"/>
          </p:cNvSpPr>
          <p:nvPr>
            <p:ph type="pic" sz="quarter" idx="7"/>
          </p:nvPr>
        </p:nvSpPr>
        <p:spPr>
          <a:xfrm>
            <a:off x="6092952" y="0"/>
            <a:ext cx="6099048"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8"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a:t>
            </a:r>
          </a:p>
        </p:txBody>
      </p:sp>
      <p:sp>
        <p:nvSpPr>
          <p:cNvPr id="3" name="AutoShape 3"/>
          <p:cNvSpPr>
            <a:spLocks noGrp="1"/>
          </p:cNvSpPr>
          <p:nvPr>
            <p:ph type="body" sz="quarter" idx="9"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00005C">
                    <a:alpha val="100000"/>
                  </a:srgbClr>
                </a:solidFill>
                <a:latin typeface="Biennale Bold"/>
              </a:defRPr>
            </a:lvl1pPr>
          </a:lstStyle>
          <a:p>
            <a:pPr marL="0" indent="0" algn="l">
              <a:lnSpc>
                <a:spcPct val="100000"/>
              </a:lnSpc>
            </a:pPr>
            <a:r>
              <a:rPr lang="en-US" sz="18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10"/>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pic>
        <p:nvPicPr>
          <p:cNvPr id="5" name="Picture 5"/>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Deep Blue Title Only">
    <p:bg>
      <p:bgPr>
        <a:solidFill>
          <a:srgbClr val="00005C">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FFFFFF">
                    <a:alpha val="100000"/>
                  </a:srgbClr>
                </a:solidFill>
                <a:latin typeface="Biennale Bold"/>
              </a:defRPr>
            </a:lvl1pPr>
          </a:lstStyle>
          <a:p>
            <a:pPr marL="0" indent="0" algn="l">
              <a:lnSpc>
                <a:spcPct val="100000"/>
              </a:lnSpc>
            </a:pPr>
            <a:r>
              <a:rPr lang="en-US" sz="2800" b="0" i="0" u="none" strike="noStrike">
                <a:solidFill>
                  <a:srgbClr val="FFFFFF"/>
                </a:solidFill>
                <a:latin typeface="Biennale Bold"/>
                <a:ea typeface="Biennale Bold"/>
                <a:cs typeface="Biennale Bold"/>
                <a:sym typeface="Biennale Bold"/>
              </a:rPr>
              <a:t>Title</a:t>
            </a:r>
          </a:p>
        </p:txBody>
      </p:sp>
      <p:sp>
        <p:nvSpPr>
          <p:cNvPr id="3" name="AutoShape 3"/>
          <p:cNvSpPr>
            <a:spLocks noGrp="1"/>
          </p:cNvSpPr>
          <p:nvPr>
            <p:ph type="body" sz="quarter" idx="12"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3DC7FF">
                    <a:alpha val="100000"/>
                  </a:srgbClr>
                </a:solidFill>
                <a:latin typeface="Biennale Bold"/>
              </a:defRPr>
            </a:lvl1pPr>
          </a:lstStyle>
          <a:p>
            <a:pPr marL="0" indent="0" algn="l">
              <a:lnSpc>
                <a:spcPct val="100000"/>
              </a:lnSpc>
            </a:pPr>
            <a:r>
              <a:rPr lang="en-US" sz="1800" b="0" i="0" u="none" strike="noStrike">
                <a:solidFill>
                  <a:srgbClr val="3DC7FF"/>
                </a:solidFill>
                <a:latin typeface="Biennale Bold"/>
                <a:ea typeface="Biennale Bold"/>
                <a:cs typeface="Biennale Bold"/>
                <a:sym typeface="Biennale Bold"/>
              </a:rPr>
              <a:t>Subtitle</a:t>
            </a:r>
          </a:p>
        </p:txBody>
      </p:sp>
      <p:sp>
        <p:nvSpPr>
          <p:cNvPr id="4" name="AutoShape 4"/>
          <p:cNvSpPr>
            <a:spLocks noGrp="1"/>
          </p:cNvSpPr>
          <p:nvPr>
            <p:ph type="body" sz="quarter" idx="13"/>
          </p:nvPr>
        </p:nvSpPr>
        <p:spPr>
          <a:xfrm>
            <a:off x="428625" y="6420355"/>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FFFFFF">
                    <a:alpha val="100000"/>
                  </a:srgbClr>
                </a:solidFill>
                <a:latin typeface="Biennale"/>
              </a:defRPr>
            </a:lvl1pPr>
          </a:lstStyle>
          <a:p>
            <a:pPr algn="l"/>
            <a:endParaRPr/>
          </a:p>
        </p:txBody>
      </p:sp>
      <p:sp>
        <p:nvSpPr>
          <p:cNvPr id="5" name="AutoShape 5"/>
          <p:cNvSpPr/>
          <p:nvPr/>
        </p:nvSpPr>
        <p:spPr>
          <a:xfrm>
            <a:off x="428625" y="6420355"/>
            <a:ext cx="12795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FFFFFF"/>
                </a:solidFill>
                <a:latin typeface="Biennale"/>
                <a:ea typeface="Biennale"/>
                <a:cs typeface="Biennale"/>
                <a:sym typeface="Biennale"/>
              </a:rPr>
              <a:t>	|	 © Atos Group </a:t>
            </a:r>
            <a:endParaRPr lang="en-US" sz="1100"/>
          </a:p>
        </p:txBody>
      </p:sp>
      <p:sp>
        <p:nvSpPr>
          <p:cNvPr id="6" name="Freeform 6"/>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Chapter">
    <p:bg>
      <p:bgPr>
        <a:solidFill>
          <a:srgbClr val="00005C">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1703638" y="0"/>
            <a:ext cx="9768784" cy="6858000"/>
            <a:chOff x="1703638" y="0"/>
            <a:chExt cx="9768784" cy="6858000"/>
          </a:xfrm>
        </p:grpSpPr>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grpSp>
      <p:sp>
        <p:nvSpPr>
          <p:cNvPr id="5" name="AutoShape 5"/>
          <p:cNvSpPr>
            <a:spLocks noGrp="1"/>
          </p:cNvSpPr>
          <p:nvPr>
            <p:ph type="body" sz="quarter" idx="14" hasCustomPrompt="1"/>
          </p:nvPr>
        </p:nvSpPr>
        <p:spPr>
          <a:xfrm>
            <a:off x="428625" y="1196367"/>
            <a:ext cx="5852160" cy="1554480"/>
          </a:xfrm>
          <a:prstGeom prst="rect">
            <a:avLst/>
          </a:prstGeom>
          <a:noFill/>
          <a:ln w="12700">
            <a:noFill/>
            <a:prstDash val="solid"/>
          </a:ln>
        </p:spPr>
        <p:txBody>
          <a:bodyPr wrap="square" lIns="0" tIns="0" rIns="0" bIns="0" anchor="b">
            <a:noAutofit/>
          </a:bodyPr>
          <a:lstStyle>
            <a:lvl1pPr algn="l">
              <a:lnSpc>
                <a:spcPct val="100000"/>
              </a:lnSpc>
              <a:defRPr sz="4800" b="0" i="0" u="none" strike="noStrike" spc="0">
                <a:solidFill>
                  <a:srgbClr val="FFFFFF">
                    <a:alpha val="100000"/>
                  </a:srgbClr>
                </a:solidFill>
                <a:latin typeface="Biennale Bold"/>
              </a:defRPr>
            </a:lvl1pPr>
          </a:lstStyle>
          <a:p>
            <a:pPr marL="0" indent="0" algn="l">
              <a:lnSpc>
                <a:spcPct val="100000"/>
              </a:lnSpc>
              <a:spcAft>
                <a:spcPts val="300"/>
              </a:spcAft>
            </a:pPr>
            <a:r>
              <a:rPr lang="en-US" sz="4800" b="0" i="0" u="none" strike="noStrike">
                <a:solidFill>
                  <a:srgbClr val="FFFFFF"/>
                </a:solidFill>
                <a:latin typeface="Biennale Bold"/>
                <a:ea typeface="Biennale Bold"/>
                <a:cs typeface="Biennale Bold"/>
                <a:sym typeface="Biennale Bold"/>
              </a:rPr>
              <a:t>Chapter title</a:t>
            </a:r>
          </a:p>
        </p:txBody>
      </p:sp>
      <p:sp>
        <p:nvSpPr>
          <p:cNvPr id="6" name="AutoShape 6"/>
          <p:cNvSpPr>
            <a:spLocks noGrp="1"/>
          </p:cNvSpPr>
          <p:nvPr>
            <p:ph type="body" sz="quarter" idx="15" hasCustomPrompt="1"/>
          </p:nvPr>
        </p:nvSpPr>
        <p:spPr>
          <a:xfrm>
            <a:off x="428625" y="2748074"/>
            <a:ext cx="585216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3DC7FF">
                    <a:alpha val="100000"/>
                  </a:srgbClr>
                </a:solidFill>
                <a:latin typeface="Biennale Bold"/>
              </a:defRPr>
            </a:lvl1pPr>
          </a:lstStyle>
          <a:p>
            <a:pPr marL="0" indent="0" algn="l">
              <a:lnSpc>
                <a:spcPct val="100000"/>
              </a:lnSpc>
              <a:spcAft>
                <a:spcPts val="600"/>
              </a:spcAft>
            </a:pPr>
            <a:r>
              <a:rPr lang="en-US" sz="3600" b="0" i="0" u="none" strike="noStrike">
                <a:solidFill>
                  <a:srgbClr val="3DC7FF"/>
                </a:solidFill>
                <a:latin typeface="Biennale Bold"/>
                <a:ea typeface="Biennale Bold"/>
                <a:cs typeface="Biennale Bold"/>
                <a:sym typeface="Biennale Bold"/>
              </a:rPr>
              <a:t>Subtitle</a:t>
            </a:r>
          </a:p>
        </p:txBody>
      </p:sp>
      <p:sp>
        <p:nvSpPr>
          <p:cNvPr id="7" name="Freeform 7"/>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hank you">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428625" y="1189363"/>
            <a:ext cx="5370060" cy="1231106"/>
          </a:xfrm>
          <a:prstGeom prst="rect">
            <a:avLst/>
          </a:prstGeom>
          <a:noFill/>
          <a:ln w="12700">
            <a:noFill/>
            <a:prstDash val="solid"/>
          </a:ln>
        </p:spPr>
        <p:txBody>
          <a:bodyPr wrap="none" lIns="0" tIns="0" rIns="0" bIns="0" anchor="ctr">
            <a:spAutoFit/>
          </a:bodyPr>
          <a:lstStyle>
            <a:lvl1pPr algn="l">
              <a:lnSpc>
                <a:spcPct val="100000"/>
              </a:lnSpc>
              <a:defRPr sz="8000" b="0" i="0" u="none" strike="noStrike" spc="0">
                <a:solidFill>
                  <a:srgbClr val="0073E6">
                    <a:alpha val="100000"/>
                  </a:srgbClr>
                </a:solidFill>
                <a:latin typeface="Biennale Bold"/>
              </a:defRPr>
            </a:lvl1pPr>
          </a:lstStyle>
          <a:p>
            <a:pPr marL="0" indent="0" algn="l">
              <a:lnSpc>
                <a:spcPct val="100000"/>
              </a:lnSpc>
            </a:pPr>
            <a:r>
              <a:rPr lang="en-US" sz="8000" b="0" i="0" u="none" strike="noStrike">
                <a:solidFill>
                  <a:srgbClr val="0073E6"/>
                </a:solidFill>
                <a:latin typeface="Biennale Bold"/>
                <a:ea typeface="Biennale Bold"/>
                <a:cs typeface="Biennale Bold"/>
                <a:sym typeface="Biennale Bold"/>
              </a:rPr>
              <a:t>Thank you!</a:t>
            </a:r>
          </a:p>
        </p:txBody>
      </p:sp>
      <p:sp>
        <p:nvSpPr>
          <p:cNvPr id="3" name="AutoShape 3"/>
          <p:cNvSpPr/>
          <p:nvPr/>
        </p:nvSpPr>
        <p:spPr>
          <a:xfrm>
            <a:off x="428625" y="5422415"/>
            <a:ext cx="3383281" cy="492443"/>
          </a:xfrm>
          <a:prstGeom prst="rect">
            <a:avLst/>
          </a:prstGeom>
          <a:noFill/>
          <a:ln w="12700">
            <a:noFill/>
            <a:prstDash val="solid"/>
          </a:ln>
        </p:spPr>
        <p:txBody>
          <a:bodyPr wrap="square" lIns="0" tIns="0" rIns="0" bIns="0" rtlCol="0" anchor="b">
            <a:spAutoFit/>
          </a:bodyPr>
          <a:lstStyle/>
          <a:p>
            <a:pPr marL="0" indent="0" algn="l">
              <a:lnSpc>
                <a:spcPct val="100000"/>
              </a:lnSpc>
              <a:defRPr/>
            </a:pPr>
            <a:r>
              <a:rPr lang="en-US" sz="800" b="0" i="0" u="none" strike="noStrike">
                <a:solidFill>
                  <a:srgbClr val="00005C"/>
                </a:solidFill>
                <a:latin typeface="Biennale"/>
                <a:ea typeface="Biennale"/>
                <a:cs typeface="Biennale"/>
                <a:sym typeface="Biennale"/>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1100"/>
          </a:p>
        </p:txBody>
      </p:sp>
      <p:sp>
        <p:nvSpPr>
          <p:cNvPr id="4" name="AutoShape 4"/>
          <p:cNvSpPr>
            <a:spLocks noGrp="1"/>
          </p:cNvSpPr>
          <p:nvPr>
            <p:ph type="body" sz="quarter" idx="17" hasCustomPrompt="1"/>
          </p:nvPr>
        </p:nvSpPr>
        <p:spPr>
          <a:xfrm>
            <a:off x="428625" y="6316314"/>
            <a:ext cx="2560320" cy="92333"/>
          </a:xfrm>
          <a:prstGeom prst="rect">
            <a:avLst/>
          </a:prstGeom>
          <a:noFill/>
          <a:ln w="12700">
            <a:noFill/>
            <a:prstDash val="solid"/>
          </a:ln>
        </p:spPr>
        <p:txBody>
          <a:bodyPr wrap="none" lIns="0" tIns="0" rIns="0" bIns="0" anchor="ctr">
            <a:noAutofit/>
          </a:bodyPr>
          <a:lstStyle>
            <a:lvl1pPr algn="l">
              <a:lnSpc>
                <a:spcPct val="100000"/>
              </a:lnSpc>
              <a:defRPr sz="600" b="0" i="0" u="none" strike="noStrike" spc="0">
                <a:solidFill>
                  <a:srgbClr val="00005C">
                    <a:alpha val="100000"/>
                  </a:srgbClr>
                </a:solidFill>
                <a:latin typeface="Biennale"/>
              </a:defRPr>
            </a:lvl1pPr>
          </a:lstStyle>
          <a:p>
            <a:pPr marL="0" indent="0" algn="l">
              <a:lnSpc>
                <a:spcPct val="100000"/>
              </a:lnSpc>
            </a:pPr>
            <a:r>
              <a:rPr lang="en-US" sz="600" b="0" i="0" u="none" strike="noStrike">
                <a:solidFill>
                  <a:srgbClr val="00005C"/>
                </a:solidFill>
                <a:latin typeface="Biennale"/>
                <a:ea typeface="Biennale"/>
                <a:cs typeface="Biennale"/>
                <a:sym typeface="Biennale"/>
              </a:rPr>
              <a:t>Job Number-Designer-BP</a:t>
            </a:r>
          </a:p>
        </p:txBody>
      </p:sp>
      <p:sp>
        <p:nvSpPr>
          <p:cNvPr id="5" name="AutoShape 5"/>
          <p:cNvSpPr/>
          <p:nvPr/>
        </p:nvSpPr>
        <p:spPr>
          <a:xfrm>
            <a:off x="5884404" y="6391780"/>
            <a:ext cx="423193"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a:t>
            </a:r>
            <a:endParaRPr lang="en-US" sz="1100"/>
          </a:p>
        </p:txBody>
      </p:sp>
      <p:sp>
        <p:nvSpPr>
          <p:cNvPr id="6" name="Freeform 6"/>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s only">
    <p:spTree>
      <p:nvGrpSpPr>
        <p:cNvPr id="1" name=""/>
        <p:cNvGrpSpPr/>
        <p:nvPr/>
      </p:nvGrpSpPr>
      <p:grpSpPr>
        <a:xfrm>
          <a:off x="0" y="0"/>
          <a:ext cx="0" cy="0"/>
          <a:chOff x="0" y="0"/>
          <a:chExt cx="0" cy="0"/>
        </a:xfrm>
      </p:grpSpPr>
      <p:sp>
        <p:nvSpPr>
          <p:cNvPr id="2" name="AutoShape 2"/>
          <p:cNvSpPr>
            <a:spLocks noGrp="1"/>
          </p:cNvSpPr>
          <p:nvPr>
            <p:ph type="body" sz="quarter" idx="18" hasCustomPrompt="1"/>
          </p:nvPr>
        </p:nvSpPr>
        <p:spPr>
          <a:xfrm>
            <a:off x="303548" y="164637"/>
            <a:ext cx="11436096" cy="338554"/>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 in Raleway SemiBold 20pt</a:t>
            </a:r>
          </a:p>
        </p:txBody>
      </p:sp>
      <p:sp>
        <p:nvSpPr>
          <p:cNvPr id="3" name="AutoShape 3"/>
          <p:cNvSpPr>
            <a:spLocks noGrp="1"/>
          </p:cNvSpPr>
          <p:nvPr>
            <p:ph type="body" sz="quarter" idx="19" hasCustomPrompt="1"/>
          </p:nvPr>
        </p:nvSpPr>
        <p:spPr>
          <a:xfrm>
            <a:off x="303547" y="556610"/>
            <a:ext cx="11436096" cy="580529"/>
          </a:xfrm>
          <a:prstGeom prst="rect">
            <a:avLst/>
          </a:prstGeom>
          <a:noFill/>
          <a:ln w="12700">
            <a:noFill/>
            <a:prstDash val="solid"/>
          </a:ln>
        </p:spPr>
        <p:txBody>
          <a:bodyPr wrap="square" lIns="0" tIns="0" rIns="0" bIns="0" anchor="t">
            <a:noAutofit/>
          </a:bodyPr>
          <a:lstStyle>
            <a:lvl1pPr algn="l">
              <a:lnSpc>
                <a:spcPct val="100000"/>
              </a:lnSpc>
              <a:defRPr sz="2135" b="0" i="0" u="none" strike="noStrike" spc="0">
                <a:solidFill>
                  <a:srgbClr val="0596FF">
                    <a:alpha val="100000"/>
                  </a:srgbClr>
                </a:solidFill>
                <a:latin typeface="Biennale Bold"/>
              </a:defRPr>
            </a:lvl1pPr>
          </a:lstStyle>
          <a:p>
            <a:pPr marL="0" indent="0" algn="l">
              <a:lnSpc>
                <a:spcPct val="100000"/>
              </a:lnSpc>
              <a:spcAft>
                <a:spcPts val="600"/>
              </a:spcAft>
            </a:pPr>
            <a:r>
              <a:rPr lang="en-US" sz="2135" b="0" i="0" u="none" strike="noStrike">
                <a:solidFill>
                  <a:srgbClr val="0596FF"/>
                </a:solidFill>
                <a:latin typeface="Biennale Bold"/>
                <a:ea typeface="Biennale Bold"/>
                <a:cs typeface="Biennale Bold"/>
                <a:sym typeface="Biennale Bold"/>
              </a:rPr>
              <a:t>Subtitle in Raleway SemiBold 16pt</a:t>
            </a:r>
          </a:p>
        </p:txBody>
      </p:sp>
      <p:pic>
        <p:nvPicPr>
          <p:cNvPr id="4" name="Picture 4"/>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Agenda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117917" y="1285493"/>
            <a:ext cx="1545853" cy="1545853"/>
          </a:xfrm>
          <a:prstGeom prst="rect">
            <a:avLst/>
          </a:prstGeom>
        </p:spPr>
      </p:pic>
      <p:sp>
        <p:nvSpPr>
          <p:cNvPr id="3" name="AutoShape 3"/>
          <p:cNvSpPr>
            <a:spLocks noGrp="1"/>
          </p:cNvSpPr>
          <p:nvPr>
            <p:ph type="body" sz="quarter" idx="20" hasCustomPrompt="1"/>
          </p:nvPr>
        </p:nvSpPr>
        <p:spPr>
          <a:xfrm>
            <a:off x="2954745" y="1446367"/>
            <a:ext cx="343043"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01</a:t>
            </a:r>
          </a:p>
        </p:txBody>
      </p:sp>
      <p:sp>
        <p:nvSpPr>
          <p:cNvPr id="4" name="AutoShape 4"/>
          <p:cNvSpPr>
            <a:spLocks noGrp="1"/>
          </p:cNvSpPr>
          <p:nvPr>
            <p:ph type="body" sz="quarter" idx="21" hasCustomPrompt="1"/>
          </p:nvPr>
        </p:nvSpPr>
        <p:spPr>
          <a:xfrm>
            <a:off x="3674348" y="1446367"/>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5" name="AutoShape 5"/>
          <p:cNvSpPr>
            <a:spLocks noGrp="1"/>
          </p:cNvSpPr>
          <p:nvPr>
            <p:ph type="body" sz="quarter" idx="22" hasCustomPrompt="1"/>
          </p:nvPr>
        </p:nvSpPr>
        <p:spPr>
          <a:xfrm>
            <a:off x="11406268" y="1446367"/>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6" name="AutoShape 6"/>
          <p:cNvSpPr>
            <a:spLocks noGrp="1"/>
          </p:cNvSpPr>
          <p:nvPr>
            <p:ph type="body" sz="quarter" idx="23" hasCustomPrompt="1"/>
          </p:nvPr>
        </p:nvSpPr>
        <p:spPr>
          <a:xfrm>
            <a:off x="2954745" y="2713569"/>
            <a:ext cx="395942"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02</a:t>
            </a:r>
          </a:p>
        </p:txBody>
      </p:sp>
      <p:sp>
        <p:nvSpPr>
          <p:cNvPr id="7" name="AutoShape 7"/>
          <p:cNvSpPr>
            <a:spLocks noGrp="1"/>
          </p:cNvSpPr>
          <p:nvPr>
            <p:ph type="body" sz="quarter" idx="24" hasCustomPrompt="1"/>
          </p:nvPr>
        </p:nvSpPr>
        <p:spPr>
          <a:xfrm>
            <a:off x="3674348" y="2713569"/>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8" name="AutoShape 8"/>
          <p:cNvSpPr>
            <a:spLocks noGrp="1"/>
          </p:cNvSpPr>
          <p:nvPr>
            <p:ph type="body" sz="quarter" idx="25" hasCustomPrompt="1"/>
          </p:nvPr>
        </p:nvSpPr>
        <p:spPr>
          <a:xfrm>
            <a:off x="11406268" y="2713569"/>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9" name="AutoShape 9"/>
          <p:cNvSpPr>
            <a:spLocks noGrp="1"/>
          </p:cNvSpPr>
          <p:nvPr>
            <p:ph type="body" sz="quarter" idx="26" hasCustomPrompt="1"/>
          </p:nvPr>
        </p:nvSpPr>
        <p:spPr>
          <a:xfrm>
            <a:off x="2954745" y="3980771"/>
            <a:ext cx="397545"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03</a:t>
            </a:r>
          </a:p>
        </p:txBody>
      </p:sp>
      <p:sp>
        <p:nvSpPr>
          <p:cNvPr id="10" name="AutoShape 10"/>
          <p:cNvSpPr>
            <a:spLocks noGrp="1"/>
          </p:cNvSpPr>
          <p:nvPr>
            <p:ph type="body" sz="quarter" idx="27" hasCustomPrompt="1"/>
          </p:nvPr>
        </p:nvSpPr>
        <p:spPr>
          <a:xfrm>
            <a:off x="3674348" y="3980771"/>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1" name="AutoShape 11"/>
          <p:cNvSpPr>
            <a:spLocks noGrp="1"/>
          </p:cNvSpPr>
          <p:nvPr>
            <p:ph type="body" sz="quarter" idx="28" hasCustomPrompt="1"/>
          </p:nvPr>
        </p:nvSpPr>
        <p:spPr>
          <a:xfrm>
            <a:off x="11406268" y="3980771"/>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2" name="AutoShape 12"/>
          <p:cNvSpPr>
            <a:spLocks noGrp="1"/>
          </p:cNvSpPr>
          <p:nvPr>
            <p:ph type="body" sz="quarter" idx="29" hasCustomPrompt="1"/>
          </p:nvPr>
        </p:nvSpPr>
        <p:spPr>
          <a:xfrm>
            <a:off x="2954745" y="5247973"/>
            <a:ext cx="403957"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04</a:t>
            </a:r>
          </a:p>
        </p:txBody>
      </p:sp>
      <p:sp>
        <p:nvSpPr>
          <p:cNvPr id="13" name="AutoShape 13"/>
          <p:cNvSpPr>
            <a:spLocks noGrp="1"/>
          </p:cNvSpPr>
          <p:nvPr>
            <p:ph type="body" sz="quarter" idx="30" hasCustomPrompt="1"/>
          </p:nvPr>
        </p:nvSpPr>
        <p:spPr>
          <a:xfrm>
            <a:off x="3674348" y="5247973"/>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4" name="AutoShape 14"/>
          <p:cNvSpPr>
            <a:spLocks noGrp="1"/>
          </p:cNvSpPr>
          <p:nvPr>
            <p:ph type="body" sz="quarter" idx="31" hasCustomPrompt="1"/>
          </p:nvPr>
        </p:nvSpPr>
        <p:spPr>
          <a:xfrm>
            <a:off x="11406268" y="5247973"/>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5" name="AutoShape 15"/>
          <p:cNvSpPr>
            <a:spLocks noGrp="1"/>
          </p:cNvSpPr>
          <p:nvPr>
            <p:ph type="body" sz="quarter" idx="32"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pPr>
            <a:r>
              <a:rPr lang="en-US" sz="3600" b="0" i="0" u="none" strike="noStrike">
                <a:solidFill>
                  <a:srgbClr val="00005C"/>
                </a:solidFill>
                <a:latin typeface="Biennale Bold"/>
                <a:ea typeface="Biennale Bold"/>
                <a:cs typeface="Biennale Bold"/>
                <a:sym typeface="Biennale Bold"/>
              </a:rPr>
              <a:t>Contents</a:t>
            </a:r>
          </a:p>
        </p:txBody>
      </p:sp>
      <p:sp>
        <p:nvSpPr>
          <p:cNvPr id="16" name="AutoShape 16"/>
          <p:cNvSpPr>
            <a:spLocks noGrp="1"/>
          </p:cNvSpPr>
          <p:nvPr>
            <p:ph type="body" sz="quarter" idx="33"/>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Chapter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3" name="AutoShape 3"/>
          <p:cNvSpPr>
            <a:spLocks noGrp="1"/>
          </p:cNvSpPr>
          <p:nvPr>
            <p:ph type="body" sz="quarter" idx="34" hasCustomPrompt="1"/>
          </p:nvPr>
        </p:nvSpPr>
        <p:spPr>
          <a:xfrm>
            <a:off x="390098" y="389618"/>
            <a:ext cx="1376980" cy="1477328"/>
          </a:xfrm>
          <a:prstGeom prst="rect">
            <a:avLst/>
          </a:prstGeom>
          <a:noFill/>
          <a:ln w="12700">
            <a:noFill/>
            <a:prstDash val="solid"/>
          </a:ln>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01</a:t>
            </a:r>
          </a:p>
        </p:txBody>
      </p:sp>
      <p:sp>
        <p:nvSpPr>
          <p:cNvPr id="4" name="Freeform 4"/>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AutoShape 5"/>
          <p:cNvSpPr>
            <a:spLocks noGrp="1"/>
          </p:cNvSpPr>
          <p:nvPr>
            <p:ph type="body" sz="quarter" idx="35" hasCustomPrompt="1"/>
          </p:nvPr>
        </p:nvSpPr>
        <p:spPr>
          <a:xfrm>
            <a:off x="1786976" y="1866946"/>
            <a:ext cx="7094047" cy="1929683"/>
          </a:xfrm>
          <a:prstGeom prst="rect">
            <a:avLst/>
          </a:prstGeom>
          <a:noFill/>
          <a:ln w="12700">
            <a:noFill/>
            <a:prstDash val="solid"/>
          </a:ln>
        </p:spPr>
        <p:txBody>
          <a:bodyPr wrap="square" lIns="0" tIns="0" rIns="0" bIns="0" anchor="t">
            <a:noAutofit/>
          </a:bodyPr>
          <a:lstStyle>
            <a:lvl1pPr algn="l">
              <a:lnSpc>
                <a:spcPct val="100000"/>
              </a:lnSpc>
              <a:defRPr sz="5400" b="0" i="0" u="none" strike="noStrike" spc="0">
                <a:solidFill>
                  <a:srgbClr val="00005C">
                    <a:alpha val="100000"/>
                  </a:srgbClr>
                </a:solidFill>
                <a:latin typeface="Biennale Bold"/>
              </a:defRPr>
            </a:lvl1pPr>
          </a:lstStyle>
          <a:p>
            <a:pPr marL="0" indent="0" algn="l">
              <a:lnSpc>
                <a:spcPct val="100000"/>
              </a:lnSpc>
            </a:pPr>
            <a:r>
              <a:rPr lang="en-US" sz="5400" b="0" i="0" u="none" strike="noStrike">
                <a:solidFill>
                  <a:srgbClr val="00005C"/>
                </a:solidFill>
                <a:latin typeface="Biennale Bold"/>
                <a:ea typeface="Biennale Bold"/>
                <a:cs typeface="Biennale Bold"/>
                <a:sym typeface="Biennale Bold"/>
              </a:rPr>
              <a:t>Chapter title</a:t>
            </a:r>
            <a:br>
              <a:rPr lang="en-US" sz="5400" b="0" i="0" u="none" strike="noStrike">
                <a:solidFill>
                  <a:srgbClr val="00005C"/>
                </a:solidFill>
                <a:latin typeface="Biennale Bold"/>
                <a:ea typeface="Biennale Bold"/>
                <a:cs typeface="Biennale Bold"/>
                <a:sym typeface="Biennale Bold"/>
              </a:rPr>
            </a:br>
            <a:r>
              <a:rPr lang="en-US" sz="5400" b="0" i="0" u="none" strike="noStrike">
                <a:solidFill>
                  <a:srgbClr val="00005C"/>
                </a:solidFill>
                <a:latin typeface="Biennale Bold"/>
                <a:ea typeface="Biennale Bold"/>
                <a:cs typeface="Biennale Bold"/>
                <a:sym typeface="Biennale Bold"/>
              </a:rPr>
              <a:t>two lines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wo curve">
    <p:bg>
      <p:bgPr>
        <a:solidFill>
          <a:srgbClr val="00005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sp>
        <p:nvSpPr>
          <p:cNvPr id="4" name="AutoShape 4"/>
          <p:cNvSpPr>
            <a:spLocks noGrp="1"/>
          </p:cNvSpPr>
          <p:nvPr>
            <p:ph type="body" sz="quarter" idx="36" hasCustomPrompt="1"/>
          </p:nvPr>
        </p:nvSpPr>
        <p:spPr>
          <a:xfrm>
            <a:off x="428625" y="4765675"/>
            <a:ext cx="3992904" cy="969962"/>
          </a:xfrm>
          <a:prstGeom prst="rect">
            <a:avLst/>
          </a:prstGeom>
          <a:noFill/>
          <a:ln w="12700">
            <a:noFill/>
            <a:prstDash val="solid"/>
          </a:ln>
        </p:spPr>
        <p:txBody>
          <a:bodyPr wrap="none" lIns="0" tIns="0" rIns="0" bIns="0" anchor="t">
            <a:noAutofit/>
          </a:bodyPr>
          <a:lstStyle>
            <a:lvl1pPr algn="l">
              <a:lnSpc>
                <a:spcPct val="100000"/>
              </a:lnSpc>
              <a:defRPr sz="1800" b="0" i="0" u="none" strike="noStrike" spc="0">
                <a:solidFill>
                  <a:srgbClr val="FFFFFF">
                    <a:alpha val="100000"/>
                  </a:srgbClr>
                </a:solidFill>
                <a:latin typeface="Biennale"/>
              </a:defRPr>
            </a:lvl1pPr>
          </a:lstStyle>
          <a:p>
            <a:pPr marL="0" indent="0" algn="l">
              <a:lnSpc>
                <a:spcPct val="100000"/>
              </a:lnSpc>
            </a:pPr>
            <a:r>
              <a:rPr lang="en-US" sz="1800" b="0" i="0" u="none" strike="noStrike">
                <a:solidFill>
                  <a:srgbClr val="FFFFFF"/>
                </a:solidFill>
                <a:latin typeface="Biennale"/>
                <a:ea typeface="Biennale"/>
                <a:cs typeface="Biennale"/>
                <a:sym typeface="Biennale"/>
              </a:rPr>
              <a:t>Date</a:t>
            </a:r>
          </a:p>
        </p:txBody>
      </p:sp>
      <p:sp>
        <p:nvSpPr>
          <p:cNvPr id="5" name="Freeform 5"/>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6" name="AutoShape 6"/>
          <p:cNvSpPr>
            <a:spLocks noGrp="1"/>
          </p:cNvSpPr>
          <p:nvPr>
            <p:ph type="body" sz="quarter" idx="37" hasCustomPrompt="1"/>
          </p:nvPr>
        </p:nvSpPr>
        <p:spPr>
          <a:xfrm>
            <a:off x="428625" y="1456679"/>
            <a:ext cx="6766560" cy="1844936"/>
          </a:xfrm>
          <a:prstGeom prst="rect">
            <a:avLst/>
          </a:prstGeom>
          <a:noFill/>
          <a:ln w="12700">
            <a:noFill/>
            <a:prstDash val="solid"/>
          </a:ln>
        </p:spPr>
        <p:txBody>
          <a:bodyPr wrap="square" lIns="0" tIns="0" rIns="0" bIns="0" anchor="t">
            <a:noAutofit/>
          </a:bodyPr>
          <a:lstStyle>
            <a:lvl1pPr algn="l">
              <a:lnSpc>
                <a:spcPct val="100000"/>
              </a:lnSpc>
              <a:defRPr sz="4400" b="0" i="0" u="none" strike="noStrike" spc="0">
                <a:solidFill>
                  <a:srgbClr val="FFFFFF">
                    <a:alpha val="100000"/>
                  </a:srgbClr>
                </a:solidFill>
                <a:latin typeface="Biennale Bold"/>
              </a:defRPr>
            </a:lvl1pPr>
          </a:lstStyle>
          <a:p>
            <a:pPr marL="0" indent="0" algn="l">
              <a:lnSpc>
                <a:spcPct val="100000"/>
              </a:lnSpc>
              <a:spcAft>
                <a:spcPts val="300"/>
              </a:spcAft>
            </a:pPr>
            <a:r>
              <a:rPr lang="en-US" sz="4400" b="0" i="0" u="none" strike="noStrike">
                <a:solidFill>
                  <a:srgbClr val="FFFFFF"/>
                </a:solidFill>
                <a:latin typeface="Biennale Bold"/>
                <a:ea typeface="Biennale Bold"/>
                <a:cs typeface="Biennale Bold"/>
                <a:sym typeface="Biennale Bold"/>
              </a:rPr>
              <a:t>Presentation title</a:t>
            </a:r>
          </a:p>
        </p:txBody>
      </p:sp>
      <p:sp>
        <p:nvSpPr>
          <p:cNvPr id="7" name="AutoShape 7"/>
          <p:cNvSpPr>
            <a:spLocks noGrp="1"/>
          </p:cNvSpPr>
          <p:nvPr>
            <p:ph type="body" sz="quarter" idx="38" hasCustomPrompt="1"/>
          </p:nvPr>
        </p:nvSpPr>
        <p:spPr>
          <a:xfrm>
            <a:off x="428625" y="2084535"/>
            <a:ext cx="6766560" cy="1217080"/>
          </a:xfrm>
          <a:prstGeom prst="rect">
            <a:avLst/>
          </a:prstGeom>
          <a:noFill/>
          <a:ln w="12700">
            <a:noFill/>
            <a:prstDash val="solid"/>
          </a:ln>
        </p:spPr>
        <p:txBody>
          <a:bodyPr wrap="square" lIns="0" tIns="0" rIns="0" bIns="0" anchor="t">
            <a:noAutofit/>
          </a:bodyPr>
          <a:lstStyle>
            <a:lvl1pPr algn="l">
              <a:lnSpc>
                <a:spcPct val="100000"/>
              </a:lnSpc>
              <a:defRPr sz="3200" b="0" i="0" u="none" strike="noStrike" spc="0">
                <a:solidFill>
                  <a:srgbClr val="3DC7FF">
                    <a:alpha val="100000"/>
                  </a:srgbClr>
                </a:solidFill>
                <a:latin typeface="Biennale Bold"/>
              </a:defRPr>
            </a:lvl1pPr>
          </a:lstStyle>
          <a:p>
            <a:pPr marL="0" indent="0" algn="l">
              <a:lnSpc>
                <a:spcPct val="100000"/>
              </a:lnSpc>
              <a:spcAft>
                <a:spcPts val="600"/>
              </a:spcAft>
            </a:pPr>
            <a:r>
              <a:rPr lang="en-US" sz="3200" b="0" i="0" u="none" strike="noStrike">
                <a:solidFill>
                  <a:srgbClr val="3DC7FF"/>
                </a:solidFill>
                <a:latin typeface="Biennale Bold"/>
                <a:ea typeface="Biennale Bold"/>
                <a:cs typeface="Biennale Bold"/>
                <a:sym typeface="Biennale Bold"/>
              </a:rPr>
              <a:t>Subtitle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中文正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81005"/>
          </a:xfrm>
          <a:prstGeom prst="rect">
            <a:avLst/>
          </a:prstGeom>
          <a:ln w="12700">
            <a:noFill/>
            <a:prstDash val="solid"/>
          </a:ln>
        </p:spPr>
      </p:pic>
      <p:sp>
        <p:nvSpPr>
          <p:cNvPr id="3" name="AutoShape 3"/>
          <p:cNvSpPr/>
          <p:nvPr/>
        </p:nvSpPr>
        <p:spPr>
          <a:xfrm>
            <a:off x="-4" y="0"/>
            <a:ext cx="12192000" cy="6881005"/>
          </a:xfrm>
          <a:prstGeom prst="rect">
            <a:avLst/>
          </a:prstGeom>
          <a:gradFill rotWithShape="0">
            <a:gsLst>
              <a:gs pos="41999">
                <a:srgbClr val="FFFFFF">
                  <a:alpha val="100000"/>
                </a:srgbClr>
              </a:gs>
              <a:gs pos="100000">
                <a:srgbClr val="FFFFFF">
                  <a:alpha val="60000"/>
                </a:srgbClr>
              </a:gs>
            </a:gsLst>
            <a:lin ang="0"/>
          </a:gra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Biennale"/>
                <a:ea typeface="Biennale"/>
                <a:cs typeface="Biennale"/>
                <a:sym typeface="Biennale"/>
              </a:rPr>
              <a:t> </a:t>
            </a:r>
            <a:endParaRPr lang="en-US" sz="1100"/>
          </a:p>
        </p:txBody>
      </p:sp>
      <p:sp>
        <p:nvSpPr>
          <p:cNvPr id="4" name="Freeform 4"/>
          <p:cNvSpPr/>
          <p:nvPr/>
        </p:nvSpPr>
        <p:spPr>
          <a:xfrm>
            <a:off x="5" y="6503027"/>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Freeform 5"/>
          <p:cNvSpPr/>
          <p:nvPr/>
        </p:nvSpPr>
        <p:spPr>
          <a:xfrm>
            <a:off x="5" y="518500"/>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pic>
        <p:nvPicPr>
          <p:cNvPr id="6" name="Picture 6"/>
          <p:cNvPicPr>
            <a:picLocks noChangeAspect="1"/>
          </p:cNvPicPr>
          <p:nvPr/>
        </p:nvPicPr>
        <p:blipFill>
          <a:blip r:embed="rId3"/>
          <a:srcRect/>
          <a:stretch>
            <a:fillRect/>
          </a:stretch>
        </p:blipFill>
        <p:spPr>
          <a:xfrm>
            <a:off x="10970283" y="6294153"/>
            <a:ext cx="960924" cy="317975"/>
          </a:xfrm>
          <a:prstGeom prst="rect">
            <a:avLst/>
          </a:prstGeom>
          <a:ln w="12700">
            <a:noFill/>
            <a:prstDash val="solid"/>
          </a:ln>
        </p:spPr>
      </p:pic>
      <p:sp>
        <p:nvSpPr>
          <p:cNvPr id="7" name="AutoShape 7"/>
          <p:cNvSpPr>
            <a:spLocks noGrp="1"/>
          </p:cNvSpPr>
          <p:nvPr>
            <p:ph type="body" sz="quarter" idx="39" hasCustomPrompt="1"/>
          </p:nvPr>
        </p:nvSpPr>
        <p:spPr>
          <a:xfrm>
            <a:off x="398287" y="222339"/>
            <a:ext cx="11655040" cy="756000"/>
          </a:xfrm>
          <a:prstGeom prst="rect">
            <a:avLst/>
          </a:prstGeom>
          <a:noFill/>
          <a:ln w="12700">
            <a:noFill/>
            <a:prstDash val="solid"/>
          </a:ln>
        </p:spPr>
        <p:txBody>
          <a:bodyPr vert="horz" wrap="square" lIns="0" tIns="0" rIns="0" bIns="0" anchor="t">
            <a:noAutofit/>
          </a:bodyPr>
          <a:lstStyle>
            <a:lvl1pPr algn="l">
              <a:lnSpc>
                <a:spcPct val="100000"/>
              </a:lnSpc>
              <a:defRPr sz="2935" b="1" i="0" u="none" strike="noStrike" spc="0">
                <a:solidFill>
                  <a:srgbClr val="0073E6">
                    <a:alpha val="100000"/>
                  </a:srgbClr>
                </a:solidFill>
                <a:latin typeface="Biennale Bold"/>
              </a:defRPr>
            </a:lvl1pPr>
          </a:lstStyle>
          <a:p>
            <a:pPr marL="0" indent="0" algn="l">
              <a:lnSpc>
                <a:spcPct val="100000"/>
              </a:lnSpc>
            </a:pPr>
            <a:r>
              <a:rPr lang="en-US" sz="2935" b="0" i="0" u="none" strike="noStrike">
                <a:solidFill>
                  <a:srgbClr val="0073E6"/>
                </a:solidFill>
                <a:latin typeface="微软雅黑" panose="020B0503020204020204" charset="-122"/>
                <a:ea typeface="微软雅黑" panose="020B0503020204020204" charset="-122"/>
                <a:cs typeface="微软雅黑" panose="020B0503020204020204" charset="-122"/>
                <a:sym typeface="微软雅黑" panose="020B0503020204020204" charset="-122"/>
              </a:rPr>
              <a:t>Click to add title</a:t>
            </a:r>
          </a:p>
        </p:txBody>
      </p:sp>
      <p:pic>
        <p:nvPicPr>
          <p:cNvPr id="8" name="Picture 8"/>
          <p:cNvPicPr>
            <a:picLocks noChangeAspect="1"/>
          </p:cNvPicPr>
          <p:nvPr/>
        </p:nvPicPr>
        <p:blipFill>
          <a:blip r:embed="rId4"/>
          <a:srcRect/>
          <a:stretch>
            <a:fillRect/>
          </a:stretch>
        </p:blipFill>
        <p:spPr>
          <a:xfrm>
            <a:off x="1092988" y="6424099"/>
            <a:ext cx="2180299" cy="114767"/>
          </a:xfrm>
          <a:prstGeom prst="rect">
            <a:avLst/>
          </a:prstGeom>
          <a:ln w="12700">
            <a:noFill/>
            <a:prstDash val="solid"/>
          </a:ln>
        </p:spPr>
      </p:pic>
      <p:sp>
        <p:nvSpPr>
          <p:cNvPr id="9" name="AutoShape 9"/>
          <p:cNvSpPr/>
          <p:nvPr/>
        </p:nvSpPr>
        <p:spPr>
          <a:xfrm>
            <a:off x="-16213" y="6276266"/>
            <a:ext cx="825500" cy="339793"/>
          </a:xfrm>
          <a:prstGeom prst="rect">
            <a:avLst/>
          </a:prstGeom>
          <a:noFill/>
          <a:ln w="12700">
            <a:noFill/>
            <a:prstDash val="solid"/>
          </a:ln>
        </p:spPr>
        <p:txBody>
          <a:bodyPr wrap="square" lIns="133359" tIns="66685" rIns="133359" bIns="66685" rtlCol="0" anchor="ctr">
            <a:spAutoFit/>
          </a:bodyPr>
          <a:lstStyle/>
          <a:p>
            <a:pPr algn="r">
              <a:defRPr/>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Content Slide">
    <p:spTree>
      <p:nvGrpSpPr>
        <p:cNvPr id="1" name=""/>
        <p:cNvGrpSpPr/>
        <p:nvPr/>
      </p:nvGrpSpPr>
      <p:grpSpPr>
        <a:xfrm>
          <a:off x="0" y="0"/>
          <a:ext cx="0" cy="0"/>
          <a:chOff x="0" y="0"/>
          <a:chExt cx="0" cy="0"/>
        </a:xfrm>
      </p:grpSpPr>
      <p:sp>
        <p:nvSpPr>
          <p:cNvPr id="2" name="AutoShape 2"/>
          <p:cNvSpPr>
            <a:spLocks noGrp="1"/>
          </p:cNvSpPr>
          <p:nvPr>
            <p:ph type="body" sz="quarter" idx="40"/>
          </p:nvPr>
        </p:nvSpPr>
        <p:spPr>
          <a:xfrm>
            <a:off x="320400" y="6326136"/>
            <a:ext cx="591024" cy="288033"/>
          </a:xfrm>
          <a:prstGeom prst="rect">
            <a:avLst/>
          </a:prstGeom>
          <a:noFill/>
          <a:ln w="12700">
            <a:noFill/>
            <a:prstDash val="solid"/>
          </a:ln>
        </p:spPr>
        <p:txBody>
          <a:bodyPr vert="horz" wrap="none" lIns="91440" tIns="45720" rIns="91440" bIns="45720" anchor="ctr">
            <a:spAutoFit/>
          </a:bodyPr>
          <a:lstStyle>
            <a:lvl1pPr algn="l">
              <a:lnSpc>
                <a:spcPct val="100000"/>
              </a:lnSpc>
              <a:defRPr sz="1335" b="0" i="0" u="none" strike="noStrike" spc="0">
                <a:solidFill>
                  <a:srgbClr val="000000">
                    <a:alpha val="100000"/>
                  </a:srgbClr>
                </a:solidFill>
                <a:latin typeface="Verdana" panose="020B0604030504040204"/>
              </a:defRPr>
            </a:lvl1pPr>
          </a:lstStyle>
          <a:p>
            <a:pPr algn="l"/>
            <a:endParaRPr/>
          </a:p>
        </p:txBody>
      </p:sp>
      <p:sp>
        <p:nvSpPr>
          <p:cNvPr id="3" name="AutoShape 3"/>
          <p:cNvSpPr>
            <a:spLocks noGrp="1"/>
          </p:cNvSpPr>
          <p:nvPr>
            <p:ph type="body" sz="quarter" idx="41" hasCustomPrompt="1"/>
          </p:nvPr>
        </p:nvSpPr>
        <p:spPr>
          <a:xfrm>
            <a:off x="320400" y="164637"/>
            <a:ext cx="11632251" cy="960107"/>
          </a:xfrm>
          <a:prstGeom prst="rect">
            <a:avLst/>
          </a:prstGeom>
          <a:noFill/>
          <a:ln w="12700">
            <a:noFill/>
            <a:prstDash val="solid"/>
          </a:ln>
        </p:spPr>
        <p:txBody>
          <a:bodyPr wrap="square" lIns="0" tIns="0" rIns="0" bIns="0" anchor="t">
            <a:noAutofit/>
          </a:bodyPr>
          <a:lstStyle>
            <a:lvl1pPr algn="l">
              <a:lnSpc>
                <a:spcPct val="100000"/>
              </a:lnSpc>
              <a:defRPr sz="2400" b="0" i="0" u="none" strike="noStrike" spc="0">
                <a:solidFill>
                  <a:srgbClr val="0066A1">
                    <a:alpha val="100000"/>
                  </a:srgbClr>
                </a:solidFill>
                <a:latin typeface="Biennale Bold"/>
              </a:defRPr>
            </a:lvl1pPr>
          </a:lstStyle>
          <a:p>
            <a:pPr marL="0" indent="0" algn="l">
              <a:lnSpc>
                <a:spcPct val="100000"/>
              </a:lnSpc>
            </a:pPr>
            <a:r>
              <a:rPr lang="en-US" sz="2400" b="0" i="0" u="none" strike="noStrike">
                <a:solidFill>
                  <a:srgbClr val="0066A1"/>
                </a:solidFill>
                <a:latin typeface="Biennale Bold"/>
                <a:ea typeface="Biennale Bold"/>
                <a:cs typeface="Biennale Bold"/>
                <a:sym typeface="Biennale Bold"/>
              </a:rPr>
              <a:t>Click to edit the header</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3_One column - chart left">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a:spLocks noGrp="1"/>
          </p:cNvSpPr>
          <p:nvPr>
            <p:ph type="body" sz="quarter" idx="42" hasCustomPrompt="1"/>
          </p:nvPr>
        </p:nvSpPr>
        <p:spPr>
          <a:xfrm>
            <a:off x="316799" y="471915"/>
            <a:ext cx="11484000" cy="343237"/>
          </a:xfrm>
          <a:prstGeom prst="rect">
            <a:avLst/>
          </a:prstGeom>
          <a:noFill/>
          <a:ln w="12700">
            <a:noFill/>
            <a:prstDash val="solid"/>
          </a:ln>
        </p:spPr>
        <p:txBody>
          <a:bodyPr vert="horz" wrap="square" lIns="0" tIns="0" rIns="0" bIns="0" anchor="t">
            <a:spAutoFit/>
          </a:bodyPr>
          <a:lstStyle>
            <a:lvl1pPr algn="l">
              <a:lnSpc>
                <a:spcPct val="100000"/>
              </a:lnSpc>
              <a:defRPr sz="2200" b="1" i="0" u="none" strike="noStrike" spc="0">
                <a:solidFill>
                  <a:srgbClr val="0073E6">
                    <a:alpha val="100000"/>
                  </a:srgbClr>
                </a:solidFill>
                <a:latin typeface="Biennale Bold"/>
              </a:defRPr>
            </a:lvl1pPr>
          </a:lstStyle>
          <a:p>
            <a:pPr marL="0" indent="0" algn="l">
              <a:lnSpc>
                <a:spcPct val="100000"/>
              </a:lnSpc>
            </a:pPr>
            <a:r>
              <a:rPr lang="en-US" sz="2200" b="0" i="0" u="none" strike="noStrike">
                <a:solidFill>
                  <a:srgbClr val="000000"/>
                </a:solidFill>
                <a:latin typeface="Montserrat Bold"/>
                <a:ea typeface="Montserrat Bold"/>
                <a:cs typeface="Montserrat Bold"/>
                <a:sym typeface="Montserrat Bold"/>
              </a:rPr>
              <a:t>Click to add title</a:t>
            </a:r>
          </a:p>
        </p:txBody>
      </p:sp>
      <p:sp>
        <p:nvSpPr>
          <p:cNvPr id="4" name="AutoShape 4"/>
          <p:cNvSpPr>
            <a:spLocks noGrp="1"/>
          </p:cNvSpPr>
          <p:nvPr>
            <p:ph type="body" sz="quarter" idx="43" hasCustomPrompt="1"/>
          </p:nvPr>
        </p:nvSpPr>
        <p:spPr>
          <a:xfrm>
            <a:off x="316799" y="830931"/>
            <a:ext cx="11484000" cy="338554"/>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panose="020B0200000000000000" charset="-122"/>
              </a:defRPr>
            </a:lvl1pPr>
          </a:lstStyle>
          <a:p>
            <a:pPr marL="0" indent="0" algn="l">
              <a:lnSpc>
                <a:spcPct val="100000"/>
              </a:lnSpc>
              <a:spcAft>
                <a:spcPts val="600"/>
              </a:spcAft>
            </a:pPr>
            <a:r>
              <a:rPr lang="en-US" sz="1600" b="0" i="0" u="none" strike="noStrike">
                <a:solidFill>
                  <a:srgbClr val="000000"/>
                </a:solidFill>
                <a:latin typeface="Montserrat SemiBold"/>
                <a:ea typeface="Montserrat SemiBold"/>
                <a:cs typeface="Montserrat SemiBold"/>
                <a:sym typeface="Montserrat SemiBold"/>
              </a:rPr>
              <a:t>Click to add text</a:t>
            </a: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338" y="6261619"/>
            <a:ext cx="1111378" cy="198900"/>
          </a:xfrm>
          <a:prstGeom prst="rect">
            <a:avLst/>
          </a:prstGeom>
        </p:spPr>
      </p:pic>
      <p:sp>
        <p:nvSpPr>
          <p:cNvPr id="6" name="AutoShape 6"/>
          <p:cNvSpPr/>
          <p:nvPr/>
        </p:nvSpPr>
        <p:spPr>
          <a:xfrm>
            <a:off x="11429230" y="6298599"/>
            <a:ext cx="458064" cy="216025"/>
          </a:xfrm>
          <a:prstGeom prst="rect">
            <a:avLst/>
          </a:prstGeom>
          <a:noFill/>
          <a:ln w="12700">
            <a:noFill/>
            <a:prstDash val="solid"/>
          </a:ln>
        </p:spPr>
        <p:txBody>
          <a:bodyPr vert="horz" wrap="square" lIns="91440" tIns="45720" rIns="91440" bIns="45720" rtlCol="0" anchor="ctr">
            <a:noAutofit/>
          </a:bodyPr>
          <a:lstStyle/>
          <a:p>
            <a:pPr algn="r">
              <a:defRPr/>
            </a:pPr>
            <a:endParaRPr/>
          </a:p>
        </p:txBody>
      </p:sp>
      <p:sp>
        <p:nvSpPr>
          <p:cNvPr id="7" name="AutoShape 7"/>
          <p:cNvSpPr/>
          <p:nvPr/>
        </p:nvSpPr>
        <p:spPr>
          <a:xfrm>
            <a:off x="5793038" y="6384973"/>
            <a:ext cx="605935" cy="100027"/>
          </a:xfrm>
          <a:prstGeom prst="rect">
            <a:avLst/>
          </a:prstGeom>
          <a:noFill/>
          <a:ln w="12700">
            <a:noFill/>
            <a:prstDash val="solid"/>
          </a:ln>
        </p:spPr>
        <p:txBody>
          <a:bodyPr wrap="none" lIns="0" tIns="0" rIns="0" bIns="0" rtlCol="0" anchor="ctr">
            <a:spAutoFit/>
          </a:bodyPr>
          <a:lstStyle/>
          <a:p>
            <a:pPr marL="0" indent="0" algn="ctr">
              <a:lnSpc>
                <a:spcPct val="100000"/>
              </a:lnSpc>
              <a:defRPr/>
            </a:pPr>
            <a:r>
              <a:rPr lang="en-US" sz="650" b="0" i="0" u="none" strike="noStrike">
                <a:solidFill>
                  <a:srgbClr val="808080"/>
                </a:solidFill>
                <a:latin typeface="Biennale"/>
                <a:ea typeface="Biennale"/>
                <a:cs typeface="Biennale"/>
                <a:sym typeface="Biennale"/>
              </a:rPr>
              <a:t>© EVIDEN SAS</a:t>
            </a:r>
            <a:endParaRPr lang="en-US" sz="110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Only">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and Text">
    <p:spTree>
      <p:nvGrpSpPr>
        <p:cNvPr id="1" name=""/>
        <p:cNvGrpSpPr/>
        <p:nvPr/>
      </p:nvGrpSpPr>
      <p:grpSpPr>
        <a:xfrm>
          <a:off x="0" y="0"/>
          <a:ext cx="0" cy="0"/>
          <a:chOff x="0" y="0"/>
          <a:chExt cx="0" cy="0"/>
        </a:xfrm>
      </p:grpSpPr>
      <p:sp>
        <p:nvSpPr>
          <p:cNvPr id="2" name="AutoShape 2"/>
          <p:cNvSpPr>
            <a:spLocks noGrp="1"/>
          </p:cNvSpPr>
          <p:nvPr>
            <p:ph type="body" sz="quarter" idx="44" hasCustomPrompt="1"/>
          </p:nvPr>
        </p:nvSpPr>
        <p:spPr>
          <a:xfrm>
            <a:off x="501520" y="1557338"/>
            <a:ext cx="11183565" cy="4787900"/>
          </a:xfrm>
          <a:prstGeom prst="rect">
            <a:avLst/>
          </a:prstGeom>
          <a:noFill/>
          <a:ln w="12700">
            <a:noFill/>
            <a:prstDash val="solid"/>
          </a:ln>
        </p:spPr>
        <p:txBody>
          <a:bodyPr wrap="square" lIns="0" tIns="0" rIns="0" bIns="0" anchor="t">
            <a:noAutofit/>
          </a:bodyPr>
          <a:lstStyle>
            <a:lvl1pPr marL="431800" indent="-203200" algn="l">
              <a:lnSpc>
                <a:spcPct val="100000"/>
              </a:lnSpc>
              <a:defRPr sz="1600" b="0" i="0" u="none" strike="noStrike" spc="0">
                <a:solidFill>
                  <a:srgbClr val="00005C">
                    <a:alpha val="100000"/>
                  </a:srgbClr>
                </a:solidFill>
                <a:latin typeface="Biennale"/>
              </a:defRPr>
            </a:lvl1pPr>
            <a:lvl2pPr marL="660400" indent="-203200"/>
            <a:lvl3pPr marL="889000" indent="-203200"/>
            <a:lvl4pPr marL="1117600" indent="-203200"/>
            <a:lvl5pPr marL="914400" indent="0"/>
            <a:lvl6pPr marL="711200" indent="0"/>
            <a:lvl7pPr marL="508000" indent="0"/>
            <a:lvl8pPr marL="304800" indent="0"/>
            <a:lvl9pPr marL="101600" indent="0"/>
          </a:lstStyle>
          <a:p>
            <a:pPr marL="228600"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Start typing to add text without a bullet point. To add a bullet point, place the cursor at the start of this line and press tab.</a:t>
            </a:r>
          </a:p>
          <a:p>
            <a:pPr marL="457200" lvl="1"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Second level</a:t>
            </a:r>
          </a:p>
          <a:p>
            <a:pPr marL="685800" lvl="2"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Third level</a:t>
            </a:r>
          </a:p>
          <a:p>
            <a:pPr marL="914400" lvl="3"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Fourth level</a:t>
            </a:r>
          </a:p>
          <a:p>
            <a:pPr marL="914400" lvl="4" indent="0" algn="l">
              <a:lnSpc>
                <a:spcPct val="100000"/>
              </a:lnSpc>
              <a:spcAft>
                <a:spcPts val="600"/>
              </a:spcAft>
            </a:pPr>
            <a:r>
              <a:rPr lang="en-US" sz="1600" b="0" i="0" u="none" strike="noStrike">
                <a:solidFill>
                  <a:srgbClr val="00005C"/>
                </a:solidFill>
                <a:latin typeface="Biennale"/>
                <a:ea typeface="Biennale"/>
                <a:cs typeface="Biennale"/>
                <a:sym typeface="Biennale"/>
              </a:rPr>
              <a:t>Fifth level</a:t>
            </a:r>
          </a:p>
        </p:txBody>
      </p:sp>
      <p:sp>
        <p:nvSpPr>
          <p:cNvPr id="3" name="AutoShape 3"/>
          <p:cNvSpPr>
            <a:spLocks noGrp="1"/>
          </p:cNvSpPr>
          <p:nvPr>
            <p:ph type="body" sz="quarter" idx="45" hasCustomPrompt="1"/>
          </p:nvPr>
        </p:nvSpPr>
        <p:spPr>
          <a:xfrm>
            <a:off x="503870" y="504000"/>
            <a:ext cx="11183564" cy="369332"/>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Insert page title (sentence case)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Divider Page">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46" hasCustomPrompt="1"/>
          </p:nvPr>
        </p:nvSpPr>
        <p:spPr>
          <a:xfrm>
            <a:off x="503869" y="3090446"/>
            <a:ext cx="11182288" cy="677108"/>
          </a:xfrm>
          <a:prstGeom prst="rect">
            <a:avLst/>
          </a:prstGeom>
          <a:noFill/>
          <a:ln w="12700">
            <a:noFill/>
            <a:prstDash val="solid"/>
          </a:ln>
        </p:spPr>
        <p:txBody>
          <a:bodyPr wrap="square" lIns="0" tIns="0" rIns="0" bIns="0" anchor="ctr">
            <a:noAutofit/>
          </a:bodyPr>
          <a:lstStyle>
            <a:lvl1pPr algn="l">
              <a:lnSpc>
                <a:spcPct val="100000"/>
              </a:lnSpc>
              <a:defRPr sz="4400" b="0" i="0" u="none" strike="noStrike" spc="0">
                <a:solidFill>
                  <a:srgbClr val="000000">
                    <a:alpha val="100000"/>
                  </a:srgbClr>
                </a:solidFill>
                <a:latin typeface="Biennale Bold"/>
              </a:defRPr>
            </a:lvl1pPr>
          </a:lstStyle>
          <a:p>
            <a:pPr marL="0" indent="0" algn="l">
              <a:lnSpc>
                <a:spcPct val="100000"/>
              </a:lnSpc>
            </a:pPr>
            <a:r>
              <a:rPr lang="en-US" sz="4400" b="0" i="0" u="none" strike="noStrike">
                <a:solidFill>
                  <a:srgbClr val="000000"/>
                </a:solidFill>
                <a:latin typeface="Biennale Bold"/>
                <a:ea typeface="Biennale Bold"/>
                <a:cs typeface="Biennale Bold"/>
                <a:sym typeface="Biennale Bold"/>
              </a:rPr>
              <a:t>Divider page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Custom Layout">
    <p:spTree>
      <p:nvGrpSpPr>
        <p:cNvPr id="1" name=""/>
        <p:cNvGrpSpPr/>
        <p:nvPr/>
      </p:nvGrpSpPr>
      <p:grpSpPr>
        <a:xfrm>
          <a:off x="0" y="0"/>
          <a:ext cx="0" cy="0"/>
          <a:chOff x="0" y="0"/>
          <a:chExt cx="0" cy="0"/>
        </a:xfrm>
      </p:grpSpPr>
      <p:sp>
        <p:nvSpPr>
          <p:cNvPr id="2" name="AutoShape 2"/>
          <p:cNvSpPr>
            <a:spLocks noGrp="1"/>
          </p:cNvSpPr>
          <p:nvPr>
            <p:ph type="pic" sz="quarter" idx="47"/>
          </p:nvPr>
        </p:nvSpPr>
        <p:spPr>
          <a:xfrm>
            <a:off x="40341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pic" sz="quarter" idx="48"/>
          </p:nvPr>
        </p:nvSpPr>
        <p:spPr>
          <a:xfrm>
            <a:off x="403411" y="1439904"/>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 name="AutoShape 4"/>
          <p:cNvSpPr>
            <a:spLocks noGrp="1"/>
          </p:cNvSpPr>
          <p:nvPr>
            <p:ph type="pic" sz="quarter" idx="49"/>
          </p:nvPr>
        </p:nvSpPr>
        <p:spPr>
          <a:xfrm>
            <a:off x="40341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 name="AutoShape 5"/>
          <p:cNvSpPr>
            <a:spLocks noGrp="1"/>
          </p:cNvSpPr>
          <p:nvPr>
            <p:ph type="pic" sz="quarter" idx="50"/>
          </p:nvPr>
        </p:nvSpPr>
        <p:spPr>
          <a:xfrm>
            <a:off x="40341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6" name="AutoShape 6"/>
          <p:cNvSpPr>
            <a:spLocks noGrp="1"/>
          </p:cNvSpPr>
          <p:nvPr>
            <p:ph type="pic" sz="quarter" idx="51"/>
          </p:nvPr>
        </p:nvSpPr>
        <p:spPr>
          <a:xfrm>
            <a:off x="403411" y="5651686"/>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7" name="AutoShape 7"/>
          <p:cNvSpPr>
            <a:spLocks noGrp="1"/>
          </p:cNvSpPr>
          <p:nvPr>
            <p:ph type="pic" sz="quarter" idx="52"/>
          </p:nvPr>
        </p:nvSpPr>
        <p:spPr>
          <a:xfrm>
            <a:off x="40341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8" name="AutoShape 8"/>
          <p:cNvSpPr>
            <a:spLocks noGrp="1"/>
          </p:cNvSpPr>
          <p:nvPr>
            <p:ph type="pic" sz="quarter" idx="53"/>
          </p:nvPr>
        </p:nvSpPr>
        <p:spPr>
          <a:xfrm>
            <a:off x="170539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9" name="AutoShape 9"/>
          <p:cNvSpPr>
            <a:spLocks noGrp="1"/>
          </p:cNvSpPr>
          <p:nvPr>
            <p:ph type="pic" sz="quarter" idx="54"/>
          </p:nvPr>
        </p:nvSpPr>
        <p:spPr>
          <a:xfrm>
            <a:off x="300738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0" name="AutoShape 10"/>
          <p:cNvSpPr>
            <a:spLocks noGrp="1"/>
          </p:cNvSpPr>
          <p:nvPr>
            <p:ph type="pic" sz="quarter" idx="55"/>
          </p:nvPr>
        </p:nvSpPr>
        <p:spPr>
          <a:xfrm>
            <a:off x="4309375"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1" name="AutoShape 11"/>
          <p:cNvSpPr>
            <a:spLocks noGrp="1"/>
          </p:cNvSpPr>
          <p:nvPr>
            <p:ph type="pic" sz="quarter" idx="56"/>
          </p:nvPr>
        </p:nvSpPr>
        <p:spPr>
          <a:xfrm>
            <a:off x="5611363"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2" name="AutoShape 12"/>
          <p:cNvSpPr>
            <a:spLocks noGrp="1"/>
          </p:cNvSpPr>
          <p:nvPr>
            <p:ph type="pic" sz="quarter" idx="57"/>
          </p:nvPr>
        </p:nvSpPr>
        <p:spPr>
          <a:xfrm>
            <a:off x="691335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3" name="AutoShape 13"/>
          <p:cNvSpPr>
            <a:spLocks noGrp="1"/>
          </p:cNvSpPr>
          <p:nvPr>
            <p:ph type="pic" sz="quarter" idx="58"/>
          </p:nvPr>
        </p:nvSpPr>
        <p:spPr>
          <a:xfrm>
            <a:off x="821533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4" name="AutoShape 14"/>
          <p:cNvSpPr>
            <a:spLocks noGrp="1"/>
          </p:cNvSpPr>
          <p:nvPr>
            <p:ph type="pic" sz="quarter" idx="59"/>
          </p:nvPr>
        </p:nvSpPr>
        <p:spPr>
          <a:xfrm>
            <a:off x="951732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5" name="AutoShape 15"/>
          <p:cNvSpPr>
            <a:spLocks noGrp="1"/>
          </p:cNvSpPr>
          <p:nvPr>
            <p:ph type="pic" sz="quarter" idx="60"/>
          </p:nvPr>
        </p:nvSpPr>
        <p:spPr>
          <a:xfrm>
            <a:off x="10819317" y="39039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6" name="AutoShape 16"/>
          <p:cNvSpPr>
            <a:spLocks noGrp="1"/>
          </p:cNvSpPr>
          <p:nvPr>
            <p:ph type="pic" sz="quarter" idx="61"/>
          </p:nvPr>
        </p:nvSpPr>
        <p:spPr>
          <a:xfrm>
            <a:off x="170539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7" name="AutoShape 17"/>
          <p:cNvSpPr>
            <a:spLocks noGrp="1"/>
          </p:cNvSpPr>
          <p:nvPr>
            <p:ph type="pic" sz="quarter" idx="62"/>
          </p:nvPr>
        </p:nvSpPr>
        <p:spPr>
          <a:xfrm>
            <a:off x="300738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8" name="AutoShape 18"/>
          <p:cNvSpPr>
            <a:spLocks noGrp="1"/>
          </p:cNvSpPr>
          <p:nvPr>
            <p:ph type="pic" sz="quarter" idx="63"/>
          </p:nvPr>
        </p:nvSpPr>
        <p:spPr>
          <a:xfrm>
            <a:off x="4309375"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9" name="AutoShape 19"/>
          <p:cNvSpPr>
            <a:spLocks noGrp="1"/>
          </p:cNvSpPr>
          <p:nvPr>
            <p:ph type="pic" sz="quarter" idx="64"/>
          </p:nvPr>
        </p:nvSpPr>
        <p:spPr>
          <a:xfrm>
            <a:off x="5611363"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0" name="AutoShape 20"/>
          <p:cNvSpPr>
            <a:spLocks noGrp="1"/>
          </p:cNvSpPr>
          <p:nvPr>
            <p:ph type="pic" sz="quarter" idx="65"/>
          </p:nvPr>
        </p:nvSpPr>
        <p:spPr>
          <a:xfrm>
            <a:off x="6913351"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1" name="AutoShape 21"/>
          <p:cNvSpPr>
            <a:spLocks noGrp="1"/>
          </p:cNvSpPr>
          <p:nvPr>
            <p:ph type="pic" sz="quarter" idx="66"/>
          </p:nvPr>
        </p:nvSpPr>
        <p:spPr>
          <a:xfrm>
            <a:off x="821533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2" name="AutoShape 22"/>
          <p:cNvSpPr>
            <a:spLocks noGrp="1"/>
          </p:cNvSpPr>
          <p:nvPr>
            <p:ph type="pic" sz="quarter" idx="67"/>
          </p:nvPr>
        </p:nvSpPr>
        <p:spPr>
          <a:xfrm>
            <a:off x="951732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3" name="AutoShape 23"/>
          <p:cNvSpPr>
            <a:spLocks noGrp="1"/>
          </p:cNvSpPr>
          <p:nvPr>
            <p:ph type="pic" sz="quarter" idx="68"/>
          </p:nvPr>
        </p:nvSpPr>
        <p:spPr>
          <a:xfrm>
            <a:off x="10819317" y="1439904"/>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4" name="AutoShape 24"/>
          <p:cNvSpPr>
            <a:spLocks noGrp="1"/>
          </p:cNvSpPr>
          <p:nvPr>
            <p:ph type="pic" sz="quarter" idx="69"/>
          </p:nvPr>
        </p:nvSpPr>
        <p:spPr>
          <a:xfrm>
            <a:off x="170539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5" name="AutoShape 25"/>
          <p:cNvSpPr>
            <a:spLocks noGrp="1"/>
          </p:cNvSpPr>
          <p:nvPr>
            <p:ph type="pic" sz="quarter" idx="70"/>
          </p:nvPr>
        </p:nvSpPr>
        <p:spPr>
          <a:xfrm>
            <a:off x="300738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6" name="AutoShape 26"/>
          <p:cNvSpPr>
            <a:spLocks noGrp="1"/>
          </p:cNvSpPr>
          <p:nvPr>
            <p:ph type="pic" sz="quarter" idx="71"/>
          </p:nvPr>
        </p:nvSpPr>
        <p:spPr>
          <a:xfrm>
            <a:off x="4309375"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7" name="AutoShape 27"/>
          <p:cNvSpPr>
            <a:spLocks noGrp="1"/>
          </p:cNvSpPr>
          <p:nvPr>
            <p:ph type="pic" sz="quarter" idx="72"/>
          </p:nvPr>
        </p:nvSpPr>
        <p:spPr>
          <a:xfrm>
            <a:off x="5611363"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8" name="AutoShape 28"/>
          <p:cNvSpPr>
            <a:spLocks noGrp="1"/>
          </p:cNvSpPr>
          <p:nvPr>
            <p:ph type="pic" sz="quarter" idx="73"/>
          </p:nvPr>
        </p:nvSpPr>
        <p:spPr>
          <a:xfrm>
            <a:off x="691335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9" name="AutoShape 29"/>
          <p:cNvSpPr>
            <a:spLocks noGrp="1"/>
          </p:cNvSpPr>
          <p:nvPr>
            <p:ph type="pic" sz="quarter" idx="74"/>
          </p:nvPr>
        </p:nvSpPr>
        <p:spPr>
          <a:xfrm>
            <a:off x="821533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0" name="AutoShape 30"/>
          <p:cNvSpPr>
            <a:spLocks noGrp="1"/>
          </p:cNvSpPr>
          <p:nvPr>
            <p:ph type="pic" sz="quarter" idx="75"/>
          </p:nvPr>
        </p:nvSpPr>
        <p:spPr>
          <a:xfrm>
            <a:off x="951732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1" name="AutoShape 31"/>
          <p:cNvSpPr>
            <a:spLocks noGrp="1"/>
          </p:cNvSpPr>
          <p:nvPr>
            <p:ph type="pic" sz="quarter" idx="76"/>
          </p:nvPr>
        </p:nvSpPr>
        <p:spPr>
          <a:xfrm>
            <a:off x="10819317" y="249628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2" name="AutoShape 32"/>
          <p:cNvSpPr>
            <a:spLocks noGrp="1"/>
          </p:cNvSpPr>
          <p:nvPr>
            <p:ph type="pic" sz="quarter" idx="77"/>
          </p:nvPr>
        </p:nvSpPr>
        <p:spPr>
          <a:xfrm>
            <a:off x="170539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3" name="AutoShape 33"/>
          <p:cNvSpPr>
            <a:spLocks noGrp="1"/>
          </p:cNvSpPr>
          <p:nvPr>
            <p:ph type="pic" sz="quarter" idx="78"/>
          </p:nvPr>
        </p:nvSpPr>
        <p:spPr>
          <a:xfrm>
            <a:off x="300738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4" name="AutoShape 34"/>
          <p:cNvSpPr>
            <a:spLocks noGrp="1"/>
          </p:cNvSpPr>
          <p:nvPr>
            <p:ph type="pic" sz="quarter" idx="79"/>
          </p:nvPr>
        </p:nvSpPr>
        <p:spPr>
          <a:xfrm>
            <a:off x="4309375"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5" name="AutoShape 35"/>
          <p:cNvSpPr>
            <a:spLocks noGrp="1"/>
          </p:cNvSpPr>
          <p:nvPr>
            <p:ph type="pic" sz="quarter" idx="80"/>
          </p:nvPr>
        </p:nvSpPr>
        <p:spPr>
          <a:xfrm>
            <a:off x="5611363"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6" name="AutoShape 36"/>
          <p:cNvSpPr>
            <a:spLocks noGrp="1"/>
          </p:cNvSpPr>
          <p:nvPr>
            <p:ph type="pic" sz="quarter" idx="81"/>
          </p:nvPr>
        </p:nvSpPr>
        <p:spPr>
          <a:xfrm>
            <a:off x="691335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7" name="AutoShape 37"/>
          <p:cNvSpPr>
            <a:spLocks noGrp="1"/>
          </p:cNvSpPr>
          <p:nvPr>
            <p:ph type="pic" sz="quarter" idx="82"/>
          </p:nvPr>
        </p:nvSpPr>
        <p:spPr>
          <a:xfrm>
            <a:off x="821533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8" name="AutoShape 38"/>
          <p:cNvSpPr>
            <a:spLocks noGrp="1"/>
          </p:cNvSpPr>
          <p:nvPr>
            <p:ph type="pic" sz="quarter" idx="83"/>
          </p:nvPr>
        </p:nvSpPr>
        <p:spPr>
          <a:xfrm>
            <a:off x="951732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9" name="AutoShape 39"/>
          <p:cNvSpPr>
            <a:spLocks noGrp="1"/>
          </p:cNvSpPr>
          <p:nvPr>
            <p:ph type="pic" sz="quarter" idx="84"/>
          </p:nvPr>
        </p:nvSpPr>
        <p:spPr>
          <a:xfrm>
            <a:off x="10819317" y="3542360"/>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0" name="AutoShape 40"/>
          <p:cNvSpPr>
            <a:spLocks noGrp="1"/>
          </p:cNvSpPr>
          <p:nvPr>
            <p:ph type="pic" sz="quarter" idx="85"/>
          </p:nvPr>
        </p:nvSpPr>
        <p:spPr>
          <a:xfrm>
            <a:off x="170539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1" name="AutoShape 41"/>
          <p:cNvSpPr>
            <a:spLocks noGrp="1"/>
          </p:cNvSpPr>
          <p:nvPr>
            <p:ph type="pic" sz="quarter" idx="86"/>
          </p:nvPr>
        </p:nvSpPr>
        <p:spPr>
          <a:xfrm>
            <a:off x="300738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2" name="AutoShape 42"/>
          <p:cNvSpPr>
            <a:spLocks noGrp="1"/>
          </p:cNvSpPr>
          <p:nvPr>
            <p:ph type="pic" sz="quarter" idx="87"/>
          </p:nvPr>
        </p:nvSpPr>
        <p:spPr>
          <a:xfrm>
            <a:off x="4309375"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3" name="AutoShape 43"/>
          <p:cNvSpPr>
            <a:spLocks noGrp="1"/>
          </p:cNvSpPr>
          <p:nvPr>
            <p:ph type="pic" sz="quarter" idx="88"/>
          </p:nvPr>
        </p:nvSpPr>
        <p:spPr>
          <a:xfrm>
            <a:off x="5611363"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4" name="AutoShape 44"/>
          <p:cNvSpPr>
            <a:spLocks noGrp="1"/>
          </p:cNvSpPr>
          <p:nvPr>
            <p:ph type="pic" sz="quarter" idx="89"/>
          </p:nvPr>
        </p:nvSpPr>
        <p:spPr>
          <a:xfrm>
            <a:off x="691335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5" name="AutoShape 45"/>
          <p:cNvSpPr>
            <a:spLocks noGrp="1"/>
          </p:cNvSpPr>
          <p:nvPr>
            <p:ph type="pic" sz="quarter" idx="90"/>
          </p:nvPr>
        </p:nvSpPr>
        <p:spPr>
          <a:xfrm>
            <a:off x="821533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6" name="AutoShape 46"/>
          <p:cNvSpPr>
            <a:spLocks noGrp="1"/>
          </p:cNvSpPr>
          <p:nvPr>
            <p:ph type="pic" sz="quarter" idx="91"/>
          </p:nvPr>
        </p:nvSpPr>
        <p:spPr>
          <a:xfrm>
            <a:off x="951732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7" name="AutoShape 47"/>
          <p:cNvSpPr>
            <a:spLocks noGrp="1"/>
          </p:cNvSpPr>
          <p:nvPr>
            <p:ph type="pic" sz="quarter" idx="92"/>
          </p:nvPr>
        </p:nvSpPr>
        <p:spPr>
          <a:xfrm>
            <a:off x="10819317" y="460217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8" name="AutoShape 48"/>
          <p:cNvSpPr>
            <a:spLocks noGrp="1"/>
          </p:cNvSpPr>
          <p:nvPr>
            <p:ph type="pic" sz="quarter" idx="93"/>
          </p:nvPr>
        </p:nvSpPr>
        <p:spPr>
          <a:xfrm>
            <a:off x="170539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9" name="AutoShape 49"/>
          <p:cNvSpPr>
            <a:spLocks noGrp="1"/>
          </p:cNvSpPr>
          <p:nvPr>
            <p:ph type="pic" sz="quarter" idx="94"/>
          </p:nvPr>
        </p:nvSpPr>
        <p:spPr>
          <a:xfrm>
            <a:off x="300738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0" name="AutoShape 50"/>
          <p:cNvSpPr>
            <a:spLocks noGrp="1"/>
          </p:cNvSpPr>
          <p:nvPr>
            <p:ph type="pic" sz="quarter" idx="95"/>
          </p:nvPr>
        </p:nvSpPr>
        <p:spPr>
          <a:xfrm>
            <a:off x="4309375"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1" name="AutoShape 51"/>
          <p:cNvSpPr>
            <a:spLocks noGrp="1"/>
          </p:cNvSpPr>
          <p:nvPr>
            <p:ph type="pic" sz="quarter" idx="96"/>
          </p:nvPr>
        </p:nvSpPr>
        <p:spPr>
          <a:xfrm>
            <a:off x="5611363"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2" name="AutoShape 52"/>
          <p:cNvSpPr>
            <a:spLocks noGrp="1"/>
          </p:cNvSpPr>
          <p:nvPr>
            <p:ph type="pic" sz="quarter" idx="97"/>
          </p:nvPr>
        </p:nvSpPr>
        <p:spPr>
          <a:xfrm>
            <a:off x="6913351"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3" name="AutoShape 53"/>
          <p:cNvSpPr>
            <a:spLocks noGrp="1"/>
          </p:cNvSpPr>
          <p:nvPr>
            <p:ph type="pic" sz="quarter" idx="98"/>
          </p:nvPr>
        </p:nvSpPr>
        <p:spPr>
          <a:xfrm>
            <a:off x="821533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4" name="AutoShape 54"/>
          <p:cNvSpPr>
            <a:spLocks noGrp="1"/>
          </p:cNvSpPr>
          <p:nvPr>
            <p:ph type="pic" sz="quarter" idx="99"/>
          </p:nvPr>
        </p:nvSpPr>
        <p:spPr>
          <a:xfrm>
            <a:off x="951732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5" name="AutoShape 55"/>
          <p:cNvSpPr>
            <a:spLocks noGrp="1"/>
          </p:cNvSpPr>
          <p:nvPr>
            <p:ph type="pic" sz="quarter" idx="100"/>
          </p:nvPr>
        </p:nvSpPr>
        <p:spPr>
          <a:xfrm>
            <a:off x="10819317" y="5651686"/>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AutoShape 2"/>
          <p:cNvSpPr>
            <a:spLocks noGrp="1"/>
          </p:cNvSpPr>
          <p:nvPr>
            <p:ph type="body" sz="quarter" idx="104" hasCustomPrompt="1"/>
          </p:nvPr>
        </p:nvSpPr>
        <p:spPr>
          <a:xfrm>
            <a:off x="423068" y="2415203"/>
            <a:ext cx="5486400" cy="1828800"/>
          </a:xfrm>
          <a:prstGeom prst="rect">
            <a:avLst/>
          </a:prstGeom>
          <a:noFill/>
          <a:ln w="12700">
            <a:noFill/>
            <a:prstDash val="solid"/>
          </a:ln>
        </p:spPr>
        <p:txBody>
          <a:bodyPr wrap="square" lIns="0" tIns="0" rIns="0" bIns="0" anchor="t">
            <a:noAutofit/>
          </a:bodyPr>
          <a:lstStyle>
            <a:lvl1pPr algn="l">
              <a:lnSpc>
                <a:spcPct val="100000"/>
              </a:lnSpc>
              <a:defRPr sz="4800" b="0" i="0" u="none" strike="noStrike" spc="0">
                <a:solidFill>
                  <a:srgbClr val="0073E6">
                    <a:alpha val="100000"/>
                  </a:srgbClr>
                </a:solidFill>
                <a:latin typeface="Biennale Bold"/>
              </a:defRPr>
            </a:lvl1pPr>
          </a:lstStyle>
          <a:p>
            <a:pPr marL="0" indent="0" algn="l">
              <a:lnSpc>
                <a:spcPct val="100000"/>
              </a:lnSpc>
              <a:spcAft>
                <a:spcPts val="300"/>
              </a:spcAft>
            </a:pPr>
            <a:r>
              <a:rPr lang="en-US" sz="4800" b="0" i="0" u="none" strike="noStrike">
                <a:solidFill>
                  <a:srgbClr val="0073E6"/>
                </a:solidFill>
                <a:latin typeface="Biennale Bold"/>
                <a:ea typeface="Biennale Bold"/>
                <a:cs typeface="Biennale Bold"/>
                <a:sym typeface="Biennale Bold"/>
              </a:rPr>
              <a:t>Presentation title</a:t>
            </a:r>
          </a:p>
        </p:txBody>
      </p:sp>
      <p:sp>
        <p:nvSpPr>
          <p:cNvPr id="3" name="AutoShape 3"/>
          <p:cNvSpPr>
            <a:spLocks noGrp="1"/>
          </p:cNvSpPr>
          <p:nvPr>
            <p:ph type="body" sz="quarter" idx="105" hasCustomPrompt="1"/>
          </p:nvPr>
        </p:nvSpPr>
        <p:spPr>
          <a:xfrm>
            <a:off x="423068" y="3138594"/>
            <a:ext cx="548640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spcAft>
                <a:spcPts val="600"/>
              </a:spcAft>
            </a:pPr>
            <a:r>
              <a:rPr lang="en-US" sz="36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106" hasCustomPrompt="1"/>
          </p:nvPr>
        </p:nvSpPr>
        <p:spPr>
          <a:xfrm>
            <a:off x="423068" y="4771707"/>
            <a:ext cx="3657600" cy="640080"/>
          </a:xfrm>
          <a:prstGeom prst="rect">
            <a:avLst/>
          </a:prstGeom>
          <a:noFill/>
          <a:ln w="12700">
            <a:noFill/>
            <a:prstDash val="solid"/>
          </a:ln>
        </p:spPr>
        <p:txBody>
          <a:bodyPr wrap="square" lIns="0" tIns="0" rIns="0" bIns="0" anchor="t">
            <a:noAutofit/>
          </a:bodyPr>
          <a:lstStyle>
            <a:lvl1pPr algn="l">
              <a:lnSpc>
                <a:spcPct val="100000"/>
              </a:lnSpc>
              <a:defRPr sz="1600" b="0" i="0" u="none" strike="noStrike" spc="0">
                <a:solidFill>
                  <a:srgbClr val="00005C">
                    <a:alpha val="100000"/>
                  </a:srgbClr>
                </a:solidFill>
                <a:latin typeface="Biennale"/>
              </a:defRPr>
            </a:lvl1pPr>
          </a:lstStyle>
          <a:p>
            <a:pPr marL="0" indent="0" algn="l">
              <a:lnSpc>
                <a:spcPct val="100000"/>
              </a:lnSpc>
              <a:spcAft>
                <a:spcPts val="600"/>
              </a:spcAft>
            </a:pPr>
            <a:r>
              <a:rPr lang="en-US" sz="1600" b="0" i="0" u="none" strike="noStrike">
                <a:solidFill>
                  <a:srgbClr val="00005C"/>
                </a:solidFill>
                <a:latin typeface="Biennale"/>
                <a:ea typeface="Biennale"/>
                <a:cs typeface="Biennale"/>
                <a:sym typeface="Biennale"/>
              </a:rPr>
              <a:t>Date</a:t>
            </a:r>
          </a:p>
        </p:txBody>
      </p:sp>
      <p:sp>
        <p:nvSpPr>
          <p:cNvPr id="5" name="AutoShape 5"/>
          <p:cNvSpPr/>
          <p:nvPr/>
        </p:nvSpPr>
        <p:spPr>
          <a:xfrm>
            <a:off x="423068" y="6391780"/>
            <a:ext cx="835165"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6" name="AutoShape 6"/>
          <p:cNvSpPr>
            <a:spLocks noGrp="1"/>
          </p:cNvSpPr>
          <p:nvPr>
            <p:ph type="pic" sz="quarter" idx="107"/>
          </p:nvPr>
        </p:nvSpPr>
        <p:spPr>
          <a:xfrm>
            <a:off x="6092952" y="0"/>
            <a:ext cx="6099048"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108"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a:t>
            </a:r>
          </a:p>
        </p:txBody>
      </p:sp>
      <p:sp>
        <p:nvSpPr>
          <p:cNvPr id="3" name="AutoShape 3"/>
          <p:cNvSpPr>
            <a:spLocks noGrp="1"/>
          </p:cNvSpPr>
          <p:nvPr>
            <p:ph type="body" sz="quarter" idx="109"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00005C">
                    <a:alpha val="100000"/>
                  </a:srgbClr>
                </a:solidFill>
                <a:latin typeface="Biennale Bold"/>
              </a:defRPr>
            </a:lvl1pPr>
          </a:lstStyle>
          <a:p>
            <a:pPr marL="0" indent="0" algn="l">
              <a:lnSpc>
                <a:spcPct val="100000"/>
              </a:lnSpc>
            </a:pPr>
            <a:r>
              <a:rPr lang="en-US" sz="18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110"/>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pic>
        <p:nvPicPr>
          <p:cNvPr id="5" name="Picture 5"/>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Deep Blue Title Only">
    <p:bg>
      <p:bgPr>
        <a:solidFill>
          <a:srgbClr val="00005C">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11"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FFFFFF">
                    <a:alpha val="100000"/>
                  </a:srgbClr>
                </a:solidFill>
                <a:latin typeface="Biennale Bold"/>
              </a:defRPr>
            </a:lvl1pPr>
          </a:lstStyle>
          <a:p>
            <a:pPr marL="0" indent="0" algn="l">
              <a:lnSpc>
                <a:spcPct val="100000"/>
              </a:lnSpc>
            </a:pPr>
            <a:r>
              <a:rPr lang="en-US" sz="2800" b="0" i="0" u="none" strike="noStrike">
                <a:solidFill>
                  <a:srgbClr val="FFFFFF"/>
                </a:solidFill>
                <a:latin typeface="Biennale Bold"/>
                <a:ea typeface="Biennale Bold"/>
                <a:cs typeface="Biennale Bold"/>
                <a:sym typeface="Biennale Bold"/>
              </a:rPr>
              <a:t>Title</a:t>
            </a:r>
          </a:p>
        </p:txBody>
      </p:sp>
      <p:sp>
        <p:nvSpPr>
          <p:cNvPr id="3" name="AutoShape 3"/>
          <p:cNvSpPr>
            <a:spLocks noGrp="1"/>
          </p:cNvSpPr>
          <p:nvPr>
            <p:ph type="body" sz="quarter" idx="112"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3DC7FF">
                    <a:alpha val="100000"/>
                  </a:srgbClr>
                </a:solidFill>
                <a:latin typeface="Biennale Bold"/>
              </a:defRPr>
            </a:lvl1pPr>
          </a:lstStyle>
          <a:p>
            <a:pPr marL="0" indent="0" algn="l">
              <a:lnSpc>
                <a:spcPct val="100000"/>
              </a:lnSpc>
            </a:pPr>
            <a:r>
              <a:rPr lang="en-US" sz="1800" b="0" i="0" u="none" strike="noStrike">
                <a:solidFill>
                  <a:srgbClr val="3DC7FF"/>
                </a:solidFill>
                <a:latin typeface="Biennale Bold"/>
                <a:ea typeface="Biennale Bold"/>
                <a:cs typeface="Biennale Bold"/>
                <a:sym typeface="Biennale Bold"/>
              </a:rPr>
              <a:t>Subtitle</a:t>
            </a:r>
          </a:p>
        </p:txBody>
      </p:sp>
      <p:sp>
        <p:nvSpPr>
          <p:cNvPr id="4" name="AutoShape 4"/>
          <p:cNvSpPr>
            <a:spLocks noGrp="1"/>
          </p:cNvSpPr>
          <p:nvPr>
            <p:ph type="body" sz="quarter" idx="113"/>
          </p:nvPr>
        </p:nvSpPr>
        <p:spPr>
          <a:xfrm>
            <a:off x="428625" y="6420355"/>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FFFFFF">
                    <a:alpha val="100000"/>
                  </a:srgbClr>
                </a:solidFill>
                <a:latin typeface="Biennale"/>
              </a:defRPr>
            </a:lvl1pPr>
          </a:lstStyle>
          <a:p>
            <a:pPr algn="l"/>
            <a:endParaRPr/>
          </a:p>
        </p:txBody>
      </p:sp>
      <p:sp>
        <p:nvSpPr>
          <p:cNvPr id="5" name="AutoShape 5"/>
          <p:cNvSpPr/>
          <p:nvPr/>
        </p:nvSpPr>
        <p:spPr>
          <a:xfrm>
            <a:off x="428625" y="6420355"/>
            <a:ext cx="12795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FFFFFF"/>
                </a:solidFill>
                <a:latin typeface="Biennale"/>
                <a:ea typeface="Biennale"/>
                <a:cs typeface="Biennale"/>
                <a:sym typeface="Biennale"/>
              </a:rPr>
              <a:t>	|	 © Atos Group </a:t>
            </a:r>
            <a:endParaRPr lang="en-US" sz="1100"/>
          </a:p>
        </p:txBody>
      </p:sp>
      <p:sp>
        <p:nvSpPr>
          <p:cNvPr id="6" name="Freeform 6"/>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Chapter">
    <p:bg>
      <p:bgPr>
        <a:solidFill>
          <a:srgbClr val="00005C">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1703638" y="0"/>
            <a:ext cx="9768784" cy="6858000"/>
            <a:chOff x="1703638" y="0"/>
            <a:chExt cx="9768784" cy="6858000"/>
          </a:xfrm>
        </p:grpSpPr>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grpSp>
      <p:sp>
        <p:nvSpPr>
          <p:cNvPr id="5" name="AutoShape 5"/>
          <p:cNvSpPr>
            <a:spLocks noGrp="1"/>
          </p:cNvSpPr>
          <p:nvPr>
            <p:ph type="body" sz="quarter" idx="114" hasCustomPrompt="1"/>
          </p:nvPr>
        </p:nvSpPr>
        <p:spPr>
          <a:xfrm>
            <a:off x="428625" y="1196367"/>
            <a:ext cx="5852160" cy="1554480"/>
          </a:xfrm>
          <a:prstGeom prst="rect">
            <a:avLst/>
          </a:prstGeom>
          <a:noFill/>
          <a:ln w="12700">
            <a:noFill/>
            <a:prstDash val="solid"/>
          </a:ln>
        </p:spPr>
        <p:txBody>
          <a:bodyPr wrap="square" lIns="0" tIns="0" rIns="0" bIns="0" anchor="b">
            <a:noAutofit/>
          </a:bodyPr>
          <a:lstStyle>
            <a:lvl1pPr algn="l">
              <a:lnSpc>
                <a:spcPct val="100000"/>
              </a:lnSpc>
              <a:defRPr sz="4800" b="0" i="0" u="none" strike="noStrike" spc="0">
                <a:solidFill>
                  <a:srgbClr val="FFFFFF">
                    <a:alpha val="100000"/>
                  </a:srgbClr>
                </a:solidFill>
                <a:latin typeface="Biennale Bold"/>
              </a:defRPr>
            </a:lvl1pPr>
          </a:lstStyle>
          <a:p>
            <a:pPr marL="0" indent="0" algn="l">
              <a:lnSpc>
                <a:spcPct val="100000"/>
              </a:lnSpc>
              <a:spcAft>
                <a:spcPts val="300"/>
              </a:spcAft>
            </a:pPr>
            <a:r>
              <a:rPr lang="en-US" sz="4800" b="0" i="0" u="none" strike="noStrike">
                <a:solidFill>
                  <a:srgbClr val="FFFFFF"/>
                </a:solidFill>
                <a:latin typeface="Biennale Bold"/>
                <a:ea typeface="Biennale Bold"/>
                <a:cs typeface="Biennale Bold"/>
                <a:sym typeface="Biennale Bold"/>
              </a:rPr>
              <a:t>Chapter title</a:t>
            </a:r>
          </a:p>
        </p:txBody>
      </p:sp>
      <p:sp>
        <p:nvSpPr>
          <p:cNvPr id="6" name="AutoShape 6"/>
          <p:cNvSpPr>
            <a:spLocks noGrp="1"/>
          </p:cNvSpPr>
          <p:nvPr>
            <p:ph type="body" sz="quarter" idx="115" hasCustomPrompt="1"/>
          </p:nvPr>
        </p:nvSpPr>
        <p:spPr>
          <a:xfrm>
            <a:off x="428625" y="2748074"/>
            <a:ext cx="585216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3DC7FF">
                    <a:alpha val="100000"/>
                  </a:srgbClr>
                </a:solidFill>
                <a:latin typeface="Biennale Bold"/>
              </a:defRPr>
            </a:lvl1pPr>
          </a:lstStyle>
          <a:p>
            <a:pPr marL="0" indent="0" algn="l">
              <a:lnSpc>
                <a:spcPct val="100000"/>
              </a:lnSpc>
              <a:spcAft>
                <a:spcPts val="600"/>
              </a:spcAft>
            </a:pPr>
            <a:r>
              <a:rPr lang="en-US" sz="3600" b="0" i="0" u="none" strike="noStrike">
                <a:solidFill>
                  <a:srgbClr val="3DC7FF"/>
                </a:solidFill>
                <a:latin typeface="Biennale Bold"/>
                <a:ea typeface="Biennale Bold"/>
                <a:cs typeface="Biennale Bold"/>
                <a:sym typeface="Biennale Bold"/>
              </a:rPr>
              <a:t>Subtitle</a:t>
            </a:r>
          </a:p>
        </p:txBody>
      </p:sp>
      <p:sp>
        <p:nvSpPr>
          <p:cNvPr id="7" name="Freeform 7"/>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hank you">
    <p:spTree>
      <p:nvGrpSpPr>
        <p:cNvPr id="1" name=""/>
        <p:cNvGrpSpPr/>
        <p:nvPr/>
      </p:nvGrpSpPr>
      <p:grpSpPr>
        <a:xfrm>
          <a:off x="0" y="0"/>
          <a:ext cx="0" cy="0"/>
          <a:chOff x="0" y="0"/>
          <a:chExt cx="0" cy="0"/>
        </a:xfrm>
      </p:grpSpPr>
      <p:sp>
        <p:nvSpPr>
          <p:cNvPr id="2" name="AutoShape 2"/>
          <p:cNvSpPr>
            <a:spLocks noGrp="1"/>
          </p:cNvSpPr>
          <p:nvPr>
            <p:ph type="body" sz="quarter" idx="116" hasCustomPrompt="1"/>
          </p:nvPr>
        </p:nvSpPr>
        <p:spPr>
          <a:xfrm>
            <a:off x="428625" y="1189363"/>
            <a:ext cx="5370060" cy="1231106"/>
          </a:xfrm>
          <a:prstGeom prst="rect">
            <a:avLst/>
          </a:prstGeom>
          <a:noFill/>
          <a:ln w="12700">
            <a:noFill/>
            <a:prstDash val="solid"/>
          </a:ln>
        </p:spPr>
        <p:txBody>
          <a:bodyPr wrap="none" lIns="0" tIns="0" rIns="0" bIns="0" anchor="ctr">
            <a:spAutoFit/>
          </a:bodyPr>
          <a:lstStyle>
            <a:lvl1pPr algn="l">
              <a:lnSpc>
                <a:spcPct val="100000"/>
              </a:lnSpc>
              <a:defRPr sz="8000" b="0" i="0" u="none" strike="noStrike" spc="0">
                <a:solidFill>
                  <a:srgbClr val="0073E6">
                    <a:alpha val="100000"/>
                  </a:srgbClr>
                </a:solidFill>
                <a:latin typeface="Biennale Bold"/>
              </a:defRPr>
            </a:lvl1pPr>
          </a:lstStyle>
          <a:p>
            <a:pPr marL="0" indent="0" algn="l">
              <a:lnSpc>
                <a:spcPct val="100000"/>
              </a:lnSpc>
            </a:pPr>
            <a:r>
              <a:rPr lang="en-US" sz="8000" b="0" i="0" u="none" strike="noStrike">
                <a:solidFill>
                  <a:srgbClr val="0073E6"/>
                </a:solidFill>
                <a:latin typeface="Biennale Bold"/>
                <a:ea typeface="Biennale Bold"/>
                <a:cs typeface="Biennale Bold"/>
                <a:sym typeface="Biennale Bold"/>
              </a:rPr>
              <a:t>Thank you!</a:t>
            </a:r>
          </a:p>
        </p:txBody>
      </p:sp>
      <p:sp>
        <p:nvSpPr>
          <p:cNvPr id="3" name="AutoShape 3"/>
          <p:cNvSpPr/>
          <p:nvPr/>
        </p:nvSpPr>
        <p:spPr>
          <a:xfrm>
            <a:off x="428625" y="5422415"/>
            <a:ext cx="3383281" cy="492443"/>
          </a:xfrm>
          <a:prstGeom prst="rect">
            <a:avLst/>
          </a:prstGeom>
          <a:noFill/>
          <a:ln w="12700">
            <a:noFill/>
            <a:prstDash val="solid"/>
          </a:ln>
        </p:spPr>
        <p:txBody>
          <a:bodyPr wrap="square" lIns="0" tIns="0" rIns="0" bIns="0" rtlCol="0" anchor="b">
            <a:spAutoFit/>
          </a:bodyPr>
          <a:lstStyle/>
          <a:p>
            <a:pPr marL="0" indent="0" algn="l">
              <a:lnSpc>
                <a:spcPct val="100000"/>
              </a:lnSpc>
              <a:defRPr/>
            </a:pPr>
            <a:r>
              <a:rPr lang="en-US" sz="800" b="0" i="0" u="none" strike="noStrike">
                <a:solidFill>
                  <a:srgbClr val="00005C"/>
                </a:solidFill>
                <a:latin typeface="Biennale"/>
                <a:ea typeface="Biennale"/>
                <a:cs typeface="Biennale"/>
                <a:sym typeface="Biennale"/>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1100"/>
          </a:p>
        </p:txBody>
      </p:sp>
      <p:sp>
        <p:nvSpPr>
          <p:cNvPr id="4" name="AutoShape 4"/>
          <p:cNvSpPr>
            <a:spLocks noGrp="1"/>
          </p:cNvSpPr>
          <p:nvPr>
            <p:ph type="body" sz="quarter" idx="117" hasCustomPrompt="1"/>
          </p:nvPr>
        </p:nvSpPr>
        <p:spPr>
          <a:xfrm>
            <a:off x="428625" y="6316314"/>
            <a:ext cx="2560320" cy="92333"/>
          </a:xfrm>
          <a:prstGeom prst="rect">
            <a:avLst/>
          </a:prstGeom>
          <a:noFill/>
          <a:ln w="12700">
            <a:noFill/>
            <a:prstDash val="solid"/>
          </a:ln>
        </p:spPr>
        <p:txBody>
          <a:bodyPr wrap="none" lIns="0" tIns="0" rIns="0" bIns="0" anchor="ctr">
            <a:noAutofit/>
          </a:bodyPr>
          <a:lstStyle>
            <a:lvl1pPr algn="l">
              <a:lnSpc>
                <a:spcPct val="100000"/>
              </a:lnSpc>
              <a:defRPr sz="600" b="0" i="0" u="none" strike="noStrike" spc="0">
                <a:solidFill>
                  <a:srgbClr val="00005C">
                    <a:alpha val="100000"/>
                  </a:srgbClr>
                </a:solidFill>
                <a:latin typeface="Biennale"/>
              </a:defRPr>
            </a:lvl1pPr>
          </a:lstStyle>
          <a:p>
            <a:pPr marL="0" indent="0" algn="l">
              <a:lnSpc>
                <a:spcPct val="100000"/>
              </a:lnSpc>
            </a:pPr>
            <a:r>
              <a:rPr lang="en-US" sz="600" b="0" i="0" u="none" strike="noStrike">
                <a:solidFill>
                  <a:srgbClr val="00005C"/>
                </a:solidFill>
                <a:latin typeface="Biennale"/>
                <a:ea typeface="Biennale"/>
                <a:cs typeface="Biennale"/>
                <a:sym typeface="Biennale"/>
              </a:rPr>
              <a:t>Job Number-Designer-BP</a:t>
            </a:r>
          </a:p>
        </p:txBody>
      </p:sp>
      <p:sp>
        <p:nvSpPr>
          <p:cNvPr id="5" name="AutoShape 5"/>
          <p:cNvSpPr/>
          <p:nvPr/>
        </p:nvSpPr>
        <p:spPr>
          <a:xfrm>
            <a:off x="5884404" y="6391780"/>
            <a:ext cx="423193"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a:t>
            </a:r>
            <a:endParaRPr lang="en-US" sz="1100"/>
          </a:p>
        </p:txBody>
      </p:sp>
      <p:sp>
        <p:nvSpPr>
          <p:cNvPr id="6" name="Freeform 6"/>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s only">
    <p:spTree>
      <p:nvGrpSpPr>
        <p:cNvPr id="1" name=""/>
        <p:cNvGrpSpPr/>
        <p:nvPr/>
      </p:nvGrpSpPr>
      <p:grpSpPr>
        <a:xfrm>
          <a:off x="0" y="0"/>
          <a:ext cx="0" cy="0"/>
          <a:chOff x="0" y="0"/>
          <a:chExt cx="0" cy="0"/>
        </a:xfrm>
      </p:grpSpPr>
      <p:sp>
        <p:nvSpPr>
          <p:cNvPr id="2" name="AutoShape 2"/>
          <p:cNvSpPr>
            <a:spLocks noGrp="1"/>
          </p:cNvSpPr>
          <p:nvPr>
            <p:ph type="body" sz="quarter" idx="118" hasCustomPrompt="1"/>
          </p:nvPr>
        </p:nvSpPr>
        <p:spPr>
          <a:xfrm>
            <a:off x="303548" y="164637"/>
            <a:ext cx="11436096" cy="338554"/>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 in Raleway SemiBold 20pt</a:t>
            </a:r>
          </a:p>
        </p:txBody>
      </p:sp>
      <p:sp>
        <p:nvSpPr>
          <p:cNvPr id="3" name="AutoShape 3"/>
          <p:cNvSpPr>
            <a:spLocks noGrp="1"/>
          </p:cNvSpPr>
          <p:nvPr>
            <p:ph type="body" sz="quarter" idx="119" hasCustomPrompt="1"/>
          </p:nvPr>
        </p:nvSpPr>
        <p:spPr>
          <a:xfrm>
            <a:off x="303547" y="556610"/>
            <a:ext cx="11436096" cy="580529"/>
          </a:xfrm>
          <a:prstGeom prst="rect">
            <a:avLst/>
          </a:prstGeom>
          <a:noFill/>
          <a:ln w="12700">
            <a:noFill/>
            <a:prstDash val="solid"/>
          </a:ln>
        </p:spPr>
        <p:txBody>
          <a:bodyPr wrap="square" lIns="0" tIns="0" rIns="0" bIns="0" anchor="t">
            <a:noAutofit/>
          </a:bodyPr>
          <a:lstStyle>
            <a:lvl1pPr algn="l">
              <a:lnSpc>
                <a:spcPct val="100000"/>
              </a:lnSpc>
              <a:defRPr sz="2135" b="0" i="0" u="none" strike="noStrike" spc="0">
                <a:solidFill>
                  <a:srgbClr val="0596FF">
                    <a:alpha val="100000"/>
                  </a:srgbClr>
                </a:solidFill>
                <a:latin typeface="Biennale Bold"/>
              </a:defRPr>
            </a:lvl1pPr>
          </a:lstStyle>
          <a:p>
            <a:pPr marL="0" indent="0" algn="l">
              <a:lnSpc>
                <a:spcPct val="100000"/>
              </a:lnSpc>
              <a:spcAft>
                <a:spcPts val="600"/>
              </a:spcAft>
            </a:pPr>
            <a:r>
              <a:rPr lang="en-US" sz="2135" b="0" i="0" u="none" strike="noStrike">
                <a:solidFill>
                  <a:srgbClr val="0596FF"/>
                </a:solidFill>
                <a:latin typeface="Biennale Bold"/>
                <a:ea typeface="Biennale Bold"/>
                <a:cs typeface="Biennale Bold"/>
                <a:sym typeface="Biennale Bold"/>
              </a:rPr>
              <a:t>Subtitle in Raleway SemiBold 16pt</a:t>
            </a:r>
          </a:p>
        </p:txBody>
      </p:sp>
      <p:pic>
        <p:nvPicPr>
          <p:cNvPr id="4" name="Picture 4"/>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Agenda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117917" y="1285493"/>
            <a:ext cx="1545853" cy="1545853"/>
          </a:xfrm>
          <a:prstGeom prst="rect">
            <a:avLst/>
          </a:prstGeom>
        </p:spPr>
      </p:pic>
      <p:sp>
        <p:nvSpPr>
          <p:cNvPr id="3" name="AutoShape 3"/>
          <p:cNvSpPr>
            <a:spLocks noGrp="1"/>
          </p:cNvSpPr>
          <p:nvPr>
            <p:ph type="body" sz="quarter" idx="120" hasCustomPrompt="1"/>
          </p:nvPr>
        </p:nvSpPr>
        <p:spPr>
          <a:xfrm>
            <a:off x="2954745" y="1446367"/>
            <a:ext cx="343043"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01</a:t>
            </a:r>
          </a:p>
        </p:txBody>
      </p:sp>
      <p:sp>
        <p:nvSpPr>
          <p:cNvPr id="4" name="AutoShape 4"/>
          <p:cNvSpPr>
            <a:spLocks noGrp="1"/>
          </p:cNvSpPr>
          <p:nvPr>
            <p:ph type="body" sz="quarter" idx="121" hasCustomPrompt="1"/>
          </p:nvPr>
        </p:nvSpPr>
        <p:spPr>
          <a:xfrm>
            <a:off x="3674348" y="1446367"/>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5" name="AutoShape 5"/>
          <p:cNvSpPr>
            <a:spLocks noGrp="1"/>
          </p:cNvSpPr>
          <p:nvPr>
            <p:ph type="body" sz="quarter" idx="122" hasCustomPrompt="1"/>
          </p:nvPr>
        </p:nvSpPr>
        <p:spPr>
          <a:xfrm>
            <a:off x="11406268" y="1446367"/>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6" name="AutoShape 6"/>
          <p:cNvSpPr>
            <a:spLocks noGrp="1"/>
          </p:cNvSpPr>
          <p:nvPr>
            <p:ph type="body" sz="quarter" idx="123" hasCustomPrompt="1"/>
          </p:nvPr>
        </p:nvSpPr>
        <p:spPr>
          <a:xfrm>
            <a:off x="2954745" y="2713569"/>
            <a:ext cx="395942"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02</a:t>
            </a:r>
          </a:p>
        </p:txBody>
      </p:sp>
      <p:sp>
        <p:nvSpPr>
          <p:cNvPr id="7" name="AutoShape 7"/>
          <p:cNvSpPr>
            <a:spLocks noGrp="1"/>
          </p:cNvSpPr>
          <p:nvPr>
            <p:ph type="body" sz="quarter" idx="124" hasCustomPrompt="1"/>
          </p:nvPr>
        </p:nvSpPr>
        <p:spPr>
          <a:xfrm>
            <a:off x="3674348" y="2713569"/>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8" name="AutoShape 8"/>
          <p:cNvSpPr>
            <a:spLocks noGrp="1"/>
          </p:cNvSpPr>
          <p:nvPr>
            <p:ph type="body" sz="quarter" idx="125" hasCustomPrompt="1"/>
          </p:nvPr>
        </p:nvSpPr>
        <p:spPr>
          <a:xfrm>
            <a:off x="11406268" y="2713569"/>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9" name="AutoShape 9"/>
          <p:cNvSpPr>
            <a:spLocks noGrp="1"/>
          </p:cNvSpPr>
          <p:nvPr>
            <p:ph type="body" sz="quarter" idx="126" hasCustomPrompt="1"/>
          </p:nvPr>
        </p:nvSpPr>
        <p:spPr>
          <a:xfrm>
            <a:off x="2954745" y="3980771"/>
            <a:ext cx="397545"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03</a:t>
            </a:r>
          </a:p>
        </p:txBody>
      </p:sp>
      <p:sp>
        <p:nvSpPr>
          <p:cNvPr id="10" name="AutoShape 10"/>
          <p:cNvSpPr>
            <a:spLocks noGrp="1"/>
          </p:cNvSpPr>
          <p:nvPr>
            <p:ph type="body" sz="quarter" idx="127" hasCustomPrompt="1"/>
          </p:nvPr>
        </p:nvSpPr>
        <p:spPr>
          <a:xfrm>
            <a:off x="3674348" y="3980771"/>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1" name="AutoShape 11"/>
          <p:cNvSpPr>
            <a:spLocks noGrp="1"/>
          </p:cNvSpPr>
          <p:nvPr>
            <p:ph type="body" sz="quarter" idx="128" hasCustomPrompt="1"/>
          </p:nvPr>
        </p:nvSpPr>
        <p:spPr>
          <a:xfrm>
            <a:off x="11406268" y="3980771"/>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2" name="AutoShape 12"/>
          <p:cNvSpPr>
            <a:spLocks noGrp="1"/>
          </p:cNvSpPr>
          <p:nvPr>
            <p:ph type="body" sz="quarter" idx="129" hasCustomPrompt="1"/>
          </p:nvPr>
        </p:nvSpPr>
        <p:spPr>
          <a:xfrm>
            <a:off x="2954745" y="5247973"/>
            <a:ext cx="403957"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04</a:t>
            </a:r>
          </a:p>
        </p:txBody>
      </p:sp>
      <p:sp>
        <p:nvSpPr>
          <p:cNvPr id="13" name="AutoShape 13"/>
          <p:cNvSpPr>
            <a:spLocks noGrp="1"/>
          </p:cNvSpPr>
          <p:nvPr>
            <p:ph type="body" sz="quarter" idx="130" hasCustomPrompt="1"/>
          </p:nvPr>
        </p:nvSpPr>
        <p:spPr>
          <a:xfrm>
            <a:off x="3674348" y="5247973"/>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4" name="AutoShape 14"/>
          <p:cNvSpPr>
            <a:spLocks noGrp="1"/>
          </p:cNvSpPr>
          <p:nvPr>
            <p:ph type="body" sz="quarter" idx="131" hasCustomPrompt="1"/>
          </p:nvPr>
        </p:nvSpPr>
        <p:spPr>
          <a:xfrm>
            <a:off x="11406268" y="5247973"/>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5" name="AutoShape 15"/>
          <p:cNvSpPr>
            <a:spLocks noGrp="1"/>
          </p:cNvSpPr>
          <p:nvPr>
            <p:ph type="body" sz="quarter" idx="132"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pPr>
            <a:r>
              <a:rPr lang="en-US" sz="3600" b="0" i="0" u="none" strike="noStrike">
                <a:solidFill>
                  <a:srgbClr val="00005C"/>
                </a:solidFill>
                <a:latin typeface="Biennale Bold"/>
                <a:ea typeface="Biennale Bold"/>
                <a:cs typeface="Biennale Bold"/>
                <a:sym typeface="Biennale Bold"/>
              </a:rPr>
              <a:t>Contents</a:t>
            </a:r>
          </a:p>
        </p:txBody>
      </p:sp>
      <p:sp>
        <p:nvSpPr>
          <p:cNvPr id="16" name="AutoShape 16"/>
          <p:cNvSpPr>
            <a:spLocks noGrp="1"/>
          </p:cNvSpPr>
          <p:nvPr>
            <p:ph type="body" sz="quarter" idx="133"/>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Chapter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3" name="AutoShape 3"/>
          <p:cNvSpPr>
            <a:spLocks noGrp="1"/>
          </p:cNvSpPr>
          <p:nvPr>
            <p:ph type="body" sz="quarter" idx="134" hasCustomPrompt="1"/>
          </p:nvPr>
        </p:nvSpPr>
        <p:spPr>
          <a:xfrm>
            <a:off x="390098" y="389618"/>
            <a:ext cx="1376980" cy="1477328"/>
          </a:xfrm>
          <a:prstGeom prst="rect">
            <a:avLst/>
          </a:prstGeom>
          <a:noFill/>
          <a:ln w="12700">
            <a:noFill/>
            <a:prstDash val="solid"/>
          </a:ln>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01</a:t>
            </a:r>
          </a:p>
        </p:txBody>
      </p:sp>
      <p:sp>
        <p:nvSpPr>
          <p:cNvPr id="4" name="Freeform 4"/>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AutoShape 5"/>
          <p:cNvSpPr>
            <a:spLocks noGrp="1"/>
          </p:cNvSpPr>
          <p:nvPr>
            <p:ph type="body" sz="quarter" idx="135" hasCustomPrompt="1"/>
          </p:nvPr>
        </p:nvSpPr>
        <p:spPr>
          <a:xfrm>
            <a:off x="1786976" y="1866946"/>
            <a:ext cx="7094047" cy="1929683"/>
          </a:xfrm>
          <a:prstGeom prst="rect">
            <a:avLst/>
          </a:prstGeom>
          <a:noFill/>
          <a:ln w="12700">
            <a:noFill/>
            <a:prstDash val="solid"/>
          </a:ln>
        </p:spPr>
        <p:txBody>
          <a:bodyPr wrap="square" lIns="0" tIns="0" rIns="0" bIns="0" anchor="t">
            <a:noAutofit/>
          </a:bodyPr>
          <a:lstStyle>
            <a:lvl1pPr algn="l">
              <a:lnSpc>
                <a:spcPct val="100000"/>
              </a:lnSpc>
              <a:defRPr sz="5400" b="0" i="0" u="none" strike="noStrike" spc="0">
                <a:solidFill>
                  <a:srgbClr val="00005C">
                    <a:alpha val="100000"/>
                  </a:srgbClr>
                </a:solidFill>
                <a:latin typeface="Biennale Bold"/>
              </a:defRPr>
            </a:lvl1pPr>
          </a:lstStyle>
          <a:p>
            <a:pPr marL="0" indent="0" algn="l">
              <a:lnSpc>
                <a:spcPct val="100000"/>
              </a:lnSpc>
            </a:pPr>
            <a:r>
              <a:rPr lang="en-US" sz="5400" b="0" i="0" u="none" strike="noStrike">
                <a:solidFill>
                  <a:srgbClr val="00005C"/>
                </a:solidFill>
                <a:latin typeface="Biennale Bold"/>
                <a:ea typeface="Biennale Bold"/>
                <a:cs typeface="Biennale Bold"/>
                <a:sym typeface="Biennale Bold"/>
              </a:rPr>
              <a:t>Chapter title</a:t>
            </a:r>
            <a:br>
              <a:rPr lang="en-US" sz="5400" b="0" i="0" u="none" strike="noStrike">
                <a:solidFill>
                  <a:srgbClr val="00005C"/>
                </a:solidFill>
                <a:latin typeface="Biennale Bold"/>
                <a:ea typeface="Biennale Bold"/>
                <a:cs typeface="Biennale Bold"/>
                <a:sym typeface="Biennale Bold"/>
              </a:rPr>
            </a:br>
            <a:r>
              <a:rPr lang="en-US" sz="5400" b="0" i="0" u="none" strike="noStrike">
                <a:solidFill>
                  <a:srgbClr val="00005C"/>
                </a:solidFill>
                <a:latin typeface="Biennale Bold"/>
                <a:ea typeface="Biennale Bold"/>
                <a:cs typeface="Biennale Bold"/>
                <a:sym typeface="Biennale Bold"/>
              </a:rPr>
              <a:t>two lines</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Two curve">
    <p:bg>
      <p:bgPr>
        <a:solidFill>
          <a:srgbClr val="00005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sp>
        <p:nvSpPr>
          <p:cNvPr id="4" name="AutoShape 4"/>
          <p:cNvSpPr>
            <a:spLocks noGrp="1"/>
          </p:cNvSpPr>
          <p:nvPr>
            <p:ph type="body" sz="quarter" idx="136" hasCustomPrompt="1"/>
          </p:nvPr>
        </p:nvSpPr>
        <p:spPr>
          <a:xfrm>
            <a:off x="428625" y="4765675"/>
            <a:ext cx="3992904" cy="969962"/>
          </a:xfrm>
          <a:prstGeom prst="rect">
            <a:avLst/>
          </a:prstGeom>
          <a:noFill/>
          <a:ln w="12700">
            <a:noFill/>
            <a:prstDash val="solid"/>
          </a:ln>
        </p:spPr>
        <p:txBody>
          <a:bodyPr wrap="none" lIns="0" tIns="0" rIns="0" bIns="0" anchor="t">
            <a:noAutofit/>
          </a:bodyPr>
          <a:lstStyle>
            <a:lvl1pPr algn="l">
              <a:lnSpc>
                <a:spcPct val="100000"/>
              </a:lnSpc>
              <a:defRPr sz="1800" b="0" i="0" u="none" strike="noStrike" spc="0">
                <a:solidFill>
                  <a:srgbClr val="FFFFFF">
                    <a:alpha val="100000"/>
                  </a:srgbClr>
                </a:solidFill>
                <a:latin typeface="Biennale"/>
              </a:defRPr>
            </a:lvl1pPr>
          </a:lstStyle>
          <a:p>
            <a:pPr marL="0" indent="0" algn="l">
              <a:lnSpc>
                <a:spcPct val="100000"/>
              </a:lnSpc>
            </a:pPr>
            <a:r>
              <a:rPr lang="en-US" sz="1800" b="0" i="0" u="none" strike="noStrike">
                <a:solidFill>
                  <a:srgbClr val="FFFFFF"/>
                </a:solidFill>
                <a:latin typeface="Biennale"/>
                <a:ea typeface="Biennale"/>
                <a:cs typeface="Biennale"/>
                <a:sym typeface="Biennale"/>
              </a:rPr>
              <a:t>Date</a:t>
            </a:r>
          </a:p>
        </p:txBody>
      </p:sp>
      <p:sp>
        <p:nvSpPr>
          <p:cNvPr id="5" name="Freeform 5"/>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6" name="AutoShape 6"/>
          <p:cNvSpPr>
            <a:spLocks noGrp="1"/>
          </p:cNvSpPr>
          <p:nvPr>
            <p:ph type="body" sz="quarter" idx="137" hasCustomPrompt="1"/>
          </p:nvPr>
        </p:nvSpPr>
        <p:spPr>
          <a:xfrm>
            <a:off x="428625" y="1456679"/>
            <a:ext cx="6766560" cy="1844936"/>
          </a:xfrm>
          <a:prstGeom prst="rect">
            <a:avLst/>
          </a:prstGeom>
          <a:noFill/>
          <a:ln w="12700">
            <a:noFill/>
            <a:prstDash val="solid"/>
          </a:ln>
        </p:spPr>
        <p:txBody>
          <a:bodyPr wrap="square" lIns="0" tIns="0" rIns="0" bIns="0" anchor="t">
            <a:noAutofit/>
          </a:bodyPr>
          <a:lstStyle>
            <a:lvl1pPr algn="l">
              <a:lnSpc>
                <a:spcPct val="100000"/>
              </a:lnSpc>
              <a:defRPr sz="4400" b="0" i="0" u="none" strike="noStrike" spc="0">
                <a:solidFill>
                  <a:srgbClr val="FFFFFF">
                    <a:alpha val="100000"/>
                  </a:srgbClr>
                </a:solidFill>
                <a:latin typeface="Biennale Bold"/>
              </a:defRPr>
            </a:lvl1pPr>
          </a:lstStyle>
          <a:p>
            <a:pPr marL="0" indent="0" algn="l">
              <a:lnSpc>
                <a:spcPct val="100000"/>
              </a:lnSpc>
              <a:spcAft>
                <a:spcPts val="300"/>
              </a:spcAft>
            </a:pPr>
            <a:r>
              <a:rPr lang="en-US" sz="4400" b="0" i="0" u="none" strike="noStrike">
                <a:solidFill>
                  <a:srgbClr val="FFFFFF"/>
                </a:solidFill>
                <a:latin typeface="Biennale Bold"/>
                <a:ea typeface="Biennale Bold"/>
                <a:cs typeface="Biennale Bold"/>
                <a:sym typeface="Biennale Bold"/>
              </a:rPr>
              <a:t>Presentation title</a:t>
            </a:r>
          </a:p>
        </p:txBody>
      </p:sp>
      <p:sp>
        <p:nvSpPr>
          <p:cNvPr id="7" name="AutoShape 7"/>
          <p:cNvSpPr>
            <a:spLocks noGrp="1"/>
          </p:cNvSpPr>
          <p:nvPr>
            <p:ph type="body" sz="quarter" idx="138" hasCustomPrompt="1"/>
          </p:nvPr>
        </p:nvSpPr>
        <p:spPr>
          <a:xfrm>
            <a:off x="428625" y="2084535"/>
            <a:ext cx="6766560" cy="1217080"/>
          </a:xfrm>
          <a:prstGeom prst="rect">
            <a:avLst/>
          </a:prstGeom>
          <a:noFill/>
          <a:ln w="12700">
            <a:noFill/>
            <a:prstDash val="solid"/>
          </a:ln>
        </p:spPr>
        <p:txBody>
          <a:bodyPr wrap="square" lIns="0" tIns="0" rIns="0" bIns="0" anchor="t">
            <a:noAutofit/>
          </a:bodyPr>
          <a:lstStyle>
            <a:lvl1pPr algn="l">
              <a:lnSpc>
                <a:spcPct val="100000"/>
              </a:lnSpc>
              <a:defRPr sz="3200" b="0" i="0" u="none" strike="noStrike" spc="0">
                <a:solidFill>
                  <a:srgbClr val="3DC7FF">
                    <a:alpha val="100000"/>
                  </a:srgbClr>
                </a:solidFill>
                <a:latin typeface="Biennale Bold"/>
              </a:defRPr>
            </a:lvl1pPr>
          </a:lstStyle>
          <a:p>
            <a:pPr marL="0" indent="0" algn="l">
              <a:lnSpc>
                <a:spcPct val="100000"/>
              </a:lnSpc>
              <a:spcAft>
                <a:spcPts val="600"/>
              </a:spcAft>
            </a:pPr>
            <a:r>
              <a:rPr lang="en-US" sz="3200" b="0" i="0" u="none" strike="noStrike">
                <a:solidFill>
                  <a:srgbClr val="3DC7FF"/>
                </a:solidFill>
                <a:latin typeface="Biennale Bold"/>
                <a:ea typeface="Biennale Bold"/>
                <a:cs typeface="Biennale Bold"/>
                <a:sym typeface="Biennale Bold"/>
              </a:rPr>
              <a:t>Subtitle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中文正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81005"/>
          </a:xfrm>
          <a:prstGeom prst="rect">
            <a:avLst/>
          </a:prstGeom>
          <a:ln w="12700">
            <a:noFill/>
            <a:prstDash val="solid"/>
          </a:ln>
        </p:spPr>
      </p:pic>
      <p:sp>
        <p:nvSpPr>
          <p:cNvPr id="3" name="AutoShape 3"/>
          <p:cNvSpPr/>
          <p:nvPr/>
        </p:nvSpPr>
        <p:spPr>
          <a:xfrm>
            <a:off x="-4" y="0"/>
            <a:ext cx="12192000" cy="6881005"/>
          </a:xfrm>
          <a:prstGeom prst="rect">
            <a:avLst/>
          </a:prstGeom>
          <a:gradFill rotWithShape="0">
            <a:gsLst>
              <a:gs pos="41999">
                <a:srgbClr val="FFFFFF">
                  <a:alpha val="100000"/>
                </a:srgbClr>
              </a:gs>
              <a:gs pos="100000">
                <a:srgbClr val="FFFFFF">
                  <a:alpha val="60000"/>
                </a:srgbClr>
              </a:gs>
            </a:gsLst>
            <a:lin ang="0"/>
          </a:gra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Biennale"/>
                <a:ea typeface="Biennale"/>
                <a:cs typeface="Biennale"/>
                <a:sym typeface="Biennale"/>
              </a:rPr>
              <a:t> </a:t>
            </a:r>
            <a:endParaRPr lang="en-US" sz="1100"/>
          </a:p>
        </p:txBody>
      </p:sp>
      <p:sp>
        <p:nvSpPr>
          <p:cNvPr id="4" name="Freeform 4"/>
          <p:cNvSpPr/>
          <p:nvPr/>
        </p:nvSpPr>
        <p:spPr>
          <a:xfrm>
            <a:off x="5" y="6503027"/>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Freeform 5"/>
          <p:cNvSpPr/>
          <p:nvPr/>
        </p:nvSpPr>
        <p:spPr>
          <a:xfrm>
            <a:off x="5" y="518500"/>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pic>
        <p:nvPicPr>
          <p:cNvPr id="6" name="Picture 6"/>
          <p:cNvPicPr>
            <a:picLocks noChangeAspect="1"/>
          </p:cNvPicPr>
          <p:nvPr/>
        </p:nvPicPr>
        <p:blipFill>
          <a:blip r:embed="rId3"/>
          <a:srcRect/>
          <a:stretch>
            <a:fillRect/>
          </a:stretch>
        </p:blipFill>
        <p:spPr>
          <a:xfrm>
            <a:off x="10970283" y="6294153"/>
            <a:ext cx="960924" cy="317975"/>
          </a:xfrm>
          <a:prstGeom prst="rect">
            <a:avLst/>
          </a:prstGeom>
          <a:ln w="12700">
            <a:noFill/>
            <a:prstDash val="solid"/>
          </a:ln>
        </p:spPr>
      </p:pic>
      <p:sp>
        <p:nvSpPr>
          <p:cNvPr id="7" name="AutoShape 7"/>
          <p:cNvSpPr>
            <a:spLocks noGrp="1"/>
          </p:cNvSpPr>
          <p:nvPr>
            <p:ph type="body" sz="quarter" idx="139" hasCustomPrompt="1"/>
          </p:nvPr>
        </p:nvSpPr>
        <p:spPr>
          <a:xfrm>
            <a:off x="398287" y="222339"/>
            <a:ext cx="11655040" cy="756000"/>
          </a:xfrm>
          <a:prstGeom prst="rect">
            <a:avLst/>
          </a:prstGeom>
          <a:noFill/>
          <a:ln w="12700">
            <a:noFill/>
            <a:prstDash val="solid"/>
          </a:ln>
        </p:spPr>
        <p:txBody>
          <a:bodyPr vert="horz" wrap="square" lIns="0" tIns="0" rIns="0" bIns="0" anchor="t">
            <a:noAutofit/>
          </a:bodyPr>
          <a:lstStyle>
            <a:lvl1pPr algn="l">
              <a:lnSpc>
                <a:spcPct val="100000"/>
              </a:lnSpc>
              <a:defRPr sz="2935" b="1" i="0" u="none" strike="noStrike" spc="0">
                <a:solidFill>
                  <a:srgbClr val="0073E6">
                    <a:alpha val="100000"/>
                  </a:srgbClr>
                </a:solidFill>
                <a:latin typeface="Biennale Bold"/>
              </a:defRPr>
            </a:lvl1pPr>
          </a:lstStyle>
          <a:p>
            <a:pPr marL="0" indent="0" algn="l">
              <a:lnSpc>
                <a:spcPct val="100000"/>
              </a:lnSpc>
            </a:pPr>
            <a:r>
              <a:rPr lang="en-US" sz="2935" b="0" i="0" u="none" strike="noStrike">
                <a:solidFill>
                  <a:srgbClr val="0073E6"/>
                </a:solidFill>
                <a:latin typeface="微软雅黑" panose="020B0503020204020204" charset="-122"/>
                <a:ea typeface="微软雅黑" panose="020B0503020204020204" charset="-122"/>
                <a:cs typeface="微软雅黑" panose="020B0503020204020204" charset="-122"/>
                <a:sym typeface="微软雅黑" panose="020B0503020204020204" charset="-122"/>
              </a:rPr>
              <a:t>Click to add title</a:t>
            </a:r>
          </a:p>
        </p:txBody>
      </p:sp>
      <p:pic>
        <p:nvPicPr>
          <p:cNvPr id="8" name="Picture 8"/>
          <p:cNvPicPr>
            <a:picLocks noChangeAspect="1"/>
          </p:cNvPicPr>
          <p:nvPr/>
        </p:nvPicPr>
        <p:blipFill>
          <a:blip r:embed="rId4"/>
          <a:srcRect/>
          <a:stretch>
            <a:fillRect/>
          </a:stretch>
        </p:blipFill>
        <p:spPr>
          <a:xfrm>
            <a:off x="1092988" y="6424099"/>
            <a:ext cx="2180299" cy="114767"/>
          </a:xfrm>
          <a:prstGeom prst="rect">
            <a:avLst/>
          </a:prstGeom>
          <a:ln w="12700">
            <a:noFill/>
            <a:prstDash val="solid"/>
          </a:ln>
        </p:spPr>
      </p:pic>
      <p:sp>
        <p:nvSpPr>
          <p:cNvPr id="9" name="AutoShape 9"/>
          <p:cNvSpPr/>
          <p:nvPr/>
        </p:nvSpPr>
        <p:spPr>
          <a:xfrm>
            <a:off x="-16213" y="6276266"/>
            <a:ext cx="825500" cy="339793"/>
          </a:xfrm>
          <a:prstGeom prst="rect">
            <a:avLst/>
          </a:prstGeom>
          <a:noFill/>
          <a:ln w="12700">
            <a:noFill/>
            <a:prstDash val="solid"/>
          </a:ln>
        </p:spPr>
        <p:txBody>
          <a:bodyPr wrap="square" lIns="133359" tIns="66685" rIns="133359" bIns="66685" rtlCol="0" anchor="ctr">
            <a:spAutoFit/>
          </a:bodyPr>
          <a:lstStyle/>
          <a:p>
            <a:pPr algn="r">
              <a:defRPr/>
            </a:pP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Content Slide">
    <p:spTree>
      <p:nvGrpSpPr>
        <p:cNvPr id="1" name=""/>
        <p:cNvGrpSpPr/>
        <p:nvPr/>
      </p:nvGrpSpPr>
      <p:grpSpPr>
        <a:xfrm>
          <a:off x="0" y="0"/>
          <a:ext cx="0" cy="0"/>
          <a:chOff x="0" y="0"/>
          <a:chExt cx="0" cy="0"/>
        </a:xfrm>
      </p:grpSpPr>
      <p:sp>
        <p:nvSpPr>
          <p:cNvPr id="2" name="AutoShape 2"/>
          <p:cNvSpPr>
            <a:spLocks noGrp="1"/>
          </p:cNvSpPr>
          <p:nvPr>
            <p:ph type="body" sz="quarter" idx="140"/>
          </p:nvPr>
        </p:nvSpPr>
        <p:spPr>
          <a:xfrm>
            <a:off x="320400" y="6326136"/>
            <a:ext cx="591024" cy="288033"/>
          </a:xfrm>
          <a:prstGeom prst="rect">
            <a:avLst/>
          </a:prstGeom>
          <a:noFill/>
          <a:ln w="12700">
            <a:noFill/>
            <a:prstDash val="solid"/>
          </a:ln>
        </p:spPr>
        <p:txBody>
          <a:bodyPr vert="horz" wrap="none" lIns="91440" tIns="45720" rIns="91440" bIns="45720" anchor="ctr">
            <a:spAutoFit/>
          </a:bodyPr>
          <a:lstStyle>
            <a:lvl1pPr algn="l">
              <a:lnSpc>
                <a:spcPct val="100000"/>
              </a:lnSpc>
              <a:defRPr sz="1335" b="0" i="0" u="none" strike="noStrike" spc="0">
                <a:solidFill>
                  <a:srgbClr val="000000">
                    <a:alpha val="100000"/>
                  </a:srgbClr>
                </a:solidFill>
                <a:latin typeface="Verdana" panose="020B0604030504040204"/>
              </a:defRPr>
            </a:lvl1pPr>
          </a:lstStyle>
          <a:p>
            <a:pPr algn="l"/>
            <a:endParaRPr/>
          </a:p>
        </p:txBody>
      </p:sp>
      <p:sp>
        <p:nvSpPr>
          <p:cNvPr id="3" name="AutoShape 3"/>
          <p:cNvSpPr>
            <a:spLocks noGrp="1"/>
          </p:cNvSpPr>
          <p:nvPr>
            <p:ph type="body" sz="quarter" idx="141" hasCustomPrompt="1"/>
          </p:nvPr>
        </p:nvSpPr>
        <p:spPr>
          <a:xfrm>
            <a:off x="320400" y="164637"/>
            <a:ext cx="11632251" cy="960107"/>
          </a:xfrm>
          <a:prstGeom prst="rect">
            <a:avLst/>
          </a:prstGeom>
          <a:noFill/>
          <a:ln w="12700">
            <a:noFill/>
            <a:prstDash val="solid"/>
          </a:ln>
        </p:spPr>
        <p:txBody>
          <a:bodyPr wrap="square" lIns="0" tIns="0" rIns="0" bIns="0" anchor="t">
            <a:noAutofit/>
          </a:bodyPr>
          <a:lstStyle>
            <a:lvl1pPr algn="l">
              <a:lnSpc>
                <a:spcPct val="100000"/>
              </a:lnSpc>
              <a:defRPr sz="2400" b="0" i="0" u="none" strike="noStrike" spc="0">
                <a:solidFill>
                  <a:srgbClr val="0066A1">
                    <a:alpha val="100000"/>
                  </a:srgbClr>
                </a:solidFill>
                <a:latin typeface="Biennale Bold"/>
              </a:defRPr>
            </a:lvl1pPr>
          </a:lstStyle>
          <a:p>
            <a:pPr marL="0" indent="0" algn="l">
              <a:lnSpc>
                <a:spcPct val="100000"/>
              </a:lnSpc>
            </a:pPr>
            <a:r>
              <a:rPr lang="en-US" sz="2400" b="0" i="0" u="none" strike="noStrike">
                <a:solidFill>
                  <a:srgbClr val="0066A1"/>
                </a:solidFill>
                <a:latin typeface="Biennale Bold"/>
                <a:ea typeface="Biennale Bold"/>
                <a:cs typeface="Biennale Bold"/>
                <a:sym typeface="Biennale Bold"/>
              </a:rPr>
              <a:t>Click to edit the header</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3_One column - chart left">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a:spLocks noGrp="1"/>
          </p:cNvSpPr>
          <p:nvPr>
            <p:ph type="body" sz="quarter" idx="142" hasCustomPrompt="1"/>
          </p:nvPr>
        </p:nvSpPr>
        <p:spPr>
          <a:xfrm>
            <a:off x="316799" y="471915"/>
            <a:ext cx="11484000" cy="343237"/>
          </a:xfrm>
          <a:prstGeom prst="rect">
            <a:avLst/>
          </a:prstGeom>
          <a:noFill/>
          <a:ln w="12700">
            <a:noFill/>
            <a:prstDash val="solid"/>
          </a:ln>
        </p:spPr>
        <p:txBody>
          <a:bodyPr vert="horz" wrap="square" lIns="0" tIns="0" rIns="0" bIns="0" anchor="t">
            <a:spAutoFit/>
          </a:bodyPr>
          <a:lstStyle>
            <a:lvl1pPr algn="l">
              <a:lnSpc>
                <a:spcPct val="100000"/>
              </a:lnSpc>
              <a:defRPr sz="2200" b="1" i="0" u="none" strike="noStrike" spc="0">
                <a:solidFill>
                  <a:srgbClr val="0073E6">
                    <a:alpha val="100000"/>
                  </a:srgbClr>
                </a:solidFill>
                <a:latin typeface="Biennale Bold"/>
              </a:defRPr>
            </a:lvl1pPr>
          </a:lstStyle>
          <a:p>
            <a:pPr marL="0" indent="0" algn="l">
              <a:lnSpc>
                <a:spcPct val="100000"/>
              </a:lnSpc>
            </a:pPr>
            <a:r>
              <a:rPr lang="en-US" sz="2200" b="0" i="0" u="none" strike="noStrike">
                <a:solidFill>
                  <a:srgbClr val="000000"/>
                </a:solidFill>
                <a:latin typeface="Montserrat Bold"/>
                <a:ea typeface="Montserrat Bold"/>
                <a:cs typeface="Montserrat Bold"/>
                <a:sym typeface="Montserrat Bold"/>
              </a:rPr>
              <a:t>Click to add title</a:t>
            </a:r>
          </a:p>
        </p:txBody>
      </p:sp>
      <p:sp>
        <p:nvSpPr>
          <p:cNvPr id="4" name="AutoShape 4"/>
          <p:cNvSpPr>
            <a:spLocks noGrp="1"/>
          </p:cNvSpPr>
          <p:nvPr>
            <p:ph type="body" sz="quarter" idx="143" hasCustomPrompt="1"/>
          </p:nvPr>
        </p:nvSpPr>
        <p:spPr>
          <a:xfrm>
            <a:off x="316799" y="830931"/>
            <a:ext cx="11484000" cy="338554"/>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panose="020B0200000000000000" charset="-122"/>
              </a:defRPr>
            </a:lvl1pPr>
          </a:lstStyle>
          <a:p>
            <a:pPr marL="0" indent="0" algn="l">
              <a:lnSpc>
                <a:spcPct val="100000"/>
              </a:lnSpc>
              <a:spcAft>
                <a:spcPts val="600"/>
              </a:spcAft>
            </a:pPr>
            <a:r>
              <a:rPr lang="en-US" sz="1600" b="0" i="0" u="none" strike="noStrike">
                <a:solidFill>
                  <a:srgbClr val="000000"/>
                </a:solidFill>
                <a:latin typeface="Montserrat SemiBold"/>
                <a:ea typeface="Montserrat SemiBold"/>
                <a:cs typeface="Montserrat SemiBold"/>
                <a:sym typeface="Montserrat SemiBold"/>
              </a:rPr>
              <a:t>Click to add text</a:t>
            </a: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338" y="6261619"/>
            <a:ext cx="1111378" cy="198900"/>
          </a:xfrm>
          <a:prstGeom prst="rect">
            <a:avLst/>
          </a:prstGeom>
        </p:spPr>
      </p:pic>
      <p:sp>
        <p:nvSpPr>
          <p:cNvPr id="6" name="AutoShape 6"/>
          <p:cNvSpPr/>
          <p:nvPr/>
        </p:nvSpPr>
        <p:spPr>
          <a:xfrm>
            <a:off x="11429230" y="6298599"/>
            <a:ext cx="458064" cy="216025"/>
          </a:xfrm>
          <a:prstGeom prst="rect">
            <a:avLst/>
          </a:prstGeom>
          <a:noFill/>
          <a:ln w="12700">
            <a:noFill/>
            <a:prstDash val="solid"/>
          </a:ln>
        </p:spPr>
        <p:txBody>
          <a:bodyPr vert="horz" wrap="square" lIns="91440" tIns="45720" rIns="91440" bIns="45720" rtlCol="0" anchor="ctr">
            <a:noAutofit/>
          </a:bodyPr>
          <a:lstStyle/>
          <a:p>
            <a:pPr algn="r">
              <a:defRPr/>
            </a:pPr>
            <a:endParaRPr/>
          </a:p>
        </p:txBody>
      </p:sp>
      <p:sp>
        <p:nvSpPr>
          <p:cNvPr id="7" name="AutoShape 7"/>
          <p:cNvSpPr/>
          <p:nvPr/>
        </p:nvSpPr>
        <p:spPr>
          <a:xfrm>
            <a:off x="5793038" y="6384973"/>
            <a:ext cx="605935" cy="100027"/>
          </a:xfrm>
          <a:prstGeom prst="rect">
            <a:avLst/>
          </a:prstGeom>
          <a:noFill/>
          <a:ln w="12700">
            <a:noFill/>
            <a:prstDash val="solid"/>
          </a:ln>
        </p:spPr>
        <p:txBody>
          <a:bodyPr wrap="none" lIns="0" tIns="0" rIns="0" bIns="0" rtlCol="0" anchor="ctr">
            <a:spAutoFit/>
          </a:bodyPr>
          <a:lstStyle/>
          <a:p>
            <a:pPr marL="0" indent="0" algn="ctr">
              <a:lnSpc>
                <a:spcPct val="100000"/>
              </a:lnSpc>
              <a:defRPr/>
            </a:pPr>
            <a:r>
              <a:rPr lang="en-US" sz="650" b="0" i="0" u="none" strike="noStrike">
                <a:solidFill>
                  <a:srgbClr val="808080"/>
                </a:solidFill>
                <a:latin typeface="Biennale"/>
                <a:ea typeface="Biennale"/>
                <a:cs typeface="Biennale"/>
                <a:sym typeface="Biennale"/>
              </a:rPr>
              <a:t>© EVIDEN SAS</a:t>
            </a:r>
            <a:endParaRPr lang="en-US" sz="110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1_Title Only">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and Text">
    <p:spTree>
      <p:nvGrpSpPr>
        <p:cNvPr id="1" name=""/>
        <p:cNvGrpSpPr/>
        <p:nvPr/>
      </p:nvGrpSpPr>
      <p:grpSpPr>
        <a:xfrm>
          <a:off x="0" y="0"/>
          <a:ext cx="0" cy="0"/>
          <a:chOff x="0" y="0"/>
          <a:chExt cx="0" cy="0"/>
        </a:xfrm>
      </p:grpSpPr>
      <p:sp>
        <p:nvSpPr>
          <p:cNvPr id="2" name="AutoShape 2"/>
          <p:cNvSpPr>
            <a:spLocks noGrp="1"/>
          </p:cNvSpPr>
          <p:nvPr>
            <p:ph type="body" sz="quarter" idx="144" hasCustomPrompt="1"/>
          </p:nvPr>
        </p:nvSpPr>
        <p:spPr>
          <a:xfrm>
            <a:off x="501520" y="1557338"/>
            <a:ext cx="11183565" cy="4787900"/>
          </a:xfrm>
          <a:prstGeom prst="rect">
            <a:avLst/>
          </a:prstGeom>
          <a:noFill/>
          <a:ln w="12700">
            <a:noFill/>
            <a:prstDash val="solid"/>
          </a:ln>
        </p:spPr>
        <p:txBody>
          <a:bodyPr wrap="square" lIns="0" tIns="0" rIns="0" bIns="0" anchor="t">
            <a:noAutofit/>
          </a:bodyPr>
          <a:lstStyle>
            <a:lvl1pPr marL="431800" indent="-203200" algn="l">
              <a:lnSpc>
                <a:spcPct val="100000"/>
              </a:lnSpc>
              <a:defRPr sz="1600" b="0" i="0" u="none" strike="noStrike" spc="0">
                <a:solidFill>
                  <a:srgbClr val="00005C">
                    <a:alpha val="100000"/>
                  </a:srgbClr>
                </a:solidFill>
                <a:latin typeface="Biennale"/>
              </a:defRPr>
            </a:lvl1pPr>
            <a:lvl2pPr marL="660400" indent="-203200"/>
            <a:lvl3pPr marL="889000" indent="-203200"/>
            <a:lvl4pPr marL="1117600" indent="-203200"/>
            <a:lvl5pPr marL="914400" indent="0"/>
            <a:lvl6pPr marL="711200" indent="0"/>
            <a:lvl7pPr marL="508000" indent="0"/>
            <a:lvl8pPr marL="304800" indent="0"/>
            <a:lvl9pPr marL="101600" indent="0"/>
          </a:lstStyle>
          <a:p>
            <a:pPr marL="228600"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Start typing to add text without a bullet point. To add a bullet point, place the cursor at the start of this line and press tab.</a:t>
            </a:r>
          </a:p>
          <a:p>
            <a:pPr marL="457200" lvl="1"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Second level</a:t>
            </a:r>
          </a:p>
          <a:p>
            <a:pPr marL="685800" lvl="2"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Third level</a:t>
            </a:r>
          </a:p>
          <a:p>
            <a:pPr marL="914400" lvl="3"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Fourth level</a:t>
            </a:r>
          </a:p>
          <a:p>
            <a:pPr marL="914400" lvl="4" indent="0" algn="l">
              <a:lnSpc>
                <a:spcPct val="100000"/>
              </a:lnSpc>
              <a:spcAft>
                <a:spcPts val="600"/>
              </a:spcAft>
            </a:pPr>
            <a:r>
              <a:rPr lang="en-US" sz="1600" b="0" i="0" u="none" strike="noStrike">
                <a:solidFill>
                  <a:srgbClr val="00005C"/>
                </a:solidFill>
                <a:latin typeface="Biennale"/>
                <a:ea typeface="Biennale"/>
                <a:cs typeface="Biennale"/>
                <a:sym typeface="Biennale"/>
              </a:rPr>
              <a:t>Fifth level</a:t>
            </a:r>
          </a:p>
        </p:txBody>
      </p:sp>
      <p:sp>
        <p:nvSpPr>
          <p:cNvPr id="3" name="AutoShape 3"/>
          <p:cNvSpPr>
            <a:spLocks noGrp="1"/>
          </p:cNvSpPr>
          <p:nvPr>
            <p:ph type="body" sz="quarter" idx="145" hasCustomPrompt="1"/>
          </p:nvPr>
        </p:nvSpPr>
        <p:spPr>
          <a:xfrm>
            <a:off x="503870" y="504000"/>
            <a:ext cx="11183564" cy="369332"/>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Insert page title (sentence case)</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Divider Page">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46" hasCustomPrompt="1"/>
          </p:nvPr>
        </p:nvSpPr>
        <p:spPr>
          <a:xfrm>
            <a:off x="503869" y="3090446"/>
            <a:ext cx="11182288" cy="677108"/>
          </a:xfrm>
          <a:prstGeom prst="rect">
            <a:avLst/>
          </a:prstGeom>
          <a:noFill/>
          <a:ln w="12700">
            <a:noFill/>
            <a:prstDash val="solid"/>
          </a:ln>
        </p:spPr>
        <p:txBody>
          <a:bodyPr wrap="square" lIns="0" tIns="0" rIns="0" bIns="0" anchor="ctr">
            <a:noAutofit/>
          </a:bodyPr>
          <a:lstStyle>
            <a:lvl1pPr algn="l">
              <a:lnSpc>
                <a:spcPct val="100000"/>
              </a:lnSpc>
              <a:defRPr sz="4400" b="0" i="0" u="none" strike="noStrike" spc="0">
                <a:solidFill>
                  <a:srgbClr val="000000">
                    <a:alpha val="100000"/>
                  </a:srgbClr>
                </a:solidFill>
                <a:latin typeface="Biennale Bold"/>
              </a:defRPr>
            </a:lvl1pPr>
          </a:lstStyle>
          <a:p>
            <a:pPr marL="0" indent="0" algn="l">
              <a:lnSpc>
                <a:spcPct val="100000"/>
              </a:lnSpc>
            </a:pPr>
            <a:r>
              <a:rPr lang="en-US" sz="4400" b="0" i="0" u="none" strike="noStrike">
                <a:solidFill>
                  <a:srgbClr val="000000"/>
                </a:solidFill>
                <a:latin typeface="Biennale Bold"/>
                <a:ea typeface="Biennale Bold"/>
                <a:cs typeface="Biennale Bold"/>
                <a:sym typeface="Biennale Bold"/>
              </a:rPr>
              <a:t>Divider page</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Custom Layout">
    <p:spTree>
      <p:nvGrpSpPr>
        <p:cNvPr id="1" name=""/>
        <p:cNvGrpSpPr/>
        <p:nvPr/>
      </p:nvGrpSpPr>
      <p:grpSpPr>
        <a:xfrm>
          <a:off x="0" y="0"/>
          <a:ext cx="0" cy="0"/>
          <a:chOff x="0" y="0"/>
          <a:chExt cx="0" cy="0"/>
        </a:xfrm>
      </p:grpSpPr>
      <p:sp>
        <p:nvSpPr>
          <p:cNvPr id="2" name="AutoShape 2"/>
          <p:cNvSpPr>
            <a:spLocks noGrp="1"/>
          </p:cNvSpPr>
          <p:nvPr>
            <p:ph type="pic" sz="quarter" idx="147"/>
          </p:nvPr>
        </p:nvSpPr>
        <p:spPr>
          <a:xfrm>
            <a:off x="40341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pic" sz="quarter" idx="148"/>
          </p:nvPr>
        </p:nvSpPr>
        <p:spPr>
          <a:xfrm>
            <a:off x="403411" y="1439904"/>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 name="AutoShape 4"/>
          <p:cNvSpPr>
            <a:spLocks noGrp="1"/>
          </p:cNvSpPr>
          <p:nvPr>
            <p:ph type="pic" sz="quarter" idx="149"/>
          </p:nvPr>
        </p:nvSpPr>
        <p:spPr>
          <a:xfrm>
            <a:off x="40341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 name="AutoShape 5"/>
          <p:cNvSpPr>
            <a:spLocks noGrp="1"/>
          </p:cNvSpPr>
          <p:nvPr>
            <p:ph type="pic" sz="quarter" idx="150"/>
          </p:nvPr>
        </p:nvSpPr>
        <p:spPr>
          <a:xfrm>
            <a:off x="40341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6" name="AutoShape 6"/>
          <p:cNvSpPr>
            <a:spLocks noGrp="1"/>
          </p:cNvSpPr>
          <p:nvPr>
            <p:ph type="pic" sz="quarter" idx="151"/>
          </p:nvPr>
        </p:nvSpPr>
        <p:spPr>
          <a:xfrm>
            <a:off x="403411" y="5651686"/>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7" name="AutoShape 7"/>
          <p:cNvSpPr>
            <a:spLocks noGrp="1"/>
          </p:cNvSpPr>
          <p:nvPr>
            <p:ph type="pic" sz="quarter" idx="152"/>
          </p:nvPr>
        </p:nvSpPr>
        <p:spPr>
          <a:xfrm>
            <a:off x="40341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8" name="AutoShape 8"/>
          <p:cNvSpPr>
            <a:spLocks noGrp="1"/>
          </p:cNvSpPr>
          <p:nvPr>
            <p:ph type="pic" sz="quarter" idx="153"/>
          </p:nvPr>
        </p:nvSpPr>
        <p:spPr>
          <a:xfrm>
            <a:off x="170539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9" name="AutoShape 9"/>
          <p:cNvSpPr>
            <a:spLocks noGrp="1"/>
          </p:cNvSpPr>
          <p:nvPr>
            <p:ph type="pic" sz="quarter" idx="154"/>
          </p:nvPr>
        </p:nvSpPr>
        <p:spPr>
          <a:xfrm>
            <a:off x="300738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0" name="AutoShape 10"/>
          <p:cNvSpPr>
            <a:spLocks noGrp="1"/>
          </p:cNvSpPr>
          <p:nvPr>
            <p:ph type="pic" sz="quarter" idx="155"/>
          </p:nvPr>
        </p:nvSpPr>
        <p:spPr>
          <a:xfrm>
            <a:off x="4309375"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1" name="AutoShape 11"/>
          <p:cNvSpPr>
            <a:spLocks noGrp="1"/>
          </p:cNvSpPr>
          <p:nvPr>
            <p:ph type="pic" sz="quarter" idx="156"/>
          </p:nvPr>
        </p:nvSpPr>
        <p:spPr>
          <a:xfrm>
            <a:off x="5611363"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2" name="AutoShape 12"/>
          <p:cNvSpPr>
            <a:spLocks noGrp="1"/>
          </p:cNvSpPr>
          <p:nvPr>
            <p:ph type="pic" sz="quarter" idx="157"/>
          </p:nvPr>
        </p:nvSpPr>
        <p:spPr>
          <a:xfrm>
            <a:off x="691335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3" name="AutoShape 13"/>
          <p:cNvSpPr>
            <a:spLocks noGrp="1"/>
          </p:cNvSpPr>
          <p:nvPr>
            <p:ph type="pic" sz="quarter" idx="158"/>
          </p:nvPr>
        </p:nvSpPr>
        <p:spPr>
          <a:xfrm>
            <a:off x="821533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4" name="AutoShape 14"/>
          <p:cNvSpPr>
            <a:spLocks noGrp="1"/>
          </p:cNvSpPr>
          <p:nvPr>
            <p:ph type="pic" sz="quarter" idx="159"/>
          </p:nvPr>
        </p:nvSpPr>
        <p:spPr>
          <a:xfrm>
            <a:off x="951732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5" name="AutoShape 15"/>
          <p:cNvSpPr>
            <a:spLocks noGrp="1"/>
          </p:cNvSpPr>
          <p:nvPr>
            <p:ph type="pic" sz="quarter" idx="160"/>
          </p:nvPr>
        </p:nvSpPr>
        <p:spPr>
          <a:xfrm>
            <a:off x="10819317" y="39039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6" name="AutoShape 16"/>
          <p:cNvSpPr>
            <a:spLocks noGrp="1"/>
          </p:cNvSpPr>
          <p:nvPr>
            <p:ph type="pic" sz="quarter" idx="161"/>
          </p:nvPr>
        </p:nvSpPr>
        <p:spPr>
          <a:xfrm>
            <a:off x="170539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7" name="AutoShape 17"/>
          <p:cNvSpPr>
            <a:spLocks noGrp="1"/>
          </p:cNvSpPr>
          <p:nvPr>
            <p:ph type="pic" sz="quarter" idx="162"/>
          </p:nvPr>
        </p:nvSpPr>
        <p:spPr>
          <a:xfrm>
            <a:off x="300738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8" name="AutoShape 18"/>
          <p:cNvSpPr>
            <a:spLocks noGrp="1"/>
          </p:cNvSpPr>
          <p:nvPr>
            <p:ph type="pic" sz="quarter" idx="163"/>
          </p:nvPr>
        </p:nvSpPr>
        <p:spPr>
          <a:xfrm>
            <a:off x="4309375"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9" name="AutoShape 19"/>
          <p:cNvSpPr>
            <a:spLocks noGrp="1"/>
          </p:cNvSpPr>
          <p:nvPr>
            <p:ph type="pic" sz="quarter" idx="164"/>
          </p:nvPr>
        </p:nvSpPr>
        <p:spPr>
          <a:xfrm>
            <a:off x="5611363"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0" name="AutoShape 20"/>
          <p:cNvSpPr>
            <a:spLocks noGrp="1"/>
          </p:cNvSpPr>
          <p:nvPr>
            <p:ph type="pic" sz="quarter" idx="165"/>
          </p:nvPr>
        </p:nvSpPr>
        <p:spPr>
          <a:xfrm>
            <a:off x="6913351"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1" name="AutoShape 21"/>
          <p:cNvSpPr>
            <a:spLocks noGrp="1"/>
          </p:cNvSpPr>
          <p:nvPr>
            <p:ph type="pic" sz="quarter" idx="166"/>
          </p:nvPr>
        </p:nvSpPr>
        <p:spPr>
          <a:xfrm>
            <a:off x="821533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2" name="AutoShape 22"/>
          <p:cNvSpPr>
            <a:spLocks noGrp="1"/>
          </p:cNvSpPr>
          <p:nvPr>
            <p:ph type="pic" sz="quarter" idx="167"/>
          </p:nvPr>
        </p:nvSpPr>
        <p:spPr>
          <a:xfrm>
            <a:off x="951732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3" name="AutoShape 23"/>
          <p:cNvSpPr>
            <a:spLocks noGrp="1"/>
          </p:cNvSpPr>
          <p:nvPr>
            <p:ph type="pic" sz="quarter" idx="168"/>
          </p:nvPr>
        </p:nvSpPr>
        <p:spPr>
          <a:xfrm>
            <a:off x="10819317" y="1439904"/>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4" name="AutoShape 24"/>
          <p:cNvSpPr>
            <a:spLocks noGrp="1"/>
          </p:cNvSpPr>
          <p:nvPr>
            <p:ph type="pic" sz="quarter" idx="169"/>
          </p:nvPr>
        </p:nvSpPr>
        <p:spPr>
          <a:xfrm>
            <a:off x="170539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5" name="AutoShape 25"/>
          <p:cNvSpPr>
            <a:spLocks noGrp="1"/>
          </p:cNvSpPr>
          <p:nvPr>
            <p:ph type="pic" sz="quarter" idx="170"/>
          </p:nvPr>
        </p:nvSpPr>
        <p:spPr>
          <a:xfrm>
            <a:off x="300738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6" name="AutoShape 26"/>
          <p:cNvSpPr>
            <a:spLocks noGrp="1"/>
          </p:cNvSpPr>
          <p:nvPr>
            <p:ph type="pic" sz="quarter" idx="171"/>
          </p:nvPr>
        </p:nvSpPr>
        <p:spPr>
          <a:xfrm>
            <a:off x="4309375"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7" name="AutoShape 27"/>
          <p:cNvSpPr>
            <a:spLocks noGrp="1"/>
          </p:cNvSpPr>
          <p:nvPr>
            <p:ph type="pic" sz="quarter" idx="172"/>
          </p:nvPr>
        </p:nvSpPr>
        <p:spPr>
          <a:xfrm>
            <a:off x="5611363"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8" name="AutoShape 28"/>
          <p:cNvSpPr>
            <a:spLocks noGrp="1"/>
          </p:cNvSpPr>
          <p:nvPr>
            <p:ph type="pic" sz="quarter" idx="173"/>
          </p:nvPr>
        </p:nvSpPr>
        <p:spPr>
          <a:xfrm>
            <a:off x="691335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9" name="AutoShape 29"/>
          <p:cNvSpPr>
            <a:spLocks noGrp="1"/>
          </p:cNvSpPr>
          <p:nvPr>
            <p:ph type="pic" sz="quarter" idx="174"/>
          </p:nvPr>
        </p:nvSpPr>
        <p:spPr>
          <a:xfrm>
            <a:off x="821533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0" name="AutoShape 30"/>
          <p:cNvSpPr>
            <a:spLocks noGrp="1"/>
          </p:cNvSpPr>
          <p:nvPr>
            <p:ph type="pic" sz="quarter" idx="175"/>
          </p:nvPr>
        </p:nvSpPr>
        <p:spPr>
          <a:xfrm>
            <a:off x="951732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1" name="AutoShape 31"/>
          <p:cNvSpPr>
            <a:spLocks noGrp="1"/>
          </p:cNvSpPr>
          <p:nvPr>
            <p:ph type="pic" sz="quarter" idx="176"/>
          </p:nvPr>
        </p:nvSpPr>
        <p:spPr>
          <a:xfrm>
            <a:off x="10819317" y="249628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2" name="AutoShape 32"/>
          <p:cNvSpPr>
            <a:spLocks noGrp="1"/>
          </p:cNvSpPr>
          <p:nvPr>
            <p:ph type="pic" sz="quarter" idx="177"/>
          </p:nvPr>
        </p:nvSpPr>
        <p:spPr>
          <a:xfrm>
            <a:off x="170539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3" name="AutoShape 33"/>
          <p:cNvSpPr>
            <a:spLocks noGrp="1"/>
          </p:cNvSpPr>
          <p:nvPr>
            <p:ph type="pic" sz="quarter" idx="178"/>
          </p:nvPr>
        </p:nvSpPr>
        <p:spPr>
          <a:xfrm>
            <a:off x="300738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4" name="AutoShape 34"/>
          <p:cNvSpPr>
            <a:spLocks noGrp="1"/>
          </p:cNvSpPr>
          <p:nvPr>
            <p:ph type="pic" sz="quarter" idx="179"/>
          </p:nvPr>
        </p:nvSpPr>
        <p:spPr>
          <a:xfrm>
            <a:off x="4309375"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5" name="AutoShape 35"/>
          <p:cNvSpPr>
            <a:spLocks noGrp="1"/>
          </p:cNvSpPr>
          <p:nvPr>
            <p:ph type="pic" sz="quarter" idx="180"/>
          </p:nvPr>
        </p:nvSpPr>
        <p:spPr>
          <a:xfrm>
            <a:off x="5611363"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6" name="AutoShape 36"/>
          <p:cNvSpPr>
            <a:spLocks noGrp="1"/>
          </p:cNvSpPr>
          <p:nvPr>
            <p:ph type="pic" sz="quarter" idx="181"/>
          </p:nvPr>
        </p:nvSpPr>
        <p:spPr>
          <a:xfrm>
            <a:off x="691335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7" name="AutoShape 37"/>
          <p:cNvSpPr>
            <a:spLocks noGrp="1"/>
          </p:cNvSpPr>
          <p:nvPr>
            <p:ph type="pic" sz="quarter" idx="182"/>
          </p:nvPr>
        </p:nvSpPr>
        <p:spPr>
          <a:xfrm>
            <a:off x="821533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8" name="AutoShape 38"/>
          <p:cNvSpPr>
            <a:spLocks noGrp="1"/>
          </p:cNvSpPr>
          <p:nvPr>
            <p:ph type="pic" sz="quarter" idx="183"/>
          </p:nvPr>
        </p:nvSpPr>
        <p:spPr>
          <a:xfrm>
            <a:off x="951732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9" name="AutoShape 39"/>
          <p:cNvSpPr>
            <a:spLocks noGrp="1"/>
          </p:cNvSpPr>
          <p:nvPr>
            <p:ph type="pic" sz="quarter" idx="184"/>
          </p:nvPr>
        </p:nvSpPr>
        <p:spPr>
          <a:xfrm>
            <a:off x="10819317" y="3542360"/>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0" name="AutoShape 40"/>
          <p:cNvSpPr>
            <a:spLocks noGrp="1"/>
          </p:cNvSpPr>
          <p:nvPr>
            <p:ph type="pic" sz="quarter" idx="185"/>
          </p:nvPr>
        </p:nvSpPr>
        <p:spPr>
          <a:xfrm>
            <a:off x="170539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1" name="AutoShape 41"/>
          <p:cNvSpPr>
            <a:spLocks noGrp="1"/>
          </p:cNvSpPr>
          <p:nvPr>
            <p:ph type="pic" sz="quarter" idx="186"/>
          </p:nvPr>
        </p:nvSpPr>
        <p:spPr>
          <a:xfrm>
            <a:off x="300738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2" name="AutoShape 42"/>
          <p:cNvSpPr>
            <a:spLocks noGrp="1"/>
          </p:cNvSpPr>
          <p:nvPr>
            <p:ph type="pic" sz="quarter" idx="187"/>
          </p:nvPr>
        </p:nvSpPr>
        <p:spPr>
          <a:xfrm>
            <a:off x="4309375"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3" name="AutoShape 43"/>
          <p:cNvSpPr>
            <a:spLocks noGrp="1"/>
          </p:cNvSpPr>
          <p:nvPr>
            <p:ph type="pic" sz="quarter" idx="188"/>
          </p:nvPr>
        </p:nvSpPr>
        <p:spPr>
          <a:xfrm>
            <a:off x="5611363"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4" name="AutoShape 44"/>
          <p:cNvSpPr>
            <a:spLocks noGrp="1"/>
          </p:cNvSpPr>
          <p:nvPr>
            <p:ph type="pic" sz="quarter" idx="189"/>
          </p:nvPr>
        </p:nvSpPr>
        <p:spPr>
          <a:xfrm>
            <a:off x="691335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5" name="AutoShape 45"/>
          <p:cNvSpPr>
            <a:spLocks noGrp="1"/>
          </p:cNvSpPr>
          <p:nvPr>
            <p:ph type="pic" sz="quarter" idx="190"/>
          </p:nvPr>
        </p:nvSpPr>
        <p:spPr>
          <a:xfrm>
            <a:off x="821533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6" name="AutoShape 46"/>
          <p:cNvSpPr>
            <a:spLocks noGrp="1"/>
          </p:cNvSpPr>
          <p:nvPr>
            <p:ph type="pic" sz="quarter" idx="191"/>
          </p:nvPr>
        </p:nvSpPr>
        <p:spPr>
          <a:xfrm>
            <a:off x="951732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7" name="AutoShape 47"/>
          <p:cNvSpPr>
            <a:spLocks noGrp="1"/>
          </p:cNvSpPr>
          <p:nvPr>
            <p:ph type="pic" sz="quarter" idx="192"/>
          </p:nvPr>
        </p:nvSpPr>
        <p:spPr>
          <a:xfrm>
            <a:off x="10819317" y="460217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8" name="AutoShape 48"/>
          <p:cNvSpPr>
            <a:spLocks noGrp="1"/>
          </p:cNvSpPr>
          <p:nvPr>
            <p:ph type="pic" sz="quarter" idx="193"/>
          </p:nvPr>
        </p:nvSpPr>
        <p:spPr>
          <a:xfrm>
            <a:off x="170539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9" name="AutoShape 49"/>
          <p:cNvSpPr>
            <a:spLocks noGrp="1"/>
          </p:cNvSpPr>
          <p:nvPr>
            <p:ph type="pic" sz="quarter" idx="194"/>
          </p:nvPr>
        </p:nvSpPr>
        <p:spPr>
          <a:xfrm>
            <a:off x="300738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0" name="AutoShape 50"/>
          <p:cNvSpPr>
            <a:spLocks noGrp="1"/>
          </p:cNvSpPr>
          <p:nvPr>
            <p:ph type="pic" sz="quarter" idx="195"/>
          </p:nvPr>
        </p:nvSpPr>
        <p:spPr>
          <a:xfrm>
            <a:off x="4309375"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1" name="AutoShape 51"/>
          <p:cNvSpPr>
            <a:spLocks noGrp="1"/>
          </p:cNvSpPr>
          <p:nvPr>
            <p:ph type="pic" sz="quarter" idx="196"/>
          </p:nvPr>
        </p:nvSpPr>
        <p:spPr>
          <a:xfrm>
            <a:off x="5611363"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2" name="AutoShape 52"/>
          <p:cNvSpPr>
            <a:spLocks noGrp="1"/>
          </p:cNvSpPr>
          <p:nvPr>
            <p:ph type="pic" sz="quarter" idx="197"/>
          </p:nvPr>
        </p:nvSpPr>
        <p:spPr>
          <a:xfrm>
            <a:off x="6913351"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3" name="AutoShape 53"/>
          <p:cNvSpPr>
            <a:spLocks noGrp="1"/>
          </p:cNvSpPr>
          <p:nvPr>
            <p:ph type="pic" sz="quarter" idx="198"/>
          </p:nvPr>
        </p:nvSpPr>
        <p:spPr>
          <a:xfrm>
            <a:off x="821533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4" name="AutoShape 54"/>
          <p:cNvSpPr>
            <a:spLocks noGrp="1"/>
          </p:cNvSpPr>
          <p:nvPr>
            <p:ph type="pic" sz="quarter" idx="199"/>
          </p:nvPr>
        </p:nvSpPr>
        <p:spPr>
          <a:xfrm>
            <a:off x="951732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5" name="AutoShape 55"/>
          <p:cNvSpPr>
            <a:spLocks noGrp="1"/>
          </p:cNvSpPr>
          <p:nvPr>
            <p:ph type="pic" sz="quarter" idx="200"/>
          </p:nvPr>
        </p:nvSpPr>
        <p:spPr>
          <a:xfrm>
            <a:off x="10819317" y="5651686"/>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3.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theme" Target="../theme/theme4.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3" name="AutoShape 1"/>
          <p:cNvSpPr/>
          <p:nvPr/>
        </p:nvSpPr>
        <p:spPr>
          <a:xfrm>
            <a:off x="428625" y="6517632"/>
            <a:ext cx="13542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Confidential </a:t>
            </a:r>
            <a:endParaRPr lang="en-US" sz="1100"/>
          </a:p>
        </p:txBody>
      </p:sp>
      <p:sp>
        <p:nvSpPr>
          <p:cNvPr id="2" name="Freeform 2"/>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3" name="AutoShape 1"/>
          <p:cNvSpPr/>
          <p:nvPr/>
        </p:nvSpPr>
        <p:spPr>
          <a:xfrm>
            <a:off x="428625" y="6517632"/>
            <a:ext cx="13542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Confidential </a:t>
            </a:r>
            <a:endParaRPr lang="en-US" sz="1100"/>
          </a:p>
        </p:txBody>
      </p:sp>
      <p:sp>
        <p:nvSpPr>
          <p:cNvPr id="2" name="Freeform 2"/>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2.xml"/><Relationship Id="rId18" Type="http://schemas.openxmlformats.org/officeDocument/2006/relationships/image" Target="../media/image16.sv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5.svg"/><Relationship Id="rId2" Type="http://schemas.openxmlformats.org/officeDocument/2006/relationships/tags" Target="../tags/tag2.xml"/><Relationship Id="rId16" Type="http://schemas.openxmlformats.org/officeDocument/2006/relationships/image" Target="../media/image14.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1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5.svg"/></Relationships>
</file>

<file path=ppt/slides/_rels/slide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27.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3068" y="6391780"/>
            <a:ext cx="835165"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3" name="AutoShape 3"/>
          <p:cNvSpPr/>
          <p:nvPr/>
        </p:nvSpPr>
        <p:spPr>
          <a:xfrm>
            <a:off x="423068" y="1847166"/>
            <a:ext cx="5486400" cy="1581833"/>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spcAft>
                <a:spcPts val="300"/>
              </a:spcAft>
              <a:defRPr/>
            </a:pPr>
            <a:r>
              <a:rPr lang="en-US" sz="4400" b="0" i="0" u="none" strike="noStrike" dirty="0" err="1">
                <a:solidFill>
                  <a:srgbClr val="0073E6"/>
                </a:solidFill>
                <a:latin typeface="Biennale Bold"/>
                <a:ea typeface="Biennale Bold"/>
                <a:cs typeface="Biennale Bold"/>
                <a:sym typeface="Biennale Bold"/>
              </a:rPr>
              <a:t>跨公司转卖模式优化（</a:t>
            </a:r>
            <a:r>
              <a:rPr lang="en-US" sz="3200" b="0" i="0" u="none" strike="noStrike" dirty="0" err="1">
                <a:solidFill>
                  <a:srgbClr val="0073E6"/>
                </a:solidFill>
                <a:latin typeface="Biennale Bold"/>
                <a:ea typeface="Biennale Bold"/>
                <a:cs typeface="Biennale Bold"/>
                <a:sym typeface="Biennale Bold"/>
              </a:rPr>
              <a:t>STO</a:t>
            </a:r>
            <a:r>
              <a:rPr lang="en-US" sz="3200" dirty="0">
                <a:solidFill>
                  <a:srgbClr val="0073E6"/>
                </a:solidFill>
                <a:latin typeface="Biennale Bold"/>
                <a:ea typeface="Biennale Bold"/>
                <a:cs typeface="Biennale Bold"/>
                <a:sym typeface="Biennale Bold"/>
              </a:rPr>
              <a:t>&amp;</a:t>
            </a:r>
            <a:r>
              <a:rPr lang="zh-CN" altLang="en-US" sz="3200" dirty="0">
                <a:solidFill>
                  <a:srgbClr val="0073E6"/>
                </a:solidFill>
                <a:latin typeface="Biennale Bold"/>
                <a:ea typeface="Biennale Bold"/>
                <a:cs typeface="Biennale Bold"/>
                <a:sym typeface="Biennale Bold"/>
              </a:rPr>
              <a:t>销售采购</a:t>
            </a:r>
            <a:r>
              <a:rPr lang="en-US" sz="3200" b="0" i="0" u="none" strike="noStrike" dirty="0">
                <a:solidFill>
                  <a:srgbClr val="0073E6"/>
                </a:solidFill>
                <a:latin typeface="Biennale Bold"/>
                <a:ea typeface="Biennale Bold"/>
                <a:cs typeface="Biennale Bold"/>
                <a:sym typeface="Biennale Bold"/>
              </a:rPr>
              <a:t>→</a:t>
            </a:r>
            <a:r>
              <a:rPr lang="en-US" sz="3200" b="0" i="0" u="none" strike="noStrike" dirty="0" err="1">
                <a:solidFill>
                  <a:srgbClr val="0073E6"/>
                </a:solidFill>
                <a:latin typeface="Biennale Bold"/>
                <a:ea typeface="Biennale Bold"/>
                <a:cs typeface="Biennale Bold"/>
                <a:sym typeface="Biennale Bold"/>
              </a:rPr>
              <a:t>IC销售</a:t>
            </a:r>
            <a:r>
              <a:rPr lang="en-US" sz="4400" b="0" i="0" u="none" strike="noStrike" dirty="0">
                <a:solidFill>
                  <a:srgbClr val="0073E6"/>
                </a:solidFill>
                <a:latin typeface="Biennale Bold"/>
                <a:ea typeface="Biennale Bold"/>
                <a:cs typeface="Biennale Bold"/>
                <a:sym typeface="Biennale Bold"/>
              </a:rPr>
              <a:t>）</a:t>
            </a:r>
            <a:endParaRPr lang="en-US" sz="1100" dirty="0"/>
          </a:p>
        </p:txBody>
      </p:sp>
      <p:sp>
        <p:nvSpPr>
          <p:cNvPr id="4" name="AutoShape 4"/>
          <p:cNvSpPr/>
          <p:nvPr/>
        </p:nvSpPr>
        <p:spPr>
          <a:xfrm>
            <a:off x="423068" y="4077251"/>
            <a:ext cx="5486400" cy="1121887"/>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spcAft>
                <a:spcPts val="600"/>
              </a:spcAft>
              <a:defRPr/>
            </a:pPr>
            <a:r>
              <a:rPr lang="en-US" sz="3600" b="0" i="0" u="none" strike="noStrike">
                <a:solidFill>
                  <a:srgbClr val="00005C"/>
                </a:solidFill>
                <a:latin typeface="Biennale Bold"/>
                <a:ea typeface="Biennale Bold"/>
                <a:cs typeface="Biennale Bold"/>
                <a:sym typeface="Biennale Bold"/>
              </a:rPr>
              <a:t>业务诊断咨询及SAP系统升级实施项目</a:t>
            </a:r>
            <a:endParaRPr lang="en-US" sz="1100"/>
          </a:p>
        </p:txBody>
      </p:sp>
      <p:sp>
        <p:nvSpPr>
          <p:cNvPr id="5" name="AutoShape 5"/>
          <p:cNvSpPr/>
          <p:nvPr/>
        </p:nvSpPr>
        <p:spPr>
          <a:xfrm>
            <a:off x="423068" y="5491978"/>
            <a:ext cx="3657600" cy="64008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spcAft>
                <a:spcPts val="600"/>
              </a:spcAft>
              <a:defRPr/>
            </a:pPr>
            <a:r>
              <a:rPr lang="en-US" sz="1600" b="0" i="0" u="none" strike="noStrike">
                <a:solidFill>
                  <a:srgbClr val="00005C"/>
                </a:solidFill>
                <a:latin typeface="Biennale"/>
                <a:ea typeface="Biennale"/>
                <a:cs typeface="Biennale"/>
                <a:sym typeface="Biennale"/>
              </a:rPr>
              <a:t>2026.08.15</a:t>
            </a:r>
            <a:endParaRPr lang="en-US" sz="1100"/>
          </a:p>
        </p:txBody>
      </p:sp>
      <p:pic>
        <p:nvPicPr>
          <p:cNvPr id="6" name="Picture 6"/>
          <p:cNvPicPr>
            <a:picLocks noChangeAspect="1"/>
          </p:cNvPicPr>
          <p:nvPr/>
        </p:nvPicPr>
        <p:blipFill>
          <a:blip r:embed="rId3"/>
          <a:srcRect l="107" r="106"/>
          <a:stretch>
            <a:fillRect/>
          </a:stretch>
        </p:blipFill>
        <p:spPr>
          <a:xfrm>
            <a:off x="6092952" y="0"/>
            <a:ext cx="6099048" cy="68580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423068" y="340653"/>
            <a:ext cx="1930400" cy="3810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117917" y="1285493"/>
            <a:ext cx="1545853" cy="1545853"/>
          </a:xfrm>
          <a:prstGeom prst="rect">
            <a:avLst/>
          </a:prstGeom>
        </p:spPr>
      </p:pic>
      <p:sp>
        <p:nvSpPr>
          <p:cNvPr id="5" name="AutoShape 5"/>
          <p:cNvSpPr/>
          <p:nvPr/>
        </p:nvSpPr>
        <p:spPr>
          <a:xfrm>
            <a:off x="2954745" y="1446367"/>
            <a:ext cx="310983" cy="369332"/>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01</a:t>
            </a:r>
            <a:endParaRPr lang="en-US" sz="1100"/>
          </a:p>
        </p:txBody>
      </p:sp>
      <p:sp>
        <p:nvSpPr>
          <p:cNvPr id="6" name="AutoShape 6"/>
          <p:cNvSpPr/>
          <p:nvPr/>
        </p:nvSpPr>
        <p:spPr>
          <a:xfrm>
            <a:off x="3621008" y="1446530"/>
            <a:ext cx="7520940" cy="127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现状与方案概述</a:t>
            </a:r>
            <a:endParaRPr lang="en-US" sz="1100"/>
          </a:p>
        </p:txBody>
      </p:sp>
      <p:sp>
        <p:nvSpPr>
          <p:cNvPr id="7" name="AutoShape 7"/>
          <p:cNvSpPr/>
          <p:nvPr/>
        </p:nvSpPr>
        <p:spPr>
          <a:xfrm>
            <a:off x="11406268" y="1446367"/>
            <a:ext cx="355867" cy="307777"/>
          </a:xfrm>
          <a:prstGeom prst="rect">
            <a:avLst/>
          </a:prstGeom>
          <a:noFill/>
          <a:ln w="12700" cap="flat" cmpd="sng">
            <a:noFill/>
            <a:prstDash val="solid"/>
            <a:round/>
          </a:ln>
        </p:spPr>
        <p:txBody>
          <a:bodyPr vert="horz" wrap="none" lIns="0" tIns="0" rIns="0" bIns="0" rtlCol="0" anchor="t" anchorCtr="0"/>
          <a:lstStyle/>
          <a:p>
            <a:pPr algn="r">
              <a:defRPr/>
            </a:pPr>
            <a:endParaRPr/>
          </a:p>
        </p:txBody>
      </p:sp>
      <p:sp>
        <p:nvSpPr>
          <p:cNvPr id="8" name="AutoShape 8"/>
          <p:cNvSpPr/>
          <p:nvPr/>
        </p:nvSpPr>
        <p:spPr>
          <a:xfrm>
            <a:off x="11410950" y="2419350"/>
            <a:ext cx="355600" cy="307975"/>
          </a:xfrm>
          <a:prstGeom prst="rect">
            <a:avLst/>
          </a:prstGeom>
          <a:noFill/>
          <a:ln w="12700" cap="flat" cmpd="sng">
            <a:noFill/>
            <a:prstDash val="solid"/>
            <a:round/>
          </a:ln>
        </p:spPr>
        <p:txBody>
          <a:bodyPr vert="horz" wrap="none" lIns="0" tIns="0" rIns="0" bIns="0" rtlCol="0" anchor="t" anchorCtr="0"/>
          <a:lstStyle/>
          <a:p>
            <a:pPr algn="r">
              <a:defRPr/>
            </a:pPr>
            <a:endParaRPr/>
          </a:p>
        </p:txBody>
      </p:sp>
      <p:sp>
        <p:nvSpPr>
          <p:cNvPr id="9" name="AutoShape 9"/>
          <p:cNvSpPr/>
          <p:nvPr/>
        </p:nvSpPr>
        <p:spPr>
          <a:xfrm>
            <a:off x="11406268" y="4586561"/>
            <a:ext cx="355867" cy="307777"/>
          </a:xfrm>
          <a:prstGeom prst="rect">
            <a:avLst/>
          </a:prstGeom>
          <a:noFill/>
          <a:ln w="12700" cap="flat" cmpd="sng">
            <a:noFill/>
            <a:prstDash val="solid"/>
            <a:round/>
          </a:ln>
        </p:spPr>
        <p:txBody>
          <a:bodyPr vert="horz" wrap="none" lIns="0" tIns="0" rIns="0" bIns="0" rtlCol="0" anchor="t" anchorCtr="0"/>
          <a:lstStyle/>
          <a:p>
            <a:pPr algn="r">
              <a:defRPr/>
            </a:pPr>
            <a:endParaRPr/>
          </a:p>
        </p:txBody>
      </p:sp>
      <p:sp>
        <p:nvSpPr>
          <p:cNvPr id="10" name="AutoShape 10"/>
          <p:cNvSpPr/>
          <p:nvPr/>
        </p:nvSpPr>
        <p:spPr>
          <a:xfrm>
            <a:off x="2954745" y="2412966"/>
            <a:ext cx="365760" cy="368935"/>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02</a:t>
            </a:r>
            <a:endParaRPr lang="en-US" sz="1100"/>
          </a:p>
        </p:txBody>
      </p:sp>
      <p:sp>
        <p:nvSpPr>
          <p:cNvPr id="11" name="AutoShape 11"/>
          <p:cNvSpPr/>
          <p:nvPr/>
        </p:nvSpPr>
        <p:spPr>
          <a:xfrm>
            <a:off x="3621008" y="2413000"/>
            <a:ext cx="7520940" cy="127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IC销售流程及系统实现</a:t>
            </a:r>
            <a:endParaRPr lang="en-US" sz="1100"/>
          </a:p>
        </p:txBody>
      </p:sp>
      <p:sp>
        <p:nvSpPr>
          <p:cNvPr id="12" name="AutoShape 12"/>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600" b="1" i="0" u="none" strike="noStrike">
                <a:solidFill>
                  <a:srgbClr val="00005C"/>
                </a:solidFill>
                <a:latin typeface="Biennale Bold"/>
                <a:ea typeface="Biennale Bold"/>
                <a:cs typeface="Biennale Bold"/>
                <a:sym typeface="Biennale Bold"/>
              </a:rPr>
              <a:t>目录</a:t>
            </a:r>
            <a:endParaRPr lang="en-US" sz="1100"/>
          </a:p>
        </p:txBody>
      </p:sp>
      <p:pic>
        <p:nvPicPr>
          <p:cNvPr id="13" name="Picture 13"/>
          <p:cNvPicPr>
            <a:picLocks noChangeAspect="1"/>
          </p:cNvPicPr>
          <p:nvPr/>
        </p:nvPicPr>
        <p:blipFill>
          <a:blip r:embed="rId4"/>
          <a:srcRect/>
          <a:stretch>
            <a:fillRect/>
          </a:stretch>
        </p:blipFill>
        <p:spPr>
          <a:xfrm>
            <a:off x="10160455" y="100951"/>
            <a:ext cx="1930400" cy="381000"/>
          </a:xfrm>
          <a:prstGeom prst="rect">
            <a:avLst/>
          </a:prstGeom>
          <a:noFill/>
          <a:ln w="25400" cap="flat" cmpd="sng">
            <a:noFill/>
            <a:prstDash val="solid"/>
            <a:round/>
          </a:ln>
        </p:spPr>
      </p:pic>
      <p:sp>
        <p:nvSpPr>
          <p:cNvPr id="14" name="AutoShape 14"/>
          <p:cNvSpPr/>
          <p:nvPr/>
        </p:nvSpPr>
        <p:spPr>
          <a:xfrm>
            <a:off x="2954745" y="3479013"/>
            <a:ext cx="365760" cy="368935"/>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03</a:t>
            </a:r>
            <a:endParaRPr lang="en-US" sz="1100"/>
          </a:p>
        </p:txBody>
      </p:sp>
      <p:sp>
        <p:nvSpPr>
          <p:cNvPr id="15" name="AutoShape 15"/>
          <p:cNvSpPr/>
          <p:nvPr/>
        </p:nvSpPr>
        <p:spPr>
          <a:xfrm>
            <a:off x="3621008" y="3479165"/>
            <a:ext cx="7520940" cy="12700"/>
          </a:xfrm>
          <a:prstGeom prst="roundRect">
            <a:avLst>
              <a:gd name="adj" fmla="val 0"/>
            </a:avLst>
          </a:prstGeom>
          <a:noFill/>
          <a:ln w="254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配套行动计划</a:t>
            </a:r>
            <a:endParaRPr lang="en-US" sz="1100"/>
          </a:p>
        </p:txBody>
      </p:sp>
      <p:sp>
        <p:nvSpPr>
          <p:cNvPr id="16" name="AutoShape 16"/>
          <p:cNvSpPr/>
          <p:nvPr/>
        </p:nvSpPr>
        <p:spPr>
          <a:xfrm>
            <a:off x="2901405" y="4530775"/>
            <a:ext cx="365760" cy="368935"/>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04</a:t>
            </a:r>
            <a:endParaRPr lang="en-US" sz="1100"/>
          </a:p>
        </p:txBody>
      </p:sp>
      <p:sp>
        <p:nvSpPr>
          <p:cNvPr id="17" name="AutoShape 17"/>
          <p:cNvSpPr/>
          <p:nvPr/>
        </p:nvSpPr>
        <p:spPr>
          <a:xfrm>
            <a:off x="3621008" y="4530775"/>
            <a:ext cx="7521210" cy="12700"/>
          </a:xfrm>
          <a:prstGeom prst="roundRect">
            <a:avLst>
              <a:gd name="adj" fmla="val 0"/>
            </a:avLst>
          </a:prstGeom>
          <a:noFill/>
          <a:ln w="254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附录：需求清单映射</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15"/>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dirty="0" err="1">
                <a:solidFill>
                  <a:srgbClr val="0073E6"/>
                </a:solidFill>
                <a:latin typeface="Biennale Bold"/>
                <a:ea typeface="Biennale Bold"/>
                <a:cs typeface="Biennale Bold"/>
                <a:sym typeface="Biennale Bold"/>
              </a:rPr>
              <a:t>跨公司转卖核心痛点是流程繁琐且缺乏系统自动化闭环</a:t>
            </a: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AutoShape 6"/>
          <p:cNvSpPr/>
          <p:nvPr>
            <p:custDataLst>
              <p:tags r:id="rId1"/>
            </p:custDataLst>
          </p:nvPr>
        </p:nvSpPr>
        <p:spPr>
          <a:xfrm>
            <a:off x="508000" y="2413000"/>
            <a:ext cx="3556000" cy="2794000"/>
          </a:xfrm>
          <a:prstGeom prst="roundRect">
            <a:avLst>
              <a:gd name="adj" fmla="val 0"/>
            </a:avLst>
          </a:prstGeom>
          <a:solidFill>
            <a:srgbClr val="003366">
              <a:alpha val="100000"/>
            </a:srgbClr>
          </a:solidFill>
          <a:ln w="12700" cap="flat" cmpd="sng">
            <a:solidFill>
              <a:srgbClr val="DBEAFE">
                <a:alpha val="100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11200" y="2641600"/>
            <a:ext cx="355600" cy="355600"/>
          </a:xfrm>
          <a:prstGeom prst="rect">
            <a:avLst/>
          </a:prstGeom>
        </p:spPr>
      </p:pic>
      <p:sp>
        <p:nvSpPr>
          <p:cNvPr id="8" name="AutoShape 8"/>
          <p:cNvSpPr/>
          <p:nvPr>
            <p:custDataLst>
              <p:tags r:id="rId3"/>
            </p:custDataLst>
          </p:nvPr>
        </p:nvSpPr>
        <p:spPr>
          <a:xfrm>
            <a:off x="1168400" y="2641600"/>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Biennale"/>
                <a:ea typeface="Biennale"/>
                <a:cs typeface="Biennale"/>
                <a:sym typeface="Biennale"/>
              </a:rPr>
              <a:t>01</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问题聚焦</a:t>
            </a:r>
            <a:endParaRPr lang="en-US" sz="1100"/>
          </a:p>
        </p:txBody>
      </p:sp>
      <p:sp>
        <p:nvSpPr>
          <p:cNvPr id="9" name="AutoShape 9"/>
          <p:cNvSpPr/>
          <p:nvPr>
            <p:custDataLst>
              <p:tags r:id="rId4"/>
            </p:custDataLst>
          </p:nvPr>
        </p:nvSpPr>
        <p:spPr>
          <a:xfrm>
            <a:off x="711200" y="3238500"/>
            <a:ext cx="3149600" cy="184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当前公司间转卖依赖STO</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或销售采购</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模式，流程繁琐需多部门多岗位配合，转卖后库存不定时释放，订单创建失败无提醒，成品入库仍需人工转卖</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出库</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出库后</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再进行开票操作，</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严重影响流转效率与客户响应速度</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0" name="AutoShape 10"/>
          <p:cNvSpPr/>
          <p:nvPr>
            <p:custDataLst>
              <p:tags r:id="rId5"/>
            </p:custDataLst>
          </p:nvPr>
        </p:nvSpPr>
        <p:spPr>
          <a:xfrm>
            <a:off x="4318000" y="2413000"/>
            <a:ext cx="3556000" cy="2794000"/>
          </a:xfrm>
          <a:prstGeom prst="roundRect">
            <a:avLst>
              <a:gd name="adj" fmla="val 0"/>
            </a:avLst>
          </a:prstGeom>
          <a:solidFill>
            <a:srgbClr val="003366">
              <a:alpha val="100000"/>
            </a:srgbClr>
          </a:solidFill>
          <a:ln w="12700" cap="flat" cmpd="sng">
            <a:solidFill>
              <a:srgbClr val="DBEAFE">
                <a:alpha val="100000"/>
              </a:srgbClr>
            </a:solid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21200" y="2641600"/>
            <a:ext cx="355600" cy="355600"/>
          </a:xfrm>
          <a:prstGeom prst="rect">
            <a:avLst/>
          </a:prstGeom>
        </p:spPr>
      </p:pic>
      <p:sp>
        <p:nvSpPr>
          <p:cNvPr id="12" name="AutoShape 12"/>
          <p:cNvSpPr/>
          <p:nvPr>
            <p:custDataLst>
              <p:tags r:id="rId7"/>
            </p:custDataLst>
          </p:nvPr>
        </p:nvSpPr>
        <p:spPr>
          <a:xfrm>
            <a:off x="4978400" y="2641600"/>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Biennale"/>
                <a:ea typeface="Biennale"/>
                <a:cs typeface="Biennale"/>
                <a:sym typeface="Biennale"/>
              </a:rPr>
              <a:t>02</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方案定位</a:t>
            </a:r>
            <a:endParaRPr lang="en-US" sz="1100"/>
          </a:p>
        </p:txBody>
      </p:sp>
      <p:sp>
        <p:nvSpPr>
          <p:cNvPr id="13" name="AutoShape 13"/>
          <p:cNvSpPr/>
          <p:nvPr>
            <p:custDataLst>
              <p:tags r:id="rId8"/>
            </p:custDataLst>
          </p:nvPr>
        </p:nvSpPr>
        <p:spPr>
          <a:xfrm>
            <a:off x="4521200" y="3238500"/>
            <a:ext cx="3149600" cy="184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方案从供应链效率提升方向聚焦，精准锁定为跨公司转卖模式优化（STO</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&amp;</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销售采购</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IC销售</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通过启用SAP标准跨公司销售流程，销售公司接单直接指定生产工厂直发</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经销商或</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终端客户，系统自动生成内部公司间发票IV完成法人结算，大幅减少中间</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出、</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入库与调拨环节</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custDataLst>
              <p:tags r:id="rId9"/>
            </p:custDataLst>
          </p:nvPr>
        </p:nvSpPr>
        <p:spPr>
          <a:xfrm>
            <a:off x="8128000" y="2413000"/>
            <a:ext cx="3556000" cy="2794000"/>
          </a:xfrm>
          <a:prstGeom prst="roundRect">
            <a:avLst>
              <a:gd name="adj" fmla="val 0"/>
            </a:avLst>
          </a:prstGeom>
          <a:solidFill>
            <a:srgbClr val="003366">
              <a:alpha val="100000"/>
            </a:srgbClr>
          </a:solidFill>
          <a:ln w="12700" cap="flat" cmpd="sng">
            <a:solidFill>
              <a:srgbClr val="DBEAFE">
                <a:alpha val="100000"/>
              </a:srgbClr>
            </a:solid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331200" y="2641600"/>
            <a:ext cx="355600" cy="355600"/>
          </a:xfrm>
          <a:prstGeom prst="rect">
            <a:avLst/>
          </a:prstGeom>
        </p:spPr>
      </p:pic>
      <p:sp>
        <p:nvSpPr>
          <p:cNvPr id="16" name="AutoShape 16"/>
          <p:cNvSpPr/>
          <p:nvPr>
            <p:custDataLst>
              <p:tags r:id="rId11"/>
            </p:custDataLst>
          </p:nvPr>
        </p:nvSpPr>
        <p:spPr>
          <a:xfrm>
            <a:off x="8788400" y="2641600"/>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Biennale"/>
                <a:ea typeface="Biennale"/>
                <a:cs typeface="Biennale"/>
                <a:sym typeface="Biennale"/>
              </a:rPr>
              <a:t>03</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覆盖范围</a:t>
            </a:r>
            <a:endParaRPr lang="en-US" sz="1100"/>
          </a:p>
        </p:txBody>
      </p:sp>
      <p:sp>
        <p:nvSpPr>
          <p:cNvPr id="17" name="AutoShape 17"/>
          <p:cNvSpPr/>
          <p:nvPr>
            <p:custDataLst>
              <p:tags r:id="rId12"/>
            </p:custDataLst>
          </p:nvPr>
        </p:nvSpPr>
        <p:spPr>
          <a:xfrm>
            <a:off x="8331200" y="3238500"/>
            <a:ext cx="3149600" cy="184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全面覆盖公司间交易全链路：从销售订单接单与交货工厂指定，到工厂直发交货与库存自动释放；从内部公司间发票IV自动生成</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订单创建失败实时预警</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环节</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转卖</a:t>
            </a:r>
            <a:r>
              <a:rPr lang="zh-CN" alt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a:t>
            </a:r>
            <a:r>
              <a:rPr lang="en-US" sz="12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效率与流程合规审计，实现端到端闭环管控</a:t>
            </a:r>
            <a:r>
              <a:rPr lang="en-US" sz="1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0"/>
            <a:ext cx="6858000" cy="6858000"/>
          </a:xfrm>
          <a:prstGeom prst="rect">
            <a:avLst/>
          </a:prstGeom>
        </p:spPr>
      </p:pic>
      <p:sp>
        <p:nvSpPr>
          <p:cNvPr id="3" name="Freeform 3"/>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4" name="AutoShape 4"/>
          <p:cNvSpPr/>
          <p:nvPr/>
        </p:nvSpPr>
        <p:spPr>
          <a:xfrm>
            <a:off x="390098" y="389618"/>
            <a:ext cx="1247136" cy="1477328"/>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9600" b="0" i="0" u="none" strike="noStrike">
                <a:solidFill>
                  <a:srgbClr val="00005C"/>
                </a:solidFill>
                <a:latin typeface="Biennale Bold"/>
                <a:ea typeface="Biennale Bold"/>
                <a:cs typeface="Biennale Bold"/>
                <a:sym typeface="Biennale Bold"/>
              </a:rPr>
              <a:t>01</a:t>
            </a:r>
            <a:endParaRPr lang="en-US" sz="1100"/>
          </a:p>
        </p:txBody>
      </p:sp>
      <p:sp>
        <p:nvSpPr>
          <p:cNvPr id="5" name="AutoShape 5"/>
          <p:cNvSpPr/>
          <p:nvPr/>
        </p:nvSpPr>
        <p:spPr>
          <a:xfrm>
            <a:off x="1786976" y="1866946"/>
            <a:ext cx="7094047" cy="1929683"/>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5400" b="0" i="0" u="none" strike="noStrike">
                <a:solidFill>
                  <a:srgbClr val="00005C"/>
                </a:solidFill>
                <a:latin typeface="Biennale Bold"/>
                <a:ea typeface="Biennale Bold"/>
                <a:cs typeface="Biennale Bold"/>
                <a:sym typeface="Biennale Bold"/>
              </a:rPr>
              <a:t>方案综述</a:t>
            </a:r>
            <a:endParaRPr lang="en-US" sz="1100"/>
          </a:p>
        </p:txBody>
      </p:sp>
      <p:pic>
        <p:nvPicPr>
          <p:cNvPr id="6" name="Picture 6"/>
          <p:cNvPicPr>
            <a:picLocks noChangeAspect="1"/>
          </p:cNvPicPr>
          <p:nvPr/>
        </p:nvPicPr>
        <p:blipFill>
          <a:blip r:embed="rId4"/>
          <a:srcRect/>
          <a:stretch>
            <a:fillRect/>
          </a:stretch>
        </p:blipFill>
        <p:spPr>
          <a:xfrm>
            <a:off x="48466" y="125649"/>
            <a:ext cx="1930400" cy="381000"/>
          </a:xfrm>
          <a:prstGeom prst="rect">
            <a:avLst/>
          </a:prstGeom>
          <a:noFill/>
          <a:ln w="25400" cap="flat" cmpd="sng">
            <a:noFill/>
            <a:prstDash val="solid"/>
            <a:round/>
          </a:ln>
        </p:spPr>
      </p:pic>
      <p:sp>
        <p:nvSpPr>
          <p:cNvPr id="7" name="AutoShape 7"/>
          <p:cNvSpPr/>
          <p:nvPr/>
        </p:nvSpPr>
        <p:spPr>
          <a:xfrm>
            <a:off x="-1293962" y="262243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600" b="0" i="0" u="none" strike="noStrike">
                <a:solidFill>
                  <a:srgbClr val="0073E6"/>
                </a:solidFill>
                <a:latin typeface="Biennale Bold"/>
                <a:ea typeface="Biennale Bold"/>
                <a:cs typeface="Biennale Bold"/>
                <a:sym typeface="Biennale Bold"/>
              </a:rPr>
              <a:t>跨公司转卖模式优化（STO→IC销售）：方案总览</a:t>
            </a:r>
            <a:endParaRPr lang="en-US" sz="1100"/>
          </a:p>
        </p:txBody>
      </p:sp>
      <p:sp>
        <p:nvSpPr>
          <p:cNvPr id="6" name="AutoShape 6"/>
          <p:cNvSpPr/>
          <p:nvPr/>
        </p:nvSpPr>
        <p:spPr>
          <a:xfrm>
            <a:off x="428625" y="6507907"/>
            <a:ext cx="161904" cy="153888"/>
          </a:xfrm>
          <a:prstGeom prst="rect">
            <a:avLst/>
          </a:prstGeom>
          <a:noFill/>
          <a:ln w="12700" cap="flat" cmpd="sng">
            <a:noFill/>
            <a:prstDash val="solid"/>
            <a:round/>
          </a:ln>
        </p:spPr>
        <p:txBody>
          <a:bodyPr vert="horz" wrap="none" lIns="0" tIns="0" rIns="0" bIns="0" rtlCol="0" anchor="ctr" anchorCtr="0"/>
          <a:lstStyle/>
          <a:p>
            <a:pPr algn="l">
              <a:defRPr/>
            </a:pPr>
            <a:endParaRPr/>
          </a:p>
        </p:txBody>
      </p:sp>
      <p:sp>
        <p:nvSpPr>
          <p:cNvPr id="7" name="AutoShape 7"/>
          <p:cNvSpPr/>
          <p:nvPr/>
        </p:nvSpPr>
        <p:spPr>
          <a:xfrm>
            <a:off x="509577" y="1078301"/>
            <a:ext cx="7582000" cy="176841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0" indent="0" algn="l">
              <a:lnSpc>
                <a:spcPct val="100000"/>
              </a:lnSpc>
              <a:defRPr/>
            </a:pPr>
            <a:r>
              <a:rPr lang="en-US" sz="10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项目目标</a:t>
            </a:r>
            <a:r>
              <a:rPr lang="en-US" sz="10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dirty="0"/>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启用SAP标准跨公司销售（IC）流程替代现有STO</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&amp;</a:t>
            </a:r>
            <a:r>
              <a:rPr lang="zh-CN" alt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销售采购</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转卖模式，简化公司间交易流程</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实现销售公司接单直接指定生产工厂直发终端客户，消除中间入库调拨环节</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系统自动生成内部公司间发票（IV）完成法人结算，大幅减少人工操作</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建立转卖订单创建失败预警机制，提升订单处理效率与客户响应速度</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marL="0" indent="0" algn="l">
              <a:lnSpc>
                <a:spcPct val="100000"/>
              </a:lnSpc>
            </a:pPr>
            <a:r>
              <a:rPr lang="en-US" sz="10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项目方案</a:t>
            </a:r>
            <a:r>
              <a:rPr lang="en-US" sz="10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marL="0" indent="0" algn="l">
              <a:lnSpc>
                <a:spcPct val="100000"/>
              </a:lnSpc>
            </a:pP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2.1 </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IC销售流程配置：跨公司订单类型、交货工厂分配、公司间开票IV配置</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0000"/>
              </a:lnSpc>
            </a:pP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2.2 </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主数据治理：客户</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物料销售视图扩展、公司间价格维护、BP角色配置</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0000"/>
              </a:lnSpc>
            </a:pP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2.3 </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库存与交货优化：工厂直发交货、库存自动释放、立库集成双凭证</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0000"/>
              </a:lnSpc>
            </a:pP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2.4 </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异常监控与分析：订单失败预警、转卖效率分析、流程合规审计</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499110" y="3020060"/>
            <a:ext cx="2812415" cy="3392170"/>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0" indent="0" algn="l">
              <a:lnSpc>
                <a:spcPct val="100000"/>
              </a:lnSpc>
              <a:defRPr/>
            </a:pPr>
            <a:r>
              <a:rPr lang="en-US" sz="1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现状：</a:t>
            </a:r>
            <a:endParaRPr lang="en-US" sz="1100"/>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公司间转卖流程繁琐，需多部门多岗位配合完成操作。</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转卖后库存不定时释放，有时跑到质检中，影响开单效率。</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转卖订单创建失败无提醒，ZMRBI002失败行项仅部分提示。</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成品/半成品入库后依赖人工调拨入仓并手动转卖。</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立体库进仓转卖仍需手动操作，未实现自动双凭证。</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物料有价格但圈货建单时报错"未维护客户主数据价格"。</a:t>
            </a:r>
          </a:p>
          <a:p>
            <a:pPr marL="0" indent="0" algn="l">
              <a:lnSpc>
                <a:spcPct val="100000"/>
              </a:lnSpc>
            </a:pPr>
            <a:r>
              <a:rPr lang="en-US" sz="1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主要差距：</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未启用SAP标准IC跨公司销售，依赖定制化STO转卖。</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公司间主数据（销售视图、价格）维护不完整不一致。</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库存释放逻辑缺乏系统自动控制，依赖人工干预。</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订单创建异常缺少实时预警与闭环处理机制。</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立库系统与SAP转卖流程集成存在断点。</a:t>
            </a:r>
          </a:p>
        </p:txBody>
      </p:sp>
      <p:sp>
        <p:nvSpPr>
          <p:cNvPr id="9" name="AutoShape 9"/>
          <p:cNvSpPr/>
          <p:nvPr/>
        </p:nvSpPr>
        <p:spPr>
          <a:xfrm>
            <a:off x="3564766" y="3009009"/>
            <a:ext cx="4522498" cy="1526230"/>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171450" indent="-171450" algn="l">
              <a:lnSpc>
                <a:spcPct val="100000"/>
              </a:lnSpc>
              <a:buClr>
                <a:srgbClr val="000000"/>
              </a:buClr>
              <a:buFont typeface="Arial" panose="020B0604020202020204"/>
              <a:buChar char="•"/>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转卖模式：</a:t>
            </a:r>
            <a:endParaRPr lang="en-US" sz="1100"/>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由STO人工转卖➡️IC标准跨公司销售</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库存流转：</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由中间入库调拨➡️工厂直发终端客户</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法人结算：</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由手动公司间对账➡️系统自动生成IV发票</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异常处理：</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由事后人工排查➡️事前预警+事中拦截</a:t>
            </a:r>
          </a:p>
        </p:txBody>
      </p:sp>
      <p:sp>
        <p:nvSpPr>
          <p:cNvPr id="10" name="AutoShape 10"/>
          <p:cNvSpPr/>
          <p:nvPr/>
        </p:nvSpPr>
        <p:spPr>
          <a:xfrm>
            <a:off x="3569079" y="4669971"/>
            <a:ext cx="4522498" cy="1426743"/>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IC跨公司销售流程配置与集成测试</a:t>
            </a:r>
            <a:endParaRPr lang="en-US" sz="1100"/>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客户/物料销售视图扩展与公司间价格维护</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工厂直发交货与库存自动释放优化</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立库进仓自动转卖集成（343+101双凭证）</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转卖订单创建失败预警与异常闭环机制</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转卖效率分析与流程合规审计报表</a:t>
            </a:r>
          </a:p>
        </p:txBody>
      </p:sp>
      <p:sp>
        <p:nvSpPr>
          <p:cNvPr id="11" name="AutoShape 11"/>
          <p:cNvSpPr/>
          <p:nvPr/>
        </p:nvSpPr>
        <p:spPr>
          <a:xfrm>
            <a:off x="8399872" y="2128930"/>
            <a:ext cx="3282551" cy="1218117"/>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p>
            <a:pPr algn="ctr">
              <a:defRPr/>
            </a:pPr>
            <a:endParaRPr/>
          </a:p>
        </p:txBody>
      </p:sp>
      <p:sp>
        <p:nvSpPr>
          <p:cNvPr id="12" name="AutoShape 12"/>
          <p:cNvSpPr/>
          <p:nvPr/>
        </p:nvSpPr>
        <p:spPr>
          <a:xfrm>
            <a:off x="8399872" y="3620220"/>
            <a:ext cx="3282551" cy="113293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0" indent="0" algn="l">
              <a:lnSpc>
                <a:spcPct val="100000"/>
              </a:lnSpc>
              <a:defRPr/>
            </a:pPr>
            <a:endParaRPr lang="en-US" sz="1100" dirty="0"/>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公司间销售加价规则需财务确认</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a:t>
            </a:r>
            <a:r>
              <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物料销售视图需全面扩展</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a:lnSpc>
                <a:spcPct val="100000"/>
              </a:lnSpc>
              <a:buClr>
                <a:srgbClr val="000000"/>
              </a:buClr>
              <a:buFont typeface="Arial" panose="020B0604020202020204"/>
              <a:buChar char="•"/>
            </a:pPr>
            <a:r>
              <a:rPr lang="zh-CN" altLang="en-US" sz="1000" dirty="0">
                <a:latin typeface="微软雅黑" panose="020B0503020204020204" charset="-122"/>
                <a:ea typeface="微软雅黑" panose="020B0503020204020204" charset="-122"/>
                <a:cs typeface="微软雅黑" panose="020B0503020204020204" charset="-122"/>
                <a:sym typeface="微软雅黑" panose="020B0503020204020204" charset="-122"/>
              </a:rPr>
              <a:t>外围</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系统接口需配合</a:t>
            </a:r>
            <a:r>
              <a:rPr lang="zh-CN" alt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测试与</a:t>
            </a: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改造</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a:lnSpc>
                <a:spcPct val="100000"/>
              </a:lnSpc>
              <a:buClr>
                <a:srgbClr val="000000"/>
              </a:buClr>
              <a:buFont typeface="Arial" panose="020B0604020202020204"/>
              <a:buChar char="•"/>
            </a:pPr>
            <a:r>
              <a:rPr lang="en-US" sz="1000" b="0"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关键用户需全过程参与测试培训</a:t>
            </a:r>
            <a:endParaRPr lang="en-US" sz="1000" b="0"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8399872" y="4963779"/>
            <a:ext cx="3282551" cy="113293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171450" indent="-171450" algn="l">
              <a:lnSpc>
                <a:spcPct val="100000"/>
              </a:lnSpc>
              <a:buClr>
                <a:srgbClr val="000000"/>
              </a:buClr>
              <a:buFont typeface="Arial" panose="020B0604020202020204"/>
              <a:buChar char="•"/>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流转效率：减少中间入库调拨，缩短交货周期</a:t>
            </a:r>
            <a:endParaRPr lang="en-US" sz="1100"/>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人工成本：转卖岗位减少，多部门协同简化</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库存管理：库存自动释放，消除质检滞留</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订单合规：创建失败实时预警，减少漏单</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财务结算：公司间发票自动生成，对账提速</a:t>
            </a:r>
          </a:p>
        </p:txBody>
      </p:sp>
      <p:sp>
        <p:nvSpPr>
          <p:cNvPr id="14" name="AutoShape 14"/>
          <p:cNvSpPr/>
          <p:nvPr/>
        </p:nvSpPr>
        <p:spPr>
          <a:xfrm>
            <a:off x="8399872" y="1078301"/>
            <a:ext cx="3282551" cy="84000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主责：销售中心、供应链中心、制造基地运营中心</a:t>
            </a:r>
            <a:endParaRPr lang="en-US" sz="1100"/>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配合：财务管理部、数智化部、电商事业部</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外部：艾维登SD专家、SAP实施团队</a:t>
            </a:r>
          </a:p>
        </p:txBody>
      </p:sp>
      <p:sp>
        <p:nvSpPr>
          <p:cNvPr id="15" name="AutoShape 15"/>
          <p:cNvSpPr/>
          <p:nvPr/>
        </p:nvSpPr>
        <p:spPr>
          <a:xfrm>
            <a:off x="8562025" y="900920"/>
            <a:ext cx="1039792"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5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责任部门</a:t>
            </a:r>
            <a:endParaRPr lang="en-US" sz="1100" dirty="0"/>
          </a:p>
        </p:txBody>
      </p:sp>
      <p:sp>
        <p:nvSpPr>
          <p:cNvPr id="16" name="AutoShape 16"/>
          <p:cNvSpPr/>
          <p:nvPr/>
        </p:nvSpPr>
        <p:spPr>
          <a:xfrm>
            <a:off x="8562025" y="1985697"/>
            <a:ext cx="1039792"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6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里程碑</a:t>
            </a:r>
            <a:endParaRPr lang="en-US" sz="1100" dirty="0"/>
          </a:p>
        </p:txBody>
      </p:sp>
      <p:sp>
        <p:nvSpPr>
          <p:cNvPr id="17" name="AutoShape 17"/>
          <p:cNvSpPr/>
          <p:nvPr/>
        </p:nvSpPr>
        <p:spPr>
          <a:xfrm>
            <a:off x="8562025" y="3473741"/>
            <a:ext cx="1643023"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7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风险与项目依赖</a:t>
            </a:r>
            <a:endParaRPr lang="en-US" sz="1100" dirty="0"/>
          </a:p>
        </p:txBody>
      </p:sp>
      <p:sp>
        <p:nvSpPr>
          <p:cNvPr id="18" name="AutoShape 18"/>
          <p:cNvSpPr/>
          <p:nvPr/>
        </p:nvSpPr>
        <p:spPr>
          <a:xfrm>
            <a:off x="8562025" y="4789456"/>
            <a:ext cx="2100224"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8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业务价值和数字化指标</a:t>
            </a:r>
            <a:endParaRPr lang="en-US" sz="1100" dirty="0"/>
          </a:p>
        </p:txBody>
      </p:sp>
      <p:sp>
        <p:nvSpPr>
          <p:cNvPr id="19" name="AutoShape 19"/>
          <p:cNvSpPr/>
          <p:nvPr/>
        </p:nvSpPr>
        <p:spPr>
          <a:xfrm>
            <a:off x="3773854" y="4535239"/>
            <a:ext cx="1376734"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4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关键任务</a:t>
            </a:r>
            <a:endParaRPr lang="en-US" sz="1100" dirty="0"/>
          </a:p>
        </p:txBody>
      </p:sp>
      <p:sp>
        <p:nvSpPr>
          <p:cNvPr id="20" name="AutoShape 20"/>
          <p:cNvSpPr/>
          <p:nvPr/>
        </p:nvSpPr>
        <p:spPr>
          <a:xfrm>
            <a:off x="3763676" y="2913921"/>
            <a:ext cx="1376734" cy="215127"/>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3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业务变革</a:t>
            </a:r>
            <a:endParaRPr lang="en-US" sz="1100" dirty="0"/>
          </a:p>
        </p:txBody>
      </p:sp>
      <p:sp>
        <p:nvSpPr>
          <p:cNvPr id="21" name="AutoShape 21"/>
          <p:cNvSpPr/>
          <p:nvPr/>
        </p:nvSpPr>
        <p:spPr>
          <a:xfrm>
            <a:off x="921871" y="2877261"/>
            <a:ext cx="1376734"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现状</a:t>
            </a: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差距</a:t>
            </a:r>
            <a:endParaRPr lang="en-US" sz="1100" dirty="0"/>
          </a:p>
        </p:txBody>
      </p:sp>
      <p:sp>
        <p:nvSpPr>
          <p:cNvPr id="22" name="AutoShape 22"/>
          <p:cNvSpPr/>
          <p:nvPr/>
        </p:nvSpPr>
        <p:spPr>
          <a:xfrm>
            <a:off x="690731" y="916009"/>
            <a:ext cx="1376734" cy="292955"/>
          </a:xfrm>
          <a:prstGeom prst="roundRect">
            <a:avLst>
              <a:gd name="adj" fmla="val 0"/>
            </a:avLst>
          </a:prstGeom>
          <a:solidFill>
            <a:srgbClr val="FFFFFF">
              <a:alpha val="100000"/>
            </a:srgbClr>
          </a:solidFill>
          <a:ln w="25400" cap="flat" cmpd="sng">
            <a:noFill/>
            <a:prstDash val="solid"/>
            <a:round/>
          </a:ln>
        </p:spPr>
        <p:txBody>
          <a:bodyPr vert="horz" wrap="square" lIns="91440" tIns="45720" rIns="91440" bIns="45720" rtlCol="0" anchor="ctr" anchorCtr="0"/>
          <a:lstStyle/>
          <a:p>
            <a:pPr marL="0" indent="0" algn="ctr">
              <a:lnSpc>
                <a:spcPct val="100000"/>
              </a:lnSpc>
              <a:defRPr/>
            </a:pPr>
            <a:r>
              <a:rPr lang="en-US" sz="12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1 </a:t>
            </a:r>
            <a:r>
              <a:rPr lang="en-US" sz="12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目标和范围</a:t>
            </a:r>
            <a:endParaRPr lang="en-US" sz="1100" dirty="0"/>
          </a:p>
        </p:txBody>
      </p:sp>
      <p:sp>
        <p:nvSpPr>
          <p:cNvPr id="23" name="AutoShape 23"/>
          <p:cNvSpPr/>
          <p:nvPr/>
        </p:nvSpPr>
        <p:spPr>
          <a:xfrm>
            <a:off x="862642" y="1552755"/>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24" name="AutoShape 24"/>
          <p:cNvSpPr/>
          <p:nvPr/>
        </p:nvSpPr>
        <p:spPr>
          <a:xfrm>
            <a:off x="8824823" y="2665562"/>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25" name="AutoShape 25"/>
          <p:cNvSpPr/>
          <p:nvPr/>
        </p:nvSpPr>
        <p:spPr>
          <a:xfrm>
            <a:off x="11964838" y="2363638"/>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26" name="AutoShape 26"/>
          <p:cNvSpPr/>
          <p:nvPr/>
        </p:nvSpPr>
        <p:spPr>
          <a:xfrm>
            <a:off x="8518896" y="2403009"/>
            <a:ext cx="1039793" cy="246221"/>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流程规则确认</a:t>
            </a:r>
            <a:endParaRPr lang="en-US" sz="1100"/>
          </a:p>
        </p:txBody>
      </p:sp>
      <p:cxnSp>
        <p:nvCxnSpPr>
          <p:cNvPr id="27" name="Connector 27"/>
          <p:cNvCxnSpPr/>
          <p:nvPr/>
        </p:nvCxnSpPr>
        <p:spPr>
          <a:xfrm>
            <a:off x="8678174" y="3157265"/>
            <a:ext cx="2717350" cy="12700"/>
          </a:xfrm>
          <a:prstGeom prst="straightConnector1">
            <a:avLst/>
          </a:prstGeom>
          <a:solidFill>
            <a:srgbClr val="DEE0E3">
              <a:alpha val="100000"/>
            </a:srgbClr>
          </a:solidFill>
          <a:ln w="25400" cap="flat" cmpd="sng">
            <a:solidFill>
              <a:srgbClr val="003366">
                <a:alpha val="100000"/>
              </a:srgbClr>
            </a:solidFill>
            <a:prstDash val="solid"/>
            <a:miter lim="10000000"/>
            <a:headEnd type="none" w="med" len="med"/>
            <a:tailEnd type="triangle" w="med" len="med"/>
          </a:ln>
        </p:spPr>
      </p:cxnSp>
      <p:sp>
        <p:nvSpPr>
          <p:cNvPr id="28" name="AutoShape 28"/>
          <p:cNvSpPr/>
          <p:nvPr/>
        </p:nvSpPr>
        <p:spPr>
          <a:xfrm>
            <a:off x="8987033" y="3105505"/>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29" name="AutoShape 29"/>
          <p:cNvSpPr/>
          <p:nvPr/>
        </p:nvSpPr>
        <p:spPr>
          <a:xfrm>
            <a:off x="9662096" y="3102633"/>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30" name="AutoShape 30"/>
          <p:cNvSpPr/>
          <p:nvPr/>
        </p:nvSpPr>
        <p:spPr>
          <a:xfrm>
            <a:off x="11034366" y="3117011"/>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31" name="AutoShape 31"/>
          <p:cNvSpPr/>
          <p:nvPr/>
        </p:nvSpPr>
        <p:spPr>
          <a:xfrm>
            <a:off x="10662249" y="2402789"/>
            <a:ext cx="1020175" cy="40011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异常监控上线</a:t>
            </a:r>
            <a:endParaRPr lang="en-US" sz="1100"/>
          </a:p>
        </p:txBody>
      </p:sp>
      <p:sp>
        <p:nvSpPr>
          <p:cNvPr id="32" name="AutoShape 32"/>
          <p:cNvSpPr/>
          <p:nvPr/>
        </p:nvSpPr>
        <p:spPr>
          <a:xfrm>
            <a:off x="9211812" y="2403009"/>
            <a:ext cx="833143" cy="40011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主数据治理上线</a:t>
            </a:r>
            <a:endParaRPr lang="en-US" sz="1100"/>
          </a:p>
        </p:txBody>
      </p:sp>
      <p:sp>
        <p:nvSpPr>
          <p:cNvPr id="33" name="AutoShape 33"/>
          <p:cNvSpPr/>
          <p:nvPr/>
        </p:nvSpPr>
        <p:spPr>
          <a:xfrm>
            <a:off x="8652294" y="6599208"/>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34" name="AutoShape 34"/>
          <p:cNvSpPr/>
          <p:nvPr/>
        </p:nvSpPr>
        <p:spPr>
          <a:xfrm>
            <a:off x="3722914" y="312420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35" name="AutoShape 35"/>
          <p:cNvSpPr/>
          <p:nvPr/>
        </p:nvSpPr>
        <p:spPr>
          <a:xfrm>
            <a:off x="10365823" y="3107116"/>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36" name="AutoShape 36"/>
          <p:cNvSpPr/>
          <p:nvPr/>
        </p:nvSpPr>
        <p:spPr>
          <a:xfrm>
            <a:off x="9956750" y="2403009"/>
            <a:ext cx="833143" cy="40011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IC流程配置上线</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SAP标准IC流程构建跨公司销售一体化管控体系</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1100"/>
          </a:p>
        </p:txBody>
      </p:sp>
      <p:sp>
        <p:nvSpPr>
          <p:cNvPr id="6" name="AutoShape 6"/>
          <p:cNvSpPr/>
          <p:nvPr/>
        </p:nvSpPr>
        <p:spPr>
          <a:xfrm>
            <a:off x="508000" y="1524000"/>
            <a:ext cx="5080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Biennale"/>
                <a:ea typeface="Biennale"/>
                <a:cs typeface="Biennale"/>
                <a:sym typeface="Biennale"/>
              </a:rPr>
              <a:t>01</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专题定位</a:t>
            </a:r>
            <a:endParaRPr lang="en-US" sz="1100"/>
          </a:p>
        </p:txBody>
      </p:sp>
      <p:sp>
        <p:nvSpPr>
          <p:cNvPr id="7" name="AutoShape 7"/>
          <p:cNvSpPr/>
          <p:nvPr/>
        </p:nvSpPr>
        <p:spPr>
          <a:xfrm>
            <a:off x="508000" y="2032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508000" y="2286000"/>
            <a:ext cx="5080000" cy="266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以SAP S/4HANA标准跨公司销售（IC）流程作为公司间交易的核心引擎，以销售订单为前端接单入口，通过跨公司订单类型配置、交货工厂分配、公司间定价规则、内部发票IV自动生成及异常预警机制，打通从销售接单、工厂直发、对外开票到内部结算的公司间销售管理系统闭环，实现跨公司交易的流程标准化、结算自动化与异常可视化，为供应链效率提升与财务合规提供坚实支撑。</a:t>
            </a:r>
            <a:endParaRPr lang="en-US" sz="1100"/>
          </a:p>
        </p:txBody>
      </p:sp>
      <p:sp>
        <p:nvSpPr>
          <p:cNvPr id="9" name="AutoShape 9"/>
          <p:cNvSpPr/>
          <p:nvPr/>
        </p:nvSpPr>
        <p:spPr>
          <a:xfrm>
            <a:off x="5969000" y="1524000"/>
            <a:ext cx="571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Biennale"/>
                <a:ea typeface="Biennale"/>
                <a:cs typeface="Biennale"/>
                <a:sym typeface="Biennale"/>
              </a:rPr>
              <a:t>02</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建设目标</a:t>
            </a:r>
            <a:endParaRPr lang="en-US" sz="1100"/>
          </a:p>
        </p:txBody>
      </p:sp>
      <p:sp>
        <p:nvSpPr>
          <p:cNvPr id="10" name="AutoShape 10"/>
          <p:cNvSpPr/>
          <p:nvPr/>
        </p:nvSpPr>
        <p:spPr>
          <a:xfrm>
            <a:off x="5969000" y="2032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5969000" y="22860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1400" y="2438400"/>
            <a:ext cx="279400" cy="279400"/>
          </a:xfrm>
          <a:prstGeom prst="rect">
            <a:avLst/>
          </a:prstGeom>
        </p:spPr>
      </p:pic>
      <p:sp>
        <p:nvSpPr>
          <p:cNvPr id="13" name="AutoShape 13"/>
          <p:cNvSpPr/>
          <p:nvPr/>
        </p:nvSpPr>
        <p:spPr>
          <a:xfrm>
            <a:off x="6477000" y="24130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销售流程标准化</a:t>
            </a:r>
            <a:endParaRPr lang="en-US" sz="1100"/>
          </a:p>
        </p:txBody>
      </p:sp>
      <p:sp>
        <p:nvSpPr>
          <p:cNvPr id="14" name="AutoShape 14"/>
          <p:cNvSpPr/>
          <p:nvPr/>
        </p:nvSpPr>
        <p:spPr>
          <a:xfrm>
            <a:off x="6121400" y="28194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启用SAP标准跨公司销售订单类型，统一销售公司接单与生产工厂交货的流程规范，实现从订单创建到交货开票的全流程标准化与可追溯。</a:t>
            </a:r>
            <a:endParaRPr lang="en-US" sz="1100"/>
          </a:p>
        </p:txBody>
      </p:sp>
      <p:sp>
        <p:nvSpPr>
          <p:cNvPr id="15" name="AutoShape 15"/>
          <p:cNvSpPr/>
          <p:nvPr/>
        </p:nvSpPr>
        <p:spPr>
          <a:xfrm>
            <a:off x="8826500" y="22860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78900" y="2438400"/>
            <a:ext cx="279400" cy="279400"/>
          </a:xfrm>
          <a:prstGeom prst="rect">
            <a:avLst/>
          </a:prstGeom>
        </p:spPr>
      </p:pic>
      <p:sp>
        <p:nvSpPr>
          <p:cNvPr id="17" name="AutoShape 17"/>
          <p:cNvSpPr/>
          <p:nvPr/>
        </p:nvSpPr>
        <p:spPr>
          <a:xfrm>
            <a:off x="9334500" y="24130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工厂交货直连化</a:t>
            </a:r>
            <a:endParaRPr lang="en-US" sz="1100"/>
          </a:p>
        </p:txBody>
      </p:sp>
      <p:sp>
        <p:nvSpPr>
          <p:cNvPr id="18" name="AutoShape 18"/>
          <p:cNvSpPr/>
          <p:nvPr/>
        </p:nvSpPr>
        <p:spPr>
          <a:xfrm>
            <a:off x="8978900" y="28194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配置销售订单与交货工厂的直连关系，实现销售公司接单后直接指定生产工厂发货，消除中间入库与调拨环节，大幅缩短交货周期。</a:t>
            </a:r>
            <a:endParaRPr lang="en-US" sz="1100"/>
          </a:p>
        </p:txBody>
      </p:sp>
      <p:sp>
        <p:nvSpPr>
          <p:cNvPr id="19" name="AutoShape 19"/>
          <p:cNvSpPr/>
          <p:nvPr/>
        </p:nvSpPr>
        <p:spPr>
          <a:xfrm>
            <a:off x="5969000" y="38735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21400" y="4025900"/>
            <a:ext cx="279400" cy="279400"/>
          </a:xfrm>
          <a:prstGeom prst="rect">
            <a:avLst/>
          </a:prstGeom>
        </p:spPr>
      </p:pic>
      <p:sp>
        <p:nvSpPr>
          <p:cNvPr id="21" name="AutoShape 21"/>
          <p:cNvSpPr/>
          <p:nvPr/>
        </p:nvSpPr>
        <p:spPr>
          <a:xfrm>
            <a:off x="6477000" y="40005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法人结算自动化</a:t>
            </a:r>
            <a:endParaRPr lang="en-US" sz="1100"/>
          </a:p>
        </p:txBody>
      </p:sp>
      <p:sp>
        <p:nvSpPr>
          <p:cNvPr id="22" name="AutoShape 22"/>
          <p:cNvSpPr/>
          <p:nvPr/>
        </p:nvSpPr>
        <p:spPr>
          <a:xfrm>
            <a:off x="6121400" y="44069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将公司间定价与结算规则直接落地为</a:t>
            </a:r>
            <a:r>
              <a:rPr lang="en-US" sz="1100" b="0" i="0" u="none" strike="noStrike">
                <a:solidFill>
                  <a:srgbClr val="4B5563"/>
                </a:solidFill>
                <a:latin typeface="Biennale"/>
                <a:ea typeface="Biennale"/>
                <a:cs typeface="Biennale"/>
                <a:sym typeface="Biennale"/>
              </a:rPr>
              <a:t>SAP</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系统内的公司间销售配置，实现对外开票后自动生成内部公司间发票IV，完成法人间结算，减少人工对账与转卖操作。</a:t>
            </a:r>
            <a:endParaRPr lang="en-US" sz="1100"/>
          </a:p>
        </p:txBody>
      </p:sp>
      <p:sp>
        <p:nvSpPr>
          <p:cNvPr id="23" name="AutoShape 23"/>
          <p:cNvSpPr/>
          <p:nvPr/>
        </p:nvSpPr>
        <p:spPr>
          <a:xfrm>
            <a:off x="8826500" y="38735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78900" y="4025900"/>
            <a:ext cx="279400" cy="279400"/>
          </a:xfrm>
          <a:prstGeom prst="rect">
            <a:avLst/>
          </a:prstGeom>
        </p:spPr>
      </p:pic>
      <p:sp>
        <p:nvSpPr>
          <p:cNvPr id="25" name="AutoShape 25"/>
          <p:cNvSpPr/>
          <p:nvPr/>
        </p:nvSpPr>
        <p:spPr>
          <a:xfrm>
            <a:off x="9334500" y="40005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异常预警智能化</a:t>
            </a:r>
            <a:endParaRPr lang="en-US" sz="1100"/>
          </a:p>
        </p:txBody>
      </p:sp>
      <p:sp>
        <p:nvSpPr>
          <p:cNvPr id="26" name="AutoShape 26"/>
          <p:cNvSpPr/>
          <p:nvPr/>
        </p:nvSpPr>
        <p:spPr>
          <a:xfrm>
            <a:off x="8978900" y="44069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a:t>
            </a:r>
            <a:r>
              <a:rPr lang="zh-CN" alt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发票</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创建失败实时</a:t>
            </a:r>
            <a:r>
              <a:rPr lang="zh-CN" alt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公司间发票对账差异分析的全链路机制，有效防范</a:t>
            </a:r>
            <a:r>
              <a:rPr lang="zh-CN" altLang="en-US" sz="11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销售发货</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结算差异等业务风险</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7" name="AutoShape 27"/>
          <p:cNvSpPr/>
          <p:nvPr/>
        </p:nvSpPr>
        <p:spPr>
          <a:xfrm>
            <a:off x="508000" y="5524500"/>
            <a:ext cx="11176000" cy="762000"/>
          </a:xfrm>
          <a:prstGeom prst="roundRect">
            <a:avLst>
              <a:gd name="adj" fmla="val 0"/>
            </a:avLst>
          </a:prstGeom>
          <a:solidFill>
            <a:srgbClr val="1E3A8A">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28"/>
          <p:cNvSpPr/>
          <p:nvPr/>
        </p:nvSpPr>
        <p:spPr>
          <a:xfrm>
            <a:off x="635000" y="5651500"/>
            <a:ext cx="1092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核心价值：实现跨公司交易从</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STO人工转卖</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IC标准销售</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、从</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多部门协同</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系统自动结算</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、从</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中间入库调拨</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工厂直发客户</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的三大数字化转变，构建高效透明的跨公司销售新格局。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0"/>
            <a:ext cx="6858000" cy="6858000"/>
          </a:xfrm>
          <a:prstGeom prst="rect">
            <a:avLst/>
          </a:prstGeom>
        </p:spPr>
      </p:pic>
      <p:sp>
        <p:nvSpPr>
          <p:cNvPr id="3" name="Freeform 3"/>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4" name="AutoShape 4"/>
          <p:cNvSpPr/>
          <p:nvPr/>
        </p:nvSpPr>
        <p:spPr>
          <a:xfrm>
            <a:off x="390098" y="389618"/>
            <a:ext cx="1463040" cy="147701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9600" b="0" i="0" u="none" strike="noStrike">
                <a:solidFill>
                  <a:srgbClr val="00005C"/>
                </a:solidFill>
                <a:latin typeface="Biennale Bold"/>
                <a:ea typeface="Biennale Bold"/>
                <a:cs typeface="Biennale Bold"/>
                <a:sym typeface="Biennale Bold"/>
              </a:rPr>
              <a:t>02</a:t>
            </a:r>
            <a:endParaRPr lang="en-US" sz="1100"/>
          </a:p>
        </p:txBody>
      </p:sp>
      <p:sp>
        <p:nvSpPr>
          <p:cNvPr id="5" name="AutoShape 5"/>
          <p:cNvSpPr/>
          <p:nvPr/>
        </p:nvSpPr>
        <p:spPr>
          <a:xfrm>
            <a:off x="1536700" y="1866900"/>
            <a:ext cx="7344410" cy="124587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zh-CN" altLang="en-US" sz="5400" b="0" i="0" u="none" strike="noStrike">
                <a:solidFill>
                  <a:srgbClr val="00005C"/>
                </a:solidFill>
                <a:latin typeface="Biennale Bold"/>
                <a:ea typeface="Biennale Bold"/>
                <a:cs typeface="Biennale Bold"/>
                <a:sym typeface="Biennale Bold"/>
              </a:rPr>
              <a:t>方案详解</a:t>
            </a:r>
            <a:r>
              <a:rPr lang="en-US" sz="5400" b="0" i="0" u="none" strike="noStrike">
                <a:solidFill>
                  <a:srgbClr val="00005C"/>
                </a:solidFill>
                <a:latin typeface="Biennale Bold"/>
                <a:ea typeface="Biennale Bold"/>
                <a:cs typeface="Biennale Bold"/>
                <a:sym typeface="Biennale Bold"/>
              </a:rPr>
              <a:t>及系统实现</a:t>
            </a:r>
            <a:endParaRPr lang="en-US" sz="1100"/>
          </a:p>
        </p:txBody>
      </p:sp>
      <p:pic>
        <p:nvPicPr>
          <p:cNvPr id="6" name="Picture 6"/>
          <p:cNvPicPr>
            <a:picLocks noChangeAspect="1"/>
          </p:cNvPicPr>
          <p:nvPr/>
        </p:nvPicPr>
        <p:blipFill>
          <a:blip r:embed="rId4"/>
          <a:srcRect/>
          <a:stretch>
            <a:fillRect/>
          </a:stretch>
        </p:blipFill>
        <p:spPr>
          <a:xfrm>
            <a:off x="48466" y="125649"/>
            <a:ext cx="1930400" cy="381000"/>
          </a:xfrm>
          <a:prstGeom prst="rect">
            <a:avLst/>
          </a:prstGeom>
          <a:noFill/>
          <a:ln w="25400" cap="flat" cmpd="sng">
            <a:noFill/>
            <a:prstDash val="solid"/>
            <a:round/>
          </a:ln>
        </p:spPr>
      </p:pic>
      <p:sp>
        <p:nvSpPr>
          <p:cNvPr id="7" name="AutoShape 7"/>
          <p:cNvSpPr/>
          <p:nvPr/>
        </p:nvSpPr>
        <p:spPr>
          <a:xfrm>
            <a:off x="-1293962" y="262243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dirty="0">
                <a:solidFill>
                  <a:srgbClr val="0073E6"/>
                </a:solidFill>
                <a:latin typeface="Biennale Bold"/>
                <a:ea typeface="Biennale Bold"/>
                <a:cs typeface="Biennale Bold"/>
                <a:sym typeface="Biennale Bold"/>
              </a:rPr>
              <a:t>STO&amp;</a:t>
            </a:r>
            <a:r>
              <a:rPr lang="zh-CN" altLang="en-US" sz="2800" b="1" i="0" u="none" strike="noStrike" dirty="0">
                <a:solidFill>
                  <a:srgbClr val="0073E6"/>
                </a:solidFill>
                <a:latin typeface="Biennale Bold"/>
                <a:ea typeface="Biennale Bold"/>
                <a:cs typeface="Biennale Bold"/>
                <a:sym typeface="Biennale Bold"/>
              </a:rPr>
              <a:t>销售采购</a:t>
            </a:r>
            <a:r>
              <a:rPr lang="en-US" sz="2800" b="1" i="0" u="none" strike="noStrike" dirty="0" err="1">
                <a:solidFill>
                  <a:srgbClr val="0073E6"/>
                </a:solidFill>
                <a:latin typeface="Biennale Bold"/>
                <a:ea typeface="Biennale Bold"/>
                <a:cs typeface="Biennale Bold"/>
                <a:sym typeface="Biennale Bold"/>
              </a:rPr>
              <a:t>转卖→IC销售：端到端流程优化与系统闭环</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AutoShape 6"/>
          <p:cNvSpPr/>
          <p:nvPr/>
        </p:nvSpPr>
        <p:spPr>
          <a:xfrm>
            <a:off x="508000" y="1439545"/>
            <a:ext cx="2603500" cy="12065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571500"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01</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销售接单</a:t>
            </a:r>
            <a:r>
              <a:rPr lang="en-US" sz="1300" b="1" i="0" u="none" strike="noStrike">
                <a:solidFill>
                  <a:srgbClr val="FFFFFF"/>
                </a:solidFill>
                <a:latin typeface="Biennale"/>
                <a:ea typeface="Biennale"/>
                <a:cs typeface="Biennale"/>
                <a:sym typeface="Biennale"/>
              </a:rPr>
              <a:t>(销售公司)</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终端客户下单，销售公司创建跨公司销售订单，明确交货工厂与客户信息。</a:t>
            </a:r>
          </a:p>
        </p:txBody>
      </p:sp>
      <p:sp>
        <p:nvSpPr>
          <p:cNvPr id="8" name="AutoShape 8"/>
          <p:cNvSpPr/>
          <p:nvPr/>
        </p:nvSpPr>
        <p:spPr>
          <a:xfrm>
            <a:off x="3365500" y="1439545"/>
            <a:ext cx="2603500" cy="12065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3429000"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00000"/>
              </a:lnSpc>
              <a:buSzTx/>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Biennale"/>
              </a:rPr>
              <a:t>02 </a:t>
            </a:r>
            <a:r>
              <a:rPr lang="zh-CN" alt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Biennale"/>
              </a:rPr>
              <a:t>工厂</a:t>
            </a:r>
            <a:r>
              <a:rPr lang="en-US" sz="13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安排生产</a:t>
            </a:r>
            <a:endParaRPr lang="en-US" sz="1300" b="1">
              <a:solidFill>
                <a:srgbClr val="FFFFFF"/>
              </a:solidFill>
              <a:latin typeface="Noto Sans SC" panose="020B0200000000000000" charset="-122"/>
              <a:ea typeface="Noto Sans SC" panose="020B0200000000000000" charset="-122"/>
              <a:cs typeface="Noto Sans SC" panose="020B0200000000000000" charset="-122"/>
            </a:endParaRPr>
          </a:p>
          <a:p>
            <a:pPr marL="0" algn="l">
              <a:lnSpc>
                <a:spcPct val="100000"/>
              </a:lnSpc>
              <a:buSzTx/>
            </a:pPr>
            <a:r>
              <a:rPr lang="en-US" sz="100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生产工厂根据销售订单产品及发货工厂，运行MRP，触发材料采购和产品生产，生产工厂产品入库。</a:t>
            </a:r>
            <a:endPar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881137" y="1439545"/>
            <a:ext cx="2603500" cy="12065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8944637"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dirty="0">
                <a:solidFill>
                  <a:srgbClr val="FFFFFF"/>
                </a:solidFill>
                <a:latin typeface="Biennale"/>
                <a:ea typeface="Biennale"/>
                <a:cs typeface="Biennale"/>
                <a:sym typeface="Biennale"/>
              </a:rPr>
              <a:t>04 </a:t>
            </a:r>
            <a:r>
              <a:rPr lang="en-US" sz="13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对外</a:t>
            </a:r>
            <a:r>
              <a:rPr lang="zh-CN" altLang="en-US" sz="13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给</a:t>
            </a:r>
            <a:r>
              <a:rPr lang="en-US" sz="1300" b="1"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客户开票</a:t>
            </a:r>
            <a:r>
              <a:rPr lang="en-US" sz="1300" b="1" dirty="0">
                <a:solidFill>
                  <a:srgbClr val="FFFFFF"/>
                </a:solidFill>
                <a:latin typeface="Biennale"/>
                <a:ea typeface="Biennale"/>
                <a:cs typeface="Biennale"/>
                <a:sym typeface="Biennale"/>
              </a:rPr>
              <a:t>(</a:t>
            </a:r>
            <a:r>
              <a:rPr lang="zh-CN" altLang="en-US" sz="1300" b="1" dirty="0">
                <a:solidFill>
                  <a:srgbClr val="FFFFFF"/>
                </a:solidFill>
                <a:latin typeface="Biennale"/>
                <a:ea typeface="Biennale"/>
                <a:cs typeface="Biennale"/>
                <a:sym typeface="Biennale"/>
              </a:rPr>
              <a:t>销售公司</a:t>
            </a:r>
            <a:r>
              <a:rPr lang="en-US" sz="1300" b="1" dirty="0">
                <a:solidFill>
                  <a:srgbClr val="FFFFFF"/>
                </a:solidFill>
                <a:latin typeface="Biennale"/>
                <a:ea typeface="Biennale"/>
                <a:cs typeface="Biennale"/>
                <a:sym typeface="Biennale"/>
              </a:rPr>
              <a:t>)</a:t>
            </a:r>
            <a:endParaRPr lang="en-US" sz="1100" dirty="0"/>
          </a:p>
          <a:p>
            <a:pPr marL="0" indent="0" algn="l">
              <a:lnSpc>
                <a:spcPct val="100000"/>
              </a:lnSpc>
            </a:pPr>
            <a:r>
              <a:rPr lang="en-US" sz="10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VF01销售公司对终端客户开具F2销售发票，确认收入与应收款项。</a:t>
            </a:r>
            <a:endParaRPr lang="en-US" sz="10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763000" y="3212466"/>
            <a:ext cx="2603500" cy="12065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8826500" y="3275966"/>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dirty="0">
                <a:solidFill>
                  <a:srgbClr val="FFFFFF"/>
                </a:solidFill>
                <a:latin typeface="Biennale"/>
                <a:ea typeface="Biennale"/>
                <a:cs typeface="Biennale"/>
                <a:sym typeface="Biennale"/>
              </a:rPr>
              <a:t>05 </a:t>
            </a:r>
            <a:r>
              <a:rPr lang="zh-CN" alt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Biennale"/>
              </a:rPr>
              <a:t>工厂</a:t>
            </a:r>
            <a:r>
              <a:rPr lang="zh-CN" alt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对销售公司开票</a:t>
            </a:r>
            <a:r>
              <a:rPr lang="zh-CN" alt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Biennale"/>
              </a:rPr>
              <a:t>(自动)</a:t>
            </a:r>
            <a:endParaRPr lang="en-US" sz="1100" dirty="0"/>
          </a:p>
          <a:p>
            <a:pPr marL="0" indent="0" algn="l">
              <a:lnSpc>
                <a:spcPct val="100000"/>
              </a:lnSpc>
            </a:pPr>
            <a:r>
              <a:rPr lang="en-US" sz="10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a:t>
            </a:r>
            <a:r>
              <a:rPr lang="zh-CN" altLang="en-US" sz="10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同步</a:t>
            </a:r>
            <a:r>
              <a:rPr lang="en-US" sz="10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生成公司间发票IV，完成销售公司与生产工厂的法人间结算与对账</a:t>
            </a:r>
            <a:r>
              <a:rPr lang="en-US" sz="10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909868" y="3217545"/>
            <a:ext cx="2603500" cy="1206500"/>
          </a:xfrm>
          <a:prstGeom prst="roundRect">
            <a:avLst>
              <a:gd name="adj" fmla="val 0"/>
            </a:avLst>
          </a:prstGeom>
          <a:solidFill>
            <a:schemeClr val="accent1">
              <a:lumMod val="60000"/>
              <a:lumOff val="40000"/>
            </a:scheme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4973368" y="3281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00000"/>
              </a:lnSpc>
              <a:buSzTx/>
              <a:defRPr/>
            </a:pPr>
            <a:r>
              <a:rPr lang="zh-CN" alt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Biennale"/>
              </a:rPr>
              <a:t>06 </a:t>
            </a:r>
            <a:r>
              <a:rPr lang="zh-CN" altLang="en-US" sz="13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效率分析与审计</a:t>
            </a:r>
            <a:endParaRPr lang="zh-CN" altLang="en-US" sz="1300" b="1" dirty="0">
              <a:solidFill>
                <a:srgbClr val="FFFFFF"/>
              </a:solidFill>
              <a:latin typeface="Noto Sans SC" panose="020B0200000000000000" charset="-122"/>
              <a:ea typeface="Noto Sans SC" panose="020B0200000000000000" charset="-122"/>
              <a:cs typeface="Noto Sans SC" panose="020B0200000000000000" charset="-122"/>
            </a:endParaRPr>
          </a:p>
          <a:p>
            <a:pPr marL="0" indent="0" algn="l">
              <a:lnSpc>
                <a:spcPct val="100000"/>
              </a:lnSpc>
            </a:pPr>
            <a:r>
              <a:rPr lang="en-US" sz="10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开展转卖效率分析</a:t>
            </a:r>
            <a:r>
              <a:rPr lang="en-US" sz="10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0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发票创建</a:t>
            </a:r>
            <a:r>
              <a:rPr lang="en-US" sz="10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失败预警与合规审计，形成管理闭环持续优化</a:t>
            </a:r>
            <a:r>
              <a:rPr lang="en-US" sz="10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endParaRPr lang="en-US" sz="10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l">
              <a:lnSpc>
                <a:spcPct val="100000"/>
              </a:lnSpc>
            </a:pPr>
            <a:endParaRPr lang="en-US" sz="10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171530">
            <a:off x="3111659" y="2030095"/>
            <a:ext cx="254317"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1" name="Connector 21"/>
          <p:cNvCxnSpPr/>
          <p:nvPr/>
        </p:nvCxnSpPr>
        <p:spPr>
          <a:xfrm rot="-171530">
            <a:off x="5969159" y="2030095"/>
            <a:ext cx="254317"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3" name="Connector 23"/>
          <p:cNvCxnSpPr/>
          <p:nvPr/>
        </p:nvCxnSpPr>
        <p:spPr>
          <a:xfrm rot="5323636">
            <a:off x="10090079" y="2925587"/>
            <a:ext cx="571641"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6" name="Connector 26"/>
          <p:cNvCxnSpPr>
            <a:stCxn id="18" idx="1"/>
          </p:cNvCxnSpPr>
          <p:nvPr/>
        </p:nvCxnSpPr>
        <p:spPr>
          <a:xfrm flipH="1" flipV="1">
            <a:off x="2724785" y="2663825"/>
            <a:ext cx="2185035" cy="115697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27" name="AutoShape 27"/>
          <p:cNvSpPr/>
          <p:nvPr/>
        </p:nvSpPr>
        <p:spPr>
          <a:xfrm>
            <a:off x="508000" y="4920615"/>
            <a:ext cx="3683000" cy="1270000"/>
          </a:xfrm>
          <a:prstGeom prst="roundRect">
            <a:avLst>
              <a:gd name="adj" fmla="val 0"/>
            </a:avLst>
          </a:prstGeom>
          <a:solidFill>
            <a:srgbClr val="EFF6FF">
              <a:alpha val="100000"/>
            </a:srgbClr>
          </a:solidFill>
          <a:ln w="12700" cap="flat" cmpd="sng">
            <a:solidFill>
              <a:srgbClr val="3B82F6">
                <a:alpha val="20000"/>
              </a:srgbClr>
            </a:solidFill>
            <a:prstDash val="solid"/>
            <a:round/>
          </a:ln>
        </p:spPr>
        <p:txBody>
          <a:bodyPr vert="horz" wrap="square" lIns="0" tIns="0" rIns="0" bIns="0" rtlCol="0" anchor="ctr" anchorCtr="0"/>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5047615"/>
            <a:ext cx="304800" cy="304800"/>
          </a:xfrm>
          <a:prstGeom prst="rect">
            <a:avLst/>
          </a:prstGeom>
        </p:spPr>
      </p:pic>
      <p:sp>
        <p:nvSpPr>
          <p:cNvPr id="29" name="AutoShape 29"/>
          <p:cNvSpPr/>
          <p:nvPr/>
        </p:nvSpPr>
        <p:spPr>
          <a:xfrm>
            <a:off x="1079500" y="5047615"/>
            <a:ext cx="3048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流程标准化落地</a:t>
            </a:r>
            <a:endParaRPr lang="en-US" sz="1100"/>
          </a:p>
        </p:txBody>
      </p:sp>
      <p:sp>
        <p:nvSpPr>
          <p:cNvPr id="30" name="AutoShape 30"/>
          <p:cNvSpPr/>
          <p:nvPr/>
        </p:nvSpPr>
        <p:spPr>
          <a:xfrm>
            <a:off x="698500" y="5428615"/>
            <a:ext cx="330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将IC销售流程、公司间定价规则固化至系统，实现从</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STO</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&amp;</a:t>
            </a:r>
            <a:r>
              <a:rPr lang="zh-CN" alt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销售采购</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人工转卖</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向</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IC标准流程</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转变，消除多部门协同偏差</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1" name="AutoShape 31"/>
          <p:cNvSpPr/>
          <p:nvPr/>
        </p:nvSpPr>
        <p:spPr>
          <a:xfrm>
            <a:off x="4254500" y="4920615"/>
            <a:ext cx="3683000" cy="1270000"/>
          </a:xfrm>
          <a:prstGeom prst="roundRect">
            <a:avLst>
              <a:gd name="adj" fmla="val 0"/>
            </a:avLst>
          </a:prstGeom>
          <a:solidFill>
            <a:srgbClr val="EFF6FF">
              <a:alpha val="100000"/>
            </a:srgbClr>
          </a:solidFill>
          <a:ln w="12700" cap="flat" cmpd="sng">
            <a:solidFill>
              <a:srgbClr val="1E3A8A">
                <a:alpha val="20000"/>
              </a:srgbClr>
            </a:solidFill>
            <a:prstDash val="solid"/>
            <a:round/>
          </a:ln>
        </p:spPr>
        <p:txBody>
          <a:bodyPr vert="horz" wrap="square" lIns="0" tIns="0" rIns="0" bIns="0" rtlCol="0" anchor="ctr" anchorCtr="0"/>
          <a:lstStyle/>
          <a:p>
            <a:pPr algn="ctr">
              <a:defRPr/>
            </a:pPr>
            <a:endParaRP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000" y="5047615"/>
            <a:ext cx="304800" cy="304800"/>
          </a:xfrm>
          <a:prstGeom prst="rect">
            <a:avLst/>
          </a:prstGeom>
        </p:spPr>
      </p:pic>
      <p:sp>
        <p:nvSpPr>
          <p:cNvPr id="33" name="AutoShape 33"/>
          <p:cNvSpPr/>
          <p:nvPr/>
        </p:nvSpPr>
        <p:spPr>
          <a:xfrm>
            <a:off x="4826000" y="5047615"/>
            <a:ext cx="3048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公司间交易全程可追溯</a:t>
            </a:r>
            <a:endParaRPr lang="en-US" sz="1100" dirty="0"/>
          </a:p>
        </p:txBody>
      </p:sp>
      <p:sp>
        <p:nvSpPr>
          <p:cNvPr id="34" name="AutoShape 34"/>
          <p:cNvSpPr/>
          <p:nvPr/>
        </p:nvSpPr>
        <p:spPr>
          <a:xfrm>
            <a:off x="4445000" y="5428615"/>
            <a:ext cx="330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从接单到结算全链路数据留痕，订单、交货、发票节点实时可查，为审计与管理复盘提供依据。</a:t>
            </a:r>
            <a:endParaRPr lang="en-US" sz="1100"/>
          </a:p>
        </p:txBody>
      </p:sp>
      <p:sp>
        <p:nvSpPr>
          <p:cNvPr id="35" name="AutoShape 35"/>
          <p:cNvSpPr/>
          <p:nvPr/>
        </p:nvSpPr>
        <p:spPr>
          <a:xfrm>
            <a:off x="8001000" y="4920615"/>
            <a:ext cx="3683000" cy="1270000"/>
          </a:xfrm>
          <a:prstGeom prst="roundRect">
            <a:avLst>
              <a:gd name="adj" fmla="val 0"/>
            </a:avLst>
          </a:prstGeom>
          <a:solidFill>
            <a:srgbClr val="EFF6FF">
              <a:alpha val="100000"/>
            </a:srgbClr>
          </a:solidFill>
          <a:ln w="12700" cap="flat" cmpd="sng">
            <a:solidFill>
              <a:srgbClr val="1E3A8A">
                <a:alpha val="20000"/>
              </a:srgbClr>
            </a:solidFill>
            <a:prstDash val="solid"/>
            <a:round/>
          </a:ln>
        </p:spPr>
        <p:txBody>
          <a:bodyPr vert="horz" wrap="square" lIns="0" tIns="0" rIns="0" bIns="0" rtlCol="0" anchor="ctr" anchorCtr="0"/>
          <a:lstStyle/>
          <a:p>
            <a:pPr algn="ct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5047615"/>
            <a:ext cx="304800" cy="304800"/>
          </a:xfrm>
          <a:prstGeom prst="rect">
            <a:avLst/>
          </a:prstGeom>
        </p:spPr>
      </p:pic>
      <p:sp>
        <p:nvSpPr>
          <p:cNvPr id="37" name="AutoShape 37"/>
          <p:cNvSpPr/>
          <p:nvPr/>
        </p:nvSpPr>
        <p:spPr>
          <a:xfrm>
            <a:off x="8572500" y="5047615"/>
            <a:ext cx="3048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b="1" dirty="0" err="1">
                <a:solidFill>
                  <a:srgbClr val="1E3A8A"/>
                </a:solidFill>
                <a:latin typeface="Noto Sans SC" panose="020B0200000000000000" charset="-122"/>
                <a:ea typeface="Noto Sans SC" panose="020B0200000000000000" charset="-122"/>
                <a:sym typeface="Noto Sans SC" panose="020B0200000000000000" charset="-122"/>
              </a:rPr>
              <a:t>异常风险前置化管控</a:t>
            </a:r>
            <a:endParaRPr lang="en-US" b="1" dirty="0">
              <a:solidFill>
                <a:srgbClr val="1E3A8A"/>
              </a:solidFill>
              <a:latin typeface="Noto Sans SC" panose="020B0200000000000000" charset="-122"/>
              <a:ea typeface="Noto Sans SC" panose="020B0200000000000000" charset="-122"/>
            </a:endParaRPr>
          </a:p>
        </p:txBody>
      </p:sp>
      <p:sp>
        <p:nvSpPr>
          <p:cNvPr id="38" name="AutoShape 38"/>
          <p:cNvSpPr/>
          <p:nvPr/>
        </p:nvSpPr>
        <p:spPr>
          <a:xfrm>
            <a:off x="8191500" y="5428615"/>
            <a:ext cx="330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r>
              <a:rPr lang="zh-CN" altLang="en-US" sz="11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创建销售发票与</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自动校验订单创建，对异常实时</a:t>
            </a:r>
            <a:r>
              <a:rPr lang="zh-CN" alt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预警，将转卖风险从</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事后补救</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转为</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事前预防</a:t>
            </a:r>
            <a:r>
              <a:rPr lang="en-US" sz="1100" b="0" i="0" u="none" strike="noStrike" dirty="0">
                <a:solidFill>
                  <a:srgbClr val="4B5563"/>
                </a:solidFill>
                <a:latin typeface="Biennale"/>
                <a:ea typeface="Biennale"/>
                <a:cs typeface="Biennale"/>
                <a:sym typeface="Biennale"/>
              </a:rPr>
              <a:t>”</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0" name="AutoShape 10"/>
          <p:cNvSpPr/>
          <p:nvPr/>
        </p:nvSpPr>
        <p:spPr>
          <a:xfrm>
            <a:off x="6214137" y="1433195"/>
            <a:ext cx="2603500" cy="1206500"/>
          </a:xfrm>
          <a:prstGeom prst="roundRect">
            <a:avLst>
              <a:gd name="adj" fmla="val 0"/>
            </a:avLst>
          </a:prstGeom>
          <a:solidFill>
            <a:srgbClr val="00B0F0"/>
          </a:solidFill>
          <a:ln w="25400" cap="flat" cmpd="sng">
            <a:noFill/>
            <a:prstDash val="solid"/>
            <a:round/>
          </a:ln>
        </p:spPr>
        <p:txBody>
          <a:bodyPr vert="horz" wrap="square" lIns="0" tIns="0" rIns="0" bIns="0" rtlCol="0" anchor="ctr" anchorCtr="0"/>
          <a:lstStyle/>
          <a:p>
            <a:pPr algn="ctr">
              <a:defRPr/>
            </a:pPr>
            <a:endParaRPr/>
          </a:p>
        </p:txBody>
      </p:sp>
      <p:sp>
        <p:nvSpPr>
          <p:cNvPr id="42" name="AutoShape 11"/>
          <p:cNvSpPr/>
          <p:nvPr/>
        </p:nvSpPr>
        <p:spPr>
          <a:xfrm>
            <a:off x="6277637" y="149669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pPr>
            <a:r>
              <a:rPr lang="en-US" sz="1300" b="1" dirty="0">
                <a:solidFill>
                  <a:srgbClr val="FFFFFF"/>
                </a:solidFill>
                <a:latin typeface="Biennale"/>
                <a:ea typeface="Biennale"/>
                <a:cs typeface="Biennale"/>
                <a:sym typeface="Biennale"/>
              </a:rPr>
              <a:t>03 </a:t>
            </a:r>
            <a:r>
              <a:rPr lang="en-US" sz="13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工厂直发交货</a:t>
            </a:r>
            <a:endParaRPr lang="en-US" sz="1300" dirty="0"/>
          </a:p>
          <a:p>
            <a:pPr marL="0" indent="0" algn="l">
              <a:lnSpc>
                <a:spcPct val="100000"/>
              </a:lnSpc>
            </a:pPr>
            <a:r>
              <a:rPr lang="en-US" sz="1000" dirty="0" err="1">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由生产工厂直接创建交货单，货物直发终端客户，无需中间入库与调拨</a:t>
            </a:r>
            <a:r>
              <a:rPr lang="en-US" sz="1000"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00" b="0" i="0" u="none" strike="noStrike" dirty="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43" name="Connector 24"/>
          <p:cNvCxnSpPr/>
          <p:nvPr/>
        </p:nvCxnSpPr>
        <p:spPr>
          <a:xfrm flipH="1">
            <a:off x="7535222" y="3779750"/>
            <a:ext cx="1129422" cy="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跨公司销售系统现状</a:t>
            </a:r>
            <a:r>
              <a:rPr lang="en-US" altLang="zh-CN" sz="2800" b="1" dirty="0">
                <a:solidFill>
                  <a:srgbClr val="0073E6"/>
                </a:solidFill>
                <a:latin typeface="Biennale Bold"/>
                <a:sym typeface="Biennale Bold"/>
              </a:rPr>
              <a:t>-</a:t>
            </a:r>
            <a:r>
              <a:rPr lang="zh-CN" altLang="en-US" sz="2800" b="1" dirty="0">
                <a:solidFill>
                  <a:srgbClr val="0073E6"/>
                </a:solidFill>
                <a:latin typeface="Biennale Bold"/>
                <a:sym typeface="Biennale Bold"/>
              </a:rPr>
              <a:t>采用销售</a:t>
            </a:r>
            <a:r>
              <a:rPr lang="en-US" altLang="zh-CN" sz="2800" b="1" dirty="0">
                <a:solidFill>
                  <a:srgbClr val="0073E6"/>
                </a:solidFill>
                <a:latin typeface="Biennale Bold"/>
                <a:sym typeface="Biennale Bold"/>
              </a:rPr>
              <a:t>/</a:t>
            </a:r>
            <a:r>
              <a:rPr lang="zh-CN" altLang="en-US" sz="2800" b="1" dirty="0">
                <a:solidFill>
                  <a:srgbClr val="0073E6"/>
                </a:solidFill>
                <a:latin typeface="Biennale Bold"/>
                <a:sym typeface="Biennale Bold"/>
              </a:rPr>
              <a:t>采购入库后销售</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矩形: 圆角 5"/>
          <p:cNvSpPr/>
          <p:nvPr/>
        </p:nvSpPr>
        <p:spPr>
          <a:xfrm>
            <a:off x="2175212" y="2129141"/>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对外报价单</a:t>
            </a:r>
          </a:p>
        </p:txBody>
      </p:sp>
      <p:sp>
        <p:nvSpPr>
          <p:cNvPr id="7" name="文本框 6"/>
          <p:cNvSpPr txBox="1"/>
          <p:nvPr/>
        </p:nvSpPr>
        <p:spPr>
          <a:xfrm>
            <a:off x="3791348" y="913769"/>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销售公司</a:t>
            </a:r>
          </a:p>
        </p:txBody>
      </p:sp>
      <p:sp>
        <p:nvSpPr>
          <p:cNvPr id="8" name="文本框 7"/>
          <p:cNvSpPr txBox="1"/>
          <p:nvPr/>
        </p:nvSpPr>
        <p:spPr>
          <a:xfrm>
            <a:off x="8558274" y="913769"/>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生产公司</a:t>
            </a:r>
          </a:p>
        </p:txBody>
      </p:sp>
      <p:sp>
        <p:nvSpPr>
          <p:cNvPr id="9" name="文本框 8"/>
          <p:cNvSpPr txBox="1"/>
          <p:nvPr/>
        </p:nvSpPr>
        <p:spPr>
          <a:xfrm>
            <a:off x="382771" y="2077098"/>
            <a:ext cx="461665" cy="1984543"/>
          </a:xfrm>
          <a:prstGeom prst="rect">
            <a:avLst/>
          </a:prstGeom>
          <a:noFill/>
        </p:spPr>
        <p:txBody>
          <a:bodyPr vert="eaVert" wrap="square" rtlCol="0">
            <a:spAutoFit/>
          </a:bodyPr>
          <a:lstStyle/>
          <a:p>
            <a:r>
              <a:rPr lang="zh-CN" altLang="en-US" sz="1800" dirty="0"/>
              <a:t>经销商</a:t>
            </a:r>
            <a:r>
              <a:rPr lang="en-US" altLang="zh-CN" sz="1800" dirty="0"/>
              <a:t>/</a:t>
            </a:r>
            <a:r>
              <a:rPr lang="zh-CN" altLang="en-US" sz="1800" dirty="0"/>
              <a:t>终端客户</a:t>
            </a:r>
          </a:p>
        </p:txBody>
      </p:sp>
      <p:sp>
        <p:nvSpPr>
          <p:cNvPr id="10" name="矩形: 圆角 9"/>
          <p:cNvSpPr/>
          <p:nvPr/>
        </p:nvSpPr>
        <p:spPr>
          <a:xfrm>
            <a:off x="2243511" y="4096439"/>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销售出库</a:t>
            </a:r>
          </a:p>
        </p:txBody>
      </p:sp>
      <p:sp>
        <p:nvSpPr>
          <p:cNvPr id="11" name="矩形: 圆角 10"/>
          <p:cNvSpPr/>
          <p:nvPr/>
        </p:nvSpPr>
        <p:spPr>
          <a:xfrm>
            <a:off x="2243512" y="51397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对外销售开票</a:t>
            </a:r>
          </a:p>
        </p:txBody>
      </p:sp>
      <p:sp>
        <p:nvSpPr>
          <p:cNvPr id="12" name="矩形: 圆角 11"/>
          <p:cNvSpPr/>
          <p:nvPr/>
        </p:nvSpPr>
        <p:spPr>
          <a:xfrm>
            <a:off x="5028267" y="2124537"/>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公司间采购订单</a:t>
            </a:r>
          </a:p>
        </p:txBody>
      </p:sp>
      <p:sp>
        <p:nvSpPr>
          <p:cNvPr id="13" name="矩形: 圆角 12"/>
          <p:cNvSpPr/>
          <p:nvPr/>
        </p:nvSpPr>
        <p:spPr>
          <a:xfrm>
            <a:off x="8370425" y="441541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销售出库</a:t>
            </a:r>
          </a:p>
        </p:txBody>
      </p:sp>
      <p:sp>
        <p:nvSpPr>
          <p:cNvPr id="14" name="矩形: 圆角 13"/>
          <p:cNvSpPr/>
          <p:nvPr/>
        </p:nvSpPr>
        <p:spPr>
          <a:xfrm>
            <a:off x="5028267" y="4096439"/>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采购入库</a:t>
            </a:r>
          </a:p>
        </p:txBody>
      </p:sp>
      <p:sp>
        <p:nvSpPr>
          <p:cNvPr id="15" name="矩形: 圆角 14"/>
          <p:cNvSpPr/>
          <p:nvPr/>
        </p:nvSpPr>
        <p:spPr>
          <a:xfrm>
            <a:off x="5028267" y="51397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内部发票校验</a:t>
            </a:r>
          </a:p>
        </p:txBody>
      </p:sp>
      <p:sp>
        <p:nvSpPr>
          <p:cNvPr id="16" name="矩形: 圆角 15"/>
          <p:cNvSpPr/>
          <p:nvPr/>
        </p:nvSpPr>
        <p:spPr>
          <a:xfrm>
            <a:off x="8370425" y="51397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cxnSp>
        <p:nvCxnSpPr>
          <p:cNvPr id="17" name="连接符: 肘形 16"/>
          <p:cNvCxnSpPr>
            <a:stCxn id="23" idx="2"/>
            <a:endCxn id="13" idx="0"/>
          </p:cNvCxnSpPr>
          <p:nvPr/>
        </p:nvCxnSpPr>
        <p:spPr>
          <a:xfrm rot="5400000">
            <a:off x="9053011" y="4350164"/>
            <a:ext cx="130486" cy="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2" idx="2"/>
            <a:endCxn id="14" idx="0"/>
          </p:cNvCxnSpPr>
          <p:nvPr/>
        </p:nvCxnSpPr>
        <p:spPr>
          <a:xfrm>
            <a:off x="5776091" y="2557495"/>
            <a:ext cx="0" cy="1538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3" idx="2"/>
            <a:endCxn id="16" idx="0"/>
          </p:cNvCxnSpPr>
          <p:nvPr/>
        </p:nvCxnSpPr>
        <p:spPr>
          <a:xfrm>
            <a:off x="9118249" y="4848370"/>
            <a:ext cx="0" cy="291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2"/>
            <a:endCxn id="15" idx="0"/>
          </p:cNvCxnSpPr>
          <p:nvPr/>
        </p:nvCxnSpPr>
        <p:spPr>
          <a:xfrm>
            <a:off x="5776091" y="4529397"/>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箭头: 右 20"/>
          <p:cNvSpPr/>
          <p:nvPr/>
        </p:nvSpPr>
        <p:spPr>
          <a:xfrm rot="10800000">
            <a:off x="7013018" y="4141821"/>
            <a:ext cx="414666" cy="269258"/>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p:cNvSpPr/>
          <p:nvPr/>
        </p:nvSpPr>
        <p:spPr>
          <a:xfrm rot="10800000">
            <a:off x="3982739" y="4096439"/>
            <a:ext cx="414666" cy="269258"/>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a:off x="8370435" y="3851968"/>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公司间销售订单</a:t>
            </a:r>
          </a:p>
        </p:txBody>
      </p:sp>
      <p:sp>
        <p:nvSpPr>
          <p:cNvPr id="24" name="矩形: 圆角 23"/>
          <p:cNvSpPr/>
          <p:nvPr/>
        </p:nvSpPr>
        <p:spPr>
          <a:xfrm>
            <a:off x="8370425" y="268015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安排生产</a:t>
            </a:r>
          </a:p>
        </p:txBody>
      </p:sp>
      <p:sp>
        <p:nvSpPr>
          <p:cNvPr id="25" name="矩形: 圆角 24"/>
          <p:cNvSpPr/>
          <p:nvPr/>
        </p:nvSpPr>
        <p:spPr>
          <a:xfrm>
            <a:off x="8370424" y="329760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生产入库</a:t>
            </a:r>
          </a:p>
        </p:txBody>
      </p:sp>
      <p:cxnSp>
        <p:nvCxnSpPr>
          <p:cNvPr id="27" name="直接箭头连接符 26"/>
          <p:cNvCxnSpPr/>
          <p:nvPr/>
        </p:nvCxnSpPr>
        <p:spPr>
          <a:xfrm>
            <a:off x="2756440" y="3486073"/>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2970071" y="4529397"/>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4" idx="2"/>
            <a:endCxn id="25" idx="0"/>
          </p:cNvCxnSpPr>
          <p:nvPr/>
        </p:nvCxnSpPr>
        <p:spPr>
          <a:xfrm flipH="1">
            <a:off x="9118248" y="3113117"/>
            <a:ext cx="1" cy="184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5" idx="2"/>
            <a:endCxn id="23" idx="0"/>
          </p:cNvCxnSpPr>
          <p:nvPr/>
        </p:nvCxnSpPr>
        <p:spPr>
          <a:xfrm>
            <a:off x="9118248" y="3730567"/>
            <a:ext cx="11" cy="121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063715" y="1544440"/>
            <a:ext cx="1949302" cy="307777"/>
          </a:xfrm>
          <a:prstGeom prst="rect">
            <a:avLst/>
          </a:prstGeom>
          <a:noFill/>
        </p:spPr>
        <p:txBody>
          <a:bodyPr wrap="square" rtlCol="0">
            <a:spAutoFit/>
          </a:bodyPr>
          <a:lstStyle/>
          <a:p>
            <a:r>
              <a:rPr lang="zh-CN" altLang="en-US" dirty="0"/>
              <a:t>间接需求传递</a:t>
            </a:r>
          </a:p>
        </p:txBody>
      </p:sp>
      <p:sp>
        <p:nvSpPr>
          <p:cNvPr id="36" name="矩形: 圆角 35"/>
          <p:cNvSpPr/>
          <p:nvPr/>
        </p:nvSpPr>
        <p:spPr>
          <a:xfrm>
            <a:off x="2178741" y="3205515"/>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对外销售订单</a:t>
            </a:r>
          </a:p>
        </p:txBody>
      </p:sp>
      <p:sp>
        <p:nvSpPr>
          <p:cNvPr id="39" name="矩形: 圆角 38"/>
          <p:cNvSpPr/>
          <p:nvPr/>
        </p:nvSpPr>
        <p:spPr>
          <a:xfrm>
            <a:off x="8370424" y="2137224"/>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计划订单</a:t>
            </a:r>
          </a:p>
        </p:txBody>
      </p:sp>
      <p:cxnSp>
        <p:nvCxnSpPr>
          <p:cNvPr id="43" name="直接箭头连接符 42"/>
          <p:cNvCxnSpPr>
            <a:stCxn id="6" idx="3"/>
            <a:endCxn id="12" idx="1"/>
          </p:cNvCxnSpPr>
          <p:nvPr/>
        </p:nvCxnSpPr>
        <p:spPr>
          <a:xfrm flipV="1">
            <a:off x="3670859" y="2341016"/>
            <a:ext cx="1357408" cy="4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12" idx="3"/>
            <a:endCxn id="39" idx="1"/>
          </p:cNvCxnSpPr>
          <p:nvPr/>
        </p:nvCxnSpPr>
        <p:spPr>
          <a:xfrm>
            <a:off x="6523914" y="2341016"/>
            <a:ext cx="1846510" cy="1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跨公司销售系统现状</a:t>
            </a:r>
            <a:r>
              <a:rPr lang="en-US" altLang="zh-CN" sz="2800" b="1" dirty="0">
                <a:solidFill>
                  <a:srgbClr val="0073E6"/>
                </a:solidFill>
                <a:latin typeface="Biennale Bold"/>
                <a:sym typeface="Biennale Bold"/>
              </a:rPr>
              <a:t>-</a:t>
            </a:r>
            <a:r>
              <a:rPr lang="zh-CN" altLang="en-US" sz="2800" b="1" dirty="0">
                <a:solidFill>
                  <a:srgbClr val="0073E6"/>
                </a:solidFill>
                <a:latin typeface="Biennale Bold"/>
                <a:sym typeface="Biennale Bold"/>
              </a:rPr>
              <a:t>采用</a:t>
            </a:r>
            <a:r>
              <a:rPr lang="en-US" altLang="zh-CN" sz="2800" b="1" dirty="0">
                <a:solidFill>
                  <a:srgbClr val="0073E6"/>
                </a:solidFill>
                <a:latin typeface="Biennale Bold"/>
                <a:sym typeface="Biennale Bold"/>
              </a:rPr>
              <a:t>STO</a:t>
            </a:r>
            <a:r>
              <a:rPr lang="zh-CN" altLang="en-US" sz="2800" b="1" dirty="0">
                <a:solidFill>
                  <a:srgbClr val="0073E6"/>
                </a:solidFill>
                <a:latin typeface="Biennale Bold"/>
                <a:sym typeface="Biennale Bold"/>
              </a:rPr>
              <a:t>调拨后销售</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21" name="矩形: 圆角 20"/>
          <p:cNvSpPr/>
          <p:nvPr/>
        </p:nvSpPr>
        <p:spPr>
          <a:xfrm>
            <a:off x="1679939" y="2923411"/>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对外销售订单</a:t>
            </a:r>
          </a:p>
        </p:txBody>
      </p:sp>
      <p:sp>
        <p:nvSpPr>
          <p:cNvPr id="22" name="文本框 21"/>
          <p:cNvSpPr txBox="1"/>
          <p:nvPr/>
        </p:nvSpPr>
        <p:spPr>
          <a:xfrm>
            <a:off x="2993788" y="1068292"/>
            <a:ext cx="1495647" cy="460375"/>
          </a:xfrm>
          <a:prstGeom prst="rect">
            <a:avLst/>
          </a:prstGeom>
          <a:noFill/>
        </p:spPr>
        <p:txBody>
          <a:bodyPr wrap="square" rtlCol="0">
            <a:spAutoFit/>
          </a:bodyPr>
          <a:lstStyle/>
          <a:p>
            <a:r>
              <a:rPr lang="zh-CN" altLang="en-US" sz="2400" dirty="0">
                <a:latin typeface="微软雅黑" panose="020B0503020204020204" charset="-122"/>
                <a:ea typeface="微软雅黑" panose="020B0503020204020204" charset="-122"/>
              </a:rPr>
              <a:t>销售公司</a:t>
            </a:r>
          </a:p>
        </p:txBody>
      </p:sp>
      <p:sp>
        <p:nvSpPr>
          <p:cNvPr id="25" name="文本框 24"/>
          <p:cNvSpPr txBox="1"/>
          <p:nvPr/>
        </p:nvSpPr>
        <p:spPr>
          <a:xfrm>
            <a:off x="7760714" y="1068292"/>
            <a:ext cx="1495647" cy="460375"/>
          </a:xfrm>
          <a:prstGeom prst="rect">
            <a:avLst/>
          </a:prstGeom>
          <a:noFill/>
        </p:spPr>
        <p:txBody>
          <a:bodyPr wrap="square" rtlCol="0">
            <a:spAutoFit/>
          </a:bodyPr>
          <a:lstStyle/>
          <a:p>
            <a:pPr algn="ctr"/>
            <a:r>
              <a:rPr lang="zh-CN" altLang="en-US" sz="2400" dirty="0">
                <a:latin typeface="微软雅黑" panose="020B0503020204020204" charset="-122"/>
                <a:ea typeface="微软雅黑" panose="020B0503020204020204" charset="-122"/>
              </a:rPr>
              <a:t>生产公司</a:t>
            </a:r>
          </a:p>
        </p:txBody>
      </p:sp>
      <p:sp>
        <p:nvSpPr>
          <p:cNvPr id="26" name="文本框 25"/>
          <p:cNvSpPr txBox="1"/>
          <p:nvPr/>
        </p:nvSpPr>
        <p:spPr>
          <a:xfrm>
            <a:off x="382771" y="2353541"/>
            <a:ext cx="461665" cy="1984543"/>
          </a:xfrm>
          <a:prstGeom prst="rect">
            <a:avLst/>
          </a:prstGeom>
          <a:noFill/>
        </p:spPr>
        <p:txBody>
          <a:bodyPr vert="eaVert" wrap="square" rtlCol="0">
            <a:spAutoFit/>
          </a:bodyPr>
          <a:lstStyle/>
          <a:p>
            <a:r>
              <a:rPr lang="zh-CN" altLang="en-US" sz="1800" dirty="0"/>
              <a:t>经销商</a:t>
            </a:r>
            <a:r>
              <a:rPr lang="en-US" altLang="zh-CN" sz="1800" dirty="0"/>
              <a:t>/</a:t>
            </a:r>
            <a:r>
              <a:rPr lang="zh-CN" altLang="en-US" sz="1800" dirty="0"/>
              <a:t>终端客户</a:t>
            </a:r>
          </a:p>
        </p:txBody>
      </p:sp>
      <p:sp>
        <p:nvSpPr>
          <p:cNvPr id="30" name="矩形: 圆角 29"/>
          <p:cNvSpPr/>
          <p:nvPr/>
        </p:nvSpPr>
        <p:spPr>
          <a:xfrm>
            <a:off x="1679939" y="3966735"/>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销售出库</a:t>
            </a:r>
          </a:p>
        </p:txBody>
      </p:sp>
      <p:sp>
        <p:nvSpPr>
          <p:cNvPr id="31" name="矩形: 圆角 30"/>
          <p:cNvSpPr/>
          <p:nvPr/>
        </p:nvSpPr>
        <p:spPr>
          <a:xfrm>
            <a:off x="1679940" y="501005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对外销售开票</a:t>
            </a:r>
          </a:p>
        </p:txBody>
      </p:sp>
      <p:sp>
        <p:nvSpPr>
          <p:cNvPr id="32" name="矩形: 圆角 31"/>
          <p:cNvSpPr/>
          <p:nvPr/>
        </p:nvSpPr>
        <p:spPr>
          <a:xfrm>
            <a:off x="4681865" y="2009022"/>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公司间采购订单</a:t>
            </a:r>
          </a:p>
        </p:txBody>
      </p:sp>
      <p:sp>
        <p:nvSpPr>
          <p:cNvPr id="33" name="矩形: 圆角 32"/>
          <p:cNvSpPr/>
          <p:nvPr/>
        </p:nvSpPr>
        <p:spPr>
          <a:xfrm>
            <a:off x="7775934" y="3966735"/>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销售出库</a:t>
            </a:r>
          </a:p>
        </p:txBody>
      </p:sp>
      <p:sp>
        <p:nvSpPr>
          <p:cNvPr id="34" name="矩形: 圆角 33"/>
          <p:cNvSpPr/>
          <p:nvPr/>
        </p:nvSpPr>
        <p:spPr>
          <a:xfrm>
            <a:off x="4681865" y="3966735"/>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采购入库</a:t>
            </a:r>
          </a:p>
        </p:txBody>
      </p:sp>
      <p:sp>
        <p:nvSpPr>
          <p:cNvPr id="35" name="矩形: 圆角 34"/>
          <p:cNvSpPr/>
          <p:nvPr/>
        </p:nvSpPr>
        <p:spPr>
          <a:xfrm>
            <a:off x="4681865" y="501005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内部发票校验</a:t>
            </a:r>
          </a:p>
        </p:txBody>
      </p:sp>
      <p:sp>
        <p:nvSpPr>
          <p:cNvPr id="36" name="矩形: 圆角 35"/>
          <p:cNvSpPr/>
          <p:nvPr/>
        </p:nvSpPr>
        <p:spPr>
          <a:xfrm>
            <a:off x="7775934" y="501005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cxnSp>
        <p:nvCxnSpPr>
          <p:cNvPr id="37" name="连接符: 肘形 36"/>
          <p:cNvCxnSpPr>
            <a:stCxn id="32" idx="2"/>
            <a:endCxn id="33" idx="0"/>
          </p:cNvCxnSpPr>
          <p:nvPr/>
        </p:nvCxnSpPr>
        <p:spPr>
          <a:xfrm rot="16200000" flipH="1">
            <a:off x="6214346" y="1657322"/>
            <a:ext cx="1524755" cy="3094069"/>
          </a:xfrm>
          <a:prstGeom prst="bentConnector3">
            <a:avLst>
              <a:gd name="adj1" fmla="val 8626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32" idx="2"/>
            <a:endCxn id="34" idx="0"/>
          </p:cNvCxnSpPr>
          <p:nvPr/>
        </p:nvCxnSpPr>
        <p:spPr>
          <a:xfrm>
            <a:off x="5429689" y="2441980"/>
            <a:ext cx="0" cy="1524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3" idx="2"/>
            <a:endCxn id="36" idx="0"/>
          </p:cNvCxnSpPr>
          <p:nvPr/>
        </p:nvCxnSpPr>
        <p:spPr>
          <a:xfrm>
            <a:off x="8523758" y="4399693"/>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34" idx="2"/>
            <a:endCxn id="35" idx="0"/>
          </p:cNvCxnSpPr>
          <p:nvPr/>
        </p:nvCxnSpPr>
        <p:spPr>
          <a:xfrm>
            <a:off x="5429689" y="4399693"/>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箭头: 右 40"/>
          <p:cNvSpPr/>
          <p:nvPr/>
        </p:nvSpPr>
        <p:spPr>
          <a:xfrm rot="10800000">
            <a:off x="6666616" y="4012117"/>
            <a:ext cx="414666" cy="269258"/>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右 41"/>
          <p:cNvSpPr/>
          <p:nvPr/>
        </p:nvSpPr>
        <p:spPr>
          <a:xfrm rot="10800000">
            <a:off x="3636337" y="3966735"/>
            <a:ext cx="414666" cy="269258"/>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p:nvSpPr>
        <p:spPr>
          <a:xfrm>
            <a:off x="7775945" y="260019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安排生产</a:t>
            </a:r>
          </a:p>
        </p:txBody>
      </p:sp>
      <p:cxnSp>
        <p:nvCxnSpPr>
          <p:cNvPr id="45" name="直接箭头连接符 44"/>
          <p:cNvCxnSpPr>
            <a:stCxn id="46" idx="2"/>
            <a:endCxn id="33" idx="0"/>
          </p:cNvCxnSpPr>
          <p:nvPr/>
        </p:nvCxnSpPr>
        <p:spPr>
          <a:xfrm>
            <a:off x="8523757" y="3656952"/>
            <a:ext cx="1" cy="309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圆角 45"/>
          <p:cNvSpPr/>
          <p:nvPr/>
        </p:nvSpPr>
        <p:spPr>
          <a:xfrm>
            <a:off x="7775933" y="3223994"/>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生产入库</a:t>
            </a:r>
          </a:p>
        </p:txBody>
      </p:sp>
      <p:cxnSp>
        <p:nvCxnSpPr>
          <p:cNvPr id="47" name="直接箭头连接符 46"/>
          <p:cNvCxnSpPr>
            <a:stCxn id="43" idx="2"/>
            <a:endCxn id="46" idx="0"/>
          </p:cNvCxnSpPr>
          <p:nvPr/>
        </p:nvCxnSpPr>
        <p:spPr>
          <a:xfrm flipH="1">
            <a:off x="8523757" y="3033157"/>
            <a:ext cx="12" cy="190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1" idx="2"/>
            <a:endCxn id="30" idx="0"/>
          </p:cNvCxnSpPr>
          <p:nvPr/>
        </p:nvCxnSpPr>
        <p:spPr>
          <a:xfrm>
            <a:off x="2427763" y="3356369"/>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30" idx="2"/>
            <a:endCxn id="31" idx="0"/>
          </p:cNvCxnSpPr>
          <p:nvPr/>
        </p:nvCxnSpPr>
        <p:spPr>
          <a:xfrm>
            <a:off x="2427763" y="4399693"/>
            <a:ext cx="1"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4416056" y="1436646"/>
            <a:ext cx="1949302" cy="307777"/>
          </a:xfrm>
          <a:prstGeom prst="rect">
            <a:avLst/>
          </a:prstGeom>
          <a:noFill/>
        </p:spPr>
        <p:txBody>
          <a:bodyPr wrap="square" rtlCol="0">
            <a:spAutoFit/>
          </a:bodyPr>
          <a:lstStyle/>
          <a:p>
            <a:r>
              <a:rPr lang="zh-CN" altLang="en-US" dirty="0"/>
              <a:t>间接需求传递</a:t>
            </a:r>
          </a:p>
        </p:txBody>
      </p:sp>
      <p:cxnSp>
        <p:nvCxnSpPr>
          <p:cNvPr id="51" name="直接连接符 50"/>
          <p:cNvCxnSpPr/>
          <p:nvPr/>
        </p:nvCxnSpPr>
        <p:spPr>
          <a:xfrm>
            <a:off x="6578009" y="1112874"/>
            <a:ext cx="0" cy="444441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 name="矩形: 圆角 6"/>
          <p:cNvSpPr/>
          <p:nvPr/>
        </p:nvSpPr>
        <p:spPr>
          <a:xfrm>
            <a:off x="1722484" y="200947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对外报价单</a:t>
            </a:r>
          </a:p>
        </p:txBody>
      </p:sp>
      <p:cxnSp>
        <p:nvCxnSpPr>
          <p:cNvPr id="11" name="连接符: 肘形 10"/>
          <p:cNvCxnSpPr>
            <a:stCxn id="7" idx="3"/>
            <a:endCxn id="32" idx="1"/>
          </p:cNvCxnSpPr>
          <p:nvPr/>
        </p:nvCxnSpPr>
        <p:spPr>
          <a:xfrm flipV="1">
            <a:off x="3218131" y="2225501"/>
            <a:ext cx="1463734" cy="4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圆角 12"/>
          <p:cNvSpPr/>
          <p:nvPr/>
        </p:nvSpPr>
        <p:spPr>
          <a:xfrm>
            <a:off x="7779489" y="200888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计划订单</a:t>
            </a:r>
          </a:p>
        </p:txBody>
      </p:sp>
      <p:cxnSp>
        <p:nvCxnSpPr>
          <p:cNvPr id="16" name="直接箭头连接符 15"/>
          <p:cNvCxnSpPr>
            <a:stCxn id="32" idx="3"/>
            <a:endCxn id="13" idx="1"/>
          </p:cNvCxnSpPr>
          <p:nvPr/>
        </p:nvCxnSpPr>
        <p:spPr>
          <a:xfrm flipV="1">
            <a:off x="6177512" y="2225361"/>
            <a:ext cx="1601977" cy="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21" idx="0"/>
          </p:cNvCxnSpPr>
          <p:nvPr/>
        </p:nvCxnSpPr>
        <p:spPr>
          <a:xfrm>
            <a:off x="2427762" y="2441840"/>
            <a:ext cx="1" cy="481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3" idx="2"/>
            <a:endCxn id="43" idx="0"/>
          </p:cNvCxnSpPr>
          <p:nvPr/>
        </p:nvCxnSpPr>
        <p:spPr>
          <a:xfrm flipH="1">
            <a:off x="8523769" y="2441840"/>
            <a:ext cx="3544" cy="158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跨公司销售系统方案总览</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矩形: 圆角 5"/>
          <p:cNvSpPr/>
          <p:nvPr/>
        </p:nvSpPr>
        <p:spPr>
          <a:xfrm>
            <a:off x="2021896" y="3584967"/>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对外销售订单</a:t>
            </a:r>
          </a:p>
        </p:txBody>
      </p:sp>
      <p:sp>
        <p:nvSpPr>
          <p:cNvPr id="7" name="文本框 6"/>
          <p:cNvSpPr txBox="1"/>
          <p:nvPr/>
        </p:nvSpPr>
        <p:spPr>
          <a:xfrm>
            <a:off x="3786903" y="1534453"/>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销售公司</a:t>
            </a:r>
          </a:p>
        </p:txBody>
      </p:sp>
      <p:sp>
        <p:nvSpPr>
          <p:cNvPr id="8" name="文本框 7"/>
          <p:cNvSpPr txBox="1"/>
          <p:nvPr/>
        </p:nvSpPr>
        <p:spPr>
          <a:xfrm>
            <a:off x="7972809" y="1534453"/>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生产公司</a:t>
            </a:r>
          </a:p>
        </p:txBody>
      </p:sp>
      <p:sp>
        <p:nvSpPr>
          <p:cNvPr id="9" name="文本框 8"/>
          <p:cNvSpPr txBox="1"/>
          <p:nvPr/>
        </p:nvSpPr>
        <p:spPr>
          <a:xfrm>
            <a:off x="537076" y="2842630"/>
            <a:ext cx="461665" cy="1984543"/>
          </a:xfrm>
          <a:prstGeom prst="rect">
            <a:avLst/>
          </a:prstGeom>
          <a:noFill/>
        </p:spPr>
        <p:txBody>
          <a:bodyPr vert="eaVert" wrap="square" rtlCol="0">
            <a:spAutoFit/>
          </a:bodyPr>
          <a:lstStyle/>
          <a:p>
            <a:r>
              <a:rPr lang="zh-CN" altLang="en-US" sz="1800" dirty="0"/>
              <a:t>经销商</a:t>
            </a:r>
            <a:r>
              <a:rPr lang="en-US" altLang="zh-CN" sz="1800" dirty="0"/>
              <a:t>/</a:t>
            </a:r>
            <a:r>
              <a:rPr lang="zh-CN" altLang="en-US" sz="1800" dirty="0"/>
              <a:t>终端客户</a:t>
            </a:r>
          </a:p>
        </p:txBody>
      </p:sp>
      <p:sp>
        <p:nvSpPr>
          <p:cNvPr id="10" name="矩形: 圆角 9"/>
          <p:cNvSpPr/>
          <p:nvPr/>
        </p:nvSpPr>
        <p:spPr>
          <a:xfrm>
            <a:off x="2021897" y="5671615"/>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对外销售开票</a:t>
            </a:r>
          </a:p>
        </p:txBody>
      </p:sp>
      <p:sp>
        <p:nvSpPr>
          <p:cNvPr id="11" name="矩形: 圆角 10"/>
          <p:cNvSpPr/>
          <p:nvPr/>
        </p:nvSpPr>
        <p:spPr>
          <a:xfrm>
            <a:off x="8365980" y="4628291"/>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销售出库</a:t>
            </a:r>
          </a:p>
        </p:txBody>
      </p:sp>
      <p:sp>
        <p:nvSpPr>
          <p:cNvPr id="12" name="矩形: 圆角 11"/>
          <p:cNvSpPr/>
          <p:nvPr/>
        </p:nvSpPr>
        <p:spPr>
          <a:xfrm>
            <a:off x="4229927" y="5671615"/>
            <a:ext cx="1495647" cy="468000"/>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内部应付</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主营成本、税</a:t>
            </a:r>
          </a:p>
        </p:txBody>
      </p:sp>
      <p:sp>
        <p:nvSpPr>
          <p:cNvPr id="13" name="矩形: 圆角 12"/>
          <p:cNvSpPr/>
          <p:nvPr/>
        </p:nvSpPr>
        <p:spPr>
          <a:xfrm>
            <a:off x="8365980" y="5671615"/>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cxnSp>
        <p:nvCxnSpPr>
          <p:cNvPr id="14" name="直接箭头连接符 13"/>
          <p:cNvCxnSpPr>
            <a:stCxn id="11" idx="2"/>
            <a:endCxn id="13" idx="0"/>
          </p:cNvCxnSpPr>
          <p:nvPr/>
        </p:nvCxnSpPr>
        <p:spPr>
          <a:xfrm>
            <a:off x="9113804" y="5061249"/>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矩形: 圆角 14"/>
          <p:cNvSpPr/>
          <p:nvPr/>
        </p:nvSpPr>
        <p:spPr>
          <a:xfrm>
            <a:off x="8365980" y="2113324"/>
            <a:ext cx="1495647" cy="468000"/>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计划</a:t>
            </a:r>
            <a:r>
              <a:rPr lang="zh-CN" altLang="en-US" sz="1600">
                <a:solidFill>
                  <a:schemeClr val="bg1"/>
                </a:solidFill>
                <a:latin typeface="微软雅黑" panose="020B0503020204020204" pitchFamily="34" charset="-122"/>
                <a:ea typeface="微软雅黑" panose="020B0503020204020204" pitchFamily="34" charset="-122"/>
              </a:rPr>
              <a:t>订单</a:t>
            </a:r>
            <a:endParaRPr lang="en-US" altLang="zh-CN" sz="1600" dirty="0">
              <a:solidFill>
                <a:schemeClr val="bg1"/>
              </a:solidFill>
              <a:latin typeface="微软雅黑" panose="020B0503020204020204" pitchFamily="34" charset="-122"/>
              <a:ea typeface="微软雅黑" panose="020B0503020204020204" pitchFamily="34" charset="-122"/>
            </a:endParaRPr>
          </a:p>
          <a:p>
            <a:pPr algn="ctr"/>
            <a:r>
              <a:rPr lang="zh-CN" altLang="en-US" sz="1600" dirty="0">
                <a:solidFill>
                  <a:schemeClr val="bg1"/>
                </a:solidFill>
                <a:latin typeface="微软雅黑" panose="020B0503020204020204" pitchFamily="34" charset="-122"/>
                <a:ea typeface="微软雅黑" panose="020B0503020204020204" pitchFamily="34" charset="-122"/>
              </a:rPr>
              <a:t>安排生产</a:t>
            </a:r>
          </a:p>
        </p:txBody>
      </p:sp>
      <p:sp>
        <p:nvSpPr>
          <p:cNvPr id="16" name="矩形: 圆角 15"/>
          <p:cNvSpPr/>
          <p:nvPr/>
        </p:nvSpPr>
        <p:spPr>
          <a:xfrm>
            <a:off x="8365979" y="2815836"/>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生产入库</a:t>
            </a:r>
          </a:p>
        </p:txBody>
      </p:sp>
      <p:cxnSp>
        <p:nvCxnSpPr>
          <p:cNvPr id="17" name="连接符: 肘形 16"/>
          <p:cNvCxnSpPr>
            <a:stCxn id="32" idx="0"/>
            <a:endCxn id="15" idx="1"/>
          </p:cNvCxnSpPr>
          <p:nvPr/>
        </p:nvCxnSpPr>
        <p:spPr>
          <a:xfrm rot="5400000" flipH="1" flipV="1">
            <a:off x="5345453" y="-228408"/>
            <a:ext cx="444795" cy="55962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0" idx="0"/>
          </p:cNvCxnSpPr>
          <p:nvPr/>
        </p:nvCxnSpPr>
        <p:spPr>
          <a:xfrm>
            <a:off x="2751995" y="4017925"/>
            <a:ext cx="17726" cy="1653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5" idx="2"/>
            <a:endCxn id="16" idx="0"/>
          </p:cNvCxnSpPr>
          <p:nvPr/>
        </p:nvCxnSpPr>
        <p:spPr>
          <a:xfrm flipH="1">
            <a:off x="9113803" y="2581324"/>
            <a:ext cx="1" cy="234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59270" y="2076292"/>
            <a:ext cx="1949302" cy="307777"/>
          </a:xfrm>
          <a:prstGeom prst="rect">
            <a:avLst/>
          </a:prstGeom>
          <a:noFill/>
        </p:spPr>
        <p:txBody>
          <a:bodyPr wrap="square" rtlCol="0">
            <a:spAutoFit/>
          </a:bodyPr>
          <a:lstStyle/>
          <a:p>
            <a:r>
              <a:rPr lang="zh-CN" altLang="en-US" dirty="0"/>
              <a:t>直接需求传递</a:t>
            </a:r>
          </a:p>
        </p:txBody>
      </p:sp>
      <p:sp>
        <p:nvSpPr>
          <p:cNvPr id="21" name="文本框 20"/>
          <p:cNvSpPr txBox="1"/>
          <p:nvPr/>
        </p:nvSpPr>
        <p:spPr>
          <a:xfrm>
            <a:off x="542249" y="810900"/>
            <a:ext cx="11015331" cy="523220"/>
          </a:xfrm>
          <a:prstGeom prst="rect">
            <a:avLst/>
          </a:prstGeom>
          <a:noFill/>
        </p:spPr>
        <p:txBody>
          <a:bodyPr wrap="square" rtlCol="0">
            <a:spAutoFit/>
          </a:bodyPr>
          <a:lstStyle/>
          <a:p>
            <a:r>
              <a:rPr lang="zh-CN" altLang="en-US" b="1" dirty="0"/>
              <a:t>跨公司销售定义</a:t>
            </a:r>
            <a:r>
              <a:rPr lang="zh-CN" altLang="en-US" dirty="0"/>
              <a:t>：对外销售订单为跨公司销售订单，销售订单抬头的销售组织归属销售公司，行项目发货工厂归属生产公司，产品从生产公司发货，销售公司与生产公司直接存在内部结算，同时销售公司对外部经销商</a:t>
            </a:r>
            <a:r>
              <a:rPr lang="en-US" altLang="zh-CN" dirty="0"/>
              <a:t>/</a:t>
            </a:r>
            <a:r>
              <a:rPr lang="zh-CN" altLang="en-US" dirty="0"/>
              <a:t>终端客户结算。</a:t>
            </a:r>
            <a:endParaRPr lang="en-US" altLang="zh-CN" dirty="0"/>
          </a:p>
        </p:txBody>
      </p:sp>
      <p:cxnSp>
        <p:nvCxnSpPr>
          <p:cNvPr id="22" name="连接符: 肘形 21"/>
          <p:cNvCxnSpPr>
            <a:stCxn id="6" idx="3"/>
            <a:endCxn id="11" idx="0"/>
          </p:cNvCxnSpPr>
          <p:nvPr/>
        </p:nvCxnSpPr>
        <p:spPr>
          <a:xfrm>
            <a:off x="3517543" y="3801446"/>
            <a:ext cx="5596261" cy="8268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p:cNvCxnSpPr>
            <a:stCxn id="11" idx="1"/>
            <a:endCxn id="10" idx="0"/>
          </p:cNvCxnSpPr>
          <p:nvPr/>
        </p:nvCxnSpPr>
        <p:spPr>
          <a:xfrm rot="10800000" flipV="1">
            <a:off x="2769722" y="4844769"/>
            <a:ext cx="5596259" cy="8268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3" idx="1"/>
            <a:endCxn id="12" idx="3"/>
          </p:cNvCxnSpPr>
          <p:nvPr/>
        </p:nvCxnSpPr>
        <p:spPr>
          <a:xfrm flipH="1">
            <a:off x="5725574" y="5888094"/>
            <a:ext cx="2640406" cy="17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717935" y="5580316"/>
            <a:ext cx="1846521" cy="307777"/>
          </a:xfrm>
          <a:prstGeom prst="rect">
            <a:avLst/>
          </a:prstGeom>
          <a:noFill/>
        </p:spPr>
        <p:txBody>
          <a:bodyPr wrap="square" rtlCol="0">
            <a:spAutoFit/>
          </a:bodyPr>
          <a:lstStyle/>
          <a:p>
            <a:r>
              <a:rPr lang="en-US" altLang="zh-CN" dirty="0"/>
              <a:t>IDOC</a:t>
            </a:r>
            <a:r>
              <a:rPr lang="zh-CN" altLang="en-US" dirty="0"/>
              <a:t>自动触发</a:t>
            </a:r>
          </a:p>
        </p:txBody>
      </p:sp>
      <p:cxnSp>
        <p:nvCxnSpPr>
          <p:cNvPr id="26" name="直接箭头连接符 25"/>
          <p:cNvCxnSpPr>
            <a:stCxn id="16" idx="2"/>
            <a:endCxn id="11" idx="0"/>
          </p:cNvCxnSpPr>
          <p:nvPr/>
        </p:nvCxnSpPr>
        <p:spPr>
          <a:xfrm>
            <a:off x="9113803" y="3248794"/>
            <a:ext cx="1" cy="1379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圆角 31"/>
          <p:cNvSpPr/>
          <p:nvPr/>
        </p:nvSpPr>
        <p:spPr>
          <a:xfrm>
            <a:off x="2021896" y="2792119"/>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对外报价单</a:t>
            </a:r>
          </a:p>
        </p:txBody>
      </p:sp>
      <p:cxnSp>
        <p:nvCxnSpPr>
          <p:cNvPr id="35" name="直接箭头连接符 34"/>
          <p:cNvCxnSpPr>
            <a:stCxn id="32" idx="2"/>
            <a:endCxn id="6" idx="0"/>
          </p:cNvCxnSpPr>
          <p:nvPr/>
        </p:nvCxnSpPr>
        <p:spPr>
          <a:xfrm>
            <a:off x="2769720" y="3225077"/>
            <a:ext cx="0" cy="359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83594" y="6412816"/>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跨公司销售退货系统方案总览</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矩形: 圆角 5"/>
          <p:cNvSpPr/>
          <p:nvPr/>
        </p:nvSpPr>
        <p:spPr>
          <a:xfrm>
            <a:off x="2157786" y="2683018"/>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a:t>
            </a:r>
            <a:r>
              <a:rPr lang="zh-CN" altLang="en-US" sz="1600">
                <a:solidFill>
                  <a:schemeClr val="bg1"/>
                </a:solidFill>
                <a:latin typeface="微软雅黑" panose="020B0503020204020204" pitchFamily="34" charset="-122"/>
                <a:ea typeface="微软雅黑" panose="020B0503020204020204" pitchFamily="34" charset="-122"/>
              </a:rPr>
              <a:t>销售</a:t>
            </a:r>
            <a:endParaRPr lang="en-US" altLang="zh-CN" sz="1600" dirty="0">
              <a:solidFill>
                <a:schemeClr val="bg1"/>
              </a:solidFill>
              <a:latin typeface="微软雅黑" panose="020B0503020204020204" pitchFamily="34" charset="-122"/>
              <a:ea typeface="微软雅黑" panose="020B0503020204020204" pitchFamily="34" charset="-122"/>
            </a:endParaRPr>
          </a:p>
          <a:p>
            <a:pPr algn="ctr"/>
            <a:r>
              <a:rPr lang="zh-CN" altLang="en-US" sz="1600" dirty="0">
                <a:solidFill>
                  <a:schemeClr val="bg1"/>
                </a:solidFill>
                <a:latin typeface="微软雅黑" panose="020B0503020204020204" pitchFamily="34" charset="-122"/>
                <a:ea typeface="微软雅黑" panose="020B0503020204020204" pitchFamily="34" charset="-122"/>
              </a:rPr>
              <a:t>退货订单</a:t>
            </a:r>
          </a:p>
        </p:txBody>
      </p:sp>
      <p:sp>
        <p:nvSpPr>
          <p:cNvPr id="7" name="文本框 6"/>
          <p:cNvSpPr txBox="1"/>
          <p:nvPr/>
        </p:nvSpPr>
        <p:spPr>
          <a:xfrm>
            <a:off x="3922793" y="1738288"/>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销售公司</a:t>
            </a:r>
          </a:p>
        </p:txBody>
      </p:sp>
      <p:sp>
        <p:nvSpPr>
          <p:cNvPr id="8" name="文本框 7"/>
          <p:cNvSpPr txBox="1"/>
          <p:nvPr/>
        </p:nvSpPr>
        <p:spPr>
          <a:xfrm>
            <a:off x="8108699" y="1738288"/>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生产公司</a:t>
            </a:r>
          </a:p>
        </p:txBody>
      </p:sp>
      <p:sp>
        <p:nvSpPr>
          <p:cNvPr id="9" name="文本框 8"/>
          <p:cNvSpPr txBox="1"/>
          <p:nvPr/>
        </p:nvSpPr>
        <p:spPr>
          <a:xfrm>
            <a:off x="382771" y="2842630"/>
            <a:ext cx="461665" cy="1984543"/>
          </a:xfrm>
          <a:prstGeom prst="rect">
            <a:avLst/>
          </a:prstGeom>
          <a:noFill/>
        </p:spPr>
        <p:txBody>
          <a:bodyPr vert="eaVert" wrap="square" rtlCol="0">
            <a:spAutoFit/>
          </a:bodyPr>
          <a:lstStyle/>
          <a:p>
            <a:r>
              <a:rPr lang="zh-CN" altLang="en-US" sz="1800" dirty="0"/>
              <a:t>经销商</a:t>
            </a:r>
            <a:r>
              <a:rPr lang="en-US" altLang="zh-CN" sz="1800" dirty="0"/>
              <a:t>/</a:t>
            </a:r>
            <a:r>
              <a:rPr lang="zh-CN" altLang="en-US" sz="1800" dirty="0"/>
              <a:t>终端客户</a:t>
            </a:r>
          </a:p>
        </p:txBody>
      </p:sp>
      <p:sp>
        <p:nvSpPr>
          <p:cNvPr id="10" name="矩形: 圆角 9"/>
          <p:cNvSpPr/>
          <p:nvPr/>
        </p:nvSpPr>
        <p:spPr>
          <a:xfrm>
            <a:off x="2157787" y="4769666"/>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a:t>
            </a:r>
            <a:r>
              <a:rPr lang="zh-CN" altLang="en-US" sz="1600">
                <a:solidFill>
                  <a:schemeClr val="bg1"/>
                </a:solidFill>
                <a:latin typeface="微软雅黑" panose="020B0503020204020204" pitchFamily="34" charset="-122"/>
                <a:ea typeface="微软雅黑" panose="020B0503020204020204" pitchFamily="34" charset="-122"/>
              </a:rPr>
              <a:t>销售</a:t>
            </a:r>
            <a:endParaRPr lang="en-US" altLang="zh-CN" sz="1600" dirty="0">
              <a:solidFill>
                <a:schemeClr val="bg1"/>
              </a:solidFill>
              <a:latin typeface="微软雅黑" panose="020B0503020204020204" pitchFamily="34" charset="-122"/>
              <a:ea typeface="微软雅黑" panose="020B0503020204020204" pitchFamily="34" charset="-122"/>
            </a:endParaRPr>
          </a:p>
          <a:p>
            <a:pPr algn="ctr"/>
            <a:r>
              <a:rPr lang="zh-CN" altLang="en-US" sz="1600" dirty="0">
                <a:solidFill>
                  <a:schemeClr val="bg1"/>
                </a:solidFill>
                <a:latin typeface="微软雅黑" panose="020B0503020204020204" pitchFamily="34" charset="-122"/>
                <a:ea typeface="微软雅黑" panose="020B0503020204020204" pitchFamily="34" charset="-122"/>
              </a:rPr>
              <a:t>退货开票</a:t>
            </a:r>
          </a:p>
        </p:txBody>
      </p:sp>
      <p:sp>
        <p:nvSpPr>
          <p:cNvPr id="11" name="矩形: 圆角 10"/>
          <p:cNvSpPr/>
          <p:nvPr/>
        </p:nvSpPr>
        <p:spPr>
          <a:xfrm>
            <a:off x="8501870" y="3726342"/>
            <a:ext cx="1495647" cy="432958"/>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销售退货</a:t>
            </a:r>
          </a:p>
        </p:txBody>
      </p:sp>
      <p:sp>
        <p:nvSpPr>
          <p:cNvPr id="12" name="矩形: 圆角 11"/>
          <p:cNvSpPr/>
          <p:nvPr/>
        </p:nvSpPr>
        <p:spPr>
          <a:xfrm>
            <a:off x="4365817" y="4769666"/>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主营成本、税</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内部应付</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13" name="矩形: 圆角 12"/>
          <p:cNvSpPr/>
          <p:nvPr/>
        </p:nvSpPr>
        <p:spPr>
          <a:xfrm>
            <a:off x="8501870" y="4769666"/>
            <a:ext cx="1495647" cy="468000"/>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a:t>
            </a:r>
            <a:r>
              <a:rPr lang="zh-CN" altLang="en-US" sz="1600">
                <a:solidFill>
                  <a:schemeClr val="bg1"/>
                </a:solidFill>
                <a:latin typeface="微软雅黑" panose="020B0503020204020204" pitchFamily="34" charset="-122"/>
                <a:ea typeface="微软雅黑" panose="020B0503020204020204" pitchFamily="34" charset="-122"/>
              </a:rPr>
              <a:t>销售</a:t>
            </a:r>
            <a:endParaRPr lang="en-US" altLang="zh-CN" sz="1600" dirty="0">
              <a:solidFill>
                <a:schemeClr val="bg1"/>
              </a:solidFill>
              <a:latin typeface="微软雅黑" panose="020B0503020204020204" pitchFamily="34" charset="-122"/>
              <a:ea typeface="微软雅黑" panose="020B0503020204020204" pitchFamily="34" charset="-122"/>
            </a:endParaRPr>
          </a:p>
          <a:p>
            <a:pPr algn="ctr"/>
            <a:r>
              <a:rPr lang="zh-CN" altLang="en-US" sz="1600" dirty="0">
                <a:solidFill>
                  <a:schemeClr val="bg1"/>
                </a:solidFill>
                <a:latin typeface="微软雅黑" panose="020B0503020204020204" pitchFamily="34" charset="-122"/>
                <a:ea typeface="微软雅黑" panose="020B0503020204020204" pitchFamily="34" charset="-122"/>
              </a:rPr>
              <a:t>退货开票</a:t>
            </a:r>
          </a:p>
        </p:txBody>
      </p:sp>
      <p:cxnSp>
        <p:nvCxnSpPr>
          <p:cNvPr id="14" name="直接箭头连接符 13"/>
          <p:cNvCxnSpPr>
            <a:stCxn id="11" idx="2"/>
            <a:endCxn id="13" idx="0"/>
          </p:cNvCxnSpPr>
          <p:nvPr/>
        </p:nvCxnSpPr>
        <p:spPr>
          <a:xfrm>
            <a:off x="9249694" y="4159300"/>
            <a:ext cx="0" cy="61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0" idx="0"/>
          </p:cNvCxnSpPr>
          <p:nvPr/>
        </p:nvCxnSpPr>
        <p:spPr>
          <a:xfrm>
            <a:off x="2887885" y="3115976"/>
            <a:ext cx="17726" cy="1653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42249" y="810900"/>
            <a:ext cx="11015331" cy="307777"/>
          </a:xfrm>
          <a:prstGeom prst="rect">
            <a:avLst/>
          </a:prstGeom>
          <a:noFill/>
        </p:spPr>
        <p:txBody>
          <a:bodyPr wrap="square" rtlCol="0">
            <a:spAutoFit/>
          </a:bodyPr>
          <a:lstStyle/>
          <a:p>
            <a:r>
              <a:rPr lang="zh-CN" altLang="en-US" b="1" dirty="0"/>
              <a:t>跨公司销售定义</a:t>
            </a:r>
            <a:r>
              <a:rPr lang="zh-CN" altLang="en-US" dirty="0"/>
              <a:t>：对外销售订单为跨公司销售订单，销售订单抬头的销售组直接存在内部结算，同时销售公司对外部经销商</a:t>
            </a:r>
            <a:r>
              <a:rPr lang="en-US" altLang="zh-CN" dirty="0"/>
              <a:t>/</a:t>
            </a:r>
            <a:r>
              <a:rPr lang="zh-CN" altLang="en-US" dirty="0"/>
              <a:t>终端客户结算。</a:t>
            </a:r>
            <a:endParaRPr lang="en-US" altLang="zh-CN" dirty="0"/>
          </a:p>
        </p:txBody>
      </p:sp>
      <p:cxnSp>
        <p:nvCxnSpPr>
          <p:cNvPr id="22" name="连接符: 肘形 21"/>
          <p:cNvCxnSpPr>
            <a:stCxn id="6" idx="3"/>
            <a:endCxn id="11" idx="0"/>
          </p:cNvCxnSpPr>
          <p:nvPr/>
        </p:nvCxnSpPr>
        <p:spPr>
          <a:xfrm>
            <a:off x="3653433" y="2899497"/>
            <a:ext cx="5596261" cy="8268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p:cNvCxnSpPr>
            <a:stCxn id="11" idx="1"/>
            <a:endCxn id="10" idx="0"/>
          </p:cNvCxnSpPr>
          <p:nvPr/>
        </p:nvCxnSpPr>
        <p:spPr>
          <a:xfrm rot="10800000" flipV="1">
            <a:off x="2905612" y="3942820"/>
            <a:ext cx="5596259" cy="8268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3" idx="1"/>
            <a:endCxn id="12" idx="3"/>
          </p:cNvCxnSpPr>
          <p:nvPr/>
        </p:nvCxnSpPr>
        <p:spPr>
          <a:xfrm flipH="1" flipV="1">
            <a:off x="5861464" y="4986145"/>
            <a:ext cx="2640406" cy="17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853825" y="4678367"/>
            <a:ext cx="1846521" cy="307777"/>
          </a:xfrm>
          <a:prstGeom prst="rect">
            <a:avLst/>
          </a:prstGeom>
          <a:noFill/>
        </p:spPr>
        <p:txBody>
          <a:bodyPr wrap="square" rtlCol="0">
            <a:spAutoFit/>
          </a:bodyPr>
          <a:lstStyle/>
          <a:p>
            <a:r>
              <a:rPr lang="en-US" altLang="zh-CN" dirty="0"/>
              <a:t>IDOC</a:t>
            </a:r>
            <a:r>
              <a:rPr lang="zh-CN" altLang="en-US" dirty="0"/>
              <a:t>自动触发</a:t>
            </a:r>
          </a:p>
        </p:txBody>
      </p:sp>
      <p:sp>
        <p:nvSpPr>
          <p:cNvPr id="28" name="文本框 27"/>
          <p:cNvSpPr txBox="1"/>
          <p:nvPr/>
        </p:nvSpPr>
        <p:spPr>
          <a:xfrm>
            <a:off x="1166495" y="6022340"/>
            <a:ext cx="10344785" cy="319405"/>
          </a:xfrm>
          <a:prstGeom prst="rect">
            <a:avLst/>
          </a:prstGeom>
          <a:noFill/>
        </p:spPr>
        <p:txBody>
          <a:bodyPr wrap="square" rtlCol="0">
            <a:noAutofit/>
          </a:bodyPr>
          <a:lstStyle/>
          <a:p>
            <a:r>
              <a:rPr lang="zh-CN" altLang="en-US" dirty="0"/>
              <a:t>注：如果是退换货，则退货按跨公司销售退货方案执行到销售退货环节，换货按跨公司销售执行到销售出库环节。</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59118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财务记账处理</a:t>
            </a:r>
            <a:r>
              <a:rPr lang="en-US" altLang="zh-CN" sz="2800" b="1" dirty="0">
                <a:solidFill>
                  <a:srgbClr val="0073E6"/>
                </a:solidFill>
                <a:latin typeface="Biennale Bold"/>
                <a:sym typeface="Biennale Bold"/>
              </a:rPr>
              <a:t>-STO&amp;</a:t>
            </a:r>
            <a:r>
              <a:rPr lang="zh-CN" altLang="en-US" sz="2800" b="1" dirty="0">
                <a:solidFill>
                  <a:srgbClr val="0073E6"/>
                </a:solidFill>
                <a:latin typeface="Biennale Bold"/>
                <a:sym typeface="Biennale Bold"/>
              </a:rPr>
              <a:t>销售采购</a:t>
            </a:r>
            <a:endParaRPr lang="en-US" sz="1100" dirty="0"/>
          </a:p>
        </p:txBody>
      </p:sp>
      <p:sp>
        <p:nvSpPr>
          <p:cNvPr id="7" name="矩形: 圆角 6"/>
          <p:cNvSpPr/>
          <p:nvPr/>
        </p:nvSpPr>
        <p:spPr>
          <a:xfrm>
            <a:off x="9091929" y="227356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销售出库</a:t>
            </a:r>
          </a:p>
        </p:txBody>
      </p:sp>
      <p:sp>
        <p:nvSpPr>
          <p:cNvPr id="9" name="矩形: 圆角 8"/>
          <p:cNvSpPr/>
          <p:nvPr/>
        </p:nvSpPr>
        <p:spPr>
          <a:xfrm>
            <a:off x="9091930" y="44509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sp>
        <p:nvSpPr>
          <p:cNvPr id="11" name="矩形: 圆角 10"/>
          <p:cNvSpPr/>
          <p:nvPr/>
        </p:nvSpPr>
        <p:spPr>
          <a:xfrm>
            <a:off x="1330156" y="225663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销售出库</a:t>
            </a:r>
          </a:p>
        </p:txBody>
      </p:sp>
      <p:sp>
        <p:nvSpPr>
          <p:cNvPr id="13" name="矩形: 圆角 12"/>
          <p:cNvSpPr/>
          <p:nvPr/>
        </p:nvSpPr>
        <p:spPr>
          <a:xfrm>
            <a:off x="5005483" y="225663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采购入库</a:t>
            </a:r>
          </a:p>
        </p:txBody>
      </p:sp>
      <p:sp>
        <p:nvSpPr>
          <p:cNvPr id="15" name="矩形: 圆角 14"/>
          <p:cNvSpPr/>
          <p:nvPr/>
        </p:nvSpPr>
        <p:spPr>
          <a:xfrm>
            <a:off x="5005483" y="44509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内部发票校验</a:t>
            </a:r>
          </a:p>
        </p:txBody>
      </p:sp>
      <p:sp>
        <p:nvSpPr>
          <p:cNvPr id="17" name="矩形: 圆角 16"/>
          <p:cNvSpPr/>
          <p:nvPr/>
        </p:nvSpPr>
        <p:spPr>
          <a:xfrm>
            <a:off x="1330156" y="443403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对外销售开票</a:t>
            </a:r>
          </a:p>
        </p:txBody>
      </p:sp>
      <p:sp>
        <p:nvSpPr>
          <p:cNvPr id="19" name="文本框 18"/>
          <p:cNvSpPr txBox="1"/>
          <p:nvPr/>
        </p:nvSpPr>
        <p:spPr>
          <a:xfrm>
            <a:off x="3205036" y="1450283"/>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销售公司</a:t>
            </a:r>
          </a:p>
        </p:txBody>
      </p:sp>
      <p:sp>
        <p:nvSpPr>
          <p:cNvPr id="21" name="文本框 20"/>
          <p:cNvSpPr txBox="1"/>
          <p:nvPr/>
        </p:nvSpPr>
        <p:spPr>
          <a:xfrm>
            <a:off x="9177212" y="1341946"/>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生产公司</a:t>
            </a:r>
          </a:p>
        </p:txBody>
      </p:sp>
      <p:sp>
        <p:nvSpPr>
          <p:cNvPr id="23" name="文本框 22"/>
          <p:cNvSpPr txBox="1"/>
          <p:nvPr/>
        </p:nvSpPr>
        <p:spPr>
          <a:xfrm>
            <a:off x="9091929" y="2904148"/>
            <a:ext cx="1297173" cy="523220"/>
          </a:xfrm>
          <a:prstGeom prst="rect">
            <a:avLst/>
          </a:prstGeom>
          <a:noFill/>
        </p:spPr>
        <p:txBody>
          <a:bodyPr wrap="square" rtlCol="0">
            <a:spAutoFit/>
          </a:bodyPr>
          <a:lstStyle/>
          <a:p>
            <a:r>
              <a:rPr lang="zh-CN" altLang="en-US" dirty="0"/>
              <a:t>借：主营成本</a:t>
            </a:r>
            <a:endParaRPr lang="en-US" altLang="zh-CN" dirty="0"/>
          </a:p>
          <a:p>
            <a:r>
              <a:rPr lang="zh-CN" altLang="en-US" dirty="0"/>
              <a:t>贷：库存商品</a:t>
            </a:r>
          </a:p>
        </p:txBody>
      </p:sp>
      <p:sp>
        <p:nvSpPr>
          <p:cNvPr id="25" name="文本框 24"/>
          <p:cNvSpPr txBox="1"/>
          <p:nvPr/>
        </p:nvSpPr>
        <p:spPr>
          <a:xfrm>
            <a:off x="9091929" y="5076873"/>
            <a:ext cx="1860700" cy="738664"/>
          </a:xfrm>
          <a:prstGeom prst="rect">
            <a:avLst/>
          </a:prstGeom>
          <a:noFill/>
        </p:spPr>
        <p:txBody>
          <a:bodyPr wrap="square" rtlCol="0">
            <a:spAutoFit/>
          </a:bodyPr>
          <a:lstStyle/>
          <a:p>
            <a:r>
              <a:rPr lang="zh-CN" altLang="en-US" dirty="0"/>
              <a:t>借：对内应收账款</a:t>
            </a:r>
            <a:endParaRPr lang="en-US" altLang="zh-CN" dirty="0"/>
          </a:p>
          <a:p>
            <a:r>
              <a:rPr lang="zh-CN" altLang="en-US" dirty="0"/>
              <a:t>贷：税</a:t>
            </a:r>
            <a:endParaRPr lang="en-US" altLang="zh-CN" dirty="0"/>
          </a:p>
          <a:p>
            <a:r>
              <a:rPr lang="zh-CN" altLang="en-US" dirty="0"/>
              <a:t>贷：销售收入</a:t>
            </a:r>
          </a:p>
        </p:txBody>
      </p:sp>
      <p:sp>
        <p:nvSpPr>
          <p:cNvPr id="27" name="文本框 26"/>
          <p:cNvSpPr txBox="1"/>
          <p:nvPr/>
        </p:nvSpPr>
        <p:spPr>
          <a:xfrm>
            <a:off x="1376230" y="2904148"/>
            <a:ext cx="1297173" cy="523220"/>
          </a:xfrm>
          <a:prstGeom prst="rect">
            <a:avLst/>
          </a:prstGeom>
          <a:noFill/>
        </p:spPr>
        <p:txBody>
          <a:bodyPr wrap="square" rtlCol="0">
            <a:spAutoFit/>
          </a:bodyPr>
          <a:lstStyle/>
          <a:p>
            <a:r>
              <a:rPr lang="zh-CN" altLang="en-US" dirty="0"/>
              <a:t>借：主营成本</a:t>
            </a:r>
            <a:endParaRPr lang="en-US" altLang="zh-CN" dirty="0"/>
          </a:p>
          <a:p>
            <a:r>
              <a:rPr lang="zh-CN" altLang="en-US" dirty="0"/>
              <a:t>贷：库存商品</a:t>
            </a:r>
          </a:p>
        </p:txBody>
      </p:sp>
      <p:sp>
        <p:nvSpPr>
          <p:cNvPr id="29" name="文本框 28"/>
          <p:cNvSpPr txBox="1"/>
          <p:nvPr/>
        </p:nvSpPr>
        <p:spPr>
          <a:xfrm>
            <a:off x="1330156" y="4959915"/>
            <a:ext cx="1860700" cy="738664"/>
          </a:xfrm>
          <a:prstGeom prst="rect">
            <a:avLst/>
          </a:prstGeom>
          <a:noFill/>
        </p:spPr>
        <p:txBody>
          <a:bodyPr wrap="square" rtlCol="0">
            <a:spAutoFit/>
          </a:bodyPr>
          <a:lstStyle/>
          <a:p>
            <a:r>
              <a:rPr lang="zh-CN" altLang="en-US" dirty="0"/>
              <a:t>借：对外应收账款</a:t>
            </a:r>
            <a:endParaRPr lang="en-US" altLang="zh-CN" dirty="0"/>
          </a:p>
          <a:p>
            <a:r>
              <a:rPr lang="zh-CN" altLang="en-US" dirty="0"/>
              <a:t>贷：税</a:t>
            </a:r>
            <a:endParaRPr lang="en-US" altLang="zh-CN" dirty="0"/>
          </a:p>
          <a:p>
            <a:r>
              <a:rPr lang="zh-CN" altLang="en-US" dirty="0"/>
              <a:t>贷：销售收入</a:t>
            </a:r>
          </a:p>
        </p:txBody>
      </p:sp>
      <p:sp>
        <p:nvSpPr>
          <p:cNvPr id="31" name="文本框 30"/>
          <p:cNvSpPr txBox="1"/>
          <p:nvPr/>
        </p:nvSpPr>
        <p:spPr>
          <a:xfrm>
            <a:off x="4952316" y="2939588"/>
            <a:ext cx="1860700" cy="523220"/>
          </a:xfrm>
          <a:prstGeom prst="rect">
            <a:avLst/>
          </a:prstGeom>
          <a:noFill/>
        </p:spPr>
        <p:txBody>
          <a:bodyPr wrap="square" rtlCol="0">
            <a:spAutoFit/>
          </a:bodyPr>
          <a:lstStyle/>
          <a:p>
            <a:r>
              <a:rPr lang="zh-CN" altLang="en-US" dirty="0"/>
              <a:t>借：库存商品</a:t>
            </a:r>
            <a:endParaRPr lang="en-US" altLang="zh-CN" dirty="0"/>
          </a:p>
          <a:p>
            <a:r>
              <a:rPr lang="zh-CN" altLang="en-US" dirty="0"/>
              <a:t>贷：</a:t>
            </a:r>
            <a:r>
              <a:rPr lang="en-US" altLang="zh-CN" dirty="0"/>
              <a:t>GR/IR</a:t>
            </a:r>
          </a:p>
        </p:txBody>
      </p:sp>
      <p:sp>
        <p:nvSpPr>
          <p:cNvPr id="33" name="文本框 32"/>
          <p:cNvSpPr txBox="1"/>
          <p:nvPr/>
        </p:nvSpPr>
        <p:spPr>
          <a:xfrm>
            <a:off x="4952316" y="4959915"/>
            <a:ext cx="1860700" cy="738664"/>
          </a:xfrm>
          <a:prstGeom prst="rect">
            <a:avLst/>
          </a:prstGeom>
          <a:noFill/>
        </p:spPr>
        <p:txBody>
          <a:bodyPr wrap="square" rtlCol="0">
            <a:spAutoFit/>
          </a:bodyPr>
          <a:lstStyle/>
          <a:p>
            <a:r>
              <a:rPr lang="zh-CN" altLang="en-US" dirty="0"/>
              <a:t>借：</a:t>
            </a:r>
            <a:r>
              <a:rPr lang="en-US" altLang="zh-CN" dirty="0"/>
              <a:t>GR/IR</a:t>
            </a:r>
          </a:p>
          <a:p>
            <a:r>
              <a:rPr lang="zh-CN" altLang="en-US" dirty="0"/>
              <a:t>贷：税</a:t>
            </a:r>
            <a:endParaRPr lang="en-US" altLang="zh-CN" dirty="0"/>
          </a:p>
          <a:p>
            <a:r>
              <a:rPr lang="zh-CN" altLang="en-US" dirty="0"/>
              <a:t>贷：对内应付账款</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51752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财务记账处理</a:t>
            </a:r>
            <a:r>
              <a:rPr lang="en-US" altLang="zh-CN" sz="2800" b="1" dirty="0">
                <a:solidFill>
                  <a:srgbClr val="0073E6"/>
                </a:solidFill>
                <a:latin typeface="Biennale Bold"/>
                <a:sym typeface="Biennale Bold"/>
              </a:rPr>
              <a:t>-</a:t>
            </a:r>
            <a:r>
              <a:rPr lang="zh-CN" altLang="en-US" sz="2800" b="1" dirty="0">
                <a:solidFill>
                  <a:srgbClr val="0073E6"/>
                </a:solidFill>
                <a:latin typeface="Biennale Bold"/>
                <a:sym typeface="Biennale Bold"/>
              </a:rPr>
              <a:t>跨公司销售</a:t>
            </a: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7" name="矩形 6"/>
          <p:cNvSpPr/>
          <p:nvPr/>
        </p:nvSpPr>
        <p:spPr>
          <a:xfrm>
            <a:off x="1424761" y="2164003"/>
            <a:ext cx="1694121" cy="189763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a:off x="7510131" y="246406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销售出库</a:t>
            </a:r>
          </a:p>
        </p:txBody>
      </p:sp>
      <p:sp>
        <p:nvSpPr>
          <p:cNvPr id="11" name="矩形: 圆角 10"/>
          <p:cNvSpPr/>
          <p:nvPr/>
        </p:nvSpPr>
        <p:spPr>
          <a:xfrm>
            <a:off x="7510132" y="46414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sp>
        <p:nvSpPr>
          <p:cNvPr id="13" name="矩形: 圆角 12"/>
          <p:cNvSpPr/>
          <p:nvPr/>
        </p:nvSpPr>
        <p:spPr>
          <a:xfrm>
            <a:off x="3586715" y="2480992"/>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内部发票校验</a:t>
            </a:r>
          </a:p>
        </p:txBody>
      </p:sp>
      <p:sp>
        <p:nvSpPr>
          <p:cNvPr id="15" name="矩形: 圆角 14"/>
          <p:cNvSpPr/>
          <p:nvPr/>
        </p:nvSpPr>
        <p:spPr>
          <a:xfrm>
            <a:off x="3519368" y="464146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对外销售开票</a:t>
            </a:r>
          </a:p>
        </p:txBody>
      </p:sp>
      <p:sp>
        <p:nvSpPr>
          <p:cNvPr id="17" name="文本框 16"/>
          <p:cNvSpPr txBox="1"/>
          <p:nvPr/>
        </p:nvSpPr>
        <p:spPr>
          <a:xfrm>
            <a:off x="3916648" y="1201998"/>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销售公司</a:t>
            </a:r>
          </a:p>
        </p:txBody>
      </p:sp>
      <p:sp>
        <p:nvSpPr>
          <p:cNvPr id="19" name="文本框 18"/>
          <p:cNvSpPr txBox="1"/>
          <p:nvPr/>
        </p:nvSpPr>
        <p:spPr>
          <a:xfrm>
            <a:off x="7464604" y="1133666"/>
            <a:ext cx="1495647" cy="460375"/>
          </a:xfrm>
          <a:prstGeom prst="rect">
            <a:avLst/>
          </a:prstGeom>
          <a:noFill/>
        </p:spPr>
        <p:txBody>
          <a:bodyPr wrap="square" rtlCol="0">
            <a:spAutoFit/>
          </a:bodyPr>
          <a:lstStyle/>
          <a:p>
            <a:pPr lvl="0" algn="l">
              <a:buSzTx/>
            </a:pPr>
            <a:r>
              <a:rPr lang="zh-CN" altLang="en-US" sz="2400" dirty="0">
                <a:latin typeface="微软雅黑" panose="020B0503020204020204" charset="-122"/>
                <a:ea typeface="微软雅黑" panose="020B0503020204020204" charset="-122"/>
                <a:sym typeface="+mn-ea"/>
              </a:rPr>
              <a:t>生产公司</a:t>
            </a:r>
          </a:p>
        </p:txBody>
      </p:sp>
      <p:sp>
        <p:nvSpPr>
          <p:cNvPr id="21" name="文本框 20"/>
          <p:cNvSpPr txBox="1"/>
          <p:nvPr/>
        </p:nvSpPr>
        <p:spPr>
          <a:xfrm>
            <a:off x="7510131" y="3094648"/>
            <a:ext cx="1297173" cy="523220"/>
          </a:xfrm>
          <a:prstGeom prst="rect">
            <a:avLst/>
          </a:prstGeom>
          <a:noFill/>
        </p:spPr>
        <p:txBody>
          <a:bodyPr wrap="square" rtlCol="0">
            <a:spAutoFit/>
          </a:bodyPr>
          <a:lstStyle/>
          <a:p>
            <a:r>
              <a:rPr lang="zh-CN" altLang="en-US" dirty="0"/>
              <a:t>借：主营成本</a:t>
            </a:r>
            <a:endParaRPr lang="en-US" altLang="zh-CN" dirty="0"/>
          </a:p>
          <a:p>
            <a:r>
              <a:rPr lang="zh-CN" altLang="en-US" dirty="0"/>
              <a:t>贷：库存商品</a:t>
            </a:r>
          </a:p>
        </p:txBody>
      </p:sp>
      <p:sp>
        <p:nvSpPr>
          <p:cNvPr id="23" name="文本框 22"/>
          <p:cNvSpPr txBox="1"/>
          <p:nvPr/>
        </p:nvSpPr>
        <p:spPr>
          <a:xfrm>
            <a:off x="7510131" y="5267373"/>
            <a:ext cx="1860700" cy="738664"/>
          </a:xfrm>
          <a:prstGeom prst="rect">
            <a:avLst/>
          </a:prstGeom>
          <a:noFill/>
        </p:spPr>
        <p:txBody>
          <a:bodyPr wrap="square" rtlCol="0">
            <a:spAutoFit/>
          </a:bodyPr>
          <a:lstStyle/>
          <a:p>
            <a:r>
              <a:rPr lang="zh-CN" altLang="en-US" dirty="0"/>
              <a:t>借：对内应收账款</a:t>
            </a:r>
            <a:endParaRPr lang="en-US" altLang="zh-CN" dirty="0"/>
          </a:p>
          <a:p>
            <a:r>
              <a:rPr lang="zh-CN" altLang="en-US" dirty="0"/>
              <a:t>贷：税</a:t>
            </a:r>
            <a:endParaRPr lang="en-US" altLang="zh-CN" dirty="0"/>
          </a:p>
          <a:p>
            <a:r>
              <a:rPr lang="zh-CN" altLang="en-US" dirty="0"/>
              <a:t>贷：销售收入</a:t>
            </a:r>
          </a:p>
        </p:txBody>
      </p:sp>
      <p:sp>
        <p:nvSpPr>
          <p:cNvPr id="25" name="文本框 24"/>
          <p:cNvSpPr txBox="1"/>
          <p:nvPr/>
        </p:nvSpPr>
        <p:spPr>
          <a:xfrm>
            <a:off x="3519368" y="5167345"/>
            <a:ext cx="1860700" cy="738664"/>
          </a:xfrm>
          <a:prstGeom prst="rect">
            <a:avLst/>
          </a:prstGeom>
          <a:noFill/>
        </p:spPr>
        <p:txBody>
          <a:bodyPr wrap="square" rtlCol="0">
            <a:spAutoFit/>
          </a:bodyPr>
          <a:lstStyle/>
          <a:p>
            <a:r>
              <a:rPr lang="zh-CN" altLang="en-US" dirty="0"/>
              <a:t>借：对外应收账款</a:t>
            </a:r>
            <a:endParaRPr lang="en-US" altLang="zh-CN" dirty="0"/>
          </a:p>
          <a:p>
            <a:r>
              <a:rPr lang="zh-CN" altLang="en-US" dirty="0"/>
              <a:t>贷：税</a:t>
            </a:r>
            <a:endParaRPr lang="en-US" altLang="zh-CN" dirty="0"/>
          </a:p>
          <a:p>
            <a:r>
              <a:rPr lang="zh-CN" altLang="en-US" dirty="0"/>
              <a:t>贷：销售收入</a:t>
            </a:r>
          </a:p>
        </p:txBody>
      </p:sp>
      <p:sp>
        <p:nvSpPr>
          <p:cNvPr id="27" name="文本框 26"/>
          <p:cNvSpPr txBox="1"/>
          <p:nvPr/>
        </p:nvSpPr>
        <p:spPr>
          <a:xfrm>
            <a:off x="3533548" y="2989944"/>
            <a:ext cx="1860700" cy="738664"/>
          </a:xfrm>
          <a:prstGeom prst="rect">
            <a:avLst/>
          </a:prstGeom>
          <a:noFill/>
        </p:spPr>
        <p:txBody>
          <a:bodyPr wrap="square" rtlCol="0">
            <a:spAutoFit/>
          </a:bodyPr>
          <a:lstStyle/>
          <a:p>
            <a:r>
              <a:rPr lang="zh-CN" altLang="en-US" dirty="0"/>
              <a:t>借：主营成本</a:t>
            </a:r>
            <a:endParaRPr lang="en-US" altLang="zh-CN" dirty="0"/>
          </a:p>
          <a:p>
            <a:r>
              <a:rPr lang="zh-CN" altLang="en-US" dirty="0"/>
              <a:t>贷：税</a:t>
            </a:r>
            <a:endParaRPr lang="en-US" altLang="zh-CN" dirty="0"/>
          </a:p>
          <a:p>
            <a:r>
              <a:rPr lang="zh-CN" altLang="en-US" dirty="0"/>
              <a:t>贷：对内应付账款</a:t>
            </a:r>
            <a:endParaRPr lang="en-US" altLang="zh-CN" dirty="0"/>
          </a:p>
        </p:txBody>
      </p:sp>
      <p:sp>
        <p:nvSpPr>
          <p:cNvPr id="29" name="矩形: 圆角 28"/>
          <p:cNvSpPr/>
          <p:nvPr/>
        </p:nvSpPr>
        <p:spPr>
          <a:xfrm>
            <a:off x="1541713" y="2897355"/>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销售出库</a:t>
            </a:r>
          </a:p>
        </p:txBody>
      </p:sp>
      <p:sp>
        <p:nvSpPr>
          <p:cNvPr id="31" name="矩形: 圆角 30"/>
          <p:cNvSpPr/>
          <p:nvPr/>
        </p:nvSpPr>
        <p:spPr>
          <a:xfrm>
            <a:off x="1541713" y="2338787"/>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采购入库</a:t>
            </a:r>
          </a:p>
        </p:txBody>
      </p:sp>
      <p:sp>
        <p:nvSpPr>
          <p:cNvPr id="33" name="矩形: 圆角 32"/>
          <p:cNvSpPr/>
          <p:nvPr/>
        </p:nvSpPr>
        <p:spPr>
          <a:xfrm>
            <a:off x="1541713" y="3446974"/>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内部发票校验</a:t>
            </a:r>
          </a:p>
        </p:txBody>
      </p:sp>
      <p:sp>
        <p:nvSpPr>
          <p:cNvPr id="35" name="右大括号 34"/>
          <p:cNvSpPr/>
          <p:nvPr/>
        </p:nvSpPr>
        <p:spPr>
          <a:xfrm>
            <a:off x="3118882" y="2537637"/>
            <a:ext cx="336698" cy="1261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1541713" y="1825449"/>
            <a:ext cx="1775415" cy="338554"/>
          </a:xfrm>
          <a:prstGeom prst="rect">
            <a:avLst/>
          </a:prstGeom>
          <a:noFill/>
        </p:spPr>
        <p:txBody>
          <a:bodyPr wrap="square">
            <a:spAutoFit/>
          </a:bodyPr>
          <a:lstStyle/>
          <a:p>
            <a:r>
              <a:rPr lang="en-US" altLang="zh-CN" sz="1600" b="1" dirty="0">
                <a:solidFill>
                  <a:srgbClr val="0073E6"/>
                </a:solidFill>
                <a:latin typeface="Biennale Bold"/>
                <a:sym typeface="Biennale Bold"/>
              </a:rPr>
              <a:t>STO&amp;</a:t>
            </a:r>
            <a:r>
              <a:rPr lang="zh-CN" altLang="en-US" sz="1600" b="1" dirty="0">
                <a:solidFill>
                  <a:srgbClr val="0073E6"/>
                </a:solidFill>
                <a:latin typeface="Biennale Bold"/>
                <a:sym typeface="Biennale Bold"/>
              </a:rPr>
              <a:t>销售采购</a:t>
            </a:r>
            <a:endParaRPr lang="zh-CN" alt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57975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结算价格</a:t>
            </a:r>
            <a:r>
              <a:rPr lang="en-US" altLang="zh-CN" sz="2800" b="1" dirty="0" err="1">
                <a:solidFill>
                  <a:srgbClr val="0073E6"/>
                </a:solidFill>
                <a:latin typeface="Biennale Bold"/>
                <a:sym typeface="Biennale Bold"/>
              </a:rPr>
              <a:t>方案总览</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文本框 5"/>
          <p:cNvSpPr txBox="1"/>
          <p:nvPr/>
        </p:nvSpPr>
        <p:spPr>
          <a:xfrm>
            <a:off x="588335" y="1163488"/>
            <a:ext cx="10838121" cy="646331"/>
          </a:xfrm>
          <a:prstGeom prst="rect">
            <a:avLst/>
          </a:prstGeom>
          <a:noFill/>
        </p:spPr>
        <p:txBody>
          <a:bodyPr wrap="square" rtlCol="0">
            <a:spAutoFit/>
          </a:bodyPr>
          <a:lstStyle/>
          <a:p>
            <a:pPr indent="457200" eaLnBrk="1" fontAlgn="auto" latinLnBrk="0" hangingPunct="1"/>
            <a:r>
              <a:rPr lang="zh-CN" altLang="en-US" sz="1800" dirty="0"/>
              <a:t>跨公司方案销售的公司间结算价格采用与</a:t>
            </a:r>
            <a:r>
              <a:rPr lang="en-US" altLang="zh-CN" sz="1800" dirty="0"/>
              <a:t>STO&amp;</a:t>
            </a:r>
            <a:r>
              <a:rPr lang="zh-CN" altLang="en-US" sz="1800" dirty="0"/>
              <a:t>销售采购的公司间开票同样定价过程，确保公司间结算方案保持一致。</a:t>
            </a:r>
          </a:p>
        </p:txBody>
      </p:sp>
      <p:sp>
        <p:nvSpPr>
          <p:cNvPr id="8" name="矩形: 圆角 7"/>
          <p:cNvSpPr/>
          <p:nvPr/>
        </p:nvSpPr>
        <p:spPr>
          <a:xfrm>
            <a:off x="7860993" y="2767293"/>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sp>
        <p:nvSpPr>
          <p:cNvPr id="10" name="矩形: 圆角 9"/>
          <p:cNvSpPr/>
          <p:nvPr/>
        </p:nvSpPr>
        <p:spPr>
          <a:xfrm>
            <a:off x="4334528" y="3503483"/>
            <a:ext cx="1495647" cy="43295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销售定价过程</a:t>
            </a:r>
          </a:p>
        </p:txBody>
      </p:sp>
      <p:sp>
        <p:nvSpPr>
          <p:cNvPr id="12" name="文本框 11"/>
          <p:cNvSpPr txBox="1"/>
          <p:nvPr/>
        </p:nvSpPr>
        <p:spPr>
          <a:xfrm>
            <a:off x="4961860" y="3999031"/>
            <a:ext cx="1495647" cy="523220"/>
          </a:xfrm>
          <a:prstGeom prst="rect">
            <a:avLst/>
          </a:prstGeom>
          <a:noFill/>
        </p:spPr>
        <p:txBody>
          <a:bodyPr wrap="square" rtlCol="0">
            <a:spAutoFit/>
          </a:bodyPr>
          <a:lstStyle/>
          <a:p>
            <a:r>
              <a:rPr lang="zh-CN" altLang="en-US" dirty="0"/>
              <a:t>公司间结算价格</a:t>
            </a:r>
            <a:endParaRPr lang="en-US" altLang="zh-CN" dirty="0"/>
          </a:p>
          <a:p>
            <a:r>
              <a:rPr lang="zh-CN" altLang="en-US" dirty="0"/>
              <a:t>物料标准</a:t>
            </a:r>
            <a:r>
              <a:rPr lang="en-US" altLang="zh-CN" dirty="0"/>
              <a:t>+xx%</a:t>
            </a:r>
            <a:endParaRPr lang="zh-CN" altLang="en-US" dirty="0"/>
          </a:p>
        </p:txBody>
      </p:sp>
      <p:cxnSp>
        <p:nvCxnSpPr>
          <p:cNvPr id="14" name="直接连接符 13"/>
          <p:cNvCxnSpPr/>
          <p:nvPr/>
        </p:nvCxnSpPr>
        <p:spPr>
          <a:xfrm>
            <a:off x="4564912" y="3936441"/>
            <a:ext cx="0" cy="2272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564912" y="4163662"/>
            <a:ext cx="396948" cy="1"/>
          </a:xfrm>
          <a:prstGeom prst="line">
            <a:avLst/>
          </a:prstGeom>
        </p:spPr>
        <p:style>
          <a:lnRef idx="1">
            <a:schemeClr val="accent1"/>
          </a:lnRef>
          <a:fillRef idx="0">
            <a:schemeClr val="accent1"/>
          </a:fillRef>
          <a:effectRef idx="0">
            <a:schemeClr val="accent1"/>
          </a:effectRef>
          <a:fontRef idx="minor">
            <a:schemeClr val="tx1"/>
          </a:fontRef>
        </p:style>
      </p:cxnSp>
      <p:sp>
        <p:nvSpPr>
          <p:cNvPr id="18" name="矩形: 圆角 17"/>
          <p:cNvSpPr/>
          <p:nvPr/>
        </p:nvSpPr>
        <p:spPr>
          <a:xfrm>
            <a:off x="1456660" y="2765090"/>
            <a:ext cx="1495647" cy="432958"/>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对内销售开票</a:t>
            </a:r>
          </a:p>
        </p:txBody>
      </p:sp>
      <p:sp>
        <p:nvSpPr>
          <p:cNvPr id="20" name="文本框 19"/>
          <p:cNvSpPr txBox="1"/>
          <p:nvPr/>
        </p:nvSpPr>
        <p:spPr>
          <a:xfrm>
            <a:off x="1361440" y="2386965"/>
            <a:ext cx="2072005" cy="320040"/>
          </a:xfrm>
          <a:prstGeom prst="rect">
            <a:avLst/>
          </a:prstGeom>
          <a:noFill/>
        </p:spPr>
        <p:txBody>
          <a:bodyPr wrap="square">
            <a:noAutofit/>
          </a:bodyPr>
          <a:lstStyle/>
          <a:p>
            <a:r>
              <a:rPr lang="en-US" altLang="zh-CN" sz="1600" b="1" dirty="0">
                <a:solidFill>
                  <a:srgbClr val="0073E6"/>
                </a:solidFill>
                <a:latin typeface="Biennale Bold"/>
                <a:sym typeface="Biennale Bold"/>
              </a:rPr>
              <a:t>STO&amp;</a:t>
            </a:r>
            <a:r>
              <a:rPr lang="zh-CN" altLang="en-US" b="1" dirty="0">
                <a:solidFill>
                  <a:srgbClr val="0073E6"/>
                </a:solidFill>
                <a:latin typeface="Biennale Bold"/>
                <a:sym typeface="Biennale Bold"/>
              </a:rPr>
              <a:t>销售采购方案</a:t>
            </a:r>
            <a:endParaRPr lang="zh-CN" altLang="en-US" dirty="0"/>
          </a:p>
        </p:txBody>
      </p:sp>
      <p:sp>
        <p:nvSpPr>
          <p:cNvPr id="22" name="文本框 21"/>
          <p:cNvSpPr txBox="1"/>
          <p:nvPr/>
        </p:nvSpPr>
        <p:spPr>
          <a:xfrm>
            <a:off x="7910733" y="2447975"/>
            <a:ext cx="1775415" cy="307777"/>
          </a:xfrm>
          <a:prstGeom prst="rect">
            <a:avLst/>
          </a:prstGeom>
          <a:noFill/>
        </p:spPr>
        <p:txBody>
          <a:bodyPr wrap="square">
            <a:spAutoFit/>
          </a:bodyPr>
          <a:lstStyle/>
          <a:p>
            <a:r>
              <a:rPr lang="zh-CN" altLang="en-US" b="1" dirty="0">
                <a:solidFill>
                  <a:srgbClr val="0073E6"/>
                </a:solidFill>
                <a:latin typeface="Biennale Bold"/>
                <a:sym typeface="Biennale Bold"/>
              </a:rPr>
              <a:t>跨公司销售方案</a:t>
            </a:r>
            <a:endParaRPr lang="zh-CN" altLang="en-US" dirty="0"/>
          </a:p>
        </p:txBody>
      </p:sp>
      <p:cxnSp>
        <p:nvCxnSpPr>
          <p:cNvPr id="24" name="连接符: 肘形 23"/>
          <p:cNvCxnSpPr>
            <a:stCxn id="18" idx="3"/>
            <a:endCxn id="10" idx="0"/>
          </p:cNvCxnSpPr>
          <p:nvPr/>
        </p:nvCxnSpPr>
        <p:spPr>
          <a:xfrm>
            <a:off x="2952307" y="2981569"/>
            <a:ext cx="2130045" cy="52191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p:cNvCxnSpPr>
            <a:stCxn id="8" idx="1"/>
            <a:endCxn id="10" idx="0"/>
          </p:cNvCxnSpPr>
          <p:nvPr/>
        </p:nvCxnSpPr>
        <p:spPr>
          <a:xfrm rot="10800000" flipV="1">
            <a:off x="5082353" y="2983771"/>
            <a:ext cx="2778641" cy="5197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472763" y="2532774"/>
            <a:ext cx="1446028" cy="307777"/>
          </a:xfrm>
          <a:prstGeom prst="rect">
            <a:avLst/>
          </a:prstGeom>
          <a:noFill/>
        </p:spPr>
        <p:txBody>
          <a:bodyPr wrap="square" rtlCol="0">
            <a:spAutoFit/>
          </a:bodyPr>
          <a:lstStyle/>
          <a:p>
            <a:r>
              <a:rPr lang="zh-CN" altLang="en-US" dirty="0"/>
              <a:t>共用或参考新建</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sym typeface="Biennale Bold"/>
              </a:rPr>
              <a:t>跨公司销售业务方案优势</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9" name="文本框 8"/>
          <p:cNvSpPr txBox="1"/>
          <p:nvPr/>
        </p:nvSpPr>
        <p:spPr>
          <a:xfrm>
            <a:off x="1452880" y="1335405"/>
            <a:ext cx="9991090" cy="4446270"/>
          </a:xfrm>
          <a:prstGeom prst="rect">
            <a:avLst/>
          </a:prstGeom>
          <a:noFill/>
        </p:spPr>
        <p:txBody>
          <a:bodyPr wrap="square" rtlCol="0">
            <a:noAutofit/>
          </a:bodyPr>
          <a:lstStyle/>
          <a:p>
            <a:pPr>
              <a:lnSpc>
                <a:spcPct val="150000"/>
              </a:lnSpc>
            </a:pPr>
            <a:r>
              <a:rPr lang="en-US" altLang="zh-CN" sz="2000" dirty="0">
                <a:solidFill>
                  <a:srgbClr val="4B5563"/>
                </a:solidFill>
                <a:latin typeface="Noto Sans SC" panose="020B0200000000000000" charset="-122"/>
                <a:ea typeface="Noto Sans SC" panose="020B0200000000000000" charset="-122"/>
              </a:rPr>
              <a:t>1</a:t>
            </a:r>
            <a:r>
              <a:rPr lang="zh-CN" altLang="en-US" sz="2000" dirty="0">
                <a:solidFill>
                  <a:srgbClr val="4B5563"/>
                </a:solidFill>
                <a:latin typeface="Noto Sans SC" panose="020B0200000000000000" charset="-122"/>
                <a:ea typeface="Noto Sans SC" panose="020B0200000000000000" charset="-122"/>
              </a:rPr>
              <a:t>、简化系统操作流程，</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2</a:t>
            </a:r>
            <a:r>
              <a:rPr lang="zh-CN" altLang="en-US" sz="2000" dirty="0">
                <a:solidFill>
                  <a:srgbClr val="4B5563"/>
                </a:solidFill>
                <a:latin typeface="Noto Sans SC" panose="020B0200000000000000" charset="-122"/>
                <a:ea typeface="Noto Sans SC" panose="020B0200000000000000" charset="-122"/>
              </a:rPr>
              <a:t>、避免系统业务衔接不顺</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3</a:t>
            </a:r>
            <a:r>
              <a:rPr lang="zh-CN" altLang="en-US" sz="2000" dirty="0">
                <a:solidFill>
                  <a:srgbClr val="4B5563"/>
                </a:solidFill>
                <a:latin typeface="Noto Sans SC" panose="020B0200000000000000" charset="-122"/>
                <a:ea typeface="Noto Sans SC" panose="020B0200000000000000" charset="-122"/>
              </a:rPr>
              <a:t>、减少系统业务单据</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4</a:t>
            </a:r>
            <a:r>
              <a:rPr lang="zh-CN" altLang="en-US" sz="2000" dirty="0">
                <a:solidFill>
                  <a:srgbClr val="4B5563"/>
                </a:solidFill>
                <a:latin typeface="Noto Sans SC" panose="020B0200000000000000" charset="-122"/>
                <a:ea typeface="Noto Sans SC" panose="020B0200000000000000" charset="-122"/>
              </a:rPr>
              <a:t>、剔除虚拟出入库操作</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5</a:t>
            </a:r>
            <a:r>
              <a:rPr lang="zh-CN" altLang="en-US" sz="2000" dirty="0">
                <a:solidFill>
                  <a:srgbClr val="4B5563"/>
                </a:solidFill>
                <a:latin typeface="Noto Sans SC" panose="020B0200000000000000" charset="-122"/>
                <a:ea typeface="Noto Sans SC" panose="020B0200000000000000" charset="-122"/>
              </a:rPr>
              <a:t>、系统流程更加符合实际业务需求</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6</a:t>
            </a:r>
            <a:r>
              <a:rPr lang="zh-CN" altLang="en-US" sz="2000" dirty="0">
                <a:solidFill>
                  <a:srgbClr val="4B5563"/>
                </a:solidFill>
                <a:latin typeface="Noto Sans SC" panose="020B0200000000000000" charset="-122"/>
                <a:ea typeface="Noto Sans SC" panose="020B0200000000000000" charset="-122"/>
              </a:rPr>
              <a:t>、系统自动触发相关单据减轻操作工作量，</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7</a:t>
            </a:r>
            <a:r>
              <a:rPr lang="zh-CN" altLang="en-US" sz="2000" dirty="0">
                <a:solidFill>
                  <a:srgbClr val="4B5563"/>
                </a:solidFill>
                <a:latin typeface="Noto Sans SC" panose="020B0200000000000000" charset="-122"/>
                <a:ea typeface="Noto Sans SC" panose="020B0200000000000000" charset="-122"/>
              </a:rPr>
              <a:t>、生产公司销售出库后可直接开展对内对外开票</a:t>
            </a:r>
            <a:endParaRPr lang="en-US" altLang="zh-CN" sz="2000" dirty="0">
              <a:solidFill>
                <a:srgbClr val="4B5563"/>
              </a:solidFill>
              <a:latin typeface="Noto Sans SC" panose="020B0200000000000000" charset="-122"/>
              <a:ea typeface="Noto Sans SC" panose="020B0200000000000000" charset="-122"/>
            </a:endParaRPr>
          </a:p>
          <a:p>
            <a:pPr>
              <a:lnSpc>
                <a:spcPct val="150000"/>
              </a:lnSpc>
            </a:pPr>
            <a:r>
              <a:rPr lang="en-US" altLang="zh-CN" sz="2000" dirty="0">
                <a:solidFill>
                  <a:srgbClr val="4B5563"/>
                </a:solidFill>
                <a:latin typeface="Noto Sans SC" panose="020B0200000000000000" charset="-122"/>
                <a:ea typeface="Noto Sans SC" panose="020B0200000000000000" charset="-122"/>
              </a:rPr>
              <a:t>8</a:t>
            </a:r>
            <a:r>
              <a:rPr lang="zh-CN" altLang="en-US" sz="2000" dirty="0">
                <a:solidFill>
                  <a:srgbClr val="4B5563"/>
                </a:solidFill>
                <a:latin typeface="Noto Sans SC" panose="020B0200000000000000" charset="-122"/>
                <a:ea typeface="Noto Sans SC" panose="020B0200000000000000" charset="-122"/>
              </a:rPr>
              <a:t>、销售订单指定生产工厂直接系统内传递生产需求</a:t>
            </a:r>
          </a:p>
          <a:p>
            <a:pPr>
              <a:lnSpc>
                <a:spcPct val="150000"/>
              </a:lnSpc>
            </a:pPr>
            <a:r>
              <a:rPr lang="en-US" altLang="zh-CN" sz="2000" dirty="0">
                <a:solidFill>
                  <a:srgbClr val="4B5563"/>
                </a:solidFill>
                <a:latin typeface="Noto Sans SC" panose="020B0200000000000000" charset="-122"/>
                <a:ea typeface="Noto Sans SC" panose="020B0200000000000000" charset="-122"/>
              </a:rPr>
              <a:t>9</a:t>
            </a:r>
            <a:r>
              <a:rPr lang="zh-CN" altLang="en-US" sz="2000" dirty="0">
                <a:solidFill>
                  <a:srgbClr val="4B5563"/>
                </a:solidFill>
                <a:latin typeface="Noto Sans SC" panose="020B0200000000000000" charset="-122"/>
                <a:ea typeface="Noto Sans SC" panose="020B0200000000000000" charset="-122"/>
              </a:rPr>
              <a:t>、加快业务处理节奏，提高系统运作效率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4"/>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a:defRPr/>
            </a:pPr>
            <a:r>
              <a:rPr lang="zh-CN" altLang="en-US" sz="2800" b="1" dirty="0">
                <a:solidFill>
                  <a:srgbClr val="0073E6"/>
                </a:solidFill>
                <a:latin typeface="Biennale Bold"/>
                <a:ea typeface="Biennale Bold"/>
                <a:cs typeface="Biennale Bold"/>
                <a:sym typeface="Biennale Bold"/>
              </a:rPr>
              <a:t>适用</a:t>
            </a:r>
            <a:r>
              <a:rPr lang="zh-CN" altLang="en-US" sz="2800" b="1" i="0" u="none" strike="noStrike" dirty="0">
                <a:solidFill>
                  <a:srgbClr val="0073E6"/>
                </a:solidFill>
                <a:latin typeface="Biennale Bold"/>
                <a:ea typeface="Biennale Bold"/>
                <a:cs typeface="Biennale Bold"/>
                <a:sym typeface="Biennale Bold"/>
              </a:rPr>
              <a:t>业务场景说明</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graphicFrame>
        <p:nvGraphicFramePr>
          <p:cNvPr id="6" name="表格 5"/>
          <p:cNvGraphicFramePr>
            <a:graphicFrameLocks noGrp="1"/>
          </p:cNvGraphicFramePr>
          <p:nvPr>
            <p:custDataLst>
              <p:tags r:id="rId1"/>
            </p:custDataLst>
          </p:nvPr>
        </p:nvGraphicFramePr>
        <p:xfrm>
          <a:off x="1273810" y="1407160"/>
          <a:ext cx="8872220" cy="3241040"/>
        </p:xfrm>
        <a:graphic>
          <a:graphicData uri="http://schemas.openxmlformats.org/drawingml/2006/table">
            <a:tbl>
              <a:tblPr firstRow="1" bandRow="1">
                <a:tableStyleId>{5C22544A-7EE6-4342-B048-85BDC9FD1C3A}</a:tableStyleId>
              </a:tblPr>
              <a:tblGrid>
                <a:gridCol w="132715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218055">
                  <a:extLst>
                    <a:ext uri="{9D8B030D-6E8A-4147-A177-3AD203B41FA5}">
                      <a16:colId xmlns:a16="http://schemas.microsoft.com/office/drawing/2014/main" val="20002"/>
                    </a:ext>
                  </a:extLst>
                </a:gridCol>
                <a:gridCol w="2218055">
                  <a:extLst>
                    <a:ext uri="{9D8B030D-6E8A-4147-A177-3AD203B41FA5}">
                      <a16:colId xmlns:a16="http://schemas.microsoft.com/office/drawing/2014/main" val="20003"/>
                    </a:ext>
                  </a:extLst>
                </a:gridCol>
              </a:tblGrid>
              <a:tr h="370840">
                <a:tc>
                  <a:txBody>
                    <a:bodyPr/>
                    <a:lstStyle/>
                    <a:p>
                      <a:r>
                        <a:rPr lang="zh-CN" altLang="en-US" dirty="0"/>
                        <a:t>场景编号</a:t>
                      </a:r>
                    </a:p>
                  </a:txBody>
                  <a:tcPr/>
                </a:tc>
                <a:tc>
                  <a:txBody>
                    <a:bodyPr/>
                    <a:lstStyle/>
                    <a:p>
                      <a:r>
                        <a:rPr lang="zh-CN" altLang="en-US" dirty="0"/>
                        <a:t>场景描述</a:t>
                      </a:r>
                    </a:p>
                  </a:txBody>
                  <a:tcPr/>
                </a:tc>
                <a:tc>
                  <a:txBody>
                    <a:bodyPr/>
                    <a:lstStyle/>
                    <a:p>
                      <a:r>
                        <a:rPr lang="zh-CN" altLang="en-US" dirty="0"/>
                        <a:t>适用范围</a:t>
                      </a:r>
                    </a:p>
                  </a:txBody>
                  <a:tcPr/>
                </a:tc>
                <a:tc>
                  <a:txBody>
                    <a:bodyPr/>
                    <a:lstStyle/>
                    <a:p>
                      <a:r>
                        <a:rPr lang="zh-CN" altLang="en-US" dirty="0"/>
                        <a:t>备注</a:t>
                      </a:r>
                    </a:p>
                  </a:txBody>
                  <a:tcPr/>
                </a:tc>
                <a:extLst>
                  <a:ext uri="{0D108BD9-81ED-4DB2-BD59-A6C34878D82A}">
                    <a16:rowId xmlns:a16="http://schemas.microsoft.com/office/drawing/2014/main" val="10000"/>
                  </a:ext>
                </a:extLst>
              </a:tr>
              <a:tr h="370840">
                <a:tc>
                  <a:txBody>
                    <a:bodyPr/>
                    <a:lstStyle/>
                    <a:p>
                      <a:r>
                        <a:rPr lang="en-US" altLang="zh-CN" dirty="0"/>
                        <a:t>01</a:t>
                      </a:r>
                      <a:endParaRPr lang="zh-CN" altLang="en-US" dirty="0"/>
                    </a:p>
                  </a:txBody>
                  <a:tcPr/>
                </a:tc>
                <a:tc>
                  <a:txBody>
                    <a:bodyPr/>
                    <a:lstStyle/>
                    <a:p>
                      <a:r>
                        <a:rPr lang="zh-CN" altLang="en-US" dirty="0"/>
                        <a:t>销售公司从生产公司发货，销售公司与生产公司直接结算</a:t>
                      </a:r>
                    </a:p>
                  </a:txBody>
                  <a:tcPr/>
                </a:tc>
                <a:tc>
                  <a:txBody>
                    <a:bodyPr/>
                    <a:lstStyle/>
                    <a:p>
                      <a:r>
                        <a:rPr lang="zh-CN" altLang="en-US" dirty="0"/>
                        <a:t>适用</a:t>
                      </a:r>
                    </a:p>
                  </a:txBody>
                  <a:tcPr/>
                </a:tc>
                <a:tc>
                  <a:txBody>
                    <a:bodyPr/>
                    <a:lstStyle/>
                    <a:p>
                      <a:endParaRPr lang="zh-CN" altLang="en-US"/>
                    </a:p>
                  </a:txBody>
                  <a:tcPr/>
                </a:tc>
                <a:extLst>
                  <a:ext uri="{0D108BD9-81ED-4DB2-BD59-A6C34878D82A}">
                    <a16:rowId xmlns:a16="http://schemas.microsoft.com/office/drawing/2014/main" val="10001"/>
                  </a:ext>
                </a:extLst>
              </a:tr>
              <a:tr h="370840">
                <a:tc>
                  <a:txBody>
                    <a:bodyPr/>
                    <a:lstStyle/>
                    <a:p>
                      <a:r>
                        <a:rPr lang="en-US" altLang="zh-CN" dirty="0"/>
                        <a:t>02</a:t>
                      </a:r>
                      <a:endParaRPr lang="zh-CN" altLang="en-US" dirty="0"/>
                    </a:p>
                  </a:txBody>
                  <a:tcPr/>
                </a:tc>
                <a:tc>
                  <a:txBody>
                    <a:bodyPr/>
                    <a:lstStyle/>
                    <a:p>
                      <a:r>
                        <a:rPr lang="zh-CN" altLang="en-US" dirty="0"/>
                        <a:t>销售公司从生产公司发货，销售公司与生产直接结算，生产公司的半成品从其他工厂或公司调拨</a:t>
                      </a:r>
                    </a:p>
                  </a:txBody>
                  <a:tcPr/>
                </a:tc>
                <a:tc>
                  <a:txBody>
                    <a:bodyPr/>
                    <a:lstStyle/>
                    <a:p>
                      <a:r>
                        <a:rPr lang="zh-CN" altLang="en-US" dirty="0"/>
                        <a:t>销售公司与生产公司业务适用</a:t>
                      </a:r>
                      <a:endParaRPr lang="en-US" altLang="zh-C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dirty="0"/>
                        <a:t>半成品调拨业务维持现状</a:t>
                      </a:r>
                    </a:p>
                    <a:p>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03</a:t>
                      </a:r>
                      <a:endParaRPr lang="zh-CN" altLang="en-US" dirty="0"/>
                    </a:p>
                  </a:txBody>
                  <a:tcPr/>
                </a:tc>
                <a:tc>
                  <a:txBody>
                    <a:bodyPr/>
                    <a:lstStyle/>
                    <a:p>
                      <a:r>
                        <a:rPr lang="zh-CN" altLang="en-US" dirty="0"/>
                        <a:t>销售公司从生产公司发货，但中间还需要通过其他公司结算</a:t>
                      </a:r>
                    </a:p>
                  </a:txBody>
                  <a:tcPr/>
                </a:tc>
                <a:tc>
                  <a:txBody>
                    <a:bodyPr/>
                    <a:lstStyle/>
                    <a:p>
                      <a:r>
                        <a:rPr lang="zh-CN" altLang="en-US" dirty="0"/>
                        <a:t>不适用</a:t>
                      </a:r>
                    </a:p>
                  </a:txBody>
                  <a:tcPr/>
                </a:tc>
                <a:tc>
                  <a:txBody>
                    <a:bodyPr/>
                    <a:lstStyle/>
                    <a:p>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04</a:t>
                      </a:r>
                      <a:endParaRPr lang="zh-CN" altLang="en-US" dirty="0"/>
                    </a:p>
                  </a:txBody>
                  <a:tcPr/>
                </a:tc>
                <a:tc>
                  <a:txBody>
                    <a:bodyPr/>
                    <a:lstStyle/>
                    <a:p>
                      <a:r>
                        <a:rPr lang="zh-CN" altLang="en-US" dirty="0"/>
                        <a:t>销售公司从生产工厂直接调拨到经销商库存</a:t>
                      </a:r>
                    </a:p>
                  </a:txBody>
                  <a:tcPr/>
                </a:tc>
                <a:tc>
                  <a:txBody>
                    <a:bodyPr/>
                    <a:lstStyle/>
                    <a:p>
                      <a:r>
                        <a:rPr lang="zh-CN" altLang="en-US" dirty="0">
                          <a:solidFill>
                            <a:srgbClr val="FF0000"/>
                          </a:solidFill>
                        </a:rPr>
                        <a:t>不适用</a:t>
                      </a:r>
                    </a:p>
                  </a:txBody>
                  <a:tcPr/>
                </a:tc>
                <a:tc>
                  <a:txBody>
                    <a:bodyPr/>
                    <a:lstStyle/>
                    <a:p>
                      <a:r>
                        <a:rPr lang="zh-CN" altLang="en-US" dirty="0">
                          <a:solidFill>
                            <a:srgbClr val="FF0000"/>
                          </a:solidFill>
                        </a:rPr>
                        <a:t>寄售出库不产生会计凭证，不符合生产公司的出库成本记账需求</a:t>
                      </a:r>
                    </a:p>
                  </a:txBody>
                  <a:tcPr/>
                </a:tc>
                <a:extLst>
                  <a:ext uri="{0D108BD9-81ED-4DB2-BD59-A6C34878D82A}">
                    <a16:rowId xmlns:a16="http://schemas.microsoft.com/office/drawing/2014/main" val="10004"/>
                  </a:ext>
                </a:extLst>
              </a:tr>
              <a:tr h="370840">
                <a:tc>
                  <a:txBody>
                    <a:bodyPr/>
                    <a:lstStyle/>
                    <a:p>
                      <a:r>
                        <a:rPr lang="en-US" altLang="zh-CN" dirty="0"/>
                        <a:t>04</a:t>
                      </a:r>
                      <a:endParaRPr lang="zh-CN" altLang="en-US" dirty="0"/>
                    </a:p>
                  </a:txBody>
                  <a:tcPr/>
                </a:tc>
                <a:tc>
                  <a:txBody>
                    <a:bodyPr/>
                    <a:lstStyle/>
                    <a:p>
                      <a:r>
                        <a:rPr lang="zh-CN" altLang="en-US" dirty="0"/>
                        <a:t>跨公司退货</a:t>
                      </a:r>
                    </a:p>
                  </a:txBody>
                  <a:tcPr/>
                </a:tc>
                <a:tc>
                  <a:txBody>
                    <a:bodyPr/>
                    <a:lstStyle/>
                    <a:p>
                      <a:r>
                        <a:rPr lang="zh-CN" altLang="en-US" dirty="0">
                          <a:solidFill>
                            <a:srgbClr val="FF0000"/>
                          </a:solidFill>
                        </a:rPr>
                        <a:t>维持现状处理方式</a:t>
                      </a:r>
                    </a:p>
                  </a:txBody>
                  <a:tcPr/>
                </a:tc>
                <a:tc>
                  <a:txBody>
                    <a:bodyPr/>
                    <a:lstStyle/>
                    <a:p>
                      <a:r>
                        <a:rPr lang="zh-CN" altLang="en-US" dirty="0">
                          <a:solidFill>
                            <a:srgbClr val="FF0000"/>
                          </a:solidFill>
                        </a:rPr>
                        <a:t>本期暂不考虑</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dirty="0" err="1">
                <a:solidFill>
                  <a:srgbClr val="0073E6"/>
                </a:solidFill>
                <a:latin typeface="Biennale Bold"/>
                <a:ea typeface="Biennale Bold"/>
                <a:cs typeface="Biennale Bold"/>
                <a:sym typeface="Biennale Bold"/>
              </a:rPr>
              <a:t>采用SAP标准IC销售功能，最小化定制开发降低实施风险</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sp>
        <p:nvSpPr>
          <p:cNvPr id="6" name="AutoShape 6"/>
          <p:cNvSpPr/>
          <p:nvPr/>
        </p:nvSpPr>
        <p:spPr>
          <a:xfrm>
            <a:off x="508000" y="1214719"/>
            <a:ext cx="6604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073E6"/>
                </a:solidFill>
                <a:latin typeface="Noto Sans SC Bold"/>
                <a:ea typeface="Noto Sans SC Bold"/>
                <a:cs typeface="Noto Sans SC Bold"/>
                <a:sym typeface="Noto Sans SC Bold"/>
              </a:rPr>
              <a:t>标准功能优先清单</a:t>
            </a:r>
            <a:endParaRPr lang="en-US" sz="1100" dirty="0">
              <a:solidFill>
                <a:srgbClr val="0073E6"/>
              </a:solidFill>
            </a:endParaRPr>
          </a:p>
        </p:txBody>
      </p:sp>
      <p:sp>
        <p:nvSpPr>
          <p:cNvPr id="7" name="AutoShape 7"/>
          <p:cNvSpPr/>
          <p:nvPr/>
        </p:nvSpPr>
        <p:spPr>
          <a:xfrm>
            <a:off x="507999" y="1849719"/>
            <a:ext cx="10330121" cy="12065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endParaRPr/>
          </a:p>
        </p:txBody>
      </p:sp>
      <p:sp>
        <p:nvSpPr>
          <p:cNvPr id="8" name="AutoShape 8"/>
          <p:cNvSpPr/>
          <p:nvPr/>
        </p:nvSpPr>
        <p:spPr>
          <a:xfrm>
            <a:off x="698500" y="1951319"/>
            <a:ext cx="635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Biennale"/>
                <a:ea typeface="Biennale"/>
                <a:cs typeface="Biennale"/>
                <a:sym typeface="Biennale"/>
              </a:rPr>
              <a:t>01</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跨公司销售：标准IC流程配置</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453342"/>
            <a:ext cx="177800" cy="177800"/>
          </a:xfrm>
          <a:prstGeom prst="rect">
            <a:avLst/>
          </a:prstGeom>
        </p:spPr>
      </p:pic>
      <p:sp>
        <p:nvSpPr>
          <p:cNvPr id="10" name="AutoShape 10"/>
          <p:cNvSpPr/>
          <p:nvPr/>
        </p:nvSpPr>
        <p:spPr>
          <a:xfrm>
            <a:off x="914400" y="2306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销售订单类型</a:t>
            </a:r>
            <a:r>
              <a:rPr lang="en-US" sz="1100" b="0" i="0" u="none" strike="noStrike">
                <a:solidFill>
                  <a:srgbClr val="374151"/>
                </a:solidFill>
                <a:latin typeface="Biennale"/>
                <a:ea typeface="Biennale"/>
                <a:cs typeface="Biennale"/>
                <a:sym typeface="Biennale"/>
              </a:rPr>
              <a:t>(OR/IC)</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跨公司销售标准单据</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7500" y="2453342"/>
            <a:ext cx="177800" cy="177800"/>
          </a:xfrm>
          <a:prstGeom prst="rect">
            <a:avLst/>
          </a:prstGeom>
        </p:spPr>
      </p:pic>
      <p:sp>
        <p:nvSpPr>
          <p:cNvPr id="12" name="AutoShape 12"/>
          <p:cNvSpPr/>
          <p:nvPr/>
        </p:nvSpPr>
        <p:spPr>
          <a:xfrm>
            <a:off x="3073400" y="2306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交货工厂分配</a:t>
            </a:r>
            <a:r>
              <a:rPr lang="en-US" sz="1100" b="0" i="0" u="none" strike="noStrike">
                <a:solidFill>
                  <a:srgbClr val="374151"/>
                </a:solidFill>
                <a:latin typeface="Biennale"/>
                <a:ea typeface="Biennale"/>
                <a:cs typeface="Biennale"/>
                <a:sym typeface="Biennale"/>
              </a:rPr>
              <a:t>(Plant)</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自动指定发货工厂</a:t>
            </a:r>
            <a:endParaRPr lang="en-US" sz="110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2453342"/>
            <a:ext cx="177800" cy="177800"/>
          </a:xfrm>
          <a:prstGeom prst="rect">
            <a:avLst/>
          </a:prstGeom>
        </p:spPr>
      </p:pic>
      <p:sp>
        <p:nvSpPr>
          <p:cNvPr id="14" name="AutoShape 14"/>
          <p:cNvSpPr/>
          <p:nvPr/>
        </p:nvSpPr>
        <p:spPr>
          <a:xfrm>
            <a:off x="4978400" y="2306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公司间开票</a:t>
            </a:r>
            <a:r>
              <a:rPr lang="en-US" sz="1100" b="0" i="0" u="none" strike="noStrike">
                <a:solidFill>
                  <a:srgbClr val="374151"/>
                </a:solidFill>
                <a:latin typeface="Biennale"/>
                <a:ea typeface="Biennale"/>
                <a:cs typeface="Biennale"/>
                <a:sym typeface="Biennale"/>
              </a:rPr>
              <a:t>(IV)</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标准内部结算单据</a:t>
            </a:r>
            <a:endParaRPr lang="en-US" sz="1100"/>
          </a:p>
        </p:txBody>
      </p:sp>
      <p:sp>
        <p:nvSpPr>
          <p:cNvPr id="15" name="AutoShape 15"/>
          <p:cNvSpPr/>
          <p:nvPr/>
        </p:nvSpPr>
        <p:spPr>
          <a:xfrm>
            <a:off x="507999" y="3246719"/>
            <a:ext cx="10330121" cy="12065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endParaRPr/>
          </a:p>
        </p:txBody>
      </p:sp>
      <p:sp>
        <p:nvSpPr>
          <p:cNvPr id="16" name="AutoShape 16"/>
          <p:cNvSpPr/>
          <p:nvPr/>
        </p:nvSpPr>
        <p:spPr>
          <a:xfrm>
            <a:off x="698500" y="3348319"/>
            <a:ext cx="635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Biennale"/>
                <a:ea typeface="Biennale"/>
                <a:cs typeface="Biennale"/>
                <a:sym typeface="Biennale"/>
              </a:rPr>
              <a:t>02</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交货与库存：工厂直发与释放</a:t>
            </a:r>
            <a:endParaRPr lang="en-US" sz="1100"/>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850342"/>
            <a:ext cx="177800" cy="177800"/>
          </a:xfrm>
          <a:prstGeom prst="rect">
            <a:avLst/>
          </a:prstGeom>
        </p:spPr>
      </p:pic>
      <p:sp>
        <p:nvSpPr>
          <p:cNvPr id="18" name="AutoShape 18"/>
          <p:cNvSpPr/>
          <p:nvPr/>
        </p:nvSpPr>
        <p:spPr>
          <a:xfrm>
            <a:off x="914400" y="3703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工厂直发交货</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跳过中间入库环节</a:t>
            </a:r>
            <a:endParaRPr lang="en-US" sz="110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7500" y="3850342"/>
            <a:ext cx="177800" cy="177800"/>
          </a:xfrm>
          <a:prstGeom prst="rect">
            <a:avLst/>
          </a:prstGeom>
        </p:spPr>
      </p:pic>
      <p:sp>
        <p:nvSpPr>
          <p:cNvPr id="20" name="AutoShape 20"/>
          <p:cNvSpPr/>
          <p:nvPr/>
        </p:nvSpPr>
        <p:spPr>
          <a:xfrm>
            <a:off x="3073400" y="3703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库存类型控制</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自动释放非限制使用</a:t>
            </a:r>
            <a:endParaRPr lang="en-US" sz="1100"/>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3850342"/>
            <a:ext cx="177800" cy="177800"/>
          </a:xfrm>
          <a:prstGeom prst="rect">
            <a:avLst/>
          </a:prstGeom>
        </p:spPr>
      </p:pic>
      <p:sp>
        <p:nvSpPr>
          <p:cNvPr id="22" name="AutoShape 22"/>
          <p:cNvSpPr/>
          <p:nvPr/>
        </p:nvSpPr>
        <p:spPr>
          <a:xfrm>
            <a:off x="4978400" y="3703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交货过账标准</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标准发货过账流程</a:t>
            </a:r>
            <a:endParaRPr lang="en-US" sz="1100"/>
          </a:p>
        </p:txBody>
      </p:sp>
      <p:sp>
        <p:nvSpPr>
          <p:cNvPr id="23" name="AutoShape 23"/>
          <p:cNvSpPr/>
          <p:nvPr/>
        </p:nvSpPr>
        <p:spPr>
          <a:xfrm>
            <a:off x="507999" y="4643719"/>
            <a:ext cx="10330121" cy="1143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endParaRPr/>
          </a:p>
        </p:txBody>
      </p:sp>
      <p:sp>
        <p:nvSpPr>
          <p:cNvPr id="24" name="AutoShape 24"/>
          <p:cNvSpPr/>
          <p:nvPr/>
        </p:nvSpPr>
        <p:spPr>
          <a:xfrm>
            <a:off x="698500" y="4745319"/>
            <a:ext cx="635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Biennale"/>
                <a:ea typeface="Biennale"/>
                <a:cs typeface="Biennale"/>
                <a:sym typeface="Biennale"/>
              </a:rPr>
              <a:t>03</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定价与结算：公司间定价自动化</a:t>
            </a:r>
            <a:endParaRPr lang="en-US" sz="1100"/>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5247342"/>
            <a:ext cx="177800" cy="177800"/>
          </a:xfrm>
          <a:prstGeom prst="rect">
            <a:avLst/>
          </a:prstGeom>
        </p:spPr>
      </p:pic>
      <p:sp>
        <p:nvSpPr>
          <p:cNvPr id="26" name="AutoShape 26"/>
          <p:cNvSpPr/>
          <p:nvPr/>
        </p:nvSpPr>
        <p:spPr>
          <a:xfrm>
            <a:off x="914400" y="5100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条件技术定价</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灵活配置公司间价格</a:t>
            </a:r>
            <a:endParaRPr lang="en-US" sz="1100"/>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7500" y="5247342"/>
            <a:ext cx="177800" cy="177800"/>
          </a:xfrm>
          <a:prstGeom prst="rect">
            <a:avLst/>
          </a:prstGeom>
        </p:spPr>
      </p:pic>
      <p:sp>
        <p:nvSpPr>
          <p:cNvPr id="28" name="AutoShape 28"/>
          <p:cNvSpPr/>
          <p:nvPr/>
        </p:nvSpPr>
        <p:spPr>
          <a:xfrm>
            <a:off x="3073400" y="5100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税码自动确定</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跨公司税务自动</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a:t>
            </a:r>
            <a:endParaRPr lang="en-US" sz="1100"/>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5247342"/>
            <a:ext cx="177800" cy="177800"/>
          </a:xfrm>
          <a:prstGeom prst="rect">
            <a:avLst/>
          </a:prstGeom>
        </p:spPr>
      </p:pic>
      <p:sp>
        <p:nvSpPr>
          <p:cNvPr id="30" name="AutoShape 30"/>
          <p:cNvSpPr/>
          <p:nvPr/>
        </p:nvSpPr>
        <p:spPr>
          <a:xfrm>
            <a:off x="4978400" y="5100919"/>
            <a:ext cx="1968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输出消息控制</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发票自动输出配置</a:t>
            </a:r>
            <a:endParaRPr lang="en-US" sz="1100"/>
          </a:p>
        </p:txBody>
      </p:sp>
      <p:sp>
        <p:nvSpPr>
          <p:cNvPr id="43" name="AutoShape 43"/>
          <p:cNvSpPr/>
          <p:nvPr/>
        </p:nvSpPr>
        <p:spPr>
          <a:xfrm>
            <a:off x="0" y="5977219"/>
            <a:ext cx="12192000" cy="381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4" name="AutoShape 44"/>
          <p:cNvSpPr/>
          <p:nvPr/>
        </p:nvSpPr>
        <p:spPr>
          <a:xfrm>
            <a:off x="254000" y="6015319"/>
            <a:ext cx="11684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2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实施原则：标准功能覆盖率达到</a:t>
            </a:r>
            <a:r>
              <a:rPr lang="en-US" sz="1200" b="0" i="1" u="none" strike="noStrike">
                <a:solidFill>
                  <a:srgbClr val="6B7280"/>
                </a:solidFill>
                <a:latin typeface="Biennale"/>
                <a:ea typeface="Biennale"/>
                <a:cs typeface="Biennale"/>
                <a:sym typeface="Biennale"/>
              </a:rPr>
              <a:t>85%</a:t>
            </a:r>
            <a:r>
              <a:rPr lang="en-US" sz="12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以上，仅在标准功能无法满足的关键业务场景进行增强开发，确保系统稳定性与可维护性。</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0"/>
            <a:ext cx="6858000" cy="6858000"/>
          </a:xfrm>
          <a:prstGeom prst="rect">
            <a:avLst/>
          </a:prstGeom>
        </p:spPr>
      </p:pic>
      <p:sp>
        <p:nvSpPr>
          <p:cNvPr id="3" name="Freeform 3"/>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4" name="AutoShape 4"/>
          <p:cNvSpPr/>
          <p:nvPr/>
        </p:nvSpPr>
        <p:spPr>
          <a:xfrm>
            <a:off x="390098" y="389618"/>
            <a:ext cx="1463040" cy="147701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9600" b="0" i="0" u="none" strike="noStrike">
                <a:solidFill>
                  <a:srgbClr val="00005C"/>
                </a:solidFill>
                <a:latin typeface="Biennale Bold"/>
                <a:ea typeface="Biennale Bold"/>
                <a:cs typeface="Biennale Bold"/>
                <a:sym typeface="Biennale Bold"/>
              </a:rPr>
              <a:t>03</a:t>
            </a:r>
            <a:endParaRPr lang="en-US" sz="1100"/>
          </a:p>
        </p:txBody>
      </p:sp>
      <p:sp>
        <p:nvSpPr>
          <p:cNvPr id="5" name="AutoShape 5"/>
          <p:cNvSpPr/>
          <p:nvPr/>
        </p:nvSpPr>
        <p:spPr>
          <a:xfrm>
            <a:off x="1786890" y="1866900"/>
            <a:ext cx="7094220" cy="113157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5400" b="0" i="0" u="none" strike="noStrike">
                <a:solidFill>
                  <a:srgbClr val="00005C"/>
                </a:solidFill>
                <a:latin typeface="Biennale Bold"/>
                <a:ea typeface="Biennale Bold"/>
                <a:cs typeface="Biennale Bold"/>
                <a:sym typeface="Biennale Bold"/>
              </a:rPr>
              <a:t>配套行动计划</a:t>
            </a:r>
            <a:endParaRPr lang="en-US" sz="1100"/>
          </a:p>
        </p:txBody>
      </p:sp>
      <p:pic>
        <p:nvPicPr>
          <p:cNvPr id="6" name="Picture 6"/>
          <p:cNvPicPr>
            <a:picLocks noChangeAspect="1"/>
          </p:cNvPicPr>
          <p:nvPr/>
        </p:nvPicPr>
        <p:blipFill>
          <a:blip r:embed="rId4"/>
          <a:srcRect/>
          <a:stretch>
            <a:fillRect/>
          </a:stretch>
        </p:blipFill>
        <p:spPr>
          <a:xfrm>
            <a:off x="48466" y="125649"/>
            <a:ext cx="1930400" cy="381000"/>
          </a:xfrm>
          <a:prstGeom prst="rect">
            <a:avLst/>
          </a:prstGeom>
          <a:noFill/>
          <a:ln w="25400" cap="flat" cmpd="sng">
            <a:noFill/>
            <a:prstDash val="solid"/>
            <a:round/>
          </a:ln>
        </p:spPr>
      </p:pic>
      <p:sp>
        <p:nvSpPr>
          <p:cNvPr id="7" name="AutoShape 7"/>
          <p:cNvSpPr/>
          <p:nvPr/>
        </p:nvSpPr>
        <p:spPr>
          <a:xfrm>
            <a:off x="-1293962" y="262243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569595" y="236220"/>
            <a:ext cx="10668000" cy="534670"/>
          </a:xfrm>
          <a:prstGeom prst="rect">
            <a:avLst/>
          </a:prstGeom>
          <a:noFill/>
          <a:ln w="12700" cap="flat" cmpd="sng">
            <a:noFill/>
            <a:prstDash val="solid"/>
            <a:round/>
          </a:ln>
        </p:spPr>
        <p:txBody>
          <a:bodyPr vert="horz" wrap="square" lIns="0" tIns="0" rIns="0" bIns="0" rtlCol="0" anchor="t" anchorCtr="0">
            <a:noAutofit/>
          </a:bodyPr>
          <a:lstStyle/>
          <a:p>
            <a:pPr lvl="0" algn="l">
              <a:buSzTx/>
              <a:defRPr/>
            </a:pPr>
            <a:r>
              <a:rPr lang="zh-CN" altLang="en-US" sz="2800" b="1">
                <a:solidFill>
                  <a:srgbClr val="0073E6"/>
                </a:solidFill>
                <a:latin typeface="Biennale Bold"/>
                <a:ea typeface="Biennale Bold"/>
                <a:cs typeface="Biennale Bold"/>
                <a:sym typeface="Biennale Bold"/>
              </a:rPr>
              <a:t>合规任务</a:t>
            </a:r>
            <a:r>
              <a:rPr lang="en-US" sz="2800" b="1">
                <a:solidFill>
                  <a:srgbClr val="0073E6"/>
                </a:solidFill>
                <a:latin typeface="Biennale Bold"/>
                <a:ea typeface="Biennale Bold"/>
                <a:cs typeface="Biennale Bold"/>
                <a:sym typeface="Biennale Bold"/>
              </a:rPr>
              <a:t>：</a:t>
            </a:r>
            <a:r>
              <a:rPr lang="zh-CN" altLang="en-US" sz="2800" b="1">
                <a:solidFill>
                  <a:srgbClr val="0073E6"/>
                </a:solidFill>
                <a:latin typeface="Biennale Bold"/>
                <a:ea typeface="Biennale Bold"/>
                <a:cs typeface="Biennale Bold"/>
                <a:sym typeface="Biennale Bold"/>
              </a:rPr>
              <a:t>符合</a:t>
            </a:r>
            <a:r>
              <a:rPr lang="en-US" sz="2800" b="1">
                <a:solidFill>
                  <a:srgbClr val="0073E6"/>
                </a:solidFill>
                <a:latin typeface="Biennale Bold"/>
                <a:ea typeface="Biennale Bold"/>
                <a:cs typeface="Biennale Bold"/>
                <a:sym typeface="Noto Sans SC" panose="020B0200000000000000" charset="-122"/>
              </a:rPr>
              <a:t>税务监管</a:t>
            </a:r>
            <a:r>
              <a:rPr lang="zh-CN" altLang="en-US" sz="2800" b="1">
                <a:solidFill>
                  <a:srgbClr val="0073E6"/>
                </a:solidFill>
                <a:latin typeface="Biennale Bold"/>
                <a:ea typeface="Biennale Bold"/>
                <a:cs typeface="Biennale Bold"/>
                <a:sym typeface="Noto Sans SC" panose="020B0200000000000000" charset="-122"/>
              </a:rPr>
              <a:t>合规及</a:t>
            </a:r>
            <a:r>
              <a:rPr lang="en-US" sz="2800" b="1">
                <a:solidFill>
                  <a:srgbClr val="0073E6"/>
                </a:solidFill>
                <a:latin typeface="Biennale Bold"/>
                <a:ea typeface="Biennale Bold"/>
                <a:cs typeface="Biennale Bold"/>
                <a:sym typeface="Noto Sans SC" panose="020B0200000000000000" charset="-122"/>
              </a:rPr>
              <a:t>审计合规</a:t>
            </a:r>
          </a:p>
        </p:txBody>
      </p:sp>
      <p:sp>
        <p:nvSpPr>
          <p:cNvPr id="11" name="AutoShape 11"/>
          <p:cNvSpPr/>
          <p:nvPr/>
        </p:nvSpPr>
        <p:spPr>
          <a:xfrm>
            <a:off x="1079500" y="1610995"/>
            <a:ext cx="4095750" cy="4572000"/>
          </a:xfrm>
          <a:prstGeom prst="roundRect">
            <a:avLst>
              <a:gd name="adj" fmla="val 0"/>
            </a:avLst>
          </a:prstGeom>
          <a:solidFill>
            <a:srgbClr val="F3F4F6">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l">
              <a:lnSpc>
                <a:spcPct val="108000"/>
              </a:lnSpc>
              <a:buSzTx/>
            </a:pPr>
            <a:endParaRPr lang="en-US" sz="1300">
              <a:solidFill>
                <a:srgbClr val="6B7280"/>
              </a:solidFill>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3500" y="1890395"/>
            <a:ext cx="304800" cy="304800"/>
          </a:xfrm>
          <a:prstGeom prst="rect">
            <a:avLst/>
          </a:prstGeom>
        </p:spPr>
      </p:pic>
      <p:sp>
        <p:nvSpPr>
          <p:cNvPr id="13" name="AutoShape 13"/>
          <p:cNvSpPr/>
          <p:nvPr/>
        </p:nvSpPr>
        <p:spPr>
          <a:xfrm>
            <a:off x="1714500" y="1864995"/>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补充完整单据链路</a:t>
            </a:r>
          </a:p>
        </p:txBody>
      </p:sp>
      <p:cxnSp>
        <p:nvCxnSpPr>
          <p:cNvPr id="14" name="Connector 14"/>
          <p:cNvCxnSpPr/>
          <p:nvPr/>
        </p:nvCxnSpPr>
        <p:spPr>
          <a:xfrm rot="-14946">
            <a:off x="1333514" y="2430145"/>
            <a:ext cx="2921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8" name="AutoShape 18"/>
          <p:cNvSpPr/>
          <p:nvPr/>
        </p:nvSpPr>
        <p:spPr>
          <a:xfrm>
            <a:off x="6113780" y="1610995"/>
            <a:ext cx="4458335" cy="4572000"/>
          </a:xfrm>
          <a:prstGeom prst="roundRect">
            <a:avLst>
              <a:gd name="adj" fmla="val 0"/>
            </a:avLst>
          </a:prstGeom>
          <a:solidFill>
            <a:srgbClr val="F3F4F6">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67780" y="1890395"/>
            <a:ext cx="290830" cy="304800"/>
          </a:xfrm>
          <a:prstGeom prst="rect">
            <a:avLst/>
          </a:prstGeom>
        </p:spPr>
      </p:pic>
      <p:sp>
        <p:nvSpPr>
          <p:cNvPr id="20" name="AutoShape 20"/>
          <p:cNvSpPr/>
          <p:nvPr/>
        </p:nvSpPr>
        <p:spPr>
          <a:xfrm>
            <a:off x="6748780" y="1864995"/>
            <a:ext cx="3084195" cy="4343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避免转让定价的审计风险</a:t>
            </a:r>
          </a:p>
        </p:txBody>
      </p:sp>
      <p:cxnSp>
        <p:nvCxnSpPr>
          <p:cNvPr id="21" name="Connector 21"/>
          <p:cNvCxnSpPr/>
          <p:nvPr/>
        </p:nvCxnSpPr>
        <p:spPr>
          <a:xfrm>
            <a:off x="6367794" y="2430145"/>
            <a:ext cx="3671576" cy="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4"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25" name="Picture 4"/>
          <p:cNvPicPr>
            <a:picLocks noChangeAspect="1"/>
          </p:cNvPicPr>
          <p:nvPr/>
        </p:nvPicPr>
        <p:blipFill>
          <a:blip r:embed="rId5"/>
          <a:srcRect/>
          <a:stretch>
            <a:fillRect/>
          </a:stretch>
        </p:blipFill>
        <p:spPr>
          <a:xfrm>
            <a:off x="287947" y="6412870"/>
            <a:ext cx="1742736" cy="343961"/>
          </a:xfrm>
          <a:prstGeom prst="rect">
            <a:avLst/>
          </a:prstGeom>
          <a:noFill/>
          <a:ln w="25400" cap="flat" cmpd="sng">
            <a:noFill/>
            <a:prstDash val="solid"/>
            <a:round/>
          </a:ln>
        </p:spPr>
      </p:pic>
      <p:sp>
        <p:nvSpPr>
          <p:cNvPr id="27" name="文本框 26"/>
          <p:cNvSpPr txBox="1"/>
          <p:nvPr/>
        </p:nvSpPr>
        <p:spPr>
          <a:xfrm>
            <a:off x="1118870" y="2440940"/>
            <a:ext cx="4003675" cy="3556000"/>
          </a:xfrm>
          <a:prstGeom prst="rect">
            <a:avLst/>
          </a:prstGeom>
          <a:noFill/>
        </p:spPr>
        <p:txBody>
          <a:bodyPr wrap="square" rtlCol="0">
            <a:spAutoFit/>
          </a:bodyPr>
          <a:lstStyle/>
          <a:p>
            <a:pPr algn="l">
              <a:lnSpc>
                <a:spcPct val="108000"/>
              </a:lnSpc>
              <a:buSzTx/>
            </a:pPr>
            <a:r>
              <a:rPr lang="en-US">
                <a:solidFill>
                  <a:srgbClr val="6B7280"/>
                </a:solidFill>
                <a:sym typeface="+mn-ea"/>
              </a:rPr>
              <a:t>1.补制度和协议：签订法人之间内部购销协议，明确允许指示交付、工厂代发终端客户模式；固化内部转让定价规则。</a:t>
            </a:r>
            <a:endParaRPr lang="en-US">
              <a:solidFill>
                <a:srgbClr val="6B7280"/>
              </a:solidFill>
            </a:endParaRPr>
          </a:p>
          <a:p>
            <a:pPr algn="l">
              <a:lnSpc>
                <a:spcPct val="108000"/>
              </a:lnSpc>
              <a:buSzTx/>
            </a:pPr>
            <a:endParaRPr lang="en-US">
              <a:solidFill>
                <a:srgbClr val="6B7280"/>
              </a:solidFill>
            </a:endParaRPr>
          </a:p>
          <a:p>
            <a:pPr algn="l">
              <a:lnSpc>
                <a:spcPct val="108000"/>
              </a:lnSpc>
              <a:buSzTx/>
            </a:pPr>
            <a:r>
              <a:rPr lang="en-US">
                <a:solidFill>
                  <a:srgbClr val="6B7280"/>
                </a:solidFill>
                <a:sym typeface="+mn-ea"/>
              </a:rPr>
              <a:t>2.调 SAP 关键配置：对外交货过账后自动触发内部 IV 开票，杜绝收入成本时间错配；禁止手工随意修改内部结算价格。</a:t>
            </a:r>
            <a:endParaRPr lang="en-US">
              <a:solidFill>
                <a:srgbClr val="6B7280"/>
              </a:solidFill>
            </a:endParaRPr>
          </a:p>
          <a:p>
            <a:pPr algn="l">
              <a:lnSpc>
                <a:spcPct val="108000"/>
              </a:lnSpc>
              <a:buSzTx/>
            </a:pPr>
            <a:endParaRPr lang="en-US">
              <a:solidFill>
                <a:srgbClr val="6B7280"/>
              </a:solidFill>
            </a:endParaRPr>
          </a:p>
          <a:p>
            <a:pPr algn="l">
              <a:lnSpc>
                <a:spcPct val="108000"/>
              </a:lnSpc>
              <a:buSzTx/>
            </a:pPr>
            <a:r>
              <a:rPr lang="en-US">
                <a:solidFill>
                  <a:srgbClr val="6B7280"/>
                </a:solidFill>
                <a:sym typeface="+mn-ea"/>
              </a:rPr>
              <a:t>3.补齐全套留存资料：外部客户订单、物流签收单、内部采购订单、内外发票，形成完整证据链，应对税务稽查。</a:t>
            </a:r>
            <a:endParaRPr lang="en-US">
              <a:solidFill>
                <a:srgbClr val="6B7280"/>
              </a:solidFill>
            </a:endParaRPr>
          </a:p>
          <a:p>
            <a:pPr algn="l">
              <a:lnSpc>
                <a:spcPct val="108000"/>
              </a:lnSpc>
              <a:buSzTx/>
            </a:pPr>
            <a:endParaRPr lang="en-US">
              <a:solidFill>
                <a:srgbClr val="6B7280"/>
              </a:solidFill>
            </a:endParaRPr>
          </a:p>
          <a:p>
            <a:pPr algn="l">
              <a:lnSpc>
                <a:spcPct val="108000"/>
              </a:lnSpc>
              <a:buSzTx/>
            </a:pPr>
            <a:r>
              <a:rPr lang="en-US">
                <a:solidFill>
                  <a:srgbClr val="6B7280"/>
                </a:solidFill>
                <a:sym typeface="+mn-ea"/>
              </a:rPr>
              <a:t>4.财务账务处理规范：销售公司理解虚拟库存逻辑，盘点表单独标注代发业务，不出现账实矛盾。</a:t>
            </a:r>
            <a:endParaRPr lang="en-US">
              <a:solidFill>
                <a:srgbClr val="6B7280"/>
              </a:solidFill>
            </a:endParaRPr>
          </a:p>
          <a:p>
            <a:endParaRPr lang="zh-CN" altLang="en-US"/>
          </a:p>
        </p:txBody>
      </p:sp>
      <p:sp>
        <p:nvSpPr>
          <p:cNvPr id="28" name="文本框 27"/>
          <p:cNvSpPr txBox="1"/>
          <p:nvPr/>
        </p:nvSpPr>
        <p:spPr>
          <a:xfrm>
            <a:off x="6259830" y="2627630"/>
            <a:ext cx="4124325" cy="3293110"/>
          </a:xfrm>
          <a:prstGeom prst="rect">
            <a:avLst/>
          </a:prstGeom>
          <a:noFill/>
        </p:spPr>
        <p:txBody>
          <a:bodyPr wrap="square" rtlCol="0">
            <a:noAutofit/>
          </a:bodyPr>
          <a:lstStyle/>
          <a:p>
            <a:r>
              <a:rPr lang="en-US">
                <a:solidFill>
                  <a:srgbClr val="6B7280"/>
                </a:solidFill>
                <a:latin typeface="Arial" panose="020B0604020202020204" pitchFamily="34" charset="0"/>
                <a:ea typeface="Arial" panose="020B0604020202020204" pitchFamily="34" charset="0"/>
                <a:cs typeface="Arial" panose="020B0604020202020204" pitchFamily="34" charset="0"/>
              </a:rPr>
              <a:t>内部 IV 的结算价格，属于关联交易定价。</a:t>
            </a:r>
          </a:p>
          <a:p>
            <a:r>
              <a:rPr lang="en-US">
                <a:solidFill>
                  <a:srgbClr val="6B7280"/>
                </a:solidFill>
                <a:latin typeface="Arial" panose="020B0604020202020204" pitchFamily="34" charset="0"/>
                <a:ea typeface="Arial" panose="020B0604020202020204" pitchFamily="34" charset="0"/>
                <a:cs typeface="Arial" panose="020B0604020202020204" pitchFamily="34" charset="0"/>
              </a:rPr>
              <a:t>1.审计要求：关联交易定价政策要书面固化，披露在财务报告附注；</a:t>
            </a:r>
          </a:p>
          <a:p>
            <a:endParaRPr lang="en-US">
              <a:solidFill>
                <a:srgbClr val="6B7280"/>
              </a:solidFill>
              <a:latin typeface="Arial" panose="020B0604020202020204" pitchFamily="34" charset="0"/>
              <a:ea typeface="Arial" panose="020B0604020202020204" pitchFamily="34" charset="0"/>
              <a:cs typeface="Arial" panose="020B0604020202020204" pitchFamily="34" charset="0"/>
            </a:endParaRPr>
          </a:p>
          <a:p>
            <a:r>
              <a:rPr lang="en-US">
                <a:solidFill>
                  <a:srgbClr val="6B7280"/>
                </a:solidFill>
                <a:latin typeface="Arial" panose="020B0604020202020204" pitchFamily="34" charset="0"/>
                <a:ea typeface="Arial" panose="020B0604020202020204" pitchFamily="34" charset="0"/>
                <a:cs typeface="Arial" panose="020B0604020202020204" pitchFamily="34" charset="0"/>
              </a:rPr>
              <a:t>2.如果内部价格明显偏离公允价：</a:t>
            </a:r>
          </a:p>
          <a:p>
            <a:pPr marL="285750" indent="-285750">
              <a:buFont typeface="Wingdings" panose="05000000000000000000" charset="0"/>
              <a:buChar char="ü"/>
            </a:pPr>
            <a:r>
              <a:rPr lang="en-US">
                <a:solidFill>
                  <a:srgbClr val="6B7280"/>
                </a:solidFill>
                <a:latin typeface="Arial" panose="020B0604020202020204" pitchFamily="34" charset="0"/>
                <a:ea typeface="Arial" panose="020B0604020202020204" pitchFamily="34" charset="0"/>
                <a:cs typeface="Arial" panose="020B0604020202020204" pitchFamily="34" charset="0"/>
              </a:rPr>
              <a:t>会计层面：利润在两个法人之间人为转移；</a:t>
            </a:r>
          </a:p>
          <a:p>
            <a:pPr marL="285750" indent="-285750">
              <a:buFont typeface="Wingdings" panose="05000000000000000000" charset="0"/>
              <a:buChar char="ü"/>
            </a:pPr>
            <a:r>
              <a:rPr lang="en-US">
                <a:solidFill>
                  <a:srgbClr val="6B7280"/>
                </a:solidFill>
                <a:latin typeface="Arial" panose="020B0604020202020204" pitchFamily="34" charset="0"/>
                <a:ea typeface="Arial" panose="020B0604020202020204" pitchFamily="34" charset="0"/>
                <a:cs typeface="Arial" panose="020B0604020202020204" pitchFamily="34" charset="0"/>
              </a:rPr>
              <a:t>审计：要求披露，严重的会要求调整；同时连带触发税务转让定价风险。</a:t>
            </a:r>
          </a:p>
          <a:p>
            <a:endParaRPr lang="en-US">
              <a:solidFill>
                <a:srgbClr val="6B7280"/>
              </a:solidFill>
              <a:latin typeface="Arial" panose="020B0604020202020204" pitchFamily="34" charset="0"/>
              <a:ea typeface="Arial" panose="020B0604020202020204" pitchFamily="34" charset="0"/>
              <a:cs typeface="Arial" panose="020B0604020202020204" pitchFamily="34" charset="0"/>
            </a:endParaRPr>
          </a:p>
          <a:p>
            <a:r>
              <a:rPr lang="en-US">
                <a:solidFill>
                  <a:srgbClr val="6B7280"/>
                </a:solidFill>
                <a:latin typeface="Arial" panose="020B0604020202020204" pitchFamily="34" charset="0"/>
                <a:ea typeface="Arial" panose="020B0604020202020204" pitchFamily="34" charset="0"/>
                <a:cs typeface="Arial" panose="020B0604020202020204" pitchFamily="34" charset="0"/>
              </a:rPr>
              <a:t>应对：</a:t>
            </a:r>
          </a:p>
          <a:p>
            <a:r>
              <a:rPr lang="en-US">
                <a:solidFill>
                  <a:srgbClr val="6B7280"/>
                </a:solidFill>
                <a:latin typeface="Arial" panose="020B0604020202020204" pitchFamily="34" charset="0"/>
                <a:ea typeface="Arial" panose="020B0604020202020204" pitchFamily="34" charset="0"/>
                <a:cs typeface="Arial" panose="020B0604020202020204" pitchFamily="34" charset="0"/>
              </a:rPr>
              <a:t>内部定价规则书面制度，SAP 自动带出定价，不允许手工改价；年报附注完整披露该类关联交易金额。</a:t>
            </a:r>
          </a:p>
        </p:txBody>
      </p:sp>
      <p:sp>
        <p:nvSpPr>
          <p:cNvPr id="29" name="文本框 28"/>
          <p:cNvSpPr txBox="1"/>
          <p:nvPr/>
        </p:nvSpPr>
        <p:spPr>
          <a:xfrm>
            <a:off x="762000" y="863600"/>
            <a:ext cx="10283190" cy="398780"/>
          </a:xfrm>
          <a:prstGeom prst="rect">
            <a:avLst/>
          </a:prstGeom>
        </p:spPr>
        <p:txBody>
          <a:bodyPr wrap="square">
            <a:spAutoFit/>
          </a:bodyPr>
          <a:lstStyle/>
          <a:p>
            <a:pPr algn="l">
              <a:lnSpc>
                <a:spcPct val="125000"/>
              </a:lnSpc>
              <a:buSzTx/>
              <a:defRPr/>
            </a:pPr>
            <a:r>
              <a:rPr lang="en-US" sz="1600" b="1">
                <a:solidFill>
                  <a:srgbClr val="2563EB"/>
                </a:solidFill>
                <a:latin typeface="Noto Sans SC" panose="020B0200000000000000" charset="-122"/>
                <a:ea typeface="Noto Sans SC" panose="020B0200000000000000" charset="-122"/>
                <a:cs typeface="Noto Sans SC" panose="020B0200000000000000" charset="-122"/>
              </a:rPr>
              <a:t>会计准则认可指示交付（货不经过买方仓库，直接发给下游），不属于异常业务</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dirty="0" err="1">
                <a:solidFill>
                  <a:srgbClr val="0073E6"/>
                </a:solidFill>
                <a:latin typeface="Biennale Bold"/>
                <a:ea typeface="Biennale Bold"/>
                <a:cs typeface="Biennale Bold"/>
                <a:sym typeface="Biennale Bold"/>
              </a:rPr>
              <a:t>关键任务：IC跨公司销售流程落地与需求闭环</a:t>
            </a: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br>
              <a:rPr lang="en-US" sz="2800" b="1" i="0" u="none" strike="noStrike" dirty="0">
                <a:solidFill>
                  <a:srgbClr val="0073E6"/>
                </a:solidFill>
                <a:latin typeface="Biennale Bold"/>
                <a:ea typeface="Biennale Bold"/>
                <a:cs typeface="Biennale Bold"/>
                <a:sym typeface="Biennale Bold"/>
              </a:rPr>
            </a:br>
            <a:endParaRPr lang="en-US" sz="1100" dirty="0"/>
          </a:p>
        </p:txBody>
      </p:sp>
      <p:cxnSp>
        <p:nvCxnSpPr>
          <p:cNvPr id="6" name="Connector 6"/>
          <p:cNvCxnSpPr/>
          <p:nvPr/>
        </p:nvCxnSpPr>
        <p:spPr>
          <a:xfrm rot="-3905">
            <a:off x="508004" y="1673115"/>
            <a:ext cx="11176007"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7" name="AutoShape 7"/>
          <p:cNvSpPr/>
          <p:nvPr/>
        </p:nvSpPr>
        <p:spPr>
          <a:xfrm>
            <a:off x="508000" y="1933465"/>
            <a:ext cx="5334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Biennale"/>
                <a:ea typeface="Biennale"/>
                <a:cs typeface="Biennale"/>
                <a:sym typeface="Biennale"/>
              </a:rPr>
              <a:t>01</a:t>
            </a:r>
            <a:r>
              <a:rPr 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核心建设内容</a:t>
            </a:r>
            <a:endParaRPr lang="en-US" sz="1100" dirty="0"/>
          </a:p>
        </p:txBody>
      </p:sp>
      <p:sp>
        <p:nvSpPr>
          <p:cNvPr id="8" name="AutoShape 8"/>
          <p:cNvSpPr/>
          <p:nvPr/>
        </p:nvSpPr>
        <p:spPr>
          <a:xfrm>
            <a:off x="508000" y="25049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635000" y="2568465"/>
            <a:ext cx="51435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a:solidFill>
                  <a:srgbClr val="2563EB"/>
                </a:solidFill>
                <a:latin typeface="Biennale"/>
                <a:ea typeface="Biennale"/>
                <a:cs typeface="Biennale"/>
                <a:sym typeface="Biennale"/>
              </a:rPr>
              <a:t>01</a:t>
            </a:r>
            <a:r>
              <a:rPr lang="en-US" sz="12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2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IC流程配置与测试：</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配置跨公司销售订单类型、交货工厂分配与公司间开票IV，完成</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端到端集成测试</a:t>
            </a:r>
            <a:r>
              <a:rPr lang="en-US" sz="1100" b="0" i="0" u="none" strike="noStrike" dirty="0" err="1">
                <a:solidFill>
                  <a:srgbClr val="4B5563"/>
                </a:solidFill>
                <a:latin typeface="Biennale"/>
                <a:ea typeface="Biennale"/>
                <a:cs typeface="Biennale"/>
                <a:sym typeface="Biennale"/>
              </a:rPr>
              <a:t>”</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与用户验收测试，确保流程稳定</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0" name="AutoShape 10"/>
          <p:cNvSpPr/>
          <p:nvPr/>
        </p:nvSpPr>
        <p:spPr>
          <a:xfrm>
            <a:off x="508000" y="32034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635000" y="3266965"/>
            <a:ext cx="51435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563EB"/>
                </a:solidFill>
                <a:latin typeface="Biennale"/>
                <a:ea typeface="Biennale"/>
                <a:cs typeface="Biennale"/>
                <a:sym typeface="Biennale"/>
              </a:rPr>
              <a:t>02</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主数据扩展治理：</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扩展客户/物料销售视图至所有相关销售组织，维护公司间价格，配置BP角色，确保主数据完整一致。</a:t>
            </a:r>
            <a:endParaRPr lang="en-US" sz="1100"/>
          </a:p>
        </p:txBody>
      </p:sp>
      <p:sp>
        <p:nvSpPr>
          <p:cNvPr id="12" name="AutoShape 12"/>
          <p:cNvSpPr/>
          <p:nvPr/>
        </p:nvSpPr>
        <p:spPr>
          <a:xfrm>
            <a:off x="508000" y="39019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635000" y="3965465"/>
            <a:ext cx="51435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a:solidFill>
                  <a:srgbClr val="2563EB"/>
                </a:solidFill>
                <a:latin typeface="Biennale"/>
                <a:ea typeface="Biennale"/>
                <a:cs typeface="Biennale"/>
                <a:sym typeface="Biennale"/>
              </a:rPr>
              <a:t>03</a:t>
            </a:r>
            <a:r>
              <a:rPr lang="en-US" sz="12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12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库存与交货优化：</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配置工厂直发交货流程</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直接触发产销衔接，</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优化库存自动释放逻辑，消除转卖后质检滞留，联动</a:t>
            </a:r>
            <a:r>
              <a:rPr lang="zh-CN" alt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外部系统</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508000" y="46004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635000" y="4663965"/>
            <a:ext cx="51435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a:solidFill>
                  <a:srgbClr val="2563EB"/>
                </a:solidFill>
                <a:latin typeface="Biennale"/>
                <a:ea typeface="Biennale"/>
                <a:cs typeface="Biennale"/>
                <a:sym typeface="Biennale"/>
              </a:rPr>
              <a:t>04</a:t>
            </a:r>
            <a:r>
              <a:rPr lang="en-US" sz="12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en-US" sz="12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异常预警与闭环：</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a:t>
            </a:r>
            <a:r>
              <a:rPr lang="zh-CN" alt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发票</a:t>
            </a:r>
            <a:r>
              <a:rPr lang="en-US" sz="11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创建失败实时预警、库存异常监控、转卖效率分析机制，形成异常发现-处理-复盘闭环</a:t>
            </a:r>
            <a:r>
              <a:rPr lang="en-US" sz="11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6" name="AutoShape 16"/>
          <p:cNvSpPr/>
          <p:nvPr/>
        </p:nvSpPr>
        <p:spPr>
          <a:xfrm>
            <a:off x="6350000" y="1933465"/>
            <a:ext cx="5334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chemeClr val="accent1">
                    <a:lumMod val="75000"/>
                  </a:schemeClr>
                </a:solidFill>
                <a:latin typeface="Biennale"/>
                <a:ea typeface="Biennale"/>
                <a:cs typeface="Biennale"/>
                <a:sym typeface="Biennale"/>
              </a:rPr>
              <a:t>02</a:t>
            </a:r>
            <a:r>
              <a:rPr lang="en-US" sz="1600" b="1" i="0" u="none" strike="noStrike"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系统实现方式</a:t>
            </a:r>
            <a:endParaRPr lang="en-US" sz="1100" dirty="0">
              <a:solidFill>
                <a:schemeClr val="accent1">
                  <a:lumMod val="75000"/>
                </a:schemeClr>
              </a:solidFill>
            </a:endParaRPr>
          </a:p>
        </p:txBody>
      </p:sp>
      <p:sp>
        <p:nvSpPr>
          <p:cNvPr id="17" name="AutoShape 17"/>
          <p:cNvSpPr/>
          <p:nvPr/>
        </p:nvSpPr>
        <p:spPr>
          <a:xfrm>
            <a:off x="6350000" y="2517663"/>
            <a:ext cx="5334000" cy="508000"/>
          </a:xfrm>
          <a:prstGeom prst="roundRect">
            <a:avLst>
              <a:gd name="adj" fmla="val 0"/>
            </a:avLst>
          </a:prstGeom>
          <a:solidFill>
            <a:schemeClr val="accent5">
              <a:lumMod val="20000"/>
              <a:lumOff val="80000"/>
              <a:alpha val="49000"/>
            </a:schemeClr>
          </a:solidFill>
          <a:ln w="25400" cap="flat" cmpd="sng">
            <a:noFill/>
            <a:prstDash val="solid"/>
            <a:round/>
          </a:ln>
        </p:spPr>
        <p:txBody>
          <a:bodyPr vert="horz" wrap="square" lIns="0" tIns="0" rIns="0" bIns="0" rtlCol="0" anchor="ctr" anchorCtr="0"/>
          <a:lstStyle/>
          <a:p>
            <a:pPr algn="ctr">
              <a:defRPr/>
            </a:pPr>
            <a:endParaRPr/>
          </a:p>
        </p:txBody>
      </p:sp>
      <p:sp>
        <p:nvSpPr>
          <p:cNvPr id="18" name="AutoShape 18"/>
          <p:cNvSpPr/>
          <p:nvPr/>
        </p:nvSpPr>
        <p:spPr>
          <a:xfrm>
            <a:off x="6477000" y="2549413"/>
            <a:ext cx="51435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dirty="0" err="1">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标准IC配置：</a:t>
            </a:r>
            <a:r>
              <a:rPr lang="en-US" sz="10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配置跨公司销售订单</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0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IV开票类型、交货工厂分配与定价条件，启用SAP标准PIR跨公司销售功能</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9" name="AutoShape 19"/>
          <p:cNvSpPr/>
          <p:nvPr/>
        </p:nvSpPr>
        <p:spPr>
          <a:xfrm>
            <a:off x="6350000" y="3089163"/>
            <a:ext cx="5334000" cy="508000"/>
          </a:xfrm>
          <a:prstGeom prst="roundRect">
            <a:avLst>
              <a:gd name="adj" fmla="val 0"/>
            </a:avLst>
          </a:prstGeom>
          <a:solidFill>
            <a:schemeClr val="accent5">
              <a:lumMod val="20000"/>
              <a:lumOff val="80000"/>
              <a:alpha val="49000"/>
            </a:schemeClr>
          </a:solidFill>
          <a:ln w="25400" cap="flat" cmpd="sng">
            <a:noFill/>
            <a:prstDash val="solid"/>
            <a:round/>
          </a:ln>
        </p:spPr>
        <p:txBody>
          <a:bodyPr vert="horz" wrap="square" lIns="0" tIns="0" rIns="0" bIns="0" rtlCol="0" anchor="ctr" anchorCtr="0"/>
          <a:lstStyle/>
          <a:p>
            <a:pPr algn="ctr"/>
            <a:endParaRPr/>
          </a:p>
        </p:txBody>
      </p:sp>
      <p:sp>
        <p:nvSpPr>
          <p:cNvPr id="20" name="AutoShape 20"/>
          <p:cNvSpPr/>
          <p:nvPr/>
        </p:nvSpPr>
        <p:spPr>
          <a:xfrm>
            <a:off x="6477000" y="3120913"/>
            <a:ext cx="51435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dirty="0" err="1">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主数据工具：</a:t>
            </a:r>
            <a:r>
              <a:rPr lang="en-US" sz="10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使用MDG</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/LSMW/</a:t>
            </a:r>
            <a:r>
              <a:rPr lang="en-US" sz="10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批量维护工具扩展客户</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0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物料视图、公司间价格与BP角色，确保数据一次性导入准确</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3" name="AutoShape 23"/>
          <p:cNvSpPr/>
          <p:nvPr/>
        </p:nvSpPr>
        <p:spPr>
          <a:xfrm>
            <a:off x="6350000" y="3679272"/>
            <a:ext cx="5334000" cy="508000"/>
          </a:xfrm>
          <a:prstGeom prst="roundRect">
            <a:avLst>
              <a:gd name="adj" fmla="val 0"/>
            </a:avLst>
          </a:prstGeom>
          <a:solidFill>
            <a:schemeClr val="accent5">
              <a:lumMod val="20000"/>
              <a:lumOff val="80000"/>
              <a:alpha val="49000"/>
            </a:schemeClr>
          </a:solidFill>
          <a:ln w="25400" cap="flat" cmpd="sng">
            <a:noFill/>
            <a:prstDash val="solid"/>
            <a:round/>
          </a:ln>
        </p:spPr>
        <p:txBody>
          <a:bodyPr vert="horz" wrap="square" lIns="0" tIns="0" rIns="0" bIns="0" rtlCol="0" anchor="ctr" anchorCtr="0"/>
          <a:lstStyle/>
          <a:p>
            <a:pPr algn="ctr"/>
            <a:endParaRPr/>
          </a:p>
        </p:txBody>
      </p:sp>
      <p:sp>
        <p:nvSpPr>
          <p:cNvPr id="24" name="AutoShape 24"/>
          <p:cNvSpPr/>
          <p:nvPr/>
        </p:nvSpPr>
        <p:spPr>
          <a:xfrm>
            <a:off x="6477000" y="3711022"/>
            <a:ext cx="51435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dirty="0" err="1">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报表</a:t>
            </a:r>
            <a:r>
              <a:rPr lang="zh-CN" altLang="en-US" sz="1200" b="1" i="0" u="none" strike="noStrike"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a:t>
            </a:r>
            <a:r>
              <a:rPr lang="en-US" sz="1200" b="1" i="0" u="none" strike="noStrike"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0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发票创建</a:t>
            </a:r>
            <a:r>
              <a:rPr lang="en-US" sz="10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失败</a:t>
            </a:r>
            <a:r>
              <a:rPr lang="zh-CN" alt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0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公司间应收应付对账</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业务模式调整对报表影响优化</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7" name="AutoShape 27"/>
          <p:cNvSpPr/>
          <p:nvPr/>
        </p:nvSpPr>
        <p:spPr>
          <a:xfrm>
            <a:off x="508000" y="5362465"/>
            <a:ext cx="11176000" cy="508000"/>
          </a:xfrm>
          <a:prstGeom prst="roundRect">
            <a:avLst>
              <a:gd name="adj" fmla="val 0"/>
            </a:avLst>
          </a:prstGeom>
          <a:solidFill>
            <a:srgbClr val="1E3A8A">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28"/>
          <p:cNvSpPr/>
          <p:nvPr/>
        </p:nvSpPr>
        <p:spPr>
          <a:xfrm>
            <a:off x="635000" y="5464065"/>
            <a:ext cx="1092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管控价值：</a:t>
            </a:r>
            <a:r>
              <a:rPr lang="en-US" sz="1300" b="0"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通过SAP标准IC流程替代STO</a:t>
            </a:r>
            <a:r>
              <a:rPr lang="en-US" sz="1300" b="0" i="0" u="none" strike="noStrike" dirty="0">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&amp;</a:t>
            </a:r>
            <a:r>
              <a:rPr lang="zh-CN" altLang="en-US" sz="1300" b="0" i="0" u="none" strike="noStrike" dirty="0">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销售采购</a:t>
            </a:r>
            <a:r>
              <a:rPr lang="en-US" sz="1300" b="0"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人工转卖，实现公司间交易流程标准化、结算自动化与异常可视化，减少多部门协同成本，缩短交货周期，提升客户响应速度与财务结算效率</a:t>
            </a:r>
            <a:r>
              <a:rPr lang="en-US" sz="1300" b="0" i="0" u="none" strike="noStrike" dirty="0">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9" name="AutoShape 29"/>
          <p:cNvSpPr/>
          <p:nvPr/>
        </p:nvSpPr>
        <p:spPr>
          <a:xfrm>
            <a:off x="508000" y="1196117"/>
            <a:ext cx="1117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1"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实现价格有来源、维护有权限、生效有条件、变更有记录、异常有预警</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0"/>
            <a:ext cx="6858000" cy="6858000"/>
          </a:xfrm>
          <a:prstGeom prst="rect">
            <a:avLst/>
          </a:prstGeom>
        </p:spPr>
      </p:pic>
      <p:sp>
        <p:nvSpPr>
          <p:cNvPr id="3" name="Freeform 3"/>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latin typeface="微软雅黑" panose="020B0503020204020204" charset="-122"/>
              <a:ea typeface="微软雅黑" panose="020B0503020204020204" charset="-122"/>
            </a:endParaRPr>
          </a:p>
        </p:txBody>
      </p:sp>
      <p:sp>
        <p:nvSpPr>
          <p:cNvPr id="4" name="AutoShape 4"/>
          <p:cNvSpPr>
            <a:spLocks noGrp="1"/>
          </p:cNvSpPr>
          <p:nvPr>
            <p:ph type="body" sz="quarter" idx="4294967295" hasCustomPrompt="1"/>
          </p:nvPr>
        </p:nvSpPr>
        <p:spPr>
          <a:xfrm>
            <a:off x="390098" y="389618"/>
            <a:ext cx="1463040" cy="1477010"/>
          </a:xfrm>
          <a:prstGeom prst="rect">
            <a:avLst/>
          </a:prstGeom>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微软雅黑" panose="020B0503020204020204" charset="-122"/>
                <a:ea typeface="微软雅黑" panose="020B0503020204020204" charset="-122"/>
                <a:cs typeface="Biennale Bold"/>
                <a:sym typeface="Biennale Bold"/>
              </a:rPr>
              <a:t>04</a:t>
            </a:r>
          </a:p>
        </p:txBody>
      </p:sp>
      <p:sp>
        <p:nvSpPr>
          <p:cNvPr id="5" name="AutoShape 5"/>
          <p:cNvSpPr/>
          <p:nvPr/>
        </p:nvSpPr>
        <p:spPr>
          <a:xfrm>
            <a:off x="1786890" y="1866900"/>
            <a:ext cx="8474710" cy="192976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5400" b="0" i="0" u="none" strike="noStrike">
                <a:solidFill>
                  <a:srgbClr val="00005C"/>
                </a:solidFill>
                <a:latin typeface="微软雅黑" panose="020B0503020204020204" charset="-122"/>
                <a:ea typeface="微软雅黑" panose="020B0503020204020204" charset="-122"/>
                <a:cs typeface="Biennale Bold"/>
                <a:sym typeface="Biennale Bold"/>
              </a:rPr>
              <a:t>附录：相关文档及原始数据</a:t>
            </a:r>
          </a:p>
        </p:txBody>
      </p:sp>
      <p:pic>
        <p:nvPicPr>
          <p:cNvPr id="6" name="Picture 6"/>
          <p:cNvPicPr>
            <a:picLocks noChangeAspect="1"/>
          </p:cNvPicPr>
          <p:nvPr/>
        </p:nvPicPr>
        <p:blipFill>
          <a:blip r:embed="rId4"/>
          <a:srcRect/>
          <a:stretch>
            <a:fillRect/>
          </a:stretch>
        </p:blipFill>
        <p:spPr>
          <a:xfrm>
            <a:off x="48466" y="125649"/>
            <a:ext cx="1930400" cy="381000"/>
          </a:xfrm>
          <a:prstGeom prst="rect">
            <a:avLst/>
          </a:prstGeom>
          <a:noFill/>
          <a:ln w="25400" cap="flat" cmpd="sng">
            <a:noFill/>
            <a:prstDash val="solid"/>
            <a:round/>
          </a:ln>
        </p:spPr>
      </p:pic>
      <p:sp>
        <p:nvSpPr>
          <p:cNvPr id="7" name="AutoShape 7"/>
          <p:cNvSpPr/>
          <p:nvPr/>
        </p:nvSpPr>
        <p:spPr>
          <a:xfrm>
            <a:off x="-1293962" y="262243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latin typeface="微软雅黑" panose="020B0503020204020204" charset="-122"/>
              <a:ea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微软雅黑" panose="020B0503020204020204" charset="-122"/>
                <a:ea typeface="微软雅黑" panose="020B0503020204020204" charset="-122"/>
                <a:cs typeface="Biennale"/>
                <a:sym typeface="Biennale"/>
              </a:rPr>
              <a:t>Atos Confidential</a:t>
            </a:r>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latin typeface="微软雅黑" panose="020B0503020204020204" charset="-122"/>
              <a:ea typeface="微软雅黑" panose="020B0503020204020204" charset="-122"/>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508000" y="11244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6" name="AutoShape 6"/>
          <p:cNvSpPr/>
          <p:nvPr/>
        </p:nvSpPr>
        <p:spPr>
          <a:xfrm>
            <a:off x="698500" y="12514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01. MTO（按订单生产）</a:t>
            </a:r>
          </a:p>
        </p:txBody>
      </p:sp>
      <p:sp>
        <p:nvSpPr>
          <p:cNvPr id="7" name="AutoShape 7"/>
          <p:cNvSpPr/>
          <p:nvPr/>
        </p:nvSpPr>
        <p:spPr>
          <a:xfrm>
            <a:off x="698500" y="16070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定义：Make-To-Order，根据客户销售订单触发生产的业务模式。</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作用：销售订单与生产订单直接关联，实现订单级别的生产进度跟踪。</a:t>
            </a:r>
          </a:p>
        </p:txBody>
      </p:sp>
      <p:sp>
        <p:nvSpPr>
          <p:cNvPr id="8" name="AutoShape 8"/>
          <p:cNvSpPr/>
          <p:nvPr/>
        </p:nvSpPr>
        <p:spPr>
          <a:xfrm>
            <a:off x="508000" y="23690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9" name="AutoShape 9"/>
          <p:cNvSpPr/>
          <p:nvPr/>
        </p:nvSpPr>
        <p:spPr>
          <a:xfrm>
            <a:off x="698500" y="24960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02. COOIS（生产订单信息系统）</a:t>
            </a:r>
          </a:p>
        </p:txBody>
      </p:sp>
      <p:sp>
        <p:nvSpPr>
          <p:cNvPr id="10" name="AutoShape 10"/>
          <p:cNvSpPr/>
          <p:nvPr/>
        </p:nvSpPr>
        <p:spPr>
          <a:xfrm>
            <a:off x="698500" y="28516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定义：SAP标准生产订单信息系统，用于查询生产订单状态与进度。</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作用：实时追踪生产订单执行状态、完工进度，确保生产进度透明可查。</a:t>
            </a:r>
          </a:p>
        </p:txBody>
      </p:sp>
      <p:sp>
        <p:nvSpPr>
          <p:cNvPr id="11" name="AutoShape 11"/>
          <p:cNvSpPr/>
          <p:nvPr/>
        </p:nvSpPr>
        <p:spPr>
          <a:xfrm>
            <a:off x="508000" y="36136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2" name="AutoShape 12"/>
          <p:cNvSpPr/>
          <p:nvPr/>
        </p:nvSpPr>
        <p:spPr>
          <a:xfrm>
            <a:off x="698500" y="37406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03. Lead Time（提前期）</a:t>
            </a:r>
          </a:p>
        </p:txBody>
      </p:sp>
      <p:sp>
        <p:nvSpPr>
          <p:cNvPr id="13" name="AutoShape 13"/>
          <p:cNvSpPr/>
          <p:nvPr/>
        </p:nvSpPr>
        <p:spPr>
          <a:xfrm>
            <a:off x="698500" y="40962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定义：物料从采购下单到到货入库所需的时间，含处理、运输、检验等。</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作用：作为交期自动计算的核心参数，确保预计交付时间的准确性。</a:t>
            </a:r>
          </a:p>
        </p:txBody>
      </p:sp>
      <p:sp>
        <p:nvSpPr>
          <p:cNvPr id="14" name="AutoShape 14"/>
          <p:cNvSpPr/>
          <p:nvPr/>
        </p:nvSpPr>
        <p:spPr>
          <a:xfrm>
            <a:off x="508000" y="48582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5" name="AutoShape 15"/>
          <p:cNvSpPr/>
          <p:nvPr/>
        </p:nvSpPr>
        <p:spPr>
          <a:xfrm>
            <a:off x="698500" y="49852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04. ATP Check（可用量检查）</a:t>
            </a:r>
          </a:p>
        </p:txBody>
      </p:sp>
      <p:sp>
        <p:nvSpPr>
          <p:cNvPr id="16" name="AutoShape 16"/>
          <p:cNvSpPr/>
          <p:nvPr/>
        </p:nvSpPr>
        <p:spPr>
          <a:xfrm>
            <a:off x="698500" y="53408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定义：Available-To-Promise，检查物料库存与在途量是否满足需求的逻辑。</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作用：在销售订单确认或生产计划阶段自动检查物料齐套状态，提前识别缺料。</a:t>
            </a:r>
          </a:p>
        </p:txBody>
      </p:sp>
      <p:sp>
        <p:nvSpPr>
          <p:cNvPr id="17" name="AutoShape 17"/>
          <p:cNvSpPr/>
          <p:nvPr/>
        </p:nvSpPr>
        <p:spPr>
          <a:xfrm>
            <a:off x="6223000" y="11244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8" name="AutoShape 18"/>
          <p:cNvSpPr/>
          <p:nvPr/>
        </p:nvSpPr>
        <p:spPr>
          <a:xfrm>
            <a:off x="6413500" y="12514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05. 交期预警（Delivery Warning）</a:t>
            </a:r>
          </a:p>
        </p:txBody>
      </p:sp>
      <p:sp>
        <p:nvSpPr>
          <p:cNvPr id="19" name="AutoShape 19"/>
          <p:cNvSpPr/>
          <p:nvPr/>
        </p:nvSpPr>
        <p:spPr>
          <a:xfrm>
            <a:off x="6413500" y="16070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定义：基于预计交付时间与当前进度，提前识别交付风险的系统机制。</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作用：提前7天自动推送交期风险，预留客户沟通与采购加急缓冲期。</a:t>
            </a:r>
          </a:p>
        </p:txBody>
      </p:sp>
      <p:sp>
        <p:nvSpPr>
          <p:cNvPr id="20" name="AutoShape 20"/>
          <p:cNvSpPr/>
          <p:nvPr/>
        </p:nvSpPr>
        <p:spPr>
          <a:xfrm>
            <a:off x="6223000" y="23690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1" name="AutoShape 21"/>
          <p:cNvSpPr/>
          <p:nvPr/>
        </p:nvSpPr>
        <p:spPr>
          <a:xfrm>
            <a:off x="6413500" y="24960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06. 准时交货率（On-Time Delivery）</a:t>
            </a:r>
          </a:p>
        </p:txBody>
      </p:sp>
      <p:sp>
        <p:nvSpPr>
          <p:cNvPr id="22" name="AutoShape 22"/>
          <p:cNvSpPr/>
          <p:nvPr/>
        </p:nvSpPr>
        <p:spPr>
          <a:xfrm>
            <a:off x="6413500" y="28516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定义：实际交付日期与承诺交期一致的订单占比，衡量交付履约能力。</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作用：作为供应商绩效与订单履约的核心KPI，驱动持续改进。</a:t>
            </a:r>
          </a:p>
        </p:txBody>
      </p:sp>
      <p:sp>
        <p:nvSpPr>
          <p:cNvPr id="23" name="AutoShape 23"/>
          <p:cNvSpPr/>
          <p:nvPr/>
        </p:nvSpPr>
        <p:spPr>
          <a:xfrm>
            <a:off x="6223000" y="3613639"/>
            <a:ext cx="5461000" cy="1168400"/>
          </a:xfrm>
          <a:prstGeom prst="roundRect">
            <a:avLst>
              <a:gd name="adj" fmla="val 0"/>
            </a:avLst>
          </a:prstGeom>
          <a:solidFill>
            <a:srgbClr val="DBEAFE">
              <a:alpha val="40000"/>
            </a:srgbClr>
          </a:solidFill>
          <a:ln w="12700" cap="flat" cmpd="sng">
            <a:solidFill>
              <a:srgbClr val="93C5FD">
                <a:alpha val="10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4" name="AutoShape 24"/>
          <p:cNvSpPr/>
          <p:nvPr/>
        </p:nvSpPr>
        <p:spPr>
          <a:xfrm>
            <a:off x="6413500" y="3740639"/>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07. 生产周期（Production Cycle）</a:t>
            </a:r>
          </a:p>
        </p:txBody>
      </p:sp>
      <p:sp>
        <p:nvSpPr>
          <p:cNvPr id="25" name="AutoShape 25"/>
          <p:cNvSpPr/>
          <p:nvPr/>
        </p:nvSpPr>
        <p:spPr>
          <a:xfrm>
            <a:off x="6413500" y="4096239"/>
            <a:ext cx="5080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定义：生产订单从开工到完工入库所需的时间，衡量生产效率。</a:t>
            </a:r>
            <a:b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作用：作为交期计算与产能规划的关键参数，支撑交付承诺与生产排程。</a:t>
            </a:r>
          </a:p>
        </p:txBody>
      </p:sp>
      <p:sp>
        <p:nvSpPr>
          <p:cNvPr id="26" name="AutoShape 26"/>
          <p:cNvSpPr/>
          <p:nvPr/>
        </p:nvSpPr>
        <p:spPr>
          <a:xfrm>
            <a:off x="6223000" y="4858239"/>
            <a:ext cx="5461000" cy="1168400"/>
          </a:xfrm>
          <a:prstGeom prst="roundRect">
            <a:avLst>
              <a:gd name="adj" fmla="val 0"/>
            </a:avLst>
          </a:prstGeom>
          <a:solidFill>
            <a:srgbClr val="1E40AF">
              <a:alpha val="6000"/>
            </a:srgbClr>
          </a:solidFill>
          <a:ln w="12700" cap="flat" cmpd="sng">
            <a:solidFill>
              <a:srgbClr val="1E40AF">
                <a:alpha val="20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7" name="AutoShape 27"/>
          <p:cNvSpPr/>
          <p:nvPr/>
        </p:nvSpPr>
        <p:spPr>
          <a:xfrm>
            <a:off x="6413500" y="4985239"/>
            <a:ext cx="5080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 核心价值总结：</a:t>
            </a: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这些核心概念共同构建了销售订单全链路跟踪的知识底座，通过标准化配置、自动化计算与端到端监控，实现了从订单录入到交付的无缝衔接，保障企业在复杂供应链环境下的稳健履约。</a:t>
            </a:r>
          </a:p>
        </p:txBody>
      </p:sp>
      <p:sp>
        <p:nvSpPr>
          <p:cNvPr id="28" name="AutoShape 28"/>
          <p:cNvSpPr/>
          <p:nvPr/>
        </p:nvSpPr>
        <p:spPr>
          <a:xfrm>
            <a:off x="386862" y="230685"/>
            <a:ext cx="11297138"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微软雅黑" panose="020B0503020204020204" charset="-122"/>
                <a:ea typeface="微软雅黑" panose="020B0503020204020204" charset="-122"/>
                <a:cs typeface="Biennale Bold"/>
                <a:sym typeface="Biennale Bold"/>
              </a:rPr>
              <a:t>核心概念汇总表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625" y="291465"/>
            <a:ext cx="11337925" cy="419100"/>
          </a:xfrm>
        </p:spPr>
        <p:txBody>
          <a:bodyPr/>
          <a:lstStyle/>
          <a:p>
            <a:r>
              <a:rPr lang="zh-CN" altLang="zh-CN" b="1" cap="all" dirty="0">
                <a:latin typeface="微软雅黑" panose="020B0503020204020204" charset="-122"/>
                <a:ea typeface="微软雅黑" panose="020B0503020204020204" charset="-122"/>
                <a:cs typeface="微软雅黑" panose="020B0503020204020204" charset="-122"/>
              </a:rPr>
              <a:t>附录 原始需求清单</a:t>
            </a:r>
            <a:endParaRPr lang="zh-CN" altLang="en-US" b="1" cap="all" dirty="0">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a:graphicFrameLocks noGrp="1"/>
          </p:cNvGraphicFramePr>
          <p:nvPr>
            <p:custDataLst>
              <p:tags r:id="rId1"/>
            </p:custDataLst>
          </p:nvPr>
        </p:nvGraphicFramePr>
        <p:xfrm>
          <a:off x="426720" y="859155"/>
          <a:ext cx="11183620" cy="5421705"/>
        </p:xfrm>
        <a:graphic>
          <a:graphicData uri="http://schemas.openxmlformats.org/drawingml/2006/table">
            <a:tbl>
              <a:tblPr/>
              <a:tblGrid>
                <a:gridCol w="1239520">
                  <a:extLst>
                    <a:ext uri="{9D8B030D-6E8A-4147-A177-3AD203B41FA5}">
                      <a16:colId xmlns:a16="http://schemas.microsoft.com/office/drawing/2014/main" val="20000"/>
                    </a:ext>
                  </a:extLst>
                </a:gridCol>
                <a:gridCol w="6965315">
                  <a:extLst>
                    <a:ext uri="{9D8B030D-6E8A-4147-A177-3AD203B41FA5}">
                      <a16:colId xmlns:a16="http://schemas.microsoft.com/office/drawing/2014/main" val="20001"/>
                    </a:ext>
                  </a:extLst>
                </a:gridCol>
                <a:gridCol w="1090930">
                  <a:extLst>
                    <a:ext uri="{9D8B030D-6E8A-4147-A177-3AD203B41FA5}">
                      <a16:colId xmlns:a16="http://schemas.microsoft.com/office/drawing/2014/main" val="20002"/>
                    </a:ext>
                  </a:extLst>
                </a:gridCol>
                <a:gridCol w="1887855">
                  <a:extLst>
                    <a:ext uri="{9D8B030D-6E8A-4147-A177-3AD203B41FA5}">
                      <a16:colId xmlns:a16="http://schemas.microsoft.com/office/drawing/2014/main" val="20003"/>
                    </a:ext>
                  </a:extLst>
                </a:gridCol>
              </a:tblGrid>
              <a:tr h="405840">
                <a:tc>
                  <a:txBody>
                    <a:bodyPr/>
                    <a:lstStyle/>
                    <a:p>
                      <a:pPr marL="0" marR="0" algn="ctr">
                        <a:buNone/>
                      </a:pPr>
                      <a:r>
                        <a:rPr lang="zh-CN" sz="1200" b="1" cap="all" dirty="0">
                          <a:solidFill>
                            <a:schemeClr val="bg1"/>
                          </a:solidFill>
                          <a:effectLst/>
                          <a:latin typeface="微软雅黑" panose="020B0503020204020204" charset="-122"/>
                          <a:ea typeface="微软雅黑" panose="020B0503020204020204" charset="-122"/>
                        </a:rPr>
                        <a:t>编号</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200" b="1" cap="all" dirty="0">
                          <a:solidFill>
                            <a:schemeClr val="bg1"/>
                          </a:solidFill>
                          <a:effectLst/>
                          <a:latin typeface="微软雅黑" panose="020B0503020204020204" charset="-122"/>
                          <a:ea typeface="微软雅黑" panose="020B0503020204020204" charset="-122"/>
                        </a:rPr>
                        <a:t>需求简述</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200" b="1" cap="all" dirty="0">
                          <a:solidFill>
                            <a:schemeClr val="bg1"/>
                          </a:solidFill>
                          <a:effectLst/>
                          <a:latin typeface="微软雅黑" panose="020B0503020204020204" charset="-122"/>
                          <a:ea typeface="微软雅黑" panose="020B0503020204020204" charset="-122"/>
                        </a:rPr>
                        <a:t>优先级</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200" b="1" cap="all" dirty="0">
                          <a:solidFill>
                            <a:schemeClr val="bg1"/>
                          </a:solidFill>
                          <a:effectLst/>
                          <a:latin typeface="微软雅黑" panose="020B0503020204020204" charset="-122"/>
                          <a:ea typeface="微软雅黑" panose="020B0503020204020204" charset="-122"/>
                        </a:rPr>
                        <a:t>来源部门</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extLst>
                  <a:ext uri="{0D108BD9-81ED-4DB2-BD59-A6C34878D82A}">
                    <a16:rowId xmlns:a16="http://schemas.microsoft.com/office/drawing/2014/main" val="10000"/>
                  </a:ext>
                </a:extLst>
              </a:tr>
              <a:tr h="1085215">
                <a:tc>
                  <a:txBody>
                    <a:bodyPr/>
                    <a:lstStyle/>
                    <a:p>
                      <a:pPr algn="ctr">
                        <a:buSzTx/>
                      </a:pPr>
                      <a:r>
                        <a:rPr lang="en-US" sz="1050" b="0" i="0">
                          <a:effectLst/>
                          <a:latin typeface="微软雅黑" panose="020B0503020204020204" charset="-122"/>
                          <a:ea typeface="微软雅黑" panose="020B0503020204020204" charset="-122"/>
                        </a:rPr>
                        <a:t>A0042</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痛点：当前成品及半成品在生产订单入库后，普遍依赖人工调拨入仓并手动转卖，且存在两种模式：一是集中转卖（（如线路板车间、纸品车间的半成品及各车间成品进仓），二是按需转卖（如泰美、电工半成品），导致无法精准对应计划源头需求数量生成交货单，人工操作繁琐、效率低。</a:t>
                      </a:r>
                      <a:br>
                        <a:rPr lang="zh-CN" altLang="en-US" sz="1200" b="0" i="0">
                          <a:effectLst/>
                          <a:latin typeface="微软雅黑" panose="020B0503020204020204" charset="-122"/>
                          <a:ea typeface="微软雅黑" panose="020B0503020204020204" charset="-122"/>
                          <a:cs typeface="微软雅黑" panose="020B0503020204020204" charset="-122"/>
                        </a:rPr>
                      </a:br>
                      <a:r>
                        <a:rPr lang="zh-CN" altLang="en-US" sz="1200" b="0" i="0">
                          <a:effectLst/>
                          <a:latin typeface="微软雅黑" panose="020B0503020204020204" charset="-122"/>
                          <a:ea typeface="微软雅黑" panose="020B0503020204020204" charset="-122"/>
                          <a:cs typeface="微软雅黑" panose="020B0503020204020204" charset="-122"/>
                        </a:rPr>
                        <a:t>需求：入库后无需人工干预即可按计划源头需求精准生成交货单并完成调拨与转卖，提升公司间转卖业务的效率。</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中</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pPr>
                      <a:r>
                        <a:rPr lang="zh-CN" altLang="en-US" sz="1050" b="0" i="0">
                          <a:solidFill>
                            <a:srgbClr val="000000"/>
                          </a:solidFill>
                          <a:latin typeface="微软雅黑" panose="020B0503020204020204" charset="-122"/>
                          <a:ea typeface="微软雅黑" panose="020B0503020204020204" charset="-122"/>
                        </a:rPr>
                        <a:t>高明仓库</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14425">
                <a:tc>
                  <a:txBody>
                    <a:bodyPr/>
                    <a:lstStyle/>
                    <a:p>
                      <a:pPr algn="ctr">
                        <a:buSzTx/>
                      </a:pPr>
                      <a:r>
                        <a:rPr lang="en-US" sz="1050" b="0" i="0">
                          <a:effectLst/>
                          <a:latin typeface="微软雅黑" panose="020B0503020204020204" charset="-122"/>
                          <a:ea typeface="微软雅黑" panose="020B0503020204020204" charset="-122"/>
                        </a:rPr>
                        <a:t>A0067</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痛点：立体库智能仓管理系统生产入库单推送SAP后仅返写343调拨凭证，转卖仍需手动操作转卖。</a:t>
                      </a:r>
                      <a:br>
                        <a:rPr lang="zh-CN" altLang="en-US" sz="1200" b="0" i="0">
                          <a:effectLst/>
                          <a:latin typeface="微软雅黑" panose="020B0503020204020204" charset="-122"/>
                          <a:ea typeface="微软雅黑" panose="020B0503020204020204" charset="-122"/>
                          <a:cs typeface="微软雅黑" panose="020B0503020204020204" charset="-122"/>
                        </a:rPr>
                      </a:br>
                      <a:br>
                        <a:rPr lang="zh-CN" altLang="en-US" sz="1200" b="0" i="0">
                          <a:effectLst/>
                          <a:latin typeface="微软雅黑" panose="020B0503020204020204" charset="-122"/>
                          <a:ea typeface="微软雅黑" panose="020B0503020204020204" charset="-122"/>
                          <a:cs typeface="微软雅黑" panose="020B0503020204020204" charset="-122"/>
                        </a:rPr>
                      </a:br>
                      <a:r>
                        <a:rPr lang="zh-CN" altLang="en-US" sz="1200" b="0" i="0">
                          <a:effectLst/>
                          <a:latin typeface="微软雅黑" panose="020B0503020204020204" charset="-122"/>
                          <a:ea typeface="微软雅黑" panose="020B0503020204020204" charset="-122"/>
                          <a:cs typeface="微软雅黑" panose="020B0503020204020204" charset="-122"/>
                        </a:rPr>
                        <a:t>需求：支持优化立体库智能仓管理系统进仓带有转卖的生产入库单，通过返写成功推送到SAP系统后，自动转卖处理，同时产生2个凭证，一个是343，一个是101，无需人工干预。（前提是要转卖订单要绑定生产入库凭证。）</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高</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pPr>
                      <a:r>
                        <a:rPr lang="zh-CN" altLang="en-US" sz="1050">
                          <a:solidFill>
                            <a:srgbClr val="000000"/>
                          </a:solidFill>
                          <a:latin typeface="微软雅黑" panose="020B0503020204020204" charset="-122"/>
                          <a:ea typeface="微软雅黑" panose="020B0503020204020204" charset="-122"/>
                          <a:sym typeface="+mn-ea"/>
                        </a:rPr>
                        <a:t>高明仓库</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61035">
                <a:tc>
                  <a:txBody>
                    <a:bodyPr/>
                    <a:lstStyle/>
                    <a:p>
                      <a:pPr algn="ctr">
                        <a:buSzTx/>
                      </a:pPr>
                      <a:r>
                        <a:rPr lang="en-US" sz="1050" b="0" i="0">
                          <a:effectLst/>
                          <a:latin typeface="微软雅黑" panose="020B0503020204020204" charset="-122"/>
                          <a:ea typeface="微软雅黑" panose="020B0503020204020204" charset="-122"/>
                        </a:rPr>
                        <a:t>A0085</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1.建议简化转卖流程，产品转卖价和视图应输入产品编码、数量及库位后自动显示，有些产品没有转卖价和视图得耗费时间仓库和财务审核才能重新转卖，转卖后应自动放库，有时库存会跑到质检中，不定时放库耗费时间长，影响开单效率。</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高</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pPr>
                      <a:r>
                        <a:rPr lang="zh-CN" altLang="en-US" sz="1050" b="0" i="0">
                          <a:solidFill>
                            <a:srgbClr val="000000"/>
                          </a:solidFill>
                          <a:latin typeface="微软雅黑" panose="020B0503020204020204" charset="-122"/>
                          <a:ea typeface="微软雅黑" panose="020B0503020204020204" charset="-122"/>
                        </a:rPr>
                        <a:t>佛照（海南）科技有限公司</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4025">
                <a:tc>
                  <a:txBody>
                    <a:bodyPr/>
                    <a:lstStyle/>
                    <a:p>
                      <a:pPr algn="ctr">
                        <a:buSzTx/>
                      </a:pPr>
                      <a:r>
                        <a:rPr lang="en-US" sz="1050" b="0" i="0">
                          <a:effectLst/>
                          <a:latin typeface="微软雅黑" panose="020B0503020204020204" charset="-122"/>
                          <a:ea typeface="微软雅黑" panose="020B0503020204020204" charset="-122"/>
                        </a:rPr>
                        <a:t>A0090</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产品物料已维护有出厂价格，但在圈货，建单的时候常出现报错“未被正确维护客户主数据价格”，优化物料可能有价格但读不到的问题。</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高</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buNone/>
                      </a:pPr>
                      <a:r>
                        <a:rPr lang="zh-CN" altLang="en-US" sz="1050">
                          <a:solidFill>
                            <a:srgbClr val="000000"/>
                          </a:solidFill>
                          <a:latin typeface="微软雅黑" panose="020B0503020204020204" charset="-122"/>
                          <a:ea typeface="微软雅黑" panose="020B0503020204020204" charset="-122"/>
                          <a:sym typeface="+mn-ea"/>
                        </a:rPr>
                        <a:t>佛照（海南）科技有限公司</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28345">
                <a:tc>
                  <a:txBody>
                    <a:bodyPr/>
                    <a:lstStyle/>
                    <a:p>
                      <a:pPr algn="ctr">
                        <a:buSzTx/>
                      </a:pPr>
                      <a:r>
                        <a:rPr lang="en-US" sz="1050" b="0" i="0">
                          <a:effectLst/>
                          <a:latin typeface="微软雅黑" panose="020B0503020204020204" charset="-122"/>
                          <a:ea typeface="微软雅黑" panose="020B0503020204020204" charset="-122"/>
                        </a:rPr>
                        <a:t>A0145</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店铺与库存工厂间调货、出库、退货有大量公司间转卖操作；</a:t>
                      </a:r>
                      <a:br>
                        <a:rPr lang="zh-CN" altLang="en-US" sz="1200" b="0" i="0">
                          <a:effectLst/>
                          <a:latin typeface="微软雅黑" panose="020B0503020204020204" charset="-122"/>
                          <a:ea typeface="微软雅黑" panose="020B0503020204020204" charset="-122"/>
                          <a:cs typeface="微软雅黑" panose="020B0503020204020204" charset="-122"/>
                        </a:rPr>
                      </a:br>
                      <a:r>
                        <a:rPr lang="zh-CN" altLang="en-US" sz="1200" b="0" i="0">
                          <a:effectLst/>
                          <a:latin typeface="微软雅黑" panose="020B0503020204020204" charset="-122"/>
                          <a:ea typeface="微软雅黑" panose="020B0503020204020204" charset="-122"/>
                          <a:cs typeface="微软雅黑" panose="020B0503020204020204" charset="-122"/>
                        </a:rPr>
                        <a:t>ZMRBI002程序创建订单时，无转卖信息的物料不创建也不提醒，失败行项有提示；</a:t>
                      </a:r>
                      <a:br>
                        <a:rPr lang="zh-CN" altLang="en-US" sz="1200" b="0" i="0">
                          <a:effectLst/>
                          <a:latin typeface="微软雅黑" panose="020B0503020204020204" charset="-122"/>
                          <a:ea typeface="微软雅黑" panose="020B0503020204020204" charset="-122"/>
                          <a:cs typeface="微软雅黑" panose="020B0503020204020204" charset="-122"/>
                        </a:rPr>
                      </a:br>
                      <a:r>
                        <a:rPr lang="zh-CN" altLang="en-US" sz="1200" b="0" i="0">
                          <a:effectLst/>
                          <a:latin typeface="微软雅黑" panose="020B0503020204020204" charset="-122"/>
                          <a:ea typeface="微软雅黑" panose="020B0503020204020204" charset="-122"/>
                          <a:cs typeface="微软雅黑" panose="020B0503020204020204" charset="-122"/>
                        </a:rPr>
                        <a:t>创建订单后库存类型全改为非限制使用。</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高</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pPr>
                      <a:r>
                        <a:rPr lang="zh-CN" altLang="en-US" sz="1050" b="0" i="0">
                          <a:solidFill>
                            <a:srgbClr val="000000"/>
                          </a:solidFill>
                          <a:latin typeface="微软雅黑" panose="020B0503020204020204" charset="-122"/>
                          <a:ea typeface="微软雅黑" panose="020B0503020204020204" charset="-122"/>
                        </a:rPr>
                        <a:t>电商事业部</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80695">
                <a:tc>
                  <a:txBody>
                    <a:bodyPr/>
                    <a:lstStyle/>
                    <a:p>
                      <a:pPr algn="ctr">
                        <a:buSzTx/>
                      </a:pPr>
                      <a:r>
                        <a:rPr lang="en-US" sz="1050" b="0" i="0">
                          <a:effectLst/>
                          <a:latin typeface="微软雅黑" panose="020B0503020204020204" charset="-122"/>
                          <a:ea typeface="微软雅黑" panose="020B0503020204020204" charset="-122"/>
                        </a:rPr>
                        <a:t>A0488</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公司间转卖模式流程繁琐，需要多部门多岗位人员配合完成操作‘；切换跨公司销售后可简化一定量的流程和对接人员</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高</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pPr>
                      <a:r>
                        <a:rPr lang="zh-CN" altLang="en-US" sz="1050" b="0" i="0">
                          <a:solidFill>
                            <a:srgbClr val="000000"/>
                          </a:solidFill>
                          <a:latin typeface="微软雅黑" panose="020B0503020204020204" charset="-122"/>
                          <a:ea typeface="微软雅黑" panose="020B0503020204020204" charset="-122"/>
                        </a:rPr>
                        <a:t>数智化部</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92125">
                <a:tc>
                  <a:txBody>
                    <a:bodyPr/>
                    <a:lstStyle/>
                    <a:p>
                      <a:pPr algn="ctr">
                        <a:buSzTx/>
                      </a:pPr>
                      <a:r>
                        <a:rPr lang="en-US" sz="1050" b="0" i="0">
                          <a:effectLst/>
                          <a:latin typeface="微软雅黑" panose="020B0503020204020204" charset="-122"/>
                          <a:ea typeface="微软雅黑" panose="020B0503020204020204" charset="-122"/>
                        </a:rPr>
                        <a:t>A0552</a:t>
                      </a:r>
                    </a:p>
                  </a:txBody>
                  <a:tcPr marL="5080" marR="508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SzTx/>
                      </a:pPr>
                      <a:r>
                        <a:rPr lang="zh-CN" altLang="en-US" sz="1200" b="0" i="0">
                          <a:effectLst/>
                          <a:latin typeface="微软雅黑" panose="020B0503020204020204" charset="-122"/>
                          <a:ea typeface="微软雅黑" panose="020B0503020204020204" charset="-122"/>
                          <a:cs typeface="微软雅黑" panose="020B0503020204020204" charset="-122"/>
                        </a:rPr>
                        <a:t>公司内部转卖和销售为2个不同，但SAP一旦维护完就没有办法更改，还在不同分子公司间</a:t>
                      </a:r>
                    </a:p>
                  </a:txBody>
                  <a:tcPr marL="5080" marR="5080" marT="5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a:effectLst/>
                          <a:latin typeface="微软雅黑" panose="020B0503020204020204" charset="-122"/>
                          <a:ea typeface="微软雅黑" panose="020B0503020204020204" charset="-122"/>
                        </a:rPr>
                        <a:t>高</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SzTx/>
                        <a:buNone/>
                      </a:pPr>
                      <a:r>
                        <a:rPr lang="zh-CN" altLang="en-US" sz="1050">
                          <a:solidFill>
                            <a:srgbClr val="000000"/>
                          </a:solidFill>
                          <a:latin typeface="微软雅黑" panose="020B0503020204020204" charset="-122"/>
                          <a:ea typeface="微软雅黑" panose="020B0503020204020204" charset="-122"/>
                        </a:rPr>
                        <a:t>智达采购部</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5422415"/>
            <a:ext cx="3383281" cy="492443"/>
          </a:xfrm>
          <a:prstGeom prst="rect">
            <a:avLst/>
          </a:prstGeom>
          <a:noFill/>
          <a:ln w="12700" cap="flat" cmpd="sng">
            <a:noFill/>
            <a:prstDash val="solid"/>
            <a:round/>
          </a:ln>
        </p:spPr>
        <p:txBody>
          <a:bodyPr vert="horz" wrap="square" lIns="0" tIns="0" rIns="0" bIns="0" rtlCol="0" anchor="b" anchorCtr="0"/>
          <a:lstStyle/>
          <a:p>
            <a:pPr marL="0" indent="0" algn="l">
              <a:lnSpc>
                <a:spcPct val="100000"/>
              </a:lnSpc>
              <a:defRPr/>
            </a:pPr>
            <a:r>
              <a:rPr lang="en-US" sz="800" b="0" i="0" u="none" strike="noStrike">
                <a:solidFill>
                  <a:srgbClr val="00005C"/>
                </a:solidFill>
                <a:latin typeface="Biennale"/>
                <a:ea typeface="Biennale"/>
                <a:cs typeface="Biennale"/>
                <a:sym typeface="Biennale"/>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1100"/>
          </a:p>
        </p:txBody>
      </p:sp>
      <p:sp>
        <p:nvSpPr>
          <p:cNvPr id="3" name="AutoShape 3"/>
          <p:cNvSpPr/>
          <p:nvPr/>
        </p:nvSpPr>
        <p:spPr>
          <a:xfrm>
            <a:off x="5884404" y="6391780"/>
            <a:ext cx="423193"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 Atos</a:t>
            </a:r>
            <a:endParaRPr lang="en-US" sz="1100"/>
          </a:p>
        </p:txBody>
      </p:sp>
      <p:sp>
        <p:nvSpPr>
          <p:cNvPr id="4" name="Freeform 4"/>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5" name="AutoShape 5"/>
          <p:cNvSpPr/>
          <p:nvPr/>
        </p:nvSpPr>
        <p:spPr>
          <a:xfrm>
            <a:off x="457200" y="2463648"/>
            <a:ext cx="820738" cy="492443"/>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3200" b="1" i="0" u="none" strike="noStrike" dirty="0" err="1">
                <a:solidFill>
                  <a:srgbClr val="0073E6"/>
                </a:solidFill>
                <a:latin typeface="Biennale Bold"/>
                <a:ea typeface="Biennale Bold"/>
                <a:cs typeface="Biennale Bold"/>
                <a:sym typeface="Biennale Bold"/>
              </a:rPr>
              <a:t>谢谢</a:t>
            </a:r>
            <a:r>
              <a:rPr lang="zh-CN" altLang="en-US" sz="3200" b="1" i="0" u="none" strike="noStrike" dirty="0">
                <a:solidFill>
                  <a:srgbClr val="0073E6"/>
                </a:solidFill>
                <a:latin typeface="Biennale Bold"/>
                <a:ea typeface="Biennale Bold"/>
                <a:cs typeface="Biennale Bold"/>
                <a:sym typeface="Biennale Bold"/>
              </a:rPr>
              <a:t>！</a:t>
            </a:r>
            <a:endParaRPr lang="en-US" sz="1100" dirty="0"/>
          </a:p>
        </p:txBody>
      </p:sp>
      <p:sp>
        <p:nvSpPr>
          <p:cNvPr id="6" name="AutoShape 6"/>
          <p:cNvSpPr/>
          <p:nvPr/>
        </p:nvSpPr>
        <p:spPr>
          <a:xfrm>
            <a:off x="428625" y="6316314"/>
            <a:ext cx="2560320" cy="92333"/>
          </a:xfrm>
          <a:prstGeom prst="rect">
            <a:avLst/>
          </a:prstGeom>
          <a:noFill/>
          <a:ln w="12700" cap="flat" cmpd="sng">
            <a:noFill/>
            <a:prstDash val="solid"/>
            <a:round/>
          </a:ln>
        </p:spPr>
        <p:txBody>
          <a:bodyPr vert="horz" wrap="none" lIns="0" tIns="0" rIns="0" bIns="0" rtlCol="0" anchor="ctr" anchorCtr="0"/>
          <a:lstStyle/>
          <a:p>
            <a:pPr algn="l">
              <a:defRPr/>
            </a:pP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0,&quot;left&quot;:40,&quot;top&quot;:190,&quot;width&quot;:880}"/>
</p:tagLst>
</file>

<file path=ppt/tags/tag13.xml><?xml version="1.0" encoding="utf-8"?>
<p:tagLst xmlns:a="http://schemas.openxmlformats.org/drawingml/2006/main" xmlns:r="http://schemas.openxmlformats.org/officeDocument/2006/relationships" xmlns:p="http://schemas.openxmlformats.org/presentationml/2006/main">
  <p:tag name="TABLE_ENDDRAG_ORIGIN_RECT" val="698*255"/>
  <p:tag name="TABLE_ENDDRAG_RECT" val="50*90*698*255"/>
</p:tagLst>
</file>

<file path=ppt/tags/tag14.xml><?xml version="1.0" encoding="utf-8"?>
<p:tagLst xmlns:a="http://schemas.openxmlformats.org/drawingml/2006/main" xmlns:r="http://schemas.openxmlformats.org/officeDocument/2006/relationships" xmlns:p="http://schemas.openxmlformats.org/presentationml/2006/main">
  <p:tag name="TABLE_ENDDRAG_ORIGIN_RECT" val="880*447"/>
  <p:tag name="TABLE_ENDDRAG_RECT" val="33*67*880*447"/>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hite backgroun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White backgroun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3707</Words>
  <Application>Microsoft Office PowerPoint</Application>
  <PresentationFormat>宽屏</PresentationFormat>
  <Paragraphs>467</Paragraphs>
  <Slides>25</Slides>
  <Notes>25</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25</vt:i4>
      </vt:variant>
    </vt:vector>
  </HeadingPairs>
  <TitlesOfParts>
    <vt:vector size="42" baseType="lpstr">
      <vt:lpstr>Biennale</vt:lpstr>
      <vt:lpstr>Biennale Bold</vt:lpstr>
      <vt:lpstr>Biennale Medium</vt:lpstr>
      <vt:lpstr>Montserrat Bold</vt:lpstr>
      <vt:lpstr>Noto Sans SC</vt:lpstr>
      <vt:lpstr>Noto Sans SC Bold</vt:lpstr>
      <vt:lpstr>等线</vt:lpstr>
      <vt:lpstr>微软雅黑</vt:lpstr>
      <vt:lpstr>Aptos</vt:lpstr>
      <vt:lpstr>Arial</vt:lpstr>
      <vt:lpstr>Montserrat SemiBold</vt:lpstr>
      <vt:lpstr>Verdana</vt:lpstr>
      <vt:lpstr>Wingdings</vt:lpstr>
      <vt:lpstr>Office 主题​​</vt:lpstr>
      <vt:lpstr>自定义主题</vt:lpstr>
      <vt:lpstr>White background</vt:lpstr>
      <vt:lpstr>1_White background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附录 原始需求清单</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2102125624@qq.com</cp:lastModifiedBy>
  <cp:revision>3</cp:revision>
  <dcterms:created xsi:type="dcterms:W3CDTF">2026-08-27T00:15:41Z</dcterms:created>
  <dcterms:modified xsi:type="dcterms:W3CDTF">2026-08-30T15:23:04Z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{"Label":"1","ContentProducer":"001191110102MACQD9K64010000","ProduceID":"7674122427638828250","ReservedCode1":"","ContentPropagator":"","PropagateID":"","ReservedCode2":""}</vt:lpwstr>
  </property>
  <property fmtid="{D5CDD505-2E9C-101B-9397-08002B2CF9AE}" pid="3" name="KSOProductBuildVer">
    <vt:lpwstr>2052-0.0.0.0</vt:lpwstr>
  </property>
  <property fmtid="{D5CDD505-2E9C-101B-9397-08002B2CF9AE}" pid="4" name="ICV">
    <vt:lpwstr>3D5B4BB65ADC4561805E6E6304BC2F22_12</vt:lpwstr>
  </property>
</Properties>
</file>