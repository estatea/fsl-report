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</p:sldMasterIdLst>
  <p:notesMasterIdLst>
    <p:notesMasterId r:id="rId22"/>
  </p:notesMasterIdLst>
  <p:sldIdLst>
    <p:sldId id="402" r:id="rId6"/>
    <p:sldId id="256" r:id="rId7"/>
    <p:sldId id="283" r:id="rId8"/>
    <p:sldId id="2221" r:id="rId9"/>
    <p:sldId id="2195" r:id="rId10"/>
    <p:sldId id="2212" r:id="rId11"/>
    <p:sldId id="2213" r:id="rId12"/>
    <p:sldId id="403" r:id="rId13"/>
    <p:sldId id="2196" r:id="rId14"/>
    <p:sldId id="2215" r:id="rId15"/>
    <p:sldId id="2217" r:id="rId16"/>
    <p:sldId id="2192" r:id="rId17"/>
    <p:sldId id="2218" r:id="rId18"/>
    <p:sldId id="2219" r:id="rId19"/>
    <p:sldId id="2211" r:id="rId20"/>
    <p:sldId id="222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73E6"/>
    <a:srgbClr val="0066CC"/>
    <a:srgbClr val="EC6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1"/>
    <p:restoredTop sz="95090" autoAdjust="0"/>
  </p:normalViewPr>
  <p:slideViewPr>
    <p:cSldViewPr snapToGrid="0">
      <p:cViewPr varScale="1">
        <p:scale>
          <a:sx n="74" d="100"/>
          <a:sy n="74" d="100"/>
        </p:scale>
        <p:origin x="3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D242-3ED6-ED4B-A493-BFAB0D2DA00B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415C3-E7E8-ED47-896B-87929403F8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历史数据：</a:t>
            </a:r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设定平行评估激活基准日（如2027年1月1日上线后首个完整月）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基准日前的历史数据不回填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各部门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抵触：统一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业务变革：</a:t>
            </a:r>
            <a:endParaRPr kumimoji="1" lang="en-US" altLang="zh-CN" dirty="0"/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判断1：这不是SAP实施项目，是一次利益格局重塑。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佛照内部加价制造的"虚拟利润池"按保守估算约为集团真实扣非净利润的2-3倍量级。一旦启动消除，任何BU的账面利润变化都不是小数点之争，而是生死线的争夺。技术方案再完美，如果集团高层不愿意在年终奖分配上做出强制性决定，整个方案将在执行层被稀释为"系统里跑三套数字，考核还是按老逻辑"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判断2：标准成本方向是对的，但前提条件被严重低估。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标准成本+平行评估的组合是S/4HANA上的正确架构，SAP技术层面完全支持。但佛照有两个硬约束：LED芯片等核心原材料年波动可达20-40%，若标准成本年度冻结，Price Variance可能吃掉全年利润；车灯（燎旺）高度客制化，强套标准成本会产生大量无意义差异。这两个问题不解决，标准成本体系上线即失信。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判断3：0.95%净利率是变革的最佳窗口，也是最大风险来源。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薄利倒逼透明化是有利时机，管理层被迫正视成本真相。但同时，容错空间几乎为零——如果标准成本制定错误导致BU绩效失真，在如此薄利状态下任何决策偏差都可能直接亏损。数据准备和标准成本核定的精度要求，比财务健康期高一个数量级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判断4：路径C（双轨KPI权重逐步迁移）是当前唯一可行路径，但"执行死结"在Year 2节点。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路径A（完全集团成本考核）理想但不可落地；路径B（保留法律实体利润+集团视角仅供参考）换汤不换药。路径C可行，但历史上类似改革最常见的失败模式是：Year 1顺利，Year 2权重调整时受损BU重启抵制，高层松动，改革被锁定在"Year 1状态"永远不推进。这个节点必须提前设计防御机制。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/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8" name="AddCustomFooter#1"/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/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/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/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5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/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 panose="020B0604030504040204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5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ts val="61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6632A639-65F6-44E7-9705-34D092A42112}" type="slidenum">
              <a:rPr lang="en-US" sz="1335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t>‹#›</a:t>
            </a:fld>
            <a:endParaRPr lang="en-US" sz="1335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/>
          <p:cNvSpPr txBox="1"/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anose="020B0604030504040204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AddCustomFooter#1"/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EVIDEN</a:t>
            </a: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7" name="AddCustomFooter#1"/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23068" y="1700000"/>
            <a:ext cx="5486400" cy="2200000"/>
          </a:xfrm>
        </p:spPr>
        <p:txBody>
          <a:bodyPr/>
          <a:lstStyle/>
          <a:p>
            <a:r>
              <a:rPr lang="zh-CN" altLang="en-US" sz="4400" dirty="0"/>
              <a:t>客户销售项目</a:t>
            </a:r>
          </a:p>
          <a:p>
            <a:r>
              <a:rPr sz="4400" dirty="0" err="1"/>
              <a:t>成本核算优化</a:t>
            </a:r>
            <a:endParaRPr sz="4400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23068" y="4200000"/>
            <a:ext cx="5971794" cy="1500000"/>
          </a:xfrm>
        </p:spPr>
        <p:txBody>
          <a:bodyPr/>
          <a:lstStyle/>
          <a:p>
            <a:r>
              <a:rPr lang="zh-CN" altLang="en-US" dirty="0"/>
              <a:t>业务诊断咨询及</a:t>
            </a:r>
            <a:br>
              <a:rPr dirty="0"/>
            </a:br>
            <a:r>
              <a:rPr lang="en-US" altLang="zh-CN" dirty="0"/>
              <a:t>SAP</a:t>
            </a:r>
            <a:r>
              <a:rPr lang="zh-CN" altLang="en-US" dirty="0"/>
              <a:t>系统升级实施项目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423068" y="6200000"/>
            <a:ext cx="3657600" cy="640080"/>
          </a:xfrm>
        </p:spPr>
        <p:txBody>
          <a:bodyPr/>
          <a:lstStyle/>
          <a:p>
            <a:r>
              <a:rPr lang="en-US" altLang="zh-CN" dirty="0"/>
              <a:t>2026.08</a:t>
            </a:r>
            <a:endParaRPr lang="zh-CN" altLang="en-US" dirty="0"/>
          </a:p>
        </p:txBody>
      </p:sp>
      <p:pic>
        <p:nvPicPr>
          <p:cNvPr id="10" name="Picture Placeholder 14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/>
          <a:srcRect l="107" r="107"/>
          <a:stretch>
            <a:fillRect/>
          </a:stretch>
        </p:blipFill>
        <p:spPr bwMode="black"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2954745" y="1446367"/>
            <a:ext cx="310983" cy="369332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l"/>
            <a:r>
              <a:rPr lang="zh-CN" altLang="en-US" dirty="0">
                <a:sym typeface="+mn-ea"/>
              </a:rPr>
              <a:t>专项方案概述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2954745" y="2713569"/>
            <a:ext cx="310983" cy="369332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>
                <a:solidFill/>
              </a:rPr>
              <a:t>方案详解及系统实现</a:t>
            </a:r>
            <a:endParaRPr lang="en-US" altLang="zh-CN" dirty="0">
              <a:solidFill/>
            </a:endParaRPr>
          </a:p>
          <a:p>
            <a:endParaRPr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310983" cy="369332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>
                <a:solidFill/>
              </a:rPr>
              <a:t>配套行动计划</a:t>
            </a:r>
          </a:p>
          <a:p>
            <a:endParaRPr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310983" cy="369332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algn="l"/>
            <a:r>
              <a:rPr lang="zh-CN" altLang="en-US" dirty="0">
                <a:sym typeface="+mn-ea"/>
              </a:rPr>
              <a:t>附录：相关文档及原始数据</a:t>
            </a:r>
            <a:endParaRPr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en-US" b="1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0098" y="2308010"/>
            <a:ext cx="7094047" cy="1929683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专项方案概述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3E6"/>
                </a:solidFill>
                <a:latin typeface="Biennale Bold"/>
                <a:sym typeface="+mn-ea"/>
              </a:rPr>
              <a:t>客户项目核算和分析：方案总览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4</a:t>
            </a:fld>
            <a:endParaRPr lang="nl-NL"/>
          </a:p>
        </p:txBody>
      </p:sp>
      <p:sp>
        <p:nvSpPr>
          <p:cNvPr id="7" name="矩形 6"/>
          <p:cNvSpPr/>
          <p:nvPr/>
        </p:nvSpPr>
        <p:spPr>
          <a:xfrm>
            <a:off x="509270" y="1078230"/>
            <a:ext cx="6642735" cy="157162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项目目标：</a:t>
            </a:r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了解客户项目当前核算需求和问题所在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涉及满足审计，核算，分析要求的客户项目方案，引入客户项目订单类型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项目方案：</a:t>
            </a:r>
            <a:endParaRPr kumimoji="1"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从原来单一的以生产订单为载体的客户项目核算，转为以生产订单、内部、研发生产订单的多层次的研发核算</a:t>
            </a:r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9110" y="3020060"/>
            <a:ext cx="2659380" cy="307657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现状：</a:t>
            </a:r>
            <a:endParaRPr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单一的以生产订单为中心核算客户项目成本，无法和销售收入的联动自动分析，无法支持售后服务纳入项目成本分析。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相关报表依赖人工加工为主。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项目收入和成本匹配核算需求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主要差距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、需求</a:t>
            </a:r>
            <a:r>
              <a:rPr lang="zh-CN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支持客户项目到销售到售后的全生命周期的核算和分析需求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相关报表的自动化程度提升。</a:t>
            </a:r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69335" y="3007995"/>
            <a:ext cx="3568065" cy="115697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内部订单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：引入客户项目内部订单来支持项目核算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生产订单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：继续保持当前生产订单模式来核算主要项目成本。</a:t>
            </a:r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69335" y="4328160"/>
            <a:ext cx="3568065" cy="176847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MM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模块、</a:t>
            </a:r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模块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：和项目相关的费用采购要挂接客户项目内部订单。客户项目内部订单要和销售数量订单建立关联关系，生产订单要关联到客户项目内部订单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财务成本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 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规划内部订单、生产订单在客户项目核算的不同作用，结算规则</a:t>
            </a:r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53020" y="2129155"/>
            <a:ext cx="4029075" cy="121793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653020" y="3620135"/>
            <a:ext cx="4029075" cy="113284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000" dirty="0"/>
          </a:p>
        </p:txBody>
      </p:sp>
      <p:sp>
        <p:nvSpPr>
          <p:cNvPr id="13" name="矩形 12"/>
          <p:cNvSpPr/>
          <p:nvPr/>
        </p:nvSpPr>
        <p:spPr>
          <a:xfrm>
            <a:off x="7653020" y="4963795"/>
            <a:ext cx="4029075" cy="113284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提升盈利分析精度与资源效率；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实现数据准确率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kumimoji="1"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提升重点项目覆盖率。</a:t>
            </a:r>
          </a:p>
        </p:txBody>
      </p:sp>
      <p:sp>
        <p:nvSpPr>
          <p:cNvPr id="14" name="矩形 13"/>
          <p:cNvSpPr/>
          <p:nvPr/>
        </p:nvSpPr>
        <p:spPr>
          <a:xfrm>
            <a:off x="7652385" y="1078230"/>
            <a:ext cx="4029710" cy="840105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主责： 集团财务部</a:t>
            </a:r>
            <a:endParaRPr kumimoji="1"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配合： 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集团下属各公司研发部分</a:t>
            </a:r>
            <a:endParaRPr kumimoji="1"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外部：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艾维登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FICO</a:t>
            </a:r>
            <a:r>
              <a:rPr kumimoji="1" lang="zh-CN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MM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</a:t>
            </a:r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专家</a:t>
            </a:r>
            <a:endParaRPr lang="zh-CN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62025" y="900920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责任部门</a:t>
            </a:r>
          </a:p>
        </p:txBody>
      </p:sp>
      <p:sp>
        <p:nvSpPr>
          <p:cNvPr id="16" name="矩形 15"/>
          <p:cNvSpPr/>
          <p:nvPr/>
        </p:nvSpPr>
        <p:spPr>
          <a:xfrm>
            <a:off x="8562025" y="1985697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</a:p>
        </p:txBody>
      </p:sp>
      <p:sp>
        <p:nvSpPr>
          <p:cNvPr id="17" name="矩形 16"/>
          <p:cNvSpPr/>
          <p:nvPr/>
        </p:nvSpPr>
        <p:spPr>
          <a:xfrm>
            <a:off x="8562025" y="3473741"/>
            <a:ext cx="1643023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风险与项目依赖</a:t>
            </a:r>
          </a:p>
        </p:txBody>
      </p:sp>
      <p:sp>
        <p:nvSpPr>
          <p:cNvPr id="18" name="矩形 17"/>
          <p:cNvSpPr/>
          <p:nvPr/>
        </p:nvSpPr>
        <p:spPr>
          <a:xfrm>
            <a:off x="8562025" y="4789456"/>
            <a:ext cx="210022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业务价值和数字化指标</a:t>
            </a:r>
          </a:p>
        </p:txBody>
      </p:sp>
      <p:sp>
        <p:nvSpPr>
          <p:cNvPr id="19" name="矩形 18"/>
          <p:cNvSpPr/>
          <p:nvPr/>
        </p:nvSpPr>
        <p:spPr>
          <a:xfrm>
            <a:off x="3773854" y="4165122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关键任务</a:t>
            </a:r>
          </a:p>
        </p:txBody>
      </p:sp>
      <p:sp>
        <p:nvSpPr>
          <p:cNvPr id="20" name="矩形 19"/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业务变革</a:t>
            </a:r>
          </a:p>
        </p:txBody>
      </p:sp>
      <p:sp>
        <p:nvSpPr>
          <p:cNvPr id="21" name="矩形 20"/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差距</a:t>
            </a:r>
          </a:p>
        </p:txBody>
      </p:sp>
      <p:sp>
        <p:nvSpPr>
          <p:cNvPr id="22" name="矩形 21"/>
          <p:cNvSpPr/>
          <p:nvPr/>
        </p:nvSpPr>
        <p:spPr>
          <a:xfrm>
            <a:off x="690731" y="916009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目标和范围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62642" y="15527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824823" y="266556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964838" y="236363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sz="1000" dirty="0" err="1">
              <a:solidFill>
                <a:schemeClr val="accent3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304901" y="2442790"/>
            <a:ext cx="103979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完成系统配置开发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8562604" y="3067708"/>
            <a:ext cx="2717320" cy="117898"/>
            <a:chOff x="8678174" y="3102633"/>
            <a:chExt cx="2717320" cy="117898"/>
          </a:xfrm>
        </p:grpSpPr>
        <p:cxnSp>
          <p:nvCxnSpPr>
            <p:cNvPr id="25" name="直线箭头连接符 24"/>
            <p:cNvCxnSpPr/>
            <p:nvPr/>
          </p:nvCxnSpPr>
          <p:spPr>
            <a:xfrm>
              <a:off x="8678174" y="3157265"/>
              <a:ext cx="2717320" cy="0"/>
            </a:xfrm>
            <a:prstGeom prst="straightConnector1">
              <a:avLst/>
            </a:prstGeom>
            <a:ln w="28575">
              <a:solidFill>
                <a:srgbClr val="00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8987033" y="3105505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2" name="椭圆 31"/>
            <p:cNvSpPr/>
            <p:nvPr/>
          </p:nvSpPr>
          <p:spPr>
            <a:xfrm>
              <a:off x="9984824" y="3102633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3" name="椭圆 32"/>
            <p:cNvSpPr/>
            <p:nvPr/>
          </p:nvSpPr>
          <p:spPr>
            <a:xfrm>
              <a:off x="11034366" y="3117011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0497784" y="2377389"/>
            <a:ext cx="1020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系统正式上线，进入持续优化阶段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9504657" y="2377385"/>
            <a:ext cx="833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开展测试与上线准备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652294" y="659920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53020" y="3698240"/>
            <a:ext cx="4029075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关注流程变革阻力与数据质量风险；</a:t>
            </a:r>
          </a:p>
          <a:p>
            <a:pPr marL="171450" indent="-1714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高度依赖跨部门协作效率、外围系统稳定性及决策层的持续支持。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业务背景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客户销售项目业务模式与现行核算现状概述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5</a:t>
            </a:fld>
            <a:endParaRPr lang="nl-NL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326909"/>
              </p:ext>
            </p:extLst>
          </p:nvPr>
        </p:nvGraphicFramePr>
        <p:xfrm>
          <a:off x="428623" y="1741740"/>
          <a:ext cx="11337926" cy="382248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6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chemeClr val="bg1"/>
                          </a:solidFill>
                          <a:effectLst/>
                        </a:rPr>
                        <a:t>项目</a:t>
                      </a:r>
                      <a:endParaRPr lang="zh-CN" sz="1600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chemeClr val="bg1"/>
                          </a:solidFill>
                          <a:effectLst/>
                        </a:rPr>
                        <a:t>内容</a:t>
                      </a:r>
                      <a:endParaRPr lang="zh-CN" sz="1600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业务模式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定制路灯项目,外购灯杆/灯具后现场组装施工,无实体生产车间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现行核算载体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统一使用生产工单归集材料 + 施工费,工单无报工流程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solidFill>
                            <a:srgbClr val="0F1115"/>
                          </a:solidFill>
                          <a:effectLst/>
                        </a:rPr>
                        <a:t>项目周期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数月至 2 年,需跨年度核算,周期极长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solidFill>
                            <a:srgbClr val="0F1115"/>
                          </a:solidFill>
                          <a:effectLst/>
                        </a:rPr>
                        <a:t>适用税率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13% 货物、9% 施工,同项目混用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典型痛点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F1115"/>
                          </a:solidFill>
                          <a:effectLst/>
                        </a:rPr>
                        <a:t>供应商付款和项目收款时间不匹配</a:t>
                      </a: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,</a:t>
                      </a:r>
                      <a:r>
                        <a:rPr lang="zh-CN" altLang="en-US" sz="1600" b="0" dirty="0">
                          <a:solidFill>
                            <a:srgbClr val="0F1115"/>
                          </a:solidFill>
                          <a:effectLst/>
                        </a:rPr>
                        <a:t>项目收入和成本核算匹配问题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endParaRPr/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现有核算模式缺陷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生产工单归集、项目成本拆分、寄售业务、人工施工费归集现存问题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6</a:t>
            </a:fld>
            <a:endParaRPr lang="nl-NL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56478"/>
              </p:ext>
            </p:extLst>
          </p:nvPr>
        </p:nvGraphicFramePr>
        <p:xfrm>
          <a:off x="412124" y="1741740"/>
          <a:ext cx="11354425" cy="408927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8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06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问题类别</a:t>
                      </a:r>
                    </a:p>
                  </a:txBody>
                  <a:tcPr marR="121920" marT="76200" marB="762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具体表现</a:t>
                      </a:r>
                    </a:p>
                  </a:txBody>
                  <a:tcPr marL="121920" marR="121920" marT="76200" marB="762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核算逻辑不符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定制路灯项目无实体车间,生产工单无报工,与标准生产工单设计不一致,审计存在合规疑虑(顾问已初步确认无重大合规风险)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多对多归属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一个项目对应多张生产工单,多张工单可归属多个项目,物料/施工费无法自动按项目区分,财务手工台账工作量大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solidFill>
                            <a:srgbClr val="0F1115"/>
                          </a:solidFill>
                          <a:effectLst/>
                        </a:rPr>
                        <a:t>阶段性结转缺失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工单无法按月阶段性结转成本,只能项目完工一次性结算,月度项目盈利数据失真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solidFill>
                            <a:srgbClr val="0F1115"/>
                          </a:solidFill>
                          <a:effectLst/>
                        </a:rPr>
                        <a:t>施工费收入成本错配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合同打包无单独施工项,寄售模式下客户未确认收货无法同步确认供应商施工成本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虚拟库存禁用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公司禁止虚拟库存,供应商施工与客户寄售存在时间差,易出现有收入无成本或成本提前入账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endParaRPr/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单据/主数据/报表/系统痛点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除核算模式外的全链路单据、主数据、报表、系统操作现存问题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7</a:t>
            </a:fld>
            <a:endParaRPr lang="nl-NL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036406"/>
              </p:ext>
            </p:extLst>
          </p:nvPr>
        </p:nvGraphicFramePr>
        <p:xfrm>
          <a:off x="428623" y="1741740"/>
          <a:ext cx="11337926" cy="181606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6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chemeClr val="bg1"/>
                          </a:solidFill>
                          <a:effectLst/>
                        </a:rPr>
                        <a:t>问题类别</a:t>
                      </a:r>
                      <a:endParaRPr lang="zh-CN" sz="1600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chemeClr val="bg1"/>
                          </a:solidFill>
                          <a:effectLst/>
                        </a:rPr>
                        <a:t>具体表现</a:t>
                      </a:r>
                      <a:endParaRPr lang="zh-CN" sz="1600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单据/主数据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销售需求/销售订单仅文本填写项目名称,无唯一项目编码字段;物料主数据会计视图人工维护易漏勾选;税率多档同工单混用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报表/查询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KE30 报表仅支持单年度查询,无法输出项目全周期累计;无独立项目看板,售后维修支出只能计入销售费用无法匹配项目;采购/付款单据仅手工备注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0098" y="2297252"/>
            <a:ext cx="7094047" cy="1929683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方案详解及系统实现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核算载体方案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升级后维持生产工单 + 引入内部订单-客户销售项目的双轨核算思路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9</a:t>
            </a:fld>
            <a:endParaRPr lang="nl-NL"/>
          </a:p>
        </p:txBody>
      </p:sp>
      <p:sp>
        <p:nvSpPr>
          <p:cNvPr id="7" name="文本框 6"/>
          <p:cNvSpPr txBox="1"/>
          <p:nvPr/>
        </p:nvSpPr>
        <p:spPr>
          <a:xfrm>
            <a:off x="428624" y="1293596"/>
            <a:ext cx="10998064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维持生产工单</a:t>
            </a:r>
            <a:r>
              <a:rPr lang="zh-CN" altLang="zh-CN" sz="1400" b="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保留现有生产工单模式,体现销售 BOM 作用,把安装费用计入产成品成本。</a:t>
            </a: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附加内部订单</a:t>
            </a:r>
            <a:r>
              <a:rPr lang="zh-CN" altLang="zh-CN" sz="1400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SAP 升级后,每个客户销售项目创建一张内部订单,作为项目成本附加统计与补充核算载体(如项目交付后的维保服务)。</a:t>
            </a:r>
          </a:p>
          <a:p>
            <a:pPr marL="285750" marR="0" indent="-285750" algn="l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按月阶段性结算</a:t>
            </a:r>
            <a:r>
              <a:rPr lang="zh-CN" altLang="zh-CN" sz="1400" b="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内部订单支持按月阶段性结算,提升项目期间盈利可见度,缓解月度数据失真问题。</a:t>
            </a:r>
          </a:p>
          <a:p>
            <a:pPr marL="285750" marR="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施工安装费口径</a:t>
            </a:r>
            <a:r>
              <a:rPr lang="zh-CN" altLang="zh-CN" sz="1400" b="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合同打包无单独施工项:维持虚拟服务物料,纳入 BOM 随工单/内部订单归集成本;单独施工服务:不采用,继续走 BOM 归集。</a:t>
            </a:r>
          </a:p>
        </p:txBody>
      </p:sp>
      <p:sp>
        <p:nvSpPr>
          <p:cNvPr id="5" name="标题 1"/>
          <p:cNvSpPr txBox="1"/>
          <p:nvPr/>
        </p:nvSpPr>
        <p:spPr>
          <a:xfrm>
            <a:off x="488001" y="3343409"/>
            <a:ext cx="11337925" cy="9123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单据与项目标识规则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88001" y="4345554"/>
            <a:ext cx="109980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项目编码全链路携带  </a:t>
            </a:r>
            <a:r>
              <a:rPr lang="zh-CN" altLang="zh-CN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销售需求、销售订单、采购订单统一增加项目编码字段,作为成本自动拆分、报表取数核心维度</a:t>
            </a: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marR="0" indent="-285750" algn="l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寄售业务流程节奏  业务流程不变,</a:t>
            </a:r>
            <a:r>
              <a:rPr lang="en-US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供应商施工对账按项目进度分批收货,规避一次性大额成本入账,通过内部订单阶段性分摊缓解收入成本错配</a:t>
            </a:r>
            <a:r>
              <a:rPr lang="zh-CN" altLang="en-US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，为了避免客户项目结算收入和采购成本匹配问题，供应商的发票校验可以线下协商（适当考虑供应商资金占用让利），尽量和客户项目收入结算匹配</a:t>
            </a:r>
            <a:endParaRPr lang="zh-CN" altLang="zh-CN" sz="1400" i="0" spc="22" dirty="0">
              <a:solidFill>
                <a:srgbClr val="22222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u"/>
            </a:pPr>
            <a:endParaRPr lang="zh-CN" altLang="zh-CN" sz="1400" b="1" i="0" spc="22" dirty="0">
              <a:solidFill>
                <a:srgbClr val="22222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主数据标准化与系统配置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物料模板固化、屏幕增强锁定、质检流程简化(财务为核心讨论)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10</a:t>
            </a:fld>
            <a:endParaRPr lang="nl-NL"/>
          </a:p>
        </p:txBody>
      </p:sp>
      <p:sp>
        <p:nvSpPr>
          <p:cNvPr id="7" name="文本框 6"/>
          <p:cNvSpPr txBox="1"/>
          <p:nvPr/>
        </p:nvSpPr>
        <p:spPr>
          <a:xfrm>
            <a:off x="428624" y="1293596"/>
            <a:ext cx="1099806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统一物料创建模板  </a:t>
            </a:r>
            <a:r>
              <a:rPr lang="zh-CN" altLang="zh-CN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原材料/成品分开,固化评估类、会计视图勾选等参数,提供批量导入模板,减少手工维护错误;未来 MDM 上线后,会计相关字段设为必须输入。</a:t>
            </a: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屏幕增强锁定  </a:t>
            </a:r>
            <a:r>
              <a:rPr lang="zh-CN" altLang="zh-CN" sz="1400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屏幕锁定关键配置项(物料来源勾选框),禁止人工随意取消勾选(建议项)。</a:t>
            </a:r>
          </a:p>
          <a:p>
            <a:pPr marR="0" algn="l">
              <a:spcBef>
                <a:spcPts val="1200"/>
              </a:spcBef>
              <a:spcAft>
                <a:spcPts val="1200"/>
              </a:spcAft>
            </a:pPr>
            <a:endParaRPr lang="zh-CN" altLang="zh-CN" sz="1400" b="1" i="0" spc="22" dirty="0">
              <a:solidFill>
                <a:srgbClr val="22222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93938" y="2516685"/>
            <a:ext cx="11337925" cy="9123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成本入账与科目规则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28624" y="3221947"/>
            <a:ext cx="109980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质保与售后  </a:t>
            </a:r>
            <a:r>
              <a:rPr lang="zh-CN" altLang="zh-CN" sz="1400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项目质保、售后维修费用关联对应项目内部订单,不再统一计入销售费用,实现全生命周期项目成本归集</a:t>
            </a:r>
            <a:r>
              <a:rPr lang="zh-CN" altLang="zh-CN" sz="1400" b="1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marR="0" indent="-285750" algn="l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人工成本归集  </a:t>
            </a:r>
            <a:r>
              <a:rPr lang="zh-CN" altLang="zh-CN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外包施工、自有现场人工统一归集至对应项目</a:t>
            </a:r>
            <a:r>
              <a:rPr lang="zh-CN" altLang="en-US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生产订单</a:t>
            </a:r>
            <a:r>
              <a:rPr lang="zh-CN" altLang="zh-CN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载体;</a:t>
            </a:r>
            <a:r>
              <a:rPr lang="en-US" altLang="zh-CN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自有人员工时</a:t>
            </a:r>
            <a:r>
              <a:rPr lang="zh-CN" altLang="en-US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，售后服务</a:t>
            </a:r>
            <a:r>
              <a:rPr lang="zh-CN" altLang="zh-CN" sz="140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,不再全部计入管理费用</a:t>
            </a: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marR="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u"/>
            </a:pPr>
            <a:endParaRPr lang="zh-CN" altLang="zh-CN" sz="1400" b="1" i="0" spc="22" dirty="0">
              <a:solidFill>
                <a:srgbClr val="22222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报表优化与合规说明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KE30 改造 + 项目收入成本看板开发 + 合规可解释性增强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11</a:t>
            </a:fld>
            <a:endParaRPr lang="nl-NL"/>
          </a:p>
        </p:txBody>
      </p:sp>
      <p:sp>
        <p:nvSpPr>
          <p:cNvPr id="7" name="文本框 6"/>
          <p:cNvSpPr txBox="1"/>
          <p:nvPr/>
        </p:nvSpPr>
        <p:spPr>
          <a:xfrm>
            <a:off x="428624" y="1293596"/>
            <a:ext cx="10998064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KE30 报表改造</a:t>
            </a:r>
            <a:r>
              <a:rPr lang="zh-CN" altLang="zh-CN" sz="1400" b="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现有 KE30 报表新增项目编码、项目名称字段,支持按项目筛选导出数据。</a:t>
            </a: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项目收入成本看板</a:t>
            </a:r>
            <a:r>
              <a:rPr lang="zh-CN" altLang="zh-CN" sz="1400" spc="22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新增独立项目收入成本看板,支持跨年度、全项目周期累计数据查询,自动汇总材料、施工、售后、收入数据,替代手工台账。</a:t>
            </a:r>
          </a:p>
          <a:p>
            <a:pPr marL="285750" marR="0" indent="-285750" algn="l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上线节奏</a:t>
            </a:r>
            <a:r>
              <a:rPr lang="zh-CN" altLang="zh-CN" sz="1400" b="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如本期项目 SAP 二开工作量过多,看板可适当放到上线后的二期优化项目。</a:t>
            </a:r>
          </a:p>
          <a:p>
            <a:pPr marL="285750" marR="0" indent="-285750" algn="l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zh-CN" sz="1400" b="1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合规说明</a:t>
            </a:r>
            <a:r>
              <a:rPr lang="zh-CN" altLang="zh-CN" sz="1400" b="0" i="0" spc="22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现有生产工单无报工模式经顾问确认符合公司业务实际(无实体生产车间,仅现场组装),审计可合理解释,无重大合规风险。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0098" y="1975208"/>
            <a:ext cx="7094047" cy="1929683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配套行动计划</a:t>
            </a:r>
            <a:br>
              <a:rPr lang="zh-CN" altLang="en-US" dirty="0">
                <a:sym typeface="+mn-ea"/>
              </a:rPr>
            </a:b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行动项表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本期落地动作清单(责任到人,计划完成日期待确认)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13</a:t>
            </a:fld>
            <a:endParaRPr lang="nl-NL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233593"/>
              </p:ext>
            </p:extLst>
          </p:nvPr>
        </p:nvGraphicFramePr>
        <p:xfrm>
          <a:off x="428623" y="1741740"/>
          <a:ext cx="11337926" cy="382248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6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2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chemeClr val="bg1"/>
                          </a:solidFill>
                          <a:effectLst/>
                        </a:rPr>
                        <a:t>序号</a:t>
                      </a:r>
                      <a:endParaRPr lang="zh-CN" sz="1600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chemeClr val="bg1"/>
                          </a:solidFill>
                          <a:effectLst/>
                        </a:rPr>
                        <a:t>事项</a:t>
                      </a:r>
                      <a:endParaRPr lang="zh-CN" sz="1600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1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屏幕增强配置:锁定物料会计视图物料来源勾选框,禁止手工取消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2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单据字段改造:对客户项目类的销售需求、销售订单、采购订单增加项目编码字段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solidFill>
                            <a:srgbClr val="0F1115"/>
                          </a:solidFill>
                          <a:effectLst/>
                        </a:rPr>
                        <a:t>4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开发项目收入成本看板,支持跨周期累计查询、项目维度汇总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>
                          <a:solidFill>
                            <a:srgbClr val="0F1115"/>
                          </a:solidFill>
                          <a:effectLst/>
                        </a:rPr>
                        <a:t>5</a:t>
                      </a:r>
                      <a:endParaRPr lang="zh-CN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改造 KE30 报表,新增项目编码、项目名称筛选与展示字段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1" dirty="0">
                          <a:solidFill>
                            <a:srgbClr val="0F1115"/>
                          </a:solidFill>
                          <a:effectLst/>
                        </a:rPr>
                        <a:t>6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sz="1600" b="0" dirty="0">
                          <a:solidFill>
                            <a:srgbClr val="0F1115"/>
                          </a:solidFill>
                          <a:effectLst/>
                        </a:rPr>
                        <a:t>编制内部订单阶段性结算分摊操作指引(按完工比例结转成本)</a:t>
                      </a:r>
                      <a:endParaRPr lang="zh-CN" sz="16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069">
                <a:tc>
                  <a:txBody>
                    <a:bodyPr/>
                    <a:lstStyle/>
                    <a:p>
                      <a:endParaRPr/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0098" y="2464158"/>
            <a:ext cx="7094047" cy="1929683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附录：相关文档及原始数据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本期待讨论确认事项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15</a:t>
            </a:fld>
            <a:endParaRPr lang="nl-NL"/>
          </a:p>
        </p:txBody>
      </p:sp>
      <p:sp>
        <p:nvSpPr>
          <p:cNvPr id="5" name="文本框 4"/>
          <p:cNvSpPr txBox="1"/>
          <p:nvPr/>
        </p:nvSpPr>
        <p:spPr>
          <a:xfrm>
            <a:off x="425452" y="1274323"/>
            <a:ext cx="11341098" cy="5029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dirty="0"/>
              <a:t>· </a:t>
            </a:r>
            <a:r>
              <a:rPr dirty="0" err="1"/>
              <a:t>几级内部订单分类</a:t>
            </a:r>
            <a:r>
              <a:rPr dirty="0"/>
              <a:t>  </a:t>
            </a:r>
            <a:r>
              <a:rPr dirty="0" err="1"/>
              <a:t>一个项目一张内部订单,还是按税率</a:t>
            </a:r>
            <a:r>
              <a:rPr dirty="0"/>
              <a:t>/</a:t>
            </a:r>
            <a:r>
              <a:rPr dirty="0" err="1"/>
              <a:t>阶段分子订单?子订单维度是否进</a:t>
            </a:r>
            <a:r>
              <a:rPr dirty="0"/>
              <a:t> KE30 </a:t>
            </a:r>
            <a:r>
              <a:rPr dirty="0" err="1"/>
              <a:t>看板</a:t>
            </a:r>
            <a:r>
              <a:rPr dirty="0"/>
              <a:t>?</a:t>
            </a:r>
            <a:endParaRPr lang="en-US" altLang="zh-CN" dirty="0">
              <a:solidFill>
                <a:schemeClr val="accent3"/>
              </a:solidFill>
            </a:endParaRPr>
          </a:p>
          <a:p>
            <a:pPr algn="l"/>
            <a:r>
              <a:rPr dirty="0"/>
              <a:t>· </a:t>
            </a:r>
            <a:r>
              <a:rPr dirty="0" err="1"/>
              <a:t>项目编码命名规则</a:t>
            </a:r>
            <a:r>
              <a:rPr dirty="0"/>
              <a:t>  </a:t>
            </a:r>
            <a:r>
              <a:rPr dirty="0" err="1"/>
              <a:t>建议与销售订单</a:t>
            </a:r>
            <a:r>
              <a:rPr dirty="0"/>
              <a:t>/</a:t>
            </a:r>
            <a:r>
              <a:rPr dirty="0" err="1"/>
              <a:t>项目主数据打通,规则由数智化部</a:t>
            </a:r>
            <a:r>
              <a:rPr dirty="0"/>
              <a:t> + </a:t>
            </a:r>
            <a:r>
              <a:rPr dirty="0" err="1"/>
              <a:t>财务部共同定义</a:t>
            </a:r>
            <a:r>
              <a:rPr dirty="0"/>
              <a:t>。</a:t>
            </a:r>
            <a:endParaRPr lang="en-US" altLang="zh-CN" dirty="0">
              <a:solidFill>
                <a:schemeClr val="accent3"/>
              </a:solidFill>
            </a:endParaRPr>
          </a:p>
          <a:p>
            <a:pPr algn="l"/>
            <a:r>
              <a:rPr dirty="0"/>
              <a:t>· </a:t>
            </a:r>
            <a:r>
              <a:rPr dirty="0" err="1"/>
              <a:t>阶段性结算触发条件</a:t>
            </a:r>
            <a:r>
              <a:rPr dirty="0"/>
              <a:t>  </a:t>
            </a:r>
            <a:r>
              <a:rPr dirty="0" err="1"/>
              <a:t>按完工比例、关键里程碑、还是按客户确认节点?需与业务部门明确</a:t>
            </a:r>
            <a:r>
              <a:rPr dirty="0"/>
              <a:t>。</a:t>
            </a:r>
            <a:endParaRPr lang="en-US" altLang="zh-CN" dirty="0">
              <a:solidFill>
                <a:schemeClr val="accent3"/>
              </a:solidFill>
            </a:endParaRPr>
          </a:p>
          <a:p>
            <a:pPr algn="l"/>
            <a:r>
              <a:rPr lang="zh-CN" altLang="en-US" dirty="0">
                <a:solidFill>
                  <a:schemeClr val="accent3"/>
                </a:solidFill>
              </a:rPr>
              <a:t>· 二期看板优先级  项目收入成本看板本期上线压力大,是否同意按 IT 评估后整体转入二期。</a:t>
            </a:r>
            <a:endParaRPr lang="en-US" altLang="zh-CN" dirty="0">
              <a:solidFill>
                <a:schemeClr val="accent3"/>
              </a:solidFill>
            </a:endParaRPr>
          </a:p>
          <a:p>
            <a:pPr algn="l"/>
            <a:r>
              <a:rPr dirty="0"/>
              <a:t>· </a:t>
            </a:r>
            <a:r>
              <a:rPr dirty="0" err="1"/>
              <a:t>合规与审计沟通</a:t>
            </a:r>
            <a:r>
              <a:rPr dirty="0"/>
              <a:t>  </a:t>
            </a:r>
            <a:r>
              <a:rPr dirty="0" err="1"/>
              <a:t>升级后内部订单方案落地前,需与审计老师提前沟通,确保口径一致</a:t>
            </a:r>
            <a:r>
              <a:rPr dirty="0"/>
              <a:t>。</a:t>
            </a:r>
            <a:endParaRPr lang="en-US" altLang="zh-CN" dirty="0">
              <a:solidFill>
                <a:schemeClr val="accent3"/>
              </a:solidFill>
            </a:endParaRPr>
          </a:p>
          <a:p>
            <a:pPr algn="l"/>
            <a:endParaRPr lang="en-US" altLang="zh-CN" dirty="0">
              <a:solidFill>
                <a:schemeClr val="accent3"/>
              </a:solidFill>
            </a:endParaRPr>
          </a:p>
          <a:p>
            <a:pPr algn="l"/>
            <a:endParaRPr lang="en-US" altLang="zh-CN" dirty="0">
              <a:solidFill>
                <a:schemeClr val="accent3"/>
              </a:solidFill>
            </a:endParaRPr>
          </a:p>
          <a:p>
            <a:pPr algn="l"/>
            <a:endParaRPr lang="en-US" altLang="zh-CN" dirty="0">
              <a:solidFill>
                <a:schemeClr val="accent3"/>
              </a:solidFill>
            </a:endParaRPr>
          </a:p>
          <a:p>
            <a:pPr algn="l"/>
            <a:endParaRPr lang="en-US" altLang="zh-CN" dirty="0">
              <a:solidFill>
                <a:schemeClr val="accent3"/>
              </a:solidFill>
            </a:endParaRPr>
          </a:p>
          <a:p>
            <a:pPr algn="l"/>
            <a:endParaRPr lang="en-US" altLang="zh-CN" dirty="0">
              <a:solidFill>
                <a:schemeClr val="accent3"/>
              </a:solidFill>
            </a:endParaRPr>
          </a:p>
          <a:p>
            <a:pPr algn="l"/>
            <a:endParaRPr lang="en-US" altLang="zh-CN" dirty="0">
              <a:solidFill>
                <a:schemeClr val="accent3"/>
              </a:solidFill>
            </a:endParaRPr>
          </a:p>
          <a:p>
            <a:pPr algn="l"/>
            <a:endParaRPr lang="en-US" altLang="zh-CN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3648"/>
            <a:ext cx="953787" cy="492443"/>
          </a:xfrm>
        </p:spPr>
        <p:txBody>
          <a:bodyPr/>
          <a:lstStyle/>
          <a:p>
            <a:r>
              <a:rPr lang="zh-CN" altLang="en-US" sz="3200" b="1" dirty="0"/>
              <a:t>谢谢</a:t>
            </a:r>
            <a:r>
              <a:rPr lang="en-US" altLang="zh-CN" sz="3200" b="1" dirty="0"/>
              <a:t>!</a:t>
            </a:r>
            <a:endParaRPr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2.xml><?xml version="1.0" encoding="utf-8"?>
<TemplafySlideTemplateConfiguration><![CDATA[{"slideVersion":2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13341292813786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9B965239-770B-CA49-8A85-05CC8639E8EA}">
  <ds:schemaRefs/>
</ds:datastoreItem>
</file>

<file path=customXml/itemProps2.xml><?xml version="1.0" encoding="utf-8"?>
<ds:datastoreItem xmlns:ds="http://schemas.openxmlformats.org/officeDocument/2006/customXml" ds:itemID="{BEA80D82-EDC8-0741-826D-933AA8F9EFEB}">
  <ds:schemaRefs/>
</ds:datastoreItem>
</file>

<file path=customXml/itemProps3.xml><?xml version="1.0" encoding="utf-8"?>
<ds:datastoreItem xmlns:ds="http://schemas.openxmlformats.org/officeDocument/2006/customXml" ds:itemID="{6B6BFCDD-2828-244C-B8B0-E2958472E4D3}">
  <ds:schemaRefs/>
</ds:datastoreItem>
</file>

<file path=customXml/itemProps4.xml><?xml version="1.0" encoding="utf-8"?>
<ds:datastoreItem xmlns:ds="http://schemas.openxmlformats.org/officeDocument/2006/customXml" ds:itemID="{FE511B84-21F8-E546-9875-8BED6F72232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3335</Words>
  <Application>Microsoft Office PowerPoint</Application>
  <PresentationFormat>宽屏</PresentationFormat>
  <Paragraphs>163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Biennale</vt:lpstr>
      <vt:lpstr>Biennale Bold</vt:lpstr>
      <vt:lpstr>Biennale Medium</vt:lpstr>
      <vt:lpstr>Montserrat Bold</vt:lpstr>
      <vt:lpstr>quote-cjk-patch</vt:lpstr>
      <vt:lpstr>微软雅黑</vt:lpstr>
      <vt:lpstr>Aptos</vt:lpstr>
      <vt:lpstr>Arial</vt:lpstr>
      <vt:lpstr>Calibri</vt:lpstr>
      <vt:lpstr>Montserrat SemiBold</vt:lpstr>
      <vt:lpstr>Times New Roman</vt:lpstr>
      <vt:lpstr>Verdana</vt:lpstr>
      <vt:lpstr>Wingdings</vt:lpstr>
      <vt:lpstr>White background</vt:lpstr>
      <vt:lpstr>客户销售项目 成本核算优化</vt:lpstr>
      <vt:lpstr>目录</vt:lpstr>
      <vt:lpstr>专项方案概述</vt:lpstr>
      <vt:lpstr>客户项目核算和分析：方案总览</vt:lpstr>
      <vt:lpstr>业务背景</vt:lpstr>
      <vt:lpstr>现有核算模式缺陷</vt:lpstr>
      <vt:lpstr>单据/主数据/报表/系统痛点</vt:lpstr>
      <vt:lpstr>方案详解及系统实现</vt:lpstr>
      <vt:lpstr>核算载体方案</vt:lpstr>
      <vt:lpstr>主数据标准化与系统配置</vt:lpstr>
      <vt:lpstr>报表优化与合规说明</vt:lpstr>
      <vt:lpstr>配套行动计划 </vt:lpstr>
      <vt:lpstr>行动项表</vt:lpstr>
      <vt:lpstr>附录：相关文档及原始数据</vt:lpstr>
      <vt:lpstr>讨论</vt:lpstr>
      <vt:lpstr>谢谢!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泰国财务体系合规建设专项方案</dc:title>
  <dc:creator>Tan, Hong-liang</dc:creator>
  <cp:lastModifiedBy>2102125624@qq.com</cp:lastModifiedBy>
  <cp:revision>38</cp:revision>
  <dcterms:created xsi:type="dcterms:W3CDTF">2026-07-20T05:48:00Z</dcterms:created>
  <dcterms:modified xsi:type="dcterms:W3CDTF">2026-08-30T14:24:49Z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8C8A8E2263C4743E61B55D6AA9AF7B3D_42</vt:lpwstr>
  </property>
  <property fmtid="{D5CDD505-2E9C-101B-9397-08002B2CF9AE}" pid="3" name="KSOProductBuildVer">
    <vt:lpwstr>2052-12.1.0.28043</vt:lpwstr>
  </property>
</Properties>
</file>