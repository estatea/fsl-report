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4" r:id="rId3"/>
    <p:sldMasterId id="2147483682" r:id="rId4"/>
  </p:sldMasterIdLst>
  <p:notesMasterIdLst>
    <p:notesMasterId r:id="rId27"/>
  </p:notesMasterIdLst>
  <p:handoutMasterIdLst>
    <p:handoutMasterId r:id="rId28"/>
  </p:handoutMasterIdLst>
  <p:sldIdLst>
    <p:sldId id="256" r:id="rId5"/>
    <p:sldId id="257" r:id="rId6"/>
    <p:sldId id="258" r:id="rId7"/>
    <p:sldId id="259" r:id="rId8"/>
    <p:sldId id="273" r:id="rId9"/>
    <p:sldId id="261" r:id="rId10"/>
    <p:sldId id="277" r:id="rId11"/>
    <p:sldId id="278" r:id="rId12"/>
    <p:sldId id="276" r:id="rId13"/>
    <p:sldId id="274" r:id="rId14"/>
    <p:sldId id="275" r:id="rId15"/>
    <p:sldId id="279" r:id="rId16"/>
    <p:sldId id="280" r:id="rId17"/>
    <p:sldId id="281" r:id="rId18"/>
    <p:sldId id="282" r:id="rId19"/>
    <p:sldId id="283" r:id="rId20"/>
    <p:sldId id="284" r:id="rId21"/>
    <p:sldId id="268" r:id="rId22"/>
    <p:sldId id="272" r:id="rId23"/>
    <p:sldId id="271" r:id="rId24"/>
    <p:sldId id="269" r:id="rId25"/>
    <p:sldId id="270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84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3" d="100"/>
          <a:sy n="83" d="100"/>
        </p:scale>
        <p:origin x="225" y="54"/>
      </p:cViewPr>
      <p:guideLst>
        <p:guide orient="horz" pos="1640"/>
        <p:guide pos="2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2026-08-30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各位领导，大家好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今天我代表项目组，向大家汇报《销售价格与折扣管理体系</a:t>
            </a:r>
            <a:r>
              <a:rPr lang="en-US" sz="1200" b="0" i="0" u="none" strike="noStrike">
                <a:solidFill>
                  <a:srgbClr val="000000"/>
                </a:solidFill>
              </a:rPr>
              <a:t>》。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本次方案是基于佛山照明SAP升级项目的背景，旨在通过数字化手段，优化采购流程，实现价格与货源的精细化管控，降本增效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各位领导、各位同事，大家好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今天我们将围绕数字化转型项目进行详细汇报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本次汇报的目录共分为九个部分，从管理层的执行摘要开始，我们将深入剖析现状问题、明确建设目标与治理架构，并重点介绍六项建设任务及SAP系统的本期落地方案。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同时，我们也会对实施路径、价值评估、风险应对以及后续的决策事项进行全面阐述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接下来，让我们正式进入第一部分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algn="l" defTabSz="1089025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171450" indent="-17145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为了方便大家记忆，我将今天提到的核心概念汇总成了这张表格。从Country Version到DRC Monitor，再到数字签名和三单匹配，这些术语共同构成了我们整个DRC解决方案的核心。希望大家能通过这张表，对DRC有一个更系统的理解。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90098" y="389618"/>
            <a:ext cx="1376980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Graphique 10"/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6976" y="1866946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" hasCustomPrompt="1"/>
          </p:nvPr>
        </p:nvSpPr>
        <p:spPr>
          <a:xfrm>
            <a:off x="423068" y="2415203"/>
            <a:ext cx="54864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4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" hasCustomPrompt="1"/>
          </p:nvPr>
        </p:nvSpPr>
        <p:spPr>
          <a:xfrm>
            <a:off x="423068" y="3138594"/>
            <a:ext cx="548640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" hasCustomPrompt="1"/>
          </p:nvPr>
        </p:nvSpPr>
        <p:spPr>
          <a:xfrm>
            <a:off x="423068" y="4771707"/>
            <a:ext cx="3657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AutoShape 5"/>
          <p:cNvSpPr/>
          <p:nvPr/>
        </p:nvSpPr>
        <p:spPr>
          <a:xfrm>
            <a:off x="423068" y="6391780"/>
            <a:ext cx="835165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 Group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pic" sz="quarter" idx="7"/>
          </p:nvPr>
        </p:nvSpPr>
        <p:spPr>
          <a:xfrm>
            <a:off x="6092952" y="0"/>
            <a:ext cx="6099048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8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8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algn="l"/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eep Blue Title Only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8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/>
          </p:nvPr>
        </p:nvSpPr>
        <p:spPr>
          <a:xfrm>
            <a:off x="428625" y="6420355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10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28625" y="6420355"/>
            <a:ext cx="12795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	|	 © Atos Group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428625" y="1196367"/>
            <a:ext cx="5852160" cy="1554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lvl1pPr algn="l" defTabSz="914400">
              <a:lnSpc>
                <a:spcPct val="100000"/>
              </a:lnSpc>
              <a:defRPr sz="4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428625" y="2748074"/>
            <a:ext cx="585216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6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7" name="Freeform 7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428625" y="1189363"/>
            <a:ext cx="5370060" cy="123110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80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80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Thank you!</a:t>
            </a:r>
          </a:p>
        </p:txBody>
      </p:sp>
      <p:sp>
        <p:nvSpPr>
          <p:cNvPr id="3" name="AutoShape 3"/>
          <p:cNvSpPr/>
          <p:nvPr/>
        </p:nvSpPr>
        <p:spPr>
          <a:xfrm>
            <a:off x="428625" y="5422415"/>
            <a:ext cx="3383281" cy="49244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b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1100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428625" y="6316314"/>
            <a:ext cx="2560320" cy="923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lvl1pPr algn="l" defTabSz="914400">
              <a:lnSpc>
                <a:spcPct val="100000"/>
              </a:lnSpc>
              <a:defRPr sz="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Job Number-Designer-BP</a:t>
            </a:r>
          </a:p>
        </p:txBody>
      </p:sp>
      <p:sp>
        <p:nvSpPr>
          <p:cNvPr id="5" name="AutoShape 5"/>
          <p:cNvSpPr/>
          <p:nvPr/>
        </p:nvSpPr>
        <p:spPr>
          <a:xfrm>
            <a:off x="5884404" y="6391780"/>
            <a:ext cx="423193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8" hasCustomPrompt="1"/>
          </p:nvPr>
        </p:nvSpPr>
        <p:spPr>
          <a:xfrm>
            <a:off x="303548" y="164637"/>
            <a:ext cx="11436096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 in Raleway SemiBold 20pt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9" hasCustomPrompt="1"/>
          </p:nvPr>
        </p:nvSpPr>
        <p:spPr>
          <a:xfrm>
            <a:off x="303547" y="556610"/>
            <a:ext cx="11436096" cy="5805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135" b="0" i="0" u="none" strike="noStrike" spc="0">
                <a:solidFill>
                  <a:srgbClr val="0596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2135" b="0" i="0" u="none" strike="noStrike">
                <a:solidFill>
                  <a:srgbClr val="0596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 in Raleway SemiBold 16pt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54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0" hasCustomPrompt="1"/>
          </p:nvPr>
        </p:nvSpPr>
        <p:spPr>
          <a:xfrm>
            <a:off x="2954745" y="1446367"/>
            <a:ext cx="343043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1" hasCustomPrompt="1"/>
          </p:nvPr>
        </p:nvSpPr>
        <p:spPr>
          <a:xfrm>
            <a:off x="3674348" y="1446367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2" hasCustomPrompt="1"/>
          </p:nvPr>
        </p:nvSpPr>
        <p:spPr>
          <a:xfrm>
            <a:off x="11406268" y="1446367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3" hasCustomPrompt="1"/>
          </p:nvPr>
        </p:nvSpPr>
        <p:spPr>
          <a:xfrm>
            <a:off x="2954745" y="2713569"/>
            <a:ext cx="39594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4" hasCustomPrompt="1"/>
          </p:nvPr>
        </p:nvSpPr>
        <p:spPr>
          <a:xfrm>
            <a:off x="3674348" y="2713569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25" hasCustomPrompt="1"/>
          </p:nvPr>
        </p:nvSpPr>
        <p:spPr>
          <a:xfrm>
            <a:off x="11406268" y="2713569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26" hasCustomPrompt="1"/>
          </p:nvPr>
        </p:nvSpPr>
        <p:spPr>
          <a:xfrm>
            <a:off x="2954745" y="3980771"/>
            <a:ext cx="397545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27" hasCustomPrompt="1"/>
          </p:nvPr>
        </p:nvSpPr>
        <p:spPr>
          <a:xfrm>
            <a:off x="3674348" y="3980771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28" hasCustomPrompt="1"/>
          </p:nvPr>
        </p:nvSpPr>
        <p:spPr>
          <a:xfrm>
            <a:off x="11406268" y="3980771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29" hasCustomPrompt="1"/>
          </p:nvPr>
        </p:nvSpPr>
        <p:spPr>
          <a:xfrm>
            <a:off x="2954745" y="5247973"/>
            <a:ext cx="403957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30" hasCustomPrompt="1"/>
          </p:nvPr>
        </p:nvSpPr>
        <p:spPr>
          <a:xfrm>
            <a:off x="3674348" y="5247973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31" hasCustomPrompt="1"/>
          </p:nvPr>
        </p:nvSpPr>
        <p:spPr>
          <a:xfrm>
            <a:off x="11406268" y="5247973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5" name="AutoShape 15"/>
          <p:cNvSpPr>
            <a:spLocks noGrp="1"/>
          </p:cNvSpPr>
          <p:nvPr>
            <p:ph type="body" sz="quarter" idx="32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Contents</a:t>
            </a:r>
          </a:p>
        </p:txBody>
      </p:sp>
      <p:sp>
        <p:nvSpPr>
          <p:cNvPr id="16" name="AutoShape 16"/>
          <p:cNvSpPr>
            <a:spLocks noGrp="1"/>
          </p:cNvSpPr>
          <p:nvPr>
            <p:ph type="body" sz="quarter" idx="33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34" hasCustomPrompt="1"/>
          </p:nvPr>
        </p:nvSpPr>
        <p:spPr>
          <a:xfrm>
            <a:off x="390098" y="389618"/>
            <a:ext cx="1376980" cy="14773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Freeform 4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5" hasCustomPrompt="1"/>
          </p:nvPr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54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  <a:b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two lines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wo curve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4" name="AutoShape 4"/>
          <p:cNvSpPr>
            <a:spLocks noGrp="1"/>
          </p:cNvSpPr>
          <p:nvPr>
            <p:ph type="body" sz="quarter" idx="36" hasCustomPrompt="1"/>
          </p:nvPr>
        </p:nvSpPr>
        <p:spPr>
          <a:xfrm>
            <a:off x="428625" y="4765675"/>
            <a:ext cx="3992904" cy="9699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8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Freeform 5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7" hasCustomPrompt="1"/>
          </p:nvPr>
        </p:nvSpPr>
        <p:spPr>
          <a:xfrm>
            <a:off x="428625" y="1456679"/>
            <a:ext cx="6766560" cy="1844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44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300"/>
              </a:spcAft>
            </a:pPr>
            <a:r>
              <a:rPr lang="en-US" sz="44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8" hasCustomPrompt="1"/>
          </p:nvPr>
        </p:nvSpPr>
        <p:spPr>
          <a:xfrm>
            <a:off x="428625" y="2084535"/>
            <a:ext cx="6766560" cy="1217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2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32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8100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-4" y="0"/>
            <a:ext cx="12192000" cy="6881005"/>
          </a:xfrm>
          <a:prstGeom prst="rect">
            <a:avLst/>
          </a:prstGeom>
          <a:gradFill rotWithShape="0">
            <a:gsLst>
              <a:gs pos="41999">
                <a:srgbClr val="FFFFFF">
                  <a:alpha val="100000"/>
                </a:srgbClr>
              </a:gs>
              <a:gs pos="100000">
                <a:srgbClr val="FFFFFF">
                  <a:alpha val="60000"/>
                </a:srgbClr>
              </a:gs>
            </a:gsLst>
            <a:lin ang="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5" y="6503027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" y="518500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>
            <a:spLocks noGrp="1"/>
          </p:cNvSpPr>
          <p:nvPr>
            <p:ph type="body" sz="quarter" idx="39" hasCustomPrompt="1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935" b="1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935" b="0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Click to add title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-16213" y="6276266"/>
            <a:ext cx="825500" cy="33979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33359" tIns="66685" rIns="133359" bIns="66685" rtlCol="0" anchor="ctr">
            <a:spAutoFit/>
          </a:bodyPr>
          <a:lstStyle/>
          <a:p>
            <a:pPr algn="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0"/>
          </p:nvPr>
        </p:nvSpPr>
        <p:spPr>
          <a:xfrm>
            <a:off x="320400" y="6326136"/>
            <a:ext cx="591024" cy="288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91440" tIns="45720" rIns="91440" bIns="45720" anchor="ctr">
            <a:spAutoFit/>
          </a:bodyPr>
          <a:lstStyle>
            <a:lvl1pPr algn="l" defTabSz="914400">
              <a:lnSpc>
                <a:spcPct val="100000"/>
              </a:lnSpc>
              <a:defRPr sz="1335" b="0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1" hasCustomPrompt="1"/>
          </p:nvPr>
        </p:nvSpPr>
        <p:spPr>
          <a:xfrm>
            <a:off x="320400" y="164637"/>
            <a:ext cx="11632251" cy="9601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66A1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66A1"/>
                </a:solidFill>
                <a:latin typeface="Biennale Bold"/>
                <a:ea typeface="Biennale Bold"/>
                <a:cs typeface="Biennale Bold"/>
                <a:sym typeface="Biennale Bold"/>
              </a:rPr>
              <a:t>Click to edit the header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42" hasCustomPrompt="1"/>
          </p:nvPr>
        </p:nvSpPr>
        <p:spPr>
          <a:xfrm>
            <a:off x="316799" y="471915"/>
            <a:ext cx="11484000" cy="3432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200" b="1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Click to add 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3" hasCustomPrompt="1"/>
          </p:nvPr>
        </p:nvSpPr>
        <p:spPr>
          <a:xfrm>
            <a:off x="316799" y="830931"/>
            <a:ext cx="11484000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429230" y="6298599"/>
            <a:ext cx="458064" cy="216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793038" y="6384973"/>
            <a:ext cx="605935" cy="1000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ctr" defTabSz="914400">
              <a:lnSpc>
                <a:spcPct val="100000"/>
              </a:lnSpc>
              <a:tabLst>
                <a:tab pos="190500" algn="l"/>
              </a:tabLst>
              <a:defRPr/>
            </a:pPr>
            <a:r>
              <a:rPr lang="en-US" sz="650" b="0" i="0" u="none" strike="noStrike">
                <a:solidFill>
                  <a:srgbClr val="808080"/>
                </a:solidFill>
                <a:latin typeface="Biennale"/>
                <a:ea typeface="Biennale"/>
                <a:cs typeface="Biennale"/>
                <a:sym typeface="Biennale"/>
              </a:rPr>
              <a:t>© EVIDEN SAS</a:t>
            </a:r>
            <a:endParaRPr lang="en-US" sz="110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4" hasCustomPrompt="1"/>
          </p:nvPr>
        </p:nvSpPr>
        <p:spPr>
          <a:xfrm>
            <a:off x="501520" y="1557338"/>
            <a:ext cx="11183565" cy="4787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marL="431800" indent="-203200" algn="l" defTabSz="914400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  <a:lvl2pPr marL="660400" indent="-203200"/>
            <a:lvl3pPr marL="889000" indent="-203200"/>
            <a:lvl4pPr marL="1117600" indent="-203200"/>
            <a:lvl5pPr marL="914400" indent="0"/>
            <a:lvl6pPr marL="711200" indent="0"/>
            <a:lvl7pPr marL="508000" indent="0"/>
            <a:lvl8pPr marL="304800" indent="0"/>
            <a:lvl9pPr marL="101600" indent="0"/>
          </a:lstStyle>
          <a:p>
            <a:pPr marL="228600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Start typing to add text without a bullet point. To add a bullet point, place the cursor at the start of this line and press tab.</a:t>
            </a:r>
          </a:p>
          <a:p>
            <a:pPr marL="457200" lvl="1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Second level</a:t>
            </a:r>
          </a:p>
          <a:p>
            <a:pPr marL="685800" lvl="2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Third level</a:t>
            </a:r>
          </a:p>
          <a:p>
            <a:pPr marL="914400" lvl="3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Fourth level</a:t>
            </a:r>
          </a:p>
          <a:p>
            <a:pPr marL="914400" lvl="4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5" hasCustomPrompt="1"/>
          </p:nvPr>
        </p:nvSpPr>
        <p:spPr>
          <a:xfrm>
            <a:off x="503870" y="504000"/>
            <a:ext cx="1118356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Insert page title (sentence case)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vider Pag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6" hasCustomPrompt="1"/>
          </p:nvPr>
        </p:nvSpPr>
        <p:spPr>
          <a:xfrm>
            <a:off x="503869" y="3090446"/>
            <a:ext cx="11182288" cy="6771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lvl1pPr algn="l" defTabSz="9144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Biennale Bold"/>
                <a:ea typeface="Biennale Bold"/>
                <a:cs typeface="Biennale Bold"/>
                <a:sym typeface="Biennale Bold"/>
              </a:rPr>
              <a:t>Divider page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47"/>
          </p:nvPr>
        </p:nvSpPr>
        <p:spPr>
          <a:xfrm>
            <a:off x="40341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48"/>
          </p:nvPr>
        </p:nvSpPr>
        <p:spPr>
          <a:xfrm>
            <a:off x="403411" y="1439904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49"/>
          </p:nvPr>
        </p:nvSpPr>
        <p:spPr>
          <a:xfrm>
            <a:off x="40341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50"/>
          </p:nvPr>
        </p:nvSpPr>
        <p:spPr>
          <a:xfrm>
            <a:off x="40341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51"/>
          </p:nvPr>
        </p:nvSpPr>
        <p:spPr>
          <a:xfrm>
            <a:off x="403411" y="5651686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52"/>
          </p:nvPr>
        </p:nvSpPr>
        <p:spPr>
          <a:xfrm>
            <a:off x="40341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53"/>
          </p:nvPr>
        </p:nvSpPr>
        <p:spPr>
          <a:xfrm>
            <a:off x="170539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pic" sz="quarter" idx="54"/>
          </p:nvPr>
        </p:nvSpPr>
        <p:spPr>
          <a:xfrm>
            <a:off x="300738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pic" sz="quarter" idx="55"/>
          </p:nvPr>
        </p:nvSpPr>
        <p:spPr>
          <a:xfrm>
            <a:off x="4309375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pic" sz="quarter" idx="56"/>
          </p:nvPr>
        </p:nvSpPr>
        <p:spPr>
          <a:xfrm>
            <a:off x="5611363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pic" sz="quarter" idx="57"/>
          </p:nvPr>
        </p:nvSpPr>
        <p:spPr>
          <a:xfrm>
            <a:off x="691335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pic" sz="quarter" idx="58"/>
          </p:nvPr>
        </p:nvSpPr>
        <p:spPr>
          <a:xfrm>
            <a:off x="821533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pic" sz="quarter" idx="59"/>
          </p:nvPr>
        </p:nvSpPr>
        <p:spPr>
          <a:xfrm>
            <a:off x="951732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5" name="AutoShape 15"/>
          <p:cNvSpPr>
            <a:spLocks noGrp="1"/>
          </p:cNvSpPr>
          <p:nvPr>
            <p:ph type="pic" sz="quarter" idx="60"/>
          </p:nvPr>
        </p:nvSpPr>
        <p:spPr>
          <a:xfrm>
            <a:off x="10819317" y="39039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6" name="AutoShape 16"/>
          <p:cNvSpPr>
            <a:spLocks noGrp="1"/>
          </p:cNvSpPr>
          <p:nvPr>
            <p:ph type="pic" sz="quarter" idx="61"/>
          </p:nvPr>
        </p:nvSpPr>
        <p:spPr>
          <a:xfrm>
            <a:off x="170539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7" name="AutoShape 17"/>
          <p:cNvSpPr>
            <a:spLocks noGrp="1"/>
          </p:cNvSpPr>
          <p:nvPr>
            <p:ph type="pic" sz="quarter" idx="62"/>
          </p:nvPr>
        </p:nvSpPr>
        <p:spPr>
          <a:xfrm>
            <a:off x="300738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8" name="AutoShape 18"/>
          <p:cNvSpPr>
            <a:spLocks noGrp="1"/>
          </p:cNvSpPr>
          <p:nvPr>
            <p:ph type="pic" sz="quarter" idx="63"/>
          </p:nvPr>
        </p:nvSpPr>
        <p:spPr>
          <a:xfrm>
            <a:off x="4309375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9" name="AutoShape 19"/>
          <p:cNvSpPr>
            <a:spLocks noGrp="1"/>
          </p:cNvSpPr>
          <p:nvPr>
            <p:ph type="pic" sz="quarter" idx="64"/>
          </p:nvPr>
        </p:nvSpPr>
        <p:spPr>
          <a:xfrm>
            <a:off x="5611363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0" name="AutoShape 20"/>
          <p:cNvSpPr>
            <a:spLocks noGrp="1"/>
          </p:cNvSpPr>
          <p:nvPr>
            <p:ph type="pic" sz="quarter" idx="65"/>
          </p:nvPr>
        </p:nvSpPr>
        <p:spPr>
          <a:xfrm>
            <a:off x="6913351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1" name="AutoShape 21"/>
          <p:cNvSpPr>
            <a:spLocks noGrp="1"/>
          </p:cNvSpPr>
          <p:nvPr>
            <p:ph type="pic" sz="quarter" idx="66"/>
          </p:nvPr>
        </p:nvSpPr>
        <p:spPr>
          <a:xfrm>
            <a:off x="821533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2" name="AutoShape 22"/>
          <p:cNvSpPr>
            <a:spLocks noGrp="1"/>
          </p:cNvSpPr>
          <p:nvPr>
            <p:ph type="pic" sz="quarter" idx="67"/>
          </p:nvPr>
        </p:nvSpPr>
        <p:spPr>
          <a:xfrm>
            <a:off x="951732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3" name="AutoShape 23"/>
          <p:cNvSpPr>
            <a:spLocks noGrp="1"/>
          </p:cNvSpPr>
          <p:nvPr>
            <p:ph type="pic" sz="quarter" idx="68"/>
          </p:nvPr>
        </p:nvSpPr>
        <p:spPr>
          <a:xfrm>
            <a:off x="10819317" y="1439904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4" name="AutoShape 24"/>
          <p:cNvSpPr>
            <a:spLocks noGrp="1"/>
          </p:cNvSpPr>
          <p:nvPr>
            <p:ph type="pic" sz="quarter" idx="69"/>
          </p:nvPr>
        </p:nvSpPr>
        <p:spPr>
          <a:xfrm>
            <a:off x="170539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5" name="AutoShape 25"/>
          <p:cNvSpPr>
            <a:spLocks noGrp="1"/>
          </p:cNvSpPr>
          <p:nvPr>
            <p:ph type="pic" sz="quarter" idx="70"/>
          </p:nvPr>
        </p:nvSpPr>
        <p:spPr>
          <a:xfrm>
            <a:off x="300738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6" name="AutoShape 26"/>
          <p:cNvSpPr>
            <a:spLocks noGrp="1"/>
          </p:cNvSpPr>
          <p:nvPr>
            <p:ph type="pic" sz="quarter" idx="71"/>
          </p:nvPr>
        </p:nvSpPr>
        <p:spPr>
          <a:xfrm>
            <a:off x="4309375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7" name="AutoShape 27"/>
          <p:cNvSpPr>
            <a:spLocks noGrp="1"/>
          </p:cNvSpPr>
          <p:nvPr>
            <p:ph type="pic" sz="quarter" idx="72"/>
          </p:nvPr>
        </p:nvSpPr>
        <p:spPr>
          <a:xfrm>
            <a:off x="5611363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8" name="AutoShape 28"/>
          <p:cNvSpPr>
            <a:spLocks noGrp="1"/>
          </p:cNvSpPr>
          <p:nvPr>
            <p:ph type="pic" sz="quarter" idx="73"/>
          </p:nvPr>
        </p:nvSpPr>
        <p:spPr>
          <a:xfrm>
            <a:off x="691335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9" name="AutoShape 29"/>
          <p:cNvSpPr>
            <a:spLocks noGrp="1"/>
          </p:cNvSpPr>
          <p:nvPr>
            <p:ph type="pic" sz="quarter" idx="74"/>
          </p:nvPr>
        </p:nvSpPr>
        <p:spPr>
          <a:xfrm>
            <a:off x="821533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0" name="AutoShape 30"/>
          <p:cNvSpPr>
            <a:spLocks noGrp="1"/>
          </p:cNvSpPr>
          <p:nvPr>
            <p:ph type="pic" sz="quarter" idx="75"/>
          </p:nvPr>
        </p:nvSpPr>
        <p:spPr>
          <a:xfrm>
            <a:off x="951732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1" name="AutoShape 31"/>
          <p:cNvSpPr>
            <a:spLocks noGrp="1"/>
          </p:cNvSpPr>
          <p:nvPr>
            <p:ph type="pic" sz="quarter" idx="76"/>
          </p:nvPr>
        </p:nvSpPr>
        <p:spPr>
          <a:xfrm>
            <a:off x="10819317" y="249628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2" name="AutoShape 32"/>
          <p:cNvSpPr>
            <a:spLocks noGrp="1"/>
          </p:cNvSpPr>
          <p:nvPr>
            <p:ph type="pic" sz="quarter" idx="77"/>
          </p:nvPr>
        </p:nvSpPr>
        <p:spPr>
          <a:xfrm>
            <a:off x="170539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3" name="AutoShape 33"/>
          <p:cNvSpPr>
            <a:spLocks noGrp="1"/>
          </p:cNvSpPr>
          <p:nvPr>
            <p:ph type="pic" sz="quarter" idx="78"/>
          </p:nvPr>
        </p:nvSpPr>
        <p:spPr>
          <a:xfrm>
            <a:off x="300738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4" name="AutoShape 34"/>
          <p:cNvSpPr>
            <a:spLocks noGrp="1"/>
          </p:cNvSpPr>
          <p:nvPr>
            <p:ph type="pic" sz="quarter" idx="79"/>
          </p:nvPr>
        </p:nvSpPr>
        <p:spPr>
          <a:xfrm>
            <a:off x="4309375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5" name="AutoShape 35"/>
          <p:cNvSpPr>
            <a:spLocks noGrp="1"/>
          </p:cNvSpPr>
          <p:nvPr>
            <p:ph type="pic" sz="quarter" idx="80"/>
          </p:nvPr>
        </p:nvSpPr>
        <p:spPr>
          <a:xfrm>
            <a:off x="5611363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6" name="AutoShape 36"/>
          <p:cNvSpPr>
            <a:spLocks noGrp="1"/>
          </p:cNvSpPr>
          <p:nvPr>
            <p:ph type="pic" sz="quarter" idx="81"/>
          </p:nvPr>
        </p:nvSpPr>
        <p:spPr>
          <a:xfrm>
            <a:off x="691335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7" name="AutoShape 37"/>
          <p:cNvSpPr>
            <a:spLocks noGrp="1"/>
          </p:cNvSpPr>
          <p:nvPr>
            <p:ph type="pic" sz="quarter" idx="82"/>
          </p:nvPr>
        </p:nvSpPr>
        <p:spPr>
          <a:xfrm>
            <a:off x="821533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8" name="AutoShape 38"/>
          <p:cNvSpPr>
            <a:spLocks noGrp="1"/>
          </p:cNvSpPr>
          <p:nvPr>
            <p:ph type="pic" sz="quarter" idx="83"/>
          </p:nvPr>
        </p:nvSpPr>
        <p:spPr>
          <a:xfrm>
            <a:off x="951732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9" name="AutoShape 39"/>
          <p:cNvSpPr>
            <a:spLocks noGrp="1"/>
          </p:cNvSpPr>
          <p:nvPr>
            <p:ph type="pic" sz="quarter" idx="84"/>
          </p:nvPr>
        </p:nvSpPr>
        <p:spPr>
          <a:xfrm>
            <a:off x="10819317" y="3542360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0" name="AutoShape 40"/>
          <p:cNvSpPr>
            <a:spLocks noGrp="1"/>
          </p:cNvSpPr>
          <p:nvPr>
            <p:ph type="pic" sz="quarter" idx="85"/>
          </p:nvPr>
        </p:nvSpPr>
        <p:spPr>
          <a:xfrm>
            <a:off x="170539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1" name="AutoShape 41"/>
          <p:cNvSpPr>
            <a:spLocks noGrp="1"/>
          </p:cNvSpPr>
          <p:nvPr>
            <p:ph type="pic" sz="quarter" idx="86"/>
          </p:nvPr>
        </p:nvSpPr>
        <p:spPr>
          <a:xfrm>
            <a:off x="300738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2" name="AutoShape 42"/>
          <p:cNvSpPr>
            <a:spLocks noGrp="1"/>
          </p:cNvSpPr>
          <p:nvPr>
            <p:ph type="pic" sz="quarter" idx="87"/>
          </p:nvPr>
        </p:nvSpPr>
        <p:spPr>
          <a:xfrm>
            <a:off x="4309375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3" name="AutoShape 43"/>
          <p:cNvSpPr>
            <a:spLocks noGrp="1"/>
          </p:cNvSpPr>
          <p:nvPr>
            <p:ph type="pic" sz="quarter" idx="88"/>
          </p:nvPr>
        </p:nvSpPr>
        <p:spPr>
          <a:xfrm>
            <a:off x="5611363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4" name="AutoShape 44"/>
          <p:cNvSpPr>
            <a:spLocks noGrp="1"/>
          </p:cNvSpPr>
          <p:nvPr>
            <p:ph type="pic" sz="quarter" idx="89"/>
          </p:nvPr>
        </p:nvSpPr>
        <p:spPr>
          <a:xfrm>
            <a:off x="691335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5" name="AutoShape 45"/>
          <p:cNvSpPr>
            <a:spLocks noGrp="1"/>
          </p:cNvSpPr>
          <p:nvPr>
            <p:ph type="pic" sz="quarter" idx="90"/>
          </p:nvPr>
        </p:nvSpPr>
        <p:spPr>
          <a:xfrm>
            <a:off x="821533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6" name="AutoShape 46"/>
          <p:cNvSpPr>
            <a:spLocks noGrp="1"/>
          </p:cNvSpPr>
          <p:nvPr>
            <p:ph type="pic" sz="quarter" idx="91"/>
          </p:nvPr>
        </p:nvSpPr>
        <p:spPr>
          <a:xfrm>
            <a:off x="951732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7" name="AutoShape 47"/>
          <p:cNvSpPr>
            <a:spLocks noGrp="1"/>
          </p:cNvSpPr>
          <p:nvPr>
            <p:ph type="pic" sz="quarter" idx="92"/>
          </p:nvPr>
        </p:nvSpPr>
        <p:spPr>
          <a:xfrm>
            <a:off x="10819317" y="460217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8" name="AutoShape 48"/>
          <p:cNvSpPr>
            <a:spLocks noGrp="1"/>
          </p:cNvSpPr>
          <p:nvPr>
            <p:ph type="pic" sz="quarter" idx="93"/>
          </p:nvPr>
        </p:nvSpPr>
        <p:spPr>
          <a:xfrm>
            <a:off x="170539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9" name="AutoShape 49"/>
          <p:cNvSpPr>
            <a:spLocks noGrp="1"/>
          </p:cNvSpPr>
          <p:nvPr>
            <p:ph type="pic" sz="quarter" idx="94"/>
          </p:nvPr>
        </p:nvSpPr>
        <p:spPr>
          <a:xfrm>
            <a:off x="300738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0" name="AutoShape 50"/>
          <p:cNvSpPr>
            <a:spLocks noGrp="1"/>
          </p:cNvSpPr>
          <p:nvPr>
            <p:ph type="pic" sz="quarter" idx="95"/>
          </p:nvPr>
        </p:nvSpPr>
        <p:spPr>
          <a:xfrm>
            <a:off x="4309375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1" name="AutoShape 51"/>
          <p:cNvSpPr>
            <a:spLocks noGrp="1"/>
          </p:cNvSpPr>
          <p:nvPr>
            <p:ph type="pic" sz="quarter" idx="96"/>
          </p:nvPr>
        </p:nvSpPr>
        <p:spPr>
          <a:xfrm>
            <a:off x="5611363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2" name="AutoShape 52"/>
          <p:cNvSpPr>
            <a:spLocks noGrp="1"/>
          </p:cNvSpPr>
          <p:nvPr>
            <p:ph type="pic" sz="quarter" idx="97"/>
          </p:nvPr>
        </p:nvSpPr>
        <p:spPr>
          <a:xfrm>
            <a:off x="6913351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3" name="AutoShape 53"/>
          <p:cNvSpPr>
            <a:spLocks noGrp="1"/>
          </p:cNvSpPr>
          <p:nvPr>
            <p:ph type="pic" sz="quarter" idx="98"/>
          </p:nvPr>
        </p:nvSpPr>
        <p:spPr>
          <a:xfrm>
            <a:off x="821533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4" name="AutoShape 54"/>
          <p:cNvSpPr>
            <a:spLocks noGrp="1"/>
          </p:cNvSpPr>
          <p:nvPr>
            <p:ph type="pic" sz="quarter" idx="99"/>
          </p:nvPr>
        </p:nvSpPr>
        <p:spPr>
          <a:xfrm>
            <a:off x="951732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5" name="AutoShape 55"/>
          <p:cNvSpPr>
            <a:spLocks noGrp="1"/>
          </p:cNvSpPr>
          <p:nvPr>
            <p:ph type="pic" sz="quarter" idx="100"/>
          </p:nvPr>
        </p:nvSpPr>
        <p:spPr>
          <a:xfrm>
            <a:off x="10819317" y="5651686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4" hasCustomPrompt="1"/>
          </p:nvPr>
        </p:nvSpPr>
        <p:spPr>
          <a:xfrm>
            <a:off x="423068" y="2415203"/>
            <a:ext cx="54864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4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5" hasCustomPrompt="1"/>
          </p:nvPr>
        </p:nvSpPr>
        <p:spPr>
          <a:xfrm>
            <a:off x="423068" y="3138594"/>
            <a:ext cx="548640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6" hasCustomPrompt="1"/>
          </p:nvPr>
        </p:nvSpPr>
        <p:spPr>
          <a:xfrm>
            <a:off x="423068" y="4771707"/>
            <a:ext cx="3657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AutoShape 5"/>
          <p:cNvSpPr/>
          <p:nvPr/>
        </p:nvSpPr>
        <p:spPr>
          <a:xfrm>
            <a:off x="423068" y="6391780"/>
            <a:ext cx="835165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 Group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pic" sz="quarter" idx="107"/>
          </p:nvPr>
        </p:nvSpPr>
        <p:spPr>
          <a:xfrm>
            <a:off x="6092952" y="0"/>
            <a:ext cx="6099048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8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9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8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0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algn="l"/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eep Blue Title Only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1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2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8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3"/>
          </p:nvPr>
        </p:nvSpPr>
        <p:spPr>
          <a:xfrm>
            <a:off x="428625" y="6420355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10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28625" y="6420355"/>
            <a:ext cx="12795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	|	 © Atos Group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5" name="AutoShape 5"/>
          <p:cNvSpPr>
            <a:spLocks noGrp="1"/>
          </p:cNvSpPr>
          <p:nvPr>
            <p:ph type="body" sz="quarter" idx="114" hasCustomPrompt="1"/>
          </p:nvPr>
        </p:nvSpPr>
        <p:spPr>
          <a:xfrm>
            <a:off x="428625" y="1196367"/>
            <a:ext cx="5852160" cy="1554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lvl1pPr algn="l" defTabSz="914400">
              <a:lnSpc>
                <a:spcPct val="100000"/>
              </a:lnSpc>
              <a:defRPr sz="4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15" hasCustomPrompt="1"/>
          </p:nvPr>
        </p:nvSpPr>
        <p:spPr>
          <a:xfrm>
            <a:off x="428625" y="2748074"/>
            <a:ext cx="585216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6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7" name="Freeform 7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6" hasCustomPrompt="1"/>
          </p:nvPr>
        </p:nvSpPr>
        <p:spPr>
          <a:xfrm>
            <a:off x="428625" y="1189363"/>
            <a:ext cx="5370060" cy="123110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80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80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Thank you!</a:t>
            </a:r>
          </a:p>
        </p:txBody>
      </p:sp>
      <p:sp>
        <p:nvSpPr>
          <p:cNvPr id="3" name="AutoShape 3"/>
          <p:cNvSpPr/>
          <p:nvPr/>
        </p:nvSpPr>
        <p:spPr>
          <a:xfrm>
            <a:off x="428625" y="5422415"/>
            <a:ext cx="3383281" cy="49244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b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1100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7" hasCustomPrompt="1"/>
          </p:nvPr>
        </p:nvSpPr>
        <p:spPr>
          <a:xfrm>
            <a:off x="428625" y="6316314"/>
            <a:ext cx="2560320" cy="923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lvl1pPr algn="l" defTabSz="914400">
              <a:lnSpc>
                <a:spcPct val="100000"/>
              </a:lnSpc>
              <a:defRPr sz="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Job Number-Designer-BP</a:t>
            </a:r>
          </a:p>
        </p:txBody>
      </p:sp>
      <p:sp>
        <p:nvSpPr>
          <p:cNvPr id="5" name="AutoShape 5"/>
          <p:cNvSpPr/>
          <p:nvPr/>
        </p:nvSpPr>
        <p:spPr>
          <a:xfrm>
            <a:off x="5884404" y="6391780"/>
            <a:ext cx="423193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8" hasCustomPrompt="1"/>
          </p:nvPr>
        </p:nvSpPr>
        <p:spPr>
          <a:xfrm>
            <a:off x="303548" y="164637"/>
            <a:ext cx="11436096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 in Raleway SemiBold 20pt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9" hasCustomPrompt="1"/>
          </p:nvPr>
        </p:nvSpPr>
        <p:spPr>
          <a:xfrm>
            <a:off x="303547" y="556610"/>
            <a:ext cx="11436096" cy="5805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135" b="0" i="0" u="none" strike="noStrike" spc="0">
                <a:solidFill>
                  <a:srgbClr val="0596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2135" b="0" i="0" u="none" strike="noStrike">
                <a:solidFill>
                  <a:srgbClr val="0596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 in Raleway SemiBold 16pt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54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120" hasCustomPrompt="1"/>
          </p:nvPr>
        </p:nvSpPr>
        <p:spPr>
          <a:xfrm>
            <a:off x="2954745" y="1446367"/>
            <a:ext cx="343043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1" hasCustomPrompt="1"/>
          </p:nvPr>
        </p:nvSpPr>
        <p:spPr>
          <a:xfrm>
            <a:off x="3674348" y="1446367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22" hasCustomPrompt="1"/>
          </p:nvPr>
        </p:nvSpPr>
        <p:spPr>
          <a:xfrm>
            <a:off x="11406268" y="1446367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23" hasCustomPrompt="1"/>
          </p:nvPr>
        </p:nvSpPr>
        <p:spPr>
          <a:xfrm>
            <a:off x="2954745" y="2713569"/>
            <a:ext cx="39594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24" hasCustomPrompt="1"/>
          </p:nvPr>
        </p:nvSpPr>
        <p:spPr>
          <a:xfrm>
            <a:off x="3674348" y="2713569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125" hasCustomPrompt="1"/>
          </p:nvPr>
        </p:nvSpPr>
        <p:spPr>
          <a:xfrm>
            <a:off x="11406268" y="2713569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126" hasCustomPrompt="1"/>
          </p:nvPr>
        </p:nvSpPr>
        <p:spPr>
          <a:xfrm>
            <a:off x="2954745" y="3980771"/>
            <a:ext cx="397545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127" hasCustomPrompt="1"/>
          </p:nvPr>
        </p:nvSpPr>
        <p:spPr>
          <a:xfrm>
            <a:off x="3674348" y="3980771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128" hasCustomPrompt="1"/>
          </p:nvPr>
        </p:nvSpPr>
        <p:spPr>
          <a:xfrm>
            <a:off x="11406268" y="3980771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129" hasCustomPrompt="1"/>
          </p:nvPr>
        </p:nvSpPr>
        <p:spPr>
          <a:xfrm>
            <a:off x="2954745" y="5247973"/>
            <a:ext cx="403957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130" hasCustomPrompt="1"/>
          </p:nvPr>
        </p:nvSpPr>
        <p:spPr>
          <a:xfrm>
            <a:off x="3674348" y="5247973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131" hasCustomPrompt="1"/>
          </p:nvPr>
        </p:nvSpPr>
        <p:spPr>
          <a:xfrm>
            <a:off x="11406268" y="5247973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 defTabSz="914400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5" name="AutoShape 15"/>
          <p:cNvSpPr>
            <a:spLocks noGrp="1"/>
          </p:cNvSpPr>
          <p:nvPr>
            <p:ph type="body" sz="quarter" idx="132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Contents</a:t>
            </a:r>
          </a:p>
        </p:txBody>
      </p:sp>
      <p:sp>
        <p:nvSpPr>
          <p:cNvPr id="16" name="AutoShape 16"/>
          <p:cNvSpPr>
            <a:spLocks noGrp="1"/>
          </p:cNvSpPr>
          <p:nvPr>
            <p:ph type="body" sz="quarter" idx="133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 defTabSz="914400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134" hasCustomPrompt="1"/>
          </p:nvPr>
        </p:nvSpPr>
        <p:spPr>
          <a:xfrm>
            <a:off x="390098" y="389618"/>
            <a:ext cx="1376980" cy="14773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Freeform 4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5" hasCustomPrompt="1"/>
          </p:nvPr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54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  <a:b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two lines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wo curve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4" name="AutoShape 4"/>
          <p:cNvSpPr>
            <a:spLocks noGrp="1"/>
          </p:cNvSpPr>
          <p:nvPr>
            <p:ph type="body" sz="quarter" idx="136" hasCustomPrompt="1"/>
          </p:nvPr>
        </p:nvSpPr>
        <p:spPr>
          <a:xfrm>
            <a:off x="428625" y="4765675"/>
            <a:ext cx="3992904" cy="9699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18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Freeform 5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37" hasCustomPrompt="1"/>
          </p:nvPr>
        </p:nvSpPr>
        <p:spPr>
          <a:xfrm>
            <a:off x="428625" y="1456679"/>
            <a:ext cx="6766560" cy="1844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44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300"/>
              </a:spcAft>
            </a:pPr>
            <a:r>
              <a:rPr lang="en-US" sz="44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38" hasCustomPrompt="1"/>
          </p:nvPr>
        </p:nvSpPr>
        <p:spPr>
          <a:xfrm>
            <a:off x="428625" y="2084535"/>
            <a:ext cx="6766560" cy="1217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32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32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8100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-4" y="0"/>
            <a:ext cx="12192000" cy="6881005"/>
          </a:xfrm>
          <a:prstGeom prst="rect">
            <a:avLst/>
          </a:prstGeom>
          <a:gradFill rotWithShape="0">
            <a:gsLst>
              <a:gs pos="41999">
                <a:srgbClr val="FFFFFF">
                  <a:alpha val="100000"/>
                </a:srgbClr>
              </a:gs>
              <a:gs pos="100000">
                <a:srgbClr val="FFFFFF">
                  <a:alpha val="60000"/>
                </a:srgbClr>
              </a:gs>
            </a:gsLst>
            <a:lin ang="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5" y="6503027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" y="518500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>
            <a:spLocks noGrp="1"/>
          </p:cNvSpPr>
          <p:nvPr>
            <p:ph type="body" sz="quarter" idx="139" hasCustomPrompt="1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935" b="1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935" b="0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Click to add title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-16213" y="6276266"/>
            <a:ext cx="825500" cy="33979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33359" tIns="66685" rIns="133359" bIns="66685" rtlCol="0" anchor="ctr">
            <a:spAutoFit/>
          </a:bodyPr>
          <a:lstStyle/>
          <a:p>
            <a:pPr algn="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40"/>
          </p:nvPr>
        </p:nvSpPr>
        <p:spPr>
          <a:xfrm>
            <a:off x="320400" y="6326136"/>
            <a:ext cx="591024" cy="288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91440" tIns="45720" rIns="91440" bIns="45720" anchor="ctr">
            <a:spAutoFit/>
          </a:bodyPr>
          <a:lstStyle>
            <a:lvl1pPr algn="l" defTabSz="914400">
              <a:lnSpc>
                <a:spcPct val="100000"/>
              </a:lnSpc>
              <a:defRPr sz="1335" b="0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41" hasCustomPrompt="1"/>
          </p:nvPr>
        </p:nvSpPr>
        <p:spPr>
          <a:xfrm>
            <a:off x="320400" y="164637"/>
            <a:ext cx="11632251" cy="9601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400" b="0" i="0" u="none" strike="noStrike" spc="0">
                <a:solidFill>
                  <a:srgbClr val="0066A1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66A1"/>
                </a:solidFill>
                <a:latin typeface="Biennale Bold"/>
                <a:ea typeface="Biennale Bold"/>
                <a:cs typeface="Biennale Bold"/>
                <a:sym typeface="Biennale Bold"/>
              </a:rPr>
              <a:t>Click to edit the header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142" hasCustomPrompt="1"/>
          </p:nvPr>
        </p:nvSpPr>
        <p:spPr>
          <a:xfrm>
            <a:off x="316799" y="471915"/>
            <a:ext cx="11484000" cy="3432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2200" b="1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Click to add 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43" hasCustomPrompt="1"/>
          </p:nvPr>
        </p:nvSpPr>
        <p:spPr>
          <a:xfrm>
            <a:off x="316799" y="830931"/>
            <a:ext cx="11484000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spAutoFit/>
          </a:bodyPr>
          <a:lstStyle>
            <a:lvl1pPr algn="l" defTabSz="914400">
              <a:lnSpc>
                <a:spcPct val="100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429230" y="6298599"/>
            <a:ext cx="458064" cy="216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793038" y="6384973"/>
            <a:ext cx="605935" cy="1000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ctr" defTabSz="914400">
              <a:lnSpc>
                <a:spcPct val="100000"/>
              </a:lnSpc>
              <a:tabLst>
                <a:tab pos="190500" algn="l"/>
              </a:tabLst>
              <a:defRPr/>
            </a:pPr>
            <a:r>
              <a:rPr lang="en-US" sz="650" b="0" i="0" u="none" strike="noStrike">
                <a:solidFill>
                  <a:srgbClr val="808080"/>
                </a:solidFill>
                <a:latin typeface="Biennale"/>
                <a:ea typeface="Biennale"/>
                <a:cs typeface="Biennale"/>
                <a:sym typeface="Biennale"/>
              </a:rPr>
              <a:t>© EVIDEN SAS</a:t>
            </a:r>
            <a:endParaRPr lang="en-US" sz="110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44" hasCustomPrompt="1"/>
          </p:nvPr>
        </p:nvSpPr>
        <p:spPr>
          <a:xfrm>
            <a:off x="501520" y="1557338"/>
            <a:ext cx="11183565" cy="4787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marL="431800" indent="-203200" algn="l" defTabSz="914400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  <a:lvl2pPr marL="660400" indent="-203200"/>
            <a:lvl3pPr marL="889000" indent="-203200"/>
            <a:lvl4pPr marL="1117600" indent="-203200"/>
            <a:lvl5pPr marL="914400" indent="0"/>
            <a:lvl6pPr marL="711200" indent="0"/>
            <a:lvl7pPr marL="508000" indent="0"/>
            <a:lvl8pPr marL="304800" indent="0"/>
            <a:lvl9pPr marL="101600" indent="0"/>
          </a:lstStyle>
          <a:p>
            <a:pPr marL="228600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Start typing to add text without a bullet point. To add a bullet point, place the cursor at the start of this line and press tab.</a:t>
            </a:r>
          </a:p>
          <a:p>
            <a:pPr marL="457200" lvl="1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Second level</a:t>
            </a:r>
          </a:p>
          <a:p>
            <a:pPr marL="685800" lvl="2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Third level</a:t>
            </a:r>
          </a:p>
          <a:p>
            <a:pPr marL="914400" lvl="3" indent="-228600" algn="l" defTabSz="914400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Fourth level</a:t>
            </a:r>
          </a:p>
          <a:p>
            <a:pPr marL="914400" lvl="4" indent="0" algn="l" defTabSz="914400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45" hasCustomPrompt="1"/>
          </p:nvPr>
        </p:nvSpPr>
        <p:spPr>
          <a:xfrm>
            <a:off x="503870" y="504000"/>
            <a:ext cx="1118356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 defTabSz="914400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Insert page title (sentence case)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vider Pag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46" hasCustomPrompt="1"/>
          </p:nvPr>
        </p:nvSpPr>
        <p:spPr>
          <a:xfrm>
            <a:off x="503869" y="3090446"/>
            <a:ext cx="11182288" cy="6771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lvl1pPr algn="l" defTabSz="9144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Biennale Bold"/>
                <a:ea typeface="Biennale Bold"/>
                <a:cs typeface="Biennale Bold"/>
                <a:sym typeface="Biennale Bold"/>
              </a:rPr>
              <a:t>Divider page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147"/>
          </p:nvPr>
        </p:nvSpPr>
        <p:spPr>
          <a:xfrm>
            <a:off x="40341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148"/>
          </p:nvPr>
        </p:nvSpPr>
        <p:spPr>
          <a:xfrm>
            <a:off x="403411" y="1439904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149"/>
          </p:nvPr>
        </p:nvSpPr>
        <p:spPr>
          <a:xfrm>
            <a:off x="40341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150"/>
          </p:nvPr>
        </p:nvSpPr>
        <p:spPr>
          <a:xfrm>
            <a:off x="40341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151"/>
          </p:nvPr>
        </p:nvSpPr>
        <p:spPr>
          <a:xfrm>
            <a:off x="403411" y="5651686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152"/>
          </p:nvPr>
        </p:nvSpPr>
        <p:spPr>
          <a:xfrm>
            <a:off x="40341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153"/>
          </p:nvPr>
        </p:nvSpPr>
        <p:spPr>
          <a:xfrm>
            <a:off x="170539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pic" sz="quarter" idx="154"/>
          </p:nvPr>
        </p:nvSpPr>
        <p:spPr>
          <a:xfrm>
            <a:off x="300738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pic" sz="quarter" idx="155"/>
          </p:nvPr>
        </p:nvSpPr>
        <p:spPr>
          <a:xfrm>
            <a:off x="4309375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pic" sz="quarter" idx="156"/>
          </p:nvPr>
        </p:nvSpPr>
        <p:spPr>
          <a:xfrm>
            <a:off x="5611363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pic" sz="quarter" idx="157"/>
          </p:nvPr>
        </p:nvSpPr>
        <p:spPr>
          <a:xfrm>
            <a:off x="691335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pic" sz="quarter" idx="158"/>
          </p:nvPr>
        </p:nvSpPr>
        <p:spPr>
          <a:xfrm>
            <a:off x="821533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pic" sz="quarter" idx="159"/>
          </p:nvPr>
        </p:nvSpPr>
        <p:spPr>
          <a:xfrm>
            <a:off x="951732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5" name="AutoShape 15"/>
          <p:cNvSpPr>
            <a:spLocks noGrp="1"/>
          </p:cNvSpPr>
          <p:nvPr>
            <p:ph type="pic" sz="quarter" idx="160"/>
          </p:nvPr>
        </p:nvSpPr>
        <p:spPr>
          <a:xfrm>
            <a:off x="10819317" y="39039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6" name="AutoShape 16"/>
          <p:cNvSpPr>
            <a:spLocks noGrp="1"/>
          </p:cNvSpPr>
          <p:nvPr>
            <p:ph type="pic" sz="quarter" idx="161"/>
          </p:nvPr>
        </p:nvSpPr>
        <p:spPr>
          <a:xfrm>
            <a:off x="170539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7" name="AutoShape 17"/>
          <p:cNvSpPr>
            <a:spLocks noGrp="1"/>
          </p:cNvSpPr>
          <p:nvPr>
            <p:ph type="pic" sz="quarter" idx="162"/>
          </p:nvPr>
        </p:nvSpPr>
        <p:spPr>
          <a:xfrm>
            <a:off x="300738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8" name="AutoShape 18"/>
          <p:cNvSpPr>
            <a:spLocks noGrp="1"/>
          </p:cNvSpPr>
          <p:nvPr>
            <p:ph type="pic" sz="quarter" idx="163"/>
          </p:nvPr>
        </p:nvSpPr>
        <p:spPr>
          <a:xfrm>
            <a:off x="4309375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9" name="AutoShape 19"/>
          <p:cNvSpPr>
            <a:spLocks noGrp="1"/>
          </p:cNvSpPr>
          <p:nvPr>
            <p:ph type="pic" sz="quarter" idx="164"/>
          </p:nvPr>
        </p:nvSpPr>
        <p:spPr>
          <a:xfrm>
            <a:off x="5611363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0" name="AutoShape 20"/>
          <p:cNvSpPr>
            <a:spLocks noGrp="1"/>
          </p:cNvSpPr>
          <p:nvPr>
            <p:ph type="pic" sz="quarter" idx="165"/>
          </p:nvPr>
        </p:nvSpPr>
        <p:spPr>
          <a:xfrm>
            <a:off x="6913351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1" name="AutoShape 21"/>
          <p:cNvSpPr>
            <a:spLocks noGrp="1"/>
          </p:cNvSpPr>
          <p:nvPr>
            <p:ph type="pic" sz="quarter" idx="166"/>
          </p:nvPr>
        </p:nvSpPr>
        <p:spPr>
          <a:xfrm>
            <a:off x="821533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2" name="AutoShape 22"/>
          <p:cNvSpPr>
            <a:spLocks noGrp="1"/>
          </p:cNvSpPr>
          <p:nvPr>
            <p:ph type="pic" sz="quarter" idx="167"/>
          </p:nvPr>
        </p:nvSpPr>
        <p:spPr>
          <a:xfrm>
            <a:off x="951732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3" name="AutoShape 23"/>
          <p:cNvSpPr>
            <a:spLocks noGrp="1"/>
          </p:cNvSpPr>
          <p:nvPr>
            <p:ph type="pic" sz="quarter" idx="168"/>
          </p:nvPr>
        </p:nvSpPr>
        <p:spPr>
          <a:xfrm>
            <a:off x="10819317" y="1439904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4" name="AutoShape 24"/>
          <p:cNvSpPr>
            <a:spLocks noGrp="1"/>
          </p:cNvSpPr>
          <p:nvPr>
            <p:ph type="pic" sz="quarter" idx="169"/>
          </p:nvPr>
        </p:nvSpPr>
        <p:spPr>
          <a:xfrm>
            <a:off x="170539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5" name="AutoShape 25"/>
          <p:cNvSpPr>
            <a:spLocks noGrp="1"/>
          </p:cNvSpPr>
          <p:nvPr>
            <p:ph type="pic" sz="quarter" idx="170"/>
          </p:nvPr>
        </p:nvSpPr>
        <p:spPr>
          <a:xfrm>
            <a:off x="300738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6" name="AutoShape 26"/>
          <p:cNvSpPr>
            <a:spLocks noGrp="1"/>
          </p:cNvSpPr>
          <p:nvPr>
            <p:ph type="pic" sz="quarter" idx="171"/>
          </p:nvPr>
        </p:nvSpPr>
        <p:spPr>
          <a:xfrm>
            <a:off x="4309375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7" name="AutoShape 27"/>
          <p:cNvSpPr>
            <a:spLocks noGrp="1"/>
          </p:cNvSpPr>
          <p:nvPr>
            <p:ph type="pic" sz="quarter" idx="172"/>
          </p:nvPr>
        </p:nvSpPr>
        <p:spPr>
          <a:xfrm>
            <a:off x="5611363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8" name="AutoShape 28"/>
          <p:cNvSpPr>
            <a:spLocks noGrp="1"/>
          </p:cNvSpPr>
          <p:nvPr>
            <p:ph type="pic" sz="quarter" idx="173"/>
          </p:nvPr>
        </p:nvSpPr>
        <p:spPr>
          <a:xfrm>
            <a:off x="691335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9" name="AutoShape 29"/>
          <p:cNvSpPr>
            <a:spLocks noGrp="1"/>
          </p:cNvSpPr>
          <p:nvPr>
            <p:ph type="pic" sz="quarter" idx="174"/>
          </p:nvPr>
        </p:nvSpPr>
        <p:spPr>
          <a:xfrm>
            <a:off x="821533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0" name="AutoShape 30"/>
          <p:cNvSpPr>
            <a:spLocks noGrp="1"/>
          </p:cNvSpPr>
          <p:nvPr>
            <p:ph type="pic" sz="quarter" idx="175"/>
          </p:nvPr>
        </p:nvSpPr>
        <p:spPr>
          <a:xfrm>
            <a:off x="951732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1" name="AutoShape 31"/>
          <p:cNvSpPr>
            <a:spLocks noGrp="1"/>
          </p:cNvSpPr>
          <p:nvPr>
            <p:ph type="pic" sz="quarter" idx="176"/>
          </p:nvPr>
        </p:nvSpPr>
        <p:spPr>
          <a:xfrm>
            <a:off x="10819317" y="249628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2" name="AutoShape 32"/>
          <p:cNvSpPr>
            <a:spLocks noGrp="1"/>
          </p:cNvSpPr>
          <p:nvPr>
            <p:ph type="pic" sz="quarter" idx="177"/>
          </p:nvPr>
        </p:nvSpPr>
        <p:spPr>
          <a:xfrm>
            <a:off x="170539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3" name="AutoShape 33"/>
          <p:cNvSpPr>
            <a:spLocks noGrp="1"/>
          </p:cNvSpPr>
          <p:nvPr>
            <p:ph type="pic" sz="quarter" idx="178"/>
          </p:nvPr>
        </p:nvSpPr>
        <p:spPr>
          <a:xfrm>
            <a:off x="300738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4" name="AutoShape 34"/>
          <p:cNvSpPr>
            <a:spLocks noGrp="1"/>
          </p:cNvSpPr>
          <p:nvPr>
            <p:ph type="pic" sz="quarter" idx="179"/>
          </p:nvPr>
        </p:nvSpPr>
        <p:spPr>
          <a:xfrm>
            <a:off x="4309375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5" name="AutoShape 35"/>
          <p:cNvSpPr>
            <a:spLocks noGrp="1"/>
          </p:cNvSpPr>
          <p:nvPr>
            <p:ph type="pic" sz="quarter" idx="180"/>
          </p:nvPr>
        </p:nvSpPr>
        <p:spPr>
          <a:xfrm>
            <a:off x="5611363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6" name="AutoShape 36"/>
          <p:cNvSpPr>
            <a:spLocks noGrp="1"/>
          </p:cNvSpPr>
          <p:nvPr>
            <p:ph type="pic" sz="quarter" idx="181"/>
          </p:nvPr>
        </p:nvSpPr>
        <p:spPr>
          <a:xfrm>
            <a:off x="691335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7" name="AutoShape 37"/>
          <p:cNvSpPr>
            <a:spLocks noGrp="1"/>
          </p:cNvSpPr>
          <p:nvPr>
            <p:ph type="pic" sz="quarter" idx="182"/>
          </p:nvPr>
        </p:nvSpPr>
        <p:spPr>
          <a:xfrm>
            <a:off x="821533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8" name="AutoShape 38"/>
          <p:cNvSpPr>
            <a:spLocks noGrp="1"/>
          </p:cNvSpPr>
          <p:nvPr>
            <p:ph type="pic" sz="quarter" idx="183"/>
          </p:nvPr>
        </p:nvSpPr>
        <p:spPr>
          <a:xfrm>
            <a:off x="951732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9" name="AutoShape 39"/>
          <p:cNvSpPr>
            <a:spLocks noGrp="1"/>
          </p:cNvSpPr>
          <p:nvPr>
            <p:ph type="pic" sz="quarter" idx="184"/>
          </p:nvPr>
        </p:nvSpPr>
        <p:spPr>
          <a:xfrm>
            <a:off x="10819317" y="3542360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0" name="AutoShape 40"/>
          <p:cNvSpPr>
            <a:spLocks noGrp="1"/>
          </p:cNvSpPr>
          <p:nvPr>
            <p:ph type="pic" sz="quarter" idx="185"/>
          </p:nvPr>
        </p:nvSpPr>
        <p:spPr>
          <a:xfrm>
            <a:off x="170539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1" name="AutoShape 41"/>
          <p:cNvSpPr>
            <a:spLocks noGrp="1"/>
          </p:cNvSpPr>
          <p:nvPr>
            <p:ph type="pic" sz="quarter" idx="186"/>
          </p:nvPr>
        </p:nvSpPr>
        <p:spPr>
          <a:xfrm>
            <a:off x="300738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2" name="AutoShape 42"/>
          <p:cNvSpPr>
            <a:spLocks noGrp="1"/>
          </p:cNvSpPr>
          <p:nvPr>
            <p:ph type="pic" sz="quarter" idx="187"/>
          </p:nvPr>
        </p:nvSpPr>
        <p:spPr>
          <a:xfrm>
            <a:off x="4309375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3" name="AutoShape 43"/>
          <p:cNvSpPr>
            <a:spLocks noGrp="1"/>
          </p:cNvSpPr>
          <p:nvPr>
            <p:ph type="pic" sz="quarter" idx="188"/>
          </p:nvPr>
        </p:nvSpPr>
        <p:spPr>
          <a:xfrm>
            <a:off x="5611363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4" name="AutoShape 44"/>
          <p:cNvSpPr>
            <a:spLocks noGrp="1"/>
          </p:cNvSpPr>
          <p:nvPr>
            <p:ph type="pic" sz="quarter" idx="189"/>
          </p:nvPr>
        </p:nvSpPr>
        <p:spPr>
          <a:xfrm>
            <a:off x="691335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5" name="AutoShape 45"/>
          <p:cNvSpPr>
            <a:spLocks noGrp="1"/>
          </p:cNvSpPr>
          <p:nvPr>
            <p:ph type="pic" sz="quarter" idx="190"/>
          </p:nvPr>
        </p:nvSpPr>
        <p:spPr>
          <a:xfrm>
            <a:off x="821533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6" name="AutoShape 46"/>
          <p:cNvSpPr>
            <a:spLocks noGrp="1"/>
          </p:cNvSpPr>
          <p:nvPr>
            <p:ph type="pic" sz="quarter" idx="191"/>
          </p:nvPr>
        </p:nvSpPr>
        <p:spPr>
          <a:xfrm>
            <a:off x="951732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7" name="AutoShape 47"/>
          <p:cNvSpPr>
            <a:spLocks noGrp="1"/>
          </p:cNvSpPr>
          <p:nvPr>
            <p:ph type="pic" sz="quarter" idx="192"/>
          </p:nvPr>
        </p:nvSpPr>
        <p:spPr>
          <a:xfrm>
            <a:off x="10819317" y="460217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8" name="AutoShape 48"/>
          <p:cNvSpPr>
            <a:spLocks noGrp="1"/>
          </p:cNvSpPr>
          <p:nvPr>
            <p:ph type="pic" sz="quarter" idx="193"/>
          </p:nvPr>
        </p:nvSpPr>
        <p:spPr>
          <a:xfrm>
            <a:off x="170539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9" name="AutoShape 49"/>
          <p:cNvSpPr>
            <a:spLocks noGrp="1"/>
          </p:cNvSpPr>
          <p:nvPr>
            <p:ph type="pic" sz="quarter" idx="194"/>
          </p:nvPr>
        </p:nvSpPr>
        <p:spPr>
          <a:xfrm>
            <a:off x="300738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0" name="AutoShape 50"/>
          <p:cNvSpPr>
            <a:spLocks noGrp="1"/>
          </p:cNvSpPr>
          <p:nvPr>
            <p:ph type="pic" sz="quarter" idx="195"/>
          </p:nvPr>
        </p:nvSpPr>
        <p:spPr>
          <a:xfrm>
            <a:off x="4309375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1" name="AutoShape 51"/>
          <p:cNvSpPr>
            <a:spLocks noGrp="1"/>
          </p:cNvSpPr>
          <p:nvPr>
            <p:ph type="pic" sz="quarter" idx="196"/>
          </p:nvPr>
        </p:nvSpPr>
        <p:spPr>
          <a:xfrm>
            <a:off x="5611363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2" name="AutoShape 52"/>
          <p:cNvSpPr>
            <a:spLocks noGrp="1"/>
          </p:cNvSpPr>
          <p:nvPr>
            <p:ph type="pic" sz="quarter" idx="197"/>
          </p:nvPr>
        </p:nvSpPr>
        <p:spPr>
          <a:xfrm>
            <a:off x="6913351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3" name="AutoShape 53"/>
          <p:cNvSpPr>
            <a:spLocks noGrp="1"/>
          </p:cNvSpPr>
          <p:nvPr>
            <p:ph type="pic" sz="quarter" idx="198"/>
          </p:nvPr>
        </p:nvSpPr>
        <p:spPr>
          <a:xfrm>
            <a:off x="821533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4" name="AutoShape 54"/>
          <p:cNvSpPr>
            <a:spLocks noGrp="1"/>
          </p:cNvSpPr>
          <p:nvPr>
            <p:ph type="pic" sz="quarter" idx="199"/>
          </p:nvPr>
        </p:nvSpPr>
        <p:spPr>
          <a:xfrm>
            <a:off x="951732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5" name="AutoShape 55"/>
          <p:cNvSpPr>
            <a:spLocks noGrp="1"/>
          </p:cNvSpPr>
          <p:nvPr>
            <p:ph type="pic" sz="quarter" idx="200"/>
          </p:nvPr>
        </p:nvSpPr>
        <p:spPr>
          <a:xfrm>
            <a:off x="10819317" y="5651686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 </a:t>
            </a:r>
            <a:endParaRPr lang="en-US" sz="1100"/>
          </a:p>
        </p:txBody>
      </p:sp>
      <p:sp>
        <p:nvSpPr>
          <p:cNvPr id="2" name="Freeform 2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 </a:t>
            </a:r>
            <a:endParaRPr lang="en-US" sz="1100"/>
          </a:p>
        </p:txBody>
      </p:sp>
      <p:sp>
        <p:nvSpPr>
          <p:cNvPr id="2" name="Freeform 2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34" Type="http://schemas.openxmlformats.org/officeDocument/2006/relationships/image" Target="../media/image19.sv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image" Target="../media/image18.sv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image" Target="../media/image1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image" Target="../media/image17.sv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notesSlide" Target="../notesSlides/notesSlide3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image" Target="../media/image16.sv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slideLayout" Target="../slideLayouts/slideLayout12.xml"/><Relationship Id="rId30" Type="http://schemas.openxmlformats.org/officeDocument/2006/relationships/image" Target="../media/image15.svg"/><Relationship Id="rId8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slideLayout" Target="../slideLayouts/slideLayout12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tags" Target="../tags/tag38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5" Type="http://schemas.openxmlformats.org/officeDocument/2006/relationships/tags" Target="../tags/tag31.xml"/><Relationship Id="rId15" Type="http://schemas.openxmlformats.org/officeDocument/2006/relationships/image" Target="../media/image1.png"/><Relationship Id="rId10" Type="http://schemas.openxmlformats.org/officeDocument/2006/relationships/tags" Target="../tags/tag36.xml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notesSlide" Target="../notesSlides/notesSlide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3068" y="6391780"/>
            <a:ext cx="835165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Group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23068" y="1847166"/>
            <a:ext cx="5486400" cy="15818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sz="4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销售价格与折扣管理体系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23068" y="4077251"/>
            <a:ext cx="5486400" cy="112188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业务诊断咨询及SAP系统升级实施项目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23068" y="5491978"/>
            <a:ext cx="3657600" cy="6400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2026.07.22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107" r="106"/>
          <a:stretch>
            <a:fillRect/>
          </a:stretch>
        </p:blipFill>
        <p:spPr>
          <a:xfrm>
            <a:off x="6092952" y="0"/>
            <a:ext cx="6099048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3068" y="340653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954745" y="1446367"/>
            <a:ext cx="310983" cy="36933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621008" y="1446530"/>
            <a:ext cx="752094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现状诊断与痛点分析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406268" y="1446367"/>
            <a:ext cx="355867" cy="3077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algn="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1410950" y="2419350"/>
            <a:ext cx="355600" cy="3079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algn="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06268" y="4586561"/>
            <a:ext cx="355867" cy="3077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algn="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2954745" y="2412966"/>
            <a:ext cx="365760" cy="368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21008" y="2413000"/>
            <a:ext cx="752094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管理咨询解决方案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目录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455" y="100951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2954745" y="3479013"/>
            <a:ext cx="365760" cy="368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21008" y="3479165"/>
            <a:ext cx="7520940" cy="12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实施路径与优先级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901405" y="4530775"/>
            <a:ext cx="365760" cy="368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21008" y="4530775"/>
            <a:ext cx="7521210" cy="12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附录：相关文档及原始数据</a:t>
            </a:r>
            <a:endParaRPr lang="en-US" sz="1100"/>
          </a:p>
        </p:txBody>
      </p:sp>
      <p:pic>
        <p:nvPicPr>
          <p:cNvPr id="17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5400000">
            <a:off x="1117917" y="1285493"/>
            <a:ext cx="1545853" cy="15458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9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5" y="291465"/>
            <a:ext cx="11337925" cy="5905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销售价格与折扣管理现状，系统性分析</a:t>
            </a: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413000"/>
            <a:ext cx="2159000" cy="20320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71500" y="2603500"/>
            <a:ext cx="20320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销售价格与折扣</a:t>
            </a:r>
            <a:b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体系分析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1"/>
            </p:custDataLst>
          </p:nvPr>
        </p:nvCxnSpPr>
        <p:spPr>
          <a:xfrm rot="-4910">
            <a:off x="2794005" y="3422650"/>
            <a:ext cx="889002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1E3A8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9"/>
          <p:cNvCxnSpPr/>
          <p:nvPr>
            <p:custDataLst>
              <p:tags r:id="rId2"/>
            </p:custDataLst>
          </p:nvPr>
        </p:nvCxnSpPr>
        <p:spPr>
          <a:xfrm rot="-5571104">
            <a:off x="3746025" y="3295016"/>
            <a:ext cx="25495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>
            <p:custDataLst>
              <p:tags r:id="rId3"/>
            </p:custDataLst>
          </p:nvPr>
        </p:nvSpPr>
        <p:spPr>
          <a:xfrm>
            <a:off x="2921000" y="1778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>
            <p:custDataLst>
              <p:tags r:id="rId4"/>
            </p:custDataLst>
          </p:nvPr>
        </p:nvSpPr>
        <p:spPr>
          <a:xfrm>
            <a:off x="3429000" y="1930400"/>
            <a:ext cx="2159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01 </a:t>
            </a: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策略维度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5"/>
            </p:custDataLst>
          </p:nvPr>
        </p:nvSpPr>
        <p:spPr>
          <a:xfrm>
            <a:off x="3048000" y="2349500"/>
            <a:ext cx="2476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定价策略灵活但缺乏体系化管控，不同客户折扣差异大，主要靠人工审批，价格执行难以监控。</a:t>
            </a:r>
            <a:endParaRPr lang="en-US" sz="1100"/>
          </a:p>
        </p:txBody>
      </p:sp>
      <p:cxnSp>
        <p:nvCxnSpPr>
          <p:cNvPr id="13" name="Connector 13"/>
          <p:cNvCxnSpPr/>
          <p:nvPr>
            <p:custDataLst>
              <p:tags r:id="rId6"/>
            </p:custDataLst>
          </p:nvPr>
        </p:nvCxnSpPr>
        <p:spPr>
          <a:xfrm rot="-5571104">
            <a:off x="6587836" y="3295016"/>
            <a:ext cx="25495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4" name="AutoShape 14"/>
          <p:cNvSpPr/>
          <p:nvPr>
            <p:custDataLst>
              <p:tags r:id="rId7"/>
            </p:custDataLst>
          </p:nvPr>
        </p:nvSpPr>
        <p:spPr>
          <a:xfrm>
            <a:off x="5762811" y="1778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>
            <p:custDataLst>
              <p:tags r:id="rId8"/>
            </p:custDataLst>
          </p:nvPr>
        </p:nvSpPr>
        <p:spPr>
          <a:xfrm>
            <a:off x="6270811" y="1930400"/>
            <a:ext cx="2159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02 </a:t>
            </a: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数据维度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9"/>
            </p:custDataLst>
          </p:nvPr>
        </p:nvSpPr>
        <p:spPr>
          <a:xfrm>
            <a:off x="5889811" y="2349500"/>
            <a:ext cx="2476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</a:t>
            </a:r>
            <a:r>
              <a:rPr lang="zh-CN" alt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分散在SAP、商城、OA三套系统，数据不一致，价格维护繁琐且缺乏校验，源头数据失真。</a:t>
            </a:r>
            <a:endParaRPr lang="en-US" sz="1100"/>
          </a:p>
        </p:txBody>
      </p:sp>
      <p:cxnSp>
        <p:nvCxnSpPr>
          <p:cNvPr id="17" name="Connector 17"/>
          <p:cNvCxnSpPr/>
          <p:nvPr>
            <p:custDataLst>
              <p:tags r:id="rId10"/>
            </p:custDataLst>
          </p:nvPr>
        </p:nvCxnSpPr>
        <p:spPr>
          <a:xfrm rot="-5571104">
            <a:off x="9456541" y="3295016"/>
            <a:ext cx="25495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8" name="AutoShape 18"/>
          <p:cNvSpPr/>
          <p:nvPr>
            <p:custDataLst>
              <p:tags r:id="rId11"/>
            </p:custDataLst>
          </p:nvPr>
        </p:nvSpPr>
        <p:spPr>
          <a:xfrm>
            <a:off x="8631516" y="1778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>
            <p:custDataLst>
              <p:tags r:id="rId12"/>
            </p:custDataLst>
          </p:nvPr>
        </p:nvSpPr>
        <p:spPr>
          <a:xfrm>
            <a:off x="9139516" y="1930400"/>
            <a:ext cx="2159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03 </a:t>
            </a: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系统维度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13"/>
            </p:custDataLst>
          </p:nvPr>
        </p:nvSpPr>
        <p:spPr>
          <a:xfrm>
            <a:off x="8758516" y="2349500"/>
            <a:ext cx="2476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SAP标准定价与促销功能未充分启用，复杂促销依赖人工核算；系统多处BUG，折扣回冲与返利计算异常。</a:t>
            </a:r>
            <a:endParaRPr lang="en-US" sz="1100"/>
          </a:p>
        </p:txBody>
      </p:sp>
      <p:cxnSp>
        <p:nvCxnSpPr>
          <p:cNvPr id="21" name="Connector 21"/>
          <p:cNvCxnSpPr/>
          <p:nvPr>
            <p:custDataLst>
              <p:tags r:id="rId14"/>
            </p:custDataLst>
          </p:nvPr>
        </p:nvCxnSpPr>
        <p:spPr>
          <a:xfrm rot="5228894">
            <a:off x="5397025" y="3550284"/>
            <a:ext cx="25495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2" name="AutoShape 22"/>
          <p:cNvSpPr/>
          <p:nvPr>
            <p:custDataLst>
              <p:tags r:id="rId15"/>
            </p:custDataLst>
          </p:nvPr>
        </p:nvSpPr>
        <p:spPr>
          <a:xfrm>
            <a:off x="3937000" y="3674037"/>
            <a:ext cx="2921000" cy="1397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>
            <p:custDataLst>
              <p:tags r:id="rId16"/>
            </p:custDataLst>
          </p:nvPr>
        </p:nvSpPr>
        <p:spPr>
          <a:xfrm>
            <a:off x="4117975" y="4273550"/>
            <a:ext cx="2559050" cy="6121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商城、OA与SAP系统边界模糊，价格库存促销数据不同步；审批后需人工导入，存在"线上审批、线下操作"现象。</a:t>
            </a:r>
            <a:endParaRPr lang="en-US" sz="1100"/>
          </a:p>
        </p:txBody>
      </p:sp>
      <p:cxnSp>
        <p:nvCxnSpPr>
          <p:cNvPr id="25" name="Connector 25"/>
          <p:cNvCxnSpPr/>
          <p:nvPr>
            <p:custDataLst>
              <p:tags r:id="rId17"/>
            </p:custDataLst>
          </p:nvPr>
        </p:nvCxnSpPr>
        <p:spPr>
          <a:xfrm rot="5228894">
            <a:off x="8508525" y="3550284"/>
            <a:ext cx="25495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6" name="AutoShape 26"/>
          <p:cNvSpPr/>
          <p:nvPr>
            <p:custDataLst>
              <p:tags r:id="rId18"/>
            </p:custDataLst>
          </p:nvPr>
        </p:nvSpPr>
        <p:spPr>
          <a:xfrm>
            <a:off x="7366000" y="3674037"/>
            <a:ext cx="2921000" cy="1397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>
            <p:custDataLst>
              <p:tags r:id="rId19"/>
            </p:custDataLst>
          </p:nvPr>
        </p:nvSpPr>
        <p:spPr>
          <a:xfrm>
            <a:off x="7874000" y="3826437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05 </a:t>
            </a: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运营维度</a:t>
            </a:r>
            <a:endParaRPr lang="en-US" sz="1100"/>
          </a:p>
        </p:txBody>
      </p:sp>
      <p:sp>
        <p:nvSpPr>
          <p:cNvPr id="28" name="AutoShape 28"/>
          <p:cNvSpPr/>
          <p:nvPr>
            <p:custDataLst>
              <p:tags r:id="rId20"/>
            </p:custDataLst>
          </p:nvPr>
        </p:nvSpPr>
        <p:spPr>
          <a:xfrm>
            <a:off x="7493000" y="4245537"/>
            <a:ext cx="2667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日常运营重人工核算轻系统治理；奖励返利侧重事后调整，事前规则配置与事中自动控制机制薄弱。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398905" y="5842000"/>
            <a:ext cx="9501505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6B7280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200" b="0" i="1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必须从体系化角度进行治理，单点优化无法解决根本问题，需构建全流程、全要素的销售价格与折扣管控体系。</a:t>
            </a:r>
            <a:r>
              <a:rPr lang="en-US" sz="1200" b="0" i="1" u="none" strike="noStrike">
                <a:solidFill>
                  <a:srgbClr val="6B7280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endParaRPr lang="en-US" sz="1100"/>
          </a:p>
        </p:txBody>
      </p:sp>
      <p:pic>
        <p:nvPicPr>
          <p:cNvPr id="30" name="Picture 26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064000" y="3826437"/>
            <a:ext cx="279400" cy="279400"/>
          </a:xfrm>
          <a:prstGeom prst="rect">
            <a:avLst/>
          </a:prstGeom>
        </p:spPr>
      </p:pic>
      <p:sp>
        <p:nvSpPr>
          <p:cNvPr id="31" name="AutoShape 27"/>
          <p:cNvSpPr/>
          <p:nvPr>
            <p:custDataLst>
              <p:tags r:id="rId22"/>
            </p:custDataLst>
          </p:nvPr>
        </p:nvSpPr>
        <p:spPr>
          <a:xfrm>
            <a:off x="4445000" y="3826437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04 </a:t>
            </a: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协同维度</a:t>
            </a:r>
            <a:endParaRPr lang="en-US" sz="1100"/>
          </a:p>
        </p:txBody>
      </p:sp>
      <p:pic>
        <p:nvPicPr>
          <p:cNvPr id="32" name="Picture 11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048000" y="1930400"/>
            <a:ext cx="279400" cy="279400"/>
          </a:xfrm>
          <a:prstGeom prst="rect">
            <a:avLst/>
          </a:prstGeom>
        </p:spPr>
      </p:pic>
      <p:pic>
        <p:nvPicPr>
          <p:cNvPr id="33" name="Picture 16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889811" y="1930400"/>
            <a:ext cx="279400" cy="279400"/>
          </a:xfrm>
          <a:prstGeom prst="rect">
            <a:avLst/>
          </a:prstGeom>
        </p:spPr>
      </p:pic>
      <p:pic>
        <p:nvPicPr>
          <p:cNvPr id="34" name="Picture 21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758516" y="1930400"/>
            <a:ext cx="279400" cy="279400"/>
          </a:xfrm>
          <a:prstGeom prst="rect">
            <a:avLst/>
          </a:prstGeom>
        </p:spPr>
      </p:pic>
      <p:pic>
        <p:nvPicPr>
          <p:cNvPr id="35" name="Picture 31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493000" y="3826437"/>
            <a:ext cx="2794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当前销售价格与折扣管理核心痛点是缺乏系统化管控闭环</a:t>
            </a: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413000"/>
            <a:ext cx="3556000" cy="2794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168400" y="2641600"/>
            <a:ext cx="279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01 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痛点聚焦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" y="3238500"/>
            <a:ext cx="31496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销售价格与折扣管理中优先级最高的核心问题，在于价格主数据、促销折扣、奖励返利三者缺乏统一的系统管控载体。这直接导致价格审批与执行脱节、促销核算依赖人工、奖励返利计算易错，难以支撑利润精细化管控的目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0" y="2413000"/>
            <a:ext cx="3556000" cy="2794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978400" y="2641600"/>
            <a:ext cx="279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02</a:t>
            </a:r>
            <a:r>
              <a:rPr lang="en-US" sz="1600" b="0" i="0" u="none" strike="noStrike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  <a:sym typeface="Noto Sans SC Bold"/>
              </a:rPr>
              <a:t> 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方案定位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21200" y="3238500"/>
            <a:ext cx="31496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方案从</a:t>
            </a:r>
            <a:r>
              <a:rPr lang="en-US" sz="12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销售价格与折扣体系化提升</a:t>
            </a:r>
            <a:r>
              <a:rPr lang="en-US" sz="12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的宏观方向进一步聚焦，精准锁定为</a:t>
            </a:r>
            <a:r>
              <a:rPr lang="en-US" sz="12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销售价格与折扣管理体系化管控</a:t>
            </a:r>
            <a:r>
              <a:rPr lang="en-US" sz="12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。通过构建统一的价格折扣管控平台，打破传统分散式管理的壁垒，形成从价格策略、促销规则、奖励核算到监控分析的端到端管理闭环，实现管控逻辑的标准化与自动化。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2413000"/>
            <a:ext cx="3556000" cy="2794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788400" y="2641600"/>
            <a:ext cx="279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03</a:t>
            </a:r>
            <a:r>
              <a:rPr lang="en-US" sz="1600" b="0" i="0" u="none" strike="noStrike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  <a:sym typeface="Noto Sans SC Bold"/>
              </a:rPr>
              <a:t> 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痛点范围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31200" y="3238500"/>
            <a:ext cx="31496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覆盖销售价格与折扣管理的核心全链路：从价格主数据的源头治理，到促销折扣的过程管理；从奖励返利的自动核算，到系统BUG的修复与数据质量提升；从核心报表的字段补齐，到跨系统流程的集成优化，最后延伸至事后的促销效果分析与决策支撑，实现业务环节的无死角管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方案综述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销售价格与折扣管理体系：方案总览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09577" y="1078301"/>
            <a:ext cx="7582000" cy="176841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项目目标：</a:t>
            </a:r>
            <a:endParaRPr lang="en-US" sz="1100"/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建立集团统一销售价格主数据治理体系，实现价格统一归口、统一审批、统一生效。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搭建全场景促销折扣自动化引擎，实现开单自动匹配最优促销方案。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建立标准化奖励返利自动核算与台账体系，实现奖励全生命周期可追溯。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构建价格、折扣、奖励全过程系统闭环，提升利润管控水平与决策支撑能力。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项目方案：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2.1 价格主数据治理：SAP价格条件记录，OA审批接口，</a:t>
            </a:r>
            <a:r>
              <a:rPr lang="zh-CN" alt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商城功能优化开发，</a:t>
            </a: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商城实时同步，有效期控制</a:t>
            </a:r>
            <a:r>
              <a:rPr lang="en-US" sz="10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（二期）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2.2 促销折扣引擎：促销规则配置化，开单自动核算，底价管控</a:t>
            </a:r>
            <a:r>
              <a:rPr lang="zh-CN" alt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，组定价</a:t>
            </a: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，折扣类型标识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2.3 奖励返利核算：SAP Rebate模块，阶梯奖励计算，奖励台账报表，跨年逻辑修复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2.4 报表与集成：核心字段补齐，促销效果分析，OA-SAP接口，商城实时同步</a:t>
            </a:r>
            <a:r>
              <a:rPr lang="zh-CN" altLang="en-US" sz="10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（二期）</a:t>
            </a:r>
            <a:endParaRPr lang="en-US" sz="1000" b="1" i="0" u="none" strike="noStrike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98949" y="3020370"/>
            <a:ext cx="2812522" cy="3076343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现状：</a:t>
            </a:r>
            <a:endParaRPr lang="en-US" sz="1100" dirty="0"/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价格</a:t>
            </a:r>
            <a:r>
              <a:rPr lang="zh-CN" altLang="en-US" sz="10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管理</a:t>
            </a:r>
            <a:r>
              <a:rPr lang="en-US" sz="10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分散在SAP、商城、OA三套系统，未形成单一数据源</a:t>
            </a:r>
            <a:r>
              <a:rPr lang="en-US" sz="10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OA审批完成后仍需人工导出导入维护SAP价格</a:t>
            </a:r>
            <a:r>
              <a:rPr lang="zh-CN" altLang="en-US" sz="10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，未进行系统集成</a:t>
            </a:r>
            <a:r>
              <a:rPr lang="en-US" sz="10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复杂促销政策无法自动落实至销售订单</a:t>
            </a:r>
            <a:r>
              <a:rPr lang="zh-CN" altLang="en-US" sz="10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，销售报价工作复杂。</a:t>
            </a:r>
            <a:r>
              <a:rPr lang="en-US" sz="10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批量价格审批受行数限制，需拆分多次操作</a:t>
            </a:r>
            <a:r>
              <a:rPr lang="en-US" sz="10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存在有价格读不到、特价均摊失真、奖励删除丢数等现象</a:t>
            </a:r>
            <a:r>
              <a:rPr lang="en-US" sz="10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销售折扣与奖励分析依赖人工统计</a:t>
            </a:r>
            <a:r>
              <a:rPr lang="en-US" sz="10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</a:p>
          <a:p>
            <a:pPr marL="0" indent="0" algn="l" defTabSz="914400">
              <a:lnSpc>
                <a:spcPct val="100000"/>
              </a:lnSpc>
              <a:buClr>
                <a:srgbClr val="000000"/>
              </a:buClr>
              <a:buNone/>
            </a:pPr>
            <a:endParaRPr lang="en-US" sz="10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000" b="1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主要差距</a:t>
            </a:r>
            <a:r>
              <a:rPr lang="en-US" sz="10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价格主数据未形成统一治理机制</a:t>
            </a:r>
            <a:r>
              <a:rPr lang="en-US" sz="10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SAP标准定价与促销能力利用不足</a:t>
            </a:r>
            <a:r>
              <a:rPr lang="en-US" sz="10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奖励返利缺少系统化核算与台账</a:t>
            </a:r>
            <a:r>
              <a:rPr lang="en-US" sz="10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商城、OA与SAP协同存在断点</a:t>
            </a:r>
            <a:r>
              <a:rPr lang="en-US" sz="10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销售分析缺少统一指标体系</a:t>
            </a:r>
            <a:r>
              <a:rPr lang="en-US" sz="10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3564766" y="3009009"/>
            <a:ext cx="4522498" cy="1526230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价格管理：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由分散维护➡️统一主数据自动同步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促销折扣：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由人工开单➡️系统规则自动匹配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奖励返利：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由Excel核算➡️系统自动计算+返写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销售分析：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由离线统计➡️实时销售驾驶舱</a:t>
            </a:r>
            <a:r>
              <a:rPr lang="en-US" sz="10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zh-CN" altLang="en-US" sz="1000" b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三</a:t>
            </a:r>
            <a:r>
              <a:rPr lang="en-US" sz="10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期）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569079" y="4669971"/>
            <a:ext cx="4522498" cy="1426743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统一价格主数据治理与三系统接口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全场景促销折扣规则配置与自动核算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奖励返利自动核算引擎与台账报表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系统BUG专项修复与数据质量提升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</a:t>
            </a:r>
            <a: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SAP与</a:t>
            </a:r>
            <a:r>
              <a:rPr lang="zh-CN" alt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商城</a:t>
            </a:r>
            <a: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系统接口协同优化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</a:t>
            </a:r>
            <a:r>
              <a:rPr lang="zh-CN" alt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销售</a:t>
            </a:r>
            <a: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运营分析体系与审计报表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399872" y="2128930"/>
            <a:ext cx="3282551" cy="1218117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399872" y="3620220"/>
            <a:ext cx="3282551" cy="113293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0" indent="0" algn="l" defTabSz="914400">
              <a:lnSpc>
                <a:spcPct val="100000"/>
              </a:lnSpc>
              <a:defRPr/>
            </a:pPr>
            <a:endParaRPr lang="en-US" sz="1100"/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价格策略需先行制订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促销政策规则需梳理确认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奖励返利政策需标准化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商城接口边界需确认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关键用户需全过程参与</a:t>
            </a: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/</a:t>
            </a:r>
            <a:r>
              <a:rPr lang="en-US" sz="1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中文）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399872" y="4963779"/>
            <a:ext cx="3282551" cy="113293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价格管理：价格维护统一归口，三系统一致</a:t>
            </a:r>
            <a:endParaRPr lang="en-US" sz="1100"/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促销效率：开单自动核算，工时下降60%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奖励准确：系统自动计算，错误率降低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数据质量：BUG修复后数据准确可靠</a:t>
            </a:r>
          </a:p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决策支撑：形成价格折扣奖励全链路分析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399872" y="1078301"/>
            <a:ext cx="3282551" cy="84000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主责： 销售管理中心、各事业部、数智化部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配合： 财务管理部、产品及方案中心、电商事业部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外部：艾维登SD专家、SAP实施团队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562025" y="900920"/>
            <a:ext cx="1039792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责任部门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8562025" y="1985697"/>
            <a:ext cx="1039792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里程碑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8562025" y="3473741"/>
            <a:ext cx="1643023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风险与项目依赖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8562025" y="4789456"/>
            <a:ext cx="2100224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业务价值和数字化指标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3773854" y="4535239"/>
            <a:ext cx="1376734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关键任务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3763676" y="2913921"/>
            <a:ext cx="1376734" cy="215127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业务变革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690731" y="2905836"/>
            <a:ext cx="1376734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 现状/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差距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690731" y="916009"/>
            <a:ext cx="1376734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目标和范围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862642" y="1552755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824823" y="2665562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1964838" y="2363638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8518896" y="2403009"/>
            <a:ext cx="1039793" cy="24622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规则确认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>
            <a:off x="8678174" y="3157265"/>
            <a:ext cx="27173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366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28" name="AutoShape 28"/>
          <p:cNvSpPr/>
          <p:nvPr/>
        </p:nvSpPr>
        <p:spPr>
          <a:xfrm>
            <a:off x="8987033" y="3105505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9662096" y="3102633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11034366" y="3117011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10662249" y="2402789"/>
            <a:ext cx="1020175" cy="400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奖励核算上线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211812" y="2403009"/>
            <a:ext cx="833143" cy="400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价格治理上线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652294" y="6599208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3722914" y="31242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10365823" y="3107116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9956750" y="2403009"/>
            <a:ext cx="833143" cy="400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促销引擎上线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三大管理成果实现销售价格与折扣管控体系升级</a:t>
            </a: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651000"/>
            <a:ext cx="1016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12700" cap="flat" cmpd="sng">
            <a:solidFill>
              <a:srgbClr val="0C4AD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11200" y="1651000"/>
            <a:ext cx="108204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12700" cap="flat" cmpd="sng">
            <a:solidFill>
              <a:srgbClr val="C4CCDD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14400" y="1714500"/>
            <a:ext cx="10414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01 </a:t>
            </a: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价格主数据治理统一化</a:t>
            </a:r>
            <a:endParaRPr lang="en-US" sz="1100"/>
          </a:p>
          <a:p>
            <a:pPr marL="0" indent="0" algn="l" defTabSz="914400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打破传统多系统分散维护模式，建立统一的销售价格归口管理机制，实现价格规则的标准化生效与全流程数据可追溯，彻底消除价格管理的灰色地带与信息孤岛，为利润控制提供坚实的数据基础。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508000" y="3048000"/>
            <a:ext cx="1016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12700" cap="flat" cmpd="sng">
            <a:solidFill>
              <a:srgbClr val="0C4AD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11200" y="3048000"/>
            <a:ext cx="108204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12700" cap="flat" cmpd="sng">
            <a:solidFill>
              <a:srgbClr val="C4CCDD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14400" y="3111500"/>
            <a:ext cx="10414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02 </a:t>
            </a: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促销折扣引擎系统化</a:t>
            </a:r>
            <a:endParaRPr lang="en-US" sz="1100"/>
          </a:p>
          <a:p>
            <a:pPr marL="0" indent="0" algn="l" defTabSz="914400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将依赖人工的线下促销折扣核算全面固化为</a:t>
            </a:r>
            <a:r>
              <a:rPr lang="en-US" sz="12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SAP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系统内的促销规则与折扣引擎逻辑，通过系统自动核算替代人为干预，保障折扣策略的刚性落地与公平执行，提升价格执行的准确性与合规性。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08000" y="4445000"/>
            <a:ext cx="1016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12700" cap="flat" cmpd="sng">
            <a:solidFill>
              <a:srgbClr val="0C4AD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11200" y="4445000"/>
            <a:ext cx="108204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12700" cap="flat" cmpd="sng">
            <a:solidFill>
              <a:srgbClr val="C4CCDD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14400" y="4508500"/>
            <a:ext cx="10414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03 </a:t>
            </a: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返利核算与BUG治理前置化</a:t>
            </a:r>
            <a:endParaRPr lang="en-US" sz="1100"/>
          </a:p>
          <a:p>
            <a:pPr marL="0" indent="0" algn="l" defTabSz="914400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重构返利核算与异常管理逻辑，从事后人工被动核查转向事前系统自动控制、事中实时风险预警与事后智能审计的全链路闭环管控，将价格与折扣风险拦截在业务发生前端，显著降低企业运营风险与损失。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969000" y="5842000"/>
            <a:ext cx="5715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实现从“人治”到“法治”的管理跃迁，构建透明高效的销售价格管控生态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463040" cy="1477010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36700" y="1866900"/>
            <a:ext cx="7344410" cy="1245870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方案详解及系统实现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SAP为核心构建销售价格与折扣管理一体化管控体系</a:t>
            </a: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524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01 </a:t>
            </a: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专题定位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2032000"/>
            <a:ext cx="508000" cy="381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08000" y="2286000"/>
            <a:ext cx="5080000" cy="266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SAP S/4HANA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集团销售价格执行与折扣控制的核心引擎，以商城系统为前端客户下单与促销交互平台，通过统一标准化的销售价格主数据、促销折扣规则引擎、奖励返利核算机制、销售订单审批流及异常审计规则，打通从价格策略制定、促销规则配置、客户下单、折扣自动核算、奖励返利结算至财务清账的全流程数据链路，形成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计划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-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-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监控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-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</a:t>
            </a:r>
            <a:r>
              <a:rPr lang="en-US" sz="12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的集团级销售价格管理系统闭环，实现价格与折扣业务的规范化、透明化与智能化管控，为企业利润精细化与合规经营提供坚实的数字化支撑。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969000" y="1524000"/>
            <a:ext cx="571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02 </a:t>
            </a: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建设目标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969000" y="2032000"/>
            <a:ext cx="508000" cy="381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969000" y="22860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1400" y="24384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477000" y="2413000"/>
            <a:ext cx="2222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价格主数据治理标准化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21400" y="2819400"/>
            <a:ext cx="2476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建立统一的销售价格主数据管理体系，覆盖全品类产品与渠道，实现价格从制定、审批、发布到执行的全生命周期可追溯与动态监控。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826500" y="22860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78900" y="24384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334500" y="2413000"/>
            <a:ext cx="2222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促销折扣引擎规范化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978900" y="2819400"/>
            <a:ext cx="2476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将促销政策、折扣规则转化为系统可执行的自动化引擎规则，确保折扣核算合规，从源头保障价格执行的准确性。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969000" y="38735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21400" y="4025900"/>
            <a:ext cx="279400" cy="279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477000" y="4000500"/>
            <a:ext cx="2222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奖励返利核算自动化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121400" y="4406900"/>
            <a:ext cx="2476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将客户阶梯奖励与渠道返利策略直接落地为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SAP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系统内的自动核算规则，实现奖励返利按预设规则自动计算与结算，优化客户激励资源利用与风险分担。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826500" y="38735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78900" y="4025900"/>
            <a:ext cx="279400" cy="279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334500" y="4000500"/>
            <a:ext cx="2222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BUG治理与报表智能化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978900" y="4406900"/>
            <a:ext cx="2476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建立事前规则校验、事中实时预警、事后智能审计的全链路机制，有效防范价格错漏、折扣异常、返利计算错误等业务风险。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08000" y="55245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1E3A8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35000" y="5651500"/>
            <a:ext cx="1092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核心价值：实现销售价格管理从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分散管控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集团集约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、从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人工管控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、从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事后核算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事前控制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的三大数字化转变，构建透明高效的销售价格管控新格局。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形成从价格主数据维护到返利结算审计的端到端业务闭环</a:t>
            </a: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439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71500" y="1503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01 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价格主数据维护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(SAP)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维护销售价格与折扣条件记录，经多级审批后系统生效，筑牢价格合规基准。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3365500" y="1439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429000" y="1503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02 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促销政策配置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(SAP)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配置全场景促销折扣策略，设定适用范围与有效期，形成系统化折扣引擎。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1439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86500" y="1503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03 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订单定价执行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(SAP)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系统自动匹配价格与折扣，实时校验订单合规性，拦截异常定价与越权折扣。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9080500" y="1439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144000" y="1503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04 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奖励返利核算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(SAP)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按客户协议规则自动计算奖励与返利，生成核算台账，确保返利计算准确透明。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397000" y="3217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460500" y="3281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07 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审计追溯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)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全链路数据留痕，价格变更与折扣审批实时可查，为合规审计提供完整依据。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762500" y="3217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826000" y="3281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06 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报表分析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(SAP)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开展价格执行与折扣效果分析，识别异常定价与利润流失，支撑管理决策优化。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128000" y="3217545"/>
            <a:ext cx="2603500" cy="120650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91500" y="3281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05 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结算核销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(SAP)</a:t>
            </a:r>
            <a:endParaRPr lang="en-US" sz="1300"/>
          </a:p>
          <a:p>
            <a:pPr marL="0" indent="0" algn="l" defTabSz="914400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返利结算与费用核销联动，财务凭证自动生成，确保结算流程合规高效。</a:t>
            </a:r>
          </a:p>
          <a:p>
            <a:pPr algn="l" defTabSz="914400">
              <a:lnSpc>
                <a:spcPct val="100000"/>
              </a:lnSpc>
            </a:pPr>
            <a:endParaRPr lang="en-US" sz="10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0" name="Connector 20"/>
          <p:cNvCxnSpPr/>
          <p:nvPr/>
        </p:nvCxnSpPr>
        <p:spPr>
          <a:xfrm rot="-171530">
            <a:off x="3111659" y="2030095"/>
            <a:ext cx="2543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1" name="Connector 21"/>
          <p:cNvCxnSpPr/>
          <p:nvPr/>
        </p:nvCxnSpPr>
        <p:spPr>
          <a:xfrm rot="-171530">
            <a:off x="5969159" y="2030095"/>
            <a:ext cx="2543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2" name="Connector 22"/>
          <p:cNvCxnSpPr/>
          <p:nvPr/>
        </p:nvCxnSpPr>
        <p:spPr>
          <a:xfrm rot="-171530">
            <a:off x="8826659" y="2030095"/>
            <a:ext cx="2543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3" name="Connector 23"/>
          <p:cNvCxnSpPr/>
          <p:nvPr/>
        </p:nvCxnSpPr>
        <p:spPr>
          <a:xfrm rot="5323636">
            <a:off x="10090079" y="2925587"/>
            <a:ext cx="57164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4" name="Connector 24"/>
          <p:cNvCxnSpPr/>
          <p:nvPr/>
        </p:nvCxnSpPr>
        <p:spPr>
          <a:xfrm rot="10714064">
            <a:off x="7365934" y="3811270"/>
            <a:ext cx="76202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5" name="Connector 25"/>
          <p:cNvCxnSpPr/>
          <p:nvPr/>
        </p:nvCxnSpPr>
        <p:spPr>
          <a:xfrm rot="10714064">
            <a:off x="4000434" y="3811270"/>
            <a:ext cx="76202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6" name="Connector 26"/>
          <p:cNvCxnSpPr/>
          <p:nvPr/>
        </p:nvCxnSpPr>
        <p:spPr>
          <a:xfrm rot="-5399981">
            <a:off x="2450996" y="2925339"/>
            <a:ext cx="5717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7" name="AutoShape 27"/>
          <p:cNvSpPr/>
          <p:nvPr/>
        </p:nvSpPr>
        <p:spPr>
          <a:xfrm>
            <a:off x="508000" y="4920615"/>
            <a:ext cx="36830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5047615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079500" y="5047615"/>
            <a:ext cx="3048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价格管控系统化落地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98500" y="5428615"/>
            <a:ext cx="330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将定价、折扣等管控规则固化至系统，实现从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人工定价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系统硬控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转变，消除执行偏差。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254500" y="4920615"/>
            <a:ext cx="36830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1E3A8A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5000" y="5047615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4826000" y="5047615"/>
            <a:ext cx="3048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折扣核算全程可追溯</a:t>
            </a:r>
            <a:endParaRPr lang="en-US" sz="1100" dirty="0"/>
          </a:p>
        </p:txBody>
      </p:sp>
      <p:sp>
        <p:nvSpPr>
          <p:cNvPr id="34" name="AutoShape 34"/>
          <p:cNvSpPr/>
          <p:nvPr/>
        </p:nvSpPr>
        <p:spPr>
          <a:xfrm>
            <a:off x="4445000" y="5428615"/>
            <a:ext cx="330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从定价到返利全链路数据留痕，价格变更与折扣审批实时可查，为审计与管理复盘提供完整依据。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001000" y="4920615"/>
            <a:ext cx="36830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1E3A8A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5047615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8572500" y="5047615"/>
            <a:ext cx="3048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返利风险前置化管控</a:t>
            </a:r>
            <a:endParaRPr lang="en-US" b="1" dirty="0">
              <a:solidFill>
                <a:srgbClr val="1E3A8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8191500" y="5428615"/>
            <a:ext cx="330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系统自动校验价格合规性，对异常折扣实时拦截预警，将销售风险从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事后补救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转为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事前预防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	Atos Confidential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  <a:t>优先采用SAP标准功能，最小化定制开发降低实施风险</a:t>
            </a: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endParaRPr lang="en-US"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1214719"/>
            <a:ext cx="6604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Noto Sans SC Bold"/>
                <a:sym typeface="Noto Sans SC Bold"/>
              </a:rPr>
              <a:t>标准功能优先清单</a:t>
            </a:r>
            <a:endParaRPr lang="en-US" sz="1600" b="1" i="0" u="none" strike="noStrike" dirty="0">
              <a:solidFill>
                <a:srgbClr val="0073E6"/>
              </a:solidFill>
              <a:latin typeface="微软雅黑" panose="020B0503020204020204" charset="-122"/>
              <a:ea typeface="微软雅黑" panose="020B0503020204020204" charset="-122"/>
              <a:cs typeface="Noto Sans SC Bold"/>
              <a:sym typeface="Noto Sans SC Bold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1849719"/>
            <a:ext cx="6604000" cy="1206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98500" y="1951319"/>
            <a:ext cx="635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01 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价格管理：标准化定价与审批体系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453342"/>
            <a:ext cx="177800" cy="177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914400" y="2306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销售信息记录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(SID)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销售价格主数据标准载体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7500" y="2453342"/>
            <a:ext cx="177800" cy="177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073400" y="2306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条件技术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(Condition)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灵活配置定价与折扣策略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2453342"/>
            <a:ext cx="177800" cy="177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978400" y="2306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审批策略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(Release)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多级价格与折扣变更管控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08000" y="3246719"/>
            <a:ext cx="6604000" cy="1206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98500" y="3348319"/>
            <a:ext cx="635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02 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折扣管理：促销政策与自动核算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3850342"/>
            <a:ext cx="177800" cy="177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14400" y="3703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折扣条件类型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标准化折扣载体与存取顺序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7500" y="3850342"/>
            <a:ext cx="177800" cy="177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3073400" y="3703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促销定价配置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全场景促销策略自动匹配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3850342"/>
            <a:ext cx="177800" cy="177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978400" y="3703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免费交货赠品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买赠等促销标准功能落地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508000" y="4643719"/>
            <a:ext cx="66040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98500" y="4745319"/>
            <a:ext cx="635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03 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返利管理：客户奖励与结算核销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5247342"/>
            <a:ext cx="177800" cy="177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14400" y="5100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销售返利协议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返利规则标准载体与有效期管控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7500" y="5247342"/>
            <a:ext cx="177800" cy="177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3073400" y="5100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返利结算单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自动核算与结算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/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台账管理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5247342"/>
            <a:ext cx="177800" cy="177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4978400" y="5100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会计凭证集成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财务自动过账与核销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7493000" y="1214719"/>
            <a:ext cx="4191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 Bold"/>
              </a:rPr>
              <a:t>需增强</a:t>
            </a:r>
            <a:r>
              <a:rPr lang="en-US" sz="1600" b="1" i="0" u="none" strike="noStrike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/</a:t>
            </a:r>
            <a:r>
              <a:rPr lang="en-US" sz="1600" b="1" i="0" u="none" strike="noStrike" dirty="0" err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 Bold"/>
              </a:rPr>
              <a:t>开发事项</a:t>
            </a:r>
            <a:endParaRPr lang="en-US" sz="1100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7493000" y="1849719"/>
            <a:ext cx="4191000" cy="3746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  <a:alpha val="2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3500" y="2263589"/>
            <a:ext cx="203200" cy="2032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937500" y="2103719"/>
            <a:ext cx="37465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价格到期预警报表：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基于销售价格条件记录有效期的自定义提醒清单，主动预警即将失效的价格与折扣。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3500" y="2962089"/>
            <a:ext cx="203200" cy="2032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7937500" y="2802219"/>
            <a:ext cx="37465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批量价格维护增强：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支持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/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批量导入与审批，提升价格主数据维护效率。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3500" y="3660589"/>
            <a:ext cx="203200" cy="2032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7937500" y="3500719"/>
            <a:ext cx="37465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折扣执行偏差分析：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跨周期的折扣实际执行与政策对比，识别并分析偏差原因。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3500" y="4359089"/>
            <a:ext cx="203200" cy="2032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7937500" y="4199219"/>
            <a:ext cx="37465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CRM</a:t>
            </a:r>
            <a:r>
              <a:rPr lang="en-US" sz="11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接口监控看板：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订单、价格与客户主数据对接状态、异常日志与重发机制的可视化监控。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3500" y="5057589"/>
            <a:ext cx="203200" cy="203200"/>
          </a:xfrm>
          <a:prstGeom prst="rect">
            <a:avLst/>
          </a:prstGeom>
        </p:spPr>
      </p:pic>
      <p:sp>
        <p:nvSpPr>
          <p:cNvPr id="42" name="AutoShape 42"/>
          <p:cNvSpPr/>
          <p:nvPr/>
        </p:nvSpPr>
        <p:spPr>
          <a:xfrm>
            <a:off x="7937500" y="4897719"/>
            <a:ext cx="37465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销售异常全景看板：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整合价格、折扣、返利等异常的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Fiori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分析卡片，提升决策效率。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AutoShape 43"/>
          <p:cNvSpPr/>
          <p:nvPr/>
        </p:nvSpPr>
        <p:spPr>
          <a:xfrm>
            <a:off x="0" y="5977219"/>
            <a:ext cx="12192000" cy="381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AutoShape 44"/>
          <p:cNvSpPr/>
          <p:nvPr/>
        </p:nvSpPr>
        <p:spPr>
          <a:xfrm>
            <a:off x="254000" y="6015319"/>
            <a:ext cx="11684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实施原则：标准功能覆盖率达到</a:t>
            </a:r>
            <a:r>
              <a:rPr lang="en-US" sz="1200" b="0" i="1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85%</a:t>
            </a:r>
            <a:r>
              <a:rPr lang="en-US" sz="1200" b="0" i="1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以上，仅在标准功能无法满足的关键业务场景进行增强开发，确保系统稳定性与可维护性。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463040" cy="1477010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86890" y="1866900"/>
            <a:ext cx="7094220" cy="1131570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配套行动计划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任务</a:t>
            </a: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一：建立销售价格主数据全生命周期统一治理体系</a:t>
            </a: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906">
            <a:off x="508004" y="1673115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08000" y="1933465"/>
            <a:ext cx="533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01 </a:t>
            </a: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核心建设内容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2504965"/>
            <a:ext cx="5334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5000" y="25684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01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统一价格归口管理：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明确销售价格维护责任部门，建立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谁定价、谁负责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的审批流程，消除多系统多头定价。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8000" y="3203465"/>
            <a:ext cx="5334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35000" y="32669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02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价格信息标准化：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统一产品编码、渠道、客户层级及价格条件类型，确保多系统数据规范一致。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8000" y="3901965"/>
            <a:ext cx="5334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35000" y="39654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03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变更刚性审批流：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销售价格调整必须触发多级审批，系统自动拦截未审批的变更操作。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08000" y="4600465"/>
            <a:ext cx="5334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35000" y="46639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04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全生命周期追溯：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系统自动记录所有销售价格变更的时间、人员及历史版本，支持审计回溯。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1933465"/>
            <a:ext cx="533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59669"/>
                </a:solidFill>
                <a:latin typeface="Biennale"/>
                <a:ea typeface="Biennale"/>
                <a:cs typeface="Biennale"/>
                <a:sym typeface="Biennale"/>
              </a:rPr>
              <a:t>02 </a:t>
            </a:r>
            <a:r>
              <a:rPr lang="en-US" sz="16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系统实现方式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2504965"/>
            <a:ext cx="5334000" cy="635000"/>
          </a:xfrm>
          <a:prstGeom prst="roundRect">
            <a:avLst>
              <a:gd name="adj" fmla="val 0"/>
            </a:avLst>
          </a:prstGeom>
          <a:solidFill>
            <a:srgbClr val="059669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77000" y="25684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价格主数据标准化：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SAP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销售价格条件记录（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PIR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），维护基准价、渠道价、客户分级价及折扣条件。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3203465"/>
            <a:ext cx="5334000" cy="635000"/>
          </a:xfrm>
          <a:prstGeom prst="roundRect">
            <a:avLst>
              <a:gd name="adj" fmla="val 0"/>
            </a:avLst>
          </a:prstGeom>
          <a:solidFill>
            <a:srgbClr val="059669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77000" y="32669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审批策略配置：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基于金额或产品组配置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Release Strategy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，未批准的销售价格无法使用。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3901965"/>
            <a:ext cx="5334000" cy="635000"/>
          </a:xfrm>
          <a:prstGeom prst="roundRect">
            <a:avLst>
              <a:gd name="adj" fmla="val 0"/>
            </a:avLst>
          </a:prstGeom>
          <a:solidFill>
            <a:srgbClr val="059669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477000" y="39654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变更文档追踪：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启用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Change Document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功能，完整记录销售价格修改的每一次操作痕迹。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4600465"/>
            <a:ext cx="5334000" cy="635000"/>
          </a:xfrm>
          <a:prstGeom prst="roundRect">
            <a:avLst>
              <a:gd name="adj" fmla="val 0"/>
            </a:avLst>
          </a:prstGeom>
          <a:solidFill>
            <a:srgbClr val="059669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477000" y="46639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预警与监控：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开发增强报表，自动推送即将过期的价格清单及多系统价格差异异常提醒。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08000" y="5362465"/>
            <a:ext cx="11176000" cy="508000"/>
          </a:xfrm>
          <a:prstGeom prst="roundRect">
            <a:avLst>
              <a:gd name="adj" fmla="val 0"/>
            </a:avLst>
          </a:prstGeom>
          <a:solidFill>
            <a:srgbClr val="1E3A8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35000" y="5464065"/>
            <a:ext cx="1092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管控价值：</a:t>
            </a:r>
            <a:r>
              <a:rPr lang="en-US" sz="1300" b="0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通过系统刚性控制杜绝非授权价格维护，确保销售价格全流程合规透明，规避利润流失风险，为精细化定价提供数据支撑。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08000" y="1196117"/>
            <a:ext cx="1117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实现销售价格有来源、维护有权限、生效有条件、变更有记录、异常有预警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任务</a:t>
            </a: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二：搭建全场景促销折扣自动化引擎SAP实现开单自动匹配最优折扣方案</a:t>
            </a: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526056"/>
            <a:ext cx="3556000" cy="2794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11200" y="1729256"/>
            <a:ext cx="314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建设目标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" y="2161056"/>
            <a:ext cx="3149600" cy="25400"/>
          </a:xfrm>
          <a:prstGeom prst="roundRect">
            <a:avLst>
              <a:gd name="adj" fmla="val 0"/>
            </a:avLst>
          </a:prstGeom>
          <a:solidFill>
            <a:srgbClr val="2563EB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11200" y="2351556"/>
            <a:ext cx="31496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</a:t>
            </a:r>
            <a:r>
              <a:rPr lang="zh-CN" alt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经销商订货商城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SAP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的促销规则配置数据流，将审批结果直接映射为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SAP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中可执行的产品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-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折扣规则关系。从系统层面建立刚性的折扣核算控制机制，彻底解决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促销政策已审批但系统未自动执行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的管理盲区，确保折扣核算源头合规。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18000" y="1526056"/>
            <a:ext cx="3556000" cy="2794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521200" y="1729256"/>
            <a:ext cx="314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核心举措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4521200" y="2161056"/>
            <a:ext cx="3149600" cy="25400"/>
          </a:xfrm>
          <a:prstGeom prst="roundRect">
            <a:avLst>
              <a:gd name="adj" fmla="val 0"/>
            </a:avLst>
          </a:prstGeom>
          <a:solidFill>
            <a:srgbClr val="2563EB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521200" y="2351556"/>
            <a:ext cx="31496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建立促销规则全生命周期管理，明确适用渠道、产品范围、活动周期及生效失效机制。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部署促销规则批量配置工具，解决海量产品与渠道的规则维护效率问题。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配置折扣互斥与叠加规则，对冲突促销实施系统自动优选或预警审批。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联动促销效果数据，将销量与转化率作为促销规则动态调整依据。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526056"/>
            <a:ext cx="3556000" cy="2794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331200" y="1729256"/>
            <a:ext cx="314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系统实现</a:t>
            </a:r>
            <a:endParaRPr lang="en-US" b="1" dirty="0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331200" y="2161056"/>
            <a:ext cx="3149600" cy="25400"/>
          </a:xfrm>
          <a:prstGeom prst="roundRect">
            <a:avLst>
              <a:gd name="adj" fmla="val 0"/>
            </a:avLst>
          </a:prstGeom>
          <a:solidFill>
            <a:srgbClr val="2563EB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331200" y="2351556"/>
            <a:ext cx="31496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启用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SAP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标准促销条件技术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(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rPr>
              <a:t>Condition Technique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)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作为折扣引擎核心控制载体。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CPI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批量规则配置接口，支撑高频次促销活动上线。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增强销售订单核算逻辑，强制关联有效促销规则自动计算折扣。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配置商城与SAP促销规则的实时集成同步机制。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08000" y="4828056"/>
            <a:ext cx="11176000" cy="889000"/>
          </a:xfrm>
          <a:prstGeom prst="roundRect">
            <a:avLst>
              <a:gd name="adj" fmla="val 0"/>
            </a:avLst>
          </a:prstGeom>
          <a:solidFill>
            <a:srgbClr val="1E3A8A">
              <a:alpha val="8000"/>
            </a:srgbClr>
          </a:solidFill>
          <a:ln w="12700" cap="flat" cmpd="sng">
            <a:solidFill>
              <a:srgbClr val="1E3A8A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62000" y="5018556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控制价值：从源头阻断人工核算误差，确保销售订单自动匹配最优促销折扣方案，有效防范折扣错漏与利润流失风险，实现促销折扣管理的闭环管控。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5" y="291465"/>
            <a:ext cx="11337925" cy="6286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2800" b="1" i="0" u="none" strike="noStrike" dirty="0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任务</a:t>
            </a:r>
            <a:r>
              <a:rPr lang="en-US" sz="2800" b="1" i="0" u="none" strike="noStrike" dirty="0" err="1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三：建立标准化奖励返利自动核算与台账体系SAP实现返利计算结算自动化</a:t>
            </a:r>
            <a:br>
              <a:rPr lang="en-US" sz="2800" b="1" i="0" u="none" strike="noStrike" dirty="0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 dirty="0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508000" y="1363683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核心建设内容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1998683"/>
            <a:ext cx="5842000" cy="762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C0D0E6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35000" y="2125683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06500" y="2062183"/>
            <a:ext cx="5080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客户阶梯奖励策略落地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将主供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/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年度奖励、渠道返利、价格补差等业务规则转化为系统可识别的逻辑，明确核算基准与结算周期，夯实系统运行基础。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8000" y="2824183"/>
            <a:ext cx="5842000" cy="762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C0D0E6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35000" y="2951183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206500" y="2887683"/>
            <a:ext cx="5080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返利核算规则（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rPr>
              <a:t>Rebate Agreement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）配置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</a:t>
            </a:r>
            <a:r>
              <a:rPr lang="en-US" sz="1100" b="0" i="0" u="none" strike="noStrike">
                <a:solidFill>
                  <a:srgbClr val="4B5563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Biennale"/>
              </a:rPr>
              <a:t>+销售域+客户”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维度维护客户返利比例与阶梯阈值，支持固定比例返利与基于销量达成的动态阶梯返利模式。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" y="3649683"/>
            <a:ext cx="5842000" cy="762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C0D0E6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35000" y="3776683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06500" y="3713183"/>
            <a:ext cx="5080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自动返利核算机制激活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返利月度结算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或年度结算时，系统自动触发返利核算逻辑，无需人工干预即可计算对应客户的奖励返利金额。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8000" y="4475183"/>
            <a:ext cx="5842000" cy="762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C0D0E6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35000" y="4602183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206500" y="4538683"/>
            <a:ext cx="5080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返利动态调整与监控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建立返利调整规则，基于客户销量达成率、回款及时率等指标，定期自动或手工调整返利</a:t>
            </a:r>
            <a:r>
              <a:rPr lang="zh-CN" alt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余额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，实现优胜劣汰。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731000" y="1363683"/>
            <a:ext cx="482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chemeClr val="accent5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返利核算逻辑示意</a:t>
            </a:r>
            <a:endParaRPr lang="en-US" sz="11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731000" y="1998683"/>
            <a:ext cx="4826000" cy="635000"/>
          </a:xfrm>
          <a:prstGeom prst="roundRect">
            <a:avLst>
              <a:gd name="adj" fmla="val 0"/>
            </a:avLst>
          </a:prstGeom>
          <a:solidFill>
            <a:schemeClr val="accent5">
              <a:lumMod val="50000"/>
            </a:schemeClr>
          </a:solidFill>
          <a:ln w="12700" cap="flat" cmpd="sng">
            <a:solidFill>
              <a:srgbClr val="002060"/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触发源：月度</a:t>
            </a:r>
            <a:r>
              <a:rPr lang="en-US" sz="1300" b="1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300" b="1" i="0" u="none" strike="noStrike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年度结算</a:t>
            </a:r>
            <a:r>
              <a:rPr lang="en-US" sz="1300" b="1" i="0" u="none" strike="noStrike" dirty="0" err="1">
                <a:solidFill>
                  <a:schemeClr val="bg1"/>
                </a:solidFill>
                <a:latin typeface="Biennale"/>
                <a:ea typeface="Biennale"/>
                <a:cs typeface="Biennale"/>
                <a:sym typeface="Biennale"/>
              </a:rPr>
              <a:t>周期</a:t>
            </a:r>
            <a:r>
              <a:rPr lang="en-US" sz="1300" b="1" i="0" u="none" strike="noStrike" dirty="0">
                <a:solidFill>
                  <a:schemeClr val="bg1"/>
                </a:solidFill>
                <a:latin typeface="Biennale"/>
                <a:ea typeface="Biennale"/>
                <a:cs typeface="Biennale"/>
                <a:sym typeface="Biennale"/>
              </a:rPr>
              <a:t> / </a:t>
            </a:r>
            <a:r>
              <a:rPr lang="en-US" sz="1300" b="1" i="0" u="none" strike="noStrike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客户达标触发</a:t>
            </a:r>
            <a:endParaRPr lang="en-US" sz="1100" dirty="0">
              <a:solidFill>
                <a:schemeClr val="bg1"/>
              </a:solidFill>
            </a:endParaRPr>
          </a:p>
        </p:txBody>
      </p:sp>
      <p:cxnSp>
        <p:nvCxnSpPr>
          <p:cNvPr id="21" name="Connector 21"/>
          <p:cNvCxnSpPr/>
          <p:nvPr/>
        </p:nvCxnSpPr>
        <p:spPr>
          <a:xfrm rot="5228255">
            <a:off x="9017000" y="2754492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2" name="AutoShape 22"/>
          <p:cNvSpPr/>
          <p:nvPr/>
        </p:nvSpPr>
        <p:spPr>
          <a:xfrm>
            <a:off x="6731000" y="2887683"/>
            <a:ext cx="15240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08000"/>
              </a:lnSpc>
              <a:defRPr/>
            </a:pPr>
            <a:r>
              <a:rPr lang="zh-CN" alt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客户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A</a:t>
            </a:r>
            <a:b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60%</a:t>
            </a:r>
            <a:br>
              <a:rPr lang="en-US" sz="16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</a:b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</a:t>
            </a:r>
            <a:r>
              <a:rPr lang="zh-CN" altLang="en-US" sz="11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要渠道客户</a:t>
            </a:r>
          </a:p>
        </p:txBody>
      </p:sp>
      <p:sp>
        <p:nvSpPr>
          <p:cNvPr id="23" name="AutoShape 23"/>
          <p:cNvSpPr/>
          <p:nvPr/>
        </p:nvSpPr>
        <p:spPr>
          <a:xfrm>
            <a:off x="8382000" y="2887683"/>
            <a:ext cx="1524000" cy="11430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8000"/>
              </a:lnSpc>
              <a:defRPr/>
            </a:pPr>
            <a:r>
              <a:rPr lang="zh-CN" alt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客户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B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30%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达标客户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033000" y="2887683"/>
            <a:ext cx="1524000" cy="1143000"/>
          </a:xfrm>
          <a:prstGeom prst="roundRect">
            <a:avLst>
              <a:gd name="adj" fmla="val 0"/>
            </a:avLst>
          </a:prstGeom>
          <a:solidFill>
            <a:srgbClr val="93C5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8000"/>
              </a:lnSpc>
              <a:defRPr/>
            </a:pPr>
            <a:r>
              <a:rPr lang="zh-CN" alt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客户</a:t>
            </a:r>
            <a:r>
              <a:rPr lang="en-US" sz="13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C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10%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待核算客户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731000" y="4284683"/>
            <a:ext cx="4826000" cy="889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系统依据返利协议自动计算各客户应得的奖励返利金额，实现返利结算单的自动生成与台账登记，确保执行层面严格匹配激励策略，杜绝人为核算偏差。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0" y="5491183"/>
            <a:ext cx="12192000" cy="508000"/>
          </a:xfrm>
          <a:prstGeom prst="roundRect">
            <a:avLst>
              <a:gd name="adj" fmla="val 0"/>
            </a:avLst>
          </a:prstGeom>
          <a:solidFill>
            <a:srgbClr val="1E3A8A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381000" y="5580083"/>
            <a:ext cx="1143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业务价值：将客户激励策略从管理制度转化为系统自动执行的规则，实现奖励返利的自动、准确核算与结算，保障客户关系稳定与财务合规。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5" y="291465"/>
            <a:ext cx="11337925" cy="746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任务</a:t>
            </a: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四：系统BUG专项治理与数据质量提升</a:t>
            </a: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377802"/>
            <a:ext cx="54610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08000" y="1377802"/>
            <a:ext cx="762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25500" y="1530202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01 </a:t>
            </a: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BUG专项治理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25500" y="1987402"/>
            <a:ext cx="4953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 dirty="0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全面排查价格条件、折扣核算、返利计算等核心程序BUG，确保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PIR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逻辑正确且在有效期内，杜绝计算错误</a:t>
            </a:r>
            <a:br>
              <a:rPr lang="en-US" sz="11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 dirty="0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修复折扣数量回冲、奖励删除、拆单错误等已知系统缺陷</a:t>
            </a:r>
            <a:br>
              <a:rPr lang="en-US" sz="11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 dirty="0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强制校验价格主数据、客户主数据、产品主数据的完整性与准确性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223000" y="1377802"/>
            <a:ext cx="54610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23000" y="1377802"/>
            <a:ext cx="76200" cy="1841500"/>
          </a:xfrm>
          <a:prstGeom prst="roundRect">
            <a:avLst>
              <a:gd name="adj" fmla="val 0"/>
            </a:avLst>
          </a:prstGeom>
          <a:solidFill>
            <a:schemeClr val="accent5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540500" y="1530202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2563EB"/>
                </a:solidFill>
                <a:latin typeface="Biennale"/>
                <a:ea typeface="Biennale"/>
                <a:cs typeface="Biennale"/>
                <a:sym typeface="Biennale"/>
              </a:rPr>
              <a:t>02 </a:t>
            </a:r>
            <a:r>
              <a:rPr lang="en-US" sz="1400" b="1" i="0" u="none" strike="noStrike" dirty="0" err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数据质量提升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6540500" y="1987402"/>
            <a:ext cx="4953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建立多系统价格数据一致性校验机制，差异自动预警与修复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设置价格精度与折扣计算容差阈值，异常时自动预警或强制阻断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规范价格维护与折扣操作流程，减少线下手工核算与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先用后补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08000" y="3346302"/>
            <a:ext cx="54610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08000" y="3346302"/>
            <a:ext cx="76200" cy="1841500"/>
          </a:xfrm>
          <a:prstGeom prst="roundRect">
            <a:avLst>
              <a:gd name="adj" fmla="val 0"/>
            </a:avLst>
          </a:prstGeom>
          <a:solidFill>
            <a:schemeClr val="accent5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25500" y="3498702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b="1" dirty="0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sym typeface="Biennale"/>
              </a:rPr>
              <a:t>03 </a:t>
            </a:r>
            <a:r>
              <a:rPr lang="en-US" b="1" dirty="0" err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例外流程管理</a:t>
            </a:r>
            <a:endParaRPr lang="en-US" b="1" dirty="0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25500" y="3955902"/>
            <a:ext cx="4953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针对特价审批、超权限折扣、特殊返利，建立分级例外审批机制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价格异常与折扣超限需经过更高层级的合规与财务审核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所有例外操作全流程系统留痕，数据可追溯，支持内部审计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3346302"/>
            <a:ext cx="54610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223000" y="3346302"/>
            <a:ext cx="762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540500" y="3498702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b="1" dirty="0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sym typeface="Biennale"/>
              </a:rPr>
              <a:t>04 </a:t>
            </a:r>
            <a:r>
              <a:rPr lang="en-US" b="1" dirty="0" err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报表分析能力提升</a:t>
            </a:r>
            <a:endParaRPr lang="en-US" b="1" dirty="0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540500" y="3955902"/>
            <a:ext cx="4953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完善促销效果分析、折扣执行分析、返利结算分析等核心报表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开通价格趋势分析、客户利润分析的专项数据通道，区分常规与促销产品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设定临时促销的快速响应流程，强调事后补审与效果复盘机制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54000" y="5378302"/>
            <a:ext cx="11684000" cy="558800"/>
          </a:xfrm>
          <a:prstGeom prst="roundRect">
            <a:avLst>
              <a:gd name="adj" fmla="val 0"/>
            </a:avLst>
          </a:prstGeom>
          <a:solidFill>
            <a:srgbClr val="1E3A8A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381000" y="5467202"/>
            <a:ext cx="1143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管控价值：将数据质量控制嵌入业务执行节点，从源头减少价格与折扣异常，构建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事前预防、事中控制、事后追溯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的全流程闭环。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解决方案五与六：</a:t>
            </a:r>
            <a:r>
              <a:rPr lang="en-US" sz="2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跨系统流程集成与组织协同优化，完善报表分析与决策支撑体系</a:t>
            </a: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470212"/>
            <a:ext cx="5397500" cy="50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35000" y="1546412"/>
            <a:ext cx="514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algn="l" defTabSz="914400">
              <a:lnSpc>
                <a:spcPct val="125000"/>
              </a:lnSpc>
              <a:buSzTx/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任务五：</a:t>
            </a:r>
            <a:r>
              <a:rPr lang="en-US" sz="14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SAP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Biennale"/>
              </a:rPr>
              <a:t>商城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协同优化</a:t>
            </a:r>
            <a:endParaRPr lang="en-US" sz="14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08000" y="2168712"/>
            <a:ext cx="5397500" cy="14605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5000" y="2257612"/>
            <a:ext cx="5143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Biennale"/>
                <a:ea typeface="Biennale"/>
                <a:cs typeface="Biennale"/>
                <a:sym typeface="Biennale"/>
              </a:rPr>
              <a:t>01 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核心痛点：跨系统数据割裂导致执行失控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" y="2613212"/>
            <a:ext cx="51435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价格不同步：</a:t>
            </a:r>
            <a:r>
              <a:rPr lang="zh-CN" alt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佛照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商城维护的促销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/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价格未实时传至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SAP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，SAP开单执行无依据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数据成孤岛：SAP与商城主数据口径不一，价格对账难且影响结算效率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监控有盲区：接口异常无预警，价格差异需人工排查，耗时耗力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8000" y="3819712"/>
            <a:ext cx="5397500" cy="1460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35000" y="3908612"/>
            <a:ext cx="5143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Biennale"/>
                <a:ea typeface="Biennale"/>
                <a:cs typeface="Biennale"/>
                <a:sym typeface="Biennale"/>
              </a:rPr>
              <a:t>02 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破局策略：流程与数据双向打通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" y="4264212"/>
            <a:ext cx="51435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权责清晰：</a:t>
            </a:r>
            <a:r>
              <a:rPr lang="zh-CN" alt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佛照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商城聚焦促销配置与客户下单，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SAP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负责价格执行与财务核算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机制保障：建立价格主数据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定时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+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触发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双向同步，确保多系统一致性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智能监控：部署价格接口监控大屏，异常自动告警，日清日结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86500" y="1470212"/>
            <a:ext cx="5397500" cy="50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13500" y="1546412"/>
            <a:ext cx="5143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解决方案六：报表分析与决策支撑体系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86500" y="2168712"/>
            <a:ext cx="5397500" cy="1460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13500" y="2257612"/>
            <a:ext cx="5143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Biennale"/>
                <a:ea typeface="Biennale"/>
                <a:cs typeface="Biennale"/>
                <a:sym typeface="Biennale"/>
              </a:rPr>
              <a:t>01 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决策驾驶舱：关键指标实时可视（报表展现，未来实现大屏展现）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2613212"/>
            <a:ext cx="51435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效率层：价格维护周期、促销上线及时率、折扣核算准确率追踪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合规层：价格执行合规率、折扣偏差率、例外审批频次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•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质量层：客户返利结算及时率、主数据完整度与准确率指标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86500" y="3819712"/>
            <a:ext cx="5397500" cy="14605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13500" y="3908612"/>
            <a:ext cx="5143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Biennale"/>
                <a:ea typeface="Biennale"/>
                <a:cs typeface="Biennale"/>
                <a:sym typeface="Biennale"/>
              </a:rPr>
              <a:t>02 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决策支撑：全链路可追溯闭环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13500" y="4264212"/>
            <a:ext cx="51435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全程留痕：价格调整、促销变更、例外审批系统自动存档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定期分析：建立月度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/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季度价格策略复盘机制，优化决策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100" b="0" i="0" u="none" strike="noStrike">
                <a:solidFill>
                  <a:srgbClr val="374151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责任到人：异常价格与违规折扣可精准定位环节与责任人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08000" y="5597712"/>
            <a:ext cx="11176000" cy="635000"/>
          </a:xfrm>
          <a:prstGeom prst="roundRect">
            <a:avLst>
              <a:gd name="adj" fmla="val 0"/>
            </a:avLst>
          </a:prstGeom>
          <a:solidFill>
            <a:srgbClr val="1E3A8A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508000" y="5762812"/>
            <a:ext cx="1117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价值总结：实现跨系统协同一体化、价格管理可视化、决策支撑常态化，全面提升销售价格与折扣管理的数字化治理水平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tabLst>
                <a:tab pos="274320" algn="l"/>
                <a:tab pos="411480" algn="l"/>
              </a:tabLst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实施路径与优先级：分四阶段推进，确保业务平稳过渡</a:t>
            </a: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"/>
            </p:custDataLst>
          </p:nvPr>
        </p:nvSpPr>
        <p:spPr>
          <a:xfrm>
            <a:off x="1533525" y="1673225"/>
            <a:ext cx="362839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2"/>
            </p:custDataLst>
          </p:nvPr>
        </p:nvSpPr>
        <p:spPr>
          <a:xfrm>
            <a:off x="2041525" y="1800225"/>
            <a:ext cx="2953385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第一阶段：紧急修复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3"/>
            </p:custDataLst>
          </p:nvPr>
        </p:nvSpPr>
        <p:spPr>
          <a:xfrm>
            <a:off x="1685925" y="2206625"/>
            <a:ext cx="3291205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系统BUG修复（折扣回冲、ZD06、红冲清账、拆单合并）；核心报表字段补齐（ZSR105奖励金额、ZSR04到手价）；促销进度表上线。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4"/>
            </p:custDataLst>
          </p:nvPr>
        </p:nvSpPr>
        <p:spPr>
          <a:xfrm>
            <a:off x="6374130" y="1673225"/>
            <a:ext cx="3564255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>
            <p:custDataLst>
              <p:tags r:id="rId5"/>
            </p:custDataLst>
          </p:nvPr>
        </p:nvSpPr>
        <p:spPr>
          <a:xfrm>
            <a:off x="6882130" y="1800225"/>
            <a:ext cx="290068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</a:t>
            </a:r>
            <a:r>
              <a:rPr lang="en-US" sz="13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阶段：迁移优化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6"/>
            </p:custDataLst>
          </p:nvPr>
        </p:nvSpPr>
        <p:spPr>
          <a:xfrm>
            <a:off x="6526530" y="2206625"/>
            <a:ext cx="323215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随S4迁移同步优化：奖励删除操作、拆单程序、价格审核内嵌、特价拆行控制；奖励维护辅助表格批量导入。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7"/>
            </p:custDataLst>
          </p:nvPr>
        </p:nvSpPr>
        <p:spPr>
          <a:xfrm>
            <a:off x="1533525" y="3260725"/>
            <a:ext cx="362839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>
            <p:custDataLst>
              <p:tags r:id="rId8"/>
            </p:custDataLst>
          </p:nvPr>
        </p:nvSpPr>
        <p:spPr>
          <a:xfrm>
            <a:off x="2041525" y="3387725"/>
            <a:ext cx="2953385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</a:t>
            </a:r>
            <a:r>
              <a:rPr lang="zh-CN" alt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阶段：体系建设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9"/>
            </p:custDataLst>
          </p:nvPr>
        </p:nvSpPr>
        <p:spPr>
          <a:xfrm>
            <a:off x="1685925" y="3794125"/>
            <a:ext cx="3291205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S4上线后第一波增强：价格主数据统一治理、OA-SAP审批接口、奖励自动核算引擎、折扣类型标识、不计奖励结构化字段。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10"/>
            </p:custDataLst>
          </p:nvPr>
        </p:nvSpPr>
        <p:spPr>
          <a:xfrm>
            <a:off x="6374130" y="3260725"/>
            <a:ext cx="3564255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>
            <p:custDataLst>
              <p:tags r:id="rId11"/>
            </p:custDataLst>
          </p:nvPr>
        </p:nvSpPr>
        <p:spPr>
          <a:xfrm>
            <a:off x="6882130" y="3387725"/>
            <a:ext cx="290068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</a:t>
            </a:r>
            <a:r>
              <a:rPr lang="zh-CN" alt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阶段：深度集成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2"/>
            </p:custDataLst>
          </p:nvPr>
        </p:nvSpPr>
        <p:spPr>
          <a:xfrm>
            <a:off x="6526530" y="3794125"/>
            <a:ext cx="323215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数字化转型三期规划：全场景促销折扣引擎、商城-SAP深度集成、SAP标准Rebate模块替换、促销效果分析体系、销售驾驶舱。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08000" y="55245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1E3A8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35000" y="5651500"/>
            <a:ext cx="1092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核心价值：实现采购管理从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分散管控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集团集约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、从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人工管控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、从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事后核算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事前控制</a:t>
            </a:r>
            <a:r>
              <a:rPr lang="en-US" sz="1300" b="1" i="0" u="none" strike="noStrike">
                <a:solidFill>
                  <a:srgbClr val="1E3A8A"/>
                </a:solidFill>
                <a:latin typeface="Biennale"/>
                <a:ea typeface="Biennale"/>
                <a:cs typeface="Biennale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的三大数字化转变，构建阳光高效的采购管控新格局。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463040" cy="1477010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附录：相关文档及原始数据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508000" y="11244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98500" y="1251439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Country Version（国家版本）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98500" y="1607039"/>
            <a:ext cx="508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定义：SAP针对特定国家税务法规预制的本地化软件包。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作用：实现“开箱即用”的合规能力，大幅降低本地化实施复杂度与周期。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23690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98500" y="2496039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DRC Monitor（DRC监控器）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98500" y="2851639"/>
            <a:ext cx="508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定义：SAP系统中用于监控电子发票全生命周期状态的工具。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作用：实时追踪发票提交状态、自动预警异常，确保税务流程透明可追溯。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8000" y="36136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98500" y="3740639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BPC（业务处理驾驶舱）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8500" y="4096239"/>
            <a:ext cx="508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定义：SAP DRC的核心引擎，负责数据转换、校验与流程编排。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作用：将SAP源业务数据标准化，转换为符合当地税务要求的合规电子格式。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08000" y="48582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98500" y="4985239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Digital Signature（数字签名）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98500" y="5340839"/>
            <a:ext cx="508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定义：验证电子发票来源真实与内容完整的加密技术。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作用：赋予电子发票同等纸质发票的法律效力，防止票据篡改与抵赖。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11244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13500" y="1251439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Tax Timestamp（税务时间戳）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13500" y="1607039"/>
            <a:ext cx="508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定义：税务机关颁发的、证明发票提交时间的不可篡改凭证。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作用：提供具备法律效力的时间证据，有效解决申报时效纠纷与争议。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23690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13500" y="2496039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Output Type（输出类型）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13500" y="2851639"/>
            <a:ext cx="508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定义：配置电子发票触发条件、格式与传输方式的系统参数。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作用：作为业务与DRC自动化的关键开关，实现发票自动生成与合规输出。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36136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413500" y="3740639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07. Three-Way Match（三单匹配）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13500" y="4096239"/>
            <a:ext cx="508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定义：自动校验采购订单、收货单与供应商发票一致性的流程。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作用：实现应付账款（AP）自动化审核，消除人工误差，防范财务风险。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23000" y="48582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1E40AF">
              <a:alpha val="6000"/>
            </a:srgbClr>
          </a:solidFill>
          <a:ln w="12700" cap="flat" cmpd="sng">
            <a:solidFill>
              <a:srgbClr val="1E40A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413500" y="4985239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核心价值总结：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这些核心组件共同构建了SAP DRC的合规底座，通过标准化配置、自动化监控与端到端校验，实现了从业务交易到税务合规的无缝衔接，保障企业在复杂税务环境下的稳健运营。</a:t>
            </a:r>
            <a:endParaRPr lang="en-US" sz="1100"/>
          </a:p>
        </p:txBody>
      </p:sp>
      <p:sp>
        <p:nvSpPr>
          <p:cNvPr id="28" name="标题 27"/>
          <p:cNvSpPr>
            <a:spLocks noGrp="1"/>
          </p:cNvSpPr>
          <p:nvPr>
            <p:ph type="title"/>
          </p:nvPr>
        </p:nvSpPr>
        <p:spPr>
          <a:xfrm>
            <a:off x="386862" y="230685"/>
            <a:ext cx="11297138" cy="912315"/>
          </a:xfrm>
        </p:spPr>
        <p:txBody>
          <a:bodyPr/>
          <a:lstStyle/>
          <a:p>
            <a:r>
              <a:rPr lang="zh-CN" altLang="en-US" b="1" cap="all" dirty="0"/>
              <a:t>核心概念汇总表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254000"/>
            <a:ext cx="1133792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附录：原始需求清单（共44条）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381000" y="952500"/>
          <a:ext cx="11430000" cy="7636764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编号</a:t>
                      </a:r>
                      <a:endParaRPr lang="en-US" sz="110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需求简述</a:t>
                      </a:r>
                      <a:endParaRPr lang="en-US" sz="110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优先级</a:t>
                      </a:r>
                      <a:endParaRPr lang="en-US" sz="110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来源部门</a:t>
                      </a:r>
                      <a:endParaRPr lang="en-US" sz="110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归属任务</a:t>
                      </a:r>
                      <a:endParaRPr lang="en-US" sz="110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A0079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查询库存及价格功能优化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海南科技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任务一/六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A0080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开单价格维护及促销功能优化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海南科技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任务一/二/六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A0081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奖励删除功能优化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海南科技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任务三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A0087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圈货功能优化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海南科技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任务一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A0090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圈货、建单的优化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海南科技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任务一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A0119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产品渠道归属统计识别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产品及方案中心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</a:t>
                      </a: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一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A0120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定制产品需带数量和客户维护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产品及方案中心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</a:t>
                      </a: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一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A0138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ZSR105报表增加奖励金额列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电商事业部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任务五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A0139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ZSR04报表增加到手价字段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电商事业部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任务五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A0140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折扣买赠3%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电商事业部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任务二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A0141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销售价格维护（优惠报表）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电商事业部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任务二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A0280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红冲退货与销售折扣核算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财务管理部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任务三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A0281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红冲单据自动清账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财务管理部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任务四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A0351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SAP客户奖励自动计算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车灯事业部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任务三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A0352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改善删奖励功能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车灯事业部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任务三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A0386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价格字段精度升级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国际事业部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任务一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A0393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物料会计视图审批简化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国际事业部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任务一/六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A0413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定价与折扣体系管理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商用事业部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任务一/六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A0416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折扣系统数量回冲问题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商用事业部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任务四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A0417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批量维护价格审批行数限制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商用事业部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任务一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A0420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销售订单折扣类型标识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商用事业部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任务二/五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A0421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返利机制结算与返写问题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商用事业部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任务三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A0427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定价与折扣体系管理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商用事业部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任务一/六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A0430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折扣系统数量回冲问题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商用事业部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任务四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A0431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批量维护价格审批行数限制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商用事业部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任务一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A0434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销售订单折扣类型标识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商用事业部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任务二/五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A0435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返利机制结算与返写问题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商用事业部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任务三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A0437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销售特价匹配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商用事业部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任务一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A0444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促销管理（全场景促销）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家用事业部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任务二/五/六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A0451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订单奖励操作优化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家用事业部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任务三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A0453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升级拆单命令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家用事业部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任务四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A0460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增加订单折扣位置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家用事业部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任务二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A0461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增加批量折扣奖励功能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家用事业部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任务二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A0462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实现促销政策开单自动化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家用事业部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任务二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A0466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改善删奖励功能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家用事业部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任务三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A0467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修改维护奖励功能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家用事业部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任务三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A0468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开发奖励台账报表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家用事业部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任务三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A0473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价格审核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家用事业部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任务一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A0475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促销进度表需求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家用事业部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任务五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A0485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奖励核算与销售数据统计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家用事业部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任务三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0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A0486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客户奖励价格补差费用核销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家用事业部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任务三/六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1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A0489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客户返利逻辑的优化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数智化部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任务三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2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A0490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物料销售折扣ZD06计算优化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数智化部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任务四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3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Biennale"/>
                          <a:ea typeface="Biennale"/>
                          <a:cs typeface="Biennale"/>
                          <a:sym typeface="Biennale"/>
                        </a:rPr>
                        <a:t>A0559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商城产品提醒功能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家用事业部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83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任务二</a:t>
                      </a:r>
                      <a:endParaRPr lang="en-US" sz="1100"/>
                    </a:p>
                  </a:txBody>
                  <a:tcPr marL="76200" marR="76200" marT="25400" marB="254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5422415"/>
            <a:ext cx="3383281" cy="4924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</a:p>
        </p:txBody>
      </p:sp>
      <p:sp>
        <p:nvSpPr>
          <p:cNvPr id="4" name="Freeform 4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57200" y="2463648"/>
            <a:ext cx="820738" cy="4924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200" b="1" i="0" u="none" strike="noStrike" dirty="0" err="1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谢谢</a:t>
            </a:r>
            <a:r>
              <a:rPr lang="zh-CN" altLang="en-US" sz="32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28625" y="6316314"/>
            <a:ext cx="2560320" cy="923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28402685008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25,&quot;left&quot;:120.75,&quot;top&quot;:131.75,&quot;width&quot;:789.2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25,&quot;left&quot;:120.75,&quot;top&quot;:131.75,&quot;width&quot;:789.2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25,&quot;left&quot;:120.75,&quot;top&quot;:131.75,&quot;width&quot;:789.2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25,&quot;left&quot;:120.75,&quot;top&quot;:131.75,&quot;width&quot;:789.2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25,&quot;left&quot;:120.75,&quot;top&quot;:131.75,&quot;width&quot;:789.2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25,&quot;left&quot;:120.75,&quot;top&quot;:131.75,&quot;width&quot;:789.2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25,&quot;left&quot;:120.75,&quot;top&quot;:131.75,&quot;width&quot;:789.2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25,&quot;left&quot;:120.75,&quot;top&quot;:131.75,&quot;width&quot;:789.2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25,&quot;left&quot;:120.75,&quot;top&quot;:131.75,&quot;width&quot;:789.2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25,&quot;left&quot;:120.75,&quot;top&quot;:131.75,&quot;width&quot;:789.2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25,&quot;left&quot;:120.75,&quot;top&quot;:131.75,&quot;width&quot;:789.2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.25,&quot;left&quot;:120.75,&quot;top&quot;:131.75,&quot;width&quot;:789.2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 backgroun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White backgroun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2365</Words>
  <Application>Microsoft Office PowerPoint</Application>
  <PresentationFormat>宽屏</PresentationFormat>
  <Paragraphs>554</Paragraphs>
  <Slides>22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22</vt:i4>
      </vt:variant>
    </vt:vector>
  </HeadingPairs>
  <TitlesOfParts>
    <vt:vector size="39" baseType="lpstr">
      <vt:lpstr>Biennale</vt:lpstr>
      <vt:lpstr>Biennale Bold</vt:lpstr>
      <vt:lpstr>Biennale Medium</vt:lpstr>
      <vt:lpstr>Montserrat Bold</vt:lpstr>
      <vt:lpstr>Noto Sans SC</vt:lpstr>
      <vt:lpstr>Noto Sans SC Bold</vt:lpstr>
      <vt:lpstr>等线</vt:lpstr>
      <vt:lpstr>微软雅黑</vt:lpstr>
      <vt:lpstr>微软雅黑 Light</vt:lpstr>
      <vt:lpstr>Aptos</vt:lpstr>
      <vt:lpstr>Arial</vt:lpstr>
      <vt:lpstr>Montserrat SemiBold</vt:lpstr>
      <vt:lpstr>Verdana</vt:lpstr>
      <vt:lpstr>Office 主题​​</vt:lpstr>
      <vt:lpstr>自定义主题</vt:lpstr>
      <vt:lpstr>White background</vt:lpstr>
      <vt:lpstr>1_White background</vt:lpstr>
      <vt:lpstr>PowerPoint 演示文稿</vt:lpstr>
      <vt:lpstr>PowerPoint 演示文稿</vt:lpstr>
      <vt:lpstr>PowerPoint 演示文稿</vt:lpstr>
      <vt:lpstr>PowerPoint 演示文稿</vt:lpstr>
      <vt:lpstr>方案综述</vt:lpstr>
      <vt:lpstr>PowerPoint 演示文稿</vt:lpstr>
      <vt:lpstr>PowerPoint 演示文稿</vt:lpstr>
      <vt:lpstr>方案详解及系统实现</vt:lpstr>
      <vt:lpstr>PowerPoint 演示文稿</vt:lpstr>
      <vt:lpstr>PowerPoint 演示文稿</vt:lpstr>
      <vt:lpstr>PowerPoint 演示文稿</vt:lpstr>
      <vt:lpstr>配套行动计划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附录：相关文档及原始数据</vt:lpstr>
      <vt:lpstr>核心概念汇总表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2102125624@qq.com</cp:lastModifiedBy>
  <cp:revision>4</cp:revision>
  <dcterms:created xsi:type="dcterms:W3CDTF">2026-08-27T00:25:21Z</dcterms:created>
  <dcterms:modified xsi:type="dcterms:W3CDTF">2026-08-30T15:23:36Z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{"Label":"1","ContentProducer":"001191110102MACQD9K64010000","ProduceID":"7676838923950148548","ReservedCode1":"","ContentPropagator":"","PropagateID":"","ReservedCode2":""}</vt:lpwstr>
  </property>
  <property fmtid="{D5CDD505-2E9C-101B-9397-08002B2CF9AE}" pid="3" name="KSOProductBuildVer">
    <vt:lpwstr>2052-0.0.0.0</vt:lpwstr>
  </property>
  <property fmtid="{D5CDD505-2E9C-101B-9397-08002B2CF9AE}" pid="4" name="ICV">
    <vt:lpwstr>060EFD1265D94A31B85336CD7B0EBE99_12</vt:lpwstr>
  </property>
</Properties>
</file>