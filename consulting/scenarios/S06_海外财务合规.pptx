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5"/>
  </p:sldMasterIdLst>
  <p:notesMasterIdLst>
    <p:notesMasterId r:id="rId28"/>
  </p:notesMasterIdLst>
  <p:sldIdLst>
    <p:sldId id="402" r:id="rId6"/>
    <p:sldId id="256" r:id="rId7"/>
    <p:sldId id="283" r:id="rId8"/>
    <p:sldId id="2189" r:id="rId9"/>
    <p:sldId id="2190" r:id="rId10"/>
    <p:sldId id="403" r:id="rId11"/>
    <p:sldId id="2187" r:id="rId12"/>
    <p:sldId id="271" r:id="rId13"/>
    <p:sldId id="2188" r:id="rId14"/>
    <p:sldId id="404" r:id="rId15"/>
    <p:sldId id="277" r:id="rId16"/>
    <p:sldId id="273" r:id="rId17"/>
    <p:sldId id="274" r:id="rId18"/>
    <p:sldId id="275" r:id="rId19"/>
    <p:sldId id="276" r:id="rId20"/>
    <p:sldId id="2185" r:id="rId21"/>
    <p:sldId id="407" r:id="rId22"/>
    <p:sldId id="2181" r:id="rId23"/>
    <p:sldId id="405" r:id="rId24"/>
    <p:sldId id="269" r:id="rId25"/>
    <p:sldId id="2182" r:id="rId26"/>
    <p:sldId id="297" r:id="rId2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0073E6"/>
    <a:srgbClr val="0066CC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56" autoAdjust="0"/>
    <p:restoredTop sz="85977"/>
  </p:normalViewPr>
  <p:slideViewPr>
    <p:cSldViewPr snapToGrid="0">
      <p:cViewPr varScale="1">
        <p:scale>
          <a:sx n="144" d="100"/>
          <a:sy n="144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CN" smtClean="0"/>
              <a:t>8/31/26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69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标准</a:t>
            </a:r>
            <a:r>
              <a:rPr lang="zh-CN" altLang="en-US" dirty="0"/>
              <a:t>、精细、协同、高效</a:t>
            </a:r>
            <a:endParaRPr lang="en-US" altLang="zh-CN" dirty="0"/>
          </a:p>
          <a:p>
            <a:r>
              <a:rPr lang="zh-CN" altLang="en-US" dirty="0"/>
              <a:t>精细化的成本分析。</a:t>
            </a:r>
            <a:endParaRPr lang="en-US" altLang="zh-CN" dirty="0"/>
          </a:p>
          <a:p>
            <a:r>
              <a:rPr lang="zh-CN" altLang="en-US" dirty="0"/>
              <a:t>有量化指标的提升。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张学权</a:t>
            </a:r>
            <a:endParaRPr lang="en-US" dirty="0"/>
          </a:p>
          <a:p>
            <a:r>
              <a:rPr lang="zh-CN" altLang="en-US" dirty="0"/>
              <a:t>现在停掉</a:t>
            </a:r>
            <a:r>
              <a:rPr lang="en-US" altLang="zh-CN" dirty="0"/>
              <a:t>SAP</a:t>
            </a:r>
            <a:r>
              <a:rPr lang="zh-CN" altLang="en-US" dirty="0"/>
              <a:t>，业务是否还能够照常开展？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、统一认识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、锻炼内功，</a:t>
            </a:r>
            <a:r>
              <a:rPr lang="en-US" altLang="zh-CN" dirty="0"/>
              <a:t>SAP</a:t>
            </a:r>
            <a:r>
              <a:rPr lang="zh-CN" altLang="en-US" dirty="0"/>
              <a:t>的升级不是简单的更新，而是要把公司过往的组织能力、管理理念、管理流程进行全面的梳理和再造。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、对公司内部各个部门以及相关分子公司的负责人，一定要高度重视，亲自参与。过去几年的数字化项目，成功的不多，失败的不少，甚至变烂尾了，各个部门的负责人没参与。营销的数字化中台、</a:t>
            </a:r>
            <a:r>
              <a:rPr lang="en-US" altLang="zh-CN" dirty="0"/>
              <a:t>CRM</a:t>
            </a:r>
            <a:r>
              <a:rPr lang="zh-CN" altLang="en-US" dirty="0"/>
              <a:t>系统搞不下去了。每个单位指定一个责任心强、沟通能力强的</a:t>
            </a:r>
            <a:r>
              <a:rPr lang="en-US" altLang="zh-CN" dirty="0"/>
              <a:t>SAP</a:t>
            </a:r>
            <a:r>
              <a:rPr lang="zh-CN" altLang="en-US" dirty="0"/>
              <a:t>专员。外部公司既要专业，又要接地气。数字化部和财务部要协同好，跟艾维登要协同好。上下联动、左右协同、齐抓共管。系统要管用还要好用。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088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61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7099-691F-513A-F09D-2A3DCFFF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2DA38-AB69-11A3-2227-A6AB14DDB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1651D-2B51-5F0E-8B74-058A3204B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325EE-CA90-7DD4-FFF7-E96BBAE8D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6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历史数据：</a:t>
            </a:r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设定平行评估激活基准日（如2027年1月1日上线后首个完整月）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基准日前的历史数据不回填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各部门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抵触：统一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业务变革：</a:t>
            </a:r>
            <a:endParaRPr kumimoji="1" lang="en-US" altLang="zh-CN" dirty="0"/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判断1：这不是SAP实施项目，是一次利益格局重塑。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佛照内部加价制造的"虚拟利润池"按保守估算约为集团真实扣非净利润的2-3倍量级。一旦启动消除，任何BU的账面利润变化都不是小数点之争，而是生死线的争夺。技术方案再完美，如果集团高层不愿意在年终奖分配上做出强制性决定，整个方案将在执行层被稀释为"系统里跑三套数字，考核还是按老逻辑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判断2：标准成本方向是对的，但前提条件被严重低估。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标准成本+平行评估的组合是S/4HANA上的正确架构，SAP技术层面完全支持。但佛照有两个硬约束：LED芯片等核心原材料年波动可达20-40%，若标准成本年度冻结，Price Variance可能吃掉全年利润；车灯（燎旺）高度客制化，强套标准成本会产生大量无意义差异。这两个问题不解决，标准成本体系上线即失信。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判断3：0.95%净利率是变革的最佳窗口，也是最大风险来源。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薄利倒逼透明化是有利时机，管理层被迫正视成本真相。但同时，容错空间几乎为零——如果标准成本制定错误导致BU绩效失真，在如此薄利状态下任何决策偏差都可能直接亏损。数据准备和标准成本核定的精度要求，比财务健康期高一个数量级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判断4：路径C（双轨KPI权重逐步迁移）是当前唯一可行路径，但"执行死结"在Year 2节点。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路径A（完全集团成本考核）理想但不可落地；路径B（保留法律实体利润+集团视角仅供参考）换汤不换药。路径C可行，但历史上类似改革最常见的失败模式是：Year 1顺利，Year 2权重调整时受损BU重启抵制，高层松动，改革被锁定在"Year 1状态"永远不推进。这个节点必须提前设计防御机制。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1235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6098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是我们整个项目的实施路径图。我们将项目分为三个阶段：蓝图设计、系统实现和上线保障。每个阶段都有明确的时间规划、核心任务和交付成果。通过这个清晰的路线图，我们可以确保项目按计划、高质量地推进，最终成功上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SAP系统中的外币评估与风险管理驾驶舱。上半部分是外币评估的详细报表，系统可以自动生成凭证，无需手工录入。下半部分是一个实时的风险监控窗口，替代了过去繁琐的Excel台账，让我们能一目了然地看到外汇敞口、待清账应收等关键风险指标，实现了风险管理的数字化和实时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描绘了我们未来的销项、进项到税务的一体化自动化流程。从销售订单到收款，从采购订单到付款，再到税务申报和集团管控，整个价值链都将实现自动化。这不仅能极大地提升效率，更能保证数据的一致性和合规性，为集团的精细化管理提供强大的数据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DRC系统在泰国税务合规方面的实际应用界面。上半部分是全税种的申报状态监控，让我们对每个税种的申报进度一目了然。下半部分是预提所得税（WHT）的明细报告，系统不仅能自动生成申报表，还能清晰地展示每一笔交易的缴纳状态，确保了税务合规的透明度和可追溯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获利能力分析（CO-PA）报表。上半部分可以按产品线等多个维度，详细分析收入、成本、毛利等关键指标。下半部分是一个驾驶舱，将产量、料工费、毛利和汇兑影响等核心经营数据整合在一起，让管理层可以一站式地实时掌握工厂的经营状况，为决策提供有力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为了方便大家记忆，我将今天提到的核心概念汇总成了这张表格。从Country Version到DRC Monitor，再到数字签名和三单匹配，这些术语共同构成了我们整个DRC解决方案的核心。希望大家能通过这张表，对DRC有一个更系统的理解。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CN" smtClean="0"/>
              <a:t>22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897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>
            <a:extLst>
              <a:ext uri="{FF2B5EF4-FFF2-40B4-BE49-F238E27FC236}">
                <a16:creationId xmlns:a16="http://schemas.microsoft.com/office/drawing/2014/main" id="{F39EB0DD-D0DC-DA16-5E5D-31E1423EEE20}"/>
              </a:ext>
            </a:extLst>
          </p:cNvPr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244C200-9183-F55D-E6CC-770D8E368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6562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1CA85C-6201-B8A4-E228-2E44846E1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2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AddCustomFooter#1">
            <a:extLst>
              <a:ext uri="{FF2B5EF4-FFF2-40B4-BE49-F238E27FC236}">
                <a16:creationId xmlns:a16="http://schemas.microsoft.com/office/drawing/2014/main" id="{9E621BAA-298E-0A96-9DAD-9537810468A3}"/>
              </a:ext>
            </a:extLst>
          </p:cNvPr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Graphique 10" descr="Atos logo">
            <a:extLst>
              <a:ext uri="{FF2B5EF4-FFF2-40B4-BE49-F238E27FC236}">
                <a16:creationId xmlns:a16="http://schemas.microsoft.com/office/drawing/2014/main" id="{290DD583-0438-8BA3-4FC8-30C7186F1307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54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257223-1877-0216-0C14-9CA40A26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A34858E-D148-7198-C034-ACB6341C8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00F83A-91AD-A010-303E-88AA5DEB0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/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2BFDF0E7-1C79-FBA3-FBFE-0F62B0F09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9E067F1-2180-52EC-D9AF-DC18F8C4B4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>
            <a:extLst>
              <a:ext uri="{FF2B5EF4-FFF2-40B4-BE49-F238E27FC236}">
                <a16:creationId xmlns:a16="http://schemas.microsoft.com/office/drawing/2014/main" id="{709BCC25-10DB-D648-02CE-B89CE7D50AA6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178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B50BEC9-5EE0-B57E-CAE5-7C3F4E023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>
            <a:extLst>
              <a:ext uri="{FF2B5EF4-FFF2-40B4-BE49-F238E27FC236}">
                <a16:creationId xmlns:a16="http://schemas.microsoft.com/office/drawing/2014/main" id="{148CD210-AEE5-E817-AEC9-A7C881D1EE4E}"/>
              </a:ext>
            </a:extLst>
          </p:cNvPr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3853EE69-6ADE-F322-8014-F5E83A8E8155}"/>
              </a:ext>
            </a:extLst>
          </p:cNvPr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97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D860FF-1E07-729E-ADC9-9B961C40C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7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6BFBFE4-3CDD-23F5-5639-8F25B2D893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D66C32D-F14A-D598-9CED-1AF6762A5E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E67F222-8BC0-46DB-0488-4EFFFFE16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52699D8-D4CF-B3B4-D06A-47981000D2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1306F5-4519-15CD-866F-5F4A7FC4C9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9B68E34-011E-4CB0-CFE2-2D2A0AF2BC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812F58-59AE-88D3-CF8A-79FDF4477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AD46A4C-C28D-01F8-4B53-BCEDBF34EB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0CF91A1-2C65-DDC3-7FB0-57869A82B8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D5BC83D-861C-952F-D7CF-4FD8BE9701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CF118A-3D43-543B-9127-40269BE2CD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161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114892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7276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>
            <a:extLst>
              <a:ext uri="{FF2B5EF4-FFF2-40B4-BE49-F238E27FC236}">
                <a16:creationId xmlns:a16="http://schemas.microsoft.com/office/drawing/2014/main" id="{CC803DD5-BCD9-4D75-85D5-025E5354ED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>
            <a:extLst>
              <a:ext uri="{FF2B5EF4-FFF2-40B4-BE49-F238E27FC236}">
                <a16:creationId xmlns:a16="http://schemas.microsoft.com/office/drawing/2014/main" id="{E8E63726-F274-4B91-A5DE-2B04CF3D1750}"/>
              </a:ext>
            </a:extLst>
          </p:cNvPr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>
            <a:extLst>
              <a:ext uri="{FF2B5EF4-FFF2-40B4-BE49-F238E27FC236}">
                <a16:creationId xmlns:a16="http://schemas.microsoft.com/office/drawing/2014/main" id="{F7A722DF-422F-4247-B41C-60932DE1D8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6A21E8-E7FA-4143-A68F-832F81B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3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E02A5-0C35-4763-B0E6-261F90A1E5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E2DECC81-7758-4FBB-9420-3AAB334AA1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7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6632A639-65F6-44E7-9705-34D092A42112}" type="slidenum">
              <a:rPr lang="en-US" sz="1333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pPr algn="r" eaLnBrk="1" hangingPunct="1">
                <a:spcBef>
                  <a:spcPts val="617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sz="1333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66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3217422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7D9EE093-55A3-29E0-7972-5D36134367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CDFC35-BF4B-36FA-747E-8D51735094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0782D689-7655-E54B-5AF8-A11200745C10}"/>
              </a:ext>
            </a:extLst>
          </p:cNvPr>
          <p:cNvSpPr txBox="1">
            <a:spLocks/>
          </p:cNvSpPr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pPr algn="r"/>
              <a:t>‹#›</a:t>
            </a:fld>
            <a:endParaRPr lang="en-IN"/>
          </a:p>
        </p:txBody>
      </p:sp>
      <p:sp>
        <p:nvSpPr>
          <p:cNvPr id="5" name="AddCustomFooter#1">
            <a:extLst>
              <a:ext uri="{FF2B5EF4-FFF2-40B4-BE49-F238E27FC236}">
                <a16:creationId xmlns:a16="http://schemas.microsoft.com/office/drawing/2014/main" id="{1D6B7308-D40A-31F4-FFCB-AB8092B9A567}"/>
              </a:ext>
            </a:extLst>
          </p:cNvPr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</a:t>
            </a:r>
            <a:r>
              <a:rPr kumimoji="0" lang="en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040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64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15C2D0D6-BF6D-767D-7DA9-9C0E308BD27E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20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8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4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34752C8-1E80-B141-5BC9-264FD3E5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68" y="1847166"/>
            <a:ext cx="5486400" cy="1581833"/>
          </a:xfrm>
        </p:spPr>
        <p:txBody>
          <a:bodyPr/>
          <a:lstStyle/>
          <a:p>
            <a:r>
              <a:rPr lang="zh-CN" altLang="en-US" dirty="0"/>
              <a:t>泰国财务体系合规建设专项方案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284CB63-F335-187B-7A8A-86CFCEC1D9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3068" y="4077251"/>
            <a:ext cx="5486400" cy="1121887"/>
          </a:xfrm>
        </p:spPr>
        <p:txBody>
          <a:bodyPr/>
          <a:lstStyle/>
          <a:p>
            <a:r>
              <a:rPr lang="zh-CN" altLang="en-US" dirty="0"/>
              <a:t>业务诊断咨询及</a:t>
            </a:r>
            <a:r>
              <a:rPr lang="en-US" altLang="zh-CN" dirty="0"/>
              <a:t>SAP</a:t>
            </a:r>
            <a:r>
              <a:rPr lang="zh-CN" altLang="en-US" dirty="0"/>
              <a:t>系统升级实施项目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DE7EBD-B87B-D53D-AB7A-53542ED06A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068" y="5491978"/>
            <a:ext cx="3657600" cy="640080"/>
          </a:xfrm>
        </p:spPr>
        <p:txBody>
          <a:bodyPr/>
          <a:lstStyle/>
          <a:p>
            <a:r>
              <a:rPr lang="en-US" altLang="zh-CN" dirty="0"/>
              <a:t>2026.07.22</a:t>
            </a:r>
            <a:endParaRPr lang="zh-CN" altLang="en-US" dirty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C4E2D140-8564-0D43-F716-78138577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" r="107"/>
          <a:stretch/>
        </p:blipFill>
        <p:spPr bwMode="black"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F1663A-64C6-91E5-19DB-5C5C2F2A9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1687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6438-7BA8-E489-8651-A1875BC5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CAD6ED9-8951-B688-33F4-3E98B7B6F5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968C3A93-8341-3E29-A3E2-722091ED34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专项方案概述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83A23855-A582-76E3-8B61-D17384504B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2265A972-65DB-2F3A-7C3D-F1A090BD6F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BDC34C5-051E-81BC-1A5F-5DDCA858EF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C792566-17F0-B653-DC15-60F3AA9C94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3F1A9DA2-457B-60D7-87D8-98DA7E892B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5845B33-F50A-959F-BE1D-27B13D52F04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ABBB06F-7718-FC39-B0BA-8E546E2F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DE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2E4B8EC-53DE-3D5C-3F73-2B75FEAA7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6082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97EF-A2AB-AF18-D07E-40EC3719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E26C50-60A5-E143-481A-804350AB4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E2E19D-3747-688E-67BB-BF466FF3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海外财务本地化体系建设</a:t>
            </a:r>
            <a:r>
              <a:rPr lang="zh-CN" altLang="zh-CN" dirty="0"/>
              <a:t>专项方案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F1663A-64C6-91E5-19DB-5C5C2F2A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5FE48B-8E4E-259F-3530-A315E7903B14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69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3E55E-87A6-AC0D-B047-D6ED56E5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泰国财务体系合规建设：</a:t>
            </a:r>
            <a:r>
              <a:rPr lang="zh-CN" altLang="en-US" dirty="0"/>
              <a:t>方案总览</a:t>
            </a:r>
            <a:r>
              <a:rPr lang="zh-CN" altLang="zh-CN" dirty="0"/>
              <a:t>泰国财务体系合规建设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FE8268-C53B-F82D-2360-F99103FCC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83A1B-ACDA-323E-78FA-845C661D9654}"/>
              </a:ext>
            </a:extLst>
          </p:cNvPr>
          <p:cNvSpPr/>
          <p:nvPr/>
        </p:nvSpPr>
        <p:spPr>
          <a:xfrm>
            <a:off x="509577" y="1078301"/>
            <a:ext cx="7582000" cy="176841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项目目标：</a:t>
            </a:r>
            <a:endParaRPr kumimoji="1" lang="en-US" altLang="zh-CN" sz="10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多币种核算+汇兑损益精确到单客户/订单，外汇风险敞口实时可见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en-US" altLang="zh-CN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kumimoji="1" lang="zh-CN" altLang="en-US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</a:t>
            </a:r>
            <a:r>
              <a:rPr kumimoji="1" lang="en-US" altLang="zh-CN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泰国本地税务接口对接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		</a:t>
            </a:r>
            <a:r>
              <a:rPr kumimoji="1" lang="en-US" altLang="zh-CN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【</a:t>
            </a:r>
            <a:r>
              <a:rPr kumimoji="1" lang="zh-CN" altLang="en-US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二期</a:t>
            </a:r>
            <a:r>
              <a:rPr kumimoji="1" lang="en-US" altLang="zh-CN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满足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泰国税务局原产地认证、OECD转移定价文档要求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</a:t>
            </a:r>
            <a:r>
              <a:rPr kumimoji="1" lang="en-US" altLang="zh-CN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kumimoji="1" lang="zh-CN" altLang="en-US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三期</a:t>
            </a:r>
            <a:r>
              <a:rPr kumimoji="1" lang="en-US" altLang="zh-CN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r>
              <a:rPr kumimoji="1" lang="zh-CN" altLang="en-US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zh-CN" sz="1000" dirty="0">
                <a:solidFill>
                  <a:schemeClr val="tx1"/>
                </a:solidFill>
              </a:rPr>
              <a:t>BOM 增值计算 + 供应商声明管理 + eCoSys 集成</a:t>
            </a:r>
            <a:r>
              <a:rPr kumimoji="1" lang="zh-CN" altLang="en-US" sz="1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项目方案：</a:t>
            </a:r>
            <a:endParaRPr kumimoji="1" lang="en-US" altLang="zh-CN" sz="10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多币种与汇兑损益自动化：FAGL_FC_VAL + F-28/F-32 + TR-TM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泰国转移定价双口径：CO-PC双重核算 + MR21价格更改 + STO内部采购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 Group Reporting 实现集团层面成本还原和内部交易利润消除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转移定价政策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泰国财务报表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文档化和系统化管控流程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3CEB23-4835-8524-ED06-5D19749A111E}"/>
              </a:ext>
            </a:extLst>
          </p:cNvPr>
          <p:cNvSpPr/>
          <p:nvPr/>
        </p:nvSpPr>
        <p:spPr>
          <a:xfrm>
            <a:off x="498949" y="3020370"/>
            <a:ext cx="2812522" cy="3076343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现状：</a:t>
            </a:r>
            <a:endParaRPr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泰国FZ40 2026年1月量产，SAP计划/物流/成本模块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SAP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均未启用，运营完全不透明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VAT月报/企业所得税/WHT全部依赖人工，泰国本地会计师处理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汇兑损益手工录入，转移定价双口径Excel线下维护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有在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SAP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均未启用，运营完全不透明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跨公司集团管理层有明确的分业务/分地区利润归因和绩效分析诉求，需求驱动力强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主要差距：</a:t>
            </a:r>
            <a:endParaRPr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系统无多维度成本评估能力（法人成本 vs 集团成本无法并行）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跨法人利润/成本分配全靠手工，月结核算耗时且易出错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德国、泰国等境外法人外币转移定价无系统化处理，汇率影响手工调整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603096-9948-C826-5AC1-40C26DE51133}"/>
              </a:ext>
            </a:extLst>
          </p:cNvPr>
          <p:cNvSpPr/>
          <p:nvPr/>
        </p:nvSpPr>
        <p:spPr>
          <a:xfrm>
            <a:off x="3569079" y="3008094"/>
            <a:ext cx="4522498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库存评估：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从移动平均价（佛照认为的实际成本），到标准价格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销售定价：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从无统一规则→ZTP1条件类型自动带出报关价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外部约束：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泰国税务局对转移定价审查日趋严格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容错空间：当前佛照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0.95%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的利润率，当压力大时大概率会中断变革。</a:t>
            </a:r>
            <a:endParaRPr kumimoji="1"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7C8DF4-1C64-2F88-0B06-ABED626FAF38}"/>
              </a:ext>
            </a:extLst>
          </p:cNvPr>
          <p:cNvSpPr/>
          <p:nvPr/>
        </p:nvSpPr>
        <p:spPr>
          <a:xfrm>
            <a:off x="3569079" y="4328297"/>
            <a:ext cx="4522498" cy="17684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口径确认：三方会议确认转移定价双口径文件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启用多分类账，配置法定评估+管理评估两套Ledger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条件类型：配置ZTP1转移定价条件类型，维护FZ40→FZ01的报关价清单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STO集成：内部采购订单配置转移定价逻辑，自动带入内部考核成本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GR消除：配置Group Reporting内部交易消除规则，验证合并报表准确性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税务合规文档化： 输出符合OECD要求的转移定价政策文档及系统操作手册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C9A85-6C08-91BE-B2A7-C81C0F9484AF}"/>
              </a:ext>
            </a:extLst>
          </p:cNvPr>
          <p:cNvSpPr/>
          <p:nvPr/>
        </p:nvSpPr>
        <p:spPr>
          <a:xfrm>
            <a:off x="8399872" y="2128930"/>
            <a:ext cx="3282551" cy="12181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D0C951-6964-90CE-1FE7-1BE1031FE32A}"/>
              </a:ext>
            </a:extLst>
          </p:cNvPr>
          <p:cNvSpPr/>
          <p:nvPr/>
        </p:nvSpPr>
        <p:spPr>
          <a:xfrm>
            <a:off x="8399872" y="3620220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强依赖：转移定价口径文件三方签字（蓝图启动前必须完成）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•DRC泰国本地化SAP官方支持有限，需SAP原厂专家介入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•泰国本地关键用户需提前招募（懂英文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中文）</a:t>
            </a:r>
            <a:r>
              <a:rPr lang="zh-CN" altLang="zh-CN" sz="1000" dirty="0"/>
              <a:t>/中文）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C257C8-F23F-6135-BD16-2C384597EC5B}"/>
              </a:ext>
            </a:extLst>
          </p:cNvPr>
          <p:cNvSpPr/>
          <p:nvPr/>
        </p:nvSpPr>
        <p:spPr>
          <a:xfrm>
            <a:off x="8399872" y="4963779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降低跨境关联交易税务风险，规避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海外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法人转移定价稽查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为后续SAP GTS（全球贸易服务）扩展奠定数据基础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泰国税务申报：从手工Excel→DRC系统自动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汇兑损益凭证录入时间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减少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OECD转移定价文档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人工准备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到</a:t>
            </a:r>
            <a:r>
              <a:rPr kumimoji="1"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SAP自动生成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3D97EF-3A0D-F642-36E5-A820BF7D17AE}"/>
              </a:ext>
            </a:extLst>
          </p:cNvPr>
          <p:cNvSpPr/>
          <p:nvPr/>
        </p:nvSpPr>
        <p:spPr>
          <a:xfrm>
            <a:off x="8399872" y="1078301"/>
            <a:ext cx="3282551" cy="84000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主责：</a:t>
            </a:r>
            <a:r>
              <a:rPr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集团财务部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配合：</a:t>
            </a:r>
            <a:r>
              <a:rPr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数智化部、国际部、泰国工厂财务、集团财务部</a:t>
            </a:r>
            <a:endParaRPr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外部：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艾维登</a:t>
            </a:r>
            <a:r>
              <a:rPr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DRC专家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泰国本地税务顾问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9F03C8-78B8-5C5A-4E7E-65A074BB6DE1}"/>
              </a:ext>
            </a:extLst>
          </p:cNvPr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责任部门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11B0AC-309E-69C3-33AD-88B719E2BD76}"/>
              </a:ext>
            </a:extLst>
          </p:cNvPr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里程碑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A0EC3E-9544-8570-D013-6FEFBD557A75}"/>
              </a:ext>
            </a:extLst>
          </p:cNvPr>
          <p:cNvSpPr/>
          <p:nvPr/>
        </p:nvSpPr>
        <p:spPr>
          <a:xfrm>
            <a:off x="8562025" y="3473741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风险与项目依赖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FC5FCA-26C9-08EA-D529-319629B53657}"/>
              </a:ext>
            </a:extLst>
          </p:cNvPr>
          <p:cNvSpPr/>
          <p:nvPr/>
        </p:nvSpPr>
        <p:spPr>
          <a:xfrm>
            <a:off x="8562025" y="4789456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业务价值和数字化指标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94C96C-01C9-F514-F838-B5A57FE25B5E}"/>
              </a:ext>
            </a:extLst>
          </p:cNvPr>
          <p:cNvSpPr/>
          <p:nvPr/>
        </p:nvSpPr>
        <p:spPr>
          <a:xfrm>
            <a:off x="3773854" y="416512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关键任务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AF8357-453F-3808-FC17-D574B63D166A}"/>
              </a:ext>
            </a:extLst>
          </p:cNvPr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业务变革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7B6E11-BFB1-0C9C-7C47-D8D3E9776A33}"/>
              </a:ext>
            </a:extLst>
          </p:cNvPr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现状</a:t>
            </a:r>
            <a:r>
              <a:rPr kumimoji="1" lang="en-US" altLang="zh-CN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差距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D058F5-6498-90B5-B51A-0AD4C06EA42E}"/>
              </a:ext>
            </a:extLst>
          </p:cNvPr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目标和范围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BE46CD-3BDD-F49A-3F4D-8F27D38AF204}"/>
              </a:ext>
            </a:extLst>
          </p:cNvPr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C94917-5314-9A8C-3C62-C2FC35D38AB3}"/>
              </a:ext>
            </a:extLst>
          </p:cNvPr>
          <p:cNvSpPr txBox="1"/>
          <p:nvPr/>
        </p:nvSpPr>
        <p:spPr>
          <a:xfrm>
            <a:off x="882482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BB82ACE-79F7-E1C0-10F9-860966275B72}"/>
              </a:ext>
            </a:extLst>
          </p:cNvPr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sz="1000" dirty="0" err="1">
              <a:solidFill>
                <a:schemeClr val="accent3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27B681-53C7-B116-4B4F-913FF7B34BE5}"/>
              </a:ext>
            </a:extLst>
          </p:cNvPr>
          <p:cNvSpPr txBox="1"/>
          <p:nvPr/>
        </p:nvSpPr>
        <p:spPr>
          <a:xfrm>
            <a:off x="8518896" y="2376115"/>
            <a:ext cx="1039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转移定价口径确认（强前置）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D514D0D-057B-4661-521F-8D58EE64B4B0}"/>
              </a:ext>
            </a:extLst>
          </p:cNvPr>
          <p:cNvGrpSpPr/>
          <p:nvPr/>
        </p:nvGrpSpPr>
        <p:grpSpPr>
          <a:xfrm>
            <a:off x="8678174" y="3102633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978E5ABC-2A5E-9459-318A-10CF1B3960B4}"/>
                </a:ext>
              </a:extLst>
            </p:cNvPr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CF38A4C-79D4-EF00-7734-7E69F6BC11B7}"/>
                </a:ext>
              </a:extLst>
            </p:cNvPr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DA0765F-9972-08A0-9C32-412C3CD24CAD}"/>
                </a:ext>
              </a:extLst>
            </p:cNvPr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6199AD1D-FAF3-58E0-F933-1E8913BC0FE2}"/>
                </a:ext>
              </a:extLst>
            </p:cNvPr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D97D9338-C057-A072-6A6F-0E8905FDA80E}"/>
              </a:ext>
            </a:extLst>
          </p:cNvPr>
          <p:cNvSpPr txBox="1"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FZ40与项目同步上线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06A749C-3FDA-F70B-3BD4-07674CBBFF9C}"/>
              </a:ext>
            </a:extLst>
          </p:cNvPr>
          <p:cNvSpPr txBox="1"/>
          <p:nvPr/>
        </p:nvSpPr>
        <p:spPr>
          <a:xfrm>
            <a:off x="9682457" y="2376115"/>
            <a:ext cx="833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DRC全套+集成测试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A7A9ED-F755-8711-FD40-803F22B6AAB3}"/>
              </a:ext>
            </a:extLst>
          </p:cNvPr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88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DCEC-3FA4-7517-F2D7-20D0AC85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E3C80-07A1-69CD-7717-5D04DF69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cap="all" dirty="0"/>
              <a:t>佛照未来部署</a:t>
            </a:r>
            <a:r>
              <a:rPr lang="zh-CN" altLang="zh-CN" b="1" cap="all" dirty="0"/>
              <a:t>SAP DRC 全球统一合规方案</a:t>
            </a:r>
            <a:r>
              <a:rPr lang="zh-CN" altLang="en-US" b="1" cap="all" dirty="0"/>
              <a:t>的建议</a:t>
            </a:r>
            <a:r>
              <a:rPr lang="zh-CN" altLang="zh-CN" b="1" cap="all" dirty="0"/>
              <a:t>架构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EAF8D9-CAC1-DCDC-2A99-38FB6F7F78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93E3DE-14CC-6A81-0537-F304C359A366}"/>
              </a:ext>
            </a:extLst>
          </p:cNvPr>
          <p:cNvSpPr/>
          <p:nvPr/>
        </p:nvSpPr>
        <p:spPr>
          <a:xfrm>
            <a:off x="3339612" y="2346766"/>
            <a:ext cx="5512776" cy="3912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b="1" dirty="0"/>
          </a:p>
          <a:p>
            <a:pPr algn="ctr"/>
            <a:r>
              <a:rPr lang="zh-CN" altLang="zh-CN" b="1" dirty="0"/>
              <a:t>SAP</a:t>
            </a:r>
            <a:r>
              <a:rPr lang="zh-CN" altLang="en-US" b="1" dirty="0"/>
              <a:t> </a:t>
            </a:r>
            <a:r>
              <a:rPr lang="en-US" altLang="zh-CN" b="1" dirty="0"/>
              <a:t>DRC</a:t>
            </a:r>
          </a:p>
          <a:p>
            <a:pPr algn="ctr"/>
            <a:r>
              <a:rPr lang="zh-CN" altLang="zh-CN" b="1" dirty="0"/>
              <a:t>Document and</a:t>
            </a:r>
            <a:r>
              <a:rPr lang="zh-CN" altLang="en-US" b="1" dirty="0"/>
              <a:t> </a:t>
            </a:r>
            <a:r>
              <a:rPr lang="zh-CN" altLang="zh-CN" b="1" dirty="0"/>
              <a:t>Reporting Compliance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BF5CEE-A496-7504-2332-E08D1A7AC982}"/>
              </a:ext>
            </a:extLst>
          </p:cNvPr>
          <p:cNvSpPr/>
          <p:nvPr/>
        </p:nvSpPr>
        <p:spPr>
          <a:xfrm>
            <a:off x="3875942" y="3410636"/>
            <a:ext cx="2013438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/>
              <a:t>BPC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-</a:t>
            </a:r>
            <a:r>
              <a:rPr lang="zh-CN" altLang="en-US" sz="1000" b="1" dirty="0"/>
              <a:t> </a:t>
            </a:r>
            <a:r>
              <a:rPr lang="zh-CN" altLang="zh-CN" sz="1000" b="1" dirty="0"/>
              <a:t>Business Process</a:t>
            </a:r>
            <a:br>
              <a:rPr lang="zh-CN" altLang="zh-CN" sz="1000" b="1" dirty="0"/>
            </a:br>
            <a:r>
              <a:rPr lang="zh-CN" altLang="zh-CN" sz="1000" b="1" dirty="0"/>
              <a:t>Compliance</a:t>
            </a:r>
            <a:endParaRPr lang="en-US" altLang="zh-CN" sz="1000" b="1" dirty="0"/>
          </a:p>
          <a:p>
            <a:pPr algn="ctr"/>
            <a:endParaRPr lang="zh-CN" altLang="zh-CN" sz="1000" b="1" dirty="0"/>
          </a:p>
          <a:p>
            <a:pPr algn="ctr"/>
            <a:r>
              <a:rPr lang="zh-CN" altLang="en-US" sz="1000" dirty="0"/>
              <a:t>原生嵌入业务流程  </a:t>
            </a:r>
          </a:p>
          <a:p>
            <a:pPr algn="ctr"/>
            <a:r>
              <a:rPr lang="zh-CN" altLang="en-US" sz="1000" dirty="0"/>
              <a:t>符合海外法律格式  </a:t>
            </a:r>
          </a:p>
          <a:p>
            <a:pPr algn="ctr"/>
            <a:r>
              <a:rPr lang="zh-CN" altLang="en-US" sz="1000" dirty="0"/>
              <a:t>税务文档准备与校对</a:t>
            </a:r>
            <a:endParaRPr lang="zh-CN" altLang="zh-CN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F52ABA-10A1-438D-DFF2-F01DBD6D0BEB}"/>
              </a:ext>
            </a:extLst>
          </p:cNvPr>
          <p:cNvSpPr/>
          <p:nvPr/>
        </p:nvSpPr>
        <p:spPr>
          <a:xfrm>
            <a:off x="6246934" y="3410636"/>
            <a:ext cx="2013438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/>
              <a:t>CI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-</a:t>
            </a:r>
            <a:r>
              <a:rPr lang="zh-CN" altLang="en-US" sz="1000" b="1" dirty="0"/>
              <a:t> </a:t>
            </a:r>
            <a:r>
              <a:rPr lang="zh-CN" altLang="zh-CN" sz="1000" b="1" dirty="0"/>
              <a:t>Compliance</a:t>
            </a:r>
            <a:br>
              <a:rPr lang="zh-CN" altLang="zh-CN" sz="1000" b="1" dirty="0"/>
            </a:br>
            <a:r>
              <a:rPr lang="zh-CN" altLang="zh-CN" sz="1000" b="1" dirty="0"/>
              <a:t>Integration</a:t>
            </a:r>
            <a:endParaRPr lang="en-US" altLang="zh-CN" sz="1000" b="1" dirty="0"/>
          </a:p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DRC </a:t>
            </a:r>
            <a:r>
              <a:rPr lang="zh-CN" altLang="en-US" sz="1000" dirty="0"/>
              <a:t>云版  </a:t>
            </a:r>
          </a:p>
          <a:p>
            <a:pPr algn="ctr"/>
            <a:r>
              <a:rPr lang="zh-CN" altLang="en-US" sz="1000" dirty="0"/>
              <a:t>预装软件包  </a:t>
            </a:r>
          </a:p>
          <a:p>
            <a:pPr algn="ctr"/>
            <a:r>
              <a:rPr lang="zh-CN" altLang="en-US" sz="1000" dirty="0"/>
              <a:t>（</a:t>
            </a:r>
            <a:r>
              <a:rPr lang="en-US" altLang="zh-CN" sz="1000" dirty="0"/>
              <a:t>SAP </a:t>
            </a:r>
            <a:r>
              <a:rPr lang="zh-CN" altLang="en-US" sz="1000" dirty="0"/>
              <a:t>集成套件）</a:t>
            </a:r>
            <a:endParaRPr lang="zh-CN" altLang="zh-CN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FF8D2F-3AF9-275D-73AE-634D57C5A984}"/>
              </a:ext>
            </a:extLst>
          </p:cNvPr>
          <p:cNvSpPr/>
          <p:nvPr/>
        </p:nvSpPr>
        <p:spPr>
          <a:xfrm>
            <a:off x="3875942" y="5010836"/>
            <a:ext cx="4384430" cy="378069"/>
          </a:xfrm>
          <a:prstGeom prst="rect">
            <a:avLst/>
          </a:prstGeom>
          <a:solidFill>
            <a:srgbClr val="0073E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b="1" dirty="0"/>
              <a:t>SAP </a:t>
            </a:r>
            <a:r>
              <a:rPr lang="en-US" altLang="zh-CN" sz="1000" b="1" dirty="0"/>
              <a:t>BTP</a:t>
            </a:r>
            <a:r>
              <a:rPr lang="zh-CN" altLang="en-US" sz="1000" b="1" dirty="0"/>
              <a:t>平台（</a:t>
            </a:r>
            <a:r>
              <a:rPr lang="zh-CN" altLang="zh-CN" sz="1000" b="1" dirty="0"/>
              <a:t>Business Technology Platform</a:t>
            </a:r>
            <a:r>
              <a:rPr lang="zh-CN" altLang="en-US" sz="1000" b="1" dirty="0"/>
              <a:t>）</a:t>
            </a:r>
            <a:endParaRPr kumimoji="1" lang="zh-CN" altLang="en-US" sz="10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87A19A-E88C-608B-255E-321A7041ADFF}"/>
              </a:ext>
            </a:extLst>
          </p:cNvPr>
          <p:cNvSpPr/>
          <p:nvPr/>
        </p:nvSpPr>
        <p:spPr>
          <a:xfrm>
            <a:off x="3875942" y="5503205"/>
            <a:ext cx="4384430" cy="378069"/>
          </a:xfrm>
          <a:prstGeom prst="rect">
            <a:avLst/>
          </a:prstGeom>
          <a:solidFill>
            <a:srgbClr val="0073E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外部伙伴拓展方案（</a:t>
            </a:r>
            <a:r>
              <a:rPr lang="zh-CN" altLang="zh-CN" sz="1000" b="1" dirty="0"/>
              <a:t>Partner &amp; Customer Extensions</a:t>
            </a:r>
            <a:r>
              <a:rPr lang="zh-CN" altLang="en-US" sz="1000" b="1" dirty="0"/>
              <a:t>）</a:t>
            </a:r>
            <a:endParaRPr kumimoji="1" lang="zh-CN" altLang="en-US" sz="10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D42E5E-4E76-4DB2-0D95-40F86D373615}"/>
              </a:ext>
            </a:extLst>
          </p:cNvPr>
          <p:cNvSpPr/>
          <p:nvPr/>
        </p:nvSpPr>
        <p:spPr>
          <a:xfrm>
            <a:off x="589083" y="2346766"/>
            <a:ext cx="2460381" cy="3912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b="1" dirty="0"/>
          </a:p>
          <a:p>
            <a:pPr algn="ctr"/>
            <a:r>
              <a:rPr lang="zh-CN" altLang="zh-CN" b="1" dirty="0"/>
              <a:t>SAP S/4HANA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CD4F1A-0CD7-45B7-9770-FA4B9704521D}"/>
              </a:ext>
            </a:extLst>
          </p:cNvPr>
          <p:cNvSpPr/>
          <p:nvPr/>
        </p:nvSpPr>
        <p:spPr>
          <a:xfrm>
            <a:off x="940777" y="3564501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国家模版 </a:t>
            </a:r>
            <a:r>
              <a:rPr lang="en-US" altLang="zh-CN" sz="1000" b="1" dirty="0"/>
              <a:t>–</a:t>
            </a:r>
            <a:r>
              <a:rPr lang="zh-CN" altLang="en-US" sz="1000" b="1" dirty="0"/>
              <a:t> 泰国</a:t>
            </a:r>
            <a:endParaRPr kumimoji="1" lang="zh-CN" altLang="en-US" sz="10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22E816-ADAF-7975-DCA3-D6E23CF90BD2}"/>
              </a:ext>
            </a:extLst>
          </p:cNvPr>
          <p:cNvSpPr/>
          <p:nvPr/>
        </p:nvSpPr>
        <p:spPr>
          <a:xfrm>
            <a:off x="940777" y="4074455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国家模版 </a:t>
            </a:r>
            <a:r>
              <a:rPr lang="en-US" altLang="zh-CN" sz="1000" b="1" dirty="0"/>
              <a:t>–</a:t>
            </a:r>
            <a:r>
              <a:rPr lang="zh-CN" altLang="en-US" sz="1000" b="1" dirty="0"/>
              <a:t> 德国</a:t>
            </a:r>
            <a:endParaRPr kumimoji="1" lang="zh-CN" altLang="en-US" sz="1000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E82C25-30D0-C7CB-06CF-D94B5A5FE8A9}"/>
              </a:ext>
            </a:extLst>
          </p:cNvPr>
          <p:cNvSpPr/>
          <p:nvPr/>
        </p:nvSpPr>
        <p:spPr>
          <a:xfrm>
            <a:off x="940777" y="4615182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国家模版 </a:t>
            </a:r>
            <a:r>
              <a:rPr lang="en-US" altLang="zh-CN" sz="1000" b="1" dirty="0"/>
              <a:t>–</a:t>
            </a:r>
            <a:r>
              <a:rPr lang="zh-CN" altLang="en-US" sz="1000" b="1" dirty="0"/>
              <a:t> 美国</a:t>
            </a:r>
            <a:endParaRPr kumimoji="1" lang="zh-CN" altLang="en-US" sz="1000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E11FB6-665A-3746-FBDB-8F90352ABFFB}"/>
              </a:ext>
            </a:extLst>
          </p:cNvPr>
          <p:cNvSpPr/>
          <p:nvPr/>
        </p:nvSpPr>
        <p:spPr>
          <a:xfrm>
            <a:off x="940777" y="5125136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国家模版 </a:t>
            </a:r>
            <a:r>
              <a:rPr lang="en-US" altLang="zh-CN" sz="1000" b="1" dirty="0"/>
              <a:t>–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……</a:t>
            </a:r>
            <a:endParaRPr kumimoji="1" lang="zh-CN" altLang="en-US" sz="10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83593D-24BC-787F-FF2D-3ABD31A6242C}"/>
              </a:ext>
            </a:extLst>
          </p:cNvPr>
          <p:cNvSpPr/>
          <p:nvPr/>
        </p:nvSpPr>
        <p:spPr>
          <a:xfrm>
            <a:off x="9146440" y="2346766"/>
            <a:ext cx="2460381" cy="3912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b="1" dirty="0"/>
          </a:p>
          <a:p>
            <a:pPr algn="ctr"/>
            <a:r>
              <a:rPr lang="zh-CN" altLang="en-US" b="1" dirty="0"/>
              <a:t>税务监管和外部代理机构</a:t>
            </a:r>
            <a:endParaRPr lang="zh-CN" altLang="zh-CN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1CB7AD-E0C6-BB4E-A9CA-4376BF559B12}"/>
              </a:ext>
            </a:extLst>
          </p:cNvPr>
          <p:cNvSpPr/>
          <p:nvPr/>
        </p:nvSpPr>
        <p:spPr>
          <a:xfrm>
            <a:off x="9523045" y="3546917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业务伙伴</a:t>
            </a:r>
            <a:r>
              <a:rPr lang="en-US" altLang="zh-CN" sz="1000" b="1" dirty="0"/>
              <a:t>/BP</a:t>
            </a:r>
            <a:endParaRPr kumimoji="1" lang="zh-CN" altLang="en-US" sz="1000" b="1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A8A263-8A17-7E44-3212-C473BA4B4A54}"/>
              </a:ext>
            </a:extLst>
          </p:cNvPr>
          <p:cNvSpPr/>
          <p:nvPr/>
        </p:nvSpPr>
        <p:spPr>
          <a:xfrm>
            <a:off x="9523045" y="4056871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发票校验</a:t>
            </a:r>
            <a:endParaRPr kumimoji="1" lang="zh-CN" altLang="en-US" sz="1000" b="1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4AF85A-DEB0-60FE-EA76-BD1748FF17C1}"/>
              </a:ext>
            </a:extLst>
          </p:cNvPr>
          <p:cNvSpPr/>
          <p:nvPr/>
        </p:nvSpPr>
        <p:spPr>
          <a:xfrm>
            <a:off x="9523045" y="4597598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在税务系统注册发票</a:t>
            </a:r>
            <a:endParaRPr kumimoji="1" lang="zh-CN" altLang="en-US" sz="1000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0F95D8-3B3D-D280-4A7F-DA78D916C0BF}"/>
              </a:ext>
            </a:extLst>
          </p:cNvPr>
          <p:cNvSpPr/>
          <p:nvPr/>
        </p:nvSpPr>
        <p:spPr>
          <a:xfrm>
            <a:off x="9523045" y="5107552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通过外部网络提交税务文档</a:t>
            </a:r>
            <a:endParaRPr kumimoji="1" lang="zh-CN" altLang="en-US" sz="10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5EC04D-FB2A-27E3-F8DC-1BCF154EA4C4}"/>
              </a:ext>
            </a:extLst>
          </p:cNvPr>
          <p:cNvSpPr/>
          <p:nvPr/>
        </p:nvSpPr>
        <p:spPr>
          <a:xfrm>
            <a:off x="589083" y="1267509"/>
            <a:ext cx="11017738" cy="958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b="1" dirty="0"/>
              <a:t>海外财务合规</a:t>
            </a:r>
            <a:endParaRPr lang="zh-CN" altLang="zh-CN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268CCB-290A-D099-DEF7-D80B842DC0E8}"/>
              </a:ext>
            </a:extLst>
          </p:cNvPr>
          <p:cNvSpPr/>
          <p:nvPr/>
        </p:nvSpPr>
        <p:spPr>
          <a:xfrm>
            <a:off x="1126394" y="1680747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多准则</a:t>
            </a:r>
            <a:endParaRPr kumimoji="1" lang="zh-CN" altLang="en-US" sz="1000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0635FC-85E6-30EE-2D25-7221F86E9C5A}"/>
              </a:ext>
            </a:extLst>
          </p:cNvPr>
          <p:cNvSpPr/>
          <p:nvPr/>
        </p:nvSpPr>
        <p:spPr>
          <a:xfrm>
            <a:off x="3866662" y="1680747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多语言</a:t>
            </a:r>
            <a:endParaRPr kumimoji="1" lang="zh-CN" altLang="en-US" sz="10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4BDBD7-0C26-F2F6-4239-593892FD2AA5}"/>
              </a:ext>
            </a:extLst>
          </p:cNvPr>
          <p:cNvSpPr/>
          <p:nvPr/>
        </p:nvSpPr>
        <p:spPr>
          <a:xfrm>
            <a:off x="6606930" y="1680747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多货币</a:t>
            </a:r>
            <a:endParaRPr kumimoji="1" lang="zh-CN" altLang="en-US" sz="10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81E37B-6777-5CFB-E203-BCB2B65C636F}"/>
              </a:ext>
            </a:extLst>
          </p:cNvPr>
          <p:cNvSpPr/>
          <p:nvPr/>
        </p:nvSpPr>
        <p:spPr>
          <a:xfrm>
            <a:off x="9347198" y="1680747"/>
            <a:ext cx="1749669" cy="378069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/>
              <a:t>······</a:t>
            </a:r>
            <a:endParaRPr kumimoji="1" lang="zh-CN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96349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BF37-EC7C-E9D9-9AB1-B85B2919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7AAA61-9531-1666-59E9-28F9C63A2F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93CFD3-9DD2-B443-BFE2-BB45FD94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9AF703-CDD0-11AD-77BA-E59DABBC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0C8D82F-B813-4903-EDCD-DDB10A9746A4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72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3F45B-55C7-731D-0FF0-D9DCFBDE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8FD0E-60C1-6C05-3627-1DF469CD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cap="all" dirty="0" err="1">
                <a:sym typeface="Noto Sans SC"/>
              </a:rPr>
              <a:t>DRC的数据流：一张发票如何合规提交</a:t>
            </a:r>
            <a:endParaRPr lang="zh-CN" altLang="en-US" b="1" cap="all" dirty="0"/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F0B7A38B-5180-9BFE-1A22-8D1244FD9E0A}"/>
              </a:ext>
            </a:extLst>
          </p:cNvPr>
          <p:cNvSpPr/>
          <p:nvPr/>
        </p:nvSpPr>
        <p:spPr>
          <a:xfrm>
            <a:off x="428624" y="1767253"/>
            <a:ext cx="3175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069FD6CE-37F4-7560-9CBE-DFB68C9E3630}"/>
              </a:ext>
            </a:extLst>
          </p:cNvPr>
          <p:cNvSpPr/>
          <p:nvPr/>
        </p:nvSpPr>
        <p:spPr>
          <a:xfrm>
            <a:off x="555624" y="1868853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业务触发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SD模块生成发票并过账，自动触发DRC合规校验流程，无需人工干预，实现源头自动驱动。</a:t>
            </a: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A67D3492-13C9-F241-C90E-464C7EDC2B14}"/>
              </a:ext>
            </a:extLst>
          </p:cNvPr>
          <p:cNvSpPr/>
          <p:nvPr/>
        </p:nvSpPr>
        <p:spPr>
          <a:xfrm>
            <a:off x="4620600" y="1767253"/>
            <a:ext cx="3175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0">
            <a:extLst>
              <a:ext uri="{FF2B5EF4-FFF2-40B4-BE49-F238E27FC236}">
                <a16:creationId xmlns:a16="http://schemas.microsoft.com/office/drawing/2014/main" id="{D8E7F130-A620-08EC-DB09-27DBB06B8BD8}"/>
              </a:ext>
            </a:extLst>
          </p:cNvPr>
          <p:cNvSpPr/>
          <p:nvPr/>
        </p:nvSpPr>
        <p:spPr>
          <a:xfrm>
            <a:off x="4747600" y="1868853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格式适配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调用泰国本地化Country Version，将SAP内部数据自动转换为税务机关要求的法定XML标准格式。</a:t>
            </a:r>
          </a:p>
        </p:txBody>
      </p:sp>
      <p:sp>
        <p:nvSpPr>
          <p:cNvPr id="26" name="AutoShape 11">
            <a:extLst>
              <a:ext uri="{FF2B5EF4-FFF2-40B4-BE49-F238E27FC236}">
                <a16:creationId xmlns:a16="http://schemas.microsoft.com/office/drawing/2014/main" id="{5D1D8F56-1E55-000C-DB2A-EE76050EB02F}"/>
              </a:ext>
            </a:extLst>
          </p:cNvPr>
          <p:cNvSpPr/>
          <p:nvPr/>
        </p:nvSpPr>
        <p:spPr>
          <a:xfrm>
            <a:off x="8588376" y="1758460"/>
            <a:ext cx="3175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2">
            <a:extLst>
              <a:ext uri="{FF2B5EF4-FFF2-40B4-BE49-F238E27FC236}">
                <a16:creationId xmlns:a16="http://schemas.microsoft.com/office/drawing/2014/main" id="{D5CF38B9-B4C4-5FFD-7DF4-72C19CCD54CA}"/>
              </a:ext>
            </a:extLst>
          </p:cNvPr>
          <p:cNvSpPr/>
          <p:nvPr/>
        </p:nvSpPr>
        <p:spPr>
          <a:xfrm>
            <a:off x="8715376" y="186006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数字签名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通过CI/BTP平台调用第三方权威认证服务，为XML文件添加国密级数字签名，确保数据不可篡改。</a:t>
            </a:r>
          </a:p>
        </p:txBody>
      </p:sp>
      <p:sp>
        <p:nvSpPr>
          <p:cNvPr id="28" name="AutoShape 13">
            <a:extLst>
              <a:ext uri="{FF2B5EF4-FFF2-40B4-BE49-F238E27FC236}">
                <a16:creationId xmlns:a16="http://schemas.microsoft.com/office/drawing/2014/main" id="{380BEC5A-518E-58A3-51E7-02C376BF0A38}"/>
              </a:ext>
            </a:extLst>
          </p:cNvPr>
          <p:cNvSpPr/>
          <p:nvPr/>
        </p:nvSpPr>
        <p:spPr>
          <a:xfrm>
            <a:off x="8588376" y="3429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66263893-0D63-0B54-3CCD-B888BC065C81}"/>
              </a:ext>
            </a:extLst>
          </p:cNvPr>
          <p:cNvSpPr/>
          <p:nvPr/>
        </p:nvSpPr>
        <p:spPr>
          <a:xfrm>
            <a:off x="8715376" y="35306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税局直连提交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通过标准安全接口，将已签名的合规文件加密传输至泰国税务局官方API，保障传输安全。</a:t>
            </a:r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160F6087-5BAC-A199-7116-24CD77002BF6}"/>
              </a:ext>
            </a:extLst>
          </p:cNvPr>
          <p:cNvSpPr/>
          <p:nvPr/>
        </p:nvSpPr>
        <p:spPr>
          <a:xfrm>
            <a:off x="4620600" y="3429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557B858E-9DCE-A5DB-A3F5-35822CC38ED0}"/>
              </a:ext>
            </a:extLst>
          </p:cNvPr>
          <p:cNvSpPr/>
          <p:nvPr/>
        </p:nvSpPr>
        <p:spPr>
          <a:xfrm>
            <a:off x="4747600" y="35306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实时结果反馈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税务机关即时返回处理结果，明确返回“接受”或“拒绝”状态，并附带详细的校验代码与原因。</a:t>
            </a:r>
          </a:p>
        </p:txBody>
      </p:sp>
      <p:sp>
        <p:nvSpPr>
          <p:cNvPr id="32" name="AutoShape 17">
            <a:extLst>
              <a:ext uri="{FF2B5EF4-FFF2-40B4-BE49-F238E27FC236}">
                <a16:creationId xmlns:a16="http://schemas.microsoft.com/office/drawing/2014/main" id="{34DE17DE-D9F2-9B98-FE0F-E96C41D7A5DA}"/>
              </a:ext>
            </a:extLst>
          </p:cNvPr>
          <p:cNvSpPr/>
          <p:nvPr/>
        </p:nvSpPr>
        <p:spPr>
          <a:xfrm>
            <a:off x="428624" y="3429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18">
            <a:extLst>
              <a:ext uri="{FF2B5EF4-FFF2-40B4-BE49-F238E27FC236}">
                <a16:creationId xmlns:a16="http://schemas.microsoft.com/office/drawing/2014/main" id="{7C9339EC-EA09-CCC4-316C-D91190BF0E60}"/>
              </a:ext>
            </a:extLst>
          </p:cNvPr>
          <p:cNvSpPr/>
          <p:nvPr/>
        </p:nvSpPr>
        <p:spPr>
          <a:xfrm>
            <a:off x="555624" y="35306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 状态回写监控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DRC Monitor自动回写最新状态至SAP系统，财务人员可在系统内直接查看发票合规进度。</a:t>
            </a:r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97DC2A71-822D-3DBD-A2B5-A323C83F63F5}"/>
              </a:ext>
            </a:extLst>
          </p:cNvPr>
          <p:cNvSpPr/>
          <p:nvPr/>
        </p:nvSpPr>
        <p:spPr>
          <a:xfrm>
            <a:off x="8588376" y="1767253"/>
            <a:ext cx="3175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12">
            <a:extLst>
              <a:ext uri="{FF2B5EF4-FFF2-40B4-BE49-F238E27FC236}">
                <a16:creationId xmlns:a16="http://schemas.microsoft.com/office/drawing/2014/main" id="{F18F2A5E-7C51-974C-FF37-7CEA307AB610}"/>
              </a:ext>
            </a:extLst>
          </p:cNvPr>
          <p:cNvSpPr/>
          <p:nvPr/>
        </p:nvSpPr>
        <p:spPr>
          <a:xfrm>
            <a:off x="8715376" y="1868853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数字签名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通过CI/BTP平台调用第三方权威认证服务，为XML文件添加国密级数字签名，确保数据不可篡改。</a:t>
            </a:r>
          </a:p>
        </p:txBody>
      </p:sp>
      <p:sp>
        <p:nvSpPr>
          <p:cNvPr id="36" name="下箭头 35">
            <a:extLst>
              <a:ext uri="{FF2B5EF4-FFF2-40B4-BE49-F238E27FC236}">
                <a16:creationId xmlns:a16="http://schemas.microsoft.com/office/drawing/2014/main" id="{BF586337-8047-FA93-4195-C50BBA9A723F}"/>
              </a:ext>
            </a:extLst>
          </p:cNvPr>
          <p:cNvSpPr/>
          <p:nvPr/>
        </p:nvSpPr>
        <p:spPr>
          <a:xfrm rot="16200000">
            <a:off x="3949455" y="2194265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下箭头 36">
            <a:extLst>
              <a:ext uri="{FF2B5EF4-FFF2-40B4-BE49-F238E27FC236}">
                <a16:creationId xmlns:a16="http://schemas.microsoft.com/office/drawing/2014/main" id="{5B20BC71-0A11-5AAE-2093-FEA0175C4A6B}"/>
              </a:ext>
            </a:extLst>
          </p:cNvPr>
          <p:cNvSpPr/>
          <p:nvPr/>
        </p:nvSpPr>
        <p:spPr>
          <a:xfrm>
            <a:off x="10013218" y="3047511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下箭头 37">
            <a:extLst>
              <a:ext uri="{FF2B5EF4-FFF2-40B4-BE49-F238E27FC236}">
                <a16:creationId xmlns:a16="http://schemas.microsoft.com/office/drawing/2014/main" id="{6BC021D6-A5C4-C297-A7EB-DF9A1F6AEBB0}"/>
              </a:ext>
            </a:extLst>
          </p:cNvPr>
          <p:cNvSpPr/>
          <p:nvPr/>
        </p:nvSpPr>
        <p:spPr>
          <a:xfrm rot="16200000">
            <a:off x="8029331" y="2194265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下箭头 38">
            <a:extLst>
              <a:ext uri="{FF2B5EF4-FFF2-40B4-BE49-F238E27FC236}">
                <a16:creationId xmlns:a16="http://schemas.microsoft.com/office/drawing/2014/main" id="{CC29293C-580F-150B-7314-89888A4BEB0A}"/>
              </a:ext>
            </a:extLst>
          </p:cNvPr>
          <p:cNvSpPr/>
          <p:nvPr/>
        </p:nvSpPr>
        <p:spPr>
          <a:xfrm rot="5400000">
            <a:off x="8029331" y="3878384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下箭头 39">
            <a:extLst>
              <a:ext uri="{FF2B5EF4-FFF2-40B4-BE49-F238E27FC236}">
                <a16:creationId xmlns:a16="http://schemas.microsoft.com/office/drawing/2014/main" id="{5DD5AF7F-C382-838F-9CB8-09EC651B39C6}"/>
              </a:ext>
            </a:extLst>
          </p:cNvPr>
          <p:cNvSpPr/>
          <p:nvPr/>
        </p:nvSpPr>
        <p:spPr>
          <a:xfrm rot="5400000">
            <a:off x="3907689" y="3878384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F9B01A33-A885-2537-89DB-9361790EA49E}"/>
              </a:ext>
            </a:extLst>
          </p:cNvPr>
          <p:cNvSpPr/>
          <p:nvPr/>
        </p:nvSpPr>
        <p:spPr>
          <a:xfrm>
            <a:off x="421540" y="4855210"/>
            <a:ext cx="4318000" cy="1397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CE1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6">
            <a:extLst>
              <a:ext uri="{FF2B5EF4-FFF2-40B4-BE49-F238E27FC236}">
                <a16:creationId xmlns:a16="http://schemas.microsoft.com/office/drawing/2014/main" id="{F7316A4F-21D3-A815-D14E-CF26F1046F65}"/>
              </a:ext>
            </a:extLst>
          </p:cNvPr>
          <p:cNvSpPr/>
          <p:nvPr/>
        </p:nvSpPr>
        <p:spPr>
          <a:xfrm>
            <a:off x="548540" y="498221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可视化流转监控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系统内置DRC</a:t>
            </a:r>
            <a:r>
              <a:rPr lang="en-US" sz="1200" b="0" i="0" u="none" strike="noStrike" dirty="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 Monitor监控台，可实时追踪每一张发票的合规状态，从“待提交”到“税局接受”全链路状态可查，异常情况自动预警，确保财务申报无死角。</a:t>
            </a:r>
          </a:p>
        </p:txBody>
      </p:sp>
      <p:sp>
        <p:nvSpPr>
          <p:cNvPr id="43" name="AutoShape 19">
            <a:extLst>
              <a:ext uri="{FF2B5EF4-FFF2-40B4-BE49-F238E27FC236}">
                <a16:creationId xmlns:a16="http://schemas.microsoft.com/office/drawing/2014/main" id="{D9D548EF-CE29-B6D2-7E82-2A33478D3DFD}"/>
              </a:ext>
            </a:extLst>
          </p:cNvPr>
          <p:cNvSpPr/>
          <p:nvPr/>
        </p:nvSpPr>
        <p:spPr>
          <a:xfrm>
            <a:off x="5073162" y="4855210"/>
            <a:ext cx="6697298" cy="1397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CE1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44" name="AutoShape 20">
            <a:extLst>
              <a:ext uri="{FF2B5EF4-FFF2-40B4-BE49-F238E27FC236}">
                <a16:creationId xmlns:a16="http://schemas.microsoft.com/office/drawing/2014/main" id="{BEDDA6F7-5E42-E99D-23CF-82BC15AF44CA}"/>
              </a:ext>
            </a:extLst>
          </p:cNvPr>
          <p:cNvSpPr/>
          <p:nvPr/>
        </p:nvSpPr>
        <p:spPr>
          <a:xfrm>
            <a:off x="5094804" y="4944110"/>
            <a:ext cx="6651720" cy="118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流程价值</a:t>
            </a:r>
            <a:r>
              <a:rPr lang="en-US" sz="13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0" indent="0" algn="l">
              <a:lnSpc>
                <a:spcPct val="108333"/>
              </a:lnSpc>
              <a:defRPr/>
            </a:pPr>
            <a:endParaRPr lang="en-US" sz="1300" b="1" dirty="0">
              <a:solidFill>
                <a:srgbClr val="15803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实现从业务开票到税务合规的端到端自动化闭环，消除人工申报风险，确保每一笔交易的税务合规性，显著提升财务处理效率与风险管控能力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53FBF2-52B4-BE9C-128A-9A9D934664EC}"/>
              </a:ext>
            </a:extLst>
          </p:cNvPr>
          <p:cNvSpPr txBox="1"/>
          <p:nvPr/>
        </p:nvSpPr>
        <p:spPr>
          <a:xfrm>
            <a:off x="11124149" y="65332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12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A6E67-3721-1E25-2A1D-3FDAFDAC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cap="all" dirty="0" err="1">
                <a:sym typeface="Noto Sans SC"/>
              </a:rPr>
              <a:t>出站电子发票配置</a:t>
            </a:r>
            <a:r>
              <a:rPr lang="zh-CN" altLang="en-US" b="1" cap="all" dirty="0">
                <a:sym typeface="Noto Sans SC"/>
              </a:rPr>
              <a:t>的三个</a:t>
            </a:r>
            <a:r>
              <a:rPr lang="en-US" altLang="zh-CN" b="1" cap="all" dirty="0" err="1">
                <a:sym typeface="Noto Sans SC"/>
              </a:rPr>
              <a:t>要素</a:t>
            </a:r>
            <a:endParaRPr lang="zh-CN" altLang="en-US" b="1" cap="all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8C1C935-F7E3-AB6C-0950-AC5F647BFD83}"/>
              </a:ext>
            </a:extLst>
          </p:cNvPr>
          <p:cNvSpPr/>
          <p:nvPr/>
        </p:nvSpPr>
        <p:spPr>
          <a:xfrm>
            <a:off x="635000" y="1651000"/>
            <a:ext cx="3467100" cy="292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5470D90B-FD86-72A1-21C8-CA4FD196A7A4}"/>
              </a:ext>
            </a:extLst>
          </p:cNvPr>
          <p:cNvSpPr/>
          <p:nvPr/>
        </p:nvSpPr>
        <p:spPr>
          <a:xfrm>
            <a:off x="6350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76F91206-9645-4771-3D24-EE380B8DCE43}"/>
              </a:ext>
            </a:extLst>
          </p:cNvPr>
          <p:cNvSpPr/>
          <p:nvPr/>
        </p:nvSpPr>
        <p:spPr>
          <a:xfrm>
            <a:off x="1397000" y="1981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输出类型配置</a:t>
            </a:r>
            <a:endParaRPr lang="en-US" sz="1100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F5D7E7E9-DCD2-1052-CDF5-7C6516B8D08E}"/>
              </a:ext>
            </a:extLst>
          </p:cNvPr>
          <p:cNvSpPr/>
          <p:nvPr/>
        </p:nvSpPr>
        <p:spPr>
          <a:xfrm>
            <a:off x="889000" y="2603500"/>
            <a:ext cx="2959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定义电子发票的触发逻辑与输出介质，例如过账时实时发送或定期批量处理，是自动化的基础。</a:t>
            </a:r>
            <a:endParaRPr lang="en-US" sz="110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4ACB57F6-F1A8-AF41-08A9-B011C77AA5FE}"/>
              </a:ext>
            </a:extLst>
          </p:cNvPr>
          <p:cNvSpPr/>
          <p:nvPr/>
        </p:nvSpPr>
        <p:spPr>
          <a:xfrm>
            <a:off x="889000" y="3873500"/>
            <a:ext cx="29591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AF62ADEF-0D7D-74A6-61EA-F062DE068700}"/>
              </a:ext>
            </a:extLst>
          </p:cNvPr>
          <p:cNvSpPr/>
          <p:nvPr/>
        </p:nvSpPr>
        <p:spPr>
          <a:xfrm>
            <a:off x="1016000" y="3962400"/>
            <a:ext cx="2705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配置路径：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SPRO → 输出控制 → 输出类型定义</a:t>
            </a:r>
            <a:endParaRPr lang="en-US" sz="1100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3F0E9B1E-4ECB-C349-7FD0-5724467AFC65}"/>
              </a:ext>
            </a:extLst>
          </p:cNvPr>
          <p:cNvSpPr/>
          <p:nvPr/>
        </p:nvSpPr>
        <p:spPr>
          <a:xfrm>
            <a:off x="4356100" y="1651000"/>
            <a:ext cx="3467100" cy="292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012E4AB7-778E-A277-C34F-5BE86ACDB756}"/>
              </a:ext>
            </a:extLst>
          </p:cNvPr>
          <p:cNvSpPr/>
          <p:nvPr/>
        </p:nvSpPr>
        <p:spPr>
          <a:xfrm>
            <a:off x="43561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A1C9268E-237D-1D90-C415-AADED30E4FE2}"/>
              </a:ext>
            </a:extLst>
          </p:cNvPr>
          <p:cNvSpPr/>
          <p:nvPr/>
        </p:nvSpPr>
        <p:spPr>
          <a:xfrm>
            <a:off x="5118100" y="1981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文件类型映射</a:t>
            </a:r>
            <a:endParaRPr lang="en-US" sz="1100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3A478A63-21E6-64B1-834F-3B5BD7C13033}"/>
              </a:ext>
            </a:extLst>
          </p:cNvPr>
          <p:cNvSpPr/>
          <p:nvPr/>
        </p:nvSpPr>
        <p:spPr>
          <a:xfrm>
            <a:off x="4610100" y="2603500"/>
            <a:ext cx="2959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将SAP标准凭证类型（如客户发票DZ、供应商发票RE）与DRC系统的电子文件类型进行关联，确保凭证正确识别。</a:t>
            </a:r>
            <a:endParaRPr lang="en-US" sz="1100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EF92EE53-9B9B-C07E-133B-6A760CF9EE7B}"/>
              </a:ext>
            </a:extLst>
          </p:cNvPr>
          <p:cNvSpPr/>
          <p:nvPr/>
        </p:nvSpPr>
        <p:spPr>
          <a:xfrm>
            <a:off x="4610100" y="3873500"/>
            <a:ext cx="29591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74EAEF6E-635D-4C58-25CF-52DEA1FD8D25}"/>
              </a:ext>
            </a:extLst>
          </p:cNvPr>
          <p:cNvSpPr/>
          <p:nvPr/>
        </p:nvSpPr>
        <p:spPr>
          <a:xfrm>
            <a:off x="4737100" y="3962400"/>
            <a:ext cx="2705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配置路径：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DRC Customizing → 凭证类型分配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4264FE94-E19B-D2F5-2192-95746E0376BA}"/>
              </a:ext>
            </a:extLst>
          </p:cNvPr>
          <p:cNvSpPr/>
          <p:nvPr/>
        </p:nvSpPr>
        <p:spPr>
          <a:xfrm>
            <a:off x="8077200" y="1651000"/>
            <a:ext cx="3467100" cy="292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6D37C0D2-F30D-2957-33F5-5AC728FC7151}"/>
              </a:ext>
            </a:extLst>
          </p:cNvPr>
          <p:cNvSpPr/>
          <p:nvPr/>
        </p:nvSpPr>
        <p:spPr>
          <a:xfrm>
            <a:off x="80772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43FA1868-A434-3397-EA3A-F7087B422C61}"/>
              </a:ext>
            </a:extLst>
          </p:cNvPr>
          <p:cNvSpPr/>
          <p:nvPr/>
        </p:nvSpPr>
        <p:spPr>
          <a:xfrm>
            <a:off x="8839200" y="1981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合规编号范围</a:t>
            </a:r>
            <a:endParaRPr lang="en-US" sz="1100"/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9CBBDAE2-8C4A-91E0-5E1D-464E9E2DC5FE}"/>
              </a:ext>
            </a:extLst>
          </p:cNvPr>
          <p:cNvSpPr/>
          <p:nvPr/>
        </p:nvSpPr>
        <p:spPr>
          <a:xfrm>
            <a:off x="8331200" y="2603500"/>
            <a:ext cx="2959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设定符合泰国税务法规要求的电子发票专用编号序列，这是税务合规的核心控制点。</a:t>
            </a:r>
            <a:endParaRPr lang="en-US" sz="1100"/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28C0B261-D4B7-A2CF-4B1A-FFE2EC600382}"/>
              </a:ext>
            </a:extLst>
          </p:cNvPr>
          <p:cNvSpPr/>
          <p:nvPr/>
        </p:nvSpPr>
        <p:spPr>
          <a:xfrm>
            <a:off x="8331200" y="3873500"/>
            <a:ext cx="29591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D7DAA3F6-2BA4-DD0C-F8F4-06DB0D95DC7C}"/>
              </a:ext>
            </a:extLst>
          </p:cNvPr>
          <p:cNvSpPr/>
          <p:nvPr/>
        </p:nvSpPr>
        <p:spPr>
          <a:xfrm>
            <a:off x="8458200" y="3962400"/>
            <a:ext cx="2705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配置路径：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FBN1 或 国家特定编号配置节点</a:t>
            </a:r>
            <a:endParaRPr lang="en-US" sz="1100"/>
          </a:p>
        </p:txBody>
      </p:sp>
      <p:sp>
        <p:nvSpPr>
          <p:cNvPr id="27" name="AutoShape 26">
            <a:extLst>
              <a:ext uri="{FF2B5EF4-FFF2-40B4-BE49-F238E27FC236}">
                <a16:creationId xmlns:a16="http://schemas.microsoft.com/office/drawing/2014/main" id="{D55EC9A1-5D44-D8E9-A1F7-2425613730C3}"/>
              </a:ext>
            </a:extLst>
          </p:cNvPr>
          <p:cNvSpPr/>
          <p:nvPr/>
        </p:nvSpPr>
        <p:spPr>
          <a:xfrm>
            <a:off x="635000" y="4953000"/>
            <a:ext cx="10998200" cy="1397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CE1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29" name="AutoShape 28">
            <a:extLst>
              <a:ext uri="{FF2B5EF4-FFF2-40B4-BE49-F238E27FC236}">
                <a16:creationId xmlns:a16="http://schemas.microsoft.com/office/drawing/2014/main" id="{AA8F3326-E2D4-62B4-249A-408784AC4731}"/>
              </a:ext>
            </a:extLst>
          </p:cNvPr>
          <p:cNvSpPr/>
          <p:nvPr/>
        </p:nvSpPr>
        <p:spPr>
          <a:xfrm>
            <a:off x="1270000" y="5207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业务协同确认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与业务部门确认发送时机，区分实时触发与批量处理场景，避免流程冲突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C73F0048-FEB0-8C4E-5221-E4933CD5B1B6}"/>
              </a:ext>
            </a:extLst>
          </p:cNvPr>
          <p:cNvSpPr/>
          <p:nvPr/>
        </p:nvSpPr>
        <p:spPr>
          <a:xfrm>
            <a:off x="4902200" y="5207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全量映射校验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梳理全量发票类型清单，确保特殊业务凭证（如贷记/借记通知）均完成映射。</a:t>
            </a:r>
          </a:p>
        </p:txBody>
      </p:sp>
      <p:sp>
        <p:nvSpPr>
          <p:cNvPr id="35" name="AutoShape 34">
            <a:extLst>
              <a:ext uri="{FF2B5EF4-FFF2-40B4-BE49-F238E27FC236}">
                <a16:creationId xmlns:a16="http://schemas.microsoft.com/office/drawing/2014/main" id="{9DD4A87B-7625-78A0-2EF9-1B0FEDF1F277}"/>
              </a:ext>
            </a:extLst>
          </p:cNvPr>
          <p:cNvSpPr/>
          <p:nvPr/>
        </p:nvSpPr>
        <p:spPr>
          <a:xfrm>
            <a:off x="8458200" y="5207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编号合规性保障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严格遵循泰国税务要求，确保编号唯一且连续，禁止跳号与重复，留存审计痕迹。</a:t>
            </a:r>
          </a:p>
        </p:txBody>
      </p:sp>
      <p:pic>
        <p:nvPicPr>
          <p:cNvPr id="36" name="Picture Placeholder 68">
            <a:extLst>
              <a:ext uri="{FF2B5EF4-FFF2-40B4-BE49-F238E27FC236}">
                <a16:creationId xmlns:a16="http://schemas.microsoft.com/office/drawing/2014/main" id="{C81FD151-63B5-D5F3-B345-9490B00F9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91" y="5206999"/>
            <a:ext cx="366366" cy="366366"/>
          </a:xfrm>
          <a:prstGeom prst="rect">
            <a:avLst/>
          </a:prstGeom>
        </p:spPr>
      </p:pic>
      <p:pic>
        <p:nvPicPr>
          <p:cNvPr id="37" name="Picture Placeholder 110">
            <a:extLst>
              <a:ext uri="{FF2B5EF4-FFF2-40B4-BE49-F238E27FC236}">
                <a16:creationId xmlns:a16="http://schemas.microsoft.com/office/drawing/2014/main" id="{F4E96115-916C-DEA5-FA5E-8690A380E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955" y="5199725"/>
            <a:ext cx="502618" cy="502618"/>
          </a:xfrm>
          <a:prstGeom prst="rect">
            <a:avLst/>
          </a:prstGeom>
        </p:spPr>
      </p:pic>
      <p:pic>
        <p:nvPicPr>
          <p:cNvPr id="38" name="Picture Placeholder 118">
            <a:extLst>
              <a:ext uri="{FF2B5EF4-FFF2-40B4-BE49-F238E27FC236}">
                <a16:creationId xmlns:a16="http://schemas.microsoft.com/office/drawing/2014/main" id="{4DD8E779-EC4D-6D7F-9FB1-E604798B9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602" y="5206999"/>
            <a:ext cx="429368" cy="429368"/>
          </a:xfrm>
          <a:prstGeom prst="rect">
            <a:avLst/>
          </a:prstGeom>
        </p:spPr>
      </p:pic>
      <p:pic>
        <p:nvPicPr>
          <p:cNvPr id="39" name="Picture Placeholder 174">
            <a:extLst>
              <a:ext uri="{FF2B5EF4-FFF2-40B4-BE49-F238E27FC236}">
                <a16:creationId xmlns:a16="http://schemas.microsoft.com/office/drawing/2014/main" id="{C4B9176A-3A71-D7A4-DE32-4A53CA69F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91" y="1915065"/>
            <a:ext cx="513270" cy="513270"/>
          </a:xfrm>
          <a:prstGeom prst="rect">
            <a:avLst/>
          </a:prstGeom>
        </p:spPr>
      </p:pic>
      <p:pic>
        <p:nvPicPr>
          <p:cNvPr id="40" name="Picture Placeholder 202">
            <a:extLst>
              <a:ext uri="{FF2B5EF4-FFF2-40B4-BE49-F238E27FC236}">
                <a16:creationId xmlns:a16="http://schemas.microsoft.com/office/drawing/2014/main" id="{C97FD7DB-8143-B831-1393-DA603C1FA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565" y="1915065"/>
            <a:ext cx="513270" cy="513270"/>
          </a:xfrm>
          <a:prstGeom prst="rect">
            <a:avLst/>
          </a:prstGeom>
        </p:spPr>
      </p:pic>
      <p:pic>
        <p:nvPicPr>
          <p:cNvPr id="41" name="Picture Placeholder 222">
            <a:extLst>
              <a:ext uri="{FF2B5EF4-FFF2-40B4-BE49-F238E27FC236}">
                <a16:creationId xmlns:a16="http://schemas.microsoft.com/office/drawing/2014/main" id="{83C78AD9-5E01-17FD-6BE6-D40D1F97E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3230" y="1915065"/>
            <a:ext cx="513270" cy="51327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DD4E29B-DABD-A3BE-B697-CFDF3DC30CF6}"/>
              </a:ext>
            </a:extLst>
          </p:cNvPr>
          <p:cNvSpPr txBox="1"/>
          <p:nvPr/>
        </p:nvSpPr>
        <p:spPr>
          <a:xfrm>
            <a:off x="11218742" y="647016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08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C94E-BBF6-0B5C-B87B-94009B41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FB7FF-DF00-2692-CD27-F536D1C6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cap="all" dirty="0">
                <a:sym typeface="Noto Sans SC"/>
              </a:rPr>
              <a:t>入</a:t>
            </a:r>
            <a:r>
              <a:rPr lang="en-US" altLang="zh-CN" b="1" cap="all" dirty="0" err="1">
                <a:sym typeface="Noto Sans SC"/>
              </a:rPr>
              <a:t>站电子发票</a:t>
            </a:r>
            <a:r>
              <a:rPr lang="zh-CN" altLang="en-US" b="1" cap="all" dirty="0">
                <a:sym typeface="Noto Sans SC"/>
              </a:rPr>
              <a:t>自动化处理流程</a:t>
            </a:r>
            <a:endParaRPr lang="zh-CN" altLang="en-US" b="1" cap="all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3160678-0A16-7C37-6B3B-1D148F6EAD56}"/>
              </a:ext>
            </a:extLst>
          </p:cNvPr>
          <p:cNvSpPr/>
          <p:nvPr/>
        </p:nvSpPr>
        <p:spPr>
          <a:xfrm>
            <a:off x="508000" y="1270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 自动化处理流程</a:t>
            </a:r>
            <a:endParaRPr lang="en-US"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4B418C2-E1DC-E287-6A98-872EBFA5263A}"/>
              </a:ext>
            </a:extLst>
          </p:cNvPr>
          <p:cNvSpPr/>
          <p:nvPr/>
        </p:nvSpPr>
        <p:spPr>
          <a:xfrm>
            <a:off x="508000" y="1905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E6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9A6693E4-9412-D7CE-DAE7-76DD02406E09}"/>
              </a:ext>
            </a:extLst>
          </p:cNvPr>
          <p:cNvSpPr/>
          <p:nvPr/>
        </p:nvSpPr>
        <p:spPr>
          <a:xfrm>
            <a:off x="508000" y="1905000"/>
            <a:ext cx="76200" cy="698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287AAA13-76A9-D54E-EB88-D6EC5C47BF7C}"/>
              </a:ext>
            </a:extLst>
          </p:cNvPr>
          <p:cNvSpPr/>
          <p:nvPr/>
        </p:nvSpPr>
        <p:spPr>
          <a:xfrm>
            <a:off x="698500" y="1968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6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自动接收：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支持Peppol、EDI标准格式及邮件XML，自动采集供应商发票数据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EC4E6AAE-28E0-406F-A95F-7C58E886C6F2}"/>
              </a:ext>
            </a:extLst>
          </p:cNvPr>
          <p:cNvSpPr/>
          <p:nvPr/>
        </p:nvSpPr>
        <p:spPr>
          <a:xfrm>
            <a:off x="508000" y="2794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E6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926D20E0-E0B2-3EE4-C73A-6055F8162B72}"/>
              </a:ext>
            </a:extLst>
          </p:cNvPr>
          <p:cNvSpPr/>
          <p:nvPr/>
        </p:nvSpPr>
        <p:spPr>
          <a:xfrm>
            <a:off x="508000" y="2794000"/>
            <a:ext cx="76200" cy="698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0">
            <a:extLst>
              <a:ext uri="{FF2B5EF4-FFF2-40B4-BE49-F238E27FC236}">
                <a16:creationId xmlns:a16="http://schemas.microsoft.com/office/drawing/2014/main" id="{19967F1B-EF73-4D8A-1631-E89CC109310E}"/>
              </a:ext>
            </a:extLst>
          </p:cNvPr>
          <p:cNvSpPr/>
          <p:nvPr/>
        </p:nvSpPr>
        <p:spPr>
          <a:xfrm>
            <a:off x="698500" y="2857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2. 智能验证：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自动校验发票格式合规性及业务规则，确保数据准确无误。</a:t>
            </a:r>
            <a:endParaRPr lang="en-US" sz="1100"/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2EF25CC2-AC2C-D09E-C1DA-E478DA66A573}"/>
              </a:ext>
            </a:extLst>
          </p:cNvPr>
          <p:cNvSpPr/>
          <p:nvPr/>
        </p:nvSpPr>
        <p:spPr>
          <a:xfrm>
            <a:off x="508000" y="3683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E6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12">
            <a:extLst>
              <a:ext uri="{FF2B5EF4-FFF2-40B4-BE49-F238E27FC236}">
                <a16:creationId xmlns:a16="http://schemas.microsoft.com/office/drawing/2014/main" id="{5B0BB621-C70E-F744-C492-1F3814CD3E26}"/>
              </a:ext>
            </a:extLst>
          </p:cNvPr>
          <p:cNvSpPr/>
          <p:nvPr/>
        </p:nvSpPr>
        <p:spPr>
          <a:xfrm>
            <a:off x="508000" y="3683000"/>
            <a:ext cx="76200" cy="698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E6CCB6EC-59DE-7E10-E8A9-117D7A83620F}"/>
              </a:ext>
            </a:extLst>
          </p:cNvPr>
          <p:cNvSpPr/>
          <p:nvPr/>
        </p:nvSpPr>
        <p:spPr>
          <a:xfrm>
            <a:off x="698500" y="3746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3. 三单匹配：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系统自动匹配采购订单(PO)与收货单(GR)，实现无接触审核。</a:t>
            </a:r>
            <a:endParaRPr lang="en-US" sz="1100"/>
          </a:p>
        </p:txBody>
      </p:sp>
      <p:sp>
        <p:nvSpPr>
          <p:cNvPr id="42" name="AutoShape 14">
            <a:extLst>
              <a:ext uri="{FF2B5EF4-FFF2-40B4-BE49-F238E27FC236}">
                <a16:creationId xmlns:a16="http://schemas.microsoft.com/office/drawing/2014/main" id="{5D543FF5-2E20-9DCA-31E2-6C87FD8D4268}"/>
              </a:ext>
            </a:extLst>
          </p:cNvPr>
          <p:cNvSpPr/>
          <p:nvPr/>
        </p:nvSpPr>
        <p:spPr>
          <a:xfrm>
            <a:off x="508000" y="4572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E6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15">
            <a:extLst>
              <a:ext uri="{FF2B5EF4-FFF2-40B4-BE49-F238E27FC236}">
                <a16:creationId xmlns:a16="http://schemas.microsoft.com/office/drawing/2014/main" id="{C8A617B0-04C6-DBE6-C35F-44BB6A66251D}"/>
              </a:ext>
            </a:extLst>
          </p:cNvPr>
          <p:cNvSpPr/>
          <p:nvPr/>
        </p:nvSpPr>
        <p:spPr>
          <a:xfrm>
            <a:off x="508000" y="4572000"/>
            <a:ext cx="76200" cy="698500"/>
          </a:xfrm>
          <a:prstGeom prst="roundRect">
            <a:avLst>
              <a:gd name="adj" fmla="val 0"/>
            </a:avLst>
          </a:prstGeom>
          <a:solidFill>
            <a:srgbClr val="0066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16">
            <a:extLst>
              <a:ext uri="{FF2B5EF4-FFF2-40B4-BE49-F238E27FC236}">
                <a16:creationId xmlns:a16="http://schemas.microsoft.com/office/drawing/2014/main" id="{D8B5B711-637C-CF65-095F-920239373290}"/>
              </a:ext>
            </a:extLst>
          </p:cNvPr>
          <p:cNvSpPr/>
          <p:nvPr/>
        </p:nvSpPr>
        <p:spPr>
          <a:xfrm>
            <a:off x="698500" y="4635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4. 自动入账：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匹配通过后，自动生成FI凭证，更新供应商余额，缩短付款周期。</a:t>
            </a:r>
            <a:endParaRPr lang="en-US" sz="1100"/>
          </a:p>
        </p:txBody>
      </p:sp>
      <p:sp>
        <p:nvSpPr>
          <p:cNvPr id="45" name="AutoShape 17">
            <a:extLst>
              <a:ext uri="{FF2B5EF4-FFF2-40B4-BE49-F238E27FC236}">
                <a16:creationId xmlns:a16="http://schemas.microsoft.com/office/drawing/2014/main" id="{C99A56F7-6CC3-27CA-4459-0E7CD9E3CC8A}"/>
              </a:ext>
            </a:extLst>
          </p:cNvPr>
          <p:cNvSpPr/>
          <p:nvPr/>
        </p:nvSpPr>
        <p:spPr>
          <a:xfrm>
            <a:off x="508000" y="5588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0066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18">
            <a:extLst>
              <a:ext uri="{FF2B5EF4-FFF2-40B4-BE49-F238E27FC236}">
                <a16:creationId xmlns:a16="http://schemas.microsoft.com/office/drawing/2014/main" id="{817DF045-1DAA-8DB5-4F00-0457C10DDE71}"/>
              </a:ext>
            </a:extLst>
          </p:cNvPr>
          <p:cNvSpPr/>
          <p:nvPr/>
        </p:nvSpPr>
        <p:spPr>
          <a:xfrm>
            <a:off x="635000" y="56896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9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集成扩展：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支持与SAP Ariba无缝对接，发票可在Ariba完成审批后同步至S/4HANA，实现端到端采购到付款(P2P)数字化闭环。</a:t>
            </a:r>
            <a:endParaRPr lang="en-US" sz="1100"/>
          </a:p>
        </p:txBody>
      </p:sp>
      <p:sp>
        <p:nvSpPr>
          <p:cNvPr id="47" name="下箭头 46">
            <a:extLst>
              <a:ext uri="{FF2B5EF4-FFF2-40B4-BE49-F238E27FC236}">
                <a16:creationId xmlns:a16="http://schemas.microsoft.com/office/drawing/2014/main" id="{1523B95C-4494-E76A-98A5-DD1C5035A6B8}"/>
              </a:ext>
            </a:extLst>
          </p:cNvPr>
          <p:cNvSpPr/>
          <p:nvPr/>
        </p:nvSpPr>
        <p:spPr>
          <a:xfrm>
            <a:off x="3040185" y="2580153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下箭头 47">
            <a:extLst>
              <a:ext uri="{FF2B5EF4-FFF2-40B4-BE49-F238E27FC236}">
                <a16:creationId xmlns:a16="http://schemas.microsoft.com/office/drawing/2014/main" id="{5B20BC71-0A11-5AAE-2093-FEA0175C4A6B}"/>
              </a:ext>
            </a:extLst>
          </p:cNvPr>
          <p:cNvSpPr/>
          <p:nvPr/>
        </p:nvSpPr>
        <p:spPr>
          <a:xfrm>
            <a:off x="3040185" y="3492500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49" name="下箭头 48">
            <a:extLst>
              <a:ext uri="{FF2B5EF4-FFF2-40B4-BE49-F238E27FC236}">
                <a16:creationId xmlns:a16="http://schemas.microsoft.com/office/drawing/2014/main" id="{5B20BC71-0A11-5AAE-2093-FEA0175C4A6B}"/>
              </a:ext>
            </a:extLst>
          </p:cNvPr>
          <p:cNvSpPr/>
          <p:nvPr/>
        </p:nvSpPr>
        <p:spPr>
          <a:xfrm>
            <a:off x="3043116" y="4318978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D40E8EB-B2A0-513A-896A-0810272BB4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76" t="18038" r="2135" b="13438"/>
          <a:stretch>
            <a:fillRect/>
          </a:stretch>
        </p:blipFill>
        <p:spPr>
          <a:xfrm>
            <a:off x="6814521" y="5270500"/>
            <a:ext cx="1587864" cy="1137194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421B65D1-DA13-73DA-CD88-B9C3A6A4A5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360" t="16057" r="22787" b="13769"/>
          <a:stretch>
            <a:fillRect/>
          </a:stretch>
        </p:blipFill>
        <p:spPr>
          <a:xfrm>
            <a:off x="6957282" y="3492500"/>
            <a:ext cx="1342147" cy="116457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1FC70906-8A2D-7AFC-96CE-44137AAE98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059" t="21463" r="42167" b="11765"/>
          <a:stretch>
            <a:fillRect/>
          </a:stretch>
        </p:blipFill>
        <p:spPr>
          <a:xfrm>
            <a:off x="9672576" y="3416309"/>
            <a:ext cx="1528248" cy="1108132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D2C5DFF3-C5CC-BBD9-3AD8-E3859004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43" t="14706" r="62268" b="13752"/>
          <a:stretch>
            <a:fillRect/>
          </a:stretch>
        </p:blipFill>
        <p:spPr>
          <a:xfrm>
            <a:off x="9672576" y="1859722"/>
            <a:ext cx="1587864" cy="1187284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4376F81B-8BBD-2DD5-A722-FC7EA409BA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2" t="16963" r="82604" b="12863"/>
          <a:stretch>
            <a:fillRect/>
          </a:stretch>
        </p:blipFill>
        <p:spPr>
          <a:xfrm>
            <a:off x="6862288" y="1859722"/>
            <a:ext cx="1528248" cy="1164570"/>
          </a:xfrm>
          <a:prstGeom prst="rect">
            <a:avLst/>
          </a:prstGeom>
        </p:spPr>
      </p:pic>
      <p:sp>
        <p:nvSpPr>
          <p:cNvPr id="56" name="下箭头 55">
            <a:extLst>
              <a:ext uri="{FF2B5EF4-FFF2-40B4-BE49-F238E27FC236}">
                <a16:creationId xmlns:a16="http://schemas.microsoft.com/office/drawing/2014/main" id="{DCEAAE23-596D-E75E-6152-E92BFA8FD4F8}"/>
              </a:ext>
            </a:extLst>
          </p:cNvPr>
          <p:cNvSpPr/>
          <p:nvPr/>
        </p:nvSpPr>
        <p:spPr>
          <a:xfrm rot="16200000">
            <a:off x="8868899" y="2263042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下箭头 56">
            <a:extLst>
              <a:ext uri="{FF2B5EF4-FFF2-40B4-BE49-F238E27FC236}">
                <a16:creationId xmlns:a16="http://schemas.microsoft.com/office/drawing/2014/main" id="{1F107949-BEE3-1FD7-530B-83DE2265E041}"/>
              </a:ext>
            </a:extLst>
          </p:cNvPr>
          <p:cNvSpPr/>
          <p:nvPr/>
        </p:nvSpPr>
        <p:spPr>
          <a:xfrm rot="5400000">
            <a:off x="8823345" y="3761511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下箭头 57">
            <a:extLst>
              <a:ext uri="{FF2B5EF4-FFF2-40B4-BE49-F238E27FC236}">
                <a16:creationId xmlns:a16="http://schemas.microsoft.com/office/drawing/2014/main" id="{1D3B1C1D-7B84-D525-E60F-512D7AA4291F}"/>
              </a:ext>
            </a:extLst>
          </p:cNvPr>
          <p:cNvSpPr/>
          <p:nvPr/>
        </p:nvSpPr>
        <p:spPr>
          <a:xfrm>
            <a:off x="7463754" y="3050209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下箭头 58">
            <a:extLst>
              <a:ext uri="{FF2B5EF4-FFF2-40B4-BE49-F238E27FC236}">
                <a16:creationId xmlns:a16="http://schemas.microsoft.com/office/drawing/2014/main" id="{1523B95C-4494-E76A-98A5-DD1C5035A6B8}"/>
              </a:ext>
            </a:extLst>
          </p:cNvPr>
          <p:cNvSpPr/>
          <p:nvPr/>
        </p:nvSpPr>
        <p:spPr>
          <a:xfrm>
            <a:off x="10303850" y="3105827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60" name="下箭头 59">
            <a:extLst>
              <a:ext uri="{FF2B5EF4-FFF2-40B4-BE49-F238E27FC236}">
                <a16:creationId xmlns:a16="http://schemas.microsoft.com/office/drawing/2014/main" id="{1523B95C-4494-E76A-98A5-DD1C5035A6B8}"/>
              </a:ext>
            </a:extLst>
          </p:cNvPr>
          <p:cNvSpPr/>
          <p:nvPr/>
        </p:nvSpPr>
        <p:spPr>
          <a:xfrm>
            <a:off x="7463753" y="4777364"/>
            <a:ext cx="325315" cy="30773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623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E322-0CE7-8AF2-BE29-72021B2F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9C2BF-3B76-D68A-FFFB-1715A6BDE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15580C-2B31-1EC1-420D-94989D51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92F380-C2FE-2537-3E51-A9038DE9A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3F0701-03ED-DE1C-40AB-1800DAF33B41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10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0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8500" y="171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蓝图设计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2222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2024年</a:t>
            </a:r>
            <a:r>
              <a:rPr lang="en-US" altLang="zh-CN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月 - </a:t>
            </a:r>
            <a:r>
              <a:rPr lang="en-US" altLang="zh-CN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月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13750">
            <a:off x="698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98500" y="2794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核心规划任务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" y="317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确认并定价双接口文件(A0372税前)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输出DRC泰国/德国本地化配置方案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完成F240/FZ33公司代码架构设计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制定多币种核算与报表体系方案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5500" y="5054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📄 交付：蓝图设计书 + 配置规格书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12700" cap="flat" cmpd="sng">
            <a:solidFill>
              <a:srgbClr val="A5F3F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08500" y="171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891B2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08500" y="2222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2024年</a:t>
            </a:r>
            <a:r>
              <a:rPr lang="en-US" altLang="zh-CN" sz="14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9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月 - 11月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-13750">
            <a:off x="4508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FF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08500" y="2794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配置与开发落地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08500" y="317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完成F240/FZ33公司代码系统配置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上线FAGL_FC_VAL及TR-TM模块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配置CO-PA双重成本核算体系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搭建DRC套申报类型与规则参数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0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CFF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35500" y="5054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5E75"/>
                </a:solidFill>
                <a:latin typeface="Noto Sans SC"/>
                <a:ea typeface="Noto Sans SC"/>
                <a:cs typeface="Noto Sans SC"/>
                <a:sym typeface="Noto Sans SC"/>
              </a:rPr>
              <a:t>🛠 交付：系统配置成果 + 测试报告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318500" y="171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上线保障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2222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2024年12月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3750">
            <a:off x="8318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FA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318500" y="2794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验证与平稳过渡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317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泰国工厂业务场景全量并行测试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开展DRC首次申报实战演练(PP.30+CIT)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完成本地关键用户操作与运维培训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系统正式切换 + 30天Hypercare护航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445500" y="5054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🚀 交付：上线确认书 + 标准运营手册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通过分阶段、强管控的实施路径，保障项目从设计到落地的全流程可控，确保按时、按质达成合规建设目标。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sp>
        <p:nvSpPr>
          <p:cNvPr id="31" name="标题 30">
            <a:extLst>
              <a:ext uri="{FF2B5EF4-FFF2-40B4-BE49-F238E27FC236}">
                <a16:creationId xmlns:a16="http://schemas.microsoft.com/office/drawing/2014/main" id="{AEE4016A-AF18-F8A0-795F-F77065AA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cap="all" dirty="0"/>
              <a:t>三阶段实施路径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08000" y="114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外币评估自动化处理 (F-CODE: FAGL_FC_VAL)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1752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🏢 公司代码：F240 (评估主体)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651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752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📅 评估日期：2025.06.30 (月末关账)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55000" y="1752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💱 汇率类型：M - 平均汇率 (标准)</a:t>
            </a:r>
            <a:endParaRPr lang="en-US" sz="110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08000" y="2349500"/>
          <a:ext cx="11684000" cy="162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原币金额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币种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原记账本位币(CNY)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结汇损益(CNY)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系统凭证号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C10001 Gmbh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128,000.00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EUR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1,013,850.00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-12,810.00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180001235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C10102 Walmate US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52,500.00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617,079.00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-3,210.00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180001234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C10103 Amazon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45,200.00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474,050.00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-2,150.00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180001233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3" name="Connector 13"/>
          <p:cNvCxnSpPr/>
          <p:nvPr/>
        </p:nvCxnSpPr>
        <p:spPr>
          <a:xfrm rot="-3906">
            <a:off x="508004" y="4184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08000" y="4318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实时外汇风险监控（替代线下Excel手工台账）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4826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EF4444">
              <a:alpha val="6000"/>
            </a:srgbClr>
          </a:solidFill>
          <a:ln w="12700" cap="flat" cmpd="sng">
            <a:solidFill>
              <a:srgbClr val="EF4444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4978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16000" y="497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外汇敞口合计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" y="5359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-23.2 万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CNY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" y="5892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本月累计汇兑损失净额，系统实时计算更新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340100" y="4826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500" y="49784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848100" y="497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外币待清账笔数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492500" y="5359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18 笔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未结清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492500" y="5892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跨币种应收未清项，重点监控逾期风险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72200" y="4826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600" y="4978400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680200" y="497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未到期锁汇合约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24600" y="5359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5 笔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有效中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24600" y="5892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锁定未来收付款汇率，有效对冲波动风险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04300" y="4826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12700" cap="flat" cmpd="sng">
            <a:solidFill>
              <a:srgbClr val="F59E0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6700" y="4978400"/>
            <a:ext cx="279400" cy="279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12300" y="497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高风险波动预警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156700" y="5359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2 笔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需关注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156700" y="5892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T+0 单日汇率波动幅度 &gt; 5%，触发阈值</a:t>
            </a:r>
            <a:endParaRPr lang="en-US" sz="1100"/>
          </a:p>
        </p:txBody>
      </p:sp>
      <p:sp>
        <p:nvSpPr>
          <p:cNvPr id="35" name="标题 34">
            <a:extLst>
              <a:ext uri="{FF2B5EF4-FFF2-40B4-BE49-F238E27FC236}">
                <a16:creationId xmlns:a16="http://schemas.microsoft.com/office/drawing/2014/main" id="{0043B4CD-7250-9115-108E-F75CF7C9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cap="all" dirty="0"/>
              <a:t>外币评估与风险管理驾驶舱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1159608"/>
            <a:ext cx="2667000" cy="4191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159608"/>
            <a:ext cx="2667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8000" y="1261208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销项管理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2048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98500" y="2112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销售订单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CRM/S4无缝集成，订单数据自动同步至核算系统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35000" y="2810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98500" y="2874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发货处理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基于订单自动触发VL01N，物流信息实时关联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" y="3572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98500" y="3636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发票开具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发货后自动生成VF01，开票信息与业务完全一致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43981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" y="44616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收款清账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银行流水自动匹配，F-28实现自动核销清账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340100" y="1159608"/>
            <a:ext cx="2667000" cy="4191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340100" y="1159608"/>
            <a:ext cx="2667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3340100" y="1261208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进项管理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467100" y="2048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530600" y="2112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采购订单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SRM与S4集成，采购需求自动流转生成PO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3467100" y="2810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530600" y="2874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收货入库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到货自动触发MIGO，库存与应付暂估实时更新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3467100" y="3572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3530600" y="3636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发票校验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三单自动匹配触发MIRO，确保进项税合规抵扣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3467100" y="43981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530600" y="44616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付款结算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到期自动提醒，F-53一键支付并完成清账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6172200" y="1159608"/>
            <a:ext cx="2667000" cy="4191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172200" y="1159608"/>
            <a:ext cx="2667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172200" y="1261208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税务管理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99200" y="2048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62700" y="2112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数据采集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销项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进项税数据源头自动采集，拒绝手工台账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6299200" y="2810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362700" y="2874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税额核算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系统自动计算与差额核对，杜绝计算错误风险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6299200" y="3572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62700" y="3636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纳税申报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直连电子税务局，申报表自动生成并一键报送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6299200" y="43981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362700" y="44616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税务分析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实时监控税负率，提供税务风险预警与洞察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9004300" y="1159608"/>
            <a:ext cx="2667000" cy="4191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9004300" y="1159608"/>
            <a:ext cx="2667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9004300" y="1261208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集团管控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131300" y="2048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9194800" y="2112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报表生成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单体财务报表系统自动生成，数据实时更新</a:t>
            </a:r>
            <a:endParaRPr lang="en-US" sz="1100" dirty="0"/>
          </a:p>
        </p:txBody>
      </p:sp>
      <p:sp>
        <p:nvSpPr>
          <p:cNvPr id="43" name="AutoShape 43"/>
          <p:cNvSpPr/>
          <p:nvPr/>
        </p:nvSpPr>
        <p:spPr>
          <a:xfrm>
            <a:off x="9131300" y="2810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9194800" y="2874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合并报表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内部交易自动抵消，合并报表效率提升80%以上</a:t>
            </a:r>
            <a:endParaRPr lang="en-US" sz="1100" dirty="0"/>
          </a:p>
        </p:txBody>
      </p:sp>
      <p:sp>
        <p:nvSpPr>
          <p:cNvPr id="45" name="AutoShape 45"/>
          <p:cNvSpPr/>
          <p:nvPr/>
        </p:nvSpPr>
        <p:spPr>
          <a:xfrm>
            <a:off x="9131300" y="35726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9194800" y="36361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预算控制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业务端实时校验预算，超预算自动阻断或预警</a:t>
            </a:r>
            <a:endParaRPr lang="en-US" sz="1100" dirty="0"/>
          </a:p>
        </p:txBody>
      </p:sp>
      <p:sp>
        <p:nvSpPr>
          <p:cNvPr id="47" name="AutoShape 47"/>
          <p:cNvSpPr/>
          <p:nvPr/>
        </p:nvSpPr>
        <p:spPr>
          <a:xfrm>
            <a:off x="9131300" y="4398108"/>
            <a:ext cx="2413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9194800" y="4461608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2563EB"/>
                </a:solidFill>
                <a:latin typeface="Noto Sans SC"/>
                <a:sym typeface="Noto Sans SC"/>
              </a:rPr>
              <a:t>资金管理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集团资金池统一调拨，提升资金使用效率与收益</a:t>
            </a:r>
            <a:endParaRPr lang="en-US" sz="1100" dirty="0"/>
          </a:p>
        </p:txBody>
      </p:sp>
      <p:sp>
        <p:nvSpPr>
          <p:cNvPr id="49" name="AutoShape 49"/>
          <p:cNvSpPr/>
          <p:nvPr/>
        </p:nvSpPr>
        <p:spPr>
          <a:xfrm>
            <a:off x="508000" y="5541108"/>
            <a:ext cx="111760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635000" y="5642708"/>
            <a:ext cx="1092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实现业务流、财务流、税务流“三流合一”，将财务人员从繁琐核算中解放，专注于高价值的财务分析与决策支持，保障数据合规性，驱动集团精细化管理。</a:t>
            </a:r>
            <a:endParaRPr lang="en-US" sz="1100"/>
          </a:p>
        </p:txBody>
      </p:sp>
      <p:sp>
        <p:nvSpPr>
          <p:cNvPr id="51" name="标题 50">
            <a:extLst>
              <a:ext uri="{FF2B5EF4-FFF2-40B4-BE49-F238E27FC236}">
                <a16:creationId xmlns:a16="http://schemas.microsoft.com/office/drawing/2014/main" id="{FD131C2B-67EA-DAD0-08CC-A4F6E051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cap="all" dirty="0"/>
              <a:t>销项</a:t>
            </a:r>
            <a:r>
              <a:rPr lang="en-US" altLang="zh-CN" b="1" cap="all"/>
              <a:t>-</a:t>
            </a:r>
            <a:r>
              <a:rPr lang="zh-CN" altLang="en-US" b="1" cap="all"/>
              <a:t>进项</a:t>
            </a:r>
            <a:r>
              <a:rPr lang="zh-CN" altLang="en-US" b="1" cap="all" dirty="0"/>
              <a:t>的税务一体化解决方案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381000" y="1270000"/>
            <a:ext cx="273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460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增值税 PP.30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968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已申报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截止07-15 | 申报日期06-30</a:t>
            </a:r>
          </a:p>
        </p:txBody>
      </p:sp>
      <p:sp>
        <p:nvSpPr>
          <p:cNvPr id="8" name="AutoShape 8"/>
          <p:cNvSpPr/>
          <p:nvPr/>
        </p:nvSpPr>
        <p:spPr>
          <a:xfrm>
            <a:off x="3302000" y="1270000"/>
            <a:ext cx="273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429000" y="1460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企业所得税 CIT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1968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sz="13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准备中 ⚠️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年度汇算清缴阶段，数据核对中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270000"/>
            <a:ext cx="273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1460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预提所得税 WHT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968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PND53已申报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涉及金额 2,800 THB</a:t>
            </a:r>
          </a:p>
        </p:txBody>
      </p:sp>
      <p:sp>
        <p:nvSpPr>
          <p:cNvPr id="16" name="AutoShape 16"/>
          <p:cNvSpPr/>
          <p:nvPr/>
        </p:nvSpPr>
        <p:spPr>
          <a:xfrm>
            <a:off x="9144000" y="1270000"/>
            <a:ext cx="273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271000" y="1460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原产地证书 (C/O)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1968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本月申请：</a:t>
            </a:r>
            <a:r>
              <a:rPr lang="en-US" sz="13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6份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海关系统实时对接，自动备案</a:t>
            </a:r>
          </a:p>
        </p:txBody>
      </p:sp>
      <p:cxnSp>
        <p:nvCxnSpPr>
          <p:cNvPr id="20" name="Connector 20"/>
          <p:cNvCxnSpPr/>
          <p:nvPr/>
        </p:nvCxnSpPr>
        <p:spPr>
          <a:xfrm rot="-3819">
            <a:off x="381004" y="32321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381000" y="3429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WHT 预提所得税明细合规检查 (F-CODE: DRC_APP)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" y="3937000"/>
            <a:ext cx="11493500" cy="381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08000" y="4000500"/>
            <a:ext cx="1130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公司代码：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F240 |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报告期：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2025-07-01 至 2025-07-31 |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税种：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预提所得税 (Withholding Tax)</a:t>
            </a:r>
            <a:endParaRPr lang="en-US" sz="1100"/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381000" y="4508500"/>
          <a:ext cx="114935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供应商/客户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交易类型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税率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原币金额(THB)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税额(THB)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缴纳状态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V20001 泰国供应商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已缴纳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V20002 泰国供应商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特许权使用费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已缴纳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V20001 泰国供应商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利息收入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4,500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⚠️ 部分缴纳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标题 24">
            <a:extLst>
              <a:ext uri="{FF2B5EF4-FFF2-40B4-BE49-F238E27FC236}">
                <a16:creationId xmlns:a16="http://schemas.microsoft.com/office/drawing/2014/main" id="{4DF3C6CB-F290-8ECE-0FED-6E519FBF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0685"/>
            <a:ext cx="11337925" cy="912315"/>
          </a:xfrm>
        </p:spPr>
        <p:txBody>
          <a:bodyPr/>
          <a:lstStyle/>
          <a:p>
            <a:r>
              <a:rPr lang="en-US" altLang="zh-CN" b="1" cap="all" dirty="0"/>
              <a:t>DRC</a:t>
            </a:r>
            <a:r>
              <a:rPr lang="zh-CN" altLang="en-US" b="1" cap="all" dirty="0"/>
              <a:t>全税种申报状态实时监控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254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cap="all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Noto Sans SC"/>
              </a:rPr>
              <a:t>按照产品获利能力进行多级毛利分析</a:t>
            </a:r>
            <a:r>
              <a:rPr lang="en-US" sz="2800" b="1" cap="all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Noto Sans SC"/>
              </a:rPr>
              <a:t> (KE30)</a:t>
            </a:r>
            <a:endParaRPr lang="en-US" sz="2800" b="1" cap="all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002323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产品线维度获利能力明细（按产品线统计，单位：THB）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738699"/>
              </p:ext>
            </p:extLst>
          </p:nvPr>
        </p:nvGraphicFramePr>
        <p:xfrm>
          <a:off x="508000" y="1510323"/>
          <a:ext cx="11684000" cy="2108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收入 (THB)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BOM成本 (THB)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贡献毛益 (THB)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目标毛益 (THB)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毛利率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汇兑影响 (THB)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LED 球泡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8,234,500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5,362,425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823,500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2,564,625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24.6%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128,200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LED 灯管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4,125,000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2,890,125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412,500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1,237,500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24.5%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64,100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LED 面板灯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2,460,200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1,722,140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246,020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738,060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25.0%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52,100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14,819,700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9,974,690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1,482,020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4,640,185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23.6%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265,700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508000" y="3923323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核心经营指标驾驶舱（产量、成本、毛利、汇兑一站式监控）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4431323"/>
            <a:ext cx="2667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4621823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79500" y="4621823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本月产量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" y="5040923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124,500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pcs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" y="5701323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环比上月 +21.9% (上月10.2万)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340100" y="4431323"/>
            <a:ext cx="2667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0600" y="4621823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11600" y="4621823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本月料工费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03600" y="5040923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¥1,246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03600" y="5701323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原材料占比 62.8%，结构稳定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172200" y="4431323"/>
            <a:ext cx="2667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2700" y="4621823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43700" y="4621823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本月毛利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35700" y="5040923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¥406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万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35700" y="5701323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环比上月 +69.1% (上月240万)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04300" y="4431323"/>
            <a:ext cx="2667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4800" y="4621823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75800" y="4621823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汇兑影响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67800" y="5040923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-¥26.6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万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067800" y="5701323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受THB汇率波动 -2% 影响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24AAF-85BD-3445-195F-F67638F0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4A401-0810-7EAD-3C0B-1B499D4C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cap="all" dirty="0" err="1">
                <a:sym typeface="Noto Sans SC"/>
              </a:rPr>
              <a:t>电子发票的取消与更正</a:t>
            </a:r>
            <a:endParaRPr lang="zh-CN" altLang="en-US" b="1" cap="all" dirty="0"/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2A188405-F5D9-98CC-4E12-AB9E3D068B6B}"/>
              </a:ext>
            </a:extLst>
          </p:cNvPr>
          <p:cNvSpPr/>
          <p:nvPr/>
        </p:nvSpPr>
        <p:spPr>
          <a:xfrm>
            <a:off x="508000" y="1651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F2A88B24-3599-17C0-A2C3-A89435A44C7E}"/>
              </a:ext>
            </a:extLst>
          </p:cNvPr>
          <p:cNvSpPr/>
          <p:nvPr/>
        </p:nvSpPr>
        <p:spPr>
          <a:xfrm>
            <a:off x="1079500" y="19050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01 发票金额错误（已批准）</a:t>
            </a:r>
            <a:endParaRPr lang="en-US" sz="1100"/>
          </a:p>
        </p:txBody>
      </p:sp>
      <p:cxnSp>
        <p:nvCxnSpPr>
          <p:cNvPr id="7" name="Connector 8">
            <a:extLst>
              <a:ext uri="{FF2B5EF4-FFF2-40B4-BE49-F238E27FC236}">
                <a16:creationId xmlns:a16="http://schemas.microsoft.com/office/drawing/2014/main" id="{B3359B41-D33D-ADCB-A589-8C591B2EE4B8}"/>
              </a:ext>
            </a:extLst>
          </p:cNvPr>
          <p:cNvCxnSpPr/>
          <p:nvPr/>
        </p:nvCxnSpPr>
        <p:spPr>
          <a:xfrm rot="-13750">
            <a:off x="6985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9">
            <a:extLst>
              <a:ext uri="{FF2B5EF4-FFF2-40B4-BE49-F238E27FC236}">
                <a16:creationId xmlns:a16="http://schemas.microsoft.com/office/drawing/2014/main" id="{27195AC2-5EA0-6023-337E-4C92BDEF245F}"/>
              </a:ext>
            </a:extLst>
          </p:cNvPr>
          <p:cNvSpPr/>
          <p:nvPr/>
        </p:nvSpPr>
        <p:spPr>
          <a:xfrm>
            <a:off x="698500" y="2603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处理流程：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提交取消申请 → 税务机关审核批准 → 作废原票并重新开具新发票。</a:t>
            </a:r>
            <a:endParaRPr lang="en-US" sz="1100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912A109-F21A-4FA6-FDB9-999DCC492A0E}"/>
              </a:ext>
            </a:extLst>
          </p:cNvPr>
          <p:cNvSpPr/>
          <p:nvPr/>
        </p:nvSpPr>
        <p:spPr>
          <a:xfrm>
            <a:off x="698500" y="3937000"/>
            <a:ext cx="3175000" cy="9525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217D7782-C0D2-9CC2-522B-840B045DDA6A}"/>
              </a:ext>
            </a:extLst>
          </p:cNvPr>
          <p:cNvSpPr/>
          <p:nvPr/>
        </p:nvSpPr>
        <p:spPr>
          <a:xfrm>
            <a:off x="825500" y="40386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严禁直接修改：</a:t>
            </a:r>
            <a:r>
              <a:rPr lang="en-US" sz="1200" b="0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必须通过官方合规流程完成作废与重开，不可私自篡改已批准的财务凭证数据。</a:t>
            </a:r>
            <a:endParaRPr lang="en-US" sz="1100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9A33F885-0033-76AE-5A72-3B6B7F72F4BE}"/>
              </a:ext>
            </a:extLst>
          </p:cNvPr>
          <p:cNvSpPr/>
          <p:nvPr/>
        </p:nvSpPr>
        <p:spPr>
          <a:xfrm>
            <a:off x="4318000" y="1651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27C32A95-B3E7-714A-E00C-3A1701C9DD0F}"/>
              </a:ext>
            </a:extLst>
          </p:cNvPr>
          <p:cNvSpPr/>
          <p:nvPr/>
        </p:nvSpPr>
        <p:spPr>
          <a:xfrm>
            <a:off x="4889500" y="19050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02 发票提交失败（Error状态）</a:t>
            </a:r>
            <a:endParaRPr lang="en-US" sz="1100"/>
          </a:p>
        </p:txBody>
      </p:sp>
      <p:cxnSp>
        <p:nvCxnSpPr>
          <p:cNvPr id="14" name="Connector 15">
            <a:extLst>
              <a:ext uri="{FF2B5EF4-FFF2-40B4-BE49-F238E27FC236}">
                <a16:creationId xmlns:a16="http://schemas.microsoft.com/office/drawing/2014/main" id="{529B1ECF-ABA6-3EF8-785C-CF5E30AEEE35}"/>
              </a:ext>
            </a:extLst>
          </p:cNvPr>
          <p:cNvCxnSpPr/>
          <p:nvPr/>
        </p:nvCxnSpPr>
        <p:spPr>
          <a:xfrm rot="-13750">
            <a:off x="45085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6">
            <a:extLst>
              <a:ext uri="{FF2B5EF4-FFF2-40B4-BE49-F238E27FC236}">
                <a16:creationId xmlns:a16="http://schemas.microsoft.com/office/drawing/2014/main" id="{17FBDC1B-342F-55FB-24B5-5DF69158A8E3}"/>
              </a:ext>
            </a:extLst>
          </p:cNvPr>
          <p:cNvSpPr/>
          <p:nvPr/>
        </p:nvSpPr>
        <p:spPr>
          <a:xfrm>
            <a:off x="4508500" y="2603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处理流程：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排查报错原因 → 修正数据或参数 → 在DRC Monitor模块重新触发提交。</a:t>
            </a:r>
            <a:endParaRPr lang="en-US" sz="110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84E90111-DD8C-63BC-D7F4-3D8B3B88EFC8}"/>
              </a:ext>
            </a:extLst>
          </p:cNvPr>
          <p:cNvSpPr/>
          <p:nvPr/>
        </p:nvSpPr>
        <p:spPr>
          <a:xfrm>
            <a:off x="4508500" y="3937000"/>
            <a:ext cx="3175000" cy="9525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8">
            <a:extLst>
              <a:ext uri="{FF2B5EF4-FFF2-40B4-BE49-F238E27FC236}">
                <a16:creationId xmlns:a16="http://schemas.microsoft.com/office/drawing/2014/main" id="{981D526A-DCA0-909E-ACCF-E41F95446034}"/>
              </a:ext>
            </a:extLst>
          </p:cNvPr>
          <p:cNvSpPr/>
          <p:nvPr/>
        </p:nvSpPr>
        <p:spPr>
          <a:xfrm>
            <a:off x="4635500" y="40386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💡 凭证保留：</a:t>
            </a:r>
            <a:r>
              <a:rPr lang="en-US" sz="1200" b="0" i="0" u="none" strike="noStrike">
                <a:solidFill>
                  <a:srgbClr val="78350F"/>
                </a:solidFill>
                <a:latin typeface="Noto Sans SC"/>
                <a:ea typeface="Noto Sans SC"/>
                <a:cs typeface="Noto Sans SC"/>
                <a:sym typeface="Noto Sans SC"/>
              </a:rPr>
              <a:t>原财务FI凭证无需删除或修改，只需解决报错后重新提交，不影响原始数据。</a:t>
            </a:r>
            <a:endParaRPr lang="en-US" sz="1100"/>
          </a:p>
        </p:txBody>
      </p:sp>
      <p:sp>
        <p:nvSpPr>
          <p:cNvPr id="18" name="AutoShape 19">
            <a:extLst>
              <a:ext uri="{FF2B5EF4-FFF2-40B4-BE49-F238E27FC236}">
                <a16:creationId xmlns:a16="http://schemas.microsoft.com/office/drawing/2014/main" id="{3184D256-FFDC-B56F-08FF-88B53C30D8B0}"/>
              </a:ext>
            </a:extLst>
          </p:cNvPr>
          <p:cNvSpPr/>
          <p:nvPr/>
        </p:nvSpPr>
        <p:spPr>
          <a:xfrm>
            <a:off x="8128000" y="1651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5F276A2C-8FDD-FAD7-D274-4DC53AFC4614}"/>
              </a:ext>
            </a:extLst>
          </p:cNvPr>
          <p:cNvSpPr/>
          <p:nvPr/>
        </p:nvSpPr>
        <p:spPr>
          <a:xfrm>
            <a:off x="8699500" y="19050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03 贷项通知单（Credit Note）</a:t>
            </a:r>
            <a:endParaRPr lang="en-US" sz="1100"/>
          </a:p>
        </p:txBody>
      </p:sp>
      <p:cxnSp>
        <p:nvCxnSpPr>
          <p:cNvPr id="21" name="Connector 22">
            <a:extLst>
              <a:ext uri="{FF2B5EF4-FFF2-40B4-BE49-F238E27FC236}">
                <a16:creationId xmlns:a16="http://schemas.microsoft.com/office/drawing/2014/main" id="{558D1B73-75F6-5EA0-5AE2-F64DBCD84C40}"/>
              </a:ext>
            </a:extLst>
          </p:cNvPr>
          <p:cNvCxnSpPr/>
          <p:nvPr/>
        </p:nvCxnSpPr>
        <p:spPr>
          <a:xfrm rot="-13750">
            <a:off x="83185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3">
            <a:extLst>
              <a:ext uri="{FF2B5EF4-FFF2-40B4-BE49-F238E27FC236}">
                <a16:creationId xmlns:a16="http://schemas.microsoft.com/office/drawing/2014/main" id="{19D295CE-EA0A-F1FD-119B-181F04C27B25}"/>
              </a:ext>
            </a:extLst>
          </p:cNvPr>
          <p:cNvSpPr/>
          <p:nvPr/>
        </p:nvSpPr>
        <p:spPr>
          <a:xfrm>
            <a:off x="8318500" y="2603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处理流程：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按正常流程开具 → DRC自动识别为负金额 → 系统按合规格式提交税务端。</a:t>
            </a:r>
            <a:endParaRPr lang="en-US" sz="1100"/>
          </a:p>
        </p:txBody>
      </p:sp>
      <p:sp>
        <p:nvSpPr>
          <p:cNvPr id="23" name="AutoShape 24">
            <a:extLst>
              <a:ext uri="{FF2B5EF4-FFF2-40B4-BE49-F238E27FC236}">
                <a16:creationId xmlns:a16="http://schemas.microsoft.com/office/drawing/2014/main" id="{8DE3DE40-7C77-0288-55E5-C030D9C89E7B}"/>
              </a:ext>
            </a:extLst>
          </p:cNvPr>
          <p:cNvSpPr/>
          <p:nvPr/>
        </p:nvSpPr>
        <p:spPr>
          <a:xfrm>
            <a:off x="8318500" y="3937000"/>
            <a:ext cx="3175000" cy="9525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5">
            <a:extLst>
              <a:ext uri="{FF2B5EF4-FFF2-40B4-BE49-F238E27FC236}">
                <a16:creationId xmlns:a16="http://schemas.microsoft.com/office/drawing/2014/main" id="{3EC34EFE-C8A7-647D-A759-CE3C3FA90112}"/>
              </a:ext>
            </a:extLst>
          </p:cNvPr>
          <p:cNvSpPr/>
          <p:nvPr/>
        </p:nvSpPr>
        <p:spPr>
          <a:xfrm>
            <a:off x="8445500" y="40386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📌 格式适配：</a:t>
            </a:r>
            <a:r>
              <a:rPr lang="en-US" sz="1200" b="0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泰国对红冲发票有特殊格式要求，DRC系统已内置合规规则，自动适配无需人工干预。</a:t>
            </a:r>
            <a:endParaRPr lang="en-US" sz="1100"/>
          </a:p>
        </p:txBody>
      </p:sp>
      <p:sp>
        <p:nvSpPr>
          <p:cNvPr id="25" name="AutoShape 26">
            <a:extLst>
              <a:ext uri="{FF2B5EF4-FFF2-40B4-BE49-F238E27FC236}">
                <a16:creationId xmlns:a16="http://schemas.microsoft.com/office/drawing/2014/main" id="{3B39A5BE-37CF-9AF8-1D31-E8E0BEC0E3CD}"/>
              </a:ext>
            </a:extLst>
          </p:cNvPr>
          <p:cNvSpPr/>
          <p:nvPr/>
        </p:nvSpPr>
        <p:spPr>
          <a:xfrm>
            <a:off x="508000" y="5219700"/>
            <a:ext cx="11176000" cy="899746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7">
            <a:extLst>
              <a:ext uri="{FF2B5EF4-FFF2-40B4-BE49-F238E27FC236}">
                <a16:creationId xmlns:a16="http://schemas.microsoft.com/office/drawing/2014/main" id="{A92B136B-41CE-5AB0-84EB-804FD7A5BDFE}"/>
              </a:ext>
            </a:extLst>
          </p:cNvPr>
          <p:cNvSpPr/>
          <p:nvPr/>
        </p:nvSpPr>
        <p:spPr>
          <a:xfrm>
            <a:off x="698500" y="5372100"/>
            <a:ext cx="10795000" cy="7473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合规红线：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所有操作必须通过DRC系统闭环处理，严禁线下私自处理。这不仅是满足泰国税务合规的硬性要求，更是确保企业财务数据链条完整、可追溯的关键保障。任何绕过系统的操作都可能导致税务风险及财务数据失真。</a:t>
            </a:r>
            <a:endParaRPr lang="en-US" sz="1100" dirty="0"/>
          </a:p>
        </p:txBody>
      </p:sp>
      <p:pic>
        <p:nvPicPr>
          <p:cNvPr id="29" name="Picture Placeholder 86">
            <a:extLst>
              <a:ext uri="{FF2B5EF4-FFF2-40B4-BE49-F238E27FC236}">
                <a16:creationId xmlns:a16="http://schemas.microsoft.com/office/drawing/2014/main" id="{98139DDF-B5C6-B833-6963-4C6D20AD3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69" y="1815444"/>
            <a:ext cx="560111" cy="560111"/>
          </a:xfrm>
          <a:prstGeom prst="rect">
            <a:avLst/>
          </a:prstGeom>
        </p:spPr>
      </p:pic>
      <p:pic>
        <p:nvPicPr>
          <p:cNvPr id="30" name="Picture Placeholder 88">
            <a:extLst>
              <a:ext uri="{FF2B5EF4-FFF2-40B4-BE49-F238E27FC236}">
                <a16:creationId xmlns:a16="http://schemas.microsoft.com/office/drawing/2014/main" id="{F3CFE6A0-07CD-27F0-387C-755EAEAC1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234" y="1815444"/>
            <a:ext cx="560111" cy="560111"/>
          </a:xfrm>
          <a:prstGeom prst="rect">
            <a:avLst/>
          </a:prstGeom>
        </p:spPr>
      </p:pic>
      <p:pic>
        <p:nvPicPr>
          <p:cNvPr id="31" name="Picture Placeholder 124">
            <a:extLst>
              <a:ext uri="{FF2B5EF4-FFF2-40B4-BE49-F238E27FC236}">
                <a16:creationId xmlns:a16="http://schemas.microsoft.com/office/drawing/2014/main" id="{B530DA42-AA63-963B-0D28-52C186CDB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1823259"/>
            <a:ext cx="560111" cy="5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4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2F264-3A1E-E969-DC6F-776501FB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96E2F-F289-1368-7F51-4C031C73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cap="all" dirty="0"/>
              <a:t>DRC Monitor 错误处理决策流程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CACD38-24BC-5123-B379-475B83C9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" y="1435200"/>
            <a:ext cx="6021921" cy="209684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F1B519C-A2F5-723D-CE97-C37F7F23C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14644"/>
              </p:ext>
            </p:extLst>
          </p:nvPr>
        </p:nvGraphicFramePr>
        <p:xfrm>
          <a:off x="6386203" y="1373654"/>
          <a:ext cx="5202729" cy="2857500"/>
        </p:xfrm>
        <a:graphic>
          <a:graphicData uri="http://schemas.openxmlformats.org/drawingml/2006/table">
            <a:tbl>
              <a:tblPr/>
              <a:tblGrid>
                <a:gridCol w="852879">
                  <a:extLst>
                    <a:ext uri="{9D8B030D-6E8A-4147-A177-3AD203B41FA5}">
                      <a16:colId xmlns:a16="http://schemas.microsoft.com/office/drawing/2014/main" val="4060152714"/>
                    </a:ext>
                  </a:extLst>
                </a:gridCol>
                <a:gridCol w="1355012">
                  <a:extLst>
                    <a:ext uri="{9D8B030D-6E8A-4147-A177-3AD203B41FA5}">
                      <a16:colId xmlns:a16="http://schemas.microsoft.com/office/drawing/2014/main" val="1935356345"/>
                    </a:ext>
                  </a:extLst>
                </a:gridCol>
                <a:gridCol w="2099942">
                  <a:extLst>
                    <a:ext uri="{9D8B030D-6E8A-4147-A177-3AD203B41FA5}">
                      <a16:colId xmlns:a16="http://schemas.microsoft.com/office/drawing/2014/main" val="289162351"/>
                    </a:ext>
                  </a:extLst>
                </a:gridCol>
                <a:gridCol w="894896">
                  <a:extLst>
                    <a:ext uri="{9D8B030D-6E8A-4147-A177-3AD203B41FA5}">
                      <a16:colId xmlns:a16="http://schemas.microsoft.com/office/drawing/2014/main" val="1275808651"/>
                    </a:ext>
                  </a:extLst>
                </a:gridCol>
              </a:tblGrid>
              <a:tr h="2906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常见原因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处理SOP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处理时限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67228"/>
                  </a:ext>
                </a:extLst>
              </a:tr>
              <a:tr h="57378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主数据错误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客户TIN为空/格式错误、Leitweg-ID缺失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1.查看错误代码 → 2.通过MDG-BP发起变更CR补全字段 → 3.CR审批通过后重新提交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当日处理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85623"/>
                  </a:ext>
                </a:extLst>
              </a:tr>
              <a:tr h="5327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格式/映射错误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Document Type Mapping配置不全、XML字段长度超限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1.SPRO检查映射配置 → 2.修正配置 → 3.重新提交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当日处理（IT协助）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389692"/>
                  </a:ext>
                </a:extLst>
              </a:tr>
              <a:tr h="5327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网络/接口错误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BTP iFlow不可用、税务机关API超时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1.检查BTP Integration Suite状态 → 2.等待接口恢复 → 3.批量重提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接口恢复后立即重提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229247"/>
                  </a:ext>
                </a:extLst>
              </a:tr>
              <a:tr h="57378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业务规则错误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税务机关拒绝（如发票号重复、日期超出时限）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1.查看税务机关返回的具体拒绝代码 → 2.按法规要求处理（如取消重开） → 3.咨询当地税务顾问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当日或1个工作日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79105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3EB74D6-0C4F-ED66-EF5B-3309C7C95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630552"/>
              </p:ext>
            </p:extLst>
          </p:nvPr>
        </p:nvGraphicFramePr>
        <p:xfrm>
          <a:off x="603067" y="4435818"/>
          <a:ext cx="10985865" cy="1962150"/>
        </p:xfrm>
        <a:graphic>
          <a:graphicData uri="http://schemas.openxmlformats.org/drawingml/2006/table">
            <a:tbl>
              <a:tblPr/>
              <a:tblGrid>
                <a:gridCol w="1753943">
                  <a:extLst>
                    <a:ext uri="{9D8B030D-6E8A-4147-A177-3AD203B41FA5}">
                      <a16:colId xmlns:a16="http://schemas.microsoft.com/office/drawing/2014/main" val="1448996342"/>
                    </a:ext>
                  </a:extLst>
                </a:gridCol>
                <a:gridCol w="2690446">
                  <a:extLst>
                    <a:ext uri="{9D8B030D-6E8A-4147-A177-3AD203B41FA5}">
                      <a16:colId xmlns:a16="http://schemas.microsoft.com/office/drawing/2014/main" val="3419841233"/>
                    </a:ext>
                  </a:extLst>
                </a:gridCol>
                <a:gridCol w="6541476">
                  <a:extLst>
                    <a:ext uri="{9D8B030D-6E8A-4147-A177-3AD203B41FA5}">
                      <a16:colId xmlns:a16="http://schemas.microsoft.com/office/drawing/2014/main" val="389551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RD返回代码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错误含义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处理方法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33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ERR001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卖方TIN格式错误（非13位）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检查公司代码主数据中的TIN配置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829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ERR002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买方TIN不存在于RD系统中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联系客户确认正确TIN，通过MDG-BP更新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51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ERR003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发票号重复（已提交过）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检查是否意外重复提交；如需取消原发票，走取消流程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75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ERR010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数字签名验证失败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检查证书是否过期；联系CA更新证书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043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WARN001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发票日期超出提交时限（超T+1）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警告（仍接受），但需记录原因；频繁发生需检查自动触发配置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9743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94FE596-B97A-FD19-F649-9835A1DB5602}"/>
              </a:ext>
            </a:extLst>
          </p:cNvPr>
          <p:cNvSpPr txBox="1"/>
          <p:nvPr/>
        </p:nvSpPr>
        <p:spPr>
          <a:xfrm>
            <a:off x="2672862" y="373673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B142D3-43E1-C3AB-E87D-F1C1E9176262}"/>
              </a:ext>
            </a:extLst>
          </p:cNvPr>
          <p:cNvSpPr txBox="1"/>
          <p:nvPr/>
        </p:nvSpPr>
        <p:spPr>
          <a:xfrm>
            <a:off x="1143000" y="365760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zh-CN" altLang="zh-CN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A86FB8-D292-4B67-0EEC-F0F24B54C655}"/>
              </a:ext>
            </a:extLst>
          </p:cNvPr>
          <p:cNvSpPr/>
          <p:nvPr/>
        </p:nvSpPr>
        <p:spPr>
          <a:xfrm>
            <a:off x="603067" y="4041726"/>
            <a:ext cx="3283133" cy="3253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b="1" dirty="0"/>
              <a:t>泰国ETAX常见错误代码</a:t>
            </a:r>
          </a:p>
        </p:txBody>
      </p:sp>
    </p:spTree>
    <p:extLst>
      <p:ext uri="{BB962C8B-B14F-4D97-AF65-F5344CB8AC3E}">
        <p14:creationId xmlns:p14="http://schemas.microsoft.com/office/powerpoint/2010/main" val="3824477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513A-7BC1-F88A-F7BD-905FF5EB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D8AD2-C0AA-B26C-3874-60F1D1E2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cap="all" dirty="0"/>
              <a:t>DRC Monitor 错误处理决策流程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D7A11E2-6D3F-F17C-C1AE-99F1E5B14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187891"/>
              </p:ext>
            </p:extLst>
          </p:nvPr>
        </p:nvGraphicFramePr>
        <p:xfrm>
          <a:off x="428624" y="1771749"/>
          <a:ext cx="10985865" cy="1962150"/>
        </p:xfrm>
        <a:graphic>
          <a:graphicData uri="http://schemas.openxmlformats.org/drawingml/2006/table">
            <a:tbl>
              <a:tblPr/>
              <a:tblGrid>
                <a:gridCol w="1753943">
                  <a:extLst>
                    <a:ext uri="{9D8B030D-6E8A-4147-A177-3AD203B41FA5}">
                      <a16:colId xmlns:a16="http://schemas.microsoft.com/office/drawing/2014/main" val="1448996342"/>
                    </a:ext>
                  </a:extLst>
                </a:gridCol>
                <a:gridCol w="2690446">
                  <a:extLst>
                    <a:ext uri="{9D8B030D-6E8A-4147-A177-3AD203B41FA5}">
                      <a16:colId xmlns:a16="http://schemas.microsoft.com/office/drawing/2014/main" val="3419841233"/>
                    </a:ext>
                  </a:extLst>
                </a:gridCol>
                <a:gridCol w="6541476">
                  <a:extLst>
                    <a:ext uri="{9D8B030D-6E8A-4147-A177-3AD203B41FA5}">
                      <a16:colId xmlns:a16="http://schemas.microsoft.com/office/drawing/2014/main" val="389551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RD返回代码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错误含义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处理方法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33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ERR001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卖方TIN格式错误（非13位）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检查公司代码主数据中的TIN配置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829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ERR002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买方TIN不存在于RD系统中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联系客户确认正确TIN，通过MDG-BP更新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51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ERR003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发票号重复（已提交过）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检查是否意外重复提交；如需取消原发票，走取消流程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75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ERR010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数字签名验证失败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检查证书是否过期；联系CA更新证书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043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WARN001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发票日期超出提交时限（超T+1）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警告（仍接受），但需记录原因；频繁发生需检查自动触发配置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9743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BC9199D-7B7E-0B4F-47A6-D726BA6F9666}"/>
              </a:ext>
            </a:extLst>
          </p:cNvPr>
          <p:cNvSpPr/>
          <p:nvPr/>
        </p:nvSpPr>
        <p:spPr>
          <a:xfrm>
            <a:off x="428624" y="1377657"/>
            <a:ext cx="3283133" cy="3253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b="1" dirty="0"/>
              <a:t>泰国ETAX常见错误代码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FC54754-50EC-E3A1-1B1C-BEAC27513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503757"/>
              </p:ext>
            </p:extLst>
          </p:nvPr>
        </p:nvGraphicFramePr>
        <p:xfrm>
          <a:off x="428624" y="4345842"/>
          <a:ext cx="10985864" cy="1971995"/>
        </p:xfrm>
        <a:graphic>
          <a:graphicData uri="http://schemas.openxmlformats.org/drawingml/2006/table">
            <a:tbl>
              <a:tblPr/>
              <a:tblGrid>
                <a:gridCol w="2746466">
                  <a:extLst>
                    <a:ext uri="{9D8B030D-6E8A-4147-A177-3AD203B41FA5}">
                      <a16:colId xmlns:a16="http://schemas.microsoft.com/office/drawing/2014/main" val="1785109670"/>
                    </a:ext>
                  </a:extLst>
                </a:gridCol>
                <a:gridCol w="2746466">
                  <a:extLst>
                    <a:ext uri="{9D8B030D-6E8A-4147-A177-3AD203B41FA5}">
                      <a16:colId xmlns:a16="http://schemas.microsoft.com/office/drawing/2014/main" val="2165521647"/>
                    </a:ext>
                  </a:extLst>
                </a:gridCol>
                <a:gridCol w="2746466">
                  <a:extLst>
                    <a:ext uri="{9D8B030D-6E8A-4147-A177-3AD203B41FA5}">
                      <a16:colId xmlns:a16="http://schemas.microsoft.com/office/drawing/2014/main" val="1330211845"/>
                    </a:ext>
                  </a:extLst>
                </a:gridCol>
                <a:gridCol w="2746466">
                  <a:extLst>
                    <a:ext uri="{9D8B030D-6E8A-4147-A177-3AD203B41FA5}">
                      <a16:colId xmlns:a16="http://schemas.microsoft.com/office/drawing/2014/main" val="1359805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altLang="en-US" sz="1000" b="1" i="0" kern="120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运营活动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altLang="en-US" sz="1000" b="1" i="0" kern="120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频率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altLang="en-US" sz="1000" b="1" i="0" kern="120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负责人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altLang="en-US" sz="1000" b="1" i="0" kern="120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关键指标</a:t>
                      </a:r>
                    </a:p>
                  </a:txBody>
                  <a:tcPr marL="133350" marR="1333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3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US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DRC Monitor</a:t>
                      </a: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</a:t>
                      </a:r>
                      <a:r>
                        <a:rPr lang="zh-CN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每天上午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财务</a:t>
                      </a:r>
                      <a:r>
                        <a:rPr lang="en-US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AP/AR</a:t>
                      </a: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运营</a:t>
                      </a:r>
                      <a:r>
                        <a:rPr lang="zh-CN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人员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en-US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Error</a:t>
                      </a:r>
                      <a:r>
                        <a:rPr lang="zh-CN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率</a:t>
                      </a:r>
                      <a:r>
                        <a:rPr lang="en-US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&lt;1%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52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月度法定报告完成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每月（截止日前5个工作日启动）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财务Controller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按时提交率100%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330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数字证书有效期监控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每季度检查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IT/Basis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证书到期前60天续签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80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DRC Country Version更新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SAP发布更新时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SAP顾问/IT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法规变更30天内应用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59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发票提交成功率统计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每月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财务Controller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spcAft>
                          <a:spcPts val="1350"/>
                        </a:spcAft>
                        <a:buNone/>
                      </a:pPr>
                      <a:r>
                        <a:rPr lang="zh-CN" sz="1013" b="0" i="0" dirty="0">
                          <a:solidFill>
                            <a:srgbClr val="2C3E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成功率≥99%</a:t>
                      </a:r>
                    </a:p>
                  </a:txBody>
                  <a:tcPr marL="133350" marR="133350" marT="85725" marB="8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813175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55FF653-5448-6D75-4763-EEE96D720ED3}"/>
              </a:ext>
            </a:extLst>
          </p:cNvPr>
          <p:cNvSpPr/>
          <p:nvPr/>
        </p:nvSpPr>
        <p:spPr>
          <a:xfrm>
            <a:off x="428624" y="3950191"/>
            <a:ext cx="3283133" cy="3253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b="1" dirty="0"/>
              <a:t>上线后运营机制建议</a:t>
            </a:r>
          </a:p>
        </p:txBody>
      </p:sp>
    </p:spTree>
    <p:extLst>
      <p:ext uri="{BB962C8B-B14F-4D97-AF65-F5344CB8AC3E}">
        <p14:creationId xmlns:p14="http://schemas.microsoft.com/office/powerpoint/2010/main" val="2191722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5D6B-2887-CBF3-9AEA-48041632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C8C2DB-3BBF-D403-BD85-B0D712A2DE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2F7863-E0C4-5935-4AFB-7F504966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B528F1-E1B6-6696-8CA2-FD92E3976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353C92-D482-FE9D-AC37-70C7BA97173A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544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08000" y="11244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8500" y="12514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01. Country </a:t>
            </a:r>
            <a:r>
              <a:rPr lang="en-US" sz="16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Version（国家版本</a:t>
            </a:r>
            <a:r>
              <a:rPr 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98500" y="16070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定义：SAP针对特定国家税务法规预制的本地化软件包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作用：实现“开箱即用”的合规能力，大幅降低本地化实施复杂度与周期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508000" y="23690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98500" y="24960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02. DRC </a:t>
            </a:r>
            <a:r>
              <a:rPr lang="en-US" sz="16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Monitor（DRC监控器</a:t>
            </a:r>
            <a:r>
              <a:rPr 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98500" y="28516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定义：SAP系统中用于监控电子发票全生命周期状态的工具。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作用：实时追踪发票提交状态、自动预警异常，确保税务流程透明可追溯。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36136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98500" y="37406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03. BPC（业务处理驾驶舱）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" y="40962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定义：SAP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DRC的核心引擎，负责数据转换、校验与流程编排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作用：将SAP源业务数据标准化，转换为符合当地税务要求的合规电子格式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508000" y="48582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" y="49852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04. Digital Signature（数字签名）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8500" y="53408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定义：验证电子发票来源真实与内容完整的加密技术。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作用：赋予电子发票同等纸质发票的法律效力，防止票据篡改与抵赖。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1244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12514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05. Tax Timestamp（税务时间戳）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16070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定义：税务机关颁发的、证明发票提交时间的不可篡改凭证。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作用：提供具备法律效力的时间证据，有效解决申报时效纠纷与争议。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23690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24960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06. Output Type（输出类型）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28516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定义：配置电子发票触发条件、格式与传输方式的系统参数。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作用：作为业务与DRC自动化的关键开关，实现发票自动生成与合规输出。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6136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13500" y="37406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07. Three-Way Match（三单匹配）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40962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定义：自动校验采购订单、收货单与供应商发票一致性的流程。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作用：实现应付账款（AP）自动化审核，消除人工误差，防范财务风险。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48582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1E40AF">
              <a:alpha val="6000"/>
            </a:srgbClr>
          </a:solidFill>
          <a:ln w="12700" cap="flat" cmpd="sng">
            <a:solidFill>
              <a:srgbClr val="1E40A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13500" y="4985239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核心价值总结：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这些核心组件共同构建了SAP DRC的合规底座，通过标准化配置、自动化监控与端到端校验，实现了从业务交易到税务合规的无缝衔接，保障企业在复杂税务环境下的稳健运营。</a:t>
            </a:r>
            <a:endParaRPr lang="en-US" sz="1100"/>
          </a:p>
        </p:txBody>
      </p:sp>
      <p:sp>
        <p:nvSpPr>
          <p:cNvPr id="28" name="标题 27">
            <a:extLst>
              <a:ext uri="{FF2B5EF4-FFF2-40B4-BE49-F238E27FC236}">
                <a16:creationId xmlns:a16="http://schemas.microsoft.com/office/drawing/2014/main" id="{469E917B-132A-0829-26E6-661C268B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62" y="230685"/>
            <a:ext cx="11297138" cy="912315"/>
          </a:xfrm>
        </p:spPr>
        <p:txBody>
          <a:bodyPr/>
          <a:lstStyle/>
          <a:p>
            <a:r>
              <a:rPr lang="zh-CN" altLang="en-US" b="1" cap="all" dirty="0"/>
              <a:t>核心概念汇总表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34FC0-18FB-1691-7FBF-52C5C4EC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0823D-9BCF-B313-653F-4FE0262F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cap="all" dirty="0"/>
              <a:t>附录 原始需求清单（27条，P05关联）</a:t>
            </a:r>
            <a:endParaRPr lang="zh-CN" altLang="en-US" b="1" cap="all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A49FCE-F4D4-8E3D-2007-740800BE2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064792"/>
              </p:ext>
            </p:extLst>
          </p:nvPr>
        </p:nvGraphicFramePr>
        <p:xfrm>
          <a:off x="427037" y="1422907"/>
          <a:ext cx="11337925" cy="4012186"/>
        </p:xfrm>
        <a:graphic>
          <a:graphicData uri="http://schemas.openxmlformats.org/drawingml/2006/table">
            <a:tbl>
              <a:tblPr/>
              <a:tblGrid>
                <a:gridCol w="1313840">
                  <a:extLst>
                    <a:ext uri="{9D8B030D-6E8A-4147-A177-3AD203B41FA5}">
                      <a16:colId xmlns:a16="http://schemas.microsoft.com/office/drawing/2014/main" val="2031265380"/>
                    </a:ext>
                  </a:extLst>
                </a:gridCol>
                <a:gridCol w="3833446">
                  <a:extLst>
                    <a:ext uri="{9D8B030D-6E8A-4147-A177-3AD203B41FA5}">
                      <a16:colId xmlns:a16="http://schemas.microsoft.com/office/drawing/2014/main" val="3563239385"/>
                    </a:ext>
                  </a:extLst>
                </a:gridCol>
                <a:gridCol w="1655469">
                  <a:extLst>
                    <a:ext uri="{9D8B030D-6E8A-4147-A177-3AD203B41FA5}">
                      <a16:colId xmlns:a16="http://schemas.microsoft.com/office/drawing/2014/main" val="985681784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42931005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326205167"/>
                    </a:ext>
                  </a:extLst>
                </a:gridCol>
              </a:tblGrid>
              <a:tr h="405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需求简述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优先级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来源部门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归属子方案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251397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A0282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红冲、退货与外销外币收款无自动清账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国际财务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517892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A0287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应收/坏账无法按渠道/事业部精细拆分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国际财务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431743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A0288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SAP无法自动生成应收/应付汇兑损益凭证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国际财务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313835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A0289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汇兑损益按季度汇总一笔，无法精细到订单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国际财务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007368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A0290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外销账期账龄统计偏差（按开票日非出库日）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国际财务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897035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A0291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外币锁汇/掉期交易无系统台账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资金管理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940443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A0292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工厂间内部交易不支持贷项红冲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集团财务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703747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A0357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建立国际事业部统一主数据体系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国际事业部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2.3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186857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A0359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泰国转移定价双成本核算（报关价vs内部考核）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国际事业部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2.2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80259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A0360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海外报价模型（BOM→成本→汇率→关税→毛利）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国际事业部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2.4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452402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A0361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外汇风险精细化管理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资金管理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62301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A0362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海外法人SAP模板（FZ40泰国/FZ33德国）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国际事业部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2.3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02339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A0363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泰国工厂SAP全模块深度落地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泰国工厂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2.3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157621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A0364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多语言系统适配（泰文/英文本地化）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泰国工厂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2.3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33235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A0371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【行动项】补充近3年海外经营数据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国际事业部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前置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634778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A0372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【行动项】专项确认转移定价口径（强前置）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集团财务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前置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597857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A0373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梳理报价模型与驾驶舱KPI体系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国际事业部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前置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38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279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0538"/>
            <a:ext cx="1846659" cy="738664"/>
          </a:xfrm>
        </p:spPr>
        <p:txBody>
          <a:bodyPr/>
          <a:lstStyle/>
          <a:p>
            <a:r>
              <a:rPr lang="zh-CN" altLang="en-US" sz="4800" b="1" dirty="0"/>
              <a:t>谢谢！</a:t>
            </a:r>
            <a:endParaRPr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1447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3E6"/>
                </a:solidFill>
              </a:rPr>
              <a:t>SAP S/4HANA PCE  |  专项方案 1  |  2026年6月  |  内部文件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PPT Template - External_v2_more file size 2nd option" id="{5C96949D-A511-4C27-8972-49E175CB9004}" vid="{FDF2C615-E964-4855-905F-9BF4DFE40C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2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3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FE511B84-21F8-E546-9875-8BED6F722329}">
  <ds:schemaRefs/>
</ds:datastoreItem>
</file>

<file path=customXml/itemProps2.xml><?xml version="1.0" encoding="utf-8"?>
<ds:datastoreItem xmlns:ds="http://schemas.openxmlformats.org/officeDocument/2006/customXml" ds:itemID="{9B965239-770B-CA49-8A85-05CC8639E8EA}">
  <ds:schemaRefs/>
</ds:datastoreItem>
</file>

<file path=customXml/itemProps3.xml><?xml version="1.0" encoding="utf-8"?>
<ds:datastoreItem xmlns:ds="http://schemas.openxmlformats.org/officeDocument/2006/customXml" ds:itemID="{BEA80D82-EDC8-0741-826D-933AA8F9EFEB}">
  <ds:schemaRefs/>
</ds:datastoreItem>
</file>

<file path=customXml/itemProps4.xml><?xml version="1.0" encoding="utf-8"?>
<ds:datastoreItem xmlns:ds="http://schemas.openxmlformats.org/officeDocument/2006/customXml" ds:itemID="{6B6BFCDD-2828-244C-B8B0-E2958472E4D3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13824</TotalTime>
  <Words>3622</Words>
  <Application>Microsoft Macintosh PowerPoint</Application>
  <PresentationFormat>宽屏</PresentationFormat>
  <Paragraphs>565</Paragraphs>
  <Slides>22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微软雅黑</vt:lpstr>
      <vt:lpstr>微软雅黑</vt:lpstr>
      <vt:lpstr>Biennale</vt:lpstr>
      <vt:lpstr>Biennale Bold</vt:lpstr>
      <vt:lpstr>Biennale Medium</vt:lpstr>
      <vt:lpstr>Montserrat Bold</vt:lpstr>
      <vt:lpstr>Noto Sans SC</vt:lpstr>
      <vt:lpstr>Aptos</vt:lpstr>
      <vt:lpstr>Arial</vt:lpstr>
      <vt:lpstr>Calibri</vt:lpstr>
      <vt:lpstr>Montserrat SemiBold</vt:lpstr>
      <vt:lpstr>Times New Roman</vt:lpstr>
      <vt:lpstr>Verdana</vt:lpstr>
      <vt:lpstr>White background</vt:lpstr>
      <vt:lpstr>泰国财务体系合规建设专项方案</vt:lpstr>
      <vt:lpstr>目录</vt:lpstr>
      <vt:lpstr>海外财务本地化体系建设专项方案</vt:lpstr>
      <vt:lpstr>泰国财务体系合规建设：方案总览泰国财务体系合规建设</vt:lpstr>
      <vt:lpstr>佛照未来部署SAP DRC 全球统一合规方案的建议架构</vt:lpstr>
      <vt:lpstr>方案详解及系统实现 </vt:lpstr>
      <vt:lpstr>DRC的数据流：一张发票如何合规提交</vt:lpstr>
      <vt:lpstr>出站电子发票配置的三个要素</vt:lpstr>
      <vt:lpstr>入站电子发票自动化处理流程</vt:lpstr>
      <vt:lpstr>配套行动计划 </vt:lpstr>
      <vt:lpstr>三阶段实施路径</vt:lpstr>
      <vt:lpstr>外币评估与风险管理驾驶舱</vt:lpstr>
      <vt:lpstr>销项-进项的税务一体化解决方案</vt:lpstr>
      <vt:lpstr>DRC全税种申报状态实时监控</vt:lpstr>
      <vt:lpstr>PowerPoint 演示文稿</vt:lpstr>
      <vt:lpstr>电子发票的取消与更正</vt:lpstr>
      <vt:lpstr>DRC Monitor 错误处理决策流程</vt:lpstr>
      <vt:lpstr>DRC Monitor 错误处理决策流程</vt:lpstr>
      <vt:lpstr>附录：相关文档及原始数据</vt:lpstr>
      <vt:lpstr>核心概念汇总表</vt:lpstr>
      <vt:lpstr>附录 原始需求清单（27条，P05关联）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Tan, Hong-liang</dc:creator>
  <cp:lastModifiedBy>Chen, Yuqing</cp:lastModifiedBy>
  <cp:revision>113</cp:revision>
  <dcterms:created xsi:type="dcterms:W3CDTF">2026-04-20T05:45:14Z</dcterms:created>
  <dcterms:modified xsi:type="dcterms:W3CDTF">2026-08-31T08:48:02Z</dcterms:modified>
</cp:coreProperties>
</file>