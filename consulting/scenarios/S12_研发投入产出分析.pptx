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22"/>
  </p:notesMasterIdLst>
  <p:sldIdLst>
    <p:sldId id="256" r:id="rId3"/>
    <p:sldId id="2185" r:id="rId4"/>
    <p:sldId id="283" r:id="rId5"/>
    <p:sldId id="2186" r:id="rId6"/>
    <p:sldId id="403" r:id="rId7"/>
    <p:sldId id="259" r:id="rId8"/>
    <p:sldId id="260" r:id="rId9"/>
    <p:sldId id="262" r:id="rId10"/>
    <p:sldId id="264" r:id="rId11"/>
    <p:sldId id="265" r:id="rId12"/>
    <p:sldId id="267" r:id="rId13"/>
    <p:sldId id="268" r:id="rId14"/>
    <p:sldId id="269" r:id="rId15"/>
    <p:sldId id="404" r:id="rId16"/>
    <p:sldId id="277" r:id="rId17"/>
    <p:sldId id="405" r:id="rId18"/>
    <p:sldId id="2182" r:id="rId19"/>
    <p:sldId id="2183" r:id="rId20"/>
    <p:sldId id="2184" r:id="rId2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76" userDrawn="1">
          <p15:clr>
            <a:srgbClr val="747775"/>
          </p15:clr>
        </p15:guide>
        <p15:guide id="2" pos="292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83" d="100"/>
          <a:sy n="83" d="100"/>
        </p:scale>
        <p:origin x="225" y="54"/>
      </p:cViewPr>
      <p:guideLst>
        <p:guide orient="horz" pos="1676"/>
        <p:guide pos="29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尊敬的各位领导、同事,大家下午好。今天我将向大家汇报我们团队精心设计的"研发费用管理解决方案"。该方案基于全球领先的SAP S/4HANA平台,旨在为企业构建一套端到端的数字化研发管理体系,全面提升研发效率与决策水平。本次汇报将详细阐述项目背景、核心挑战、解决方案、实施路径及预期价值,希望能为大家描绘一幅清晰的数字化转型蓝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1089025" rtl="0" eaLnBrk="1" fontAlgn="auto" latinLnBrk="0" hangingPunct="1">
              <a:lnSpc>
                <a:spcPct val="100000"/>
              </a:lnSpc>
              <a:spcBef>
                <a:spcPts val="0"/>
              </a:spcBef>
              <a:spcAft>
                <a:spcPts val="0"/>
              </a:spcAft>
              <a:buClrTx/>
              <a:buSzTx/>
              <a:buFontTx/>
              <a:buNone/>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D8C2C35-2B8A-446E-BEC0-FD36716C29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kumimoji="1" lang="zh-CN" altLang="en-US" sz="1200" b="1" dirty="0">
                <a:solidFill>
                  <a:schemeClr val="tx1"/>
                </a:solidFill>
                <a:latin typeface="微软雅黑" panose="020B0503020204020204" pitchFamily="34" charset="-122"/>
                <a:ea typeface="微软雅黑" panose="020B0503020204020204" pitchFamily="34" charset="-122"/>
              </a:rPr>
              <a:t>历史数据：</a:t>
            </a:r>
            <a:r>
              <a:rPr kumimoji="1" lang="zh-CN" altLang="zh-CN" sz="1200" dirty="0">
                <a:solidFill>
                  <a:schemeClr val="tx1"/>
                </a:solidFill>
                <a:latin typeface="微软雅黑" panose="020B0503020204020204" pitchFamily="34" charset="-122"/>
                <a:ea typeface="微软雅黑" panose="020B0503020204020204" pitchFamily="34" charset="-122"/>
              </a:rPr>
              <a:t>设定平行评估激活基准日（如2027年1月1日上线后首个完整月）</a:t>
            </a:r>
            <a:r>
              <a:rPr kumimoji="1" lang="zh-CN" altLang="en-US" sz="1200" dirty="0">
                <a:solidFill>
                  <a:schemeClr val="tx1"/>
                </a:solidFill>
                <a:latin typeface="微软雅黑" panose="020B0503020204020204" pitchFamily="34" charset="-122"/>
                <a:ea typeface="微软雅黑" panose="020B0503020204020204" pitchFamily="34" charset="-122"/>
              </a:rPr>
              <a:t>，</a:t>
            </a:r>
            <a:r>
              <a:rPr kumimoji="1" lang="zh-CN" altLang="zh-CN" sz="1200" dirty="0">
                <a:solidFill>
                  <a:schemeClr val="tx1"/>
                </a:solidFill>
                <a:latin typeface="微软雅黑" panose="020B0503020204020204" pitchFamily="34" charset="-122"/>
                <a:ea typeface="微软雅黑" panose="020B0503020204020204" pitchFamily="34" charset="-122"/>
              </a:rPr>
              <a:t>基准日前的历史数据不回填</a:t>
            </a:r>
            <a:r>
              <a:rPr kumimoji="1" lang="zh-CN" altLang="en-US" sz="1200" dirty="0">
                <a:solidFill>
                  <a:schemeClr val="tx1"/>
                </a:solidFill>
                <a:latin typeface="微软雅黑" panose="020B0503020204020204" pitchFamily="34" charset="-122"/>
                <a:ea typeface="微软雅黑" panose="020B0503020204020204" pitchFamily="34" charset="-122"/>
              </a:rPr>
              <a:t>。</a:t>
            </a:r>
            <a:endParaRPr kumimoji="1" lang="en-US" altLang="zh-CN" sz="1200" dirty="0">
              <a:solidFill>
                <a:schemeClr val="tx1"/>
              </a:solidFill>
              <a:latin typeface="微软雅黑" panose="020B0503020204020204" pitchFamily="34" charset="-122"/>
              <a:ea typeface="微软雅黑" panose="020B0503020204020204" pitchFamily="34" charset="-122"/>
            </a:endParaRPr>
          </a:p>
          <a:p>
            <a:r>
              <a:rPr kumimoji="1" lang="zh-CN" altLang="zh-CN" sz="1200" dirty="0">
                <a:solidFill>
                  <a:schemeClr val="tx1"/>
                </a:solidFill>
                <a:latin typeface="微软雅黑" panose="020B0503020204020204" pitchFamily="34" charset="-122"/>
                <a:ea typeface="微软雅黑" panose="020B0503020204020204" pitchFamily="34" charset="-122"/>
              </a:rPr>
              <a:t>各部门</a:t>
            </a:r>
            <a:r>
              <a:rPr kumimoji="1" lang="zh-CN" altLang="en-US" sz="1200" dirty="0">
                <a:solidFill>
                  <a:schemeClr val="tx1"/>
                </a:solidFill>
                <a:latin typeface="微软雅黑" panose="020B0503020204020204" pitchFamily="34" charset="-122"/>
                <a:ea typeface="微软雅黑" panose="020B0503020204020204" pitchFamily="34" charset="-122"/>
              </a:rPr>
              <a:t>抵触：统一</a:t>
            </a:r>
            <a:endParaRPr kumimoji="1" lang="en-US" altLang="zh-CN" dirty="0"/>
          </a:p>
          <a:p>
            <a:endParaRPr kumimoji="1" lang="en-US" altLang="zh-CN" dirty="0"/>
          </a:p>
          <a:p>
            <a:r>
              <a:rPr kumimoji="1" lang="zh-CN" altLang="en-US" dirty="0"/>
              <a:t>业务变革：</a:t>
            </a:r>
            <a:endParaRPr kumimoji="1" lang="en-US" altLang="zh-CN" dirty="0"/>
          </a:p>
          <a:p>
            <a:r>
              <a:rPr lang="zh-CN" altLang="zh-CN" sz="1200" b="1" i="0" kern="1200" dirty="0">
                <a:solidFill>
                  <a:schemeClr val="tx1"/>
                </a:solidFill>
                <a:effectLst/>
                <a:latin typeface="+mn-lt"/>
                <a:ea typeface="+mn-ea"/>
                <a:cs typeface="+mn-cs"/>
              </a:rPr>
              <a:t>判断1：这不是SAP实施项目，是一次利益格局重塑。</a:t>
            </a:r>
            <a:r>
              <a:rPr lang="zh-CN" altLang="zh-CN" sz="1200" b="0" i="0" kern="1200" dirty="0">
                <a:solidFill>
                  <a:schemeClr val="tx1"/>
                </a:solidFill>
                <a:effectLst/>
                <a:latin typeface="+mn-lt"/>
                <a:ea typeface="+mn-ea"/>
                <a:cs typeface="+mn-cs"/>
              </a:rPr>
              <a:t> 佛照内部加价制造的"虚拟利润池"按保守估算约为集团真实扣非净利润的2-3倍量级。一旦启动消除，任何BU的账面利润变化都不是小数点之争，而是生死线的争夺。技术方案再完美，如果集团高层不愿意在年终奖分配上做出强制性决定，整个方案将在执行层被稀释为"系统里跑三套数字，考核还是按老逻辑"。</a:t>
            </a:r>
          </a:p>
          <a:p>
            <a:r>
              <a:rPr lang="zh-CN" altLang="zh-CN" sz="1200" b="1" i="0" kern="1200" dirty="0">
                <a:solidFill>
                  <a:schemeClr val="tx1"/>
                </a:solidFill>
                <a:effectLst/>
                <a:latin typeface="+mn-lt"/>
                <a:ea typeface="+mn-ea"/>
                <a:cs typeface="+mn-cs"/>
              </a:rPr>
              <a:t>判断2：标准成本方向是对的，但前提条件被严重低估。</a:t>
            </a:r>
            <a:r>
              <a:rPr lang="zh-CN" altLang="zh-CN" sz="1200" b="0" i="0" kern="1200" dirty="0">
                <a:solidFill>
                  <a:schemeClr val="tx1"/>
                </a:solidFill>
                <a:effectLst/>
                <a:latin typeface="+mn-lt"/>
                <a:ea typeface="+mn-ea"/>
                <a:cs typeface="+mn-cs"/>
              </a:rPr>
              <a:t> 标准成本+平行评估的组合是S/4HANA上的正确架构，SAP技术层面完全支持。但佛照有两个硬约束：LED芯片等核心原材料年波动可达20-40%，若标准成本年度冻结，Price Variance可能吃掉全年利润；车灯（燎旺）高度客制化，强套标准成本会产生大量无意义差异。这两个问题不解决，标准成本体系上线即失信。</a:t>
            </a:r>
          </a:p>
          <a:p>
            <a:r>
              <a:rPr lang="zh-CN" altLang="zh-CN" sz="1200" b="1" i="0" kern="1200" dirty="0">
                <a:solidFill>
                  <a:schemeClr val="tx1"/>
                </a:solidFill>
                <a:effectLst/>
                <a:latin typeface="+mn-lt"/>
                <a:ea typeface="+mn-ea"/>
                <a:cs typeface="+mn-cs"/>
              </a:rPr>
              <a:t>判断3：0.95%净利率是变革的最佳窗口，也是最大风险来源。</a:t>
            </a:r>
            <a:r>
              <a:rPr lang="zh-CN" altLang="zh-CN" sz="1200" b="0" i="0" kern="1200" dirty="0">
                <a:solidFill>
                  <a:schemeClr val="tx1"/>
                </a:solidFill>
                <a:effectLst/>
                <a:latin typeface="+mn-lt"/>
                <a:ea typeface="+mn-ea"/>
                <a:cs typeface="+mn-cs"/>
              </a:rPr>
              <a:t> 薄利倒逼透明化是有利时机，管理层被迫正视成本真相。但同时，容错空间几乎为零——如果标准成本制定错误导致BU绩效失真，在如此薄利状态下任何决策偏差都可能直接亏损。数据准备和标准成本核定的精度要求，比财务健康期高一个数量级。</a:t>
            </a:r>
          </a:p>
          <a:p>
            <a:r>
              <a:rPr lang="zh-CN" altLang="zh-CN" sz="1200" b="1" i="0" kern="1200" dirty="0">
                <a:solidFill>
                  <a:schemeClr val="tx1"/>
                </a:solidFill>
                <a:effectLst/>
                <a:latin typeface="+mn-lt"/>
                <a:ea typeface="+mn-ea"/>
                <a:cs typeface="+mn-cs"/>
              </a:rPr>
              <a:t>判断4：路径C（双轨KPI权重逐步迁移）是当前唯一可行路径，但"执行死结"在Year 2节点。</a:t>
            </a:r>
            <a:r>
              <a:rPr lang="zh-CN" altLang="zh-CN" sz="1200" b="0" i="0" kern="1200" dirty="0">
                <a:solidFill>
                  <a:schemeClr val="tx1"/>
                </a:solidFill>
                <a:effectLst/>
                <a:latin typeface="+mn-lt"/>
                <a:ea typeface="+mn-ea"/>
                <a:cs typeface="+mn-cs"/>
              </a:rPr>
              <a:t> 路径A（完全集团成本考核）理想但不可落地；路径B（保留法律实体利润+集团视角仅供参考）换汤不换药。路径C可行，但历史上类似改革最常见的失败模式是：Year 1顺利，Year 2权重调整时受损BU重启抵制，高层松动，改革被锁定在"Year 1状态"永远不推进。这个节点必须提前设计防御机制。</a:t>
            </a:r>
            <a:endParaRPr kumimoji="1" lang="zh-CN" altLang="en-US" dirty="0"/>
          </a:p>
        </p:txBody>
      </p:sp>
      <p:sp>
        <p:nvSpPr>
          <p:cNvPr id="4" name="灯片编号占位符 3"/>
          <p:cNvSpPr>
            <a:spLocks noGrp="1"/>
          </p:cNvSpPr>
          <p:nvPr>
            <p:ph type="sldNum" sz="quarter" idx="5"/>
          </p:nvPr>
        </p:nvSpPr>
        <p:spPr/>
        <p:txBody>
          <a:bodyPr/>
          <a:lstStyle/>
          <a:p>
            <a:fld id="{43A415C3-E7E8-ED47-896B-87929403F899}" type="slidenum">
              <a:rPr lang="en-US" smtClean="0"/>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具体来说,我们当前面临三大核心挑战。第一,创新效率瓶颈,产品上市周期长,跨部门协作效率低下。第二,数据孤岛严重,研发、生产、财务系统各自为政,信息无法有效流转,导致决策滞后。第三,成本核算粗放,尤其是共用资源的分摊问题,使得我们无法准确衡量每个研发项目的真实投入和产出,这直接影响了我们的决策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应对这些挑战,我们设定了四大核心目标。首先,建立一个统一的研发管理平台,打破部门壁垒。其次,实现研发费用的精细化核算,确保数据的准确性和合规性。第三,强化项目过程管控,让项目进度和成本一目了然。最后,构建数据驱动的决策支持体系,让数据真正成为我们决策的依据,而不是凭感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总结了四大核心痛点。第一,核算体系复杂,不同口径的要求导致大量手工调整。第二,共用资源分摊困难,尤其是设备折旧和人工成本,这是长期困扰我们的难题。第三,试产阶段的管理非常复杂,费用化和资本化的边界模糊,成本追溯困难。第四,业务与财务严重脱节,项目管理和财务核算各成体系,无法形成合力。这些问题相互交织,严重制约了我们研发管理水平的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我们的解决方案框架是一个全流程集成的闭环管理体系。技术上,我们以SAP S/4HANA为核心,整合云PLM,并通过BTP平台实现灵活扩展。业务流程上,我们为研发的不同阶段设计了不同的核算载体:预研阶段用成本中心,立项阶段用内部订单,试产阶段用生产订单,并通过统计型内部订单将所有投入汇总,最终实现从投入到产出的ROI分析,形成完整的管理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这套基于SAP的解决方案将为我们带来三大核心优势。首先,实现精准的核算与管控,特别是解决了长期困扰我们的共用资源分摊问题。其次,打通全流程数据,让信息在研发、生产、财务之间无缝流动,实现端到端追溯。最后,也是最重要的,为管理层提供强大的决策支持工具,通过多维度报表和ROI分析,让我们的研发决策更加科学、精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在核算体系设计上,我们针对不同阶段采用了不同的核算载体。预研阶段,我们使用成本中心来归集费用。项目正式立项后,我们创建内部订单作为唯一的核算载体,并进行预算控制。对于复杂的试产阶段,我们区分了费用型和存货型两种生产订单,并创新性地引入了统计型内部订单,来汇总一个项目下所有的试产投入,从而形成完整的项目成本视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项目管理模块的设计覆盖了项目的全生命周期。我们以内部订单为核心载体,通过设置里程碑来跟踪进度,利用预算功能进行成本控制,并通过CATS工时记录来获取准确的人工投入数据。在此基础上,我们开发了满足不同口径需求的报表体系,并最终将销售数据关联进来,实现投后ROI分析,形成一个完整的管理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集成与报表是实现数据驱动决策的关键。我们将打通PLM、PP、MM等模块与财务CO模块的数据流,确保信息自动同步。基于这些集成的数据,我们将开发一系列核心报表,包括成本构成分析、投入产出分析,以及满足高新和税务要求的辅助账。所有数据都将源于系统,确保了合规性和可追溯性,为企业的稳健运营提供坚实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这是我们整个项目的实施路径图。我们将项目分为三个阶段：蓝图设计、系统实现和上线保障。每个阶段都有明确的时间规划、核心任务和交付成果。通过这个清晰的路线图，我们可以确保项目按计划、高质量地推进，最终成功上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8624" y="291451"/>
            <a:ext cx="11337925" cy="912315"/>
          </a:xfrm>
        </p:spPr>
        <p:txBody>
          <a:bodyPr/>
          <a:lstStyle>
            <a:lvl1pPr>
              <a:lnSpc>
                <a:spcPct val="100000"/>
              </a:lnSpc>
              <a:defRPr/>
            </a:lvl1pPr>
          </a:lstStyle>
          <a:p>
            <a:r>
              <a:rPr lang="en-US"/>
              <a:t>Title</a:t>
            </a:r>
          </a:p>
        </p:txBody>
      </p:sp>
      <p:sp>
        <p:nvSpPr>
          <p:cNvPr id="4" name="Text Placeholder 7"/>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Slide Number Placeholder 5"/>
          <p:cNvSpPr>
            <a:spLocks noGrp="1"/>
          </p:cNvSpPr>
          <p:nvPr>
            <p:ph type="sldNum" sz="quarter" idx="4"/>
          </p:nvPr>
        </p:nvSpPr>
        <p:spPr>
          <a:xfrm>
            <a:off x="428625" y="6507907"/>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anose="020B0604030504040204" pitchFamily="34" charset="0"/>
                <a:cs typeface="Raleway Medium" pitchFamily="2" charset="0"/>
              </a:defRPr>
            </a:lvl1pPr>
          </a:lstStyle>
          <a:p>
            <a:fld id="{DAF489CC-3B7A-4DA5-A8C0-4984788D0EC5}" type="slidenum">
              <a:rPr lang="nl-NL" smtClean="0"/>
              <a:t>‹#›</a:t>
            </a:fld>
            <a:endParaRPr lang="nl-NL"/>
          </a:p>
        </p:txBody>
      </p:sp>
      <p:pic>
        <p:nvPicPr>
          <p:cNvPr id="5" name="图片 4"/>
          <p:cNvPicPr>
            <a:picLocks noChangeAspect="1"/>
          </p:cNvPicPr>
          <p:nvPr userDrawn="1"/>
        </p:nvPicPr>
        <p:blipFill>
          <a:blip r:embed="rId2"/>
          <a:stretch>
            <a:fillRect/>
          </a:stretch>
        </p:blipFill>
        <p:spPr>
          <a:xfrm>
            <a:off x="287947" y="6412870"/>
            <a:ext cx="1742736" cy="343961"/>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Chapter 1">
    <p:spTree>
      <p:nvGrpSpPr>
        <p:cNvPr id="1" name=""/>
        <p:cNvGrpSpPr/>
        <p:nvPr/>
      </p:nvGrpSpPr>
      <p:grpSpPr>
        <a:xfrm>
          <a:off x="0" y="0"/>
          <a:ext cx="0" cy="0"/>
          <a:chOff x="0" y="0"/>
          <a:chExt cx="0" cy="0"/>
        </a:xfrm>
      </p:grpSpPr>
      <p:pic>
        <p:nvPicPr>
          <p:cNvPr id="3" name="Graphic 2"/>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6" name="Text Placeholder 5"/>
          <p:cNvSpPr>
            <a:spLocks noGrp="1"/>
          </p:cNvSpPr>
          <p:nvPr>
            <p:ph type="body" sz="quarter" idx="10" hasCustomPrompt="1"/>
          </p:nvPr>
        </p:nvSpPr>
        <p:spPr>
          <a:xfrm>
            <a:off x="390098" y="389618"/>
            <a:ext cx="1376980" cy="1477328"/>
          </a:xfrm>
        </p:spPr>
        <p:txBody>
          <a:bodyPr wrap="none">
            <a:spAutoFit/>
          </a:bodyPr>
          <a:lstStyle>
            <a:lvl1pPr marL="0" indent="0">
              <a:lnSpc>
                <a:spcPct val="100000"/>
              </a:lnSpc>
              <a:spcAft>
                <a:spcPts val="0"/>
              </a:spcAft>
              <a:buNone/>
              <a:defRPr sz="96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01</a:t>
            </a:r>
          </a:p>
        </p:txBody>
      </p:sp>
      <p:sp>
        <p:nvSpPr>
          <p:cNvPr id="4" name="Graphique 10"/>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2" name="Title 1"/>
          <p:cNvSpPr>
            <a:spLocks noGrp="1"/>
          </p:cNvSpPr>
          <p:nvPr>
            <p:ph type="title" hasCustomPrompt="1"/>
          </p:nvPr>
        </p:nvSpPr>
        <p:spPr>
          <a:xfrm>
            <a:off x="1786976" y="1866946"/>
            <a:ext cx="7094047" cy="1929683"/>
          </a:xfrm>
        </p:spPr>
        <p:txBody>
          <a:bodyPr wrap="square">
            <a:noAutofit/>
          </a:bodyPr>
          <a:lstStyle>
            <a:lvl1pPr>
              <a:lnSpc>
                <a:spcPct val="100000"/>
              </a:lnSpc>
              <a:defRPr sz="5400">
                <a:solidFill>
                  <a:schemeClr val="accent3"/>
                </a:solidFill>
              </a:defRPr>
            </a:lvl1pPr>
          </a:lstStyle>
          <a:p>
            <a:r>
              <a:rPr lang="en-US"/>
              <a:t>Chapter title</a:t>
            </a:r>
            <a:br>
              <a:rPr lang="en-US"/>
            </a:br>
            <a:r>
              <a:rPr lang="en-US"/>
              <a:t>two lines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428625" y="1189363"/>
            <a:ext cx="5370060" cy="1231106"/>
          </a:xfrm>
        </p:spPr>
        <p:txBody>
          <a:bodyPr wrap="none" anchor="ctr">
            <a:spAutoFit/>
          </a:bodyPr>
          <a:lstStyle>
            <a:lvl1pPr algn="l">
              <a:lnSpc>
                <a:spcPct val="100000"/>
              </a:lnSpc>
              <a:defRPr sz="8000">
                <a:solidFill>
                  <a:schemeClr val="accent1"/>
                </a:solidFill>
              </a:defRPr>
            </a:lvl1pPr>
          </a:lstStyle>
          <a:p>
            <a:r>
              <a:rPr lang="en-US"/>
              <a:t>Thank you!</a:t>
            </a:r>
          </a:p>
        </p:txBody>
      </p:sp>
      <p:sp>
        <p:nvSpPr>
          <p:cNvPr id="3" name="AddNotifier#1"/>
          <p:cNvSpPr txBox="1">
            <a:spLocks noChangeArrowheads="1"/>
          </p:cNvSpPr>
          <p:nvPr userDrawn="1"/>
        </p:nvSpPr>
        <p:spPr bwMode="invGray">
          <a:xfrm>
            <a:off x="428625" y="5422415"/>
            <a:ext cx="338328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anose="020B0602030504020204" pitchFamily="34" charset="0"/>
              </a:defRPr>
            </a:lvl1pPr>
            <a:lvl2pPr marL="742950" indent="-285750">
              <a:defRPr>
                <a:solidFill>
                  <a:schemeClr val="tx1"/>
                </a:solidFill>
                <a:latin typeface="Lucida Sans Unicode" panose="020B0602030504020204" pitchFamily="34" charset="0"/>
              </a:defRPr>
            </a:lvl2pPr>
            <a:lvl3pPr marL="1143000" indent="-228600">
              <a:defRPr>
                <a:solidFill>
                  <a:schemeClr val="tx1"/>
                </a:solidFill>
                <a:latin typeface="Lucida Sans Unicode" panose="020B0602030504020204" pitchFamily="34" charset="0"/>
              </a:defRPr>
            </a:lvl3pPr>
            <a:lvl4pPr marL="1600200" indent="-228600">
              <a:defRPr>
                <a:solidFill>
                  <a:schemeClr val="tx1"/>
                </a:solidFill>
                <a:latin typeface="Lucida Sans Unicode" panose="020B0602030504020204" pitchFamily="34" charset="0"/>
              </a:defRPr>
            </a:lvl4pPr>
            <a:lvl5pPr marL="2057400" indent="-228600">
              <a:defRPr>
                <a:solidFill>
                  <a:schemeClr val="tx1"/>
                </a:solidFill>
                <a:latin typeface="Lucida Sans Unicode" panose="020B0602030504020204" pitchFamily="34" charset="0"/>
              </a:defRPr>
            </a:lvl5pPr>
            <a:lvl6pPr marL="2514600" indent="-228600" fontAlgn="base">
              <a:spcBef>
                <a:spcPct val="0"/>
              </a:spcBef>
              <a:spcAft>
                <a:spcPct val="0"/>
              </a:spcAft>
              <a:defRPr>
                <a:solidFill>
                  <a:schemeClr val="tx1"/>
                </a:solidFill>
                <a:latin typeface="Lucida Sans Unicode" panose="020B0602030504020204" pitchFamily="34" charset="0"/>
              </a:defRPr>
            </a:lvl6pPr>
            <a:lvl7pPr marL="2971800" indent="-228600" fontAlgn="base">
              <a:spcBef>
                <a:spcPct val="0"/>
              </a:spcBef>
              <a:spcAft>
                <a:spcPct val="0"/>
              </a:spcAft>
              <a:defRPr>
                <a:solidFill>
                  <a:schemeClr val="tx1"/>
                </a:solidFill>
                <a:latin typeface="Lucida Sans Unicode" panose="020B0602030504020204" pitchFamily="34" charset="0"/>
              </a:defRPr>
            </a:lvl7pPr>
            <a:lvl8pPr marL="3429000" indent="-228600" fontAlgn="base">
              <a:spcBef>
                <a:spcPct val="0"/>
              </a:spcBef>
              <a:spcAft>
                <a:spcPct val="0"/>
              </a:spcAft>
              <a:defRPr>
                <a:solidFill>
                  <a:schemeClr val="tx1"/>
                </a:solidFill>
                <a:latin typeface="Lucida Sans Unicode" panose="020B0602030504020204" pitchFamily="34" charset="0"/>
              </a:defRPr>
            </a:lvl8pPr>
            <a:lvl9pPr marL="3886200" indent="-228600" fontAlgn="base">
              <a:spcBef>
                <a:spcPct val="0"/>
              </a:spcBef>
              <a:spcAft>
                <a:spcPct val="0"/>
              </a:spcAft>
              <a:defRPr>
                <a:solidFill>
                  <a:schemeClr val="tx1"/>
                </a:solidFill>
                <a:latin typeface="Lucida Sans Unicode" panose="020B0602030504020204" pitchFamily="34" charset="0"/>
              </a:defRPr>
            </a:lvl9pPr>
          </a:lstStyle>
          <a:p>
            <a:r>
              <a:rPr lang="en-US" sz="800" kern="1200" baseline="0">
                <a:solidFill>
                  <a:schemeClr val="accent3"/>
                </a:solidFill>
                <a:latin typeface="+mn-lt"/>
                <a:ea typeface="Verdana" panose="020B0604030504040204" pitchFamily="34" charset="0"/>
                <a:cs typeface="Verdana" panose="020B0604030504040204" pitchFamily="34" charset="0"/>
              </a:rPr>
              <a:t>Atos is a registered trademark of Atos SE. © 2024 Atos. Confidential information owned by Atos, to be used by the recipient only. This document, or any part of it, may not be reproduced, copied, circulated and/or distributed nor quoted without prior written approval from Atos.</a:t>
            </a:r>
            <a:endParaRPr lang="en-US" sz="800" baseline="0">
              <a:solidFill>
                <a:schemeClr val="accent3"/>
              </a:solidFill>
              <a:latin typeface="+mn-lt"/>
              <a:ea typeface="Verdana" panose="020B0604030504040204" pitchFamily="34" charset="0"/>
              <a:cs typeface="Verdana" panose="020B0604030504040204" pitchFamily="34" charset="0"/>
            </a:endParaRPr>
          </a:p>
        </p:txBody>
      </p:sp>
      <p:sp>
        <p:nvSpPr>
          <p:cNvPr id="4" name="Text Placeholder 12"/>
          <p:cNvSpPr>
            <a:spLocks noGrp="1"/>
          </p:cNvSpPr>
          <p:nvPr>
            <p:ph type="body" sz="quarter" idx="11" hasCustomPrompt="1"/>
          </p:nvPr>
        </p:nvSpPr>
        <p:spPr>
          <a:xfrm>
            <a:off x="428625" y="6316314"/>
            <a:ext cx="2560320" cy="92333"/>
          </a:xfrm>
        </p:spPr>
        <p:txBody>
          <a:bodyPr wrap="none" anchor="ctr">
            <a:noAutofit/>
          </a:bodyPr>
          <a:lstStyle>
            <a:lvl1pPr marL="0" indent="0">
              <a:spcAft>
                <a:spcPts val="0"/>
              </a:spcAft>
              <a:buNone/>
              <a:defRPr sz="600">
                <a:solidFill>
                  <a:schemeClr val="accent3"/>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Job Number-Designer-BP</a:t>
            </a:r>
          </a:p>
        </p:txBody>
      </p:sp>
      <p:sp>
        <p:nvSpPr>
          <p:cNvPr id="2" name="AddCustomFooter#1"/>
          <p:cNvSpPr txBox="1"/>
          <p:nvPr userDrawn="1"/>
        </p:nvSpPr>
        <p:spPr bwMode="gray">
          <a:xfrm>
            <a:off x="5884404" y="6391780"/>
            <a:ext cx="423193"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274320" algn="l"/>
                <a:tab pos="411480" algn="l"/>
              </a:tabLst>
              <a:defRPr/>
            </a:pPr>
            <a:r>
              <a:rPr kumimoji="0" lang="en-US" sz="1000" b="0" i="0" u="none" strike="noStrike" kern="1200" cap="none" spc="0" normalizeH="0" baseline="0" noProof="0">
                <a:ln>
                  <a:noFill/>
                </a:ln>
                <a:solidFill>
                  <a:schemeClr val="accent3"/>
                </a:solidFill>
                <a:effectLst/>
                <a:uLnTx/>
                <a:uFillTx/>
                <a:latin typeface="+mn-lt"/>
                <a:ea typeface="Verdana" panose="020B0604030504040204" pitchFamily="34" charset="0"/>
                <a:cs typeface="Verdana" panose="020B0604030504040204" pitchFamily="34" charset="0"/>
              </a:rPr>
              <a:t>© Atos </a:t>
            </a:r>
            <a:endParaRPr lang="nl-NL" sz="900" baseline="0">
              <a:solidFill>
                <a:schemeClr val="accent3"/>
              </a:solidFill>
              <a:latin typeface="+mn-lt"/>
              <a:ea typeface="Verdana" panose="020B0604030504040204" pitchFamily="34" charset="0"/>
              <a:cs typeface="Verdana" panose="020B0604030504040204" pitchFamily="34" charset="0"/>
            </a:endParaRPr>
          </a:p>
        </p:txBody>
      </p:sp>
      <p:sp>
        <p:nvSpPr>
          <p:cNvPr id="5" name="Graphique 10" descr="Atos logo"/>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Agenda 1">
    <p:spTree>
      <p:nvGrpSpPr>
        <p:cNvPr id="1" name=""/>
        <p:cNvGrpSpPr/>
        <p:nvPr/>
      </p:nvGrpSpPr>
      <p:grpSpPr>
        <a:xfrm>
          <a:off x="0" y="0"/>
          <a:ext cx="0" cy="0"/>
          <a:chOff x="0" y="0"/>
          <a:chExt cx="0" cy="0"/>
        </a:xfrm>
      </p:grpSpPr>
      <p:pic>
        <p:nvPicPr>
          <p:cNvPr id="14" name="Graphic 13"/>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1117917" y="1285493"/>
            <a:ext cx="1545853" cy="1545853"/>
          </a:xfrm>
          <a:prstGeom prst="rect">
            <a:avLst/>
          </a:prstGeom>
        </p:spPr>
      </p:pic>
      <p:sp>
        <p:nvSpPr>
          <p:cNvPr id="15" name="Text Placeholder 6"/>
          <p:cNvSpPr>
            <a:spLocks noGrp="1"/>
          </p:cNvSpPr>
          <p:nvPr>
            <p:ph type="body" sz="quarter" idx="10" hasCustomPrompt="1"/>
          </p:nvPr>
        </p:nvSpPr>
        <p:spPr>
          <a:xfrm>
            <a:off x="2954745" y="1446367"/>
            <a:ext cx="343043"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01</a:t>
            </a:r>
          </a:p>
        </p:txBody>
      </p:sp>
      <p:sp>
        <p:nvSpPr>
          <p:cNvPr id="16" name="Text Placeholder 6"/>
          <p:cNvSpPr>
            <a:spLocks noGrp="1"/>
          </p:cNvSpPr>
          <p:nvPr>
            <p:ph type="body" sz="quarter" idx="11" hasCustomPrompt="1"/>
          </p:nvPr>
        </p:nvSpPr>
        <p:spPr>
          <a:xfrm>
            <a:off x="3674348" y="1446367"/>
            <a:ext cx="7521210" cy="822960"/>
          </a:xfrm>
        </p:spPr>
        <p:txBody>
          <a:bodyPr wrap="none">
            <a:noAutofit/>
          </a:bodyPr>
          <a:lstStyle>
            <a:lvl1pPr marL="0" indent="0">
              <a:spcAft>
                <a:spcPts val="0"/>
              </a:spcAft>
              <a:buNone/>
              <a:defRPr sz="2400">
                <a:solidFill>
                  <a:schemeClr val="accent3"/>
                </a:solidFill>
                <a:latin typeface="Biennale Medium"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a:t>
            </a:r>
          </a:p>
        </p:txBody>
      </p:sp>
      <p:sp>
        <p:nvSpPr>
          <p:cNvPr id="17" name="Text Placeholder 6"/>
          <p:cNvSpPr>
            <a:spLocks noGrp="1"/>
          </p:cNvSpPr>
          <p:nvPr>
            <p:ph type="body" sz="quarter" idx="12" hasCustomPrompt="1"/>
          </p:nvPr>
        </p:nvSpPr>
        <p:spPr>
          <a:xfrm>
            <a:off x="11406268" y="1446367"/>
            <a:ext cx="355867" cy="307777"/>
          </a:xfrm>
        </p:spPr>
        <p:txBody>
          <a:bodyPr wrap="none">
            <a:spAutoFit/>
          </a:bodyPr>
          <a:lstStyle>
            <a:lvl1pPr marL="0" indent="0" algn="r">
              <a:spcAft>
                <a:spcPts val="0"/>
              </a:spcAft>
              <a:buNone/>
              <a:defRPr sz="2000">
                <a:solidFill>
                  <a:schemeClr val="accent3"/>
                </a:solidFill>
                <a:latin typeface="Biennale Medium"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00</a:t>
            </a:r>
          </a:p>
        </p:txBody>
      </p:sp>
      <p:sp>
        <p:nvSpPr>
          <p:cNvPr id="21" name="Text Placeholder 6"/>
          <p:cNvSpPr>
            <a:spLocks noGrp="1"/>
          </p:cNvSpPr>
          <p:nvPr>
            <p:ph type="body" sz="quarter" idx="16" hasCustomPrompt="1"/>
          </p:nvPr>
        </p:nvSpPr>
        <p:spPr>
          <a:xfrm>
            <a:off x="2954745" y="2713569"/>
            <a:ext cx="395942"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02</a:t>
            </a:r>
          </a:p>
        </p:txBody>
      </p:sp>
      <p:sp>
        <p:nvSpPr>
          <p:cNvPr id="22" name="Text Placeholder 6"/>
          <p:cNvSpPr>
            <a:spLocks noGrp="1"/>
          </p:cNvSpPr>
          <p:nvPr>
            <p:ph type="body" sz="quarter" idx="17" hasCustomPrompt="1"/>
          </p:nvPr>
        </p:nvSpPr>
        <p:spPr>
          <a:xfrm>
            <a:off x="3674348" y="2713569"/>
            <a:ext cx="7521210" cy="822960"/>
          </a:xfrm>
        </p:spPr>
        <p:txBody>
          <a:bodyPr wrap="none">
            <a:noAutofit/>
          </a:bodyPr>
          <a:lstStyle>
            <a:lvl1pPr marL="0" indent="0">
              <a:spcAft>
                <a:spcPts val="0"/>
              </a:spcAft>
              <a:buNone/>
              <a:defRPr sz="2400">
                <a:solidFill>
                  <a:schemeClr val="accent3"/>
                </a:solidFill>
                <a:latin typeface="Biennale Medium"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a:t>
            </a:r>
          </a:p>
        </p:txBody>
      </p:sp>
      <p:sp>
        <p:nvSpPr>
          <p:cNvPr id="23" name="Text Placeholder 6"/>
          <p:cNvSpPr>
            <a:spLocks noGrp="1"/>
          </p:cNvSpPr>
          <p:nvPr>
            <p:ph type="body" sz="quarter" idx="18" hasCustomPrompt="1"/>
          </p:nvPr>
        </p:nvSpPr>
        <p:spPr>
          <a:xfrm>
            <a:off x="11406268" y="2713569"/>
            <a:ext cx="355867" cy="307777"/>
          </a:xfrm>
        </p:spPr>
        <p:txBody>
          <a:bodyPr wrap="none">
            <a:spAutoFit/>
          </a:bodyPr>
          <a:lstStyle>
            <a:lvl1pPr marL="0" indent="0" algn="r">
              <a:spcAft>
                <a:spcPts val="0"/>
              </a:spcAft>
              <a:buNone/>
              <a:defRPr sz="2000">
                <a:solidFill>
                  <a:schemeClr val="accent3"/>
                </a:solidFill>
                <a:latin typeface="Biennale Medium"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00</a:t>
            </a:r>
          </a:p>
        </p:txBody>
      </p:sp>
      <p:sp>
        <p:nvSpPr>
          <p:cNvPr id="27" name="Text Placeholder 6"/>
          <p:cNvSpPr>
            <a:spLocks noGrp="1"/>
          </p:cNvSpPr>
          <p:nvPr>
            <p:ph type="body" sz="quarter" idx="22" hasCustomPrompt="1"/>
          </p:nvPr>
        </p:nvSpPr>
        <p:spPr>
          <a:xfrm>
            <a:off x="2954745" y="3980771"/>
            <a:ext cx="397545"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03</a:t>
            </a:r>
          </a:p>
        </p:txBody>
      </p:sp>
      <p:sp>
        <p:nvSpPr>
          <p:cNvPr id="28" name="Text Placeholder 6"/>
          <p:cNvSpPr>
            <a:spLocks noGrp="1"/>
          </p:cNvSpPr>
          <p:nvPr>
            <p:ph type="body" sz="quarter" idx="23" hasCustomPrompt="1"/>
          </p:nvPr>
        </p:nvSpPr>
        <p:spPr>
          <a:xfrm>
            <a:off x="3674348" y="3980771"/>
            <a:ext cx="7521210" cy="822960"/>
          </a:xfrm>
        </p:spPr>
        <p:txBody>
          <a:bodyPr wrap="none">
            <a:noAutofit/>
          </a:bodyPr>
          <a:lstStyle>
            <a:lvl1pPr marL="0" indent="0">
              <a:spcAft>
                <a:spcPts val="0"/>
              </a:spcAft>
              <a:buNone/>
              <a:defRPr sz="2400">
                <a:solidFill>
                  <a:schemeClr val="accent3"/>
                </a:solidFill>
                <a:latin typeface="Biennale Medium"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a:t>
            </a:r>
          </a:p>
        </p:txBody>
      </p:sp>
      <p:sp>
        <p:nvSpPr>
          <p:cNvPr id="29" name="Text Placeholder 6"/>
          <p:cNvSpPr>
            <a:spLocks noGrp="1"/>
          </p:cNvSpPr>
          <p:nvPr>
            <p:ph type="body" sz="quarter" idx="24" hasCustomPrompt="1"/>
          </p:nvPr>
        </p:nvSpPr>
        <p:spPr>
          <a:xfrm>
            <a:off x="11406268" y="3980771"/>
            <a:ext cx="355867" cy="307777"/>
          </a:xfrm>
        </p:spPr>
        <p:txBody>
          <a:bodyPr wrap="none">
            <a:spAutoFit/>
          </a:bodyPr>
          <a:lstStyle>
            <a:lvl1pPr marL="0" indent="0" algn="r">
              <a:spcAft>
                <a:spcPts val="0"/>
              </a:spcAft>
              <a:buNone/>
              <a:defRPr sz="2000">
                <a:solidFill>
                  <a:schemeClr val="accent3"/>
                </a:solidFill>
                <a:latin typeface="Biennale Medium"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00</a:t>
            </a:r>
          </a:p>
        </p:txBody>
      </p:sp>
      <p:sp>
        <p:nvSpPr>
          <p:cNvPr id="30" name="Text Placeholder 6"/>
          <p:cNvSpPr>
            <a:spLocks noGrp="1"/>
          </p:cNvSpPr>
          <p:nvPr>
            <p:ph type="body" sz="quarter" idx="25" hasCustomPrompt="1"/>
          </p:nvPr>
        </p:nvSpPr>
        <p:spPr>
          <a:xfrm>
            <a:off x="2954745" y="5247973"/>
            <a:ext cx="403957"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04</a:t>
            </a:r>
          </a:p>
        </p:txBody>
      </p:sp>
      <p:sp>
        <p:nvSpPr>
          <p:cNvPr id="31" name="Text Placeholder 6"/>
          <p:cNvSpPr>
            <a:spLocks noGrp="1"/>
          </p:cNvSpPr>
          <p:nvPr>
            <p:ph type="body" sz="quarter" idx="26" hasCustomPrompt="1"/>
          </p:nvPr>
        </p:nvSpPr>
        <p:spPr>
          <a:xfrm>
            <a:off x="3674348" y="5247973"/>
            <a:ext cx="7521210" cy="822960"/>
          </a:xfrm>
        </p:spPr>
        <p:txBody>
          <a:bodyPr wrap="none">
            <a:noAutofit/>
          </a:bodyPr>
          <a:lstStyle>
            <a:lvl1pPr marL="0" indent="0">
              <a:spcAft>
                <a:spcPts val="0"/>
              </a:spcAft>
              <a:buNone/>
              <a:defRPr sz="2400">
                <a:solidFill>
                  <a:schemeClr val="accent3"/>
                </a:solidFill>
                <a:latin typeface="Biennale Medium"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a:t>
            </a:r>
          </a:p>
        </p:txBody>
      </p:sp>
      <p:sp>
        <p:nvSpPr>
          <p:cNvPr id="32" name="Text Placeholder 6"/>
          <p:cNvSpPr>
            <a:spLocks noGrp="1"/>
          </p:cNvSpPr>
          <p:nvPr>
            <p:ph type="body" sz="quarter" idx="27" hasCustomPrompt="1"/>
          </p:nvPr>
        </p:nvSpPr>
        <p:spPr>
          <a:xfrm>
            <a:off x="11406268" y="5247973"/>
            <a:ext cx="355867" cy="307777"/>
          </a:xfrm>
        </p:spPr>
        <p:txBody>
          <a:bodyPr wrap="none">
            <a:spAutoFit/>
          </a:bodyPr>
          <a:lstStyle>
            <a:lvl1pPr marL="0" indent="0" algn="r">
              <a:spcAft>
                <a:spcPts val="0"/>
              </a:spcAft>
              <a:buNone/>
              <a:defRPr sz="2000">
                <a:solidFill>
                  <a:schemeClr val="accent3"/>
                </a:solidFill>
                <a:latin typeface="Biennale Medium"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00</a:t>
            </a:r>
          </a:p>
        </p:txBody>
      </p:sp>
      <p:sp>
        <p:nvSpPr>
          <p:cNvPr id="2" name="Title 1"/>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a:t>Contents</a:t>
            </a:r>
          </a:p>
        </p:txBody>
      </p:sp>
      <p:sp>
        <p:nvSpPr>
          <p:cNvPr id="4" name="Slide Number Placeholder 5"/>
          <p:cNvSpPr>
            <a:spLocks noGrp="1"/>
          </p:cNvSpPr>
          <p:nvPr>
            <p:ph type="sldNum" sz="quarter" idx="4"/>
          </p:nvPr>
        </p:nvSpPr>
        <p:spPr>
          <a:xfrm>
            <a:off x="428625" y="6507907"/>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anose="020B0604030504040204" pitchFamily="34" charset="0"/>
                <a:cs typeface="Raleway Medium" pitchFamily="2" charset="0"/>
              </a:defRPr>
            </a:lvl1pPr>
          </a:lstStyle>
          <a:p>
            <a:fld id="{DAF489CC-3B7A-4DA5-A8C0-4984788D0EC5}" type="slidenum">
              <a:rPr lang="nl-NL" smtClean="0"/>
              <a:t>‹#›</a:t>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notesSlide" Target="../notesSlides/notesSlide8.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slideLayout" Target="../slideLayouts/slideLayout12.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tags" Target="../tags/tag42.xml"/><Relationship Id="rId3" Type="http://schemas.openxmlformats.org/officeDocument/2006/relationships/tags" Target="../tags/tag27.xml"/><Relationship Id="rId21" Type="http://schemas.openxmlformats.org/officeDocument/2006/relationships/tags" Target="../tags/tag45.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tags" Target="../tags/tag41.xml"/><Relationship Id="rId2" Type="http://schemas.openxmlformats.org/officeDocument/2006/relationships/tags" Target="../tags/tag26.xml"/><Relationship Id="rId16" Type="http://schemas.openxmlformats.org/officeDocument/2006/relationships/tags" Target="../tags/tag40.xml"/><Relationship Id="rId20" Type="http://schemas.openxmlformats.org/officeDocument/2006/relationships/tags" Target="../tags/tag44.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24" Type="http://schemas.openxmlformats.org/officeDocument/2006/relationships/image" Target="../media/image8.png"/><Relationship Id="rId5" Type="http://schemas.openxmlformats.org/officeDocument/2006/relationships/tags" Target="../tags/tag29.xml"/><Relationship Id="rId15" Type="http://schemas.openxmlformats.org/officeDocument/2006/relationships/tags" Target="../tags/tag39.xml"/><Relationship Id="rId23" Type="http://schemas.openxmlformats.org/officeDocument/2006/relationships/notesSlide" Target="../notesSlides/notesSlide12.xml"/><Relationship Id="rId10" Type="http://schemas.openxmlformats.org/officeDocument/2006/relationships/tags" Target="../tags/tag34.xml"/><Relationship Id="rId19" Type="http://schemas.openxmlformats.org/officeDocument/2006/relationships/tags" Target="../tags/tag43.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 Id="rId22"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hyperlink" Target="https://gcnee6tp38nw.feishu.cn/file/Kt65bGtHSoVL1UxzIlQc7Rbqnwh" TargetMode="Externa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19100" y="6388100"/>
            <a:ext cx="2540000" cy="228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83000"/>
              </a:lnSpc>
              <a:defRPr/>
            </a:pPr>
            <a:r>
              <a:rPr lang="en-US" sz="1000" b="0" i="0" u="none" strike="noStrike">
                <a:solidFill>
                  <a:srgbClr val="00005C"/>
                </a:solidFill>
                <a:latin typeface="Biennale"/>
                <a:ea typeface="Biennale"/>
                <a:cs typeface="Biennale"/>
                <a:sym typeface="Biennale"/>
              </a:rPr>
              <a:t>© Atos Group</a:t>
            </a:r>
            <a:endParaRPr lang="en-US" sz="1100"/>
          </a:p>
        </p:txBody>
      </p:sp>
      <p:sp>
        <p:nvSpPr>
          <p:cNvPr id="3" name="AutoShape 3"/>
          <p:cNvSpPr/>
          <p:nvPr/>
        </p:nvSpPr>
        <p:spPr>
          <a:xfrm>
            <a:off x="419100" y="1841500"/>
            <a:ext cx="5715000" cy="1587500"/>
          </a:xfrm>
          <a:prstGeom prst="roundRect">
            <a:avLst>
              <a:gd name="adj" fmla="val 0"/>
            </a:avLst>
          </a:prstGeom>
          <a:noFill/>
          <a:ln w="25400" cap="flat" cmpd="sng">
            <a:noFill/>
            <a:prstDash val="solid"/>
            <a:round/>
          </a:ln>
        </p:spPr>
        <p:txBody>
          <a:bodyPr vert="horz" wrap="square" lIns="0" tIns="0" rIns="0" bIns="0" rtlCol="0" anchor="t" anchorCtr="0"/>
          <a:lstStyle/>
          <a:p>
            <a:pPr marL="0" algn="l" defTabSz="914400">
              <a:lnSpc>
                <a:spcPct val="100000"/>
              </a:lnSpc>
              <a:spcAft>
                <a:spcPts val="300"/>
              </a:spcAft>
              <a:buClrTx/>
              <a:buSzTx/>
              <a:buFontTx/>
            </a:pPr>
            <a:r>
              <a:rPr lang="zh-CN" altLang="en-US" sz="4800" kern="1200" dirty="0">
                <a:solidFill>
                  <a:schemeClr val="accent1"/>
                </a:solidFill>
                <a:latin typeface="微软雅黑" panose="020B0503020204020204" pitchFamily="34" charset="-122"/>
                <a:ea typeface="微软雅黑" panose="020B0503020204020204" pitchFamily="34" charset="-122"/>
                <a:cs typeface="+mn-cs"/>
              </a:rPr>
              <a:t>研发费用管理</a:t>
            </a:r>
          </a:p>
          <a:p>
            <a:pPr marL="0" algn="l" defTabSz="914400">
              <a:lnSpc>
                <a:spcPct val="100000"/>
              </a:lnSpc>
              <a:spcAft>
                <a:spcPts val="300"/>
              </a:spcAft>
              <a:buClrTx/>
              <a:buSzTx/>
              <a:buFontTx/>
            </a:pPr>
            <a:r>
              <a:rPr lang="zh-CN" altLang="en-US" sz="4800" kern="1200" dirty="0">
                <a:solidFill>
                  <a:schemeClr val="accent1"/>
                </a:solidFill>
                <a:latin typeface="微软雅黑" panose="020B0503020204020204" pitchFamily="34" charset="-122"/>
                <a:ea typeface="微软雅黑" panose="020B0503020204020204" pitchFamily="34" charset="-122"/>
                <a:cs typeface="+mn-cs"/>
              </a:rPr>
              <a:t>解决方案</a:t>
            </a:r>
          </a:p>
        </p:txBody>
      </p:sp>
      <p:sp>
        <p:nvSpPr>
          <p:cNvPr id="4" name="AutoShape 4"/>
          <p:cNvSpPr/>
          <p:nvPr/>
        </p:nvSpPr>
        <p:spPr>
          <a:xfrm>
            <a:off x="419100" y="3530600"/>
            <a:ext cx="5715000" cy="635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ctr">
              <a:lnSpc>
                <a:spcPct val="100000"/>
              </a:lnSpc>
              <a:spcAft>
                <a:spcPts val="600"/>
              </a:spcAft>
              <a:defRPr/>
            </a:pPr>
            <a:endParaRPr lang="en-US" sz="1100" dirty="0"/>
          </a:p>
        </p:txBody>
      </p:sp>
      <p:sp>
        <p:nvSpPr>
          <p:cNvPr id="6" name="AutoShape 6"/>
          <p:cNvSpPr/>
          <p:nvPr/>
        </p:nvSpPr>
        <p:spPr>
          <a:xfrm>
            <a:off x="-735330" y="5776595"/>
            <a:ext cx="3657600" cy="635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ctr">
              <a:lnSpc>
                <a:spcPct val="100000"/>
              </a:lnSpc>
              <a:defRPr/>
            </a:pPr>
            <a:r>
              <a:rPr lang="en-US" sz="1800" b="0" i="0" u="none" strike="noStrike" spc="200" dirty="0">
                <a:solidFill>
                  <a:srgbClr val="00005C">
                    <a:alpha val="90196"/>
                  </a:srgbClr>
                </a:solidFill>
                <a:latin typeface="Biennale"/>
                <a:ea typeface="Biennale"/>
                <a:cs typeface="Biennale"/>
                <a:sym typeface="Biennale"/>
              </a:rPr>
              <a:t>2026.07.26</a:t>
            </a:r>
            <a:endParaRPr lang="en-US" sz="1100" dirty="0"/>
          </a:p>
        </p:txBody>
      </p:sp>
      <p:pic>
        <p:nvPicPr>
          <p:cNvPr id="7" name="Picture 7"/>
          <p:cNvPicPr>
            <a:picLocks noChangeAspect="1"/>
          </p:cNvPicPr>
          <p:nvPr/>
        </p:nvPicPr>
        <p:blipFill>
          <a:blip r:embed="rId3"/>
          <a:srcRect l="133" r="133"/>
          <a:stretch>
            <a:fillRect/>
          </a:stretch>
        </p:blipFill>
        <p:spPr>
          <a:xfrm>
            <a:off x="6096000" y="0"/>
            <a:ext cx="6096000" cy="6858000"/>
          </a:xfrm>
          <a:prstGeom prst="rect">
            <a:avLst/>
          </a:prstGeom>
          <a:noFill/>
          <a:ln w="25400" cap="flat" cmpd="sng">
            <a:noFill/>
            <a:prstDash val="solid"/>
            <a:round/>
          </a:ln>
        </p:spPr>
      </p:pic>
      <p:pic>
        <p:nvPicPr>
          <p:cNvPr id="8" name="Picture 8"/>
          <p:cNvPicPr>
            <a:picLocks noChangeAspect="1"/>
          </p:cNvPicPr>
          <p:nvPr/>
        </p:nvPicPr>
        <p:blipFill>
          <a:blip r:embed="rId4"/>
          <a:srcRect/>
          <a:stretch>
            <a:fillRect/>
          </a:stretch>
        </p:blipFill>
        <p:spPr>
          <a:xfrm>
            <a:off x="419100" y="342900"/>
            <a:ext cx="1930400" cy="381000"/>
          </a:xfrm>
          <a:prstGeom prst="rect">
            <a:avLst/>
          </a:prstGeom>
          <a:noFill/>
          <a:ln w="25400" cap="flat" cmpd="sng">
            <a:noFill/>
            <a:prstDash val="solid"/>
            <a:round/>
          </a:ln>
        </p:spPr>
      </p:pic>
      <p:sp>
        <p:nvSpPr>
          <p:cNvPr id="9" name="文本占位符 1"/>
          <p:cNvSpPr>
            <a:spLocks noGrp="1"/>
          </p:cNvSpPr>
          <p:nvPr/>
        </p:nvSpPr>
        <p:spPr>
          <a:xfrm>
            <a:off x="423068" y="4077251"/>
            <a:ext cx="5486400" cy="112188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3600" kern="1200">
                <a:solidFill>
                  <a:schemeClr val="accent3"/>
                </a:solidFill>
                <a:latin typeface="+mj-lt"/>
                <a:ea typeface="+mn-ea"/>
                <a:cs typeface="+mn-cs"/>
              </a:defRPr>
            </a:lvl1pPr>
            <a:lvl2pPr marL="2286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3200" kern="1200">
                <a:solidFill>
                  <a:srgbClr val="3DC7FF"/>
                </a:solidFill>
                <a:latin typeface="+mj-lt"/>
                <a:ea typeface="+mn-ea"/>
                <a:cs typeface="+mn-cs"/>
              </a:defRPr>
            </a:lvl2pPr>
            <a:lvl3pPr marL="4572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3200" kern="1200">
                <a:solidFill>
                  <a:srgbClr val="3DC7FF"/>
                </a:solidFill>
                <a:latin typeface="+mj-lt"/>
                <a:ea typeface="+mn-ea"/>
                <a:cs typeface="+mn-cs"/>
              </a:defRPr>
            </a:lvl3pPr>
            <a:lvl4pPr marL="6858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3200" kern="1200">
                <a:solidFill>
                  <a:srgbClr val="3DC7FF"/>
                </a:solidFill>
                <a:latin typeface="+mj-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3200" kern="1200">
                <a:solidFill>
                  <a:srgbClr val="3DC7FF"/>
                </a:solidFill>
                <a:latin typeface="+mj-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003366"/>
                </a:solidFill>
                <a:latin typeface="微软雅黑" panose="020B0503020204020204" pitchFamily="34" charset="-122"/>
                <a:ea typeface="微软雅黑" panose="020B0503020204020204" pitchFamily="34" charset="-122"/>
              </a:rPr>
              <a:t>业务诊断咨询及</a:t>
            </a:r>
            <a:r>
              <a:rPr lang="en-US" altLang="zh-CN" dirty="0">
                <a:solidFill>
                  <a:srgbClr val="003366"/>
                </a:solidFill>
                <a:latin typeface="微软雅黑" panose="020B0503020204020204" pitchFamily="34" charset="-122"/>
                <a:ea typeface="微软雅黑" panose="020B0503020204020204" pitchFamily="34" charset="-122"/>
              </a:rPr>
              <a:t>SAP</a:t>
            </a:r>
            <a:r>
              <a:rPr lang="zh-CN" altLang="en-US" dirty="0">
                <a:solidFill>
                  <a:srgbClr val="003366"/>
                </a:solidFill>
                <a:latin typeface="微软雅黑" panose="020B0503020204020204" pitchFamily="34" charset="-122"/>
                <a:ea typeface="微软雅黑" panose="020B0503020204020204" pitchFamily="34" charset="-122"/>
              </a:rPr>
              <a:t>系统升级实施项目</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a:xfrm>
            <a:off x="2954745" y="1446367"/>
            <a:ext cx="310983" cy="369332"/>
          </a:xfrm>
        </p:spPr>
        <p:txBody>
          <a:bodyPr/>
          <a:lstStyle/>
          <a:p>
            <a:r>
              <a:rPr lang="en-US" altLang="zh-CN" dirty="0"/>
              <a:t>01</a:t>
            </a:r>
            <a:endParaRPr lang="zh-CN" altLang="en-US" dirty="0"/>
          </a:p>
        </p:txBody>
      </p:sp>
      <p:sp>
        <p:nvSpPr>
          <p:cNvPr id="11" name="文本占位符 10"/>
          <p:cNvSpPr>
            <a:spLocks noGrp="1"/>
          </p:cNvSpPr>
          <p:nvPr>
            <p:ph type="body" sz="quarter" idx="11"/>
          </p:nvPr>
        </p:nvSpPr>
        <p:spPr/>
        <p:txBody>
          <a:bodyPr/>
          <a:lstStyle/>
          <a:p>
            <a:r>
              <a:rPr lang="zh-CN" altLang="en-US" dirty="0">
                <a:solidFill>
                  <a:srgbClr val="003366"/>
                </a:solidFill>
              </a:rPr>
              <a:t>专项方案概述</a:t>
            </a:r>
          </a:p>
        </p:txBody>
      </p:sp>
      <p:sp>
        <p:nvSpPr>
          <p:cNvPr id="13" name="文本占位符 12"/>
          <p:cNvSpPr>
            <a:spLocks noGrp="1"/>
          </p:cNvSpPr>
          <p:nvPr>
            <p:ph type="body" sz="quarter" idx="16"/>
          </p:nvPr>
        </p:nvSpPr>
        <p:spPr>
          <a:xfrm>
            <a:off x="2954745" y="2713569"/>
            <a:ext cx="310983" cy="369332"/>
          </a:xfrm>
        </p:spPr>
        <p:txBody>
          <a:bodyPr/>
          <a:lstStyle/>
          <a:p>
            <a:r>
              <a:rPr lang="en-US" altLang="zh-CN" dirty="0"/>
              <a:t>02</a:t>
            </a:r>
            <a:endParaRPr lang="zh-CN" altLang="en-US" dirty="0"/>
          </a:p>
        </p:txBody>
      </p:sp>
      <p:sp>
        <p:nvSpPr>
          <p:cNvPr id="14" name="文本占位符 13"/>
          <p:cNvSpPr>
            <a:spLocks noGrp="1"/>
          </p:cNvSpPr>
          <p:nvPr>
            <p:ph type="body" sz="quarter" idx="17"/>
          </p:nvPr>
        </p:nvSpPr>
        <p:spPr/>
        <p:txBody>
          <a:bodyPr/>
          <a:lstStyle/>
          <a:p>
            <a:r>
              <a:rPr lang="zh-CN" altLang="en-US" dirty="0">
                <a:solidFill>
                  <a:srgbClr val="003366"/>
                </a:solidFill>
              </a:rPr>
              <a:t>方案详解及系统实现</a:t>
            </a:r>
          </a:p>
        </p:txBody>
      </p:sp>
      <p:sp>
        <p:nvSpPr>
          <p:cNvPr id="16" name="文本占位符 15"/>
          <p:cNvSpPr>
            <a:spLocks noGrp="1"/>
          </p:cNvSpPr>
          <p:nvPr>
            <p:ph type="body" sz="quarter" idx="22"/>
          </p:nvPr>
        </p:nvSpPr>
        <p:spPr>
          <a:xfrm>
            <a:off x="2954745" y="3980771"/>
            <a:ext cx="310983" cy="369332"/>
          </a:xfrm>
        </p:spPr>
        <p:txBody>
          <a:bodyPr/>
          <a:lstStyle/>
          <a:p>
            <a:r>
              <a:rPr lang="en-US" altLang="zh-CN" dirty="0"/>
              <a:t>03</a:t>
            </a:r>
            <a:endParaRPr lang="zh-CN" altLang="en-US" dirty="0"/>
          </a:p>
        </p:txBody>
      </p:sp>
      <p:sp>
        <p:nvSpPr>
          <p:cNvPr id="17" name="文本占位符 16"/>
          <p:cNvSpPr>
            <a:spLocks noGrp="1"/>
          </p:cNvSpPr>
          <p:nvPr>
            <p:ph type="body" sz="quarter" idx="23"/>
          </p:nvPr>
        </p:nvSpPr>
        <p:spPr/>
        <p:txBody>
          <a:bodyPr/>
          <a:lstStyle/>
          <a:p>
            <a:r>
              <a:rPr lang="zh-CN" altLang="en-US" dirty="0">
                <a:solidFill>
                  <a:srgbClr val="003366"/>
                </a:solidFill>
              </a:rPr>
              <a:t>配套行动计划</a:t>
            </a:r>
          </a:p>
        </p:txBody>
      </p:sp>
      <p:sp>
        <p:nvSpPr>
          <p:cNvPr id="19" name="文本占位符 18"/>
          <p:cNvSpPr>
            <a:spLocks noGrp="1"/>
          </p:cNvSpPr>
          <p:nvPr>
            <p:ph type="body" sz="quarter" idx="25"/>
          </p:nvPr>
        </p:nvSpPr>
        <p:spPr>
          <a:xfrm>
            <a:off x="2954745" y="5247973"/>
            <a:ext cx="310983" cy="369332"/>
          </a:xfrm>
        </p:spPr>
        <p:txBody>
          <a:bodyPr/>
          <a:lstStyle/>
          <a:p>
            <a:r>
              <a:rPr lang="en-US" altLang="zh-CN" dirty="0"/>
              <a:t>04</a:t>
            </a:r>
            <a:endParaRPr lang="zh-CN" altLang="en-US" dirty="0"/>
          </a:p>
        </p:txBody>
      </p:sp>
      <p:sp>
        <p:nvSpPr>
          <p:cNvPr id="20" name="文本占位符 19"/>
          <p:cNvSpPr>
            <a:spLocks noGrp="1"/>
          </p:cNvSpPr>
          <p:nvPr>
            <p:ph type="body" sz="quarter" idx="26"/>
          </p:nvPr>
        </p:nvSpPr>
        <p:spPr/>
        <p:txBody>
          <a:bodyPr/>
          <a:lstStyle/>
          <a:p>
            <a:r>
              <a:rPr lang="zh-CN" altLang="en-US" dirty="0">
                <a:solidFill>
                  <a:srgbClr val="003366"/>
                </a:solidFill>
              </a:rPr>
              <a:t>附录：相关文档及原始数据</a:t>
            </a:r>
          </a:p>
        </p:txBody>
      </p:sp>
      <p:sp>
        <p:nvSpPr>
          <p:cNvPr id="9" name="Title 8"/>
          <p:cNvSpPr>
            <a:spLocks noGrp="1"/>
          </p:cNvSpPr>
          <p:nvPr>
            <p:ph type="title"/>
          </p:nvPr>
        </p:nvSpPr>
        <p:spPr/>
        <p:txBody>
          <a:bodyPr/>
          <a:lstStyle/>
          <a:p>
            <a:r>
              <a:rPr lang="zh-CN" altLang="en-US" b="1" dirty="0">
                <a:solidFill>
                  <a:srgbClr val="003366"/>
                </a:solidFill>
              </a:rPr>
              <a:t>目录</a:t>
            </a:r>
          </a:p>
        </p:txBody>
      </p:sp>
      <p:pic>
        <p:nvPicPr>
          <p:cNvPr id="22" name="图片 21"/>
          <p:cNvPicPr>
            <a:picLocks noChangeAspect="1"/>
          </p:cNvPicPr>
          <p:nvPr/>
        </p:nvPicPr>
        <p:blipFill>
          <a:blip r:embed="rId3"/>
          <a:stretch>
            <a:fillRect/>
          </a:stretch>
        </p:blipFill>
        <p:spPr>
          <a:xfrm>
            <a:off x="10160455" y="100951"/>
            <a:ext cx="1930400" cy="381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0098" y="389618"/>
            <a:ext cx="9231630" cy="9326880"/>
          </a:xfrm>
        </p:spPr>
        <p:txBody>
          <a:bodyPr/>
          <a:lstStyle/>
          <a:p>
            <a:r>
              <a:rPr lang="en-US" altLang="zh-CN" dirty="0">
                <a:solidFill>
                  <a:schemeClr val="tx1"/>
                </a:solidFill>
              </a:rPr>
              <a:t>01</a:t>
            </a:r>
            <a:endParaRPr lang="zh-CN" altLang="en-US" dirty="0">
              <a:solidFill>
                <a:schemeClr val="tx1"/>
              </a:solidFill>
            </a:endParaRPr>
          </a:p>
        </p:txBody>
      </p:sp>
      <p:sp>
        <p:nvSpPr>
          <p:cNvPr id="3" name="Title 2"/>
          <p:cNvSpPr>
            <a:spLocks noGrp="1"/>
          </p:cNvSpPr>
          <p:nvPr>
            <p:ph type="title"/>
          </p:nvPr>
        </p:nvSpPr>
        <p:spPr/>
        <p:txBody>
          <a:bodyPr/>
          <a:lstStyle/>
          <a:p>
            <a:r>
              <a:rPr lang="zh-CN" altLang="en-US" dirty="0">
                <a:solidFill>
                  <a:schemeClr val="accent1">
                    <a:lumMod val="75000"/>
                  </a:schemeClr>
                </a:solidFill>
              </a:rPr>
              <a:t>研发费用管理方案概述</a:t>
            </a:r>
          </a:p>
        </p:txBody>
      </p:sp>
      <p:pic>
        <p:nvPicPr>
          <p:cNvPr id="4" name="图片 3"/>
          <p:cNvPicPr>
            <a:picLocks noChangeAspect="1"/>
          </p:cNvPicPr>
          <p:nvPr/>
        </p:nvPicPr>
        <p:blipFill>
          <a:blip r:embed="rId2"/>
          <a:stretch>
            <a:fillRect/>
          </a:stretch>
        </p:blipFill>
        <p:spPr>
          <a:xfrm>
            <a:off x="48466" y="125649"/>
            <a:ext cx="1930400" cy="381000"/>
          </a:xfrm>
          <a:prstGeom prst="rect">
            <a:avLst/>
          </a:prstGeom>
        </p:spPr>
      </p:pic>
      <p:sp>
        <p:nvSpPr>
          <p:cNvPr id="5" name="文本框 4"/>
          <p:cNvSpPr txBox="1"/>
          <p:nvPr/>
        </p:nvSpPr>
        <p:spPr>
          <a:xfrm>
            <a:off x="-1293962" y="2622430"/>
            <a:ext cx="0" cy="0"/>
          </a:xfrm>
          <a:prstGeom prst="rect">
            <a:avLst/>
          </a:prstGeom>
          <a:noFill/>
        </p:spPr>
        <p:txBody>
          <a:bodyPr wrap="none" rtlCol="0">
            <a:noAutofit/>
          </a:bodyPr>
          <a:lstStyle/>
          <a:p>
            <a:pPr algn="l"/>
            <a:endParaRPr kumimoji="1" lang="zh-CN" altLang="en-US" dirty="0" err="1">
              <a:solidFill>
                <a:schemeClr val="accent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b="1" dirty="0">
                <a:solidFill>
                  <a:srgbClr val="0073E6"/>
                </a:solidFill>
                <a:latin typeface="Biennale Bold"/>
                <a:sym typeface="+mn-ea"/>
              </a:rPr>
              <a:t>研发费用管理：方案总览</a:t>
            </a:r>
            <a:endParaRPr kumimoji="1" lang="zh-CN" altLang="en-US" sz="2800" dirty="0"/>
          </a:p>
        </p:txBody>
      </p:sp>
      <p:sp>
        <p:nvSpPr>
          <p:cNvPr id="4" name="灯片编号占位符 3"/>
          <p:cNvSpPr>
            <a:spLocks noGrp="1"/>
          </p:cNvSpPr>
          <p:nvPr>
            <p:ph type="sldNum" sz="quarter" idx="4"/>
          </p:nvPr>
        </p:nvSpPr>
        <p:spPr/>
        <p:txBody>
          <a:bodyPr/>
          <a:lstStyle/>
          <a:p>
            <a:fld id="{DAF489CC-3B7A-4DA5-A8C0-4984788D0EC5}" type="slidenum">
              <a:rPr lang="nl-NL" smtClean="0"/>
              <a:t>4</a:t>
            </a:fld>
            <a:endParaRPr lang="nl-NL"/>
          </a:p>
        </p:txBody>
      </p:sp>
      <p:sp>
        <p:nvSpPr>
          <p:cNvPr id="7" name="矩形 6"/>
          <p:cNvSpPr/>
          <p:nvPr/>
        </p:nvSpPr>
        <p:spPr>
          <a:xfrm>
            <a:off x="509270" y="1078230"/>
            <a:ext cx="7002145" cy="1182370"/>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en-US" sz="1200" dirty="0">
                <a:solidFill>
                  <a:schemeClr val="tx1"/>
                </a:solidFill>
                <a:latin typeface="微软雅黑" panose="020B0503020204020204" pitchFamily="34" charset="-122"/>
                <a:ea typeface="微软雅黑" panose="020B0503020204020204" pitchFamily="34" charset="-122"/>
              </a:rPr>
              <a:t>项目目标：</a:t>
            </a:r>
          </a:p>
          <a:p>
            <a:r>
              <a:rPr kumimoji="1" lang="zh-CN" altLang="en-US" sz="1200" dirty="0">
                <a:solidFill>
                  <a:schemeClr val="tx1"/>
                </a:solidFill>
                <a:latin typeface="微软雅黑" panose="020B0503020204020204" pitchFamily="34" charset="-122"/>
                <a:ea typeface="微软雅黑" panose="020B0503020204020204" pitchFamily="34" charset="-122"/>
              </a:rPr>
              <a:t>精确统计项目研发核算、投入，研发成本，投入和产出</a:t>
            </a:r>
          </a:p>
          <a:p>
            <a:r>
              <a:rPr kumimoji="1" lang="zh-CN" altLang="en-US" sz="1200" dirty="0">
                <a:solidFill>
                  <a:schemeClr val="tx1"/>
                </a:solidFill>
                <a:latin typeface="微软雅黑" panose="020B0503020204020204" pitchFamily="34" charset="-122"/>
                <a:ea typeface="微软雅黑" panose="020B0503020204020204" pitchFamily="34" charset="-122"/>
              </a:rPr>
              <a:t>满足法定报表，高新研发核算的需要</a:t>
            </a:r>
          </a:p>
          <a:p>
            <a:r>
              <a:rPr kumimoji="1" lang="zh-CN" altLang="en-US" sz="1200" dirty="0">
                <a:solidFill>
                  <a:schemeClr val="tx1"/>
                </a:solidFill>
                <a:latin typeface="微软雅黑" panose="020B0503020204020204" pitchFamily="34" charset="-122"/>
                <a:ea typeface="微软雅黑" panose="020B0503020204020204" pitchFamily="34" charset="-122"/>
              </a:rPr>
              <a:t>项目方案：</a:t>
            </a:r>
          </a:p>
          <a:p>
            <a:r>
              <a:rPr kumimoji="1" lang="zh-CN" altLang="en-US" sz="1200" dirty="0">
                <a:solidFill>
                  <a:schemeClr val="tx1"/>
                </a:solidFill>
                <a:latin typeface="微软雅黑" panose="020B0503020204020204" pitchFamily="34" charset="-122"/>
                <a:ea typeface="微软雅黑" panose="020B0503020204020204" pitchFamily="34" charset="-122"/>
              </a:rPr>
              <a:t>从原来单一的以成本中心为载体的研发核算，转为以成本中心、内部订单、研发生产订单的多层次的研发核算</a:t>
            </a:r>
          </a:p>
        </p:txBody>
      </p:sp>
      <p:sp>
        <p:nvSpPr>
          <p:cNvPr id="8" name="矩形 7"/>
          <p:cNvSpPr/>
          <p:nvPr/>
        </p:nvSpPr>
        <p:spPr>
          <a:xfrm>
            <a:off x="499110" y="2672080"/>
            <a:ext cx="2347595" cy="3424555"/>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800"/>
              </a:spcBef>
            </a:pPr>
            <a:r>
              <a:rPr kumimoji="1" lang="zh-CN" altLang="en-US" sz="1200" dirty="0">
                <a:solidFill>
                  <a:schemeClr val="tx1"/>
                </a:solidFill>
                <a:latin typeface="微软雅黑" panose="020B0503020204020204" pitchFamily="34" charset="-122"/>
                <a:ea typeface="微软雅黑" panose="020B0503020204020204" pitchFamily="34" charset="-122"/>
              </a:rPr>
              <a:t>现状：</a:t>
            </a:r>
          </a:p>
          <a:p>
            <a:pPr>
              <a:spcBef>
                <a:spcPts val="800"/>
              </a:spcBef>
            </a:pPr>
            <a:r>
              <a:rPr kumimoji="1" lang="zh-CN" altLang="en-US" sz="1200" dirty="0">
                <a:solidFill>
                  <a:schemeClr val="tx1"/>
                </a:solidFill>
                <a:latin typeface="微软雅黑" panose="020B0503020204020204" pitchFamily="34" charset="-122"/>
                <a:ea typeface="微软雅黑" panose="020B0503020204020204" pitchFamily="34" charset="-122"/>
              </a:rPr>
              <a:t>单一的以成本中心为中心核算项目研发成本，无法支持跨部门研发投入</a:t>
            </a:r>
          </a:p>
          <a:p>
            <a:pPr>
              <a:spcBef>
                <a:spcPts val="800"/>
              </a:spcBef>
            </a:pPr>
            <a:r>
              <a:rPr kumimoji="1" lang="zh-CN" altLang="en-US" sz="1200" dirty="0">
                <a:solidFill>
                  <a:schemeClr val="tx1"/>
                </a:solidFill>
                <a:latin typeface="微软雅黑" panose="020B0503020204020204" pitchFamily="34" charset="-122"/>
                <a:ea typeface="微软雅黑" panose="020B0503020204020204" pitchFamily="34" charset="-122"/>
              </a:rPr>
              <a:t>有试产订单，以及中小试订单，实际结算基本以到存货为主，无法实现到项目研发成本的核算。</a:t>
            </a:r>
          </a:p>
          <a:p>
            <a:pPr>
              <a:spcBef>
                <a:spcPts val="800"/>
              </a:spcBef>
            </a:pPr>
            <a:r>
              <a:rPr kumimoji="1" lang="zh-CN" altLang="en-US" sz="1200" dirty="0">
                <a:solidFill>
                  <a:schemeClr val="tx1"/>
                </a:solidFill>
                <a:latin typeface="微软雅黑" panose="020B0503020204020204" pitchFamily="34" charset="-122"/>
                <a:ea typeface="微软雅黑" panose="020B0503020204020204" pitchFamily="34" charset="-122"/>
              </a:rPr>
              <a:t>满足法定报表，以及高新费用统计的口径统一性问题</a:t>
            </a:r>
            <a:endParaRPr kumimoji="1" lang="en-US" altLang="zh-CN" sz="1200" dirty="0">
              <a:solidFill>
                <a:schemeClr val="tx1"/>
              </a:solidFill>
              <a:latin typeface="微软雅黑" panose="020B0503020204020204" pitchFamily="34" charset="-122"/>
              <a:ea typeface="微软雅黑" panose="020B0503020204020204" pitchFamily="34" charset="-122"/>
            </a:endParaRPr>
          </a:p>
          <a:p>
            <a:pPr>
              <a:spcBef>
                <a:spcPts val="800"/>
              </a:spcBef>
            </a:pPr>
            <a:r>
              <a:rPr kumimoji="1" lang="zh-CN" altLang="en-US" sz="1200" dirty="0">
                <a:solidFill>
                  <a:schemeClr val="tx1"/>
                </a:solidFill>
                <a:latin typeface="微软雅黑" panose="020B0503020204020204" pitchFamily="34" charset="-122"/>
                <a:ea typeface="微软雅黑" panose="020B0503020204020204" pitchFamily="34" charset="-122"/>
              </a:rPr>
              <a:t>主要差距、需求：</a:t>
            </a:r>
          </a:p>
          <a:p>
            <a:pPr>
              <a:spcBef>
                <a:spcPts val="800"/>
              </a:spcBef>
            </a:pPr>
            <a:r>
              <a:rPr kumimoji="1" lang="zh-CN" altLang="en-US" sz="1200" dirty="0">
                <a:solidFill>
                  <a:schemeClr val="tx1"/>
                </a:solidFill>
                <a:latin typeface="微软雅黑" panose="020B0503020204020204" pitchFamily="34" charset="-122"/>
                <a:ea typeface="微软雅黑" panose="020B0503020204020204" pitchFamily="34" charset="-122"/>
              </a:rPr>
              <a:t>同时满足法定报表，以及研发费用管理统计的需求</a:t>
            </a:r>
          </a:p>
          <a:p>
            <a:pPr>
              <a:spcBef>
                <a:spcPts val="800"/>
              </a:spcBef>
            </a:pPr>
            <a:r>
              <a:rPr kumimoji="1" lang="zh-CN" altLang="en-US" sz="1200" dirty="0">
                <a:solidFill>
                  <a:schemeClr val="tx1"/>
                </a:solidFill>
                <a:latin typeface="微软雅黑" panose="020B0503020204020204" pitchFamily="34" charset="-122"/>
                <a:ea typeface="微软雅黑" panose="020B0503020204020204" pitchFamily="34" charset="-122"/>
              </a:rPr>
              <a:t>支持从预研、立项，研发过程，到研发后新品上市的研发投资回报率分析的过程分析和核算。</a:t>
            </a:r>
          </a:p>
        </p:txBody>
      </p:sp>
      <p:sp>
        <p:nvSpPr>
          <p:cNvPr id="9" name="矩形 8"/>
          <p:cNvSpPr/>
          <p:nvPr/>
        </p:nvSpPr>
        <p:spPr>
          <a:xfrm>
            <a:off x="3153410" y="2695575"/>
            <a:ext cx="4358005" cy="1832610"/>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71450" algn="just">
              <a:buFont typeface="Arial" panose="020B0604020202020204" pitchFamily="34" charset="0"/>
              <a:buChar char="•"/>
            </a:pPr>
            <a:r>
              <a:rPr kumimoji="1" lang="zh-CN" altLang="en-US" sz="1200" dirty="0">
                <a:solidFill>
                  <a:schemeClr val="tx1"/>
                </a:solidFill>
                <a:latin typeface="微软雅黑" panose="020B0503020204020204" pitchFamily="34" charset="-122"/>
                <a:ea typeface="微软雅黑" panose="020B0503020204020204" pitchFamily="34" charset="-122"/>
              </a:rPr>
              <a:t>内部订单：引入统计性、计账性内部订单来支持项目核算</a:t>
            </a:r>
          </a:p>
          <a:p>
            <a:pPr indent="-171450" algn="just">
              <a:buFont typeface="Arial" panose="020B0604020202020204" pitchFamily="34" charset="0"/>
              <a:buChar char="•"/>
            </a:pPr>
            <a:r>
              <a:rPr kumimoji="1" lang="zh-CN" altLang="en-US" sz="1200" dirty="0">
                <a:solidFill>
                  <a:schemeClr val="tx1"/>
                </a:solidFill>
                <a:latin typeface="微软雅黑" panose="020B0503020204020204" pitchFamily="34" charset="-122"/>
                <a:ea typeface="微软雅黑" panose="020B0503020204020204" pitchFamily="34" charset="-122"/>
              </a:rPr>
              <a:t>生产订单：试产订单计算到项目内部订单、中小试订单结算到存货，中小试生产订单关联到项目，便于管理报表统计研发费用。</a:t>
            </a:r>
          </a:p>
          <a:p>
            <a:pPr indent="-171450" algn="just">
              <a:buFont typeface="Arial" panose="020B0604020202020204" pitchFamily="34" charset="0"/>
              <a:buChar char="•"/>
            </a:pPr>
            <a:r>
              <a:rPr kumimoji="1" lang="zh-CN" altLang="en-US" sz="1200" dirty="0">
                <a:solidFill>
                  <a:schemeClr val="tx1"/>
                </a:solidFill>
                <a:latin typeface="微软雅黑" panose="020B0503020204020204" pitchFamily="34" charset="-122"/>
                <a:ea typeface="微软雅黑" panose="020B0503020204020204" pitchFamily="34" charset="-122"/>
              </a:rPr>
              <a:t>委外研发：委外研发使用专门的采购订单订单类型，到发票校验支持研发费用审计需求</a:t>
            </a:r>
          </a:p>
        </p:txBody>
      </p:sp>
      <p:sp>
        <p:nvSpPr>
          <p:cNvPr id="10" name="矩形 9"/>
          <p:cNvSpPr/>
          <p:nvPr/>
        </p:nvSpPr>
        <p:spPr>
          <a:xfrm>
            <a:off x="3153410" y="4753610"/>
            <a:ext cx="4358005" cy="1343025"/>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indent="-171450">
              <a:buFont typeface="Arial" panose="020B0604020202020204" pitchFamily="34" charset="0"/>
              <a:buChar char="•"/>
            </a:pPr>
            <a:r>
              <a:rPr kumimoji="1" lang="zh-CN" altLang="en-US" sz="1200" dirty="0">
                <a:solidFill>
                  <a:schemeClr val="tx1"/>
                </a:solidFill>
                <a:latin typeface="微软雅黑" panose="020B0503020204020204" pitchFamily="34" charset="-122"/>
                <a:ea typeface="微软雅黑" panose="020B0503020204020204" pitchFamily="34" charset="-122"/>
              </a:rPr>
              <a:t>内部订单：引入统计性、计账性内部订单来支持项目核算</a:t>
            </a:r>
          </a:p>
          <a:p>
            <a:pPr lvl="0" indent="-171450">
              <a:buFont typeface="Arial" panose="020B0604020202020204" pitchFamily="34" charset="0"/>
              <a:buChar char="•"/>
            </a:pPr>
            <a:r>
              <a:rPr kumimoji="1" lang="zh-CN" altLang="en-US" sz="1200" dirty="0">
                <a:solidFill>
                  <a:schemeClr val="tx1"/>
                </a:solidFill>
                <a:latin typeface="微软雅黑" panose="020B0503020204020204" pitchFamily="34" charset="-122"/>
                <a:ea typeface="微软雅黑" panose="020B0503020204020204" pitchFamily="34" charset="-122"/>
              </a:rPr>
              <a:t>生产订单：试产订单计算到项目内部订单、中小试订单结算到存货，中小试生产订单关联到项目，便于管理报表统计研发费用。</a:t>
            </a:r>
          </a:p>
          <a:p>
            <a:pPr lvl="0" indent="-171450">
              <a:buFont typeface="Arial" panose="020B0604020202020204" pitchFamily="34" charset="0"/>
              <a:buChar char="•"/>
            </a:pPr>
            <a:r>
              <a:rPr kumimoji="1" lang="zh-CN" altLang="en-US" sz="1200" dirty="0">
                <a:solidFill>
                  <a:schemeClr val="tx1"/>
                </a:solidFill>
                <a:latin typeface="微软雅黑" panose="020B0503020204020204" pitchFamily="34" charset="-122"/>
                <a:ea typeface="微软雅黑" panose="020B0503020204020204" pitchFamily="34" charset="-122"/>
              </a:rPr>
              <a:t>委外研发：委外研发使用专门的采购订单订单类型，到发票校验支持研发费用审计需求</a:t>
            </a:r>
          </a:p>
        </p:txBody>
      </p:sp>
      <p:sp>
        <p:nvSpPr>
          <p:cNvPr id="11" name="矩形 10"/>
          <p:cNvSpPr/>
          <p:nvPr/>
        </p:nvSpPr>
        <p:spPr>
          <a:xfrm>
            <a:off x="7980680" y="2129155"/>
            <a:ext cx="3701415" cy="993140"/>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7980680" y="3412490"/>
            <a:ext cx="3701415" cy="1340485"/>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000" dirty="0"/>
          </a:p>
        </p:txBody>
      </p:sp>
      <p:sp>
        <p:nvSpPr>
          <p:cNvPr id="13" name="矩形 12"/>
          <p:cNvSpPr/>
          <p:nvPr/>
        </p:nvSpPr>
        <p:spPr>
          <a:xfrm>
            <a:off x="7980045" y="4963795"/>
            <a:ext cx="3702050" cy="1132840"/>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zh-CN" altLang="en-US" sz="1200" dirty="0">
                <a:solidFill>
                  <a:schemeClr val="tx1"/>
                </a:solidFill>
                <a:latin typeface="微软雅黑" panose="020B0503020204020204" pitchFamily="34" charset="-122"/>
                <a:ea typeface="微软雅黑" panose="020B0503020204020204" pitchFamily="34" charset="-122"/>
              </a:rPr>
              <a:t>业务价值：提升研发投资回报率、优化资源配置、强化创新决策。</a:t>
            </a:r>
          </a:p>
          <a:p>
            <a:pPr marL="171450" indent="-171450">
              <a:buFont typeface="Arial" panose="020B0604020202020204" pitchFamily="34" charset="0"/>
              <a:buChar char="•"/>
            </a:pPr>
            <a:r>
              <a:rPr kumimoji="1" lang="zh-CN" altLang="en-US" sz="1200" dirty="0">
                <a:solidFill>
                  <a:schemeClr val="tx1"/>
                </a:solidFill>
                <a:latin typeface="微软雅黑" panose="020B0503020204020204" pitchFamily="34" charset="-122"/>
                <a:ea typeface="微软雅黑" panose="020B0503020204020204" pitchFamily="34" charset="-122"/>
              </a:rPr>
              <a:t>数字化指标：提升数据准确率、重点项目覆盖率</a:t>
            </a:r>
            <a:r>
              <a:rPr kumimoji="1" lang="en-US" altLang="zh-CN" sz="1200" dirty="0">
                <a:solidFill>
                  <a:schemeClr val="tx1"/>
                </a:solidFill>
                <a:latin typeface="微软雅黑" panose="020B0503020204020204" pitchFamily="34" charset="-122"/>
                <a:ea typeface="微软雅黑" panose="020B0503020204020204" pitchFamily="34" charset="-122"/>
              </a:rPr>
              <a:t>。</a:t>
            </a:r>
          </a:p>
        </p:txBody>
      </p:sp>
      <p:sp>
        <p:nvSpPr>
          <p:cNvPr id="14" name="矩形 13"/>
          <p:cNvSpPr/>
          <p:nvPr/>
        </p:nvSpPr>
        <p:spPr>
          <a:xfrm>
            <a:off x="7980680" y="1078230"/>
            <a:ext cx="3701415" cy="840105"/>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zh-CN" sz="1200" dirty="0">
                <a:solidFill>
                  <a:schemeClr val="tx1"/>
                </a:solidFill>
                <a:latin typeface="微软雅黑" panose="020B0503020204020204" pitchFamily="34" charset="-122"/>
                <a:ea typeface="微软雅黑" panose="020B0503020204020204" pitchFamily="34" charset="-122"/>
                <a:sym typeface="+mn-ea"/>
              </a:rPr>
              <a:t>主责： 集团财务部</a:t>
            </a:r>
            <a:endParaRPr kumimoji="1" lang="en-US" altLang="zh-CN" sz="1200" dirty="0">
              <a:solidFill>
                <a:schemeClr val="tx1"/>
              </a:solidFill>
              <a:latin typeface="微软雅黑" panose="020B0503020204020204" pitchFamily="34" charset="-122"/>
              <a:ea typeface="微软雅黑" panose="020B0503020204020204" pitchFamily="34" charset="-122"/>
            </a:endParaRPr>
          </a:p>
          <a:p>
            <a:r>
              <a:rPr kumimoji="1" lang="zh-CN" altLang="zh-CN" sz="1200" dirty="0">
                <a:solidFill>
                  <a:schemeClr val="tx1"/>
                </a:solidFill>
                <a:latin typeface="微软雅黑" panose="020B0503020204020204" pitchFamily="34" charset="-122"/>
                <a:ea typeface="微软雅黑" panose="020B0503020204020204" pitchFamily="34" charset="-122"/>
                <a:sym typeface="+mn-ea"/>
              </a:rPr>
              <a:t>配合： </a:t>
            </a:r>
            <a:r>
              <a:rPr kumimoji="1" lang="zh-CN" altLang="en-US" sz="1200" dirty="0">
                <a:solidFill>
                  <a:schemeClr val="tx1"/>
                </a:solidFill>
                <a:latin typeface="微软雅黑" panose="020B0503020204020204" pitchFamily="34" charset="-122"/>
                <a:ea typeface="微软雅黑" panose="020B0503020204020204" pitchFamily="34" charset="-122"/>
                <a:sym typeface="+mn-ea"/>
              </a:rPr>
              <a:t>集团下属各公司研发部分</a:t>
            </a:r>
            <a:endParaRPr kumimoji="1" lang="zh-CN" altLang="zh-CN" sz="1200" dirty="0">
              <a:solidFill>
                <a:schemeClr val="tx1"/>
              </a:solidFill>
              <a:latin typeface="微软雅黑" panose="020B0503020204020204" pitchFamily="34" charset="-122"/>
              <a:ea typeface="微软雅黑" panose="020B0503020204020204" pitchFamily="34" charset="-122"/>
            </a:endParaRPr>
          </a:p>
          <a:p>
            <a:r>
              <a:rPr kumimoji="1" lang="zh-CN" altLang="zh-CN" sz="1200" dirty="0">
                <a:solidFill>
                  <a:schemeClr val="tx1"/>
                </a:solidFill>
                <a:latin typeface="微软雅黑" panose="020B0503020204020204" pitchFamily="34" charset="-122"/>
                <a:ea typeface="微软雅黑" panose="020B0503020204020204" pitchFamily="34" charset="-122"/>
                <a:sym typeface="+mn-ea"/>
              </a:rPr>
              <a:t>外部：</a:t>
            </a:r>
            <a:r>
              <a:rPr kumimoji="1" lang="zh-CN" altLang="en-US" sz="1200" dirty="0">
                <a:solidFill>
                  <a:schemeClr val="tx1"/>
                </a:solidFill>
                <a:latin typeface="微软雅黑" panose="020B0503020204020204" pitchFamily="34" charset="-122"/>
                <a:ea typeface="微软雅黑" panose="020B0503020204020204" pitchFamily="34" charset="-122"/>
                <a:sym typeface="+mn-ea"/>
              </a:rPr>
              <a:t>艾维登</a:t>
            </a:r>
            <a:r>
              <a:rPr kumimoji="1" lang="en-US" altLang="zh-CN" sz="1200" dirty="0">
                <a:solidFill>
                  <a:schemeClr val="tx1"/>
                </a:solidFill>
                <a:latin typeface="微软雅黑" panose="020B0503020204020204" pitchFamily="34" charset="-122"/>
                <a:ea typeface="微软雅黑" panose="020B0503020204020204" pitchFamily="34" charset="-122"/>
                <a:sym typeface="+mn-ea"/>
              </a:rPr>
              <a:t>FICO</a:t>
            </a:r>
            <a:r>
              <a:rPr kumimoji="1" lang="zh-CN" altLang="zh-CN" sz="1200" dirty="0">
                <a:solidFill>
                  <a:schemeClr val="tx1"/>
                </a:solidFill>
                <a:latin typeface="微软雅黑" panose="020B0503020204020204" pitchFamily="34" charset="-122"/>
                <a:ea typeface="微软雅黑" panose="020B0503020204020204" pitchFamily="34" charset="-122"/>
                <a:sym typeface="+mn-ea"/>
              </a:rPr>
              <a:t>专家</a:t>
            </a:r>
            <a:r>
              <a:rPr kumimoji="1" lang="zh-CN" altLang="en-US" sz="1200" dirty="0">
                <a:solidFill>
                  <a:schemeClr val="tx1"/>
                </a:solidFill>
                <a:latin typeface="微软雅黑" panose="020B0503020204020204" pitchFamily="34" charset="-122"/>
                <a:ea typeface="微软雅黑" panose="020B0503020204020204" pitchFamily="34" charset="-122"/>
                <a:sym typeface="+mn-ea"/>
              </a:rPr>
              <a:t>、</a:t>
            </a:r>
            <a:r>
              <a:rPr kumimoji="1" lang="en-US" altLang="zh-CN" sz="1200" dirty="0">
                <a:solidFill>
                  <a:schemeClr val="tx1"/>
                </a:solidFill>
                <a:latin typeface="微软雅黑" panose="020B0503020204020204" pitchFamily="34" charset="-122"/>
                <a:ea typeface="微软雅黑" panose="020B0503020204020204" pitchFamily="34" charset="-122"/>
                <a:sym typeface="+mn-ea"/>
              </a:rPr>
              <a:t>MM</a:t>
            </a:r>
            <a:r>
              <a:rPr kumimoji="1" lang="zh-CN" altLang="en-US" sz="1200" dirty="0">
                <a:solidFill>
                  <a:schemeClr val="tx1"/>
                </a:solidFill>
                <a:latin typeface="微软雅黑" panose="020B0503020204020204" pitchFamily="34" charset="-122"/>
                <a:ea typeface="微软雅黑" panose="020B0503020204020204" pitchFamily="34" charset="-122"/>
                <a:sym typeface="+mn-ea"/>
              </a:rPr>
              <a:t>、</a:t>
            </a:r>
            <a:r>
              <a:rPr kumimoji="1" lang="en-US" altLang="zh-CN" sz="1200" dirty="0">
                <a:solidFill>
                  <a:schemeClr val="tx1"/>
                </a:solidFill>
                <a:latin typeface="微软雅黑" panose="020B0503020204020204" pitchFamily="34" charset="-122"/>
                <a:ea typeface="微软雅黑" panose="020B0503020204020204" pitchFamily="34" charset="-122"/>
                <a:sym typeface="+mn-ea"/>
              </a:rPr>
              <a:t>SD</a:t>
            </a:r>
            <a:r>
              <a:rPr kumimoji="1" lang="zh-CN" altLang="en-US" sz="1200" dirty="0">
                <a:solidFill>
                  <a:schemeClr val="tx1"/>
                </a:solidFill>
                <a:latin typeface="微软雅黑" panose="020B0503020204020204" pitchFamily="34" charset="-122"/>
                <a:ea typeface="微软雅黑" panose="020B0503020204020204" pitchFamily="34" charset="-122"/>
                <a:sym typeface="+mn-ea"/>
              </a:rPr>
              <a:t>、</a:t>
            </a:r>
            <a:r>
              <a:rPr kumimoji="1" lang="en-US" altLang="zh-CN" sz="1200" dirty="0">
                <a:solidFill>
                  <a:schemeClr val="tx1"/>
                </a:solidFill>
                <a:latin typeface="微软雅黑" panose="020B0503020204020204" pitchFamily="34" charset="-122"/>
                <a:ea typeface="微软雅黑" panose="020B0503020204020204" pitchFamily="34" charset="-122"/>
                <a:sym typeface="+mn-ea"/>
              </a:rPr>
              <a:t>PP</a:t>
            </a:r>
            <a:r>
              <a:rPr kumimoji="1" lang="zh-CN" altLang="en-US" sz="1200" dirty="0">
                <a:solidFill>
                  <a:schemeClr val="tx1"/>
                </a:solidFill>
                <a:latin typeface="微软雅黑" panose="020B0503020204020204" pitchFamily="34" charset="-122"/>
                <a:ea typeface="微软雅黑" panose="020B0503020204020204" pitchFamily="34" charset="-122"/>
                <a:sym typeface="+mn-ea"/>
              </a:rPr>
              <a:t>专家</a:t>
            </a:r>
            <a:endParaRPr lang="zh-CN" altLang="zh-CN" sz="1200" dirty="0">
              <a:solidFill>
                <a:schemeClr val="tx1"/>
              </a:solidFill>
              <a:latin typeface="微软雅黑" panose="020B0503020204020204" pitchFamily="34" charset="-122"/>
              <a:ea typeface="微软雅黑" panose="020B0503020204020204" pitchFamily="34" charset="-122"/>
            </a:endParaRPr>
          </a:p>
        </p:txBody>
      </p:sp>
      <p:sp>
        <p:nvSpPr>
          <p:cNvPr id="15" name="矩形 14"/>
          <p:cNvSpPr/>
          <p:nvPr/>
        </p:nvSpPr>
        <p:spPr>
          <a:xfrm>
            <a:off x="8230555" y="900920"/>
            <a:ext cx="1039792" cy="2929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tx1"/>
                </a:solidFill>
                <a:latin typeface="微软雅黑" panose="020B0503020204020204" pitchFamily="34" charset="-122"/>
                <a:ea typeface="微软雅黑" panose="020B0503020204020204" pitchFamily="34" charset="-122"/>
              </a:rPr>
              <a:t>5 </a:t>
            </a:r>
            <a:r>
              <a:rPr kumimoji="1" lang="zh-CN" altLang="en-US" sz="1200" b="1" dirty="0">
                <a:solidFill>
                  <a:schemeClr val="tx1"/>
                </a:solidFill>
                <a:latin typeface="微软雅黑" panose="020B0503020204020204" pitchFamily="34" charset="-122"/>
                <a:ea typeface="微软雅黑" panose="020B0503020204020204" pitchFamily="34" charset="-122"/>
              </a:rPr>
              <a:t>责任部门</a:t>
            </a:r>
          </a:p>
        </p:txBody>
      </p:sp>
      <p:sp>
        <p:nvSpPr>
          <p:cNvPr id="16" name="矩形 15"/>
          <p:cNvSpPr/>
          <p:nvPr/>
        </p:nvSpPr>
        <p:spPr>
          <a:xfrm>
            <a:off x="8150545" y="1985697"/>
            <a:ext cx="1039792" cy="2929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tx1"/>
                </a:solidFill>
                <a:latin typeface="微软雅黑" panose="020B0503020204020204" pitchFamily="34" charset="-122"/>
                <a:ea typeface="微软雅黑" panose="020B0503020204020204" pitchFamily="34" charset="-122"/>
              </a:rPr>
              <a:t>6 </a:t>
            </a:r>
            <a:r>
              <a:rPr kumimoji="1" lang="zh-CN" altLang="en-US" sz="1200" b="1" dirty="0">
                <a:solidFill>
                  <a:schemeClr val="tx1"/>
                </a:solidFill>
                <a:latin typeface="微软雅黑" panose="020B0503020204020204" pitchFamily="34" charset="-122"/>
                <a:ea typeface="微软雅黑" panose="020B0503020204020204" pitchFamily="34" charset="-122"/>
              </a:rPr>
              <a:t>里程碑</a:t>
            </a:r>
          </a:p>
        </p:txBody>
      </p:sp>
      <p:sp>
        <p:nvSpPr>
          <p:cNvPr id="17" name="矩形 16"/>
          <p:cNvSpPr/>
          <p:nvPr/>
        </p:nvSpPr>
        <p:spPr>
          <a:xfrm>
            <a:off x="8151180" y="3294671"/>
            <a:ext cx="1643023" cy="2929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tx1"/>
                </a:solidFill>
                <a:latin typeface="微软雅黑" panose="020B0503020204020204" pitchFamily="34" charset="-122"/>
                <a:ea typeface="微软雅黑" panose="020B0503020204020204" pitchFamily="34" charset="-122"/>
              </a:rPr>
              <a:t>7 </a:t>
            </a:r>
            <a:r>
              <a:rPr kumimoji="1" lang="zh-CN" altLang="en-US" sz="1200" b="1" dirty="0">
                <a:solidFill>
                  <a:schemeClr val="tx1"/>
                </a:solidFill>
                <a:latin typeface="微软雅黑" panose="020B0503020204020204" pitchFamily="34" charset="-122"/>
                <a:ea typeface="微软雅黑" panose="020B0503020204020204" pitchFamily="34" charset="-122"/>
              </a:rPr>
              <a:t>风险与项目依赖</a:t>
            </a:r>
          </a:p>
        </p:txBody>
      </p:sp>
      <p:sp>
        <p:nvSpPr>
          <p:cNvPr id="18" name="矩形 17"/>
          <p:cNvSpPr/>
          <p:nvPr/>
        </p:nvSpPr>
        <p:spPr>
          <a:xfrm>
            <a:off x="8116255" y="4789456"/>
            <a:ext cx="2100224" cy="2929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tx1"/>
                </a:solidFill>
                <a:latin typeface="微软雅黑" panose="020B0503020204020204" pitchFamily="34" charset="-122"/>
                <a:ea typeface="微软雅黑" panose="020B0503020204020204" pitchFamily="34" charset="-122"/>
              </a:rPr>
              <a:t>8 </a:t>
            </a:r>
            <a:r>
              <a:rPr kumimoji="1" lang="zh-CN" altLang="en-US" sz="1200" b="1" dirty="0">
                <a:solidFill>
                  <a:schemeClr val="tx1"/>
                </a:solidFill>
                <a:latin typeface="微软雅黑" panose="020B0503020204020204" pitchFamily="34" charset="-122"/>
                <a:ea typeface="微软雅黑" panose="020B0503020204020204" pitchFamily="34" charset="-122"/>
              </a:rPr>
              <a:t>业务价值和数字化指标</a:t>
            </a:r>
          </a:p>
        </p:txBody>
      </p:sp>
      <p:sp>
        <p:nvSpPr>
          <p:cNvPr id="19" name="矩形 18"/>
          <p:cNvSpPr/>
          <p:nvPr/>
        </p:nvSpPr>
        <p:spPr>
          <a:xfrm>
            <a:off x="3855769" y="4607717"/>
            <a:ext cx="1376734" cy="2929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tx1"/>
                </a:solidFill>
                <a:latin typeface="微软雅黑" panose="020B0503020204020204" pitchFamily="34" charset="-122"/>
                <a:ea typeface="微软雅黑" panose="020B0503020204020204" pitchFamily="34" charset="-122"/>
              </a:rPr>
              <a:t>4 </a:t>
            </a:r>
            <a:r>
              <a:rPr kumimoji="1" lang="zh-CN" altLang="en-US" sz="1200" b="1" dirty="0">
                <a:solidFill>
                  <a:schemeClr val="tx1"/>
                </a:solidFill>
                <a:latin typeface="微软雅黑" panose="020B0503020204020204" pitchFamily="34" charset="-122"/>
                <a:ea typeface="微软雅黑" panose="020B0503020204020204" pitchFamily="34" charset="-122"/>
              </a:rPr>
              <a:t>关键任务</a:t>
            </a:r>
          </a:p>
        </p:txBody>
      </p:sp>
      <p:sp>
        <p:nvSpPr>
          <p:cNvPr id="20" name="矩形 19"/>
          <p:cNvSpPr/>
          <p:nvPr/>
        </p:nvSpPr>
        <p:spPr>
          <a:xfrm>
            <a:off x="3919475" y="2597056"/>
            <a:ext cx="1376734" cy="2151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tx1"/>
                </a:solidFill>
                <a:latin typeface="微软雅黑" panose="020B0503020204020204" pitchFamily="34" charset="-122"/>
                <a:ea typeface="微软雅黑" panose="020B0503020204020204" pitchFamily="34" charset="-122"/>
              </a:rPr>
              <a:t>3 </a:t>
            </a:r>
            <a:r>
              <a:rPr kumimoji="1" lang="zh-CN" altLang="en-US" sz="1200" b="1" dirty="0">
                <a:solidFill>
                  <a:schemeClr val="tx1"/>
                </a:solidFill>
                <a:latin typeface="微软雅黑" panose="020B0503020204020204" pitchFamily="34" charset="-122"/>
                <a:ea typeface="微软雅黑" panose="020B0503020204020204" pitchFamily="34" charset="-122"/>
              </a:rPr>
              <a:t>业务变革</a:t>
            </a:r>
          </a:p>
        </p:txBody>
      </p:sp>
      <p:sp>
        <p:nvSpPr>
          <p:cNvPr id="21" name="矩形 20"/>
          <p:cNvSpPr/>
          <p:nvPr/>
        </p:nvSpPr>
        <p:spPr>
          <a:xfrm>
            <a:off x="984736" y="2552776"/>
            <a:ext cx="1376734" cy="2929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tx1"/>
                </a:solidFill>
                <a:latin typeface="微软雅黑" panose="020B0503020204020204" pitchFamily="34" charset="-122"/>
                <a:ea typeface="微软雅黑" panose="020B0503020204020204" pitchFamily="34" charset="-122"/>
              </a:rPr>
              <a:t>2 </a:t>
            </a:r>
            <a:r>
              <a:rPr kumimoji="1" lang="zh-CN" altLang="en-US" sz="1200" b="1" dirty="0">
                <a:solidFill>
                  <a:schemeClr val="tx1"/>
                </a:solidFill>
                <a:latin typeface="微软雅黑" panose="020B0503020204020204" pitchFamily="34" charset="-122"/>
                <a:ea typeface="微软雅黑" panose="020B0503020204020204" pitchFamily="34" charset="-122"/>
              </a:rPr>
              <a:t>现状</a:t>
            </a:r>
            <a:r>
              <a:rPr kumimoji="1" lang="en-US" altLang="zh-CN" sz="1200" b="1" dirty="0">
                <a:solidFill>
                  <a:schemeClr val="tx1"/>
                </a:solidFill>
                <a:latin typeface="微软雅黑" panose="020B0503020204020204" pitchFamily="34" charset="-122"/>
                <a:ea typeface="微软雅黑" panose="020B0503020204020204" pitchFamily="34" charset="-122"/>
              </a:rPr>
              <a:t>/</a:t>
            </a:r>
            <a:r>
              <a:rPr kumimoji="1" lang="zh-CN" altLang="en-US" sz="1200" b="1" dirty="0">
                <a:solidFill>
                  <a:schemeClr val="tx1"/>
                </a:solidFill>
                <a:latin typeface="微软雅黑" panose="020B0503020204020204" pitchFamily="34" charset="-122"/>
                <a:ea typeface="微软雅黑" panose="020B0503020204020204" pitchFamily="34" charset="-122"/>
              </a:rPr>
              <a:t>差距</a:t>
            </a:r>
          </a:p>
        </p:txBody>
      </p:sp>
      <p:sp>
        <p:nvSpPr>
          <p:cNvPr id="22" name="矩形 21"/>
          <p:cNvSpPr/>
          <p:nvPr/>
        </p:nvSpPr>
        <p:spPr>
          <a:xfrm>
            <a:off x="690731" y="916009"/>
            <a:ext cx="1376734" cy="2929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solidFill>
                  <a:schemeClr val="tx1"/>
                </a:solidFill>
                <a:latin typeface="微软雅黑" panose="020B0503020204020204" pitchFamily="34" charset="-122"/>
                <a:ea typeface="微软雅黑" panose="020B0503020204020204" pitchFamily="34" charset="-122"/>
              </a:rPr>
              <a:t>1 </a:t>
            </a:r>
            <a:r>
              <a:rPr kumimoji="1" lang="zh-CN" altLang="en-US" sz="1200" b="1" dirty="0">
                <a:solidFill>
                  <a:schemeClr val="tx1"/>
                </a:solidFill>
                <a:latin typeface="微软雅黑" panose="020B0503020204020204" pitchFamily="34" charset="-122"/>
                <a:ea typeface="微软雅黑" panose="020B0503020204020204" pitchFamily="34" charset="-122"/>
              </a:rPr>
              <a:t>目标和范围</a:t>
            </a:r>
          </a:p>
        </p:txBody>
      </p:sp>
      <p:sp>
        <p:nvSpPr>
          <p:cNvPr id="23" name="文本框 22"/>
          <p:cNvSpPr txBox="1"/>
          <p:nvPr/>
        </p:nvSpPr>
        <p:spPr>
          <a:xfrm>
            <a:off x="862642" y="1552755"/>
            <a:ext cx="0" cy="0"/>
          </a:xfrm>
          <a:prstGeom prst="rect">
            <a:avLst/>
          </a:prstGeom>
          <a:noFill/>
        </p:spPr>
        <p:txBody>
          <a:bodyPr wrap="none" rtlCol="0">
            <a:noAutofit/>
          </a:bodyPr>
          <a:lstStyle/>
          <a:p>
            <a:pPr algn="l"/>
            <a:endParaRPr kumimoji="1" lang="zh-CN" altLang="en-US" dirty="0" err="1">
              <a:solidFill>
                <a:schemeClr val="accent3"/>
              </a:solidFill>
            </a:endParaRPr>
          </a:p>
        </p:txBody>
      </p:sp>
      <p:sp>
        <p:nvSpPr>
          <p:cNvPr id="29" name="文本框 28"/>
          <p:cNvSpPr txBox="1"/>
          <p:nvPr/>
        </p:nvSpPr>
        <p:spPr>
          <a:xfrm>
            <a:off x="8230463" y="2665562"/>
            <a:ext cx="0" cy="0"/>
          </a:xfrm>
          <a:prstGeom prst="rect">
            <a:avLst/>
          </a:prstGeom>
          <a:noFill/>
        </p:spPr>
        <p:txBody>
          <a:bodyPr wrap="none" rtlCol="0">
            <a:noAutofit/>
          </a:bodyPr>
          <a:lstStyle/>
          <a:p>
            <a:endParaRPr lang="zh-CN" altLang="en-US" sz="1200" dirty="0">
              <a:latin typeface="微软雅黑" panose="020B0503020204020204" pitchFamily="34" charset="-122"/>
              <a:ea typeface="微软雅黑" panose="020B0503020204020204" pitchFamily="34" charset="-122"/>
            </a:endParaRPr>
          </a:p>
        </p:txBody>
      </p:sp>
      <p:sp>
        <p:nvSpPr>
          <p:cNvPr id="30" name="文本框 29"/>
          <p:cNvSpPr txBox="1"/>
          <p:nvPr/>
        </p:nvSpPr>
        <p:spPr>
          <a:xfrm>
            <a:off x="11964838" y="2363638"/>
            <a:ext cx="0" cy="0"/>
          </a:xfrm>
          <a:prstGeom prst="rect">
            <a:avLst/>
          </a:prstGeom>
          <a:noFill/>
        </p:spPr>
        <p:txBody>
          <a:bodyPr wrap="none" rtlCol="0">
            <a:noAutofit/>
          </a:bodyPr>
          <a:lstStyle/>
          <a:p>
            <a:pPr algn="l"/>
            <a:endParaRPr kumimoji="1" lang="zh-CN" altLang="en-US" sz="1000" dirty="0" err="1">
              <a:solidFill>
                <a:schemeClr val="accent3"/>
              </a:solidFill>
            </a:endParaRPr>
          </a:p>
        </p:txBody>
      </p:sp>
      <p:sp>
        <p:nvSpPr>
          <p:cNvPr id="31" name="文本框 30"/>
          <p:cNvSpPr txBox="1"/>
          <p:nvPr/>
        </p:nvSpPr>
        <p:spPr>
          <a:xfrm>
            <a:off x="8130540" y="2352040"/>
            <a:ext cx="999490" cy="478790"/>
          </a:xfrm>
          <a:prstGeom prst="rect">
            <a:avLst/>
          </a:prstGeom>
          <a:noFill/>
        </p:spPr>
        <p:txBody>
          <a:bodyPr wrap="square" rtlCol="0">
            <a:noAutofit/>
          </a:bodyPr>
          <a:lstStyle/>
          <a:p>
            <a:r>
              <a:rPr lang="zh-CN" altLang="en-US" sz="1200" dirty="0">
                <a:latin typeface="微软雅黑" panose="020B0503020204020204" pitchFamily="34" charset="-122"/>
                <a:ea typeface="微软雅黑" panose="020B0503020204020204" pitchFamily="34" charset="-122"/>
              </a:rPr>
              <a:t>完成系统配置开发</a:t>
            </a:r>
          </a:p>
        </p:txBody>
      </p:sp>
      <p:grpSp>
        <p:nvGrpSpPr>
          <p:cNvPr id="35" name="组合 34"/>
          <p:cNvGrpSpPr/>
          <p:nvPr/>
        </p:nvGrpSpPr>
        <p:grpSpPr>
          <a:xfrm>
            <a:off x="8353054" y="2850538"/>
            <a:ext cx="2717320" cy="117898"/>
            <a:chOff x="8678174" y="3102633"/>
            <a:chExt cx="2717320" cy="117898"/>
          </a:xfrm>
        </p:grpSpPr>
        <p:cxnSp>
          <p:nvCxnSpPr>
            <p:cNvPr id="25" name="直线箭头连接符 24"/>
            <p:cNvCxnSpPr/>
            <p:nvPr/>
          </p:nvCxnSpPr>
          <p:spPr>
            <a:xfrm>
              <a:off x="8678174" y="3157265"/>
              <a:ext cx="2717320" cy="0"/>
            </a:xfrm>
            <a:prstGeom prst="straightConnector1">
              <a:avLst/>
            </a:prstGeom>
            <a:ln w="28575">
              <a:solidFill>
                <a:srgbClr val="003366"/>
              </a:solidFill>
              <a:tailEnd type="triangle"/>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8987033" y="3105505"/>
              <a:ext cx="103520" cy="103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00"/>
            </a:p>
          </p:txBody>
        </p:sp>
        <p:sp>
          <p:nvSpPr>
            <p:cNvPr id="32" name="椭圆 31"/>
            <p:cNvSpPr/>
            <p:nvPr/>
          </p:nvSpPr>
          <p:spPr>
            <a:xfrm>
              <a:off x="9984824" y="3102633"/>
              <a:ext cx="103520" cy="103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00"/>
            </a:p>
          </p:txBody>
        </p:sp>
        <p:sp>
          <p:nvSpPr>
            <p:cNvPr id="33" name="椭圆 32"/>
            <p:cNvSpPr/>
            <p:nvPr/>
          </p:nvSpPr>
          <p:spPr>
            <a:xfrm>
              <a:off x="11034366" y="3117011"/>
              <a:ext cx="103520" cy="1035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00"/>
            </a:p>
          </p:txBody>
        </p:sp>
      </p:grpSp>
      <p:sp>
        <p:nvSpPr>
          <p:cNvPr id="34" name="文本框 33"/>
          <p:cNvSpPr txBox="1"/>
          <p:nvPr/>
        </p:nvSpPr>
        <p:spPr>
          <a:xfrm>
            <a:off x="10257155" y="2259965"/>
            <a:ext cx="1217295" cy="645160"/>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系统正式上线，进入持续优化阶段</a:t>
            </a:r>
          </a:p>
        </p:txBody>
      </p:sp>
      <p:sp>
        <p:nvSpPr>
          <p:cNvPr id="36" name="文本框 35"/>
          <p:cNvSpPr txBox="1"/>
          <p:nvPr/>
        </p:nvSpPr>
        <p:spPr>
          <a:xfrm>
            <a:off x="9190355" y="2352040"/>
            <a:ext cx="969645" cy="460375"/>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开展测试与上线准备</a:t>
            </a:r>
          </a:p>
        </p:txBody>
      </p:sp>
      <p:sp>
        <p:nvSpPr>
          <p:cNvPr id="37" name="文本框 36"/>
          <p:cNvSpPr txBox="1"/>
          <p:nvPr/>
        </p:nvSpPr>
        <p:spPr>
          <a:xfrm>
            <a:off x="8652294" y="6599208"/>
            <a:ext cx="0" cy="0"/>
          </a:xfrm>
          <a:prstGeom prst="rect">
            <a:avLst/>
          </a:prstGeom>
          <a:noFill/>
        </p:spPr>
        <p:txBody>
          <a:bodyPr wrap="none" rtlCol="0">
            <a:noAutofit/>
          </a:bodyPr>
          <a:lstStyle/>
          <a:p>
            <a:pPr algn="l"/>
            <a:endParaRPr kumimoji="1" lang="zh-CN" altLang="en-US" dirty="0" err="1">
              <a:solidFill>
                <a:schemeClr val="accent3"/>
              </a:solidFill>
            </a:endParaRPr>
          </a:p>
        </p:txBody>
      </p:sp>
      <p:sp>
        <p:nvSpPr>
          <p:cNvPr id="3" name="文本框 2"/>
          <p:cNvSpPr txBox="1"/>
          <p:nvPr/>
        </p:nvSpPr>
        <p:spPr>
          <a:xfrm>
            <a:off x="7980045" y="3616960"/>
            <a:ext cx="3933825" cy="1283335"/>
          </a:xfrm>
          <a:prstGeom prst="rect">
            <a:avLst/>
          </a:prstGeom>
          <a:noFill/>
        </p:spPr>
        <p:txBody>
          <a:bodyPr wrap="square" rtlCol="0">
            <a:noAutofit/>
          </a:bodyPr>
          <a:lstStyle/>
          <a:p>
            <a:pPr marL="171450" indent="-171450" algn="l">
              <a:buClrTx/>
              <a:buSzTx/>
              <a:buFont typeface="Arial" panose="020B0604020202020204" pitchFamily="34" charset="0"/>
              <a:buChar char="•"/>
            </a:pPr>
            <a:r>
              <a:rPr kumimoji="1" lang="zh-CN" altLang="en-US" sz="1200" dirty="0">
                <a:latin typeface="微软雅黑" panose="020B0503020204020204" pitchFamily="34" charset="-122"/>
                <a:ea typeface="微软雅黑" panose="020B0503020204020204" pitchFamily="34" charset="-122"/>
              </a:rPr>
              <a:t>潜在风险：数据质量风险、技术集成风险、业务流程变革阻力、项目范围蔓延。</a:t>
            </a:r>
          </a:p>
          <a:p>
            <a:pPr marL="171450" indent="-171450" algn="l">
              <a:buClrTx/>
              <a:buSzTx/>
              <a:buFont typeface="Arial" panose="020B0604020202020204" pitchFamily="34" charset="0"/>
              <a:buChar char="•"/>
            </a:pPr>
            <a:r>
              <a:rPr kumimoji="1" lang="zh-CN" altLang="en-US" sz="1200" dirty="0">
                <a:latin typeface="微软雅黑" panose="020B0503020204020204" pitchFamily="34" charset="-122"/>
                <a:ea typeface="微软雅黑" panose="020B0503020204020204" pitchFamily="34" charset="-122"/>
              </a:rPr>
              <a:t>项目依赖：高度依赖跨部门协作、外围系统稳定及决策委员会支持。</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0098" y="389618"/>
            <a:ext cx="9231630" cy="9326880"/>
          </a:xfrm>
        </p:spPr>
        <p:txBody>
          <a:bodyPr/>
          <a:lstStyle/>
          <a:p>
            <a:r>
              <a:rPr lang="en-US" altLang="zh-CN" dirty="0">
                <a:solidFill>
                  <a:schemeClr val="accent1">
                    <a:lumMod val="75000"/>
                  </a:schemeClr>
                </a:solidFill>
              </a:rPr>
              <a:t>02</a:t>
            </a:r>
            <a:endParaRPr lang="zh-CN" altLang="en-US" dirty="0">
              <a:solidFill>
                <a:schemeClr val="accent1">
                  <a:lumMod val="75000"/>
                </a:schemeClr>
              </a:solidFill>
            </a:endParaRPr>
          </a:p>
        </p:txBody>
      </p:sp>
      <p:sp>
        <p:nvSpPr>
          <p:cNvPr id="3" name="Title 2"/>
          <p:cNvSpPr>
            <a:spLocks noGrp="1"/>
          </p:cNvSpPr>
          <p:nvPr>
            <p:ph type="title"/>
          </p:nvPr>
        </p:nvSpPr>
        <p:spPr/>
        <p:txBody>
          <a:bodyPr/>
          <a:lstStyle/>
          <a:p>
            <a:r>
              <a:rPr lang="zh-CN" altLang="en-US" dirty="0">
                <a:solidFill>
                  <a:schemeClr val="accent1">
                    <a:lumMod val="75000"/>
                  </a:schemeClr>
                </a:solidFill>
              </a:rPr>
              <a:t>方案详解及系统实现</a:t>
            </a:r>
            <a:br>
              <a:rPr lang="zh-CN" altLang="en-US" dirty="0">
                <a:solidFill>
                  <a:schemeClr val="accent1">
                    <a:lumMod val="75000"/>
                  </a:schemeClr>
                </a:solidFill>
              </a:rPr>
            </a:br>
            <a:endParaRPr lang="zh-CN" altLang="en-US" dirty="0">
              <a:solidFill>
                <a:schemeClr val="accent1">
                  <a:lumMod val="75000"/>
                </a:schemeClr>
              </a:solidFill>
            </a:endParaRPr>
          </a:p>
        </p:txBody>
      </p:sp>
      <p:pic>
        <p:nvPicPr>
          <p:cNvPr id="4" name="图片 3"/>
          <p:cNvPicPr>
            <a:picLocks noChangeAspect="1"/>
          </p:cNvPicPr>
          <p:nvPr/>
        </p:nvPicPr>
        <p:blipFill>
          <a:blip r:embed="rId2"/>
          <a:stretch>
            <a:fillRect/>
          </a:stretch>
        </p:blipFill>
        <p:spPr>
          <a:xfrm>
            <a:off x="48466" y="125649"/>
            <a:ext cx="1930400" cy="381000"/>
          </a:xfrm>
          <a:prstGeom prst="rect">
            <a:avLst/>
          </a:prstGeom>
        </p:spPr>
      </p:pic>
      <p:sp>
        <p:nvSpPr>
          <p:cNvPr id="5" name="文本框 4"/>
          <p:cNvSpPr txBox="1"/>
          <p:nvPr/>
        </p:nvSpPr>
        <p:spPr>
          <a:xfrm>
            <a:off x="-1293962" y="2622430"/>
            <a:ext cx="0" cy="0"/>
          </a:xfrm>
          <a:prstGeom prst="rect">
            <a:avLst/>
          </a:prstGeom>
          <a:noFill/>
        </p:spPr>
        <p:txBody>
          <a:bodyPr wrap="none" rtlCol="0">
            <a:noAutofit/>
          </a:bodyPr>
          <a:lstStyle/>
          <a:p>
            <a:pPr algn="l"/>
            <a:endParaRPr kumimoji="1" lang="zh-CN" altLang="en-US" dirty="0" err="1">
              <a:solidFill>
                <a:schemeClr val="accent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31800" y="6515100"/>
            <a:ext cx="1358900" cy="152400"/>
          </a:xfrm>
          <a:prstGeom prst="roundRect">
            <a:avLst>
              <a:gd name="adj" fmla="val 0"/>
            </a:avLst>
          </a:prstGeom>
          <a:noFill/>
          <a:ln w="254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7400" y="6451600"/>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292100" y="6413500"/>
            <a:ext cx="1739900" cy="342900"/>
          </a:xfrm>
          <a:prstGeom prst="rect">
            <a:avLst/>
          </a:prstGeom>
          <a:noFill/>
          <a:ln w="25400" cap="flat" cmpd="sng">
            <a:noFill/>
            <a:prstDash val="solid"/>
            <a:round/>
          </a:ln>
        </p:spPr>
      </p:pic>
      <p:sp>
        <p:nvSpPr>
          <p:cNvPr id="5" name="AutoShape 5"/>
          <p:cNvSpPr/>
          <p:nvPr/>
        </p:nvSpPr>
        <p:spPr>
          <a:xfrm>
            <a:off x="431800" y="292100"/>
            <a:ext cx="11341100" cy="9144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dirty="0" err="1">
                <a:solidFill>
                  <a:srgbClr val="0073E6"/>
                </a:solidFill>
                <a:latin typeface="Biennale Bold"/>
                <a:ea typeface="Biennale Bold"/>
                <a:cs typeface="Biennale Bold"/>
                <a:sym typeface="Biennale Bold"/>
              </a:rPr>
              <a:t>项目背景:当前面临的核心挑战</a:t>
            </a:r>
            <a:endParaRPr lang="en-US" sz="1100" dirty="0"/>
          </a:p>
        </p:txBody>
      </p:sp>
      <p:sp>
        <p:nvSpPr>
          <p:cNvPr id="6" name="AutoShape 6"/>
          <p:cNvSpPr/>
          <p:nvPr/>
        </p:nvSpPr>
        <p:spPr>
          <a:xfrm>
            <a:off x="558800" y="1854200"/>
            <a:ext cx="3594100" cy="1143000"/>
          </a:xfrm>
          <a:prstGeom prst="roundRect">
            <a:avLst>
              <a:gd name="adj" fmla="val 0"/>
            </a:avLst>
          </a:prstGeom>
          <a:solidFill>
            <a:srgbClr val="003A73">
              <a:alpha val="100000"/>
            </a:srgbClr>
          </a:solidFill>
          <a:ln cap="flat" cmpd="sng">
            <a:solidFill>
              <a:srgbClr val="002D5A">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58800" y="1930400"/>
            <a:ext cx="3594100" cy="990600"/>
          </a:xfrm>
          <a:prstGeom prst="rect">
            <a:avLst/>
          </a:prstGeom>
          <a:noFill/>
          <a:ln w="12700" cap="flat" cmpd="sng">
            <a:noFill/>
            <a:prstDash val="solid"/>
            <a:round/>
          </a:ln>
        </p:spPr>
        <p:txBody>
          <a:bodyPr vert="horz" wrap="square" lIns="177800" tIns="0" rIns="177800" bIns="0" rtlCol="0" anchor="ctr" anchorCtr="0"/>
          <a:lstStyle/>
          <a:p>
            <a:pPr marL="0" indent="0" algn="ctr">
              <a:lnSpc>
                <a:spcPct val="92000"/>
              </a:lnSpc>
              <a:defRPr/>
            </a:pPr>
            <a:r>
              <a:rPr lang="en-US" sz="2600" b="0" i="0" u="none" strike="noStrike">
                <a:solidFill>
                  <a:srgbClr val="FFFFFF">
                    <a:alpha val="54902"/>
                  </a:srgbClr>
                </a:solidFill>
                <a:latin typeface="Biennale Bold"/>
                <a:ea typeface="Biennale Bold"/>
                <a:cs typeface="Biennale Bold"/>
                <a:sym typeface="Biennale Bold"/>
              </a:rPr>
              <a:t>01</a:t>
            </a:r>
            <a:endParaRPr lang="en-US" sz="1100"/>
          </a:p>
          <a:p>
            <a:pPr marL="0" indent="0" algn="ctr">
              <a:lnSpc>
                <a:spcPct val="100000"/>
              </a:lnSpc>
            </a:pPr>
            <a:r>
              <a:rPr lang="en-US" sz="2000" b="1" i="0" u="none" strike="noStrike">
                <a:solidFill>
                  <a:srgbClr val="FFFFFF"/>
                </a:solidFill>
                <a:latin typeface="Biennale Bold"/>
                <a:ea typeface="Biennale Bold"/>
                <a:cs typeface="Biennale Bold"/>
                <a:sym typeface="Biennale Bold"/>
              </a:rPr>
              <a:t>创新效率瓶颈</a:t>
            </a:r>
          </a:p>
        </p:txBody>
      </p:sp>
      <p:sp>
        <p:nvSpPr>
          <p:cNvPr id="8" name="AutoShape 8"/>
          <p:cNvSpPr/>
          <p:nvPr/>
        </p:nvSpPr>
        <p:spPr>
          <a:xfrm>
            <a:off x="558800" y="3048000"/>
            <a:ext cx="3594100" cy="1244600"/>
          </a:xfrm>
          <a:prstGeom prst="roundRect">
            <a:avLst>
              <a:gd name="adj" fmla="val 0"/>
            </a:avLst>
          </a:prstGeom>
          <a:solidFill>
            <a:srgbClr val="0073E6">
              <a:alpha val="10000"/>
            </a:srgbClr>
          </a:solidFill>
          <a:ln cap="flat" cmpd="sng">
            <a:solidFill>
              <a:srgbClr val="0066CD">
                <a:alpha val="1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558800" y="3048000"/>
            <a:ext cx="50800" cy="1244600"/>
          </a:xfrm>
          <a:prstGeom prst="roundRect">
            <a:avLst>
              <a:gd name="adj" fmla="val 0"/>
            </a:avLst>
          </a:prstGeom>
          <a:solidFill>
            <a:srgbClr val="0073E6">
              <a:alpha val="100000"/>
            </a:srgbClr>
          </a:solidFill>
          <a:ln cap="flat" cmpd="sng">
            <a:solidFill>
              <a:srgbClr val="0066CD">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36600" y="3048000"/>
            <a:ext cx="330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003A73"/>
                </a:solidFill>
                <a:latin typeface="Noto Sans SC" panose="020B0200000000000000" charset="-122"/>
                <a:ea typeface="Noto Sans SC" panose="020B0200000000000000" charset="-122"/>
                <a:cs typeface="Noto Sans SC" panose="020B0200000000000000" charset="-122"/>
                <a:sym typeface="Noto Sans SC" panose="020B0200000000000000" charset="-122"/>
              </a:rPr>
              <a:t>转化周期过长</a:t>
            </a:r>
            <a:endParaRPr lang="en-US" sz="1100"/>
          </a:p>
        </p:txBody>
      </p:sp>
      <p:sp>
        <p:nvSpPr>
          <p:cNvPr id="11" name="AutoShape 11"/>
          <p:cNvSpPr/>
          <p:nvPr/>
        </p:nvSpPr>
        <p:spPr>
          <a:xfrm>
            <a:off x="736600" y="3378200"/>
            <a:ext cx="3327400" cy="6604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200" b="0" i="0" u="none" strike="noStrike" dirty="0" err="1">
                <a:solidFill>
                  <a:srgbClr val="1F2329">
                    <a:alpha val="78039"/>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从产品创意到最终上市的转化周期过长,无法快速响应市场变化</a:t>
            </a:r>
            <a:r>
              <a:rPr lang="en-US" sz="1200" b="0" i="0" u="none" strike="noStrike" dirty="0">
                <a:solidFill>
                  <a:srgbClr val="1F2329">
                    <a:alpha val="78039"/>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6" name="AutoShape 16"/>
          <p:cNvSpPr/>
          <p:nvPr/>
        </p:nvSpPr>
        <p:spPr>
          <a:xfrm>
            <a:off x="4330700" y="1854200"/>
            <a:ext cx="3594100" cy="1143000"/>
          </a:xfrm>
          <a:prstGeom prst="roundRect">
            <a:avLst>
              <a:gd name="adj" fmla="val 0"/>
            </a:avLst>
          </a:prstGeom>
          <a:solidFill>
            <a:srgbClr val="003A73">
              <a:alpha val="100000"/>
            </a:srgbClr>
          </a:solidFill>
          <a:ln cap="flat" cmpd="sng">
            <a:solidFill>
              <a:srgbClr val="002D5A">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330700" y="1930400"/>
            <a:ext cx="3594100" cy="990600"/>
          </a:xfrm>
          <a:prstGeom prst="rect">
            <a:avLst/>
          </a:prstGeom>
          <a:noFill/>
          <a:ln w="12700" cap="flat" cmpd="sng">
            <a:noFill/>
            <a:prstDash val="solid"/>
            <a:round/>
          </a:ln>
        </p:spPr>
        <p:txBody>
          <a:bodyPr vert="horz" wrap="square" lIns="177800" tIns="0" rIns="177800" bIns="0" rtlCol="0" anchor="ctr" anchorCtr="0"/>
          <a:lstStyle/>
          <a:p>
            <a:pPr marL="0" indent="0" algn="ctr">
              <a:lnSpc>
                <a:spcPct val="92000"/>
              </a:lnSpc>
              <a:defRPr/>
            </a:pPr>
            <a:r>
              <a:rPr lang="en-US" sz="2600" b="0" i="0" u="none" strike="noStrike">
                <a:solidFill>
                  <a:srgbClr val="FFFFFF">
                    <a:alpha val="54902"/>
                  </a:srgbClr>
                </a:solidFill>
                <a:latin typeface="Biennale Bold"/>
                <a:ea typeface="Biennale Bold"/>
                <a:cs typeface="Biennale Bold"/>
                <a:sym typeface="Biennale Bold"/>
              </a:rPr>
              <a:t>02</a:t>
            </a:r>
            <a:endParaRPr lang="en-US" sz="1100"/>
          </a:p>
          <a:p>
            <a:pPr marL="0" indent="0" algn="ctr">
              <a:lnSpc>
                <a:spcPct val="100000"/>
              </a:lnSpc>
            </a:pPr>
            <a:r>
              <a:rPr lang="en-US" sz="2000" b="1" i="0" u="none" strike="noStrike">
                <a:solidFill>
                  <a:srgbClr val="FFFFFF"/>
                </a:solidFill>
                <a:latin typeface="Biennale Bold"/>
                <a:ea typeface="Biennale Bold"/>
                <a:cs typeface="Biennale Bold"/>
                <a:sym typeface="Biennale Bold"/>
              </a:rPr>
              <a:t>数据孤岛严重</a:t>
            </a:r>
          </a:p>
        </p:txBody>
      </p:sp>
      <p:sp>
        <p:nvSpPr>
          <p:cNvPr id="18" name="AutoShape 18"/>
          <p:cNvSpPr/>
          <p:nvPr/>
        </p:nvSpPr>
        <p:spPr>
          <a:xfrm>
            <a:off x="4330700" y="3048000"/>
            <a:ext cx="3594100" cy="1244600"/>
          </a:xfrm>
          <a:prstGeom prst="roundRect">
            <a:avLst>
              <a:gd name="adj" fmla="val 0"/>
            </a:avLst>
          </a:prstGeom>
          <a:solidFill>
            <a:srgbClr val="0073E6">
              <a:alpha val="10000"/>
            </a:srgbClr>
          </a:solidFill>
          <a:ln cap="flat" cmpd="sng">
            <a:solidFill>
              <a:srgbClr val="0066CD">
                <a:alpha val="1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4330700" y="3048000"/>
            <a:ext cx="50800" cy="1244600"/>
          </a:xfrm>
          <a:prstGeom prst="roundRect">
            <a:avLst>
              <a:gd name="adj" fmla="val 0"/>
            </a:avLst>
          </a:prstGeom>
          <a:solidFill>
            <a:srgbClr val="0073E6">
              <a:alpha val="100000"/>
            </a:srgbClr>
          </a:solidFill>
          <a:ln cap="flat" cmpd="sng">
            <a:solidFill>
              <a:srgbClr val="0066CD">
                <a:alpha val="10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4508500" y="3048000"/>
            <a:ext cx="330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003A73"/>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业务系统割裂</a:t>
            </a:r>
            <a:endParaRPr lang="en-US" sz="1100"/>
          </a:p>
        </p:txBody>
      </p:sp>
      <p:sp>
        <p:nvSpPr>
          <p:cNvPr id="21" name="AutoShape 21"/>
          <p:cNvSpPr/>
          <p:nvPr/>
        </p:nvSpPr>
        <p:spPr>
          <a:xfrm>
            <a:off x="4508500" y="3378200"/>
            <a:ext cx="3327400" cy="6604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200" b="0" i="0" u="none" strike="noStrike">
                <a:solidFill>
                  <a:srgbClr val="1F2329">
                    <a:alpha val="78039"/>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研发(PLM)、生产(PP)和财务(FICO)的数据相互割裂,信息传递不畅。</a:t>
            </a:r>
            <a:endParaRPr lang="en-US" sz="1100"/>
          </a:p>
        </p:txBody>
      </p:sp>
      <p:sp>
        <p:nvSpPr>
          <p:cNvPr id="26" name="AutoShape 26"/>
          <p:cNvSpPr/>
          <p:nvPr/>
        </p:nvSpPr>
        <p:spPr>
          <a:xfrm>
            <a:off x="8115300" y="1854200"/>
            <a:ext cx="3594100" cy="1143000"/>
          </a:xfrm>
          <a:prstGeom prst="roundRect">
            <a:avLst>
              <a:gd name="adj" fmla="val 0"/>
            </a:avLst>
          </a:prstGeom>
          <a:solidFill>
            <a:srgbClr val="003A73">
              <a:alpha val="100000"/>
            </a:srgbClr>
          </a:solidFill>
          <a:ln cap="flat" cmpd="sng">
            <a:solidFill>
              <a:srgbClr val="002D5A">
                <a:alpha val="100000"/>
              </a:srgbClr>
            </a:solid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8115300" y="1930400"/>
            <a:ext cx="3594100" cy="990600"/>
          </a:xfrm>
          <a:prstGeom prst="rect">
            <a:avLst/>
          </a:prstGeom>
          <a:noFill/>
          <a:ln w="12700" cap="flat" cmpd="sng">
            <a:noFill/>
            <a:prstDash val="solid"/>
            <a:round/>
          </a:ln>
        </p:spPr>
        <p:txBody>
          <a:bodyPr vert="horz" wrap="square" lIns="177800" tIns="0" rIns="177800" bIns="0" rtlCol="0" anchor="ctr" anchorCtr="0"/>
          <a:lstStyle/>
          <a:p>
            <a:pPr marL="0" indent="0" algn="ctr">
              <a:lnSpc>
                <a:spcPct val="92000"/>
              </a:lnSpc>
              <a:defRPr/>
            </a:pPr>
            <a:r>
              <a:rPr lang="en-US" sz="2600" b="0" i="0" u="none" strike="noStrike">
                <a:solidFill>
                  <a:srgbClr val="FFFFFF">
                    <a:alpha val="54902"/>
                  </a:srgbClr>
                </a:solidFill>
                <a:latin typeface="Biennale Bold"/>
                <a:ea typeface="Biennale Bold"/>
                <a:cs typeface="Biennale Bold"/>
                <a:sym typeface="Biennale Bold"/>
              </a:rPr>
              <a:t>03</a:t>
            </a:r>
            <a:endParaRPr lang="en-US" sz="1100"/>
          </a:p>
          <a:p>
            <a:pPr marL="0" indent="0" algn="ctr">
              <a:lnSpc>
                <a:spcPct val="100000"/>
              </a:lnSpc>
            </a:pPr>
            <a:r>
              <a:rPr lang="en-US" sz="2000" b="1" i="0" u="none" strike="noStrike">
                <a:solidFill>
                  <a:srgbClr val="FFFFFF"/>
                </a:solidFill>
                <a:latin typeface="Biennale Bold"/>
                <a:ea typeface="Biennale Bold"/>
                <a:cs typeface="Biennale Bold"/>
                <a:sym typeface="Biennale Bold"/>
              </a:rPr>
              <a:t>成本核算粗放</a:t>
            </a:r>
          </a:p>
        </p:txBody>
      </p:sp>
      <p:sp>
        <p:nvSpPr>
          <p:cNvPr id="28" name="AutoShape 28"/>
          <p:cNvSpPr/>
          <p:nvPr/>
        </p:nvSpPr>
        <p:spPr>
          <a:xfrm>
            <a:off x="8115300" y="3048000"/>
            <a:ext cx="3594100" cy="1244600"/>
          </a:xfrm>
          <a:prstGeom prst="roundRect">
            <a:avLst>
              <a:gd name="adj" fmla="val 0"/>
            </a:avLst>
          </a:prstGeom>
          <a:solidFill>
            <a:srgbClr val="0073E6">
              <a:alpha val="10000"/>
            </a:srgbClr>
          </a:solidFill>
          <a:ln cap="flat" cmpd="sng">
            <a:solidFill>
              <a:srgbClr val="0066CD">
                <a:alpha val="1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8115300" y="3048000"/>
            <a:ext cx="50800" cy="1244600"/>
          </a:xfrm>
          <a:prstGeom prst="roundRect">
            <a:avLst>
              <a:gd name="adj" fmla="val 0"/>
            </a:avLst>
          </a:prstGeom>
          <a:solidFill>
            <a:srgbClr val="0073E6">
              <a:alpha val="100000"/>
            </a:srgbClr>
          </a:solidFill>
          <a:ln cap="flat" cmpd="sng">
            <a:solidFill>
              <a:srgbClr val="0066CD">
                <a:alpha val="100000"/>
              </a:srgbClr>
            </a:solid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8293100" y="3048000"/>
            <a:ext cx="330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003A73"/>
                </a:solidFill>
                <a:latin typeface="Noto Sans SC" panose="020B0200000000000000" charset="-122"/>
                <a:ea typeface="Noto Sans SC" panose="020B0200000000000000" charset="-122"/>
                <a:cs typeface="Noto Sans SC" panose="020B0200000000000000" charset="-122"/>
                <a:sym typeface="Noto Sans SC" panose="020B0200000000000000" charset="-122"/>
              </a:rPr>
              <a:t>费用分摊不准</a:t>
            </a:r>
            <a:endParaRPr lang="en-US" sz="1100"/>
          </a:p>
        </p:txBody>
      </p:sp>
      <p:sp>
        <p:nvSpPr>
          <p:cNvPr id="31" name="AutoShape 31"/>
          <p:cNvSpPr/>
          <p:nvPr/>
        </p:nvSpPr>
        <p:spPr>
          <a:xfrm>
            <a:off x="8293100" y="3378200"/>
            <a:ext cx="3327400" cy="6604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200" b="0" i="0" u="none" strike="noStrike" dirty="0" err="1">
                <a:solidFill>
                  <a:srgbClr val="1F2329">
                    <a:alpha val="78039"/>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研发费用,特别是间接费用</a:t>
            </a:r>
            <a:r>
              <a:rPr lang="en-US" sz="1200" b="0" i="0" u="none" strike="noStrike" dirty="0">
                <a:solidFill>
                  <a:srgbClr val="1F2329">
                    <a:alpha val="78039"/>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1F2329">
                    <a:alpha val="78039"/>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如共用设备折旧</a:t>
            </a:r>
            <a:r>
              <a:rPr lang="en-US" sz="1200" b="0" i="0" u="none" strike="noStrike" dirty="0">
                <a:solidFill>
                  <a:srgbClr val="1F2329">
                    <a:alpha val="78039"/>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1F2329">
                    <a:alpha val="78039"/>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分摊不准确</a:t>
            </a:r>
            <a:r>
              <a:rPr lang="en-US" sz="1200" b="0" i="0" u="none" strike="noStrike" dirty="0">
                <a:solidFill>
                  <a:srgbClr val="1F2329">
                    <a:alpha val="78039"/>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31800" y="6515100"/>
            <a:ext cx="1358900" cy="152400"/>
          </a:xfrm>
          <a:prstGeom prst="roundRect">
            <a:avLst>
              <a:gd name="adj" fmla="val 0"/>
            </a:avLst>
          </a:prstGeom>
          <a:noFill/>
          <a:ln w="254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7400" y="6451600"/>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292100" y="6413500"/>
            <a:ext cx="1739900" cy="342900"/>
          </a:xfrm>
          <a:prstGeom prst="rect">
            <a:avLst/>
          </a:prstGeom>
          <a:noFill/>
          <a:ln w="25400" cap="flat" cmpd="sng">
            <a:noFill/>
            <a:prstDash val="solid"/>
            <a:round/>
          </a:ln>
        </p:spPr>
      </p:pic>
      <p:sp>
        <p:nvSpPr>
          <p:cNvPr id="5" name="AutoShape 5"/>
          <p:cNvSpPr/>
          <p:nvPr/>
        </p:nvSpPr>
        <p:spPr>
          <a:xfrm>
            <a:off x="10160000" y="-635000"/>
            <a:ext cx="2540000" cy="254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35000" y="5080000"/>
            <a:ext cx="1905000" cy="1905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431800" y="292100"/>
            <a:ext cx="11341100" cy="9144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Biennale Bold"/>
                <a:ea typeface="Biennale Bold"/>
                <a:cs typeface="Biennale Bold"/>
                <a:sym typeface="Biennale Bold"/>
              </a:rPr>
              <a:t>项目目标:构建数字化研发管理体系</a:t>
            </a:r>
            <a:endParaRPr lang="en-US" sz="1100"/>
          </a:p>
        </p:txBody>
      </p:sp>
      <p:sp>
        <p:nvSpPr>
          <p:cNvPr id="8" name="AutoShape 8"/>
          <p:cNvSpPr/>
          <p:nvPr/>
        </p:nvSpPr>
        <p:spPr>
          <a:xfrm>
            <a:off x="508000" y="1155700"/>
            <a:ext cx="2667000" cy="4191000"/>
          </a:xfrm>
          <a:prstGeom prst="roundRect">
            <a:avLst>
              <a:gd name="adj" fmla="val 0"/>
            </a:avLst>
          </a:prstGeom>
          <a:solidFill>
            <a:srgbClr val="3B82F6">
              <a:alpha val="8000"/>
            </a:srgbClr>
          </a:solidFill>
          <a:ln w="12700" cap="flat" cmpd="sng">
            <a:solidFill>
              <a:srgbClr val="3B82F6">
                <a:alpha val="5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508000" y="1155700"/>
            <a:ext cx="2667000" cy="635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08000" y="1257300"/>
            <a:ext cx="2667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统一管理平台</a:t>
            </a:r>
            <a:endParaRPr lang="en-US" sz="1100"/>
          </a:p>
        </p:txBody>
      </p:sp>
      <p:sp>
        <p:nvSpPr>
          <p:cNvPr id="11" name="AutoShape 11"/>
          <p:cNvSpPr/>
          <p:nvPr/>
        </p:nvSpPr>
        <p:spPr>
          <a:xfrm>
            <a:off x="635000" y="20447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98500" y="21082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全周期整合</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整合项目、流程、数据于一体,覆盖预研至量产</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3" name="AutoShape 13"/>
          <p:cNvSpPr/>
          <p:nvPr/>
        </p:nvSpPr>
        <p:spPr>
          <a:xfrm>
            <a:off x="635000" y="28067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98500" y="28702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endParaRPr lang="en-US" sz="1100" dirty="0"/>
          </a:p>
        </p:txBody>
      </p:sp>
      <p:sp>
        <p:nvSpPr>
          <p:cNvPr id="15" name="AutoShape 15"/>
          <p:cNvSpPr/>
          <p:nvPr/>
        </p:nvSpPr>
        <p:spPr>
          <a:xfrm>
            <a:off x="647700" y="29845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11200" y="30480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协同提效</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跨部门高效协同,提升研发资源利用率。</a:t>
            </a:r>
            <a:endParaRPr lang="en-US" sz="1100"/>
          </a:p>
        </p:txBody>
      </p:sp>
      <p:sp>
        <p:nvSpPr>
          <p:cNvPr id="17" name="AutoShape 17"/>
          <p:cNvSpPr/>
          <p:nvPr/>
        </p:nvSpPr>
        <p:spPr>
          <a:xfrm>
            <a:off x="647700" y="38100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11200" y="38735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标准落地</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固化标准流程,减少人为干预与执行偏差。</a:t>
            </a:r>
            <a:endParaRPr lang="en-US" sz="1100"/>
          </a:p>
        </p:txBody>
      </p:sp>
      <p:sp>
        <p:nvSpPr>
          <p:cNvPr id="19" name="AutoShape 19"/>
          <p:cNvSpPr/>
          <p:nvPr/>
        </p:nvSpPr>
        <p:spPr>
          <a:xfrm>
            <a:off x="3340100" y="1155700"/>
            <a:ext cx="2667000" cy="4191000"/>
          </a:xfrm>
          <a:prstGeom prst="roundRect">
            <a:avLst>
              <a:gd name="adj" fmla="val 0"/>
            </a:avLst>
          </a:prstGeom>
          <a:solidFill>
            <a:srgbClr val="3B82F6">
              <a:alpha val="8000"/>
            </a:srgbClr>
          </a:solidFill>
          <a:ln w="12700" cap="flat" cmpd="sng">
            <a:solidFill>
              <a:srgbClr val="3B82F6">
                <a:alpha val="5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3340100" y="1155700"/>
            <a:ext cx="2667000" cy="635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3340100" y="1257300"/>
            <a:ext cx="2667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精细费用核算</a:t>
            </a:r>
            <a:endParaRPr lang="en-US" sz="1100"/>
          </a:p>
        </p:txBody>
      </p:sp>
      <p:sp>
        <p:nvSpPr>
          <p:cNvPr id="22" name="AutoShape 22"/>
          <p:cNvSpPr/>
          <p:nvPr/>
        </p:nvSpPr>
        <p:spPr>
          <a:xfrm>
            <a:off x="3467100" y="20447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3530600" y="21082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合规归集</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建立科学、合规的研发费用归集与分摊体系</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4" name="AutoShape 24"/>
          <p:cNvSpPr/>
          <p:nvPr/>
        </p:nvSpPr>
        <p:spPr>
          <a:xfrm>
            <a:off x="3467100" y="28067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3530600" y="28702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多口径适配</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满足财务核算、高新申报、税务稽查多重要求</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6" name="AutoShape 26"/>
          <p:cNvSpPr/>
          <p:nvPr/>
        </p:nvSpPr>
        <p:spPr>
          <a:xfrm>
            <a:off x="3467100" y="35687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3530600" y="36322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精准核算</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精准归集费用颗粒度,支撑真实成本分析</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8" name="AutoShape 28"/>
          <p:cNvSpPr/>
          <p:nvPr/>
        </p:nvSpPr>
        <p:spPr>
          <a:xfrm>
            <a:off x="3467100" y="43942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3530600" y="44577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风险规避</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规避核算风险,保障研发投入真实公允</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30" name="AutoShape 30"/>
          <p:cNvSpPr/>
          <p:nvPr/>
        </p:nvSpPr>
        <p:spPr>
          <a:xfrm>
            <a:off x="6172200" y="1155700"/>
            <a:ext cx="2667000" cy="4191000"/>
          </a:xfrm>
          <a:prstGeom prst="roundRect">
            <a:avLst>
              <a:gd name="adj" fmla="val 0"/>
            </a:avLst>
          </a:prstGeom>
          <a:solidFill>
            <a:srgbClr val="3B82F6">
              <a:alpha val="8000"/>
            </a:srgbClr>
          </a:solidFill>
          <a:ln w="12700" cap="flat" cmpd="sng">
            <a:solidFill>
              <a:srgbClr val="3B82F6">
                <a:alpha val="50000"/>
              </a:srgbClr>
            </a:solid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172200" y="1155700"/>
            <a:ext cx="2667000" cy="635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6172200" y="1257300"/>
            <a:ext cx="2667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 强化过程管控</a:t>
            </a:r>
            <a:endParaRPr lang="en-US" sz="1100"/>
          </a:p>
        </p:txBody>
      </p:sp>
      <p:sp>
        <p:nvSpPr>
          <p:cNvPr id="33" name="AutoShape 33"/>
          <p:cNvSpPr/>
          <p:nvPr/>
        </p:nvSpPr>
        <p:spPr>
          <a:xfrm>
            <a:off x="6299200" y="20447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6299200" y="28067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6362700" y="21463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动态追踪</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实时监控项目成本</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消耗与资源使用</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39" name="AutoShape 39"/>
          <p:cNvSpPr/>
          <p:nvPr/>
        </p:nvSpPr>
        <p:spPr>
          <a:xfrm>
            <a:off x="6235700" y="30480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40"/>
          <p:cNvSpPr/>
          <p:nvPr/>
        </p:nvSpPr>
        <p:spPr>
          <a:xfrm>
            <a:off x="6362700" y="31115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落地执行</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实现过程管控落地,提升研发交付效率</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41" name="AutoShape 41"/>
          <p:cNvSpPr/>
          <p:nvPr/>
        </p:nvSpPr>
        <p:spPr>
          <a:xfrm>
            <a:off x="9004300" y="1155700"/>
            <a:ext cx="2667000" cy="4191000"/>
          </a:xfrm>
          <a:prstGeom prst="roundRect">
            <a:avLst>
              <a:gd name="adj" fmla="val 0"/>
            </a:avLst>
          </a:prstGeom>
          <a:solidFill>
            <a:srgbClr val="3B82F6">
              <a:alpha val="8000"/>
            </a:srgbClr>
          </a:solidFill>
          <a:ln w="12700" cap="flat" cmpd="sng">
            <a:solidFill>
              <a:srgbClr val="3B82F6">
                <a:alpha val="50000"/>
              </a:srgbClr>
            </a:solid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9004300" y="1155700"/>
            <a:ext cx="2667000" cy="635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9004300" y="1257300"/>
            <a:ext cx="2667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 数据驱动决策</a:t>
            </a:r>
            <a:endParaRPr lang="en-US" sz="1100"/>
          </a:p>
        </p:txBody>
      </p:sp>
      <p:sp>
        <p:nvSpPr>
          <p:cNvPr id="44" name="AutoShape 44"/>
          <p:cNvSpPr/>
          <p:nvPr/>
        </p:nvSpPr>
        <p:spPr>
          <a:xfrm>
            <a:off x="9131300" y="20447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AutoShape 45"/>
          <p:cNvSpPr/>
          <p:nvPr/>
        </p:nvSpPr>
        <p:spPr>
          <a:xfrm>
            <a:off x="9194800" y="21082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报表</a:t>
            </a: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研发项目投入分析，高新申报报表</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46" name="AutoShape 46"/>
          <p:cNvSpPr/>
          <p:nvPr/>
        </p:nvSpPr>
        <p:spPr>
          <a:xfrm>
            <a:off x="9131300" y="28067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AutoShape 47"/>
          <p:cNvSpPr/>
          <p:nvPr/>
        </p:nvSpPr>
        <p:spPr>
          <a:xfrm>
            <a:off x="9194800" y="28702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价值评估</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量化项目ROI,科学评估投入产出比</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48" name="AutoShape 48"/>
          <p:cNvSpPr/>
          <p:nvPr/>
        </p:nvSpPr>
        <p:spPr>
          <a:xfrm>
            <a:off x="9131300" y="35687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49"/>
          <p:cNvSpPr/>
          <p:nvPr/>
        </p:nvSpPr>
        <p:spPr>
          <a:xfrm>
            <a:off x="9194800" y="36322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科学决策</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基于真实数据,支撑研发战略精准落地</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50" name="AutoShape 50"/>
          <p:cNvSpPr/>
          <p:nvPr/>
        </p:nvSpPr>
        <p:spPr>
          <a:xfrm>
            <a:off x="9131300" y="4394200"/>
            <a:ext cx="2413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51"/>
          <p:cNvSpPr/>
          <p:nvPr/>
        </p:nvSpPr>
        <p:spPr>
          <a:xfrm>
            <a:off x="9194800" y="44577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资源优化</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合理分配研发资源,最大化资源利用价值。</a:t>
            </a:r>
            <a:endParaRPr lang="en-US" sz="1100"/>
          </a:p>
        </p:txBody>
      </p:sp>
      <p:sp>
        <p:nvSpPr>
          <p:cNvPr id="52" name="AutoShape 52"/>
          <p:cNvSpPr/>
          <p:nvPr/>
        </p:nvSpPr>
        <p:spPr>
          <a:xfrm>
            <a:off x="508000" y="5537200"/>
            <a:ext cx="11176000" cy="698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AutoShape 53"/>
          <p:cNvSpPr/>
          <p:nvPr/>
        </p:nvSpPr>
        <p:spPr>
          <a:xfrm>
            <a:off x="635000" y="5638800"/>
            <a:ext cx="10922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核心价值:数字化赋能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通过四大目标的落地,打造高效、合规、透明的研发管理生态,释放研发生产力,让每一笔投入都产生清晰可见的回报。</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31800" y="6515100"/>
            <a:ext cx="1358900" cy="152400"/>
          </a:xfrm>
          <a:prstGeom prst="roundRect">
            <a:avLst>
              <a:gd name="adj" fmla="val 0"/>
            </a:avLst>
          </a:prstGeom>
          <a:noFill/>
          <a:ln w="254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7400" y="6451600"/>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292100" y="6413500"/>
            <a:ext cx="1739900" cy="342900"/>
          </a:xfrm>
          <a:prstGeom prst="rect">
            <a:avLst/>
          </a:prstGeom>
          <a:noFill/>
          <a:ln w="25400" cap="flat" cmpd="sng">
            <a:noFill/>
            <a:prstDash val="solid"/>
            <a:round/>
          </a:ln>
        </p:spPr>
      </p:pic>
      <p:sp>
        <p:nvSpPr>
          <p:cNvPr id="5" name="AutoShape 5"/>
          <p:cNvSpPr/>
          <p:nvPr/>
        </p:nvSpPr>
        <p:spPr>
          <a:xfrm>
            <a:off x="10160000" y="-635000"/>
            <a:ext cx="2540000" cy="254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35000" y="5080000"/>
            <a:ext cx="1905000" cy="1905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431800" y="292100"/>
            <a:ext cx="11341100" cy="9144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Biennale Bold"/>
                <a:ea typeface="Biennale Bold"/>
                <a:cs typeface="Biennale Bold"/>
                <a:sym typeface="Biennale Bold"/>
              </a:rPr>
              <a:t>核心问题诊断:四大痛点亟待解决</a:t>
            </a:r>
            <a:endParaRPr lang="en-US" sz="1100"/>
          </a:p>
        </p:txBody>
      </p:sp>
      <p:sp>
        <p:nvSpPr>
          <p:cNvPr id="8" name="AutoShape 8"/>
          <p:cNvSpPr/>
          <p:nvPr/>
        </p:nvSpPr>
        <p:spPr>
          <a:xfrm>
            <a:off x="508000" y="1155700"/>
            <a:ext cx="2667000" cy="4191000"/>
          </a:xfrm>
          <a:prstGeom prst="roundRect">
            <a:avLst>
              <a:gd name="adj" fmla="val 0"/>
            </a:avLst>
          </a:prstGeom>
          <a:solidFill>
            <a:srgbClr val="3B82F6">
              <a:alpha val="8000"/>
            </a:srgbClr>
          </a:solidFill>
          <a:ln w="12700" cap="flat" cmpd="sng">
            <a:solidFill>
              <a:srgbClr val="3B82F6">
                <a:alpha val="5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508000" y="1155700"/>
            <a:ext cx="2667000" cy="635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08000" y="1257300"/>
            <a:ext cx="2667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核算体系复杂</a:t>
            </a:r>
            <a:endParaRPr lang="en-US" sz="1100"/>
          </a:p>
        </p:txBody>
      </p:sp>
      <p:sp>
        <p:nvSpPr>
          <p:cNvPr id="11" name="AutoShape 11"/>
          <p:cNvSpPr/>
          <p:nvPr/>
        </p:nvSpPr>
        <p:spPr>
          <a:xfrm>
            <a:off x="635000" y="1905000"/>
            <a:ext cx="2413000" cy="952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98500" y="1968500"/>
            <a:ext cx="2286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6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多口径需求</a:t>
            </a:r>
            <a:endParaRPr lang="en-US" sz="1100" dirty="0"/>
          </a:p>
          <a:p>
            <a:pPr marL="0" indent="0" algn="l">
              <a:lnSpc>
                <a:spcPct val="96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需同时满足法定、高新</a:t>
            </a:r>
            <a:r>
              <a:rPr lang="zh-CN" altLang="en-US"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的多口径</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口径,手工调整工作量大且易出错</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13" name="AutoShape 13"/>
          <p:cNvSpPr/>
          <p:nvPr/>
        </p:nvSpPr>
        <p:spPr>
          <a:xfrm>
            <a:off x="635000" y="2946400"/>
            <a:ext cx="2413000" cy="952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98500" y="3009900"/>
            <a:ext cx="2286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6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归集对象不统一</a:t>
            </a:r>
            <a:endParaRPr lang="en-US" sz="1100" dirty="0"/>
          </a:p>
          <a:p>
            <a:pPr marL="0" indent="0" algn="l">
              <a:lnSpc>
                <a:spcPct val="96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预研、立项、试产等阶段采用不同成本对象,难以形成统一项目成本视图</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15" name="AutoShape 15"/>
          <p:cNvSpPr/>
          <p:nvPr/>
        </p:nvSpPr>
        <p:spPr>
          <a:xfrm>
            <a:off x="3340100" y="1155700"/>
            <a:ext cx="2667000" cy="4191000"/>
          </a:xfrm>
          <a:prstGeom prst="roundRect">
            <a:avLst>
              <a:gd name="adj" fmla="val 0"/>
            </a:avLst>
          </a:prstGeom>
          <a:solidFill>
            <a:srgbClr val="3B82F6">
              <a:alpha val="8000"/>
            </a:srgbClr>
          </a:solidFill>
          <a:ln w="12700" cap="flat" cmpd="sng">
            <a:solidFill>
              <a:srgbClr val="3B82F6">
                <a:alpha val="5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3340100" y="1155700"/>
            <a:ext cx="2667000" cy="635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3340100" y="1257300"/>
            <a:ext cx="2667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共用资源分摊困难</a:t>
            </a:r>
            <a:endParaRPr lang="en-US" sz="1100"/>
          </a:p>
        </p:txBody>
      </p:sp>
      <p:sp>
        <p:nvSpPr>
          <p:cNvPr id="18" name="AutoShape 18"/>
          <p:cNvSpPr/>
          <p:nvPr/>
        </p:nvSpPr>
        <p:spPr>
          <a:xfrm>
            <a:off x="3467100" y="1905000"/>
            <a:ext cx="2413000" cy="952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3530600" y="1968500"/>
            <a:ext cx="2286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6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共用设备折旧</a:t>
            </a:r>
            <a:endParaRPr lang="en-US" sz="1100" dirty="0"/>
          </a:p>
          <a:p>
            <a:pPr marL="0" indent="0" algn="l">
              <a:lnSpc>
                <a:spcPct val="96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研发与生产共用设备的折旧费用分摊缺乏有效数据和机制</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20" name="AutoShape 20"/>
          <p:cNvSpPr/>
          <p:nvPr/>
        </p:nvSpPr>
        <p:spPr>
          <a:xfrm>
            <a:off x="3467100" y="2946400"/>
            <a:ext cx="2413000" cy="952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3530600" y="3009900"/>
            <a:ext cx="2286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6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人工成本分摊</a:t>
            </a:r>
            <a:endParaRPr lang="en-US" sz="1100" dirty="0"/>
          </a:p>
          <a:p>
            <a:pPr marL="0" indent="0" algn="l">
              <a:lnSpc>
                <a:spcPct val="96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研发人员同时参与多项目,人工成本精确分摊缺乏可靠记录</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22" name="AutoShape 22"/>
          <p:cNvSpPr/>
          <p:nvPr/>
        </p:nvSpPr>
        <p:spPr>
          <a:xfrm>
            <a:off x="6172200" y="1155700"/>
            <a:ext cx="2667000" cy="4191000"/>
          </a:xfrm>
          <a:prstGeom prst="roundRect">
            <a:avLst>
              <a:gd name="adj" fmla="val 0"/>
            </a:avLst>
          </a:prstGeom>
          <a:solidFill>
            <a:srgbClr val="3B82F6">
              <a:alpha val="8000"/>
            </a:srgbClr>
          </a:solidFill>
          <a:ln w="12700" cap="flat" cmpd="sng">
            <a:solidFill>
              <a:srgbClr val="3B82F6">
                <a:alpha val="5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172200" y="1155700"/>
            <a:ext cx="2667000" cy="635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172200" y="1257300"/>
            <a:ext cx="2667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 试产阶段管理复杂</a:t>
            </a:r>
            <a:endParaRPr lang="en-US" sz="1100"/>
          </a:p>
        </p:txBody>
      </p:sp>
      <p:sp>
        <p:nvSpPr>
          <p:cNvPr id="25" name="AutoShape 25"/>
          <p:cNvSpPr/>
          <p:nvPr/>
        </p:nvSpPr>
        <p:spPr>
          <a:xfrm>
            <a:off x="6299200" y="1905000"/>
            <a:ext cx="2413000" cy="952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362700" y="1968500"/>
            <a:ext cx="2286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6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试产类型多样</a:t>
            </a:r>
            <a:endParaRPr lang="en-US" sz="1100" dirty="0"/>
          </a:p>
          <a:p>
            <a:pPr marL="0" indent="0" algn="l">
              <a:lnSpc>
                <a:spcPct val="96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样品试制</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费用化</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与中试</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形成存货</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核算方式不同,需清晰区分</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27" name="AutoShape 27"/>
          <p:cNvSpPr/>
          <p:nvPr/>
        </p:nvSpPr>
        <p:spPr>
          <a:xfrm>
            <a:off x="6299200" y="2946400"/>
            <a:ext cx="2413000" cy="952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6362700" y="3009900"/>
            <a:ext cx="2286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6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成本追溯困难</a:t>
            </a:r>
            <a:endParaRPr lang="en-US" sz="1100" dirty="0"/>
          </a:p>
          <a:p>
            <a:pPr marL="0" indent="0" algn="l">
              <a:lnSpc>
                <a:spcPct val="96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试产订单成本无法准确追溯到所属研发项目,导致项目总成本统计不完整</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29" name="AutoShape 29"/>
          <p:cNvSpPr/>
          <p:nvPr/>
        </p:nvSpPr>
        <p:spPr>
          <a:xfrm>
            <a:off x="9004300" y="1155700"/>
            <a:ext cx="2667000" cy="4191000"/>
          </a:xfrm>
          <a:prstGeom prst="roundRect">
            <a:avLst>
              <a:gd name="adj" fmla="val 0"/>
            </a:avLst>
          </a:prstGeom>
          <a:solidFill>
            <a:srgbClr val="3B82F6">
              <a:alpha val="8000"/>
            </a:srgbClr>
          </a:solidFill>
          <a:ln w="12700" cap="flat" cmpd="sng">
            <a:solidFill>
              <a:srgbClr val="3B82F6">
                <a:alpha val="50000"/>
              </a:srgbClr>
            </a:solid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9004300" y="1155700"/>
            <a:ext cx="2667000" cy="635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9004300" y="1257300"/>
            <a:ext cx="2667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 </a:t>
            </a: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业财脱节</a:t>
            </a:r>
            <a:endParaRPr lang="en-US" sz="1100" dirty="0"/>
          </a:p>
        </p:txBody>
      </p:sp>
      <p:sp>
        <p:nvSpPr>
          <p:cNvPr id="32" name="AutoShape 32"/>
          <p:cNvSpPr/>
          <p:nvPr/>
        </p:nvSpPr>
        <p:spPr>
          <a:xfrm>
            <a:off x="9131300" y="1905000"/>
            <a:ext cx="2413000" cy="952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3" name="AutoShape 33"/>
          <p:cNvSpPr/>
          <p:nvPr/>
        </p:nvSpPr>
        <p:spPr>
          <a:xfrm>
            <a:off x="9194800" y="1968500"/>
            <a:ext cx="2286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6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数据孤岛</a:t>
            </a:r>
            <a:endParaRPr lang="en-US" sz="1100" dirty="0"/>
          </a:p>
          <a:p>
            <a:pPr marL="0" indent="0" algn="l">
              <a:lnSpc>
                <a:spcPct val="96000"/>
              </a:lnSpc>
            </a:pP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研发项目</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与SAP财务系统数据</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需要</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互通</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34" name="AutoShape 34"/>
          <p:cNvSpPr/>
          <p:nvPr/>
        </p:nvSpPr>
        <p:spPr>
          <a:xfrm>
            <a:off x="9131300" y="2946400"/>
            <a:ext cx="2413000" cy="952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9194800" y="3009900"/>
            <a:ext cx="2286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6000"/>
              </a:lnSpc>
              <a:defRPr/>
            </a:pPr>
            <a:r>
              <a:rPr lang="en-US" sz="14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报表体系不完善</a:t>
            </a:r>
            <a:endParaRPr lang="en-US" sz="1100" dirty="0"/>
          </a:p>
          <a:p>
            <a:pPr marL="0" indent="0" algn="l">
              <a:lnSpc>
                <a:spcPct val="96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研发管理分析报表</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来</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评估研发活动真实效益</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36" name="AutoShape 36"/>
          <p:cNvSpPr/>
          <p:nvPr/>
        </p:nvSpPr>
        <p:spPr>
          <a:xfrm>
            <a:off x="508000" y="5537200"/>
            <a:ext cx="11176000" cy="698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635000" y="5638800"/>
            <a:ext cx="10922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痛点总结:</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四大问题相互交织,严重制约了我们研发管理水平的提升,亟需系统性优化。</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31800" y="6515100"/>
            <a:ext cx="1358900" cy="152400"/>
          </a:xfrm>
          <a:prstGeom prst="roundRect">
            <a:avLst>
              <a:gd name="adj" fmla="val 0"/>
            </a:avLst>
          </a:prstGeom>
          <a:noFill/>
          <a:ln w="254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7400" y="6451600"/>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292100" y="6413500"/>
            <a:ext cx="1739900" cy="342900"/>
          </a:xfrm>
          <a:prstGeom prst="rect">
            <a:avLst/>
          </a:prstGeom>
          <a:noFill/>
          <a:ln w="25400" cap="flat" cmpd="sng">
            <a:noFill/>
            <a:prstDash val="solid"/>
            <a:round/>
          </a:ln>
        </p:spPr>
      </p:pic>
      <p:sp>
        <p:nvSpPr>
          <p:cNvPr id="5" name="AutoShape 5"/>
          <p:cNvSpPr/>
          <p:nvPr/>
        </p:nvSpPr>
        <p:spPr>
          <a:xfrm>
            <a:off x="431800" y="292100"/>
            <a:ext cx="11341100" cy="9144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Biennale Bold"/>
                <a:ea typeface="Biennale Bold"/>
                <a:cs typeface="Biennale Bold"/>
                <a:sym typeface="Biennale Bold"/>
              </a:rPr>
              <a:t>整体解决方案框架:全流程集成的闭环管理</a:t>
            </a:r>
            <a:endParaRPr lang="en-US" sz="1100"/>
          </a:p>
        </p:txBody>
      </p:sp>
      <p:sp>
        <p:nvSpPr>
          <p:cNvPr id="6" name="AutoShape 6"/>
          <p:cNvSpPr/>
          <p:nvPr/>
        </p:nvSpPr>
        <p:spPr>
          <a:xfrm>
            <a:off x="508000" y="1270000"/>
            <a:ext cx="5588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01 技术架构</a:t>
            </a:r>
            <a:endParaRPr lang="en-US" sz="1100"/>
          </a:p>
        </p:txBody>
      </p:sp>
      <p:sp>
        <p:nvSpPr>
          <p:cNvPr id="7" name="AutoShape 7"/>
          <p:cNvSpPr/>
          <p:nvPr/>
        </p:nvSpPr>
        <p:spPr>
          <a:xfrm>
            <a:off x="508000" y="1778000"/>
            <a:ext cx="5588000" cy="1079500"/>
          </a:xfrm>
          <a:prstGeom prst="roundRect">
            <a:avLst>
              <a:gd name="adj" fmla="val 0"/>
            </a:avLst>
          </a:prstGeom>
          <a:solidFill>
            <a:srgbClr val="E6F0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08000" y="1778000"/>
            <a:ext cx="76200" cy="1079500"/>
          </a:xfrm>
          <a:prstGeom prst="roundRect">
            <a:avLst>
              <a:gd name="adj" fmla="val 0"/>
            </a:avLst>
          </a:prstGeom>
          <a:solidFill>
            <a:srgbClr val="0066C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98500" y="1816100"/>
            <a:ext cx="5334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应用层</a:t>
            </a:r>
            <a:endParaRPr lang="en-US" sz="1100"/>
          </a:p>
        </p:txBody>
      </p:sp>
      <p:sp>
        <p:nvSpPr>
          <p:cNvPr id="10" name="AutoShape 10"/>
          <p:cNvSpPr/>
          <p:nvPr/>
        </p:nvSpPr>
        <p:spPr>
          <a:xfrm>
            <a:off x="698500" y="2159000"/>
            <a:ext cx="5334000" cy="660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3000"/>
              </a:lnSpc>
              <a:defRPr/>
            </a:pP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SAP S/4HANA(</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外部</a:t>
            </a:r>
            <a:r>
              <a:rPr lang="en-US" altLang="zh-CN"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PLM</a:t>
            </a:r>
            <a:endParaRPr lang="en-US" sz="1100" dirty="0"/>
          </a:p>
        </p:txBody>
      </p:sp>
      <p:sp>
        <p:nvSpPr>
          <p:cNvPr id="11" name="AutoShape 11"/>
          <p:cNvSpPr/>
          <p:nvPr/>
        </p:nvSpPr>
        <p:spPr>
          <a:xfrm>
            <a:off x="508000" y="2921000"/>
            <a:ext cx="5588000" cy="1079500"/>
          </a:xfrm>
          <a:prstGeom prst="roundRect">
            <a:avLst>
              <a:gd name="adj" fmla="val 0"/>
            </a:avLst>
          </a:prstGeom>
          <a:solidFill>
            <a:srgbClr val="E6F0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08000" y="2921000"/>
            <a:ext cx="76200" cy="1079500"/>
          </a:xfrm>
          <a:prstGeom prst="roundRect">
            <a:avLst>
              <a:gd name="adj" fmla="val 0"/>
            </a:avLst>
          </a:prstGeom>
          <a:solidFill>
            <a:srgbClr val="0066C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98500" y="2959100"/>
            <a:ext cx="5334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集成层</a:t>
            </a:r>
            <a:endParaRPr lang="en-US" sz="1100"/>
          </a:p>
        </p:txBody>
      </p:sp>
      <p:sp>
        <p:nvSpPr>
          <p:cNvPr id="14" name="AutoShape 14"/>
          <p:cNvSpPr/>
          <p:nvPr/>
        </p:nvSpPr>
        <p:spPr>
          <a:xfrm>
            <a:off x="698500" y="3302000"/>
            <a:ext cx="5334000" cy="660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3000"/>
              </a:lnSpc>
              <a:defRPr/>
            </a:pP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通过标准API接口,实现与外部系统的无缝集成</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5" name="AutoShape 15"/>
          <p:cNvSpPr/>
          <p:nvPr/>
        </p:nvSpPr>
        <p:spPr>
          <a:xfrm>
            <a:off x="508000" y="4064000"/>
            <a:ext cx="5588000" cy="1079500"/>
          </a:xfrm>
          <a:prstGeom prst="roundRect">
            <a:avLst>
              <a:gd name="adj" fmla="val 0"/>
            </a:avLst>
          </a:prstGeom>
          <a:solidFill>
            <a:srgbClr val="E6F0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508000" y="4064000"/>
            <a:ext cx="76200" cy="1079500"/>
          </a:xfrm>
          <a:prstGeom prst="roundRect">
            <a:avLst>
              <a:gd name="adj" fmla="val 0"/>
            </a:avLst>
          </a:prstGeom>
          <a:solidFill>
            <a:srgbClr val="0066C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98500" y="4102100"/>
            <a:ext cx="5334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平台层</a:t>
            </a:r>
            <a:endParaRPr lang="en-US" sz="1100"/>
          </a:p>
        </p:txBody>
      </p:sp>
      <p:sp>
        <p:nvSpPr>
          <p:cNvPr id="18" name="AutoShape 18"/>
          <p:cNvSpPr/>
          <p:nvPr/>
        </p:nvSpPr>
        <p:spPr>
          <a:xfrm>
            <a:off x="698500" y="4445000"/>
            <a:ext cx="5334000" cy="660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3000"/>
              </a:lnSpc>
              <a:defRPr/>
            </a:pP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SAP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BTP提供强大的扩展开发能力,用于定制化报表和工作流</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9" name="AutoShape 19"/>
          <p:cNvSpPr/>
          <p:nvPr/>
        </p:nvSpPr>
        <p:spPr>
          <a:xfrm>
            <a:off x="508000" y="5334000"/>
            <a:ext cx="5588000" cy="698500"/>
          </a:xfrm>
          <a:prstGeom prst="roundRect">
            <a:avLst>
              <a:gd name="adj" fmla="val 0"/>
            </a:avLst>
          </a:prstGeom>
          <a:solidFill>
            <a:srgbClr val="F0F8FF">
              <a:alpha val="100000"/>
            </a:srgbClr>
          </a:solidFill>
          <a:ln w="12700" cap="flat" cmpd="sng">
            <a:solidFill>
              <a:srgbClr val="0066CC">
                <a:alpha val="3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35000" y="5372100"/>
            <a:ext cx="5334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005096"/>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技术底座:</a:t>
            </a:r>
            <a:r>
              <a:rPr lang="en-US" sz="14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三层架构层层支撑,为业务提供稳定、灵活、可扩展的运行环境</a:t>
            </a:r>
            <a:r>
              <a:rPr lang="en-US" sz="14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1" name="AutoShape 21"/>
          <p:cNvSpPr/>
          <p:nvPr/>
        </p:nvSpPr>
        <p:spPr>
          <a:xfrm>
            <a:off x="6350000" y="1270000"/>
            <a:ext cx="5461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02 业务流程框架</a:t>
            </a:r>
            <a:endParaRPr lang="en-US" sz="1100"/>
          </a:p>
        </p:txBody>
      </p:sp>
      <p:sp>
        <p:nvSpPr>
          <p:cNvPr id="22" name="AutoShape 22"/>
          <p:cNvSpPr/>
          <p:nvPr/>
        </p:nvSpPr>
        <p:spPr>
          <a:xfrm>
            <a:off x="6350000" y="1778000"/>
            <a:ext cx="5461000" cy="990600"/>
          </a:xfrm>
          <a:prstGeom prst="roundRect">
            <a:avLst>
              <a:gd name="adj" fmla="val 0"/>
            </a:avLst>
          </a:prstGeom>
          <a:solidFill>
            <a:srgbClr val="EBF2FA">
              <a:alpha val="100000"/>
            </a:srgbClr>
          </a:solidFill>
          <a:ln w="12700" cap="flat" cmpd="sng">
            <a:solidFill>
              <a:srgbClr val="0073E6">
                <a:alpha val="2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350000" y="1778000"/>
            <a:ext cx="698500" cy="990600"/>
          </a:xfrm>
          <a:prstGeom prst="roundRect">
            <a:avLst>
              <a:gd name="adj" fmla="val 0"/>
            </a:avLst>
          </a:prstGeom>
          <a:solidFill>
            <a:srgbClr val="0073E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350000" y="1778000"/>
            <a:ext cx="698500" cy="990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73E6">
                    <a:alpha val="34902"/>
                  </a:srgbClr>
                </a:solidFill>
                <a:latin typeface="Biennale Bold"/>
                <a:ea typeface="Biennale Bold"/>
                <a:cs typeface="Biennale Bold"/>
                <a:sym typeface="Biennale Bold"/>
              </a:rPr>
              <a:t>01</a:t>
            </a:r>
            <a:endParaRPr lang="en-US" sz="1100"/>
          </a:p>
        </p:txBody>
      </p:sp>
      <p:sp>
        <p:nvSpPr>
          <p:cNvPr id="25" name="AutoShape 25"/>
          <p:cNvSpPr/>
          <p:nvPr/>
        </p:nvSpPr>
        <p:spPr>
          <a:xfrm>
            <a:off x="7112000" y="1816100"/>
            <a:ext cx="4635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预研阶段</a:t>
            </a:r>
            <a:r>
              <a:rPr lang="en-US" sz="1300" b="0" i="0" u="none" strike="noStrike">
                <a:solidFill>
                  <a:srgbClr val="787882"/>
                </a:solidFill>
                <a:latin typeface="Noto Sans SC" panose="020B0200000000000000" charset="-122"/>
                <a:ea typeface="Noto Sans SC" panose="020B0200000000000000" charset="-122"/>
                <a:cs typeface="Noto Sans SC" panose="020B0200000000000000" charset="-122"/>
                <a:sym typeface="Noto Sans SC" panose="020B0200000000000000" charset="-122"/>
              </a:rPr>
              <a:t>· 载体:</a:t>
            </a:r>
            <a:r>
              <a:rPr lang="en-US" sz="1300" b="1" i="0" u="none" strike="noStrike">
                <a:solidFill>
                  <a:srgbClr val="0066CC"/>
                </a:solidFill>
                <a:latin typeface="Noto Sans SC" panose="020B0200000000000000" charset="-122"/>
                <a:ea typeface="Noto Sans SC" panose="020B0200000000000000" charset="-122"/>
                <a:cs typeface="Noto Sans SC" panose="020B0200000000000000" charset="-122"/>
                <a:sym typeface="Noto Sans SC" panose="020B0200000000000000" charset="-122"/>
              </a:rPr>
              <a:t>成本中心</a:t>
            </a:r>
            <a:endParaRPr lang="en-US" sz="1100"/>
          </a:p>
        </p:txBody>
      </p:sp>
      <p:sp>
        <p:nvSpPr>
          <p:cNvPr id="26" name="AutoShape 26"/>
          <p:cNvSpPr/>
          <p:nvPr/>
        </p:nvSpPr>
        <p:spPr>
          <a:xfrm>
            <a:off x="7112000" y="2159000"/>
            <a:ext cx="4635500" cy="533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C3C46"/>
                </a:solidFill>
                <a:latin typeface="Noto Sans SC" panose="020B0200000000000000" charset="-122"/>
                <a:ea typeface="Noto Sans SC" panose="020B0200000000000000" charset="-122"/>
                <a:cs typeface="Noto Sans SC" panose="020B0200000000000000" charset="-122"/>
                <a:sym typeface="Noto Sans SC" panose="020B0200000000000000" charset="-122"/>
              </a:rPr>
              <a:t>以成本中心为载体,归集探索性费用。</a:t>
            </a:r>
            <a:endParaRPr lang="en-US" sz="1100"/>
          </a:p>
        </p:txBody>
      </p:sp>
      <p:sp>
        <p:nvSpPr>
          <p:cNvPr id="27" name="AutoShape 27"/>
          <p:cNvSpPr/>
          <p:nvPr/>
        </p:nvSpPr>
        <p:spPr>
          <a:xfrm>
            <a:off x="6350000" y="2832100"/>
            <a:ext cx="5461000" cy="990600"/>
          </a:xfrm>
          <a:prstGeom prst="roundRect">
            <a:avLst>
              <a:gd name="adj" fmla="val 0"/>
            </a:avLst>
          </a:prstGeom>
          <a:solidFill>
            <a:srgbClr val="EBF2FA">
              <a:alpha val="100000"/>
            </a:srgbClr>
          </a:solidFill>
          <a:ln w="12700" cap="flat" cmpd="sng">
            <a:solidFill>
              <a:srgbClr val="0073E6">
                <a:alpha val="20000"/>
              </a:srgbClr>
            </a:solid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6350000" y="2832100"/>
            <a:ext cx="698500" cy="990600"/>
          </a:xfrm>
          <a:prstGeom prst="roundRect">
            <a:avLst>
              <a:gd name="adj" fmla="val 0"/>
            </a:avLst>
          </a:prstGeom>
          <a:solidFill>
            <a:srgbClr val="0073E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6350000" y="2832100"/>
            <a:ext cx="698500" cy="990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73E6">
                    <a:alpha val="34902"/>
                  </a:srgbClr>
                </a:solidFill>
                <a:latin typeface="Biennale Bold"/>
                <a:ea typeface="Biennale Bold"/>
                <a:cs typeface="Biennale Bold"/>
                <a:sym typeface="Biennale Bold"/>
              </a:rPr>
              <a:t>02</a:t>
            </a:r>
            <a:endParaRPr lang="en-US" sz="1100"/>
          </a:p>
        </p:txBody>
      </p:sp>
      <p:sp>
        <p:nvSpPr>
          <p:cNvPr id="30" name="AutoShape 30"/>
          <p:cNvSpPr/>
          <p:nvPr/>
        </p:nvSpPr>
        <p:spPr>
          <a:xfrm>
            <a:off x="7112000" y="2870200"/>
            <a:ext cx="4635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项目立项阶段</a:t>
            </a:r>
            <a:r>
              <a:rPr lang="en-US" sz="1300" b="0" i="0" u="none" strike="noStrike">
                <a:solidFill>
                  <a:srgbClr val="787882"/>
                </a:solidFill>
                <a:latin typeface="Noto Sans SC" panose="020B0200000000000000" charset="-122"/>
                <a:ea typeface="Noto Sans SC" panose="020B0200000000000000" charset="-122"/>
                <a:cs typeface="Noto Sans SC" panose="020B0200000000000000" charset="-122"/>
                <a:sym typeface="Noto Sans SC" panose="020B0200000000000000" charset="-122"/>
              </a:rPr>
              <a:t>· 载体:</a:t>
            </a:r>
            <a:r>
              <a:rPr lang="en-US" sz="1300" b="1" i="0" u="none" strike="noStrike">
                <a:solidFill>
                  <a:srgbClr val="0066CC"/>
                </a:solidFill>
                <a:latin typeface="Noto Sans SC" panose="020B0200000000000000" charset="-122"/>
                <a:ea typeface="Noto Sans SC" panose="020B0200000000000000" charset="-122"/>
                <a:cs typeface="Noto Sans SC" panose="020B0200000000000000" charset="-122"/>
                <a:sym typeface="Noto Sans SC" panose="020B0200000000000000" charset="-122"/>
              </a:rPr>
              <a:t>内部订单</a:t>
            </a:r>
            <a:endParaRPr lang="en-US" sz="1100"/>
          </a:p>
        </p:txBody>
      </p:sp>
      <p:sp>
        <p:nvSpPr>
          <p:cNvPr id="31" name="AutoShape 31"/>
          <p:cNvSpPr/>
          <p:nvPr/>
        </p:nvSpPr>
        <p:spPr>
          <a:xfrm>
            <a:off x="7112000" y="3213100"/>
            <a:ext cx="4635500" cy="533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C3C46"/>
                </a:solidFill>
                <a:latin typeface="Noto Sans SC" panose="020B0200000000000000" charset="-122"/>
                <a:ea typeface="Noto Sans SC" panose="020B0200000000000000" charset="-122"/>
                <a:cs typeface="Noto Sans SC" panose="020B0200000000000000" charset="-122"/>
                <a:sym typeface="Noto Sans SC" panose="020B0200000000000000" charset="-122"/>
              </a:rPr>
              <a:t>以内部订单为核心,进行项目级预算控制和费用归集。</a:t>
            </a:r>
            <a:endParaRPr lang="en-US" sz="1100"/>
          </a:p>
        </p:txBody>
      </p:sp>
      <p:sp>
        <p:nvSpPr>
          <p:cNvPr id="32" name="AutoShape 32"/>
          <p:cNvSpPr/>
          <p:nvPr/>
        </p:nvSpPr>
        <p:spPr>
          <a:xfrm>
            <a:off x="6350000" y="3886200"/>
            <a:ext cx="5461000" cy="990600"/>
          </a:xfrm>
          <a:prstGeom prst="roundRect">
            <a:avLst>
              <a:gd name="adj" fmla="val 0"/>
            </a:avLst>
          </a:prstGeom>
          <a:solidFill>
            <a:srgbClr val="EBF2FA">
              <a:alpha val="100000"/>
            </a:srgbClr>
          </a:solidFill>
          <a:ln w="12700" cap="flat" cmpd="sng">
            <a:solidFill>
              <a:srgbClr val="0073E6">
                <a:alpha val="20000"/>
              </a:srgbClr>
            </a:solid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6350000" y="3886200"/>
            <a:ext cx="698500" cy="990600"/>
          </a:xfrm>
          <a:prstGeom prst="roundRect">
            <a:avLst>
              <a:gd name="adj" fmla="val 0"/>
            </a:avLst>
          </a:prstGeom>
          <a:solidFill>
            <a:srgbClr val="0073E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6350000" y="3886200"/>
            <a:ext cx="698500" cy="990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73E6">
                    <a:alpha val="34902"/>
                  </a:srgbClr>
                </a:solidFill>
                <a:latin typeface="Biennale Bold"/>
                <a:ea typeface="Biennale Bold"/>
                <a:cs typeface="Biennale Bold"/>
                <a:sym typeface="Biennale Bold"/>
              </a:rPr>
              <a:t>03</a:t>
            </a:r>
            <a:endParaRPr lang="en-US" sz="1100"/>
          </a:p>
        </p:txBody>
      </p:sp>
      <p:sp>
        <p:nvSpPr>
          <p:cNvPr id="35" name="AutoShape 35"/>
          <p:cNvSpPr/>
          <p:nvPr/>
        </p:nvSpPr>
        <p:spPr>
          <a:xfrm>
            <a:off x="7112000" y="3924300"/>
            <a:ext cx="4635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试产阶段</a:t>
            </a:r>
            <a:r>
              <a:rPr lang="en-US" sz="1300" b="0" i="0" u="none" strike="noStrike">
                <a:solidFill>
                  <a:srgbClr val="787882"/>
                </a:solidFill>
                <a:latin typeface="Noto Sans SC" panose="020B0200000000000000" charset="-122"/>
                <a:ea typeface="Noto Sans SC" panose="020B0200000000000000" charset="-122"/>
                <a:cs typeface="Noto Sans SC" panose="020B0200000000000000" charset="-122"/>
                <a:sym typeface="Noto Sans SC" panose="020B0200000000000000" charset="-122"/>
              </a:rPr>
              <a:t>· 载体:</a:t>
            </a:r>
            <a:r>
              <a:rPr lang="en-US" sz="1300" b="1" i="0" u="none" strike="noStrike">
                <a:solidFill>
                  <a:srgbClr val="0066CC"/>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生产订单</a:t>
            </a:r>
            <a:endParaRPr lang="en-US" sz="1100"/>
          </a:p>
        </p:txBody>
      </p:sp>
      <p:sp>
        <p:nvSpPr>
          <p:cNvPr id="36" name="AutoShape 36"/>
          <p:cNvSpPr/>
          <p:nvPr/>
        </p:nvSpPr>
        <p:spPr>
          <a:xfrm>
            <a:off x="7112000" y="4267200"/>
            <a:ext cx="4635500" cy="533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dirty="0" err="1">
                <a:solidFill>
                  <a:srgbClr val="3C3C46"/>
                </a:solidFill>
                <a:latin typeface="Noto Sans SC" panose="020B0200000000000000" charset="-122"/>
                <a:ea typeface="Noto Sans SC" panose="020B0200000000000000" charset="-122"/>
                <a:cs typeface="Noto Sans SC" panose="020B0200000000000000" charset="-122"/>
                <a:sym typeface="Noto Sans SC" panose="020B0200000000000000" charset="-122"/>
              </a:rPr>
              <a:t>以生产订单为载体,区分费用型与存货型试产</a:t>
            </a:r>
            <a:r>
              <a:rPr lang="en-US" sz="1200" b="0" i="0" u="none" strike="noStrike" dirty="0">
                <a:solidFill>
                  <a:srgbClr val="3C3C4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37" name="AutoShape 37"/>
          <p:cNvSpPr/>
          <p:nvPr/>
        </p:nvSpPr>
        <p:spPr>
          <a:xfrm>
            <a:off x="6350000" y="4940300"/>
            <a:ext cx="5461000" cy="990600"/>
          </a:xfrm>
          <a:prstGeom prst="roundRect">
            <a:avLst>
              <a:gd name="adj" fmla="val 0"/>
            </a:avLst>
          </a:prstGeom>
          <a:solidFill>
            <a:srgbClr val="EBF2FA">
              <a:alpha val="100000"/>
            </a:srgbClr>
          </a:solidFill>
          <a:ln w="12700" cap="flat" cmpd="sng">
            <a:solidFill>
              <a:srgbClr val="0073E6">
                <a:alpha val="20000"/>
              </a:srgbClr>
            </a:solid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6350000" y="4940300"/>
            <a:ext cx="698500" cy="990600"/>
          </a:xfrm>
          <a:prstGeom prst="roundRect">
            <a:avLst>
              <a:gd name="adj" fmla="val 0"/>
            </a:avLst>
          </a:prstGeom>
          <a:solidFill>
            <a:srgbClr val="0073E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6350000" y="4940300"/>
            <a:ext cx="698500" cy="990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73E6">
                    <a:alpha val="34902"/>
                  </a:srgbClr>
                </a:solidFill>
                <a:latin typeface="Biennale Bold"/>
                <a:ea typeface="Biennale Bold"/>
                <a:cs typeface="Biennale Bold"/>
                <a:sym typeface="Biennale Bold"/>
              </a:rPr>
              <a:t>04</a:t>
            </a:r>
            <a:endParaRPr lang="en-US" sz="1100"/>
          </a:p>
        </p:txBody>
      </p:sp>
      <p:sp>
        <p:nvSpPr>
          <p:cNvPr id="40" name="AutoShape 40"/>
          <p:cNvSpPr/>
          <p:nvPr/>
        </p:nvSpPr>
        <p:spPr>
          <a:xfrm>
            <a:off x="7112000" y="4978400"/>
            <a:ext cx="4635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量产阶段</a:t>
            </a:r>
            <a:r>
              <a:rPr lang="en-US" sz="1300" b="0" i="0" u="none" strike="noStrike" dirty="0">
                <a:solidFill>
                  <a:srgbClr val="78788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787882"/>
                </a:solidFill>
                <a:latin typeface="Noto Sans SC" panose="020B0200000000000000" charset="-122"/>
                <a:ea typeface="Noto Sans SC" panose="020B0200000000000000" charset="-122"/>
                <a:cs typeface="Noto Sans SC" panose="020B0200000000000000" charset="-122"/>
                <a:sym typeface="Noto Sans SC" panose="020B0200000000000000" charset="-122"/>
              </a:rPr>
              <a:t>载体</a:t>
            </a:r>
            <a:r>
              <a:rPr lang="en-US" sz="1300" b="0" i="0" u="none" strike="noStrike" dirty="0">
                <a:solidFill>
                  <a:srgbClr val="78788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b="1" dirty="0">
                <a:solidFill>
                  <a:srgbClr val="0066CC"/>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生产订单</a:t>
            </a:r>
            <a:endParaRPr lang="en-US" sz="1100" dirty="0"/>
          </a:p>
        </p:txBody>
      </p:sp>
      <p:sp>
        <p:nvSpPr>
          <p:cNvPr id="41" name="AutoShape 41"/>
          <p:cNvSpPr/>
          <p:nvPr/>
        </p:nvSpPr>
        <p:spPr>
          <a:xfrm>
            <a:off x="7112000" y="5321300"/>
            <a:ext cx="4635500" cy="533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zh-CN" altLang="en-US" sz="1200" dirty="0">
                <a:solidFill>
                  <a:srgbClr val="3C3C46"/>
                </a:solidFill>
                <a:latin typeface="Noto Sans SC" panose="020B0200000000000000" charset="-122"/>
                <a:ea typeface="Noto Sans SC" panose="020B0200000000000000" charset="-122"/>
                <a:cs typeface="Noto Sans SC" panose="020B0200000000000000" charset="-122"/>
                <a:sym typeface="Noto Sans SC" panose="020B0200000000000000" charset="-122"/>
              </a:rPr>
              <a:t>新产品发布上市后的一年内的销售收入，用于统计研发</a:t>
            </a:r>
            <a:r>
              <a:rPr lang="en-US" altLang="zh-CN" sz="1200" dirty="0">
                <a:solidFill>
                  <a:srgbClr val="3C3C46"/>
                </a:solidFill>
                <a:latin typeface="Noto Sans SC" panose="020B0200000000000000" charset="-122"/>
                <a:ea typeface="Noto Sans SC" panose="020B0200000000000000" charset="-122"/>
                <a:cs typeface="Noto Sans SC" panose="020B0200000000000000" charset="-122"/>
                <a:sym typeface="Noto Sans SC" panose="020B0200000000000000" charset="-122"/>
              </a:rPr>
              <a:t>ROI</a:t>
            </a:r>
            <a:r>
              <a:rPr lang="zh-CN" altLang="en-US" sz="1200" dirty="0">
                <a:solidFill>
                  <a:srgbClr val="3C3C46"/>
                </a:solidFill>
                <a:latin typeface="Noto Sans SC" panose="020B0200000000000000" charset="-122"/>
                <a:ea typeface="Noto Sans SC" panose="020B0200000000000000" charset="-122"/>
                <a:cs typeface="Noto Sans SC" panose="020B0200000000000000" charset="-122"/>
                <a:sym typeface="Noto Sans SC" panose="020B0200000000000000" charset="-122"/>
              </a:rPr>
              <a:t>，新产品会记录对应的研发项目编号</a:t>
            </a:r>
            <a:r>
              <a:rPr lang="en-US" sz="1200" b="0" i="0" u="none" strike="noStrike" dirty="0">
                <a:solidFill>
                  <a:srgbClr val="3C3C4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42" name="AutoShape 42"/>
          <p:cNvSpPr/>
          <p:nvPr/>
        </p:nvSpPr>
        <p:spPr>
          <a:xfrm>
            <a:off x="6350000" y="5994400"/>
            <a:ext cx="5461000" cy="571500"/>
          </a:xfrm>
          <a:prstGeom prst="roundRect">
            <a:avLst>
              <a:gd name="adj" fmla="val 0"/>
            </a:avLst>
          </a:prstGeom>
          <a:solidFill>
            <a:srgbClr val="F5F8FF">
              <a:alpha val="100000"/>
            </a:srgbClr>
          </a:solidFill>
          <a:ln w="12700" cap="flat" cmpd="sng">
            <a:solidFill>
              <a:srgbClr val="0073E6">
                <a:alpha val="30000"/>
              </a:srgbClr>
            </a:solid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6451600" y="6032500"/>
            <a:ext cx="52705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ROI闭环:</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四阶段投入清晰可溯,最终沉淀为ROI产出,形成完整管理闭环。</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31800" y="6515100"/>
            <a:ext cx="1358900" cy="152400"/>
          </a:xfrm>
          <a:prstGeom prst="roundRect">
            <a:avLst>
              <a:gd name="adj" fmla="val 0"/>
            </a:avLst>
          </a:prstGeom>
          <a:noFill/>
          <a:ln w="254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7400" y="6451600"/>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92100" y="6413500"/>
            <a:ext cx="1739900" cy="342900"/>
          </a:xfrm>
          <a:prstGeom prst="roundRect">
            <a:avLst>
              <a:gd name="adj" fmla="val 0"/>
            </a:avLst>
          </a:prstGeom>
          <a:solidFill>
            <a:srgbClr val="F0F4F8">
              <a:alpha val="100000"/>
            </a:srgbClr>
          </a:solidFill>
          <a:ln w="25400" cap="flat" cmpd="sng">
            <a:noFill/>
            <a:prstDash val="solid"/>
            <a:round/>
          </a:ln>
        </p:spPr>
        <p:txBody>
          <a:bodyPr vert="horz" wrap="square" lIns="0" tIns="0" rIns="0" bIns="0" rtlCol="0" anchor="ctr" anchorCtr="0"/>
          <a:lstStyle/>
          <a:p>
            <a:pPr marL="0" indent="0" algn="ctr">
              <a:lnSpc>
                <a:spcPct val="83000"/>
              </a:lnSpc>
              <a:defRPr/>
            </a:pPr>
            <a:r>
              <a:rPr lang="en-US" sz="1000" b="0" i="0" u="none" strike="noStrike">
                <a:solidFill>
                  <a:srgbClr val="788291"/>
                </a:solidFill>
                <a:latin typeface="Noto Sans SC" panose="020B0200000000000000" charset="-122"/>
                <a:ea typeface="Noto Sans SC" panose="020B0200000000000000" charset="-122"/>
                <a:cs typeface="Noto Sans SC" panose="020B0200000000000000" charset="-122"/>
                <a:sym typeface="Noto Sans SC" panose="020B0200000000000000" charset="-122"/>
              </a:rPr>
              <a:t>Logo Area</a:t>
            </a:r>
            <a:endParaRPr lang="en-US" sz="1100"/>
          </a:p>
        </p:txBody>
      </p:sp>
      <p:sp>
        <p:nvSpPr>
          <p:cNvPr id="5" name="AutoShape 5"/>
          <p:cNvSpPr/>
          <p:nvPr/>
        </p:nvSpPr>
        <p:spPr>
          <a:xfrm>
            <a:off x="431800" y="292100"/>
            <a:ext cx="11341100" cy="9144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Biennale Bold"/>
                <a:ea typeface="Biennale Bold"/>
                <a:cs typeface="Biennale Bold"/>
                <a:sym typeface="Biennale Bold"/>
              </a:rPr>
              <a:t>SAP系统管理核心优势:赋能研发投入精细化管控</a:t>
            </a:r>
            <a:endParaRPr lang="en-US" sz="1100"/>
          </a:p>
        </p:txBody>
      </p:sp>
      <p:sp>
        <p:nvSpPr>
          <p:cNvPr id="6" name="AutoShape 6"/>
          <p:cNvSpPr/>
          <p:nvPr>
            <p:custDataLst>
              <p:tags r:id="rId1"/>
            </p:custDataLst>
          </p:nvPr>
        </p:nvSpPr>
        <p:spPr>
          <a:xfrm>
            <a:off x="431800" y="1397000"/>
            <a:ext cx="3683000" cy="1168400"/>
          </a:xfrm>
          <a:prstGeom prst="roundRect">
            <a:avLst>
              <a:gd name="adj" fmla="val 0"/>
            </a:avLst>
          </a:prstGeom>
          <a:solidFill>
            <a:schemeClr val="accent1"/>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custDataLst>
              <p:tags r:id="rId2"/>
            </p:custDataLst>
          </p:nvPr>
        </p:nvSpPr>
        <p:spPr>
          <a:xfrm>
            <a:off x="431800" y="1397000"/>
            <a:ext cx="1016000" cy="1168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83000"/>
              </a:lnSpc>
              <a:defRPr/>
            </a:pPr>
            <a:r>
              <a:rPr lang="en-US" sz="3400" b="1" i="0" u="none" strike="noStrike">
                <a:solidFill>
                  <a:srgbClr val="FFFFFF"/>
                </a:solidFill>
                <a:latin typeface="Biennale"/>
                <a:ea typeface="Biennale"/>
                <a:cs typeface="Biennale"/>
                <a:sym typeface="Biennale"/>
              </a:rPr>
              <a:t>01</a:t>
            </a:r>
            <a:endParaRPr lang="en-US" sz="1100"/>
          </a:p>
        </p:txBody>
      </p:sp>
      <p:sp>
        <p:nvSpPr>
          <p:cNvPr id="8" name="AutoShape 8"/>
          <p:cNvSpPr/>
          <p:nvPr>
            <p:custDataLst>
              <p:tags r:id="rId3"/>
            </p:custDataLst>
          </p:nvPr>
        </p:nvSpPr>
        <p:spPr>
          <a:xfrm>
            <a:off x="1447800" y="1397000"/>
            <a:ext cx="2667000" cy="1168400"/>
          </a:xfrm>
          <a:prstGeom prst="roundRect">
            <a:avLst>
              <a:gd name="adj" fmla="val 0"/>
            </a:avLst>
          </a:prstGeom>
          <a:noFill/>
          <a:ln w="25400" cap="flat" cmpd="sng">
            <a:noFill/>
            <a:prstDash val="solid"/>
            <a:round/>
          </a:ln>
        </p:spPr>
        <p:txBody>
          <a:bodyPr vert="horz" wrap="square" lIns="76200" tIns="0" rIns="76200" bIns="0" rtlCol="0" anchor="ctr" anchorCtr="0"/>
          <a:lstStyle/>
          <a:p>
            <a:pPr marL="0" indent="0" algn="l">
              <a:lnSpc>
                <a:spcPct val="100000"/>
              </a:lnSpc>
              <a:defRPr/>
            </a:pPr>
            <a:r>
              <a:rPr lang="en-US" sz="1800" b="1" i="0" u="none" strike="noStrike">
                <a:solidFill>
                  <a:srgbClr val="FFFFFF"/>
                </a:solidFill>
                <a:latin typeface="Biennale"/>
                <a:ea typeface="Biennale"/>
                <a:cs typeface="Biennale"/>
                <a:sym typeface="Biennale"/>
              </a:rPr>
              <a:t>精准核算与管控</a:t>
            </a:r>
            <a:endParaRPr lang="en-US" sz="1100"/>
          </a:p>
        </p:txBody>
      </p:sp>
      <p:cxnSp>
        <p:nvCxnSpPr>
          <p:cNvPr id="9" name="Connector 9"/>
          <p:cNvCxnSpPr/>
          <p:nvPr>
            <p:custDataLst>
              <p:tags r:id="rId4"/>
            </p:custDataLst>
          </p:nvPr>
        </p:nvCxnSpPr>
        <p:spPr>
          <a:xfrm rot="-11854">
            <a:off x="431811" y="2660650"/>
            <a:ext cx="3683000" cy="12700"/>
          </a:xfrm>
          <a:prstGeom prst="straightConnector1">
            <a:avLst/>
          </a:prstGeom>
          <a:solidFill>
            <a:srgbClr val="DEE0E3">
              <a:alpha val="100000"/>
            </a:srgbClr>
          </a:solidFill>
          <a:ln w="12700" cap="flat" cmpd="sng">
            <a:solidFill>
              <a:srgbClr val="0073E6">
                <a:alpha val="35000"/>
              </a:srgbClr>
            </a:solidFill>
            <a:prstDash val="solid"/>
            <a:round/>
            <a:headEnd type="none" w="med" len="med"/>
            <a:tailEnd type="none" w="med" len="med"/>
          </a:ln>
        </p:spPr>
      </p:cxnSp>
      <p:sp>
        <p:nvSpPr>
          <p:cNvPr id="10" name="AutoShape 10"/>
          <p:cNvSpPr/>
          <p:nvPr>
            <p:custDataLst>
              <p:tags r:id="rId5"/>
            </p:custDataLst>
          </p:nvPr>
        </p:nvSpPr>
        <p:spPr>
          <a:xfrm>
            <a:off x="431800" y="2730500"/>
            <a:ext cx="3683000" cy="1397000"/>
          </a:xfrm>
          <a:prstGeom prst="roundRect">
            <a:avLst>
              <a:gd name="adj" fmla="val 0"/>
            </a:avLst>
          </a:prstGeom>
          <a:noFill/>
          <a:ln w="25400" cap="flat" cmpd="sng">
            <a:noFill/>
            <a:prstDash val="solid"/>
            <a:round/>
          </a:ln>
        </p:spPr>
        <p:txBody>
          <a:bodyPr vert="horz" wrap="square" lIns="101600" tIns="76200" rIns="101600" bIns="76200" rtlCol="0" anchor="t" anchorCtr="0"/>
          <a:lstStyle/>
          <a:p>
            <a:pPr marL="0" indent="0" algn="l">
              <a:lnSpc>
                <a:spcPct val="129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a:t>
            </a:r>
            <a:r>
              <a:rPr lang="en-US" sz="1300" b="1" i="0" u="none" strike="noStrike">
                <a:solidFill>
                  <a:srgbClr val="003A73"/>
                </a:solidFill>
                <a:latin typeface="Noto Sans SC" panose="020B0200000000000000" charset="-122"/>
                <a:ea typeface="Noto Sans SC" panose="020B0200000000000000" charset="-122"/>
                <a:cs typeface="Noto Sans SC" panose="020B0200000000000000" charset="-122"/>
                <a:sym typeface="Noto Sans SC" panose="020B0200000000000000" charset="-122"/>
              </a:rPr>
              <a:t>内部订单、成本中心</a:t>
            </a: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等对象,实现研发费用的精细化归集、分摊与预算控制。</a:t>
            </a:r>
            <a:endParaRPr lang="en-US" sz="1100"/>
          </a:p>
          <a:p>
            <a:pPr marL="0" indent="0" algn="l">
              <a:lnSpc>
                <a:spcPct val="129000"/>
              </a:lnSpc>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解决共用设备折旧分摊等复杂核算难题。</a:t>
            </a:r>
          </a:p>
        </p:txBody>
      </p:sp>
      <p:sp>
        <p:nvSpPr>
          <p:cNvPr id="11" name="AutoShape 11"/>
          <p:cNvSpPr/>
          <p:nvPr>
            <p:custDataLst>
              <p:tags r:id="rId6"/>
            </p:custDataLst>
          </p:nvPr>
        </p:nvSpPr>
        <p:spPr>
          <a:xfrm>
            <a:off x="431800" y="4381500"/>
            <a:ext cx="3683000" cy="787400"/>
          </a:xfrm>
          <a:prstGeom prst="roundRect">
            <a:avLst>
              <a:gd name="adj" fmla="val 0"/>
            </a:avLst>
          </a:prstGeom>
          <a:solidFill>
            <a:srgbClr val="0073E6">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custDataLst>
              <p:tags r:id="rId7"/>
            </p:custDataLst>
          </p:nvPr>
        </p:nvSpPr>
        <p:spPr>
          <a:xfrm>
            <a:off x="431800" y="4381500"/>
            <a:ext cx="38100" cy="787400"/>
          </a:xfrm>
          <a:prstGeom prst="roundRect">
            <a:avLst>
              <a:gd name="adj" fmla="val 0"/>
            </a:avLst>
          </a:pr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custDataLst>
              <p:tags r:id="rId8"/>
            </p:custDataLst>
          </p:nvPr>
        </p:nvSpPr>
        <p:spPr>
          <a:xfrm>
            <a:off x="558800" y="4381500"/>
            <a:ext cx="3505200" cy="787400"/>
          </a:xfrm>
          <a:prstGeom prst="roundRect">
            <a:avLst>
              <a:gd name="adj" fmla="val 0"/>
            </a:avLst>
          </a:prstGeom>
          <a:noFill/>
          <a:ln w="25400" cap="flat" cmpd="sng">
            <a:noFill/>
            <a:prstDash val="solid"/>
            <a:round/>
          </a:ln>
        </p:spPr>
        <p:txBody>
          <a:bodyPr vert="horz" wrap="square" lIns="101600" tIns="50800" rIns="101600" bIns="50800" rtlCol="0" anchor="ctr" anchorCtr="0"/>
          <a:lstStyle/>
          <a:p>
            <a:pPr marL="0" indent="0" algn="l">
              <a:lnSpc>
                <a:spcPct val="113000"/>
              </a:lnSpc>
              <a:defRPr/>
            </a:pPr>
            <a:r>
              <a:rPr lang="en-US" sz="1300" b="0" i="0" u="none" strike="noStrike">
                <a:solidFill>
                  <a:srgbClr val="1E2D46"/>
                </a:solidFill>
                <a:latin typeface="Noto Sans SC" panose="020B0200000000000000" charset="-122"/>
                <a:ea typeface="Noto Sans SC" panose="020B0200000000000000" charset="-122"/>
                <a:cs typeface="Noto Sans SC" panose="020B0200000000000000" charset="-122"/>
                <a:sym typeface="Noto Sans SC" panose="020B0200000000000000" charset="-122"/>
              </a:rPr>
              <a:t>费用归属清晰,分摊精准,彻底解决历史核算痛点。</a:t>
            </a:r>
            <a:endParaRPr lang="en-US" sz="1100"/>
          </a:p>
        </p:txBody>
      </p:sp>
      <p:sp>
        <p:nvSpPr>
          <p:cNvPr id="14" name="AutoShape 14"/>
          <p:cNvSpPr/>
          <p:nvPr>
            <p:custDataLst>
              <p:tags r:id="rId9"/>
            </p:custDataLst>
          </p:nvPr>
        </p:nvSpPr>
        <p:spPr>
          <a:xfrm>
            <a:off x="4279900" y="1397000"/>
            <a:ext cx="3683000" cy="1168400"/>
          </a:xfrm>
          <a:prstGeom prst="roundRect">
            <a:avLst>
              <a:gd name="adj" fmla="val 0"/>
            </a:avLst>
          </a:prstGeom>
          <a:solidFill>
            <a:schemeClr val="accent1"/>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custDataLst>
              <p:tags r:id="rId10"/>
            </p:custDataLst>
          </p:nvPr>
        </p:nvSpPr>
        <p:spPr>
          <a:xfrm>
            <a:off x="4279900" y="1397000"/>
            <a:ext cx="1016000" cy="1168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83000"/>
              </a:lnSpc>
              <a:defRPr/>
            </a:pPr>
            <a:r>
              <a:rPr lang="en-US" sz="3400" b="1" i="0" u="none" strike="noStrike">
                <a:solidFill>
                  <a:srgbClr val="FFFFFF"/>
                </a:solidFill>
                <a:latin typeface="Biennale"/>
                <a:ea typeface="Biennale"/>
                <a:cs typeface="Biennale"/>
                <a:sym typeface="Biennale"/>
              </a:rPr>
              <a:t>02</a:t>
            </a:r>
            <a:endParaRPr lang="en-US" sz="1100"/>
          </a:p>
        </p:txBody>
      </p:sp>
      <p:sp>
        <p:nvSpPr>
          <p:cNvPr id="16" name="AutoShape 16"/>
          <p:cNvSpPr/>
          <p:nvPr>
            <p:custDataLst>
              <p:tags r:id="rId11"/>
            </p:custDataLst>
          </p:nvPr>
        </p:nvSpPr>
        <p:spPr>
          <a:xfrm>
            <a:off x="5295900" y="1397000"/>
            <a:ext cx="2667000" cy="1168400"/>
          </a:xfrm>
          <a:prstGeom prst="roundRect">
            <a:avLst>
              <a:gd name="adj" fmla="val 0"/>
            </a:avLst>
          </a:prstGeom>
          <a:noFill/>
          <a:ln w="25400" cap="flat" cmpd="sng">
            <a:noFill/>
            <a:prstDash val="solid"/>
            <a:round/>
          </a:ln>
        </p:spPr>
        <p:txBody>
          <a:bodyPr vert="horz" wrap="square" lIns="76200" tIns="0" rIns="76200" bIns="0" rtlCol="0" anchor="ctr" anchorCtr="0"/>
          <a:lstStyle/>
          <a:p>
            <a:pPr marL="0" indent="0" algn="l">
              <a:lnSpc>
                <a:spcPct val="100000"/>
              </a:lnSpc>
              <a:defRPr/>
            </a:pPr>
            <a:r>
              <a:rPr lang="en-US" sz="1800" b="1" i="0" u="none" strike="noStrike">
                <a:solidFill>
                  <a:srgbClr val="FFFFFF"/>
                </a:solidFill>
                <a:latin typeface="Biennale"/>
                <a:ea typeface="Biennale"/>
                <a:cs typeface="Biennale"/>
                <a:sym typeface="Biennale"/>
              </a:rPr>
              <a:t>全流程数据贯通</a:t>
            </a:r>
            <a:endParaRPr lang="en-US" sz="1100"/>
          </a:p>
        </p:txBody>
      </p:sp>
      <p:cxnSp>
        <p:nvCxnSpPr>
          <p:cNvPr id="17" name="Connector 17"/>
          <p:cNvCxnSpPr/>
          <p:nvPr>
            <p:custDataLst>
              <p:tags r:id="rId12"/>
            </p:custDataLst>
          </p:nvPr>
        </p:nvCxnSpPr>
        <p:spPr>
          <a:xfrm rot="-11854">
            <a:off x="4279911" y="2660650"/>
            <a:ext cx="3683000" cy="12700"/>
          </a:xfrm>
          <a:prstGeom prst="straightConnector1">
            <a:avLst/>
          </a:prstGeom>
          <a:solidFill>
            <a:srgbClr val="DEE0E3">
              <a:alpha val="100000"/>
            </a:srgbClr>
          </a:solidFill>
          <a:ln w="12700" cap="flat" cmpd="sng">
            <a:solidFill>
              <a:srgbClr val="0073E6">
                <a:alpha val="35000"/>
              </a:srgbClr>
            </a:solidFill>
            <a:prstDash val="solid"/>
            <a:round/>
            <a:headEnd type="none" w="med" len="med"/>
            <a:tailEnd type="none" w="med" len="med"/>
          </a:ln>
        </p:spPr>
      </p:cxnSp>
      <p:sp>
        <p:nvSpPr>
          <p:cNvPr id="18" name="AutoShape 18"/>
          <p:cNvSpPr/>
          <p:nvPr>
            <p:custDataLst>
              <p:tags r:id="rId13"/>
            </p:custDataLst>
          </p:nvPr>
        </p:nvSpPr>
        <p:spPr>
          <a:xfrm>
            <a:off x="4279900" y="2730500"/>
            <a:ext cx="3683000" cy="1397000"/>
          </a:xfrm>
          <a:prstGeom prst="roundRect">
            <a:avLst>
              <a:gd name="adj" fmla="val 0"/>
            </a:avLst>
          </a:prstGeom>
          <a:noFill/>
          <a:ln w="25400" cap="flat" cmpd="sng">
            <a:noFill/>
            <a:prstDash val="solid"/>
            <a:round/>
          </a:ln>
        </p:spPr>
        <p:txBody>
          <a:bodyPr vert="horz" wrap="square" lIns="101600" tIns="76200" rIns="101600" bIns="76200" rtlCol="0" anchor="t" anchorCtr="0"/>
          <a:lstStyle/>
          <a:p>
            <a:pPr marL="0" indent="0" algn="l">
              <a:lnSpc>
                <a:spcPct val="129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打通研发(PLM)、生产(PP)与财务(FICO)的数据链路。</a:t>
            </a:r>
            <a:endParaRPr lang="en-US" sz="1100"/>
          </a:p>
          <a:p>
            <a:pPr marL="0" indent="0" algn="l">
              <a:lnSpc>
                <a:spcPct val="129000"/>
              </a:lnSpc>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a:t>
            </a:r>
            <a:r>
              <a:rPr lang="en-US" sz="1300" b="1" i="0" u="none" strike="noStrike">
                <a:solidFill>
                  <a:srgbClr val="003A73"/>
                </a:solidFill>
                <a:latin typeface="Noto Sans SC" panose="020B0200000000000000" charset="-122"/>
                <a:ea typeface="Noto Sans SC" panose="020B0200000000000000" charset="-122"/>
                <a:cs typeface="Noto Sans SC" panose="020B0200000000000000" charset="-122"/>
                <a:sym typeface="Noto Sans SC" panose="020B0200000000000000" charset="-122"/>
              </a:rPr>
              <a:t>EBOM到MBOM</a:t>
            </a: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的有序传递,实现项目数据的端到端追溯。</a:t>
            </a:r>
          </a:p>
        </p:txBody>
      </p:sp>
      <p:sp>
        <p:nvSpPr>
          <p:cNvPr id="19" name="AutoShape 19"/>
          <p:cNvSpPr/>
          <p:nvPr>
            <p:custDataLst>
              <p:tags r:id="rId14"/>
            </p:custDataLst>
          </p:nvPr>
        </p:nvSpPr>
        <p:spPr>
          <a:xfrm>
            <a:off x="4279900" y="4381500"/>
            <a:ext cx="3683000" cy="787400"/>
          </a:xfrm>
          <a:prstGeom prst="roundRect">
            <a:avLst>
              <a:gd name="adj" fmla="val 0"/>
            </a:avLst>
          </a:prstGeom>
          <a:solidFill>
            <a:srgbClr val="0073E6">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custDataLst>
              <p:tags r:id="rId15"/>
            </p:custDataLst>
          </p:nvPr>
        </p:nvSpPr>
        <p:spPr>
          <a:xfrm>
            <a:off x="4279900" y="4381500"/>
            <a:ext cx="38100" cy="787400"/>
          </a:xfrm>
          <a:prstGeom prst="roundRect">
            <a:avLst>
              <a:gd name="adj" fmla="val 0"/>
            </a:avLst>
          </a:pr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custDataLst>
              <p:tags r:id="rId16"/>
            </p:custDataLst>
          </p:nvPr>
        </p:nvSpPr>
        <p:spPr>
          <a:xfrm>
            <a:off x="4406900" y="4381500"/>
            <a:ext cx="3505200" cy="787400"/>
          </a:xfrm>
          <a:prstGeom prst="roundRect">
            <a:avLst>
              <a:gd name="adj" fmla="val 0"/>
            </a:avLst>
          </a:prstGeom>
          <a:noFill/>
          <a:ln w="25400" cap="flat" cmpd="sng">
            <a:noFill/>
            <a:prstDash val="solid"/>
            <a:round/>
          </a:ln>
        </p:spPr>
        <p:txBody>
          <a:bodyPr vert="horz" wrap="square" lIns="101600" tIns="50800" rIns="101600" bIns="50800" rtlCol="0" anchor="ctr" anchorCtr="0"/>
          <a:lstStyle/>
          <a:p>
            <a:pPr marL="0" indent="0" algn="l">
              <a:lnSpc>
                <a:spcPct val="113000"/>
              </a:lnSpc>
              <a:defRPr/>
            </a:pPr>
            <a:r>
              <a:rPr lang="en-US" sz="1300" b="0" i="0" u="none" strike="noStrike">
                <a:solidFill>
                  <a:srgbClr val="1E2D46"/>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业务财务数据同源,追溯清晰,高效协同。</a:t>
            </a:r>
            <a:endParaRPr lang="en-US" sz="1100"/>
          </a:p>
        </p:txBody>
      </p:sp>
      <p:sp>
        <p:nvSpPr>
          <p:cNvPr id="22" name="AutoShape 22"/>
          <p:cNvSpPr/>
          <p:nvPr>
            <p:custDataLst>
              <p:tags r:id="rId17"/>
            </p:custDataLst>
          </p:nvPr>
        </p:nvSpPr>
        <p:spPr>
          <a:xfrm>
            <a:off x="8128000" y="1397000"/>
            <a:ext cx="3683000" cy="1168400"/>
          </a:xfrm>
          <a:prstGeom prst="roundRect">
            <a:avLst>
              <a:gd name="adj" fmla="val 0"/>
            </a:avLst>
          </a:prstGeom>
          <a:solidFill>
            <a:schemeClr val="accent1"/>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custDataLst>
              <p:tags r:id="rId18"/>
            </p:custDataLst>
          </p:nvPr>
        </p:nvSpPr>
        <p:spPr>
          <a:xfrm>
            <a:off x="8128000" y="1397000"/>
            <a:ext cx="1016000" cy="1168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83000"/>
              </a:lnSpc>
              <a:defRPr/>
            </a:pPr>
            <a:r>
              <a:rPr lang="en-US" sz="3400" b="1" i="0" u="none" strike="noStrike">
                <a:solidFill>
                  <a:srgbClr val="FFFFFF"/>
                </a:solidFill>
                <a:latin typeface="Biennale"/>
                <a:ea typeface="Biennale"/>
                <a:cs typeface="Biennale"/>
                <a:sym typeface="Biennale"/>
              </a:rPr>
              <a:t>03</a:t>
            </a:r>
            <a:endParaRPr lang="en-US" sz="1100"/>
          </a:p>
        </p:txBody>
      </p:sp>
      <p:sp>
        <p:nvSpPr>
          <p:cNvPr id="24" name="AutoShape 24"/>
          <p:cNvSpPr/>
          <p:nvPr>
            <p:custDataLst>
              <p:tags r:id="rId19"/>
            </p:custDataLst>
          </p:nvPr>
        </p:nvSpPr>
        <p:spPr>
          <a:xfrm>
            <a:off x="9144000" y="1397000"/>
            <a:ext cx="2667000" cy="1168400"/>
          </a:xfrm>
          <a:prstGeom prst="roundRect">
            <a:avLst>
              <a:gd name="adj" fmla="val 0"/>
            </a:avLst>
          </a:prstGeom>
          <a:noFill/>
          <a:ln w="25400" cap="flat" cmpd="sng">
            <a:noFill/>
            <a:prstDash val="solid"/>
            <a:round/>
          </a:ln>
        </p:spPr>
        <p:txBody>
          <a:bodyPr vert="horz" wrap="square" lIns="76200" tIns="0" rIns="76200" bIns="0" rtlCol="0" anchor="ctr" anchorCtr="0"/>
          <a:lstStyle/>
          <a:p>
            <a:pPr marL="0" indent="0" algn="l">
              <a:lnSpc>
                <a:spcPct val="100000"/>
              </a:lnSpc>
              <a:defRPr/>
            </a:pPr>
            <a:r>
              <a:rPr lang="en-US" sz="1800" b="1" i="0" u="none" strike="noStrike">
                <a:solidFill>
                  <a:srgbClr val="FFFFFF"/>
                </a:solidFill>
                <a:latin typeface="Biennale"/>
                <a:ea typeface="Biennale"/>
                <a:cs typeface="Biennale"/>
                <a:sym typeface="Biennale"/>
              </a:rPr>
              <a:t>管理决策支持</a:t>
            </a:r>
            <a:endParaRPr lang="en-US" sz="1100"/>
          </a:p>
        </p:txBody>
      </p:sp>
      <p:cxnSp>
        <p:nvCxnSpPr>
          <p:cNvPr id="25" name="Connector 25"/>
          <p:cNvCxnSpPr/>
          <p:nvPr>
            <p:custDataLst>
              <p:tags r:id="rId20"/>
            </p:custDataLst>
          </p:nvPr>
        </p:nvCxnSpPr>
        <p:spPr>
          <a:xfrm rot="-11854">
            <a:off x="8128011" y="2660650"/>
            <a:ext cx="3683000" cy="12700"/>
          </a:xfrm>
          <a:prstGeom prst="straightConnector1">
            <a:avLst/>
          </a:prstGeom>
          <a:solidFill>
            <a:srgbClr val="DEE0E3">
              <a:alpha val="100000"/>
            </a:srgbClr>
          </a:solidFill>
          <a:ln w="12700" cap="flat" cmpd="sng">
            <a:solidFill>
              <a:srgbClr val="0073E6">
                <a:alpha val="35000"/>
              </a:srgbClr>
            </a:solidFill>
            <a:prstDash val="solid"/>
            <a:round/>
            <a:headEnd type="none" w="med" len="med"/>
            <a:tailEnd type="none" w="med" len="med"/>
          </a:ln>
        </p:spPr>
      </p:cxnSp>
      <p:sp>
        <p:nvSpPr>
          <p:cNvPr id="26" name="AutoShape 26"/>
          <p:cNvSpPr/>
          <p:nvPr>
            <p:custDataLst>
              <p:tags r:id="rId21"/>
            </p:custDataLst>
          </p:nvPr>
        </p:nvSpPr>
        <p:spPr>
          <a:xfrm>
            <a:off x="8128000" y="2730500"/>
            <a:ext cx="3683000" cy="1397000"/>
          </a:xfrm>
          <a:prstGeom prst="roundRect">
            <a:avLst>
              <a:gd name="adj" fmla="val 0"/>
            </a:avLst>
          </a:prstGeom>
          <a:noFill/>
          <a:ln w="25400" cap="flat" cmpd="sng">
            <a:noFill/>
            <a:prstDash val="solid"/>
            <a:round/>
          </a:ln>
        </p:spPr>
        <p:txBody>
          <a:bodyPr vert="horz" wrap="square" lIns="101600" tIns="76200" rIns="101600" bIns="76200" rtlCol="0" anchor="t" anchorCtr="0"/>
          <a:lstStyle/>
          <a:p>
            <a:pPr marL="0" indent="0" algn="l">
              <a:lnSpc>
                <a:spcPct val="129000"/>
              </a:lnSpc>
              <a:defRPr/>
            </a:pPr>
            <a:r>
              <a:rPr lang="en-US" sz="1300" b="0" i="0" u="none" strike="noStrike" dirty="0" err="1">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提供多维度的研发管理报表</a:t>
            </a:r>
            <a:r>
              <a:rPr lang="en-US" sz="1300" b="0" i="0" u="none" strike="noStrike" dirty="0">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dirty="0" err="1">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如高新认定、加计扣除辅助账</a:t>
            </a:r>
            <a:r>
              <a:rPr lang="en-US" sz="1300" b="0" i="0" u="none" strike="noStrike" dirty="0">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p>
            <a:pPr marL="0" indent="0" algn="l">
              <a:lnSpc>
                <a:spcPct val="129000"/>
              </a:lnSpc>
            </a:pPr>
            <a:r>
              <a:rPr lang="en-US" sz="1300" b="0" i="0" u="none" strike="noStrike" dirty="0" err="1">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支持研发项目投后</a:t>
            </a:r>
            <a:r>
              <a:rPr lang="en-US" sz="1300" b="1" i="0" u="none" strike="noStrike" dirty="0" err="1">
                <a:solidFill>
                  <a:srgbClr val="003A73"/>
                </a:solidFill>
                <a:latin typeface="Noto Sans SC" panose="020B0200000000000000" charset="-122"/>
                <a:ea typeface="Noto Sans SC" panose="020B0200000000000000" charset="-122"/>
                <a:cs typeface="Noto Sans SC" panose="020B0200000000000000" charset="-122"/>
                <a:sym typeface="Noto Sans SC" panose="020B0200000000000000" charset="-122"/>
              </a:rPr>
              <a:t>ROI分析</a:t>
            </a:r>
            <a:r>
              <a:rPr lang="en-US" sz="1300" b="0" i="0" u="none" strike="noStrike" dirty="0" err="1">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,为管理层提供数据驱动的决策依据</a:t>
            </a:r>
            <a:r>
              <a:rPr lang="en-US" sz="1300" b="0" i="0" u="none" strike="noStrike" dirty="0">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27" name="AutoShape 27"/>
          <p:cNvSpPr/>
          <p:nvPr>
            <p:custDataLst>
              <p:tags r:id="rId22"/>
            </p:custDataLst>
          </p:nvPr>
        </p:nvSpPr>
        <p:spPr>
          <a:xfrm>
            <a:off x="8128000" y="4381500"/>
            <a:ext cx="3683000" cy="787400"/>
          </a:xfrm>
          <a:prstGeom prst="roundRect">
            <a:avLst>
              <a:gd name="adj" fmla="val 0"/>
            </a:avLst>
          </a:prstGeom>
          <a:solidFill>
            <a:srgbClr val="0073E6">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custDataLst>
              <p:tags r:id="rId23"/>
            </p:custDataLst>
          </p:nvPr>
        </p:nvSpPr>
        <p:spPr>
          <a:xfrm>
            <a:off x="8128000" y="4381500"/>
            <a:ext cx="38100" cy="787400"/>
          </a:xfrm>
          <a:prstGeom prst="roundRect">
            <a:avLst>
              <a:gd name="adj" fmla="val 0"/>
            </a:avLst>
          </a:pr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custDataLst>
              <p:tags r:id="rId24"/>
            </p:custDataLst>
          </p:nvPr>
        </p:nvSpPr>
        <p:spPr>
          <a:xfrm>
            <a:off x="8255000" y="4381500"/>
            <a:ext cx="3505200" cy="787400"/>
          </a:xfrm>
          <a:prstGeom prst="roundRect">
            <a:avLst>
              <a:gd name="adj" fmla="val 0"/>
            </a:avLst>
          </a:prstGeom>
          <a:noFill/>
          <a:ln w="25400" cap="flat" cmpd="sng">
            <a:noFill/>
            <a:prstDash val="solid"/>
            <a:round/>
          </a:ln>
        </p:spPr>
        <p:txBody>
          <a:bodyPr vert="horz" wrap="square" lIns="101600" tIns="50800" rIns="101600" bIns="50800" rtlCol="0" anchor="ctr" anchorCtr="0"/>
          <a:lstStyle/>
          <a:p>
            <a:pPr marL="0" indent="0" algn="l">
              <a:lnSpc>
                <a:spcPct val="113000"/>
              </a:lnSpc>
              <a:defRPr/>
            </a:pPr>
            <a:r>
              <a:rPr lang="en-US" sz="1300" b="0" i="0" u="none" strike="noStrike">
                <a:solidFill>
                  <a:srgbClr val="1E2D4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数据支撑决策,让研发投入更加科学高效。</a:t>
            </a:r>
            <a:endParaRPr lang="en-US" sz="1100"/>
          </a:p>
        </p:txBody>
      </p:sp>
      <p:sp>
        <p:nvSpPr>
          <p:cNvPr id="30" name="AutoShape 30"/>
          <p:cNvSpPr/>
          <p:nvPr/>
        </p:nvSpPr>
        <p:spPr>
          <a:xfrm>
            <a:off x="431800" y="5435600"/>
            <a:ext cx="11341100" cy="787400"/>
          </a:xfrm>
          <a:prstGeom prst="roundRect">
            <a:avLst>
              <a:gd name="adj" fmla="val 0"/>
            </a:avLst>
          </a:prstGeom>
          <a:solidFill>
            <a:srgbClr val="003A73">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431800" y="5435600"/>
            <a:ext cx="50800" cy="787400"/>
          </a:xfrm>
          <a:prstGeom prst="roundRect">
            <a:avLst>
              <a:gd name="adj" fmla="val 0"/>
            </a:avLst>
          </a:pr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609600" y="5435600"/>
            <a:ext cx="11049000" cy="787400"/>
          </a:xfrm>
          <a:prstGeom prst="roundRect">
            <a:avLst>
              <a:gd name="adj" fmla="val 0"/>
            </a:avLst>
          </a:prstGeom>
          <a:noFill/>
          <a:ln w="25400" cap="flat" cmpd="sng">
            <a:noFill/>
            <a:prstDash val="solid"/>
            <a:round/>
          </a:ln>
        </p:spPr>
        <p:txBody>
          <a:bodyPr vert="horz" wrap="square" lIns="152400" tIns="76200" rIns="152400" bIns="76200" rtlCol="0" anchor="ctr" anchorCtr="0"/>
          <a:lstStyle/>
          <a:p>
            <a:pPr marL="0" indent="0" algn="l">
              <a:lnSpc>
                <a:spcPct val="117000"/>
              </a:lnSpc>
              <a:defRPr/>
            </a:pPr>
            <a:r>
              <a:rPr lang="en-US" sz="1500" b="0" i="0" u="none" strike="noStrike">
                <a:solidFill>
                  <a:srgbClr val="1E2D46"/>
                </a:solidFill>
                <a:latin typeface="Noto Sans SC" panose="020B0200000000000000" charset="-122"/>
                <a:ea typeface="Noto Sans SC" panose="020B0200000000000000" charset="-122"/>
                <a:cs typeface="Noto Sans SC" panose="020B0200000000000000" charset="-122"/>
                <a:sym typeface="Noto Sans SC" panose="020B0200000000000000" charset="-122"/>
              </a:rPr>
              <a:t>三大优势相互支撑,共同构建研发投入全生命周期精细化管理体系,显著提升企业研发效能。</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31800" y="6515100"/>
            <a:ext cx="1358900" cy="152400"/>
          </a:xfrm>
          <a:prstGeom prst="roundRect">
            <a:avLst>
              <a:gd name="adj" fmla="val 0"/>
            </a:avLst>
          </a:prstGeom>
          <a:noFill/>
          <a:ln w="254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7400" y="6451600"/>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292100" y="6413500"/>
            <a:ext cx="1739900" cy="342900"/>
          </a:xfrm>
          <a:prstGeom prst="rect">
            <a:avLst/>
          </a:prstGeom>
          <a:noFill/>
          <a:ln w="25400" cap="flat" cmpd="sng">
            <a:noFill/>
            <a:prstDash val="solid"/>
            <a:round/>
          </a:ln>
        </p:spPr>
      </p:pic>
      <p:sp>
        <p:nvSpPr>
          <p:cNvPr id="5" name="AutoShape 5"/>
          <p:cNvSpPr/>
          <p:nvPr/>
        </p:nvSpPr>
        <p:spPr>
          <a:xfrm>
            <a:off x="431800" y="292100"/>
            <a:ext cx="11341100" cy="9144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Biennale Bold"/>
                <a:ea typeface="Biennale Bold"/>
                <a:cs typeface="Biennale Bold"/>
                <a:sym typeface="Biennale Bold"/>
              </a:rPr>
              <a:t>研发费用核算体系设计:精准核算全流程</a:t>
            </a:r>
            <a:endParaRPr lang="en-US" sz="1100"/>
          </a:p>
        </p:txBody>
      </p:sp>
      <p:sp>
        <p:nvSpPr>
          <p:cNvPr id="6" name="AutoShape 6"/>
          <p:cNvSpPr/>
          <p:nvPr/>
        </p:nvSpPr>
        <p:spPr>
          <a:xfrm>
            <a:off x="431800" y="711200"/>
            <a:ext cx="11341100" cy="4953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35000" y="1651000"/>
            <a:ext cx="3467100" cy="2921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35000" y="1651000"/>
            <a:ext cx="34671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397000" y="19812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预研阶段</a:t>
            </a:r>
            <a:endParaRPr lang="en-US" sz="1100"/>
          </a:p>
        </p:txBody>
      </p:sp>
      <p:sp>
        <p:nvSpPr>
          <p:cNvPr id="10" name="AutoShape 10"/>
          <p:cNvSpPr/>
          <p:nvPr/>
        </p:nvSpPr>
        <p:spPr>
          <a:xfrm>
            <a:off x="889000" y="2603500"/>
            <a:ext cx="29591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所有预研费用直接计入,月结汇总作为立项决策依据。</a:t>
            </a:r>
            <a:endParaRPr lang="en-US" sz="1100"/>
          </a:p>
        </p:txBody>
      </p:sp>
      <p:sp>
        <p:nvSpPr>
          <p:cNvPr id="11" name="AutoShape 11"/>
          <p:cNvSpPr/>
          <p:nvPr/>
        </p:nvSpPr>
        <p:spPr>
          <a:xfrm>
            <a:off x="889000" y="3873500"/>
            <a:ext cx="2959100" cy="508000"/>
          </a:xfrm>
          <a:prstGeom prst="roundRect">
            <a:avLst>
              <a:gd name="adj" fmla="val 0"/>
            </a:avLst>
          </a:prstGeom>
          <a:solidFill>
            <a:srgbClr val="DBEAFE">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016000" y="3962400"/>
            <a:ext cx="27051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dirty="0" err="1">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核心载体:</a:t>
            </a:r>
            <a:r>
              <a:rPr lang="en-US" sz="12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研发成本中心</a:t>
            </a:r>
            <a:endParaRPr lang="en-US" sz="1100" dirty="0"/>
          </a:p>
        </p:txBody>
      </p:sp>
      <p:sp>
        <p:nvSpPr>
          <p:cNvPr id="13" name="AutoShape 13"/>
          <p:cNvSpPr/>
          <p:nvPr/>
        </p:nvSpPr>
        <p:spPr>
          <a:xfrm>
            <a:off x="4356100" y="1651000"/>
            <a:ext cx="3467100" cy="2921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356100" y="1651000"/>
            <a:ext cx="34671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118100" y="19812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项目立项阶段</a:t>
            </a:r>
            <a:endParaRPr lang="en-US" sz="1100"/>
          </a:p>
        </p:txBody>
      </p:sp>
      <p:sp>
        <p:nvSpPr>
          <p:cNvPr id="16" name="AutoShape 16"/>
          <p:cNvSpPr/>
          <p:nvPr/>
        </p:nvSpPr>
        <p:spPr>
          <a:xfrm>
            <a:off x="4610100" y="2603500"/>
            <a:ext cx="29591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归集所有直接与间接费用</a:t>
            </a:r>
            <a:endParaRPr lang="en-US" sz="1100" dirty="0"/>
          </a:p>
        </p:txBody>
      </p:sp>
      <p:sp>
        <p:nvSpPr>
          <p:cNvPr id="17" name="AutoShape 17"/>
          <p:cNvSpPr/>
          <p:nvPr/>
        </p:nvSpPr>
        <p:spPr>
          <a:xfrm>
            <a:off x="4610100" y="3873500"/>
            <a:ext cx="2959100" cy="508000"/>
          </a:xfrm>
          <a:prstGeom prst="roundRect">
            <a:avLst>
              <a:gd name="adj" fmla="val 0"/>
            </a:avLst>
          </a:prstGeom>
          <a:solidFill>
            <a:srgbClr val="DBEAFE">
              <a:alpha val="5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18" name="AutoShape 18"/>
          <p:cNvSpPr/>
          <p:nvPr/>
        </p:nvSpPr>
        <p:spPr>
          <a:xfrm>
            <a:off x="4737100" y="3962400"/>
            <a:ext cx="27051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dirty="0" err="1">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核心载体:</a:t>
            </a:r>
            <a:r>
              <a:rPr lang="en-US" sz="12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研发内部订单</a:t>
            </a:r>
            <a:endParaRPr lang="en-US" sz="1100" dirty="0"/>
          </a:p>
        </p:txBody>
      </p:sp>
      <p:sp>
        <p:nvSpPr>
          <p:cNvPr id="19" name="AutoShape 19"/>
          <p:cNvSpPr/>
          <p:nvPr/>
        </p:nvSpPr>
        <p:spPr>
          <a:xfrm>
            <a:off x="8077200" y="1651000"/>
            <a:ext cx="3467100" cy="2921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077200" y="1651000"/>
            <a:ext cx="34671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839200" y="19812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试产阶段</a:t>
            </a:r>
            <a:endParaRPr lang="en-US" sz="1100"/>
          </a:p>
        </p:txBody>
      </p:sp>
      <p:sp>
        <p:nvSpPr>
          <p:cNvPr id="22" name="AutoShape 22"/>
          <p:cNvSpPr/>
          <p:nvPr/>
        </p:nvSpPr>
        <p:spPr>
          <a:xfrm>
            <a:off x="8331200" y="2603500"/>
            <a:ext cx="29591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dirty="0" err="1">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费用型试产:</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生产订单成本直接结转至研发内部订单</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p>
            <a:pPr marL="0" indent="0" algn="l">
              <a:lnSpc>
                <a:spcPct val="108000"/>
              </a:lnSpc>
            </a:pPr>
            <a:r>
              <a:rPr lang="en-US" sz="1200" b="1" i="0" u="none" strike="noStrike" dirty="0" err="1">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存货型试产:</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生产订单成本结转至库存,通过统计型内部订单汇总全部投入</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23" name="AutoShape 23"/>
          <p:cNvSpPr/>
          <p:nvPr/>
        </p:nvSpPr>
        <p:spPr>
          <a:xfrm>
            <a:off x="8331200" y="3873500"/>
            <a:ext cx="2959100" cy="508000"/>
          </a:xfrm>
          <a:prstGeom prst="roundRect">
            <a:avLst>
              <a:gd name="adj" fmla="val 0"/>
            </a:avLst>
          </a:prstGeom>
          <a:solidFill>
            <a:srgbClr val="DBEAFE">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458200" y="3962400"/>
            <a:ext cx="27051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dirty="0" err="1">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创新机制:</a:t>
            </a:r>
            <a:r>
              <a:rPr lang="en-US" sz="12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引入统计型内部订单汇总全部试产投入</a:t>
            </a:r>
            <a:endParaRPr lang="en-US" sz="1100" dirty="0"/>
          </a:p>
        </p:txBody>
      </p:sp>
      <p:sp>
        <p:nvSpPr>
          <p:cNvPr id="25" name="AutoShape 25"/>
          <p:cNvSpPr/>
          <p:nvPr/>
        </p:nvSpPr>
        <p:spPr>
          <a:xfrm>
            <a:off x="635000" y="4953000"/>
            <a:ext cx="10998200" cy="1397000"/>
          </a:xfrm>
          <a:prstGeom prst="roundRect">
            <a:avLst>
              <a:gd name="adj" fmla="val 0"/>
            </a:avLst>
          </a:prstGeom>
          <a:solidFill>
            <a:srgbClr val="F5F7FA">
              <a:alpha val="100000"/>
            </a:srgbClr>
          </a:solidFill>
          <a:ln w="12700" cap="flat" cmpd="sng">
            <a:solidFill>
              <a:srgbClr val="DCE1E6">
                <a:alpha val="10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1270000" y="5207000"/>
            <a:ext cx="3175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全流程精准核算</a:t>
            </a:r>
            <a:endParaRPr lang="en-US" sz="1100"/>
          </a:p>
          <a:p>
            <a:pPr marL="0" indent="0" algn="l">
              <a:lnSpc>
                <a:spcPct val="125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按阶段匹配核算载体,实现研发费用从预研到试产的全链路精准归集。</a:t>
            </a:r>
          </a:p>
        </p:txBody>
      </p:sp>
      <p:sp>
        <p:nvSpPr>
          <p:cNvPr id="27" name="AutoShape 27"/>
          <p:cNvSpPr/>
          <p:nvPr/>
        </p:nvSpPr>
        <p:spPr>
          <a:xfrm>
            <a:off x="4902200" y="5207000"/>
            <a:ext cx="3175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dirty="0" err="1">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预算实时监控</a:t>
            </a:r>
            <a:endParaRPr lang="en-US" sz="1100" dirty="0"/>
          </a:p>
          <a:p>
            <a:pPr marL="0" indent="0" algn="l">
              <a:lnSpc>
                <a:spcPct val="125000"/>
              </a:lnSpc>
            </a:pPr>
            <a:r>
              <a:rPr lang="en-US" sz="13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立项</a:t>
            </a:r>
            <a:r>
              <a:rPr lang="zh-CN" alt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后</a:t>
            </a:r>
            <a:r>
              <a:rPr lang="en-US" sz="13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全流程实时监控费用消耗,杜绝超支风险</a:t>
            </a:r>
            <a:r>
              <a:rPr 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28" name="AutoShape 28"/>
          <p:cNvSpPr/>
          <p:nvPr/>
        </p:nvSpPr>
        <p:spPr>
          <a:xfrm>
            <a:off x="8458200" y="5207000"/>
            <a:ext cx="3175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dirty="0" err="1">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成本视图完整</a:t>
            </a:r>
            <a:endParaRPr lang="en-US" sz="1100" dirty="0"/>
          </a:p>
          <a:p>
            <a:pPr marL="0" indent="0" algn="l">
              <a:lnSpc>
                <a:spcPct val="125000"/>
              </a:lnSpc>
            </a:pPr>
            <a:r>
              <a:rPr lang="en-US" sz="13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创新引入统计型订单,精准还原项目完整投入,支撑科学决策</a:t>
            </a:r>
            <a:r>
              <a:rPr 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pic>
        <p:nvPicPr>
          <p:cNvPr id="29" name="Picture 29"/>
          <p:cNvPicPr>
            <a:picLocks noChangeAspect="1"/>
          </p:cNvPicPr>
          <p:nvPr/>
        </p:nvPicPr>
        <p:blipFill>
          <a:blip r:embed="rId4"/>
          <a:srcRect/>
          <a:stretch>
            <a:fillRect/>
          </a:stretch>
        </p:blipFill>
        <p:spPr>
          <a:xfrm>
            <a:off x="762000" y="5207000"/>
            <a:ext cx="508000" cy="508000"/>
          </a:xfrm>
          <a:prstGeom prst="rect">
            <a:avLst/>
          </a:prstGeom>
          <a:noFill/>
          <a:ln w="25400" cap="flat" cmpd="sng">
            <a:noFill/>
            <a:prstDash val="solid"/>
            <a:round/>
          </a:ln>
        </p:spPr>
      </p:pic>
      <p:pic>
        <p:nvPicPr>
          <p:cNvPr id="30" name="Picture 30"/>
          <p:cNvPicPr>
            <a:picLocks noChangeAspect="1"/>
          </p:cNvPicPr>
          <p:nvPr/>
        </p:nvPicPr>
        <p:blipFill>
          <a:blip r:embed="rId5"/>
          <a:srcRect/>
          <a:stretch>
            <a:fillRect/>
          </a:stretch>
        </p:blipFill>
        <p:spPr>
          <a:xfrm>
            <a:off x="4368800" y="5207000"/>
            <a:ext cx="508000" cy="508000"/>
          </a:xfrm>
          <a:prstGeom prst="rect">
            <a:avLst/>
          </a:prstGeom>
          <a:noFill/>
          <a:ln w="25400" cap="flat" cmpd="sng">
            <a:noFill/>
            <a:prstDash val="solid"/>
            <a:round/>
          </a:ln>
        </p:spPr>
      </p:pic>
      <p:pic>
        <p:nvPicPr>
          <p:cNvPr id="31" name="Picture 31"/>
          <p:cNvPicPr>
            <a:picLocks noChangeAspect="1"/>
          </p:cNvPicPr>
          <p:nvPr/>
        </p:nvPicPr>
        <p:blipFill>
          <a:blip r:embed="rId6"/>
          <a:srcRect/>
          <a:stretch>
            <a:fillRect/>
          </a:stretch>
        </p:blipFill>
        <p:spPr>
          <a:xfrm>
            <a:off x="8001000" y="5207000"/>
            <a:ext cx="508000" cy="508000"/>
          </a:xfrm>
          <a:prstGeom prst="rect">
            <a:avLst/>
          </a:prstGeom>
          <a:noFill/>
          <a:ln w="25400" cap="flat" cmpd="sng">
            <a:noFill/>
            <a:prstDash val="solid"/>
            <a:round/>
          </a:ln>
        </p:spPr>
      </p:pic>
      <p:pic>
        <p:nvPicPr>
          <p:cNvPr id="32" name="Picture 32"/>
          <p:cNvPicPr>
            <a:picLocks noChangeAspect="1"/>
          </p:cNvPicPr>
          <p:nvPr/>
        </p:nvPicPr>
        <p:blipFill>
          <a:blip r:embed="rId4"/>
          <a:srcRect/>
          <a:stretch>
            <a:fillRect/>
          </a:stretch>
        </p:blipFill>
        <p:spPr>
          <a:xfrm>
            <a:off x="762000" y="1917700"/>
            <a:ext cx="508000" cy="508000"/>
          </a:xfrm>
          <a:prstGeom prst="rect">
            <a:avLst/>
          </a:prstGeom>
          <a:noFill/>
          <a:ln w="25400" cap="flat" cmpd="sng">
            <a:noFill/>
            <a:prstDash val="solid"/>
            <a:round/>
          </a:ln>
        </p:spPr>
      </p:pic>
      <p:pic>
        <p:nvPicPr>
          <p:cNvPr id="33" name="Picture 33"/>
          <p:cNvPicPr>
            <a:picLocks noChangeAspect="1"/>
          </p:cNvPicPr>
          <p:nvPr/>
        </p:nvPicPr>
        <p:blipFill>
          <a:blip r:embed="rId5"/>
          <a:srcRect/>
          <a:stretch>
            <a:fillRect/>
          </a:stretch>
        </p:blipFill>
        <p:spPr>
          <a:xfrm>
            <a:off x="4508500" y="1917700"/>
            <a:ext cx="508000" cy="508000"/>
          </a:xfrm>
          <a:prstGeom prst="rect">
            <a:avLst/>
          </a:prstGeom>
          <a:noFill/>
          <a:ln w="25400" cap="flat" cmpd="sng">
            <a:noFill/>
            <a:prstDash val="solid"/>
            <a:round/>
          </a:ln>
        </p:spPr>
      </p:pic>
      <p:pic>
        <p:nvPicPr>
          <p:cNvPr id="34" name="Picture 34"/>
          <p:cNvPicPr>
            <a:picLocks noChangeAspect="1"/>
          </p:cNvPicPr>
          <p:nvPr/>
        </p:nvPicPr>
        <p:blipFill>
          <a:blip r:embed="rId6"/>
          <a:srcRect/>
          <a:stretch>
            <a:fillRect/>
          </a:stretch>
        </p:blipFill>
        <p:spPr>
          <a:xfrm>
            <a:off x="8204200" y="1917700"/>
            <a:ext cx="508000" cy="508000"/>
          </a:xfrm>
          <a:prstGeom prst="rect">
            <a:avLst/>
          </a:prstGeom>
          <a:noFill/>
          <a:ln w="25400" cap="flat" cmpd="sng">
            <a:noFill/>
            <a:prstDash val="solid"/>
            <a:rou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31800" y="6515100"/>
            <a:ext cx="1358900" cy="152400"/>
          </a:xfrm>
          <a:prstGeom prst="roundRect">
            <a:avLst>
              <a:gd name="adj" fmla="val 0"/>
            </a:avLst>
          </a:prstGeom>
          <a:noFill/>
          <a:ln w="254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7400" y="6451600"/>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92100" y="6413500"/>
            <a:ext cx="1739900" cy="342900"/>
          </a:xfrm>
          <a:prstGeom prst="roundRect">
            <a:avLst>
              <a:gd name="adj" fmla="val 0"/>
            </a:avLst>
          </a:prstGeom>
          <a:solidFill>
            <a:srgbClr val="FFFFFF">
              <a:alpha val="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431800" y="292100"/>
            <a:ext cx="11341100" cy="9144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Biennale Bold"/>
                <a:ea typeface="Biennale Bold"/>
                <a:cs typeface="Biennale Bold"/>
                <a:sym typeface="Biennale Bold"/>
              </a:rPr>
              <a:t>项目管理模块设计:覆盖项目全生命周期</a:t>
            </a:r>
            <a:endParaRPr lang="en-US" sz="1100"/>
          </a:p>
        </p:txBody>
      </p:sp>
      <p:sp>
        <p:nvSpPr>
          <p:cNvPr id="6" name="AutoShape 6"/>
          <p:cNvSpPr/>
          <p:nvPr/>
        </p:nvSpPr>
        <p:spPr>
          <a:xfrm>
            <a:off x="431800" y="711200"/>
            <a:ext cx="11341100" cy="4953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r>
              <a:rPr lang="en-US" sz="1800" b="0" i="0" u="none" strike="noStrike">
                <a:solidFill>
                  <a:srgbClr val="00005C"/>
                </a:solidFill>
                <a:latin typeface="Biennale Bold"/>
                <a:ea typeface="Biennale Bold"/>
                <a:cs typeface="Biennale Bold"/>
                <a:sym typeface="Biennale Bold"/>
              </a:rPr>
              <a:t>从立项到投后分析的全流程数字化管控,实现研发投入精准核算与价值追踪</a:t>
            </a:r>
            <a:endParaRPr lang="en-US" sz="1100"/>
          </a:p>
        </p:txBody>
      </p:sp>
      <p:sp>
        <p:nvSpPr>
          <p:cNvPr id="7" name="AutoShape 7"/>
          <p:cNvSpPr/>
          <p:nvPr/>
        </p:nvSpPr>
        <p:spPr>
          <a:xfrm>
            <a:off x="431800" y="1765300"/>
            <a:ext cx="3175000" cy="12065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58800" y="1866900"/>
            <a:ext cx="2921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16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项目载体</a:t>
            </a:r>
            <a:endParaRPr lang="en-US" sz="1100" dirty="0"/>
          </a:p>
          <a:p>
            <a:pPr marL="0" indent="0" algn="l">
              <a:lnSpc>
                <a:spcPct val="100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使用SAP内部订单作为主要管理和核算载体</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9" name="AutoShape 9"/>
          <p:cNvSpPr/>
          <p:nvPr/>
        </p:nvSpPr>
        <p:spPr>
          <a:xfrm>
            <a:off x="4622800" y="1765300"/>
            <a:ext cx="3175000" cy="12065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749800" y="1866900"/>
            <a:ext cx="2921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16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里程碑管理</a:t>
            </a:r>
            <a:endParaRPr lang="en-US" sz="1100" dirty="0"/>
          </a:p>
          <a:p>
            <a:pPr marL="0" indent="0" algn="l">
              <a:lnSpc>
                <a:spcPct val="100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在内部订单中设置关键里程碑节点,实时跟踪项目进度偏差</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b="0"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本期</a:t>
            </a:r>
            <a:r>
              <a:rPr lang="en-US" altLang="zh-CN" sz="1200" b="0"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SAP</a:t>
            </a:r>
            <a:r>
              <a:rPr lang="zh-CN" altLang="en-US" sz="1200" b="0"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项目不包括里程碑管理，为</a:t>
            </a:r>
            <a:r>
              <a:rPr lang="en-US" altLang="zh-CN" sz="1200" b="0"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PLM</a:t>
            </a:r>
            <a:r>
              <a:rPr lang="zh-CN" altLang="en-US" sz="1200" b="0"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，建议在</a:t>
            </a:r>
            <a:r>
              <a:rPr lang="zh-CN" altLang="en-US"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其他</a:t>
            </a:r>
            <a:r>
              <a:rPr lang="en-US" altLang="zh-CN"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PLM</a:t>
            </a:r>
            <a:r>
              <a:rPr lang="zh-CN" altLang="en-US"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研发系统或者线下管理</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11" name="AutoShape 11"/>
          <p:cNvSpPr/>
          <p:nvPr/>
        </p:nvSpPr>
        <p:spPr>
          <a:xfrm>
            <a:off x="8585200" y="1765300"/>
            <a:ext cx="3175000" cy="12065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712200" y="1866900"/>
            <a:ext cx="2921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16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预算管理</a:t>
            </a:r>
            <a:endParaRPr lang="en-US" sz="1100" dirty="0"/>
          </a:p>
          <a:p>
            <a:pPr marL="0" indent="0" algn="l">
              <a:lnSpc>
                <a:spcPct val="100000"/>
              </a:lnSpc>
            </a:pPr>
            <a:r>
              <a:rPr lang="zh-CN" altLang="en-US" sz="1200"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本期项目</a:t>
            </a:r>
            <a:r>
              <a:rPr lang="en-US" altLang="zh-CN" sz="1200"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SAP S4</a:t>
            </a:r>
            <a:r>
              <a:rPr lang="zh-CN" altLang="en-US" sz="1200"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升级实施不包括项目预算管理</a:t>
            </a:r>
            <a:r>
              <a:rPr lang="zh-CN" altLang="en-US"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，项目预算，建议在其他</a:t>
            </a:r>
            <a:r>
              <a:rPr lang="en-US" altLang="zh-CN"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PLM</a:t>
            </a:r>
            <a:r>
              <a:rPr lang="zh-CN" altLang="en-US"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或者线下进行预算管理</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15" name="AutoShape 15"/>
          <p:cNvSpPr/>
          <p:nvPr/>
        </p:nvSpPr>
        <p:spPr>
          <a:xfrm>
            <a:off x="4622800" y="3429000"/>
            <a:ext cx="3175000" cy="12065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749800" y="3530600"/>
            <a:ext cx="2921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05 </a:t>
            </a:r>
            <a:r>
              <a:rPr lang="en-US" sz="16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报表体系</a:t>
            </a:r>
            <a:endParaRPr lang="en-US" sz="1100" dirty="0"/>
          </a:p>
          <a:p>
            <a:pPr marL="0" indent="0" algn="l">
              <a:lnSpc>
                <a:spcPct val="100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开发高新研发费用表、研发辅助账等定制报表,满足合规与管理需求</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17" name="AutoShape 17"/>
          <p:cNvSpPr/>
          <p:nvPr/>
        </p:nvSpPr>
        <p:spPr>
          <a:xfrm>
            <a:off x="8585200" y="3429000"/>
            <a:ext cx="3175000" cy="12065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712200" y="3530600"/>
            <a:ext cx="2921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06 </a:t>
            </a:r>
            <a:r>
              <a:rPr lang="en-US" sz="16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投后分析</a:t>
            </a:r>
            <a:endParaRPr lang="en-US" sz="1100" dirty="0"/>
          </a:p>
          <a:p>
            <a:pPr marL="0" indent="0" algn="l">
              <a:lnSpc>
                <a:spcPct val="100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关联SD模块销售数据,进行研发项目ROI分析</a:t>
            </a:r>
            <a:r>
              <a:rPr lang="zh-CN" alt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，以新产品上市后一年内的销售收入作为研发投入产出分析计算</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19" name="AutoShape 19"/>
          <p:cNvSpPr/>
          <p:nvPr/>
        </p:nvSpPr>
        <p:spPr>
          <a:xfrm rot="-5400000">
            <a:off x="3949700" y="2197100"/>
            <a:ext cx="330200" cy="304800"/>
          </a:xfrm>
          <a:prstGeom prst="downArrow">
            <a:avLst>
              <a:gd name="adj1" fmla="val 50000"/>
              <a:gd name="adj2" fmla="val 50000"/>
            </a:avLst>
          </a:pr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007600" y="3048000"/>
            <a:ext cx="330200" cy="304800"/>
          </a:xfrm>
          <a:prstGeom prst="downArrow">
            <a:avLst>
              <a:gd name="adj1" fmla="val 50000"/>
              <a:gd name="adj2" fmla="val 50000"/>
            </a:avLst>
          </a:pr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rot="-5400000">
            <a:off x="8026400" y="2197100"/>
            <a:ext cx="330200" cy="304800"/>
          </a:xfrm>
          <a:prstGeom prst="downArrow">
            <a:avLst>
              <a:gd name="adj1" fmla="val 50000"/>
              <a:gd name="adj2" fmla="val 50000"/>
            </a:avLst>
          </a:pr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rot="5400000">
            <a:off x="8026400" y="3873500"/>
            <a:ext cx="330200" cy="304800"/>
          </a:xfrm>
          <a:prstGeom prst="downArrow">
            <a:avLst>
              <a:gd name="adj1" fmla="val 50000"/>
              <a:gd name="adj2" fmla="val 50000"/>
            </a:avLst>
          </a:pr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419100" y="4851400"/>
            <a:ext cx="4318000" cy="1397000"/>
          </a:xfrm>
          <a:prstGeom prst="roundRect">
            <a:avLst>
              <a:gd name="adj" fmla="val 0"/>
            </a:avLst>
          </a:prstGeom>
          <a:solidFill>
            <a:srgbClr val="F5F7FA">
              <a:alpha val="100000"/>
            </a:srgbClr>
          </a:solidFill>
          <a:ln w="12700" cap="flat" cmpd="sng">
            <a:solidFill>
              <a:srgbClr val="DCE1E6">
                <a:alpha val="10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546100" y="4978400"/>
            <a:ext cx="4064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全流程数字化管控闭环</a:t>
            </a:r>
            <a:endParaRPr lang="en-US" sz="1100" dirty="0"/>
          </a:p>
          <a:p>
            <a:pPr marL="0" indent="0" algn="l">
              <a:lnSpc>
                <a:spcPct val="108000"/>
              </a:lnSpc>
            </a:pPr>
            <a:r>
              <a:rPr lang="en-US" sz="1200" b="0" i="0" u="none" strike="noStrike" dirty="0" err="1">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rPr>
              <a:t>以内部订单为核心载体,串联里程碑、预算、工时、报表与投后分析,实现研发项目从立项到价值产出的端到端闭环</a:t>
            </a:r>
            <a:r>
              <a:rPr lang="en-US" sz="1200" b="0" i="0" u="none" strike="noStrike" dirty="0">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26" name="AutoShape 26"/>
          <p:cNvSpPr/>
          <p:nvPr/>
        </p:nvSpPr>
        <p:spPr>
          <a:xfrm>
            <a:off x="5067300" y="4851400"/>
            <a:ext cx="6692900" cy="1397000"/>
          </a:xfrm>
          <a:prstGeom prst="roundRect">
            <a:avLst>
              <a:gd name="adj" fmla="val 0"/>
            </a:avLst>
          </a:prstGeom>
          <a:solidFill>
            <a:srgbClr val="F5F7FA">
              <a:alpha val="100000"/>
            </a:srgbClr>
          </a:solidFill>
          <a:ln w="12700" cap="flat" cmpd="sng">
            <a:solidFill>
              <a:srgbClr val="DCE1E6">
                <a:alpha val="100000"/>
              </a:srgbClr>
            </a:solid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5092700" y="4940300"/>
            <a:ext cx="6654800" cy="1181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价值产出与投入产出比</a:t>
            </a:r>
            <a:r>
              <a:rPr lang="en-US" sz="1300" b="1"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(ROI)</a:t>
            </a:r>
            <a:r>
              <a:rPr lang="en-US" sz="13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a:t>
            </a:r>
            <a:endParaRPr lang="en-US" sz="1100" dirty="0"/>
          </a:p>
          <a:p>
            <a:pPr marL="0" indent="0" algn="l">
              <a:lnSpc>
                <a:spcPct val="108000"/>
              </a:lnSpc>
            </a:pPr>
            <a:r>
              <a:rPr 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不仅满足研发费用的合规归集与核算,更深度关联SD销售数据,量化投入产出比,为研发资源配置、技术变现与商业价值最大化提供坚实的数据支撑。</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31800" y="6515100"/>
            <a:ext cx="1358900" cy="152400"/>
          </a:xfrm>
          <a:prstGeom prst="roundRect">
            <a:avLst>
              <a:gd name="adj" fmla="val 0"/>
            </a:avLst>
          </a:prstGeom>
          <a:noFill/>
          <a:ln w="254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7400" y="6451600"/>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292100" y="6413500"/>
            <a:ext cx="1739900" cy="342900"/>
          </a:xfrm>
          <a:prstGeom prst="rect">
            <a:avLst/>
          </a:prstGeom>
          <a:noFill/>
          <a:ln w="25400" cap="flat" cmpd="sng">
            <a:noFill/>
            <a:prstDash val="solid"/>
            <a:round/>
          </a:ln>
        </p:spPr>
      </p:pic>
      <p:sp>
        <p:nvSpPr>
          <p:cNvPr id="5" name="AutoShape 5"/>
          <p:cNvSpPr/>
          <p:nvPr/>
        </p:nvSpPr>
        <p:spPr>
          <a:xfrm>
            <a:off x="431800" y="292100"/>
            <a:ext cx="11341100" cy="9144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dirty="0" err="1">
                <a:solidFill>
                  <a:srgbClr val="0073E6"/>
                </a:solidFill>
                <a:latin typeface="Biennale Bold"/>
                <a:ea typeface="Biennale Bold"/>
                <a:cs typeface="Biennale Bold"/>
                <a:sym typeface="Biennale Bold"/>
              </a:rPr>
              <a:t>集成与报表模块:数据驱动决策</a:t>
            </a:r>
            <a:endParaRPr lang="en-US" sz="1100" dirty="0"/>
          </a:p>
        </p:txBody>
      </p:sp>
      <p:sp>
        <p:nvSpPr>
          <p:cNvPr id="6" name="AutoShape 6"/>
          <p:cNvSpPr/>
          <p:nvPr/>
        </p:nvSpPr>
        <p:spPr>
          <a:xfrm>
            <a:off x="431800" y="711200"/>
            <a:ext cx="11341100" cy="4953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08000" y="1651000"/>
            <a:ext cx="3556000" cy="3302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79500" y="1905000"/>
            <a:ext cx="2857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关键集成点</a:t>
            </a:r>
            <a:endParaRPr lang="en-US" sz="1100"/>
          </a:p>
        </p:txBody>
      </p:sp>
      <p:cxnSp>
        <p:nvCxnSpPr>
          <p:cNvPr id="9" name="Connector 9"/>
          <p:cNvCxnSpPr/>
          <p:nvPr/>
        </p:nvCxnSpPr>
        <p:spPr>
          <a:xfrm rot="-13750">
            <a:off x="698513" y="2406650"/>
            <a:ext cx="3175000" cy="12700"/>
          </a:xfrm>
          <a:prstGeom prst="line">
            <a:avLst/>
          </a:prstGeom>
          <a:solidFill>
            <a:srgbClr val="DEE0E3">
              <a:alpha val="100000"/>
            </a:srgbClr>
          </a:solidFill>
          <a:ln w="12700" cap="flat" cmpd="sng">
            <a:solidFill>
              <a:srgbClr val="DBEAFE">
                <a:alpha val="100000"/>
              </a:srgbClr>
            </a:solidFill>
            <a:prstDash val="solid"/>
            <a:round/>
            <a:headEnd type="none" w="med" len="med"/>
            <a:tailEnd type="none" w="med" len="med"/>
          </a:ln>
        </p:spPr>
      </p:cxnSp>
      <p:sp>
        <p:nvSpPr>
          <p:cNvPr id="10" name="AutoShape 10"/>
          <p:cNvSpPr/>
          <p:nvPr/>
        </p:nvSpPr>
        <p:spPr>
          <a:xfrm>
            <a:off x="698500" y="2603500"/>
            <a:ext cx="3175000" cy="1206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3000"/>
              </a:lnSpc>
              <a:defRPr/>
            </a:pPr>
            <a:r>
              <a:rPr lang="en-US" sz="13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PLM与S</a:t>
            </a:r>
            <a:r>
              <a:rPr lang="en-US" sz="1300" b="1"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/4HANA集成:</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a:t>
            </a:r>
            <a:r>
              <a:rPr lang="zh-CN" altLang="en-US"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BOM</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到生产</a:t>
            </a:r>
            <a:r>
              <a:rPr lang="en-US" altLang="zh-CN"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BOM</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的自动同步</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（理想情况，本项目不是必须，生产</a:t>
            </a:r>
            <a:r>
              <a:rPr lang="en-US" altLang="zh-CN"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BOM</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可以在</a:t>
            </a:r>
            <a:r>
              <a:rPr lang="en-US" altLang="zh-CN"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ERP</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中自行维护）</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p>
            <a:pPr marL="0" indent="0" algn="l">
              <a:lnSpc>
                <a:spcPct val="113000"/>
              </a:lnSpc>
            </a:pPr>
            <a:r>
              <a:rPr lang="en-US" sz="13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PP与CO集成:</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生产订单成本自动归集,并根据类型结算至不同成本对象</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marL="0" indent="0" algn="l">
              <a:lnSpc>
                <a:spcPct val="113000"/>
              </a:lnSpc>
            </a:pPr>
            <a:r>
              <a:rPr lang="en-US" sz="13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MM与CO集成:</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采购物料成本根据用途直接计入研发成本中心或内部订单</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11" name="AutoShape 11"/>
          <p:cNvSpPr/>
          <p:nvPr/>
        </p:nvSpPr>
        <p:spPr>
          <a:xfrm>
            <a:off x="698500" y="3937000"/>
            <a:ext cx="3175000" cy="952500"/>
          </a:xfrm>
          <a:prstGeom prst="roundRect">
            <a:avLst>
              <a:gd name="adj" fmla="val 0"/>
            </a:avLst>
          </a:prstGeom>
          <a:solidFill>
            <a:srgbClr val="C7E3FF">
              <a:alpha val="100000"/>
            </a:srgbClr>
          </a:solidFill>
          <a:ln w="12700" cap="flat" cmpd="sng">
            <a:solidFill>
              <a:srgbClr val="93C5FD">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25500" y="4038600"/>
            <a:ext cx="2921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 价值亮点:</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打通业务与财务数据流,消除人工录入,确保源头数据实时准确。</a:t>
            </a:r>
            <a:endParaRPr lang="en-US" sz="1100"/>
          </a:p>
        </p:txBody>
      </p:sp>
      <p:sp>
        <p:nvSpPr>
          <p:cNvPr id="13" name="AutoShape 13"/>
          <p:cNvSpPr/>
          <p:nvPr/>
        </p:nvSpPr>
        <p:spPr>
          <a:xfrm>
            <a:off x="4318000" y="1651000"/>
            <a:ext cx="3556000" cy="3302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889500" y="1905000"/>
            <a:ext cx="2857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核心报表需求</a:t>
            </a:r>
            <a:endParaRPr lang="en-US" sz="1100"/>
          </a:p>
        </p:txBody>
      </p:sp>
      <p:cxnSp>
        <p:nvCxnSpPr>
          <p:cNvPr id="15" name="Connector 15"/>
          <p:cNvCxnSpPr/>
          <p:nvPr/>
        </p:nvCxnSpPr>
        <p:spPr>
          <a:xfrm rot="-13750">
            <a:off x="4508513" y="2406650"/>
            <a:ext cx="3175000" cy="12700"/>
          </a:xfrm>
          <a:prstGeom prst="line">
            <a:avLst/>
          </a:prstGeom>
          <a:solidFill>
            <a:srgbClr val="DEE0E3">
              <a:alpha val="100000"/>
            </a:srgbClr>
          </a:solidFill>
          <a:ln w="12700" cap="flat" cmpd="sng">
            <a:solidFill>
              <a:srgbClr val="DBEAFE">
                <a:alpha val="100000"/>
              </a:srgbClr>
            </a:solidFill>
            <a:prstDash val="solid"/>
            <a:round/>
            <a:headEnd type="none" w="med" len="med"/>
            <a:tailEnd type="none" w="med" len="med"/>
          </a:ln>
        </p:spPr>
      </p:cxnSp>
      <p:sp>
        <p:nvSpPr>
          <p:cNvPr id="16" name="AutoShape 16"/>
          <p:cNvSpPr/>
          <p:nvPr/>
        </p:nvSpPr>
        <p:spPr>
          <a:xfrm>
            <a:off x="4508500" y="2603500"/>
            <a:ext cx="3175000" cy="1206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研发项目成本构成分析表</a:t>
            </a:r>
            <a:endParaRPr lang="en-US" sz="1100" dirty="0"/>
          </a:p>
          <a:p>
            <a:pPr marL="0" indent="0" algn="l">
              <a:lnSpc>
                <a:spcPct val="117000"/>
              </a:lnSpc>
            </a:pP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高新技术企业研发费用明细表</a:t>
            </a:r>
            <a:endPar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研发项目投资回报率</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(ROI)</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分析报告</a:t>
            </a:r>
            <a:endPar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4508500" y="3937000"/>
            <a:ext cx="3175000" cy="952500"/>
          </a:xfrm>
          <a:prstGeom prst="roundRect">
            <a:avLst>
              <a:gd name="adj" fmla="val 0"/>
            </a:avLst>
          </a:prstGeom>
          <a:solidFill>
            <a:srgbClr val="C7E3FF">
              <a:alpha val="100000"/>
            </a:srgbClr>
          </a:solidFill>
          <a:ln w="12700" cap="flat" cmpd="sng">
            <a:solidFill>
              <a:srgbClr val="93C5FD">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4635500" y="4038600"/>
            <a:ext cx="2921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dirty="0">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1" i="0" u="none" strike="noStrike" dirty="0" err="1">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价值亮点:</a:t>
            </a:r>
            <a:r>
              <a:rPr lang="en-US" sz="12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覆盖经营、申报、决策全场景,一键生成,大幅提升报表编制效率</a:t>
            </a:r>
            <a:r>
              <a:rPr lang="en-US" sz="12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9" name="AutoShape 19"/>
          <p:cNvSpPr/>
          <p:nvPr/>
        </p:nvSpPr>
        <p:spPr>
          <a:xfrm>
            <a:off x="8128000" y="1651000"/>
            <a:ext cx="3556000" cy="3302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699500" y="1905000"/>
            <a:ext cx="2857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03 合规与追溯</a:t>
            </a:r>
            <a:endParaRPr lang="en-US" sz="1100"/>
          </a:p>
        </p:txBody>
      </p:sp>
      <p:cxnSp>
        <p:nvCxnSpPr>
          <p:cNvPr id="21" name="Connector 21"/>
          <p:cNvCxnSpPr/>
          <p:nvPr/>
        </p:nvCxnSpPr>
        <p:spPr>
          <a:xfrm rot="-13750">
            <a:off x="8318513" y="2406650"/>
            <a:ext cx="3175000" cy="12700"/>
          </a:xfrm>
          <a:prstGeom prst="line">
            <a:avLst/>
          </a:prstGeom>
          <a:solidFill>
            <a:srgbClr val="DEE0E3">
              <a:alpha val="100000"/>
            </a:srgbClr>
          </a:solidFill>
          <a:ln w="12700" cap="flat" cmpd="sng">
            <a:solidFill>
              <a:srgbClr val="DBEAFE">
                <a:alpha val="100000"/>
              </a:srgbClr>
            </a:solidFill>
            <a:prstDash val="solid"/>
            <a:round/>
            <a:headEnd type="none" w="med" len="med"/>
            <a:tailEnd type="none" w="med" len="med"/>
          </a:ln>
        </p:spPr>
      </p:cxnSp>
      <p:sp>
        <p:nvSpPr>
          <p:cNvPr id="22" name="AutoShape 22"/>
          <p:cNvSpPr/>
          <p:nvPr/>
        </p:nvSpPr>
        <p:spPr>
          <a:xfrm>
            <a:off x="8318500" y="2603500"/>
            <a:ext cx="3175000" cy="1206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所有报表数据直接来源于SAP系统,确保数据链路可追溯、真实不可篡改</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p>
            <a:pPr marL="0" indent="0" algn="l">
              <a:lnSpc>
                <a:spcPct val="117000"/>
              </a:lnSpc>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完全满足外部审计、税务稽查及高新企业资质审核的合规性底线</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23" name="AutoShape 23"/>
          <p:cNvSpPr/>
          <p:nvPr/>
        </p:nvSpPr>
        <p:spPr>
          <a:xfrm>
            <a:off x="8318500" y="3937000"/>
            <a:ext cx="3175000" cy="952500"/>
          </a:xfrm>
          <a:prstGeom prst="roundRect">
            <a:avLst>
              <a:gd name="adj" fmla="val 0"/>
            </a:avLst>
          </a:prstGeom>
          <a:solidFill>
            <a:srgbClr val="C7E3FF">
              <a:alpha val="100000"/>
            </a:srgbClr>
          </a:solidFill>
          <a:ln w="12700" cap="flat" cmpd="sng">
            <a:solidFill>
              <a:srgbClr val="93C5FD">
                <a:alpha val="10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445500" y="4038600"/>
            <a:ext cx="2921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 价值亮点:</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从底层杜绝数据造假风险,筑牢财务与资质合规的护城河。</a:t>
            </a:r>
            <a:endParaRPr lang="en-US" sz="1100"/>
          </a:p>
        </p:txBody>
      </p:sp>
      <p:sp>
        <p:nvSpPr>
          <p:cNvPr id="25" name="AutoShape 25"/>
          <p:cNvSpPr/>
          <p:nvPr/>
        </p:nvSpPr>
        <p:spPr>
          <a:xfrm>
            <a:off x="508000" y="5219700"/>
            <a:ext cx="11176000" cy="901700"/>
          </a:xfrm>
          <a:prstGeom prst="roundRect">
            <a:avLst>
              <a:gd name="adj" fmla="val 0"/>
            </a:avLst>
          </a:prstGeom>
          <a:solidFill>
            <a:srgbClr val="1E3A8A">
              <a:alpha val="6000"/>
            </a:srgbClr>
          </a:solidFill>
          <a:ln w="12700" cap="flat" cmpd="sng">
            <a:solidFill>
              <a:srgbClr val="1E3A8A">
                <a:alpha val="15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98500" y="5372100"/>
            <a:ext cx="10795000" cy="7493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合规红线:</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报表数据均直接来源于SAP及集成的业务系统,确保数据全链路可追溯、真实不可篡改,完全满足外部审计、税务稽查及高新企业资质审核的合规要求,杜绝数据造假与人工干预风险,保障企业财务与研发管理的合规性底线。</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0098" y="389618"/>
            <a:ext cx="9231630" cy="9326880"/>
          </a:xfrm>
        </p:spPr>
        <p:txBody>
          <a:bodyPr/>
          <a:lstStyle/>
          <a:p>
            <a:r>
              <a:rPr lang="en-US" altLang="zh-CN" dirty="0">
                <a:solidFill>
                  <a:schemeClr val="bg2">
                    <a:lumMod val="75000"/>
                  </a:schemeClr>
                </a:solidFill>
              </a:rPr>
              <a:t>03</a:t>
            </a:r>
            <a:endParaRPr lang="zh-CN" altLang="en-US" dirty="0">
              <a:solidFill>
                <a:schemeClr val="bg2">
                  <a:lumMod val="75000"/>
                </a:schemeClr>
              </a:solidFill>
            </a:endParaRPr>
          </a:p>
        </p:txBody>
      </p:sp>
      <p:sp>
        <p:nvSpPr>
          <p:cNvPr id="3" name="Title 2"/>
          <p:cNvSpPr>
            <a:spLocks noGrp="1"/>
          </p:cNvSpPr>
          <p:nvPr>
            <p:ph type="title"/>
          </p:nvPr>
        </p:nvSpPr>
        <p:spPr/>
        <p:txBody>
          <a:bodyPr/>
          <a:lstStyle/>
          <a:p>
            <a:r>
              <a:rPr lang="zh-CN" altLang="en-US" dirty="0">
                <a:solidFill>
                  <a:srgbClr val="0070C0"/>
                </a:solidFill>
              </a:rPr>
              <a:t>配套行动计划</a:t>
            </a:r>
            <a:br>
              <a:rPr lang="zh-CN" altLang="en-US" dirty="0"/>
            </a:br>
            <a:endParaRPr lang="zh-CN" altLang="en-US" dirty="0"/>
          </a:p>
        </p:txBody>
      </p:sp>
      <p:pic>
        <p:nvPicPr>
          <p:cNvPr id="4" name="图片 3"/>
          <p:cNvPicPr>
            <a:picLocks noChangeAspect="1"/>
          </p:cNvPicPr>
          <p:nvPr/>
        </p:nvPicPr>
        <p:blipFill>
          <a:blip r:embed="rId2"/>
          <a:stretch>
            <a:fillRect/>
          </a:stretch>
        </p:blipFill>
        <p:spPr>
          <a:xfrm>
            <a:off x="48466" y="125649"/>
            <a:ext cx="1930400" cy="381000"/>
          </a:xfrm>
          <a:prstGeom prst="rect">
            <a:avLst/>
          </a:prstGeom>
        </p:spPr>
      </p:pic>
      <p:sp>
        <p:nvSpPr>
          <p:cNvPr id="5" name="文本框 4"/>
          <p:cNvSpPr txBox="1"/>
          <p:nvPr/>
        </p:nvSpPr>
        <p:spPr>
          <a:xfrm>
            <a:off x="-1293962" y="2622430"/>
            <a:ext cx="0" cy="0"/>
          </a:xfrm>
          <a:prstGeom prst="rect">
            <a:avLst/>
          </a:prstGeom>
          <a:noFill/>
        </p:spPr>
        <p:txBody>
          <a:bodyPr wrap="none" rtlCol="0">
            <a:noAutofit/>
          </a:bodyPr>
          <a:lstStyle/>
          <a:p>
            <a:pPr algn="l"/>
            <a:endParaRPr kumimoji="1" lang="zh-CN" altLang="en-US" dirty="0" err="1">
              <a:solidFill>
                <a:schemeClr val="accent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270000" y="4445000"/>
            <a:ext cx="3175000" cy="3175000"/>
          </a:xfrm>
          <a:prstGeom prst="ellipse">
            <a:avLst/>
          </a:prstGeom>
          <a:solidFill>
            <a:srgbClr val="059669">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custDataLst>
              <p:tags r:id="rId1"/>
            </p:custDataLst>
          </p:nvPr>
        </p:nvSpPr>
        <p:spPr>
          <a:xfrm>
            <a:off x="508000" y="1524000"/>
            <a:ext cx="3556000" cy="4064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custDataLst>
              <p:tags r:id="rId2"/>
            </p:custDataLst>
          </p:nvPr>
        </p:nvSpPr>
        <p:spPr>
          <a:xfrm>
            <a:off x="698500" y="1714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01 蓝图设计</a:t>
            </a:r>
            <a:endParaRPr lang="en-US" sz="1100"/>
          </a:p>
        </p:txBody>
      </p:sp>
      <p:sp>
        <p:nvSpPr>
          <p:cNvPr id="7" name="AutoShape 7"/>
          <p:cNvSpPr/>
          <p:nvPr>
            <p:custDataLst>
              <p:tags r:id="rId3"/>
            </p:custDataLst>
          </p:nvPr>
        </p:nvSpPr>
        <p:spPr>
          <a:xfrm>
            <a:off x="698500" y="2222500"/>
            <a:ext cx="317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2026年</a:t>
            </a:r>
            <a:r>
              <a:rPr lang="en-US" altLang="zh-CN" sz="14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7</a:t>
            </a:r>
            <a:r>
              <a:rPr lang="en-US" sz="14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月 - </a:t>
            </a:r>
            <a:r>
              <a:rPr lang="en-US" altLang="zh-CN" sz="14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8</a:t>
            </a:r>
            <a:r>
              <a:rPr lang="en-US" sz="14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月</a:t>
            </a:r>
            <a:endParaRPr lang="en-US" sz="1100" dirty="0"/>
          </a:p>
        </p:txBody>
      </p:sp>
      <p:cxnSp>
        <p:nvCxnSpPr>
          <p:cNvPr id="8" name="Connector 8"/>
          <p:cNvCxnSpPr/>
          <p:nvPr>
            <p:custDataLst>
              <p:tags r:id="rId4"/>
            </p:custDataLst>
          </p:nvPr>
        </p:nvCxnSpPr>
        <p:spPr>
          <a:xfrm rot="-13750">
            <a:off x="698513" y="2660650"/>
            <a:ext cx="3175000" cy="12700"/>
          </a:xfrm>
          <a:prstGeom prst="straightConnector1">
            <a:avLst/>
          </a:prstGeom>
          <a:solidFill>
            <a:srgbClr val="DEE0E3">
              <a:alpha val="100000"/>
            </a:srgbClr>
          </a:solidFill>
          <a:ln w="12700" cap="flat" cmpd="sng">
            <a:solidFill>
              <a:srgbClr val="DBEAFE">
                <a:alpha val="100000"/>
              </a:srgbClr>
            </a:solidFill>
            <a:prstDash val="solid"/>
            <a:round/>
            <a:headEnd type="none" w="med" len="med"/>
            <a:tailEnd type="none" w="med" len="med"/>
          </a:ln>
        </p:spPr>
      </p:cxnSp>
      <p:sp>
        <p:nvSpPr>
          <p:cNvPr id="9" name="AutoShape 9"/>
          <p:cNvSpPr/>
          <p:nvPr>
            <p:custDataLst>
              <p:tags r:id="rId5"/>
            </p:custDataLst>
          </p:nvPr>
        </p:nvSpPr>
        <p:spPr>
          <a:xfrm>
            <a:off x="698500" y="2794000"/>
            <a:ext cx="317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核心规划任务</a:t>
            </a:r>
            <a:endParaRPr lang="en-US" sz="1100"/>
          </a:p>
        </p:txBody>
      </p:sp>
      <p:sp>
        <p:nvSpPr>
          <p:cNvPr id="10" name="AutoShape 10"/>
          <p:cNvSpPr/>
          <p:nvPr>
            <p:custDataLst>
              <p:tags r:id="rId6"/>
            </p:custDataLst>
          </p:nvPr>
        </p:nvSpPr>
        <p:spPr>
          <a:xfrm>
            <a:off x="698500" y="3175000"/>
            <a:ext cx="3365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研发费用方案确定</a:t>
            </a:r>
            <a:b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各模块集成配置清单</a:t>
            </a:r>
            <a:br>
              <a:rPr lang="en-US" altLang="zh-CN"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altLang="zh-CN"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altLang="zh-CN"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MM</a:t>
            </a:r>
            <a:r>
              <a:rPr lang="zh-CN" altLang="en-US"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SD</a:t>
            </a:r>
            <a:r>
              <a:rPr lang="zh-CN" altLang="en-US"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PP</a:t>
            </a:r>
            <a:r>
              <a:rPr lang="zh-CN" altLang="en-US"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等配置配合）</a:t>
            </a:r>
            <a:b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相关二开报表的开发清单确定</a:t>
            </a:r>
            <a:b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100" dirty="0"/>
          </a:p>
        </p:txBody>
      </p:sp>
      <p:sp>
        <p:nvSpPr>
          <p:cNvPr id="11" name="AutoShape 11"/>
          <p:cNvSpPr/>
          <p:nvPr>
            <p:custDataLst>
              <p:tags r:id="rId7"/>
            </p:custDataLst>
          </p:nvPr>
        </p:nvSpPr>
        <p:spPr>
          <a:xfrm>
            <a:off x="698500" y="4953000"/>
            <a:ext cx="3175000" cy="635000"/>
          </a:xfrm>
          <a:prstGeom prst="roundRect">
            <a:avLst>
              <a:gd name="adj" fmla="val 0"/>
            </a:avLst>
          </a:prstGeom>
          <a:solidFill>
            <a:schemeClr val="accent5">
              <a:lumMod val="40000"/>
              <a:lumOff val="60000"/>
            </a:scheme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25500" y="50546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1" i="0" u="none" strike="noStrike" dirty="0" err="1">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交付：蓝图设计书</a:t>
            </a:r>
            <a:r>
              <a:rPr lang="en-US" sz="1300" b="1" i="0" u="none" strike="noStrike" dirty="0">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300" b="1" i="0" u="none" strike="noStrike" dirty="0" err="1">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配置规格书</a:t>
            </a:r>
            <a:endParaRPr lang="en-US" sz="1100" dirty="0"/>
          </a:p>
        </p:txBody>
      </p:sp>
      <p:sp>
        <p:nvSpPr>
          <p:cNvPr id="13" name="AutoShape 13"/>
          <p:cNvSpPr/>
          <p:nvPr>
            <p:custDataLst>
              <p:tags r:id="rId8"/>
            </p:custDataLst>
          </p:nvPr>
        </p:nvSpPr>
        <p:spPr>
          <a:xfrm>
            <a:off x="4318000" y="1524000"/>
            <a:ext cx="3556000" cy="4064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noAutofit/>
          </a:bodyPr>
          <a:lstStyle/>
          <a:p>
            <a:pPr lvl="0" algn="ctr">
              <a:buSzTx/>
              <a:defRPr/>
            </a:pPr>
            <a:endParaRPr>
              <a:sym typeface="+mn-ea"/>
            </a:endParaRPr>
          </a:p>
        </p:txBody>
      </p:sp>
      <p:sp>
        <p:nvSpPr>
          <p:cNvPr id="14" name="AutoShape 14"/>
          <p:cNvSpPr/>
          <p:nvPr>
            <p:custDataLst>
              <p:tags r:id="rId9"/>
            </p:custDataLst>
          </p:nvPr>
        </p:nvSpPr>
        <p:spPr>
          <a:xfrm>
            <a:off x="4508500" y="1714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1800" b="1" i="0" u="none" strike="noStrike" dirty="0" err="1">
                <a:solidFill>
                  <a:srgbClr val="0891B2"/>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endParaRPr lang="en-US" sz="1100" dirty="0"/>
          </a:p>
        </p:txBody>
      </p:sp>
      <p:sp>
        <p:nvSpPr>
          <p:cNvPr id="15" name="AutoShape 15"/>
          <p:cNvSpPr/>
          <p:nvPr>
            <p:custDataLst>
              <p:tags r:id="rId10"/>
            </p:custDataLst>
          </p:nvPr>
        </p:nvSpPr>
        <p:spPr>
          <a:xfrm>
            <a:off x="4508500" y="2222500"/>
            <a:ext cx="317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2026年</a:t>
            </a:r>
            <a:r>
              <a:rPr lang="en-US" altLang="zh-CN" sz="1400"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9</a:t>
            </a:r>
            <a:r>
              <a:rPr lang="en-US" sz="14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月 - 1</a:t>
            </a:r>
            <a:r>
              <a:rPr lang="en-US"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en-US" sz="14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月</a:t>
            </a:r>
            <a:endParaRPr lang="en-US" sz="1100" dirty="0"/>
          </a:p>
        </p:txBody>
      </p:sp>
      <p:cxnSp>
        <p:nvCxnSpPr>
          <p:cNvPr id="16" name="Connector 16"/>
          <p:cNvCxnSpPr/>
          <p:nvPr>
            <p:custDataLst>
              <p:tags r:id="rId11"/>
            </p:custDataLst>
          </p:nvPr>
        </p:nvCxnSpPr>
        <p:spPr>
          <a:xfrm rot="-13750">
            <a:off x="4508513" y="2660650"/>
            <a:ext cx="3175000" cy="12700"/>
          </a:xfrm>
          <a:prstGeom prst="straightConnector1">
            <a:avLst/>
          </a:prstGeom>
          <a:solidFill>
            <a:srgbClr val="DEE0E3">
              <a:alpha val="100000"/>
            </a:srgbClr>
          </a:solidFill>
          <a:ln w="12700" cap="flat" cmpd="sng">
            <a:solidFill>
              <a:srgbClr val="CFFAFE">
                <a:alpha val="100000"/>
              </a:srgbClr>
            </a:solidFill>
            <a:prstDash val="solid"/>
            <a:round/>
            <a:headEnd type="none" w="med" len="med"/>
            <a:tailEnd type="none" w="med" len="med"/>
          </a:ln>
        </p:spPr>
      </p:cxnSp>
      <p:sp>
        <p:nvSpPr>
          <p:cNvPr id="17" name="AutoShape 17"/>
          <p:cNvSpPr/>
          <p:nvPr>
            <p:custDataLst>
              <p:tags r:id="rId12"/>
            </p:custDataLst>
          </p:nvPr>
        </p:nvSpPr>
        <p:spPr>
          <a:xfrm>
            <a:off x="4508500" y="2794000"/>
            <a:ext cx="317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配置与开发落地</a:t>
            </a:r>
            <a:endParaRPr lang="en-US" sz="1100" dirty="0"/>
          </a:p>
        </p:txBody>
      </p:sp>
      <p:sp>
        <p:nvSpPr>
          <p:cNvPr id="18" name="AutoShape 18"/>
          <p:cNvSpPr/>
          <p:nvPr>
            <p:custDataLst>
              <p:tags r:id="rId13"/>
            </p:custDataLst>
          </p:nvPr>
        </p:nvSpPr>
        <p:spPr>
          <a:xfrm>
            <a:off x="4508499" y="3175000"/>
            <a:ext cx="3292475"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a:t>
            </a:r>
            <a:r>
              <a:rPr lang="zh-CN" altLang="en-US"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财务模块的基础配置</a:t>
            </a:r>
            <a:b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altLang="zh-CN"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MM</a:t>
            </a:r>
            <a:r>
              <a:rPr lang="zh-CN" altLang="en-US"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完成研发集成配置</a:t>
            </a:r>
            <a:b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altLang="zh-CN"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PP</a:t>
            </a:r>
            <a:r>
              <a:rPr lang="zh-CN" altLang="en-US"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完成研发相关生产订单类型结算配置</a:t>
            </a:r>
            <a:b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完成二开报表开发</a:t>
            </a:r>
            <a:endParaRPr lang="en-US" sz="1100" dirty="0"/>
          </a:p>
        </p:txBody>
      </p:sp>
      <p:sp>
        <p:nvSpPr>
          <p:cNvPr id="19" name="AutoShape 19"/>
          <p:cNvSpPr/>
          <p:nvPr>
            <p:custDataLst>
              <p:tags r:id="rId14"/>
            </p:custDataLst>
          </p:nvPr>
        </p:nvSpPr>
        <p:spPr>
          <a:xfrm>
            <a:off x="4508500" y="4953000"/>
            <a:ext cx="3175000" cy="635000"/>
          </a:xfrm>
          <a:prstGeom prst="roundRect">
            <a:avLst>
              <a:gd name="adj" fmla="val 0"/>
            </a:avLst>
          </a:prstGeom>
          <a:solidFill>
            <a:schemeClr val="accent5">
              <a:lumMod val="40000"/>
              <a:lumOff val="60000"/>
            </a:schemeClr>
          </a:solidFill>
          <a:ln w="25400" cap="flat" cmpd="sng">
            <a:noFill/>
            <a:prstDash val="solid"/>
            <a:round/>
          </a:ln>
        </p:spPr>
        <p:txBody>
          <a:bodyPr vert="horz" wrap="square" lIns="63500" tIns="63500" rIns="63500" bIns="63500" rtlCol="0" anchor="ctr">
            <a:noAutofit/>
          </a:bodyPr>
          <a:lstStyle/>
          <a:p>
            <a:pPr lvl="0" algn="ctr">
              <a:buSzTx/>
              <a:defRPr/>
            </a:pPr>
            <a:endParaRPr>
              <a:sym typeface="+mn-ea"/>
            </a:endParaRPr>
          </a:p>
        </p:txBody>
      </p:sp>
      <p:sp>
        <p:nvSpPr>
          <p:cNvPr id="20" name="AutoShape 20"/>
          <p:cNvSpPr/>
          <p:nvPr/>
        </p:nvSpPr>
        <p:spPr>
          <a:xfrm>
            <a:off x="4635500" y="50546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5E75"/>
                </a:solidFill>
                <a:latin typeface="Noto Sans SC" panose="020B0200000000000000" charset="-122"/>
                <a:ea typeface="Noto Sans SC" panose="020B0200000000000000" charset="-122"/>
                <a:cs typeface="Noto Sans SC" panose="020B0200000000000000" charset="-122"/>
                <a:sym typeface="Noto Sans SC" panose="020B0200000000000000" charset="-122"/>
              </a:rPr>
              <a:t>🛠 交付：系统配置成果 + 测试报告</a:t>
            </a:r>
            <a:endParaRPr lang="en-US" sz="1100"/>
          </a:p>
        </p:txBody>
      </p:sp>
      <p:sp>
        <p:nvSpPr>
          <p:cNvPr id="21" name="AutoShape 21"/>
          <p:cNvSpPr/>
          <p:nvPr>
            <p:custDataLst>
              <p:tags r:id="rId15"/>
            </p:custDataLst>
          </p:nvPr>
        </p:nvSpPr>
        <p:spPr>
          <a:xfrm>
            <a:off x="8128000" y="1524000"/>
            <a:ext cx="3556000" cy="4064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noAutofit/>
          </a:bodyPr>
          <a:lstStyle/>
          <a:p>
            <a:pPr lvl="0" algn="ctr">
              <a:buSzTx/>
              <a:defRPr/>
            </a:pPr>
            <a:endParaRPr>
              <a:sym typeface="+mn-ea"/>
            </a:endParaRPr>
          </a:p>
        </p:txBody>
      </p:sp>
      <p:sp>
        <p:nvSpPr>
          <p:cNvPr id="22" name="AutoShape 22"/>
          <p:cNvSpPr/>
          <p:nvPr>
            <p:custDataLst>
              <p:tags r:id="rId16"/>
            </p:custDataLst>
          </p:nvPr>
        </p:nvSpPr>
        <p:spPr>
          <a:xfrm>
            <a:off x="8318500" y="1714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03 上线保障</a:t>
            </a:r>
            <a:endParaRPr lang="en-US" sz="1100"/>
          </a:p>
        </p:txBody>
      </p:sp>
      <p:sp>
        <p:nvSpPr>
          <p:cNvPr id="23" name="AutoShape 23"/>
          <p:cNvSpPr/>
          <p:nvPr>
            <p:custDataLst>
              <p:tags r:id="rId17"/>
            </p:custDataLst>
          </p:nvPr>
        </p:nvSpPr>
        <p:spPr>
          <a:xfrm>
            <a:off x="8318500" y="2222500"/>
            <a:ext cx="317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2026年</a:t>
            </a:r>
            <a:r>
              <a:rPr lang="en-US"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12</a:t>
            </a:r>
            <a:r>
              <a:rPr lang="en-US" sz="14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月-2027.01</a:t>
            </a:r>
            <a:endParaRPr lang="en-US" sz="1100" dirty="0"/>
          </a:p>
        </p:txBody>
      </p:sp>
      <p:cxnSp>
        <p:nvCxnSpPr>
          <p:cNvPr id="24" name="Connector 24"/>
          <p:cNvCxnSpPr/>
          <p:nvPr>
            <p:custDataLst>
              <p:tags r:id="rId18"/>
            </p:custDataLst>
          </p:nvPr>
        </p:nvCxnSpPr>
        <p:spPr>
          <a:xfrm rot="-13750">
            <a:off x="8318513" y="2660650"/>
            <a:ext cx="3175000" cy="12700"/>
          </a:xfrm>
          <a:prstGeom prst="straightConnector1">
            <a:avLst/>
          </a:prstGeom>
          <a:solidFill>
            <a:srgbClr val="DEE0E3">
              <a:alpha val="100000"/>
            </a:srgbClr>
          </a:solidFill>
          <a:ln w="12700" cap="flat" cmpd="sng">
            <a:solidFill>
              <a:srgbClr val="D1FAE5">
                <a:alpha val="100000"/>
              </a:srgbClr>
            </a:solidFill>
            <a:prstDash val="solid"/>
            <a:round/>
            <a:headEnd type="none" w="med" len="med"/>
            <a:tailEnd type="none" w="med" len="med"/>
          </a:ln>
        </p:spPr>
      </p:cxnSp>
      <p:sp>
        <p:nvSpPr>
          <p:cNvPr id="25" name="AutoShape 25"/>
          <p:cNvSpPr/>
          <p:nvPr>
            <p:custDataLst>
              <p:tags r:id="rId19"/>
            </p:custDataLst>
          </p:nvPr>
        </p:nvSpPr>
        <p:spPr>
          <a:xfrm>
            <a:off x="8318500" y="2794000"/>
            <a:ext cx="317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验证与平稳过渡</a:t>
            </a:r>
            <a:endParaRPr lang="en-US" sz="1100" dirty="0"/>
          </a:p>
        </p:txBody>
      </p:sp>
      <p:sp>
        <p:nvSpPr>
          <p:cNvPr id="26" name="AutoShape 26"/>
          <p:cNvSpPr/>
          <p:nvPr>
            <p:custDataLst>
              <p:tags r:id="rId20"/>
            </p:custDataLst>
          </p:nvPr>
        </p:nvSpPr>
        <p:spPr>
          <a:xfrm>
            <a:off x="8318500" y="3175000"/>
            <a:ext cx="3175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研发相关场景的集成测试，用户测试</a:t>
            </a:r>
            <a:b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二开报表的验证</a:t>
            </a:r>
            <a:endParaRPr lang="en-US" altLang="zh-CN"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完成本地关键用户操作与运维培训</a:t>
            </a:r>
            <a:b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系统正式切换</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+ 30天Hypercare护航</a:t>
            </a:r>
            <a:endParaRPr lang="en-US" sz="1100" dirty="0"/>
          </a:p>
        </p:txBody>
      </p:sp>
      <p:sp>
        <p:nvSpPr>
          <p:cNvPr id="27" name="AutoShape 27"/>
          <p:cNvSpPr/>
          <p:nvPr>
            <p:custDataLst>
              <p:tags r:id="rId21"/>
            </p:custDataLst>
          </p:nvPr>
        </p:nvSpPr>
        <p:spPr>
          <a:xfrm>
            <a:off x="8318500" y="4953000"/>
            <a:ext cx="3175000" cy="635000"/>
          </a:xfrm>
          <a:prstGeom prst="roundRect">
            <a:avLst>
              <a:gd name="adj" fmla="val 0"/>
            </a:avLst>
          </a:prstGeom>
          <a:solidFill>
            <a:schemeClr val="accent5">
              <a:lumMod val="40000"/>
              <a:lumOff val="60000"/>
            </a:scheme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8445500" y="50546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 交付：上线确认书 + 标准运营手册</a:t>
            </a:r>
            <a:endParaRPr lang="en-US" sz="1100"/>
          </a:p>
        </p:txBody>
      </p:sp>
      <p:sp>
        <p:nvSpPr>
          <p:cNvPr id="29" name="AutoShape 29"/>
          <p:cNvSpPr/>
          <p:nvPr/>
        </p:nvSpPr>
        <p:spPr>
          <a:xfrm>
            <a:off x="508000" y="5969000"/>
            <a:ext cx="1117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通过分阶段、强管控的实施路径，保障项目从设计到落地的全流程可控，确保按时、按质达成合规建设目标。</a:t>
            </a:r>
            <a:endParaRPr lang="en-US" sz="1100"/>
          </a:p>
        </p:txBody>
      </p:sp>
      <p:pic>
        <p:nvPicPr>
          <p:cNvPr id="30" name="Picture 30"/>
          <p:cNvPicPr>
            <a:picLocks noChangeAspect="1"/>
          </p:cNvPicPr>
          <p:nvPr/>
        </p:nvPicPr>
        <p:blipFill>
          <a:blip r:embed="rId24"/>
          <a:stretch>
            <a:fillRect/>
          </a:stretch>
        </p:blipFill>
        <p:spPr>
          <a:xfrm>
            <a:off x="10668000" y="6190112"/>
            <a:ext cx="1524000" cy="667888"/>
          </a:xfrm>
          <a:prstGeom prst="rect">
            <a:avLst/>
          </a:prstGeom>
        </p:spPr>
      </p:pic>
      <p:sp>
        <p:nvSpPr>
          <p:cNvPr id="31" name="标题 30"/>
          <p:cNvSpPr>
            <a:spLocks noGrp="1"/>
          </p:cNvSpPr>
          <p:nvPr>
            <p:ph type="title"/>
          </p:nvPr>
        </p:nvSpPr>
        <p:spPr>
          <a:noFill/>
          <a:ln w="25400" cap="flat" cmpd="sng">
            <a:noFill/>
            <a:prstDash val="solid"/>
            <a:round/>
          </a:ln>
        </p:spPr>
        <p:txBody>
          <a:bodyPr vert="horz" wrap="square" lIns="0" tIns="0" rIns="0" bIns="0" rtlCol="0" anchor="t" anchorCtr="0"/>
          <a:lstStyle/>
          <a:p>
            <a:r>
              <a:rPr lang="zh-CN" altLang="en-US" sz="2800" b="1" dirty="0">
                <a:solidFill>
                  <a:srgbClr val="0073E6"/>
                </a:solidFill>
                <a:latin typeface="Biennale Bold"/>
              </a:rPr>
              <a:t>三阶段实施路径</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0098" y="389618"/>
            <a:ext cx="9231630" cy="9326880"/>
          </a:xfrm>
        </p:spPr>
        <p:txBody>
          <a:bodyPr/>
          <a:lstStyle/>
          <a:p>
            <a:r>
              <a:rPr lang="en-US" altLang="zh-CN" dirty="0">
                <a:solidFill>
                  <a:schemeClr val="tx1"/>
                </a:solidFill>
              </a:rPr>
              <a:t>04</a:t>
            </a:r>
            <a:endParaRPr lang="zh-CN" altLang="en-US" dirty="0">
              <a:solidFill>
                <a:schemeClr val="tx1"/>
              </a:solidFill>
            </a:endParaRPr>
          </a:p>
        </p:txBody>
      </p:sp>
      <p:sp>
        <p:nvSpPr>
          <p:cNvPr id="3" name="Title 2"/>
          <p:cNvSpPr>
            <a:spLocks noGrp="1"/>
          </p:cNvSpPr>
          <p:nvPr>
            <p:ph type="title"/>
          </p:nvPr>
        </p:nvSpPr>
        <p:spPr/>
        <p:txBody>
          <a:bodyPr/>
          <a:lstStyle/>
          <a:p>
            <a:r>
              <a:rPr lang="zh-CN" altLang="en-US" dirty="0">
                <a:solidFill>
                  <a:schemeClr val="accent5">
                    <a:lumMod val="75000"/>
                  </a:schemeClr>
                </a:solidFill>
              </a:rPr>
              <a:t>附录：相关文档及原始数据</a:t>
            </a:r>
          </a:p>
        </p:txBody>
      </p:sp>
      <p:pic>
        <p:nvPicPr>
          <p:cNvPr id="4" name="图片 3"/>
          <p:cNvPicPr>
            <a:picLocks noChangeAspect="1"/>
          </p:cNvPicPr>
          <p:nvPr/>
        </p:nvPicPr>
        <p:blipFill>
          <a:blip r:embed="rId2"/>
          <a:stretch>
            <a:fillRect/>
          </a:stretch>
        </p:blipFill>
        <p:spPr>
          <a:xfrm>
            <a:off x="48466" y="125649"/>
            <a:ext cx="1930400" cy="381000"/>
          </a:xfrm>
          <a:prstGeom prst="rect">
            <a:avLst/>
          </a:prstGeom>
        </p:spPr>
      </p:pic>
      <p:sp>
        <p:nvSpPr>
          <p:cNvPr id="5" name="文本框 4"/>
          <p:cNvSpPr txBox="1"/>
          <p:nvPr/>
        </p:nvSpPr>
        <p:spPr>
          <a:xfrm>
            <a:off x="-1293962" y="2622430"/>
            <a:ext cx="0" cy="0"/>
          </a:xfrm>
          <a:prstGeom prst="rect">
            <a:avLst/>
          </a:prstGeom>
          <a:noFill/>
        </p:spPr>
        <p:txBody>
          <a:bodyPr wrap="none" rtlCol="0">
            <a:noAutofit/>
          </a:bodyPr>
          <a:lstStyle/>
          <a:p>
            <a:pPr algn="l"/>
            <a:endParaRPr kumimoji="1" lang="zh-CN" altLang="en-US" dirty="0" err="1">
              <a:solidFill>
                <a:schemeClr val="accent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cap="all" dirty="0"/>
              <a:t>附录 原始需求清单（</a:t>
            </a:r>
            <a:r>
              <a:rPr lang="en-US" altLang="zh-CN" b="1" cap="all" dirty="0"/>
              <a:t>14</a:t>
            </a:r>
            <a:r>
              <a:rPr lang="zh-CN" altLang="zh-CN" b="1" cap="all" dirty="0"/>
              <a:t>条，P05关联）</a:t>
            </a:r>
            <a:endParaRPr lang="zh-CN" altLang="en-US" b="1" cap="all" dirty="0"/>
          </a:p>
        </p:txBody>
      </p:sp>
      <p:graphicFrame>
        <p:nvGraphicFramePr>
          <p:cNvPr id="4" name="表格 3"/>
          <p:cNvGraphicFramePr>
            <a:graphicFrameLocks noGrp="1"/>
          </p:cNvGraphicFramePr>
          <p:nvPr/>
        </p:nvGraphicFramePr>
        <p:xfrm>
          <a:off x="428624" y="1192156"/>
          <a:ext cx="11337925" cy="5628094"/>
        </p:xfrm>
        <a:graphic>
          <a:graphicData uri="http://schemas.openxmlformats.org/drawingml/2006/table">
            <a:tbl>
              <a:tblPr/>
              <a:tblGrid>
                <a:gridCol w="1313840">
                  <a:extLst>
                    <a:ext uri="{9D8B030D-6E8A-4147-A177-3AD203B41FA5}">
                      <a16:colId xmlns:a16="http://schemas.microsoft.com/office/drawing/2014/main" val="20000"/>
                    </a:ext>
                  </a:extLst>
                </a:gridCol>
                <a:gridCol w="5040891">
                  <a:extLst>
                    <a:ext uri="{9D8B030D-6E8A-4147-A177-3AD203B41FA5}">
                      <a16:colId xmlns:a16="http://schemas.microsoft.com/office/drawing/2014/main" val="20001"/>
                    </a:ext>
                  </a:extLst>
                </a:gridCol>
                <a:gridCol w="448024">
                  <a:extLst>
                    <a:ext uri="{9D8B030D-6E8A-4147-A177-3AD203B41FA5}">
                      <a16:colId xmlns:a16="http://schemas.microsoft.com/office/drawing/2014/main" val="20002"/>
                    </a:ext>
                  </a:extLst>
                </a:gridCol>
                <a:gridCol w="1567388">
                  <a:extLst>
                    <a:ext uri="{9D8B030D-6E8A-4147-A177-3AD203B41FA5}">
                      <a16:colId xmlns:a16="http://schemas.microsoft.com/office/drawing/2014/main" val="20003"/>
                    </a:ext>
                  </a:extLst>
                </a:gridCol>
                <a:gridCol w="2967782">
                  <a:extLst>
                    <a:ext uri="{9D8B030D-6E8A-4147-A177-3AD203B41FA5}">
                      <a16:colId xmlns:a16="http://schemas.microsoft.com/office/drawing/2014/main" val="20004"/>
                    </a:ext>
                  </a:extLst>
                </a:gridCol>
              </a:tblGrid>
              <a:tr h="478533">
                <a:tc>
                  <a:txBody>
                    <a:bodyPr/>
                    <a:lstStyle/>
                    <a:p>
                      <a:pPr marL="0" marR="0" algn="ctr">
                        <a:buNone/>
                      </a:pPr>
                      <a:r>
                        <a:rPr lang="zh-CN" sz="1000" b="1" cap="all" dirty="0">
                          <a:solidFill>
                            <a:schemeClr val="bg1"/>
                          </a:solidFill>
                          <a:effectLst/>
                          <a:latin typeface="微软雅黑" panose="020B0503020204020204" pitchFamily="34" charset="-122"/>
                          <a:ea typeface="微软雅黑" panose="020B0503020204020204" pitchFamily="34" charset="-122"/>
                        </a:rPr>
                        <a:t>编号</a:t>
                      </a: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tc>
                  <a:txBody>
                    <a:bodyPr/>
                    <a:lstStyle/>
                    <a:p>
                      <a:pPr marL="0" marR="0" algn="ctr">
                        <a:buNone/>
                      </a:pPr>
                      <a:r>
                        <a:rPr lang="zh-CN" sz="1000" b="1" cap="all" dirty="0">
                          <a:solidFill>
                            <a:schemeClr val="bg1"/>
                          </a:solidFill>
                          <a:effectLst/>
                          <a:latin typeface="微软雅黑" panose="020B0503020204020204" pitchFamily="34" charset="-122"/>
                          <a:ea typeface="微软雅黑" panose="020B0503020204020204" pitchFamily="34" charset="-122"/>
                        </a:rPr>
                        <a:t>需求简述</a:t>
                      </a: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tc>
                  <a:txBody>
                    <a:bodyPr/>
                    <a:lstStyle/>
                    <a:p>
                      <a:pPr marL="0" marR="0" algn="ctr">
                        <a:buNone/>
                      </a:pPr>
                      <a:r>
                        <a:rPr lang="zh-CN" sz="1000" b="1" cap="all" dirty="0">
                          <a:solidFill>
                            <a:schemeClr val="bg1"/>
                          </a:solidFill>
                          <a:effectLst/>
                          <a:latin typeface="微软雅黑" panose="020B0503020204020204" pitchFamily="34" charset="-122"/>
                          <a:ea typeface="微软雅黑" panose="020B0503020204020204" pitchFamily="34" charset="-122"/>
                        </a:rPr>
                        <a:t>优先级</a:t>
                      </a: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tc>
                  <a:txBody>
                    <a:bodyPr/>
                    <a:lstStyle/>
                    <a:p>
                      <a:pPr marL="0" marR="0" algn="ctr">
                        <a:buNone/>
                      </a:pPr>
                      <a:r>
                        <a:rPr lang="zh-CN" sz="1000" b="1" cap="all" dirty="0">
                          <a:solidFill>
                            <a:schemeClr val="bg1"/>
                          </a:solidFill>
                          <a:effectLst/>
                          <a:latin typeface="微软雅黑" panose="020B0503020204020204" pitchFamily="34" charset="-122"/>
                          <a:ea typeface="微软雅黑" panose="020B0503020204020204" pitchFamily="34" charset="-122"/>
                        </a:rPr>
                        <a:t>来源部门</a:t>
                      </a: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tc>
                  <a:txBody>
                    <a:bodyPr/>
                    <a:lstStyle/>
                    <a:p>
                      <a:pPr marL="0" marR="0" algn="ctr">
                        <a:buNone/>
                      </a:pPr>
                      <a:r>
                        <a:rPr lang="zh-CN" altLang="en-US" sz="1000" b="1" cap="all" dirty="0">
                          <a:solidFill>
                            <a:schemeClr val="bg1"/>
                          </a:solidFill>
                          <a:effectLst/>
                          <a:latin typeface="微软雅黑" panose="020B0503020204020204" pitchFamily="34" charset="-122"/>
                          <a:ea typeface="微软雅黑" panose="020B0503020204020204" pitchFamily="34" charset="-122"/>
                        </a:rPr>
                        <a:t>备注</a:t>
                      </a:r>
                      <a:endParaRPr lang="zh-CN" sz="1000" b="1" cap="all" dirty="0">
                        <a:solidFill>
                          <a:schemeClr val="bg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extLst>
                  <a:ext uri="{0D108BD9-81ED-4DB2-BD59-A6C34878D82A}">
                    <a16:rowId xmlns:a16="http://schemas.microsoft.com/office/drawing/2014/main" val="10000"/>
                  </a:ext>
                </a:extLst>
              </a:tr>
              <a:tr h="335007">
                <a:tc>
                  <a:txBody>
                    <a:bodyPr/>
                    <a:lstStyle/>
                    <a:p>
                      <a:pPr marL="0" marR="0">
                        <a:buNone/>
                      </a:pPr>
                      <a:r>
                        <a:rPr lang="zh-CN" sz="1000" b="1" dirty="0">
                          <a:solidFill>
                            <a:schemeClr val="tx1"/>
                          </a:solidFill>
                          <a:effectLst/>
                          <a:latin typeface="微软雅黑" panose="020B0503020204020204" pitchFamily="34" charset="-122"/>
                          <a:ea typeface="微软雅黑" panose="020B0503020204020204" pitchFamily="34" charset="-122"/>
                        </a:rPr>
                        <a:t>A0</a:t>
                      </a:r>
                      <a:r>
                        <a:rPr lang="en-US" altLang="zh-CN" sz="1000" b="1" dirty="0">
                          <a:solidFill>
                            <a:schemeClr val="tx1"/>
                          </a:solidFill>
                          <a:effectLst/>
                          <a:latin typeface="微软雅黑" panose="020B0503020204020204" pitchFamily="34" charset="-122"/>
                          <a:ea typeface="微软雅黑" panose="020B0503020204020204" pitchFamily="34" charset="-122"/>
                        </a:rPr>
                        <a:t>014</a:t>
                      </a: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altLang="zh-CN" sz="1000" dirty="0">
                          <a:solidFill>
                            <a:schemeClr val="tx1"/>
                          </a:solidFill>
                          <a:effectLst/>
                          <a:latin typeface="微软雅黑" panose="020B0503020204020204" pitchFamily="34" charset="-122"/>
                          <a:ea typeface="微软雅黑" panose="020B0503020204020204" pitchFamily="34" charset="-122"/>
                        </a:rPr>
                        <a:t>PLM</a:t>
                      </a:r>
                      <a:r>
                        <a:rPr lang="zh-CN" altLang="en-US" sz="1000" dirty="0">
                          <a:solidFill>
                            <a:schemeClr val="tx1"/>
                          </a:solidFill>
                          <a:effectLst/>
                          <a:latin typeface="微软雅黑" panose="020B0503020204020204" pitchFamily="34" charset="-122"/>
                          <a:ea typeface="微软雅黑" panose="020B0503020204020204" pitchFamily="34" charset="-122"/>
                        </a:rPr>
                        <a:t>清单不同步到</a:t>
                      </a:r>
                      <a:r>
                        <a:rPr lang="en-US" altLang="zh-CN" sz="1000" dirty="0">
                          <a:solidFill>
                            <a:schemeClr val="tx1"/>
                          </a:solidFill>
                          <a:effectLst/>
                          <a:latin typeface="微软雅黑" panose="020B0503020204020204" pitchFamily="34" charset="-122"/>
                          <a:ea typeface="微软雅黑" panose="020B0503020204020204" pitchFamily="34" charset="-122"/>
                        </a:rPr>
                        <a:t>SAP</a:t>
                      </a:r>
                      <a:r>
                        <a:rPr lang="zh-CN" altLang="en-US" sz="1000" dirty="0">
                          <a:solidFill>
                            <a:schemeClr val="tx1"/>
                          </a:solidFill>
                          <a:effectLst/>
                          <a:latin typeface="微软雅黑" panose="020B0503020204020204" pitchFamily="34" charset="-122"/>
                          <a:ea typeface="微软雅黑" panose="020B0503020204020204" pitchFamily="34" charset="-122"/>
                        </a:rPr>
                        <a:t>（滞后或不全），独家供应（客户指定、研发无备选方案、需求不稳定、价格等）。</a:t>
                      </a:r>
                      <a:endParaRPr lang="zh-CN" alt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latinLnBrk="0">
                        <a:buNone/>
                      </a:pPr>
                      <a:r>
                        <a:rPr lang="zh-CN" altLang="en-US" sz="900" dirty="0">
                          <a:solidFill>
                            <a:srgbClr val="000000"/>
                          </a:solidFill>
                          <a:effectLst/>
                          <a:latin typeface="微软雅黑" panose="020B0503020204020204" pitchFamily="34" charset="-122"/>
                          <a:ea typeface="微软雅黑" panose="020B0503020204020204" pitchFamily="34" charset="-122"/>
                        </a:rPr>
                        <a:t>高明生产运营中心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latinLnBrk="0">
                        <a:buNone/>
                      </a:pPr>
                      <a:r>
                        <a:rPr lang="zh-CN" altLang="en-US" sz="900" b="1" dirty="0">
                          <a:solidFill>
                            <a:srgbClr val="000000"/>
                          </a:solidFill>
                          <a:effectLst/>
                          <a:latin typeface="微软雅黑" panose="020B0503020204020204" pitchFamily="34" charset="-122"/>
                          <a:ea typeface="微软雅黑" panose="020B0503020204020204" pitchFamily="34" charset="-122"/>
                        </a:rPr>
                        <a:t>方案：</a:t>
                      </a:r>
                      <a:r>
                        <a:rPr lang="en-US" altLang="zh-CN" sz="900" dirty="0">
                          <a:solidFill>
                            <a:srgbClr val="000000"/>
                          </a:solidFill>
                          <a:effectLst/>
                          <a:latin typeface="微软雅黑" panose="020B0503020204020204" pitchFamily="34" charset="-122"/>
                          <a:ea typeface="微软雅黑" panose="020B0503020204020204" pitchFamily="34" charset="-122"/>
                        </a:rPr>
                        <a:t>PLM</a:t>
                      </a:r>
                      <a:r>
                        <a:rPr lang="zh-CN" altLang="en-US" sz="900" dirty="0">
                          <a:solidFill>
                            <a:srgbClr val="000000"/>
                          </a:solidFill>
                          <a:effectLst/>
                          <a:latin typeface="微软雅黑" panose="020B0503020204020204" pitchFamily="34" charset="-122"/>
                          <a:ea typeface="微软雅黑" panose="020B0503020204020204" pitchFamily="34" charset="-122"/>
                        </a:rPr>
                        <a:t>传递</a:t>
                      </a:r>
                      <a:r>
                        <a:rPr lang="en-US" altLang="zh-CN" sz="900" dirty="0">
                          <a:solidFill>
                            <a:srgbClr val="000000"/>
                          </a:solidFill>
                          <a:effectLst/>
                          <a:latin typeface="微软雅黑" panose="020B0503020204020204" pitchFamily="34" charset="-122"/>
                          <a:ea typeface="微软雅黑" panose="020B0503020204020204" pitchFamily="34" charset="-122"/>
                        </a:rPr>
                        <a:t>DBOM</a:t>
                      </a:r>
                      <a:r>
                        <a:rPr lang="zh-CN" altLang="en-US" sz="900" dirty="0">
                          <a:solidFill>
                            <a:srgbClr val="000000"/>
                          </a:solidFill>
                          <a:effectLst/>
                          <a:latin typeface="微软雅黑" panose="020B0503020204020204" pitchFamily="34" charset="-122"/>
                          <a:ea typeface="微软雅黑" panose="020B0503020204020204" pitchFamily="34" charset="-122"/>
                        </a:rPr>
                        <a:t>接口程序不稳定，需要重新修改接口程序</a:t>
                      </a:r>
                      <a:endParaRPr lang="zh-CN" altLang="en-US" sz="1000" dirty="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310992">
                <a:tc>
                  <a:txBody>
                    <a:bodyPr/>
                    <a:lstStyle/>
                    <a:p>
                      <a:pPr marL="0" marR="0">
                        <a:buNone/>
                      </a:pPr>
                      <a:r>
                        <a:rPr lang="zh-CN" sz="1000" b="1" dirty="0">
                          <a:solidFill>
                            <a:schemeClr val="tx1"/>
                          </a:solidFill>
                          <a:effectLst/>
                          <a:latin typeface="微软雅黑" panose="020B0503020204020204" pitchFamily="34" charset="-122"/>
                          <a:ea typeface="微软雅黑" panose="020B0503020204020204" pitchFamily="34" charset="-122"/>
                        </a:rPr>
                        <a:t>A0</a:t>
                      </a:r>
                      <a:r>
                        <a:rPr lang="en-US" altLang="zh-CN" sz="1000" b="1" dirty="0">
                          <a:solidFill>
                            <a:schemeClr val="tx1"/>
                          </a:solidFill>
                          <a:effectLst/>
                          <a:latin typeface="微软雅黑" panose="020B0503020204020204" pitchFamily="34" charset="-122"/>
                          <a:ea typeface="微软雅黑" panose="020B0503020204020204" pitchFamily="34" charset="-122"/>
                        </a:rPr>
                        <a:t>169</a:t>
                      </a: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各部门对“新品”定义不统一，销售数据需人工逐一甄别。当前新品的销售数据的统计依赖人工校准，需先从</a:t>
                      </a:r>
                      <a:r>
                        <a:rPr lang="en-US" altLang="zh-CN" sz="1000" dirty="0">
                          <a:solidFill>
                            <a:schemeClr val="tx1"/>
                          </a:solidFill>
                          <a:effectLst/>
                          <a:latin typeface="微软雅黑" panose="020B0503020204020204" pitchFamily="34" charset="-122"/>
                          <a:ea typeface="微软雅黑" panose="020B0503020204020204" pitchFamily="34" charset="-122"/>
                        </a:rPr>
                        <a:t>SAP</a:t>
                      </a:r>
                      <a:r>
                        <a:rPr lang="zh-CN" altLang="en-US" sz="1000" dirty="0">
                          <a:solidFill>
                            <a:schemeClr val="tx1"/>
                          </a:solidFill>
                          <a:effectLst/>
                          <a:latin typeface="微软雅黑" panose="020B0503020204020204" pitchFamily="34" charset="-122"/>
                          <a:ea typeface="微软雅黑" panose="020B0503020204020204" pitchFamily="34" charset="-122"/>
                        </a:rPr>
                        <a:t>导出成品对应的研发</a:t>
                      </a:r>
                      <a:r>
                        <a:rPr lang="en-US" altLang="zh-CN" sz="1000" dirty="0">
                          <a:solidFill>
                            <a:schemeClr val="tx1"/>
                          </a:solidFill>
                          <a:effectLst/>
                          <a:latin typeface="微软雅黑" panose="020B0503020204020204" pitchFamily="34" charset="-122"/>
                          <a:ea typeface="微软雅黑" panose="020B0503020204020204" pitchFamily="34" charset="-122"/>
                        </a:rPr>
                        <a:t>BOM</a:t>
                      </a:r>
                      <a:r>
                        <a:rPr lang="zh-CN" altLang="en-US" sz="1000" dirty="0">
                          <a:solidFill>
                            <a:schemeClr val="tx1"/>
                          </a:solidFill>
                          <a:effectLst/>
                          <a:latin typeface="微软雅黑" panose="020B0503020204020204" pitchFamily="34" charset="-122"/>
                          <a:ea typeface="微软雅黑" panose="020B0503020204020204" pitchFamily="34" charset="-122"/>
                        </a:rPr>
                        <a:t>号，再交由工程师逐一甄别是否为新品。根本原因在于公司内部未形成统一的新品定义标准：高新项目时间、项目完结时间、规格完结时间、成品首次下单时间均可作为判定依据，各部门理解各异，缺乏共识。亟需明确新品的认定标准，消除部门间定义分歧。</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dirty="0">
                          <a:solidFill>
                            <a:schemeClr val="tx1"/>
                          </a:solidFill>
                          <a:effectLst/>
                          <a:latin typeface="微软雅黑" panose="020B0503020204020204" pitchFamily="34" charset="-122"/>
                          <a:ea typeface="微软雅黑" panose="020B0503020204020204" pitchFamily="34" charset="-122"/>
                        </a:rPr>
                        <a:t>研究院</a:t>
                      </a:r>
                      <a:endParaRPr lang="zh-CN" alt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需求分析：问题是：研发有自己的新品定义（近</a:t>
                      </a:r>
                      <a:r>
                        <a:rPr lang="en-US" altLang="zh-CN" sz="1000" dirty="0">
                          <a:solidFill>
                            <a:schemeClr val="tx1"/>
                          </a:solidFill>
                          <a:effectLst/>
                          <a:latin typeface="微软雅黑" panose="020B0503020204020204" pitchFamily="34" charset="-122"/>
                          <a:ea typeface="微软雅黑" panose="020B0503020204020204" pitchFamily="34" charset="-122"/>
                        </a:rPr>
                        <a:t>1</a:t>
                      </a:r>
                      <a:r>
                        <a:rPr lang="zh-CN" altLang="en-US" sz="1000" dirty="0">
                          <a:solidFill>
                            <a:schemeClr val="tx1"/>
                          </a:solidFill>
                          <a:effectLst/>
                          <a:latin typeface="微软雅黑" panose="020B0503020204020204" pitchFamily="34" charset="-122"/>
                          <a:ea typeface="微软雅黑" panose="020B0503020204020204" pitchFamily="34" charset="-122"/>
                        </a:rPr>
                        <a:t>年内立项），挑选新品项目工作量大，希望</a:t>
                      </a:r>
                      <a:r>
                        <a:rPr lang="en-US" altLang="zh-CN" sz="1000" dirty="0">
                          <a:solidFill>
                            <a:schemeClr val="tx1"/>
                          </a:solidFill>
                          <a:effectLst/>
                          <a:latin typeface="微软雅黑" panose="020B0503020204020204" pitchFamily="34" charset="-122"/>
                          <a:ea typeface="微软雅黑" panose="020B0503020204020204" pitchFamily="34" charset="-122"/>
                        </a:rPr>
                        <a:t>IT</a:t>
                      </a:r>
                      <a:r>
                        <a:rPr lang="zh-CN" altLang="en-US" sz="1000" dirty="0">
                          <a:solidFill>
                            <a:schemeClr val="tx1"/>
                          </a:solidFill>
                          <a:effectLst/>
                          <a:latin typeface="微软雅黑" panose="020B0503020204020204" pitchFamily="34" charset="-122"/>
                          <a:ea typeface="微软雅黑" panose="020B0503020204020204" pitchFamily="34" charset="-122"/>
                        </a:rPr>
                        <a:t>系统能检索出新项目；销售有自己的定义；财务也有定义管理问题：集团统一口径定义新品的定义。方案：</a:t>
                      </a:r>
                      <a:r>
                        <a:rPr lang="en-US" altLang="zh-CN" sz="1000" dirty="0">
                          <a:solidFill>
                            <a:schemeClr val="tx1"/>
                          </a:solidFill>
                          <a:effectLst/>
                          <a:latin typeface="微软雅黑" panose="020B0503020204020204" pitchFamily="34" charset="-122"/>
                          <a:ea typeface="微软雅黑" panose="020B0503020204020204" pitchFamily="34" charset="-122"/>
                        </a:rPr>
                        <a:t>1.</a:t>
                      </a:r>
                      <a:r>
                        <a:rPr lang="zh-CN" altLang="en-US" sz="1000" dirty="0">
                          <a:solidFill>
                            <a:schemeClr val="tx1"/>
                          </a:solidFill>
                          <a:effectLst/>
                          <a:latin typeface="微软雅黑" panose="020B0503020204020204" pitchFamily="34" charset="-122"/>
                          <a:ea typeface="微软雅黑" panose="020B0503020204020204" pitchFamily="34" charset="-122"/>
                        </a:rPr>
                        <a:t>组织销售、财务、研发、产品方案中心统一开会定义新品界定的范围；</a:t>
                      </a:r>
                      <a:r>
                        <a:rPr lang="en-US" altLang="zh-CN" sz="1000" dirty="0">
                          <a:solidFill>
                            <a:schemeClr val="tx1"/>
                          </a:solidFill>
                          <a:effectLst/>
                          <a:latin typeface="微软雅黑" panose="020B0503020204020204" pitchFamily="34" charset="-122"/>
                          <a:ea typeface="微软雅黑" panose="020B0503020204020204" pitchFamily="34" charset="-122"/>
                        </a:rPr>
                        <a:t>2.SAP </a:t>
                      </a:r>
                      <a:r>
                        <a:rPr lang="zh-CN" altLang="en-US" sz="1000" dirty="0">
                          <a:solidFill>
                            <a:schemeClr val="tx1"/>
                          </a:solidFill>
                          <a:effectLst/>
                          <a:latin typeface="微软雅黑" panose="020B0503020204020204" pitchFamily="34" charset="-122"/>
                          <a:ea typeface="微软雅黑" panose="020B0503020204020204" pitchFamily="34" charset="-122"/>
                        </a:rPr>
                        <a:t>顾问 二次开发报表：顾问确定新品的取数逻辑；</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892233">
                <a:tc>
                  <a:txBody>
                    <a:bodyPr/>
                    <a:lstStyle/>
                    <a:p>
                      <a:pPr marL="0" marR="0">
                        <a:buNone/>
                      </a:pPr>
                      <a:r>
                        <a:rPr lang="zh-CN" sz="1000" b="1" dirty="0">
                          <a:solidFill>
                            <a:schemeClr val="tx1"/>
                          </a:solidFill>
                          <a:effectLst/>
                          <a:latin typeface="微软雅黑" panose="020B0503020204020204" pitchFamily="34" charset="-122"/>
                          <a:ea typeface="微软雅黑" panose="020B0503020204020204" pitchFamily="34" charset="-122"/>
                        </a:rPr>
                        <a:t>A0</a:t>
                      </a:r>
                      <a:r>
                        <a:rPr lang="en-US" altLang="zh-CN" sz="1000" b="1" dirty="0">
                          <a:solidFill>
                            <a:schemeClr val="tx1"/>
                          </a:solidFill>
                          <a:effectLst/>
                          <a:latin typeface="微软雅黑" panose="020B0503020204020204" pitchFamily="34" charset="-122"/>
                          <a:ea typeface="微软雅黑" panose="020B0503020204020204" pitchFamily="34" charset="-122"/>
                        </a:rPr>
                        <a:t>170</a:t>
                      </a: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当前</a:t>
                      </a:r>
                      <a:r>
                        <a:rPr lang="en-US" altLang="zh-CN" sz="1000" dirty="0">
                          <a:solidFill>
                            <a:schemeClr val="tx1"/>
                          </a:solidFill>
                          <a:effectLst/>
                          <a:latin typeface="微软雅黑" panose="020B0503020204020204" pitchFamily="34" charset="-122"/>
                          <a:ea typeface="微软雅黑" panose="020B0503020204020204" pitchFamily="34" charset="-122"/>
                        </a:rPr>
                        <a:t>SAP</a:t>
                      </a:r>
                      <a:r>
                        <a:rPr lang="zh-CN" altLang="en-US" sz="1000" dirty="0">
                          <a:solidFill>
                            <a:schemeClr val="tx1"/>
                          </a:solidFill>
                          <a:effectLst/>
                          <a:latin typeface="微软雅黑" panose="020B0503020204020204" pitchFamily="34" charset="-122"/>
                          <a:ea typeface="微软雅黑" panose="020B0503020204020204" pitchFamily="34" charset="-122"/>
                        </a:rPr>
                        <a:t>销售数据仅能追溯至成品编码及对应</a:t>
                      </a:r>
                      <a:r>
                        <a:rPr lang="en-US" altLang="zh-CN" sz="1000" dirty="0">
                          <a:solidFill>
                            <a:schemeClr val="tx1"/>
                          </a:solidFill>
                          <a:effectLst/>
                          <a:latin typeface="微软雅黑" panose="020B0503020204020204" pitchFamily="34" charset="-122"/>
                          <a:ea typeface="微软雅黑" panose="020B0503020204020204" pitchFamily="34" charset="-122"/>
                        </a:rPr>
                        <a:t>BOM</a:t>
                      </a:r>
                      <a:r>
                        <a:rPr lang="zh-CN" altLang="en-US" sz="1000" dirty="0">
                          <a:solidFill>
                            <a:schemeClr val="tx1"/>
                          </a:solidFill>
                          <a:effectLst/>
                          <a:latin typeface="微软雅黑" panose="020B0503020204020204" pitchFamily="34" charset="-122"/>
                          <a:ea typeface="微软雅黑" panose="020B0503020204020204" pitchFamily="34" charset="-122"/>
                        </a:rPr>
                        <a:t>号，不支持按高新项目号或二级项目号进行销售数据的检索与归集，无法满足从项目视角评估销售产出的管理需求。亟需建立</a:t>
                      </a:r>
                      <a:r>
                        <a:rPr lang="en-US" altLang="zh-CN" sz="1000" dirty="0">
                          <a:solidFill>
                            <a:schemeClr val="tx1"/>
                          </a:solidFill>
                          <a:effectLst/>
                          <a:latin typeface="微软雅黑" panose="020B0503020204020204" pitchFamily="34" charset="-122"/>
                          <a:ea typeface="微软雅黑" panose="020B0503020204020204" pitchFamily="34" charset="-122"/>
                        </a:rPr>
                        <a:t>RD</a:t>
                      </a:r>
                      <a:r>
                        <a:rPr lang="zh-CN" altLang="en-US" sz="1000" dirty="0">
                          <a:solidFill>
                            <a:schemeClr val="tx1"/>
                          </a:solidFill>
                          <a:effectLst/>
                          <a:latin typeface="微软雅黑" panose="020B0503020204020204" pitchFamily="34" charset="-122"/>
                          <a:ea typeface="微软雅黑" panose="020B0503020204020204" pitchFamily="34" charset="-122"/>
                        </a:rPr>
                        <a:t>号、项目号、</a:t>
                      </a:r>
                      <a:r>
                        <a:rPr lang="en-US" altLang="zh-CN" sz="1000" dirty="0">
                          <a:solidFill>
                            <a:schemeClr val="tx1"/>
                          </a:solidFill>
                          <a:effectLst/>
                          <a:latin typeface="微软雅黑" panose="020B0503020204020204" pitchFamily="34" charset="-122"/>
                          <a:ea typeface="微软雅黑" panose="020B0503020204020204" pitchFamily="34" charset="-122"/>
                        </a:rPr>
                        <a:t>BOM</a:t>
                      </a:r>
                      <a:r>
                        <a:rPr lang="zh-CN" altLang="en-US" sz="1000" dirty="0">
                          <a:solidFill>
                            <a:schemeClr val="tx1"/>
                          </a:solidFill>
                          <a:effectLst/>
                          <a:latin typeface="微软雅黑" panose="020B0503020204020204" pitchFamily="34" charset="-122"/>
                          <a:ea typeface="微软雅黑" panose="020B0503020204020204" pitchFamily="34" charset="-122"/>
                        </a:rPr>
                        <a:t>号与成品编码之间的统一关联映射表，实现从研发项目到销售终端的数据全链路贯通，为各级项目产出追溯提供准确高效的系统化支撑。</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研究院</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altLang="zh-CN" sz="1000" dirty="0">
                          <a:solidFill>
                            <a:schemeClr val="tx1"/>
                          </a:solidFill>
                          <a:effectLst/>
                          <a:latin typeface="微软雅黑" panose="020B0503020204020204" pitchFamily="34" charset="-122"/>
                          <a:ea typeface="微软雅黑" panose="020B0503020204020204" pitchFamily="34" charset="-122"/>
                        </a:rPr>
                        <a:t>0704</a:t>
                      </a:r>
                      <a:r>
                        <a:rPr lang="zh-CN" altLang="en-US" sz="1000" dirty="0">
                          <a:solidFill>
                            <a:schemeClr val="tx1"/>
                          </a:solidFill>
                          <a:effectLst/>
                          <a:latin typeface="微软雅黑" panose="020B0503020204020204" pitchFamily="34" charset="-122"/>
                          <a:ea typeface="微软雅黑" panose="020B0503020204020204" pitchFamily="34" charset="-122"/>
                        </a:rPr>
                        <a:t>：解决研发出具的产品编号与生产中心出具的成品编号之间的系统数据验证</a:t>
                      </a:r>
                      <a:r>
                        <a:rPr lang="en-US" altLang="zh-CN" sz="1000" dirty="0">
                          <a:solidFill>
                            <a:schemeClr val="tx1"/>
                          </a:solidFill>
                          <a:effectLst/>
                          <a:latin typeface="微软雅黑" panose="020B0503020204020204" pitchFamily="34" charset="-122"/>
                          <a:ea typeface="微软雅黑" panose="020B0503020204020204" pitchFamily="34" charset="-122"/>
                        </a:rPr>
                        <a:t>0729: </a:t>
                      </a:r>
                      <a:r>
                        <a:rPr lang="zh-CN" altLang="en-US" sz="1000" dirty="0">
                          <a:solidFill>
                            <a:schemeClr val="tx1"/>
                          </a:solidFill>
                          <a:effectLst/>
                          <a:latin typeface="微软雅黑" panose="020B0503020204020204" pitchFamily="34" charset="-122"/>
                          <a:ea typeface="微软雅黑" panose="020B0503020204020204" pitchFamily="34" charset="-122"/>
                        </a:rPr>
                        <a:t>以财务讨论的研发结论为准</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73474">
                <a:tc>
                  <a:txBody>
                    <a:bodyPr/>
                    <a:lstStyle/>
                    <a:p>
                      <a:pPr marL="0" marR="0">
                        <a:buNone/>
                      </a:pPr>
                      <a:r>
                        <a:rPr lang="zh-CN" sz="1000" b="1" dirty="0">
                          <a:solidFill>
                            <a:schemeClr val="tx1"/>
                          </a:solidFill>
                          <a:effectLst/>
                          <a:latin typeface="微软雅黑" panose="020B0503020204020204" pitchFamily="34" charset="-122"/>
                          <a:ea typeface="微软雅黑" panose="020B0503020204020204" pitchFamily="34" charset="-122"/>
                        </a:rPr>
                        <a:t>A0</a:t>
                      </a:r>
                      <a:r>
                        <a:rPr lang="en-US" altLang="zh-CN" sz="1000" b="1" dirty="0">
                          <a:solidFill>
                            <a:schemeClr val="tx1"/>
                          </a:solidFill>
                          <a:effectLst/>
                          <a:latin typeface="微软雅黑" panose="020B0503020204020204" pitchFamily="34" charset="-122"/>
                          <a:ea typeface="微软雅黑" panose="020B0503020204020204" pitchFamily="34" charset="-122"/>
                        </a:rPr>
                        <a:t>171</a:t>
                      </a: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dirty="0">
                          <a:solidFill>
                            <a:schemeClr val="tx1"/>
                          </a:solidFill>
                          <a:effectLst/>
                          <a:latin typeface="微软雅黑" panose="020B0503020204020204" pitchFamily="34" charset="-122"/>
                          <a:ea typeface="微软雅黑" panose="020B0503020204020204" pitchFamily="34" charset="-122"/>
                        </a:rPr>
                        <a:t>目前只有一级</a:t>
                      </a:r>
                      <a:r>
                        <a:rPr lang="en-US" altLang="zh-CN" sz="1000" dirty="0">
                          <a:solidFill>
                            <a:schemeClr val="tx1"/>
                          </a:solidFill>
                          <a:effectLst/>
                          <a:latin typeface="微软雅黑" panose="020B0503020204020204" pitchFamily="34" charset="-122"/>
                          <a:ea typeface="微软雅黑" panose="020B0503020204020204" pitchFamily="34" charset="-122"/>
                        </a:rPr>
                        <a:t>RD</a:t>
                      </a:r>
                      <a:r>
                        <a:rPr lang="zh-CN" altLang="en-US" sz="1000" dirty="0">
                          <a:solidFill>
                            <a:schemeClr val="tx1"/>
                          </a:solidFill>
                          <a:effectLst/>
                          <a:latin typeface="微软雅黑" panose="020B0503020204020204" pitchFamily="34" charset="-122"/>
                          <a:ea typeface="微软雅黑" panose="020B0503020204020204" pitchFamily="34" charset="-122"/>
                        </a:rPr>
                        <a:t>项目的研发费用在</a:t>
                      </a:r>
                      <a:r>
                        <a:rPr lang="en-US" altLang="zh-CN" sz="1000" dirty="0">
                          <a:solidFill>
                            <a:schemeClr val="tx1"/>
                          </a:solidFill>
                          <a:effectLst/>
                          <a:latin typeface="微软雅黑" panose="020B0503020204020204" pitchFamily="34" charset="-122"/>
                          <a:ea typeface="微软雅黑" panose="020B0503020204020204" pitchFamily="34" charset="-122"/>
                        </a:rPr>
                        <a:t>SAP</a:t>
                      </a:r>
                      <a:r>
                        <a:rPr lang="zh-CN" altLang="en-US" sz="1000" dirty="0">
                          <a:solidFill>
                            <a:schemeClr val="tx1"/>
                          </a:solidFill>
                          <a:effectLst/>
                          <a:latin typeface="微软雅黑" panose="020B0503020204020204" pitchFamily="34" charset="-122"/>
                          <a:ea typeface="微软雅黑" panose="020B0503020204020204" pitchFamily="34" charset="-122"/>
                        </a:rPr>
                        <a:t>系统通过</a:t>
                      </a:r>
                      <a:r>
                        <a:rPr lang="en-US" altLang="zh-CN" sz="1000" dirty="0">
                          <a:solidFill>
                            <a:schemeClr val="tx1"/>
                          </a:solidFill>
                          <a:effectLst/>
                          <a:latin typeface="微软雅黑" panose="020B0503020204020204" pitchFamily="34" charset="-122"/>
                          <a:ea typeface="微软雅黑" panose="020B0503020204020204" pitchFamily="34" charset="-122"/>
                        </a:rPr>
                        <a:t>RD</a:t>
                      </a:r>
                      <a:r>
                        <a:rPr lang="zh-CN" altLang="en-US" sz="1000" dirty="0">
                          <a:solidFill>
                            <a:schemeClr val="tx1"/>
                          </a:solidFill>
                          <a:effectLst/>
                          <a:latin typeface="微软雅黑" panose="020B0503020204020204" pitchFamily="34" charset="-122"/>
                          <a:ea typeface="微软雅黑" panose="020B0503020204020204" pitchFamily="34" charset="-122"/>
                        </a:rPr>
                        <a:t>号归集，而二级项目的费用都是靠人工统计和筛查</a:t>
                      </a:r>
                      <a:endParaRPr lang="zh-CN" alt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dirty="0">
                          <a:solidFill>
                            <a:schemeClr val="tx1"/>
                          </a:solidFill>
                          <a:effectLst/>
                          <a:latin typeface="微软雅黑" panose="020B0503020204020204" pitchFamily="34" charset="-122"/>
                          <a:ea typeface="微软雅黑" panose="020B0503020204020204" pitchFamily="34" charset="-122"/>
                        </a:rPr>
                        <a:t>研究院</a:t>
                      </a:r>
                      <a:endParaRPr lang="zh-CN" alt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未来所有的项目，无论一级</a:t>
                      </a:r>
                      <a:r>
                        <a:rPr lang="en-US" altLang="zh-CN" sz="1000" dirty="0">
                          <a:solidFill>
                            <a:schemeClr val="tx1"/>
                          </a:solidFill>
                          <a:effectLst/>
                          <a:latin typeface="微软雅黑" panose="020B0503020204020204" pitchFamily="34" charset="-122"/>
                          <a:ea typeface="微软雅黑" panose="020B0503020204020204" pitchFamily="34" charset="-122"/>
                        </a:rPr>
                        <a:t>RD</a:t>
                      </a:r>
                      <a:r>
                        <a:rPr lang="zh-CN" altLang="en-US" sz="1000" dirty="0">
                          <a:solidFill>
                            <a:schemeClr val="tx1"/>
                          </a:solidFill>
                          <a:effectLst/>
                          <a:latin typeface="微软雅黑" panose="020B0503020204020204" pitchFamily="34" charset="-122"/>
                          <a:ea typeface="微软雅黑" panose="020B0503020204020204" pitchFamily="34" charset="-122"/>
                        </a:rPr>
                        <a:t>还是二级项目都在</a:t>
                      </a:r>
                      <a:r>
                        <a:rPr lang="en-US" altLang="zh-CN" sz="1000" dirty="0">
                          <a:solidFill>
                            <a:schemeClr val="tx1"/>
                          </a:solidFill>
                          <a:effectLst/>
                          <a:latin typeface="微软雅黑" panose="020B0503020204020204" pitchFamily="34" charset="-122"/>
                          <a:ea typeface="微软雅黑" panose="020B0503020204020204" pitchFamily="34" charset="-122"/>
                        </a:rPr>
                        <a:t>SAP</a:t>
                      </a:r>
                      <a:r>
                        <a:rPr lang="zh-CN" altLang="en-US" sz="1000" dirty="0">
                          <a:solidFill>
                            <a:schemeClr val="tx1"/>
                          </a:solidFill>
                          <a:effectLst/>
                          <a:latin typeface="微软雅黑" panose="020B0503020204020204" pitchFamily="34" charset="-122"/>
                          <a:ea typeface="微软雅黑" panose="020B0503020204020204" pitchFamily="34" charset="-122"/>
                        </a:rPr>
                        <a:t>系统管理、记账、统计费用和成本。本期</a:t>
                      </a:r>
                      <a:r>
                        <a:rPr lang="en-US" altLang="zh-CN" sz="1000" dirty="0">
                          <a:solidFill>
                            <a:schemeClr val="tx1"/>
                          </a:solidFill>
                          <a:effectLst/>
                          <a:latin typeface="微软雅黑" panose="020B0503020204020204" pitchFamily="34" charset="-122"/>
                          <a:ea typeface="微软雅黑" panose="020B0503020204020204" pitchFamily="34" charset="-122"/>
                        </a:rPr>
                        <a:t>SAP</a:t>
                      </a:r>
                      <a:r>
                        <a:rPr lang="zh-CN" altLang="en-US" sz="1000" dirty="0">
                          <a:solidFill>
                            <a:schemeClr val="tx1"/>
                          </a:solidFill>
                          <a:effectLst/>
                          <a:latin typeface="微软雅黑" panose="020B0503020204020204" pitchFamily="34" charset="-122"/>
                          <a:ea typeface="微软雅黑" panose="020B0503020204020204" pitchFamily="34" charset="-122"/>
                        </a:rPr>
                        <a:t>实现。</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171405">
                <a:tc>
                  <a:txBody>
                    <a:bodyPr/>
                    <a:lstStyle/>
                    <a:p>
                      <a:pPr marL="0" marR="0">
                        <a:buNone/>
                      </a:pPr>
                      <a:r>
                        <a:rPr lang="zh-CN" sz="1000" b="1" dirty="0">
                          <a:solidFill>
                            <a:schemeClr val="tx1"/>
                          </a:solidFill>
                          <a:effectLst/>
                          <a:latin typeface="微软雅黑" panose="020B0503020204020204" pitchFamily="34" charset="-122"/>
                          <a:ea typeface="微软雅黑" panose="020B0503020204020204" pitchFamily="34" charset="-122"/>
                        </a:rPr>
                        <a:t>A0</a:t>
                      </a:r>
                      <a:r>
                        <a:rPr lang="en-US" altLang="zh-CN" sz="1000" b="1" dirty="0">
                          <a:solidFill>
                            <a:schemeClr val="tx1"/>
                          </a:solidFill>
                          <a:effectLst/>
                          <a:latin typeface="微软雅黑" panose="020B0503020204020204" pitchFamily="34" charset="-122"/>
                          <a:ea typeface="微软雅黑" panose="020B0503020204020204" pitchFamily="34" charset="-122"/>
                        </a:rPr>
                        <a:t>174</a:t>
                      </a: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dirty="0">
                          <a:solidFill>
                            <a:schemeClr val="tx1"/>
                          </a:solidFill>
                          <a:effectLst/>
                          <a:latin typeface="微软雅黑" panose="020B0503020204020204" pitchFamily="34" charset="-122"/>
                          <a:ea typeface="微软雅黑" panose="020B0503020204020204" pitchFamily="34" charset="-122"/>
                        </a:rPr>
                        <a:t>研发工程师在开发阶段进行产品成本核算时，需参考</a:t>
                      </a:r>
                      <a:r>
                        <a:rPr lang="en-US" altLang="zh-CN" sz="1000" dirty="0">
                          <a:solidFill>
                            <a:schemeClr val="tx1"/>
                          </a:solidFill>
                          <a:effectLst/>
                          <a:latin typeface="微软雅黑" panose="020B0503020204020204" pitchFamily="34" charset="-122"/>
                          <a:ea typeface="微软雅黑" panose="020B0503020204020204" pitchFamily="34" charset="-122"/>
                        </a:rPr>
                        <a:t>SAP</a:t>
                      </a:r>
                      <a:r>
                        <a:rPr lang="zh-CN" altLang="en-US" sz="1000" dirty="0">
                          <a:solidFill>
                            <a:schemeClr val="tx1"/>
                          </a:solidFill>
                          <a:effectLst/>
                          <a:latin typeface="微软雅黑" panose="020B0503020204020204" pitchFamily="34" charset="-122"/>
                          <a:ea typeface="微软雅黑" panose="020B0503020204020204" pitchFamily="34" charset="-122"/>
                        </a:rPr>
                        <a:t>系统中的物料价格作为成本测算依据。然而，实际工作中普遍发现，由于物料最新采购日期距今过久等原因，</a:t>
                      </a:r>
                      <a:r>
                        <a:rPr lang="en-US" altLang="zh-CN" sz="1000" dirty="0">
                          <a:solidFill>
                            <a:schemeClr val="tx1"/>
                          </a:solidFill>
                          <a:effectLst/>
                          <a:latin typeface="微软雅黑" panose="020B0503020204020204" pitchFamily="34" charset="-122"/>
                          <a:ea typeface="微软雅黑" panose="020B0503020204020204" pitchFamily="34" charset="-122"/>
                        </a:rPr>
                        <a:t>SAP</a:t>
                      </a:r>
                      <a:r>
                        <a:rPr lang="zh-CN" altLang="en-US" sz="1000" dirty="0">
                          <a:solidFill>
                            <a:schemeClr val="tx1"/>
                          </a:solidFill>
                          <a:effectLst/>
                          <a:latin typeface="微软雅黑" panose="020B0503020204020204" pitchFamily="34" charset="-122"/>
                          <a:ea typeface="微软雅黑" panose="020B0503020204020204" pitchFamily="34" charset="-122"/>
                        </a:rPr>
                        <a:t>所维护的物料周期价格与供应商提供的实时报价之间存在明显偏差。</a:t>
                      </a:r>
                      <a:endParaRPr lang="zh-CN" altLang="zh-CN" sz="1000" dirty="0">
                        <a:solidFill>
                          <a:schemeClr val="tx1"/>
                        </a:solidFill>
                        <a:effectLst/>
                        <a:latin typeface="微软雅黑" panose="020B0503020204020204" pitchFamily="34" charset="-122"/>
                        <a:ea typeface="微软雅黑" panose="020B0503020204020204" pitchFamily="34" charset="-122"/>
                      </a:endParaRPr>
                    </a:p>
                    <a:p>
                      <a:pPr marL="0" marR="0">
                        <a:buNone/>
                      </a:pP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dirty="0">
                          <a:solidFill>
                            <a:schemeClr val="tx1"/>
                          </a:solidFill>
                          <a:effectLst/>
                          <a:latin typeface="微软雅黑" panose="020B0503020204020204" pitchFamily="34" charset="-122"/>
                          <a:ea typeface="微软雅黑" panose="020B0503020204020204" pitchFamily="34" charset="-122"/>
                        </a:rPr>
                        <a:t>研究院</a:t>
                      </a:r>
                      <a:endParaRPr lang="zh-CN" alt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用计划价格；原材料的移动平均价格（周期价格（月结完后，每个月上一个月的</a:t>
                      </a:r>
                      <a:r>
                        <a:rPr lang="en-US" altLang="zh-CN" sz="1000" dirty="0">
                          <a:solidFill>
                            <a:schemeClr val="tx1"/>
                          </a:solidFill>
                          <a:effectLst/>
                          <a:latin typeface="微软雅黑" panose="020B0503020204020204" pitchFamily="34" charset="-122"/>
                          <a:ea typeface="微软雅黑" panose="020B0503020204020204" pitchFamily="34" charset="-122"/>
                        </a:rPr>
                        <a:t>100</a:t>
                      </a:r>
                      <a:r>
                        <a:rPr lang="zh-CN" altLang="en-US" sz="1000" dirty="0">
                          <a:solidFill>
                            <a:schemeClr val="tx1"/>
                          </a:solidFill>
                          <a:effectLst/>
                          <a:latin typeface="微软雅黑" panose="020B0503020204020204" pitchFamily="34" charset="-122"/>
                          <a:ea typeface="微软雅黑" panose="020B0503020204020204" pitchFamily="34" charset="-122"/>
                        </a:rPr>
                        <a:t>元，</a:t>
                      </a:r>
                      <a:r>
                        <a:rPr lang="en-US" altLang="zh-CN" sz="1000" dirty="0">
                          <a:solidFill>
                            <a:schemeClr val="tx1"/>
                          </a:solidFill>
                          <a:effectLst/>
                          <a:latin typeface="微软雅黑" panose="020B0503020204020204" pitchFamily="34" charset="-122"/>
                          <a:ea typeface="微软雅黑" panose="020B0503020204020204" pitchFamily="34" charset="-122"/>
                        </a:rPr>
                        <a:t>200</a:t>
                      </a:r>
                      <a:r>
                        <a:rPr lang="zh-CN" altLang="en-US" sz="1000" dirty="0">
                          <a:solidFill>
                            <a:schemeClr val="tx1"/>
                          </a:solidFill>
                          <a:effectLst/>
                          <a:latin typeface="微软雅黑" panose="020B0503020204020204" pitchFamily="34" charset="-122"/>
                          <a:ea typeface="微软雅黑" panose="020B0503020204020204" pitchFamily="34" charset="-122"/>
                        </a:rPr>
                        <a:t>元各一个，</a:t>
                      </a:r>
                      <a:r>
                        <a:rPr lang="en-US" altLang="zh-CN" sz="1000" dirty="0">
                          <a:solidFill>
                            <a:schemeClr val="tx1"/>
                          </a:solidFill>
                          <a:effectLst/>
                          <a:latin typeface="微软雅黑" panose="020B0503020204020204" pitchFamily="34" charset="-122"/>
                          <a:ea typeface="微软雅黑" panose="020B0503020204020204" pitchFamily="34" charset="-122"/>
                        </a:rPr>
                        <a:t>300</a:t>
                      </a:r>
                      <a:r>
                        <a:rPr lang="zh-CN" altLang="en-US" sz="1000" dirty="0">
                          <a:solidFill>
                            <a:schemeClr val="tx1"/>
                          </a:solidFill>
                          <a:effectLst/>
                          <a:latin typeface="微软雅黑" panose="020B0503020204020204" pitchFamily="34" charset="-122"/>
                          <a:ea typeface="微软雅黑" panose="020B0503020204020204" pitchFamily="34" charset="-122"/>
                        </a:rPr>
                        <a:t>元</a:t>
                      </a:r>
                      <a:r>
                        <a:rPr lang="en-US" altLang="zh-CN" sz="1000" dirty="0">
                          <a:solidFill>
                            <a:schemeClr val="tx1"/>
                          </a:solidFill>
                          <a:effectLst/>
                          <a:latin typeface="微软雅黑" panose="020B0503020204020204" pitchFamily="34" charset="-122"/>
                          <a:ea typeface="微软雅黑" panose="020B0503020204020204" pitchFamily="34" charset="-122"/>
                        </a:rPr>
                        <a:t>/2=150</a:t>
                      </a:r>
                      <a:r>
                        <a:rPr lang="zh-CN" altLang="en-US" sz="1000" dirty="0">
                          <a:solidFill>
                            <a:schemeClr val="tx1"/>
                          </a:solidFill>
                          <a:effectLst/>
                          <a:latin typeface="微软雅黑" panose="020B0503020204020204" pitchFamily="34" charset="-122"/>
                          <a:ea typeface="微软雅黑" panose="020B0503020204020204" pitchFamily="34" charset="-122"/>
                        </a:rPr>
                        <a:t>元是周期价格）与供应商的报价）差异很大；标准价格：为了相对准，定义的合理价格，我们会对外购的原材料，提供了计划价格来作为标准价格用</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892233">
                <a:tc>
                  <a:txBody>
                    <a:bodyPr/>
                    <a:lstStyle/>
                    <a:p>
                      <a:pPr marL="0" marR="0">
                        <a:buNone/>
                      </a:pPr>
                      <a:r>
                        <a:rPr lang="zh-CN" sz="1000" b="1" dirty="0">
                          <a:solidFill>
                            <a:schemeClr val="tx1"/>
                          </a:solidFill>
                          <a:effectLst/>
                          <a:latin typeface="微软雅黑" panose="020B0503020204020204" pitchFamily="34" charset="-122"/>
                          <a:ea typeface="微软雅黑" panose="020B0503020204020204" pitchFamily="34" charset="-122"/>
                        </a:rPr>
                        <a:t>A0</a:t>
                      </a:r>
                      <a:r>
                        <a:rPr lang="en-US" altLang="zh-CN" sz="1000" b="1" dirty="0">
                          <a:solidFill>
                            <a:schemeClr val="tx1"/>
                          </a:solidFill>
                          <a:effectLst/>
                          <a:latin typeface="微软雅黑" panose="020B0503020204020204" pitchFamily="34" charset="-122"/>
                          <a:ea typeface="微软雅黑" panose="020B0503020204020204" pitchFamily="34" charset="-122"/>
                        </a:rPr>
                        <a:t>182</a:t>
                      </a: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工程师在</a:t>
                      </a:r>
                      <a:r>
                        <a:rPr lang="en-US" altLang="zh-CN" sz="1000" dirty="0">
                          <a:solidFill>
                            <a:schemeClr val="tx1"/>
                          </a:solidFill>
                          <a:effectLst/>
                          <a:latin typeface="微软雅黑" panose="020B0503020204020204" pitchFamily="34" charset="-122"/>
                          <a:ea typeface="微软雅黑" panose="020B0503020204020204" pitchFamily="34" charset="-122"/>
                        </a:rPr>
                        <a:t>PLM</a:t>
                      </a:r>
                      <a:r>
                        <a:rPr lang="zh-CN" altLang="en-US" sz="1000" dirty="0">
                          <a:solidFill>
                            <a:schemeClr val="tx1"/>
                          </a:solidFill>
                          <a:effectLst/>
                          <a:latin typeface="微软雅黑" panose="020B0503020204020204" pitchFamily="34" charset="-122"/>
                          <a:ea typeface="微软雅黑" panose="020B0503020204020204" pitchFamily="34" charset="-122"/>
                        </a:rPr>
                        <a:t>系统完成设计</a:t>
                      </a:r>
                      <a:r>
                        <a:rPr lang="en-US" altLang="zh-CN" sz="1000" dirty="0">
                          <a:solidFill>
                            <a:schemeClr val="tx1"/>
                          </a:solidFill>
                          <a:effectLst/>
                          <a:latin typeface="微软雅黑" panose="020B0503020204020204" pitchFamily="34" charset="-122"/>
                          <a:ea typeface="微软雅黑" panose="020B0503020204020204" pitchFamily="34" charset="-122"/>
                        </a:rPr>
                        <a:t>BOM</a:t>
                      </a:r>
                      <a:r>
                        <a:rPr lang="zh-CN" altLang="en-US" sz="1000" dirty="0">
                          <a:solidFill>
                            <a:schemeClr val="tx1"/>
                          </a:solidFill>
                          <a:effectLst/>
                          <a:latin typeface="微软雅黑" panose="020B0503020204020204" pitchFamily="34" charset="-122"/>
                          <a:ea typeface="微软雅黑" panose="020B0503020204020204" pitchFamily="34" charset="-122"/>
                        </a:rPr>
                        <a:t>并发布至</a:t>
                      </a:r>
                      <a:r>
                        <a:rPr lang="en-US" altLang="zh-CN" sz="1000" dirty="0">
                          <a:solidFill>
                            <a:schemeClr val="tx1"/>
                          </a:solidFill>
                          <a:effectLst/>
                          <a:latin typeface="微软雅黑" panose="020B0503020204020204" pitchFamily="34" charset="-122"/>
                          <a:ea typeface="微软雅黑" panose="020B0503020204020204" pitchFamily="34" charset="-122"/>
                        </a:rPr>
                        <a:t>SAP</a:t>
                      </a:r>
                      <a:r>
                        <a:rPr lang="zh-CN" altLang="en-US" sz="1000" dirty="0">
                          <a:solidFill>
                            <a:schemeClr val="tx1"/>
                          </a:solidFill>
                          <a:effectLst/>
                          <a:latin typeface="微软雅黑" panose="020B0503020204020204" pitchFamily="34" charset="-122"/>
                          <a:ea typeface="微软雅黑" panose="020B0503020204020204" pitchFamily="34" charset="-122"/>
                        </a:rPr>
                        <a:t>后，车间会根据实际物料供应、质量等因素在</a:t>
                      </a:r>
                      <a:r>
                        <a:rPr lang="en-US" altLang="zh-CN" sz="1000" dirty="0">
                          <a:solidFill>
                            <a:schemeClr val="tx1"/>
                          </a:solidFill>
                          <a:effectLst/>
                          <a:latin typeface="微软雅黑" panose="020B0503020204020204" pitchFamily="34" charset="-122"/>
                          <a:ea typeface="微软雅黑" panose="020B0503020204020204" pitchFamily="34" charset="-122"/>
                        </a:rPr>
                        <a:t>SAP</a:t>
                      </a:r>
                      <a:r>
                        <a:rPr lang="zh-CN" altLang="en-US" sz="1000" dirty="0">
                          <a:solidFill>
                            <a:schemeClr val="tx1"/>
                          </a:solidFill>
                          <a:effectLst/>
                          <a:latin typeface="微软雅黑" panose="020B0503020204020204" pitchFamily="34" charset="-122"/>
                          <a:ea typeface="微软雅黑" panose="020B0503020204020204" pitchFamily="34" charset="-122"/>
                        </a:rPr>
                        <a:t>中对</a:t>
                      </a:r>
                      <a:r>
                        <a:rPr lang="en-US" altLang="zh-CN" sz="1000" dirty="0">
                          <a:solidFill>
                            <a:schemeClr val="tx1"/>
                          </a:solidFill>
                          <a:effectLst/>
                          <a:latin typeface="微软雅黑" panose="020B0503020204020204" pitchFamily="34" charset="-122"/>
                          <a:ea typeface="微软雅黑" panose="020B0503020204020204" pitchFamily="34" charset="-122"/>
                        </a:rPr>
                        <a:t>BOM</a:t>
                      </a:r>
                      <a:r>
                        <a:rPr lang="zh-CN" altLang="en-US" sz="1000" dirty="0">
                          <a:solidFill>
                            <a:schemeClr val="tx1"/>
                          </a:solidFill>
                          <a:effectLst/>
                          <a:latin typeface="微软雅黑" panose="020B0503020204020204" pitchFamily="34" charset="-122"/>
                          <a:ea typeface="微软雅黑" panose="020B0503020204020204" pitchFamily="34" charset="-122"/>
                        </a:rPr>
                        <a:t>进行物料替换或结构修改，上述变更无任何机制同步回传至</a:t>
                      </a:r>
                      <a:r>
                        <a:rPr lang="en-US" altLang="zh-CN" sz="1000" dirty="0">
                          <a:solidFill>
                            <a:schemeClr val="tx1"/>
                          </a:solidFill>
                          <a:effectLst/>
                          <a:latin typeface="微软雅黑" panose="020B0503020204020204" pitchFamily="34" charset="-122"/>
                          <a:ea typeface="微软雅黑" panose="020B0503020204020204" pitchFamily="34" charset="-122"/>
                        </a:rPr>
                        <a:t>PLM</a:t>
                      </a:r>
                      <a:r>
                        <a:rPr lang="zh-CN" altLang="en-US" sz="1000" dirty="0">
                          <a:solidFill>
                            <a:schemeClr val="tx1"/>
                          </a:solidFill>
                          <a:effectLst/>
                          <a:latin typeface="微软雅黑" panose="020B0503020204020204" pitchFamily="34" charset="-122"/>
                          <a:ea typeface="微软雅黑" panose="020B0503020204020204" pitchFamily="34" charset="-122"/>
                        </a:rPr>
                        <a:t>或知会研发人员，研发端对生产端的</a:t>
                      </a:r>
                      <a:r>
                        <a:rPr lang="en-US" altLang="zh-CN" sz="1000" dirty="0">
                          <a:solidFill>
                            <a:schemeClr val="tx1"/>
                          </a:solidFill>
                          <a:effectLst/>
                          <a:latin typeface="微软雅黑" panose="020B0503020204020204" pitchFamily="34" charset="-122"/>
                          <a:ea typeface="微软雅黑" panose="020B0503020204020204" pitchFamily="34" charset="-122"/>
                        </a:rPr>
                        <a:t>BOM</a:t>
                      </a:r>
                      <a:r>
                        <a:rPr lang="zh-CN" altLang="en-US" sz="1000" dirty="0">
                          <a:solidFill>
                            <a:schemeClr val="tx1"/>
                          </a:solidFill>
                          <a:effectLst/>
                          <a:latin typeface="微软雅黑" panose="020B0503020204020204" pitchFamily="34" charset="-122"/>
                          <a:ea typeface="微软雅黑" panose="020B0503020204020204" pitchFamily="34" charset="-122"/>
                        </a:rPr>
                        <a:t>修改情况完全不知情。设计</a:t>
                      </a:r>
                      <a:r>
                        <a:rPr lang="en-US" altLang="zh-CN" sz="1000" dirty="0">
                          <a:solidFill>
                            <a:schemeClr val="tx1"/>
                          </a:solidFill>
                          <a:effectLst/>
                          <a:latin typeface="微软雅黑" panose="020B0503020204020204" pitchFamily="34" charset="-122"/>
                          <a:ea typeface="微软雅黑" panose="020B0503020204020204" pitchFamily="34" charset="-122"/>
                        </a:rPr>
                        <a:t>BOM</a:t>
                      </a:r>
                      <a:r>
                        <a:rPr lang="zh-CN" altLang="en-US" sz="1000" dirty="0">
                          <a:solidFill>
                            <a:schemeClr val="tx1"/>
                          </a:solidFill>
                          <a:effectLst/>
                          <a:latin typeface="微软雅黑" panose="020B0503020204020204" pitchFamily="34" charset="-122"/>
                          <a:ea typeface="微软雅黑" panose="020B0503020204020204" pitchFamily="34" charset="-122"/>
                        </a:rPr>
                        <a:t>与生产</a:t>
                      </a:r>
                      <a:r>
                        <a:rPr lang="en-US" altLang="zh-CN" sz="1000" dirty="0">
                          <a:solidFill>
                            <a:schemeClr val="tx1"/>
                          </a:solidFill>
                          <a:effectLst/>
                          <a:latin typeface="微软雅黑" panose="020B0503020204020204" pitchFamily="34" charset="-122"/>
                          <a:ea typeface="微软雅黑" panose="020B0503020204020204" pitchFamily="34" charset="-122"/>
                        </a:rPr>
                        <a:t>BOM</a:t>
                      </a:r>
                      <a:r>
                        <a:rPr lang="zh-CN" altLang="en-US" sz="1000" dirty="0">
                          <a:solidFill>
                            <a:schemeClr val="tx1"/>
                          </a:solidFill>
                          <a:effectLst/>
                          <a:latin typeface="微软雅黑" panose="020B0503020204020204" pitchFamily="34" charset="-122"/>
                          <a:ea typeface="微软雅黑" panose="020B0503020204020204" pitchFamily="34" charset="-122"/>
                        </a:rPr>
                        <a:t>的差异严重影响到后续的产品改型设计、成本精准核算及质量反向追溯。建议建立研发</a:t>
                      </a:r>
                      <a:r>
                        <a:rPr lang="en-US" altLang="zh-CN" sz="1000" dirty="0">
                          <a:solidFill>
                            <a:schemeClr val="tx1"/>
                          </a:solidFill>
                          <a:effectLst/>
                          <a:latin typeface="微软雅黑" panose="020B0503020204020204" pitchFamily="34" charset="-122"/>
                          <a:ea typeface="微软雅黑" panose="020B0503020204020204" pitchFamily="34" charset="-122"/>
                        </a:rPr>
                        <a:t>-</a:t>
                      </a:r>
                      <a:r>
                        <a:rPr lang="zh-CN" altLang="en-US" sz="1000" dirty="0">
                          <a:solidFill>
                            <a:schemeClr val="tx1"/>
                          </a:solidFill>
                          <a:effectLst/>
                          <a:latin typeface="微软雅黑" panose="020B0503020204020204" pitchFamily="34" charset="-122"/>
                          <a:ea typeface="微软雅黑" panose="020B0503020204020204" pitchFamily="34" charset="-122"/>
                        </a:rPr>
                        <a:t>生产</a:t>
                      </a:r>
                      <a:r>
                        <a:rPr lang="en-US" altLang="zh-CN" sz="1000" dirty="0">
                          <a:solidFill>
                            <a:schemeClr val="tx1"/>
                          </a:solidFill>
                          <a:effectLst/>
                          <a:latin typeface="微软雅黑" panose="020B0503020204020204" pitchFamily="34" charset="-122"/>
                          <a:ea typeface="微软雅黑" panose="020B0503020204020204" pitchFamily="34" charset="-122"/>
                        </a:rPr>
                        <a:t>BOM</a:t>
                      </a:r>
                      <a:r>
                        <a:rPr lang="zh-CN" altLang="en-US" sz="1000" dirty="0">
                          <a:solidFill>
                            <a:schemeClr val="tx1"/>
                          </a:solidFill>
                          <a:effectLst/>
                          <a:latin typeface="微软雅黑" panose="020B0503020204020204" pitchFamily="34" charset="-122"/>
                          <a:ea typeface="微软雅黑" panose="020B0503020204020204" pitchFamily="34" charset="-122"/>
                        </a:rPr>
                        <a:t>双向同步机制和变更通知。</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dirty="0">
                          <a:solidFill>
                            <a:schemeClr val="tx1"/>
                          </a:solidFill>
                          <a:effectLst/>
                          <a:latin typeface="微软雅黑" panose="020B0503020204020204" pitchFamily="34" charset="-122"/>
                          <a:ea typeface="微软雅黑" panose="020B0503020204020204" pitchFamily="34" charset="-122"/>
                        </a:rPr>
                        <a:t>研究院</a:t>
                      </a:r>
                      <a:endParaRPr lang="zh-CN" alt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3" name="文本框 2"/>
          <p:cNvSpPr txBox="1"/>
          <p:nvPr/>
        </p:nvSpPr>
        <p:spPr>
          <a:xfrm>
            <a:off x="425451" y="790117"/>
            <a:ext cx="11317522" cy="523220"/>
          </a:xfrm>
          <a:prstGeom prst="rect">
            <a:avLst/>
          </a:prstGeom>
          <a:noFill/>
        </p:spPr>
        <p:txBody>
          <a:bodyPr wrap="none" rtlCol="0">
            <a:spAutoFit/>
          </a:bodyPr>
          <a:lstStyle/>
          <a:p>
            <a:r>
              <a:rPr lang="zh-CN" altLang="en-US" dirty="0"/>
              <a:t>以下原始需求，在和提出需求的用户做了详细的需求分析研讨会，并形成了记录，其中部分需求，不纳入</a:t>
            </a:r>
            <a:r>
              <a:rPr lang="en-US" altLang="zh-CN" dirty="0"/>
              <a:t>SAP</a:t>
            </a:r>
            <a:r>
              <a:rPr lang="zh-CN" altLang="en-US" dirty="0"/>
              <a:t>本期的实施范围，部分作为其他</a:t>
            </a:r>
            <a:endParaRPr lang="en-US" altLang="zh-CN" dirty="0"/>
          </a:p>
          <a:p>
            <a:r>
              <a:rPr lang="zh-CN" altLang="en-US" dirty="0"/>
              <a:t>系统的实施范围（比如</a:t>
            </a:r>
            <a:r>
              <a:rPr lang="en-US" altLang="zh-CN" dirty="0"/>
              <a:t>PLM</a:t>
            </a:r>
            <a:r>
              <a:rPr lang="zh-CN" altLang="en-US" dirty="0"/>
              <a:t>研发系统，预算管理系统）</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cap="all" dirty="0"/>
              <a:t>附录 原始需求清单（27条，P05关联）</a:t>
            </a:r>
            <a:endParaRPr lang="zh-CN" altLang="en-US" b="1" cap="all" dirty="0"/>
          </a:p>
        </p:txBody>
      </p:sp>
      <p:graphicFrame>
        <p:nvGraphicFramePr>
          <p:cNvPr id="4" name="表格 3"/>
          <p:cNvGraphicFramePr>
            <a:graphicFrameLocks noGrp="1"/>
          </p:cNvGraphicFramePr>
          <p:nvPr/>
        </p:nvGraphicFramePr>
        <p:xfrm>
          <a:off x="427037" y="799577"/>
          <a:ext cx="11337925" cy="5258846"/>
        </p:xfrm>
        <a:graphic>
          <a:graphicData uri="http://schemas.openxmlformats.org/drawingml/2006/table">
            <a:tbl>
              <a:tblPr/>
              <a:tblGrid>
                <a:gridCol w="1313840">
                  <a:extLst>
                    <a:ext uri="{9D8B030D-6E8A-4147-A177-3AD203B41FA5}">
                      <a16:colId xmlns:a16="http://schemas.microsoft.com/office/drawing/2014/main" val="20000"/>
                    </a:ext>
                  </a:extLst>
                </a:gridCol>
                <a:gridCol w="3833446">
                  <a:extLst>
                    <a:ext uri="{9D8B030D-6E8A-4147-A177-3AD203B41FA5}">
                      <a16:colId xmlns:a16="http://schemas.microsoft.com/office/drawing/2014/main" val="20001"/>
                    </a:ext>
                  </a:extLst>
                </a:gridCol>
                <a:gridCol w="1655469">
                  <a:extLst>
                    <a:ext uri="{9D8B030D-6E8A-4147-A177-3AD203B41FA5}">
                      <a16:colId xmlns:a16="http://schemas.microsoft.com/office/drawing/2014/main" val="20002"/>
                    </a:ext>
                  </a:extLst>
                </a:gridCol>
                <a:gridCol w="2267585">
                  <a:extLst>
                    <a:ext uri="{9D8B030D-6E8A-4147-A177-3AD203B41FA5}">
                      <a16:colId xmlns:a16="http://schemas.microsoft.com/office/drawing/2014/main" val="20003"/>
                    </a:ext>
                  </a:extLst>
                </a:gridCol>
                <a:gridCol w="2267585">
                  <a:extLst>
                    <a:ext uri="{9D8B030D-6E8A-4147-A177-3AD203B41FA5}">
                      <a16:colId xmlns:a16="http://schemas.microsoft.com/office/drawing/2014/main" val="20004"/>
                    </a:ext>
                  </a:extLst>
                </a:gridCol>
              </a:tblGrid>
              <a:tr h="405840">
                <a:tc>
                  <a:txBody>
                    <a:bodyPr/>
                    <a:lstStyle/>
                    <a:p>
                      <a:pPr marL="0" marR="0" algn="ctr">
                        <a:buNone/>
                      </a:pPr>
                      <a:r>
                        <a:rPr lang="zh-CN" sz="1000" b="1" cap="all" dirty="0">
                          <a:solidFill>
                            <a:schemeClr val="bg1"/>
                          </a:solidFill>
                          <a:effectLst/>
                          <a:latin typeface="微软雅黑" panose="020B0503020204020204" pitchFamily="34" charset="-122"/>
                          <a:ea typeface="微软雅黑" panose="020B0503020204020204" pitchFamily="34" charset="-122"/>
                        </a:rPr>
                        <a:t>编号</a:t>
                      </a: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tc>
                  <a:txBody>
                    <a:bodyPr/>
                    <a:lstStyle/>
                    <a:p>
                      <a:pPr marL="0" marR="0" algn="ctr">
                        <a:buNone/>
                      </a:pPr>
                      <a:r>
                        <a:rPr lang="zh-CN" sz="1000" b="1" cap="all" dirty="0">
                          <a:solidFill>
                            <a:schemeClr val="bg1"/>
                          </a:solidFill>
                          <a:effectLst/>
                          <a:latin typeface="微软雅黑" panose="020B0503020204020204" pitchFamily="34" charset="-122"/>
                          <a:ea typeface="微软雅黑" panose="020B0503020204020204" pitchFamily="34" charset="-122"/>
                        </a:rPr>
                        <a:t>需求简述</a:t>
                      </a: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tc>
                  <a:txBody>
                    <a:bodyPr/>
                    <a:lstStyle/>
                    <a:p>
                      <a:pPr marL="0" marR="0" algn="ctr">
                        <a:buNone/>
                      </a:pPr>
                      <a:r>
                        <a:rPr lang="zh-CN" sz="1000" b="1" cap="all" dirty="0">
                          <a:solidFill>
                            <a:schemeClr val="bg1"/>
                          </a:solidFill>
                          <a:effectLst/>
                          <a:latin typeface="微软雅黑" panose="020B0503020204020204" pitchFamily="34" charset="-122"/>
                          <a:ea typeface="微软雅黑" panose="020B0503020204020204" pitchFamily="34" charset="-122"/>
                        </a:rPr>
                        <a:t>优先级</a:t>
                      </a: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tc>
                  <a:txBody>
                    <a:bodyPr/>
                    <a:lstStyle/>
                    <a:p>
                      <a:pPr marL="0" marR="0" algn="ctr">
                        <a:buNone/>
                      </a:pPr>
                      <a:r>
                        <a:rPr lang="zh-CN" sz="1000" b="1" cap="all" dirty="0">
                          <a:solidFill>
                            <a:schemeClr val="bg1"/>
                          </a:solidFill>
                          <a:effectLst/>
                          <a:latin typeface="微软雅黑" panose="020B0503020204020204" pitchFamily="34" charset="-122"/>
                          <a:ea typeface="微软雅黑" panose="020B0503020204020204" pitchFamily="34" charset="-122"/>
                        </a:rPr>
                        <a:t>来源部门</a:t>
                      </a: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tc>
                  <a:txBody>
                    <a:bodyPr/>
                    <a:lstStyle/>
                    <a:p>
                      <a:pPr marL="0" marR="0" algn="ctr">
                        <a:buNone/>
                      </a:pPr>
                      <a:r>
                        <a:rPr lang="zh-CN" altLang="en-US" sz="1000" b="1" cap="all" dirty="0">
                          <a:solidFill>
                            <a:schemeClr val="bg1"/>
                          </a:solidFill>
                          <a:effectLst/>
                          <a:latin typeface="微软雅黑" panose="020B0503020204020204" pitchFamily="34" charset="-122"/>
                          <a:ea typeface="微软雅黑" panose="020B0503020204020204" pitchFamily="34" charset="-122"/>
                        </a:rPr>
                        <a:t>备注</a:t>
                      </a:r>
                      <a:endParaRPr lang="zh-CN" sz="1000" b="1" cap="all" dirty="0">
                        <a:solidFill>
                          <a:schemeClr val="bg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extLst>
                  <a:ext uri="{0D108BD9-81ED-4DB2-BD59-A6C34878D82A}">
                    <a16:rowId xmlns:a16="http://schemas.microsoft.com/office/drawing/2014/main" val="10000"/>
                  </a:ext>
                </a:extLst>
              </a:tr>
              <a:tr h="152915">
                <a:tc>
                  <a:txBody>
                    <a:bodyPr/>
                    <a:lstStyle/>
                    <a:p>
                      <a:pPr marL="0" marR="0">
                        <a:buNone/>
                      </a:pPr>
                      <a:r>
                        <a:rPr lang="zh-CN" sz="1000" b="1" dirty="0">
                          <a:solidFill>
                            <a:schemeClr val="tx1"/>
                          </a:solidFill>
                          <a:effectLst/>
                          <a:latin typeface="微软雅黑" panose="020B0503020204020204" pitchFamily="34" charset="-122"/>
                          <a:ea typeface="微软雅黑" panose="020B0503020204020204" pitchFamily="34" charset="-122"/>
                        </a:rPr>
                        <a:t>A0</a:t>
                      </a:r>
                      <a:r>
                        <a:rPr lang="en-US" altLang="zh-CN" sz="1000" b="1" dirty="0">
                          <a:solidFill>
                            <a:schemeClr val="tx1"/>
                          </a:solidFill>
                          <a:effectLst/>
                          <a:latin typeface="微软雅黑" panose="020B0503020204020204" pitchFamily="34" charset="-122"/>
                          <a:ea typeface="微软雅黑" panose="020B0503020204020204" pitchFamily="34" charset="-122"/>
                        </a:rPr>
                        <a:t>203</a:t>
                      </a: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altLang="zh-CN" sz="1000" dirty="0">
                          <a:solidFill>
                            <a:schemeClr val="tx1"/>
                          </a:solidFill>
                          <a:effectLst/>
                          <a:latin typeface="微软雅黑" panose="020B0503020204020204" pitchFamily="34" charset="-122"/>
                          <a:ea typeface="微软雅黑" panose="020B0503020204020204" pitchFamily="34" charset="-122"/>
                        </a:rPr>
                        <a:t>ZPR61</a:t>
                      </a:r>
                      <a:r>
                        <a:rPr lang="zh-CN" altLang="en-US" sz="1000" dirty="0">
                          <a:solidFill>
                            <a:schemeClr val="tx1"/>
                          </a:solidFill>
                          <a:effectLst/>
                          <a:latin typeface="微软雅黑" panose="020B0503020204020204" pitchFamily="34" charset="-122"/>
                          <a:ea typeface="微软雅黑" panose="020B0503020204020204" pitchFamily="34" charset="-122"/>
                        </a:rPr>
                        <a:t>采购申请到货查询界面带上对应的使用项目、产品名称、研发</a:t>
                      </a:r>
                      <a:r>
                        <a:rPr lang="en-US" altLang="zh-CN" sz="1000" dirty="0">
                          <a:solidFill>
                            <a:schemeClr val="tx1"/>
                          </a:solidFill>
                          <a:effectLst/>
                          <a:latin typeface="微软雅黑" panose="020B0503020204020204" pitchFamily="34" charset="-122"/>
                          <a:ea typeface="微软雅黑" panose="020B0503020204020204" pitchFamily="34" charset="-122"/>
                        </a:rPr>
                        <a:t>/</a:t>
                      </a:r>
                      <a:r>
                        <a:rPr lang="zh-CN" altLang="en-US" sz="1000" dirty="0">
                          <a:solidFill>
                            <a:schemeClr val="tx1"/>
                          </a:solidFill>
                          <a:effectLst/>
                          <a:latin typeface="微软雅黑" panose="020B0503020204020204" pitchFamily="34" charset="-122"/>
                          <a:ea typeface="微软雅黑" panose="020B0503020204020204" pitchFamily="34" charset="-122"/>
                        </a:rPr>
                        <a:t>技术员</a:t>
                      </a:r>
                      <a:endParaRPr lang="zh-CN" alt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latinLnBrk="0">
                        <a:buNone/>
                      </a:pPr>
                      <a:r>
                        <a:rPr lang="zh-CN" altLang="en-US" sz="900" dirty="0">
                          <a:solidFill>
                            <a:srgbClr val="000000"/>
                          </a:solidFill>
                          <a:effectLst/>
                          <a:latin typeface="微软雅黑" panose="020B0503020204020204" pitchFamily="34" charset="-122"/>
                          <a:ea typeface="微软雅黑" panose="020B0503020204020204" pitchFamily="34" charset="-122"/>
                        </a:rPr>
                        <a:t>研发与产品管理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52915">
                <a:tc>
                  <a:txBody>
                    <a:bodyPr/>
                    <a:lstStyle/>
                    <a:p>
                      <a:pPr marL="0" marR="0">
                        <a:buNone/>
                      </a:pPr>
                      <a:r>
                        <a:rPr lang="zh-CN" sz="1000" b="1" dirty="0">
                          <a:solidFill>
                            <a:schemeClr val="tx1"/>
                          </a:solidFill>
                          <a:effectLst/>
                          <a:latin typeface="微软雅黑" panose="020B0503020204020204" pitchFamily="34" charset="-122"/>
                          <a:ea typeface="微软雅黑" panose="020B0503020204020204" pitchFamily="34" charset="-122"/>
                        </a:rPr>
                        <a:t>A0</a:t>
                      </a:r>
                      <a:r>
                        <a:rPr lang="en-US" altLang="zh-CN" sz="1000" b="1" dirty="0">
                          <a:solidFill>
                            <a:schemeClr val="tx1"/>
                          </a:solidFill>
                          <a:effectLst/>
                          <a:latin typeface="微软雅黑" panose="020B0503020204020204" pitchFamily="34" charset="-122"/>
                          <a:ea typeface="微软雅黑" panose="020B0503020204020204" pitchFamily="34" charset="-122"/>
                        </a:rPr>
                        <a:t>256</a:t>
                      </a: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dirty="0">
                          <a:solidFill>
                            <a:schemeClr val="tx1"/>
                          </a:solidFill>
                          <a:effectLst/>
                          <a:latin typeface="微软雅黑" panose="020B0503020204020204" pitchFamily="34" charset="-122"/>
                          <a:ea typeface="微软雅黑" panose="020B0503020204020204" pitchFamily="34" charset="-122"/>
                        </a:rPr>
                        <a:t>① 研发项目立项不清晰，费用归集范围不明确；② 研发费用计提、分摊规则不统一，核算口径不一致；③ 虽然研发费用分三类核算、有台账统计，但无法匹配到具体项目的收益，投入产出无法量化</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dirty="0">
                          <a:solidFill>
                            <a:schemeClr val="tx1"/>
                          </a:solidFill>
                          <a:effectLst/>
                          <a:latin typeface="微软雅黑" panose="020B0503020204020204" pitchFamily="34" charset="-122"/>
                          <a:ea typeface="微软雅黑" panose="020B0503020204020204" pitchFamily="34" charset="-122"/>
                        </a:rPr>
                        <a:t>研究院</a:t>
                      </a:r>
                      <a:endParaRPr lang="zh-CN" alt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latinLnBrk="0">
                        <a:buNone/>
                      </a:pPr>
                      <a:r>
                        <a:rPr lang="en-US" altLang="zh-CN" sz="900" dirty="0">
                          <a:solidFill>
                            <a:srgbClr val="000000"/>
                          </a:solidFill>
                          <a:effectLst/>
                          <a:latin typeface="微软雅黑" panose="020B0503020204020204" pitchFamily="34" charset="-122"/>
                          <a:ea typeface="微软雅黑" panose="020B0503020204020204" pitchFamily="34" charset="-122"/>
                        </a:rPr>
                        <a:t>20260714</a:t>
                      </a:r>
                      <a:r>
                        <a:rPr lang="zh-CN" altLang="en-US" sz="900" dirty="0">
                          <a:solidFill>
                            <a:srgbClr val="000000"/>
                          </a:solidFill>
                          <a:effectLst/>
                          <a:latin typeface="微软雅黑" panose="020B0503020204020204" pitchFamily="34" charset="-122"/>
                          <a:ea typeface="微软雅黑" panose="020B0503020204020204" pitchFamily="34" charset="-122"/>
                        </a:rPr>
                        <a:t>进行了专题讨论双方就方案达成一致，参会人员：郭裕、赵佳怡、贾嘉、徐丹、刘振、吴一凡等；链接会议纪要：</a:t>
                      </a:r>
                      <a:r>
                        <a:rPr lang="en-US" sz="900" u="sng" dirty="0">
                          <a:solidFill>
                            <a:srgbClr val="175CEB"/>
                          </a:solidFill>
                          <a:effectLst/>
                          <a:latin typeface="微软雅黑" panose="020B0503020204020204" pitchFamily="34" charset="-122"/>
                          <a:ea typeface="微软雅黑" panose="020B0503020204020204" pitchFamily="34" charset="-122"/>
                          <a:hlinkClick r:id="rId2"/>
                        </a:rPr>
                        <a:t>https://gcnee6tp38nw.feishu.cn/file/Kt65bGtHSoVL1UxzIlQc7Rbqnwh</a:t>
                      </a:r>
                      <a:endParaRPr lang="en-US" sz="1000" dirty="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52915">
                <a:tc>
                  <a:txBody>
                    <a:bodyPr/>
                    <a:lstStyle/>
                    <a:p>
                      <a:pPr marL="0" marR="0">
                        <a:buNone/>
                      </a:pPr>
                      <a:r>
                        <a:rPr lang="zh-CN" sz="1000" b="1" dirty="0">
                          <a:solidFill>
                            <a:schemeClr val="tx1"/>
                          </a:solidFill>
                          <a:effectLst/>
                          <a:latin typeface="微软雅黑" panose="020B0503020204020204" pitchFamily="34" charset="-122"/>
                          <a:ea typeface="微软雅黑" panose="020B0503020204020204" pitchFamily="34" charset="-122"/>
                        </a:rPr>
                        <a:t>A0</a:t>
                      </a:r>
                      <a:r>
                        <a:rPr lang="en-US" altLang="zh-CN" sz="1000" b="1" dirty="0">
                          <a:solidFill>
                            <a:schemeClr val="tx1"/>
                          </a:solidFill>
                          <a:effectLst/>
                          <a:latin typeface="微软雅黑" panose="020B0503020204020204" pitchFamily="34" charset="-122"/>
                          <a:ea typeface="微软雅黑" panose="020B0503020204020204" pitchFamily="34" charset="-122"/>
                        </a:rPr>
                        <a:t>257</a:t>
                      </a: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① 新品报价缺乏规范的流程，无统一的标准；② 新品报价无考核、无复盘，无法评估报价合理性；③ 销售定价方法不明确，未确定成本加成法还是市场目标价格法；④ 财务成本数据无法及时支撑新品的快速报价需求</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研究院</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12709">
                <a:tc>
                  <a:txBody>
                    <a:bodyPr/>
                    <a:lstStyle/>
                    <a:p>
                      <a:pPr marL="0" marR="0">
                        <a:buNone/>
                      </a:pPr>
                      <a:r>
                        <a:rPr lang="zh-CN" sz="1000" b="1" dirty="0">
                          <a:solidFill>
                            <a:schemeClr val="tx1"/>
                          </a:solidFill>
                          <a:effectLst/>
                          <a:latin typeface="微软雅黑" panose="020B0503020204020204" pitchFamily="34" charset="-122"/>
                          <a:ea typeface="微软雅黑" panose="020B0503020204020204" pitchFamily="34" charset="-122"/>
                        </a:rPr>
                        <a:t>A0</a:t>
                      </a:r>
                      <a:r>
                        <a:rPr lang="en-US" altLang="zh-CN" sz="1000" b="1" dirty="0">
                          <a:solidFill>
                            <a:schemeClr val="tx1"/>
                          </a:solidFill>
                          <a:effectLst/>
                          <a:latin typeface="微软雅黑" panose="020B0503020204020204" pitchFamily="34" charset="-122"/>
                          <a:ea typeface="微软雅黑" panose="020B0503020204020204" pitchFamily="34" charset="-122"/>
                        </a:rPr>
                        <a:t>303</a:t>
                      </a: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dirty="0">
                          <a:solidFill>
                            <a:schemeClr val="tx1"/>
                          </a:solidFill>
                          <a:effectLst/>
                          <a:latin typeface="微软雅黑" panose="020B0503020204020204" pitchFamily="34" charset="-122"/>
                          <a:ea typeface="微软雅黑" panose="020B0503020204020204" pitchFamily="34" charset="-122"/>
                        </a:rPr>
                        <a:t>开发研发费用（高新费用）台账  ：从科目及成本中心进行报表的搭</a:t>
                      </a:r>
                      <a:endParaRPr lang="zh-CN" alt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dirty="0">
                          <a:solidFill>
                            <a:schemeClr val="tx1"/>
                          </a:solidFill>
                          <a:effectLst/>
                          <a:latin typeface="微软雅黑" panose="020B0503020204020204" pitchFamily="34" charset="-122"/>
                          <a:ea typeface="微软雅黑" panose="020B0503020204020204" pitchFamily="34" charset="-122"/>
                        </a:rPr>
                        <a:t>研究院</a:t>
                      </a:r>
                      <a:endParaRPr lang="zh-CN" alt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按照样表进行开发</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marL="0" marR="0">
                        <a:buNone/>
                      </a:pPr>
                      <a:r>
                        <a:rPr lang="zh-CN" sz="1000" b="1" dirty="0">
                          <a:solidFill>
                            <a:schemeClr val="tx1"/>
                          </a:solidFill>
                          <a:effectLst/>
                          <a:latin typeface="微软雅黑" panose="020B0503020204020204" pitchFamily="34" charset="-122"/>
                          <a:ea typeface="微软雅黑" panose="020B0503020204020204" pitchFamily="34" charset="-122"/>
                        </a:rPr>
                        <a:t>A0</a:t>
                      </a:r>
                      <a:r>
                        <a:rPr lang="en-US" altLang="zh-CN" sz="1000" b="1" dirty="0">
                          <a:solidFill>
                            <a:schemeClr val="tx1"/>
                          </a:solidFill>
                          <a:effectLst/>
                          <a:latin typeface="微软雅黑" panose="020B0503020204020204" pitchFamily="34" charset="-122"/>
                          <a:ea typeface="微软雅黑" panose="020B0503020204020204" pitchFamily="34" charset="-122"/>
                        </a:rPr>
                        <a:t>334</a:t>
                      </a: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dirty="0">
                          <a:solidFill>
                            <a:schemeClr val="tx1"/>
                          </a:solidFill>
                          <a:effectLst/>
                          <a:latin typeface="微软雅黑" panose="020B0503020204020204" pitchFamily="34" charset="-122"/>
                          <a:ea typeface="微软雅黑" panose="020B0503020204020204" pitchFamily="34" charset="-122"/>
                        </a:rPr>
                        <a:t>目前车灯项目的研发成本，需要手动选择数据核算，无法在系统清晰知晓该项目的前期实验费、模具费等费用。无法追溯该项目实际是否盈亏情况。</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dirty="0">
                          <a:solidFill>
                            <a:schemeClr val="tx1"/>
                          </a:solidFill>
                          <a:effectLst/>
                          <a:latin typeface="微软雅黑" panose="020B0503020204020204" pitchFamily="34" charset="-122"/>
                          <a:ea typeface="微软雅黑" panose="020B0503020204020204" pitchFamily="34" charset="-122"/>
                        </a:rPr>
                        <a:t>车灯事业部</a:t>
                      </a:r>
                      <a:endParaRPr lang="zh-CN" alt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每个项目有一个内部订单编号，在后续的采购，费用会填写内部订单号码，用内部订单来统计项目成本，收入按照研发出来的新产品的一年内的销售收入作为收入。</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52915">
                <a:tc>
                  <a:txBody>
                    <a:bodyPr/>
                    <a:lstStyle/>
                    <a:p>
                      <a:pPr marL="0" marR="0">
                        <a:buNone/>
                      </a:pPr>
                      <a:r>
                        <a:rPr lang="zh-CN" sz="1000" b="1" dirty="0">
                          <a:solidFill>
                            <a:schemeClr val="tx1"/>
                          </a:solidFill>
                          <a:effectLst/>
                          <a:latin typeface="微软雅黑" panose="020B0503020204020204" pitchFamily="34" charset="-122"/>
                          <a:ea typeface="微软雅黑" panose="020B0503020204020204" pitchFamily="34" charset="-122"/>
                        </a:rPr>
                        <a:t>A0</a:t>
                      </a:r>
                      <a:r>
                        <a:rPr lang="en-US" altLang="zh-CN" sz="1000" b="1" dirty="0">
                          <a:solidFill>
                            <a:schemeClr val="tx1"/>
                          </a:solidFill>
                          <a:effectLst/>
                          <a:latin typeface="微软雅黑" panose="020B0503020204020204" pitchFamily="34" charset="-122"/>
                          <a:ea typeface="微软雅黑" panose="020B0503020204020204" pitchFamily="34" charset="-122"/>
                        </a:rPr>
                        <a:t>349</a:t>
                      </a: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现状痛点：</a:t>
                      </a:r>
                      <a:r>
                        <a:rPr lang="en-US" altLang="zh-CN" sz="1000" dirty="0">
                          <a:solidFill>
                            <a:schemeClr val="tx1"/>
                          </a:solidFill>
                          <a:effectLst/>
                          <a:latin typeface="微软雅黑" panose="020B0503020204020204" pitchFamily="34" charset="-122"/>
                          <a:ea typeface="微软雅黑" panose="020B0503020204020204" pitchFamily="34" charset="-122"/>
                        </a:rPr>
                        <a:t>PLM </a:t>
                      </a:r>
                      <a:r>
                        <a:rPr lang="zh-CN" altLang="en-US" sz="1000" dirty="0">
                          <a:solidFill>
                            <a:schemeClr val="tx1"/>
                          </a:solidFill>
                          <a:effectLst/>
                          <a:latin typeface="微软雅黑" panose="020B0503020204020204" pitchFamily="34" charset="-122"/>
                          <a:ea typeface="微软雅黑" panose="020B0503020204020204" pitchFamily="34" charset="-122"/>
                        </a:rPr>
                        <a:t>研发立项、研发 </a:t>
                      </a:r>
                      <a:r>
                        <a:rPr lang="en-US" altLang="zh-CN" sz="1000" dirty="0">
                          <a:solidFill>
                            <a:schemeClr val="tx1"/>
                          </a:solidFill>
                          <a:effectLst/>
                          <a:latin typeface="微软雅黑" panose="020B0503020204020204" pitchFamily="34" charset="-122"/>
                          <a:ea typeface="微软雅黑" panose="020B0503020204020204" pitchFamily="34" charset="-122"/>
                        </a:rPr>
                        <a:t>BOM</a:t>
                      </a:r>
                      <a:r>
                        <a:rPr lang="zh-CN" altLang="en-US" sz="1000" dirty="0">
                          <a:solidFill>
                            <a:schemeClr val="tx1"/>
                          </a:solidFill>
                          <a:effectLst/>
                          <a:latin typeface="微软雅黑" panose="020B0503020204020204" pitchFamily="34" charset="-122"/>
                          <a:ea typeface="微软雅黑" panose="020B0503020204020204" pitchFamily="34" charset="-122"/>
                        </a:rPr>
                        <a:t>、生产 </a:t>
                      </a:r>
                      <a:r>
                        <a:rPr lang="en-US" altLang="zh-CN" sz="1000" dirty="0">
                          <a:solidFill>
                            <a:schemeClr val="tx1"/>
                          </a:solidFill>
                          <a:effectLst/>
                          <a:latin typeface="微软雅黑" panose="020B0503020204020204" pitchFamily="34" charset="-122"/>
                          <a:ea typeface="微软雅黑" panose="020B0503020204020204" pitchFamily="34" charset="-122"/>
                        </a:rPr>
                        <a:t>BOM</a:t>
                      </a:r>
                      <a:r>
                        <a:rPr lang="zh-CN" altLang="en-US" sz="1000" dirty="0">
                          <a:solidFill>
                            <a:schemeClr val="tx1"/>
                          </a:solidFill>
                          <a:effectLst/>
                          <a:latin typeface="微软雅黑" panose="020B0503020204020204" pitchFamily="34" charset="-122"/>
                          <a:ea typeface="微软雅黑" panose="020B0503020204020204" pitchFamily="34" charset="-122"/>
                        </a:rPr>
                        <a:t>、车间生产、成品出货各环节系统数据相互独立，未打通全自动同步机制，各阶段数据需要人工导出，缺少统一数据源。需求解决：实现 </a:t>
                      </a:r>
                      <a:r>
                        <a:rPr lang="en-US" altLang="zh-CN" sz="1000" dirty="0">
                          <a:solidFill>
                            <a:schemeClr val="tx1"/>
                          </a:solidFill>
                          <a:effectLst/>
                          <a:latin typeface="微软雅黑" panose="020B0503020204020204" pitchFamily="34" charset="-122"/>
                          <a:ea typeface="微软雅黑" panose="020B0503020204020204" pitchFamily="34" charset="-122"/>
                        </a:rPr>
                        <a:t>PLM </a:t>
                      </a:r>
                      <a:r>
                        <a:rPr lang="zh-CN" altLang="en-US" sz="1000" dirty="0">
                          <a:solidFill>
                            <a:schemeClr val="tx1"/>
                          </a:solidFill>
                          <a:effectLst/>
                          <a:latin typeface="微软雅黑" panose="020B0503020204020204" pitchFamily="34" charset="-122"/>
                          <a:ea typeface="微软雅黑" panose="020B0503020204020204" pitchFamily="34" charset="-122"/>
                        </a:rPr>
                        <a:t>与</a:t>
                      </a:r>
                      <a:r>
                        <a:rPr lang="en-US" altLang="zh-CN" sz="1000" dirty="0">
                          <a:solidFill>
                            <a:schemeClr val="tx1"/>
                          </a:solidFill>
                          <a:effectLst/>
                          <a:latin typeface="微软雅黑" panose="020B0503020204020204" pitchFamily="34" charset="-122"/>
                          <a:ea typeface="微软雅黑" panose="020B0503020204020204" pitchFamily="34" charset="-122"/>
                        </a:rPr>
                        <a:t>SAP</a:t>
                      </a:r>
                      <a:r>
                        <a:rPr lang="zh-CN" altLang="en-US" sz="1000" dirty="0">
                          <a:solidFill>
                            <a:schemeClr val="tx1"/>
                          </a:solidFill>
                          <a:effectLst/>
                          <a:latin typeface="微软雅黑" panose="020B0503020204020204" pitchFamily="34" charset="-122"/>
                          <a:ea typeface="微软雅黑" panose="020B0503020204020204" pitchFamily="34" charset="-122"/>
                        </a:rPr>
                        <a:t>打通功能，从</a:t>
                      </a:r>
                      <a:r>
                        <a:rPr lang="en-US" altLang="zh-CN" sz="1000" dirty="0">
                          <a:solidFill>
                            <a:schemeClr val="tx1"/>
                          </a:solidFill>
                          <a:effectLst/>
                          <a:latin typeface="微软雅黑" panose="020B0503020204020204" pitchFamily="34" charset="-122"/>
                          <a:ea typeface="微软雅黑" panose="020B0503020204020204" pitchFamily="34" charset="-122"/>
                        </a:rPr>
                        <a:t>PLM</a:t>
                      </a:r>
                      <a:r>
                        <a:rPr lang="zh-CN" altLang="en-US" sz="1000" dirty="0">
                          <a:solidFill>
                            <a:schemeClr val="tx1"/>
                          </a:solidFill>
                          <a:effectLst/>
                          <a:latin typeface="微软雅黑" panose="020B0503020204020204" pitchFamily="34" charset="-122"/>
                          <a:ea typeface="微软雅黑" panose="020B0503020204020204" pitchFamily="34" charset="-122"/>
                        </a:rPr>
                        <a:t>的研发立项</a:t>
                      </a:r>
                      <a:r>
                        <a:rPr lang="en-US" altLang="zh-CN" sz="1000" dirty="0">
                          <a:solidFill>
                            <a:schemeClr val="tx1"/>
                          </a:solidFill>
                          <a:effectLst/>
                          <a:latin typeface="微软雅黑" panose="020B0503020204020204" pitchFamily="34" charset="-122"/>
                          <a:ea typeface="微软雅黑" panose="020B0503020204020204" pitchFamily="34" charset="-122"/>
                        </a:rPr>
                        <a:t>-</a:t>
                      </a:r>
                      <a:r>
                        <a:rPr lang="zh-CN" altLang="en-US" sz="1000" dirty="0">
                          <a:solidFill>
                            <a:schemeClr val="tx1"/>
                          </a:solidFill>
                          <a:effectLst/>
                          <a:latin typeface="微软雅黑" panose="020B0503020204020204" pitchFamily="34" charset="-122"/>
                          <a:ea typeface="微软雅黑" panose="020B0503020204020204" pitchFamily="34" charset="-122"/>
                        </a:rPr>
                        <a:t>研发</a:t>
                      </a:r>
                      <a:r>
                        <a:rPr lang="en-US" altLang="zh-CN" sz="1000" dirty="0">
                          <a:solidFill>
                            <a:schemeClr val="tx1"/>
                          </a:solidFill>
                          <a:effectLst/>
                          <a:latin typeface="微软雅黑" panose="020B0503020204020204" pitchFamily="34" charset="-122"/>
                          <a:ea typeface="微软雅黑" panose="020B0503020204020204" pitchFamily="34" charset="-122"/>
                        </a:rPr>
                        <a:t>BOM-</a:t>
                      </a:r>
                      <a:r>
                        <a:rPr lang="zh-CN" altLang="en-US" sz="1000" dirty="0">
                          <a:solidFill>
                            <a:schemeClr val="tx1"/>
                          </a:solidFill>
                          <a:effectLst/>
                          <a:latin typeface="微软雅黑" panose="020B0503020204020204" pitchFamily="34" charset="-122"/>
                          <a:ea typeface="微软雅黑" panose="020B0503020204020204" pitchFamily="34" charset="-122"/>
                        </a:rPr>
                        <a:t>车间生产成品</a:t>
                      </a:r>
                      <a:r>
                        <a:rPr lang="en-US" altLang="zh-CN" sz="1000" dirty="0">
                          <a:solidFill>
                            <a:schemeClr val="tx1"/>
                          </a:solidFill>
                          <a:effectLst/>
                          <a:latin typeface="微软雅黑" panose="020B0503020204020204" pitchFamily="34" charset="-122"/>
                          <a:ea typeface="微软雅黑" panose="020B0503020204020204" pitchFamily="34" charset="-122"/>
                        </a:rPr>
                        <a:t>BOM-</a:t>
                      </a:r>
                      <a:r>
                        <a:rPr lang="zh-CN" altLang="en-US" sz="1000" dirty="0">
                          <a:solidFill>
                            <a:schemeClr val="tx1"/>
                          </a:solidFill>
                          <a:effectLst/>
                          <a:latin typeface="微软雅黑" panose="020B0503020204020204" pitchFamily="34" charset="-122"/>
                          <a:ea typeface="微软雅黑" panose="020B0503020204020204" pitchFamily="34" charset="-122"/>
                        </a:rPr>
                        <a:t>出货数据，全链条贯通，方便数据抓取和分析。</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b="0" i="0" u="none" strike="noStrike" cap="none" dirty="0">
                          <a:solidFill>
                            <a:schemeClr val="tx1"/>
                          </a:solidFill>
                          <a:effectLst/>
                          <a:latin typeface="微软雅黑" panose="020B0503020204020204" pitchFamily="34" charset="-122"/>
                          <a:ea typeface="微软雅黑" panose="020B0503020204020204" pitchFamily="34" charset="-122"/>
                          <a:cs typeface="+mn-cs"/>
                          <a:sym typeface="Arial" panose="020B0604020202020204"/>
                        </a:rPr>
                        <a:t>车灯事业部</a:t>
                      </a:r>
                      <a:endParaRPr lang="zh-CN" altLang="zh-CN" sz="1000" b="0" i="0" u="none" strike="noStrike" cap="none" dirty="0">
                        <a:solidFill>
                          <a:schemeClr val="tx1"/>
                        </a:solidFill>
                        <a:effectLst/>
                        <a:latin typeface="微软雅黑" panose="020B0503020204020204" pitchFamily="34" charset="-122"/>
                        <a:ea typeface="微软雅黑" panose="020B0503020204020204" pitchFamily="34" charset="-122"/>
                        <a:cs typeface="+mn-cs"/>
                        <a:sym typeface="Arial" panose="020B0604020202020204"/>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altLang="zh-CN" sz="1000" dirty="0">
                          <a:solidFill>
                            <a:schemeClr val="tx1"/>
                          </a:solidFill>
                          <a:effectLst/>
                          <a:latin typeface="微软雅黑" panose="020B0503020204020204" pitchFamily="34" charset="-122"/>
                          <a:ea typeface="微软雅黑" panose="020B0503020204020204" pitchFamily="34" charset="-122"/>
                        </a:rPr>
                        <a:t>1. MBOM</a:t>
                      </a:r>
                      <a:r>
                        <a:rPr lang="zh-CN" altLang="en-US" sz="1000" dirty="0">
                          <a:solidFill>
                            <a:schemeClr val="tx1"/>
                          </a:solidFill>
                          <a:effectLst/>
                          <a:latin typeface="微软雅黑" panose="020B0503020204020204" pitchFamily="34" charset="-122"/>
                          <a:ea typeface="微软雅黑" panose="020B0503020204020204" pitchFamily="34" charset="-122"/>
                        </a:rPr>
                        <a:t>在</a:t>
                      </a:r>
                      <a:r>
                        <a:rPr lang="en-US" altLang="zh-CN" sz="1000" dirty="0">
                          <a:solidFill>
                            <a:schemeClr val="tx1"/>
                          </a:solidFill>
                          <a:effectLst/>
                          <a:latin typeface="微软雅黑" panose="020B0503020204020204" pitchFamily="34" charset="-122"/>
                          <a:ea typeface="微软雅黑" panose="020B0503020204020204" pitchFamily="34" charset="-122"/>
                        </a:rPr>
                        <a:t>PLM</a:t>
                      </a:r>
                      <a:r>
                        <a:rPr lang="zh-CN" altLang="en-US" sz="1000" dirty="0">
                          <a:solidFill>
                            <a:schemeClr val="tx1"/>
                          </a:solidFill>
                          <a:effectLst/>
                          <a:latin typeface="微软雅黑" panose="020B0503020204020204" pitchFamily="34" charset="-122"/>
                          <a:ea typeface="微软雅黑" panose="020B0503020204020204" pitchFamily="34" charset="-122"/>
                        </a:rPr>
                        <a:t>系统搭建</a:t>
                      </a:r>
                      <a:r>
                        <a:rPr lang="en-US" altLang="zh-CN" sz="1000" dirty="0">
                          <a:solidFill>
                            <a:schemeClr val="tx1"/>
                          </a:solidFill>
                          <a:effectLst/>
                          <a:latin typeface="微软雅黑" panose="020B0503020204020204" pitchFamily="34" charset="-122"/>
                          <a:ea typeface="微软雅黑" panose="020B0503020204020204" pitchFamily="34" charset="-122"/>
                        </a:rPr>
                        <a:t>OK</a:t>
                      </a:r>
                      <a:r>
                        <a:rPr lang="zh-CN" altLang="en-US" sz="1000" dirty="0">
                          <a:solidFill>
                            <a:schemeClr val="tx1"/>
                          </a:solidFill>
                          <a:effectLst/>
                          <a:latin typeface="微软雅黑" panose="020B0503020204020204" pitchFamily="34" charset="-122"/>
                          <a:ea typeface="微软雅黑" panose="020B0503020204020204" pitchFamily="34" charset="-122"/>
                        </a:rPr>
                        <a:t>；</a:t>
                      </a:r>
                      <a:r>
                        <a:rPr lang="en-US" altLang="zh-CN" sz="1000" dirty="0">
                          <a:solidFill>
                            <a:schemeClr val="tx1"/>
                          </a:solidFill>
                          <a:effectLst/>
                          <a:latin typeface="微软雅黑" panose="020B0503020204020204" pitchFamily="34" charset="-122"/>
                          <a:ea typeface="微软雅黑" panose="020B0503020204020204" pitchFamily="34" charset="-122"/>
                        </a:rPr>
                        <a:t>2.PLM</a:t>
                      </a:r>
                      <a:r>
                        <a:rPr lang="zh-CN" altLang="en-US" sz="1000" dirty="0">
                          <a:solidFill>
                            <a:schemeClr val="tx1"/>
                          </a:solidFill>
                          <a:effectLst/>
                          <a:latin typeface="微软雅黑" panose="020B0503020204020204" pitchFamily="34" charset="-122"/>
                          <a:ea typeface="微软雅黑" panose="020B0503020204020204" pitchFamily="34" charset="-122"/>
                        </a:rPr>
                        <a:t>系统的</a:t>
                      </a:r>
                      <a:r>
                        <a:rPr lang="en-US" altLang="zh-CN" sz="1000" dirty="0">
                          <a:solidFill>
                            <a:schemeClr val="tx1"/>
                          </a:solidFill>
                          <a:effectLst/>
                          <a:latin typeface="微软雅黑" panose="020B0503020204020204" pitchFamily="34" charset="-122"/>
                          <a:ea typeface="微软雅黑" panose="020B0503020204020204" pitchFamily="34" charset="-122"/>
                        </a:rPr>
                        <a:t>MBOM</a:t>
                      </a:r>
                      <a:r>
                        <a:rPr lang="zh-CN" altLang="en-US" sz="1000" dirty="0">
                          <a:solidFill>
                            <a:schemeClr val="tx1"/>
                          </a:solidFill>
                          <a:effectLst/>
                          <a:latin typeface="微软雅黑" panose="020B0503020204020204" pitchFamily="34" charset="-122"/>
                          <a:ea typeface="微软雅黑" panose="020B0503020204020204" pitchFamily="34" charset="-122"/>
                        </a:rPr>
                        <a:t>通过</a:t>
                      </a:r>
                      <a:r>
                        <a:rPr lang="en-US" altLang="zh-CN" sz="1000" dirty="0">
                          <a:solidFill>
                            <a:schemeClr val="tx1"/>
                          </a:solidFill>
                          <a:effectLst/>
                          <a:latin typeface="微软雅黑" panose="020B0503020204020204" pitchFamily="34" charset="-122"/>
                          <a:ea typeface="微软雅黑" panose="020B0503020204020204" pitchFamily="34" charset="-122"/>
                        </a:rPr>
                        <a:t>PLM</a:t>
                      </a:r>
                      <a:r>
                        <a:rPr lang="zh-CN" altLang="en-US" sz="1000" dirty="0">
                          <a:solidFill>
                            <a:schemeClr val="tx1"/>
                          </a:solidFill>
                          <a:effectLst/>
                          <a:latin typeface="微软雅黑" panose="020B0503020204020204" pitchFamily="34" charset="-122"/>
                          <a:ea typeface="微软雅黑" panose="020B0503020204020204" pitchFamily="34" charset="-122"/>
                        </a:rPr>
                        <a:t>接口传递到</a:t>
                      </a:r>
                      <a:r>
                        <a:rPr lang="en-US" altLang="zh-CN" sz="1000" dirty="0">
                          <a:solidFill>
                            <a:schemeClr val="tx1"/>
                          </a:solidFill>
                          <a:effectLst/>
                          <a:latin typeface="微软雅黑" panose="020B0503020204020204" pitchFamily="34" charset="-122"/>
                          <a:ea typeface="微软雅黑" panose="020B0503020204020204" pitchFamily="34" charset="-122"/>
                        </a:rPr>
                        <a:t>SAP</a:t>
                      </a:r>
                      <a:r>
                        <a:rPr lang="zh-CN" altLang="en-US" sz="1000" dirty="0">
                          <a:solidFill>
                            <a:schemeClr val="tx1"/>
                          </a:solidFill>
                          <a:effectLst/>
                          <a:latin typeface="微软雅黑" panose="020B0503020204020204" pitchFamily="34" charset="-122"/>
                          <a:ea typeface="微软雅黑" panose="020B0503020204020204" pitchFamily="34" charset="-122"/>
                        </a:rPr>
                        <a:t>系统</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52915">
                <a:tc>
                  <a:txBody>
                    <a:bodyPr/>
                    <a:lstStyle/>
                    <a:p>
                      <a:pPr marL="0" marR="0">
                        <a:buNone/>
                      </a:pPr>
                      <a:r>
                        <a:rPr lang="en-US" altLang="zh-CN" sz="1000" b="1" dirty="0">
                          <a:solidFill>
                            <a:schemeClr val="tx1"/>
                          </a:solidFill>
                          <a:effectLst/>
                          <a:latin typeface="微软雅黑" panose="020B0503020204020204" pitchFamily="34" charset="-122"/>
                          <a:ea typeface="微软雅黑" panose="020B0503020204020204" pitchFamily="34" charset="-122"/>
                        </a:rPr>
                        <a:t>A0639</a:t>
                      </a: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研发费用科目预算进度表 </a:t>
                      </a:r>
                      <a:r>
                        <a:rPr lang="en-US" altLang="zh-CN" sz="1000" dirty="0">
                          <a:solidFill>
                            <a:schemeClr val="tx1"/>
                          </a:solidFill>
                          <a:effectLst/>
                          <a:latin typeface="微软雅黑" panose="020B0503020204020204" pitchFamily="34" charset="-122"/>
                          <a:ea typeface="微软雅黑" panose="020B0503020204020204" pitchFamily="34" charset="-122"/>
                        </a:rPr>
                        <a:t>:  </a:t>
                      </a:r>
                      <a:r>
                        <a:rPr lang="zh-CN" altLang="en-US" sz="1000" dirty="0">
                          <a:solidFill>
                            <a:schemeClr val="tx1"/>
                          </a:solidFill>
                          <a:effectLst/>
                          <a:latin typeface="微软雅黑" panose="020B0503020204020204" pitchFamily="34" charset="-122"/>
                          <a:ea typeface="微软雅黑" panose="020B0503020204020204" pitchFamily="34" charset="-122"/>
                        </a:rPr>
                        <a:t>需求类别：新增需求 </a:t>
                      </a:r>
                      <a:r>
                        <a:rPr lang="en-US" altLang="zh-CN" sz="1000" dirty="0">
                          <a:solidFill>
                            <a:schemeClr val="tx1"/>
                          </a:solidFill>
                          <a:effectLst/>
                          <a:latin typeface="微软雅黑" panose="020B0503020204020204" pitchFamily="34" charset="-122"/>
                          <a:ea typeface="微软雅黑" panose="020B0503020204020204" pitchFamily="34" charset="-122"/>
                        </a:rPr>
                        <a:t>:  </a:t>
                      </a:r>
                      <a:r>
                        <a:rPr lang="zh-CN" altLang="en-US" sz="1000" dirty="0">
                          <a:solidFill>
                            <a:schemeClr val="tx1"/>
                          </a:solidFill>
                          <a:effectLst/>
                          <a:latin typeface="微软雅黑" panose="020B0503020204020204" pitchFamily="34" charset="-122"/>
                          <a:ea typeface="微软雅黑" panose="020B0503020204020204" pitchFamily="34" charset="-122"/>
                        </a:rPr>
                        <a:t>月报</a:t>
                      </a:r>
                      <a:r>
                        <a:rPr lang="en-US" altLang="zh-CN" sz="1000" dirty="0">
                          <a:solidFill>
                            <a:schemeClr val="tx1"/>
                          </a:solidFill>
                          <a:effectLst/>
                          <a:latin typeface="微软雅黑" panose="020B0503020204020204" pitchFamily="34" charset="-122"/>
                          <a:ea typeface="微软雅黑" panose="020B0503020204020204" pitchFamily="34" charset="-122"/>
                        </a:rPr>
                        <a:t>/</a:t>
                      </a:r>
                      <a:r>
                        <a:rPr lang="zh-CN" altLang="en-US" sz="1000" dirty="0">
                          <a:solidFill>
                            <a:schemeClr val="tx1"/>
                          </a:solidFill>
                          <a:effectLst/>
                          <a:latin typeface="微软雅黑" panose="020B0503020204020204" pitchFamily="34" charset="-122"/>
                          <a:ea typeface="微软雅黑" panose="020B0503020204020204" pitchFamily="34" charset="-122"/>
                        </a:rPr>
                        <a:t>季报</a:t>
                      </a:r>
                      <a:r>
                        <a:rPr lang="en-US" altLang="zh-CN" sz="1000" dirty="0">
                          <a:solidFill>
                            <a:schemeClr val="tx1"/>
                          </a:solidFill>
                          <a:effectLst/>
                          <a:latin typeface="微软雅黑" panose="020B0503020204020204" pitchFamily="34" charset="-122"/>
                          <a:ea typeface="微软雅黑" panose="020B0503020204020204" pitchFamily="34" charset="-122"/>
                        </a:rPr>
                        <a:t>/</a:t>
                      </a:r>
                      <a:r>
                        <a:rPr lang="zh-CN" altLang="en-US" sz="1000" dirty="0">
                          <a:solidFill>
                            <a:schemeClr val="tx1"/>
                          </a:solidFill>
                          <a:effectLst/>
                          <a:latin typeface="微软雅黑" panose="020B0503020204020204" pitchFamily="34" charset="-122"/>
                          <a:ea typeface="微软雅黑" panose="020B0503020204020204" pitchFamily="34" charset="-122"/>
                        </a:rPr>
                        <a:t>年报 报表作用</a:t>
                      </a:r>
                      <a:r>
                        <a:rPr lang="en-US" altLang="zh-CN" sz="1000" dirty="0">
                          <a:solidFill>
                            <a:schemeClr val="tx1"/>
                          </a:solidFill>
                          <a:effectLst/>
                          <a:latin typeface="微软雅黑" panose="020B0503020204020204" pitchFamily="34" charset="-122"/>
                          <a:ea typeface="微软雅黑" panose="020B0503020204020204" pitchFamily="34" charset="-122"/>
                        </a:rPr>
                        <a:t>:  </a:t>
                      </a:r>
                      <a:r>
                        <a:rPr lang="zh-CN" altLang="en-US" sz="1000" dirty="0">
                          <a:solidFill>
                            <a:schemeClr val="tx1"/>
                          </a:solidFill>
                          <a:effectLst/>
                          <a:latin typeface="微软雅黑" panose="020B0503020204020204" pitchFamily="34" charset="-122"/>
                          <a:ea typeface="微软雅黑" panose="020B0503020204020204" pitchFamily="34" charset="-122"/>
                        </a:rPr>
                        <a:t>希望可以实现导出每个公司每个月研发科目预算执行数据、进度，方便进行研发费用管控</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b="0" i="0" u="none" strike="noStrike" cap="none" dirty="0">
                          <a:solidFill>
                            <a:schemeClr val="tx1"/>
                          </a:solidFill>
                          <a:effectLst/>
                          <a:latin typeface="微软雅黑" panose="020B0503020204020204" pitchFamily="34" charset="-122"/>
                          <a:ea typeface="微软雅黑" panose="020B0503020204020204" pitchFamily="34" charset="-122"/>
                          <a:cs typeface="+mn-cs"/>
                          <a:sym typeface="Arial" panose="020B0604020202020204"/>
                        </a:rPr>
                        <a:t>财务管理部</a:t>
                      </a:r>
                      <a:endParaRPr lang="zh-CN" altLang="zh-CN" sz="1000" b="0" i="0" u="none" strike="noStrike" cap="none" dirty="0">
                        <a:solidFill>
                          <a:schemeClr val="tx1"/>
                        </a:solidFill>
                        <a:effectLst/>
                        <a:latin typeface="微软雅黑" panose="020B0503020204020204" pitchFamily="34" charset="-122"/>
                        <a:ea typeface="微软雅黑" panose="020B0503020204020204" pitchFamily="34" charset="-122"/>
                        <a:cs typeface="+mn-cs"/>
                        <a:sym typeface="Arial" panose="020B0604020202020204"/>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项目预算管理不纳入本期项目范围，本报表不纳入本期项目实施范围。</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5291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000" b="1" dirty="0">
                          <a:solidFill>
                            <a:schemeClr val="tx1"/>
                          </a:solidFill>
                          <a:effectLst/>
                          <a:latin typeface="微软雅黑" panose="020B0503020204020204" pitchFamily="34" charset="-122"/>
                          <a:ea typeface="微软雅黑" panose="020B0503020204020204" pitchFamily="34" charset="-122"/>
                        </a:rPr>
                        <a:t>A0642</a:t>
                      </a: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高新研发费用台账 </a:t>
                      </a:r>
                      <a:r>
                        <a:rPr lang="en-US" altLang="zh-CN" sz="1000" dirty="0">
                          <a:solidFill>
                            <a:schemeClr val="tx1"/>
                          </a:solidFill>
                          <a:effectLst/>
                          <a:latin typeface="微软雅黑" panose="020B0503020204020204" pitchFamily="34" charset="-122"/>
                          <a:ea typeface="微软雅黑" panose="020B0503020204020204" pitchFamily="34" charset="-122"/>
                        </a:rPr>
                        <a:t>:  </a:t>
                      </a:r>
                      <a:r>
                        <a:rPr lang="zh-CN" altLang="en-US" sz="1000" dirty="0">
                          <a:solidFill>
                            <a:schemeClr val="tx1"/>
                          </a:solidFill>
                          <a:effectLst/>
                          <a:latin typeface="微软雅黑" panose="020B0503020204020204" pitchFamily="34" charset="-122"/>
                          <a:ea typeface="微软雅黑" panose="020B0503020204020204" pitchFamily="34" charset="-122"/>
                        </a:rPr>
                        <a:t>需求类别：新增需求 </a:t>
                      </a:r>
                      <a:r>
                        <a:rPr lang="en-US" altLang="zh-CN" sz="1000" dirty="0">
                          <a:solidFill>
                            <a:schemeClr val="tx1"/>
                          </a:solidFill>
                          <a:effectLst/>
                          <a:latin typeface="微软雅黑" panose="020B0503020204020204" pitchFamily="34" charset="-122"/>
                          <a:ea typeface="微软雅黑" panose="020B0503020204020204" pitchFamily="34" charset="-122"/>
                        </a:rPr>
                        <a:t>:  </a:t>
                      </a:r>
                      <a:r>
                        <a:rPr lang="zh-CN" altLang="en-US" sz="1000" dirty="0">
                          <a:solidFill>
                            <a:schemeClr val="tx1"/>
                          </a:solidFill>
                          <a:effectLst/>
                          <a:latin typeface="微软雅黑" panose="020B0503020204020204" pitchFamily="34" charset="-122"/>
                          <a:ea typeface="微软雅黑" panose="020B0503020204020204" pitchFamily="34" charset="-122"/>
                        </a:rPr>
                        <a:t>月报</a:t>
                      </a:r>
                      <a:r>
                        <a:rPr lang="en-US" altLang="zh-CN" sz="1000" dirty="0">
                          <a:solidFill>
                            <a:schemeClr val="tx1"/>
                          </a:solidFill>
                          <a:effectLst/>
                          <a:latin typeface="微软雅黑" panose="020B0503020204020204" pitchFamily="34" charset="-122"/>
                          <a:ea typeface="微软雅黑" panose="020B0503020204020204" pitchFamily="34" charset="-122"/>
                        </a:rPr>
                        <a:t>/</a:t>
                      </a:r>
                      <a:r>
                        <a:rPr lang="zh-CN" altLang="en-US" sz="1000" dirty="0">
                          <a:solidFill>
                            <a:schemeClr val="tx1"/>
                          </a:solidFill>
                          <a:effectLst/>
                          <a:latin typeface="微软雅黑" panose="020B0503020204020204" pitchFamily="34" charset="-122"/>
                          <a:ea typeface="微软雅黑" panose="020B0503020204020204" pitchFamily="34" charset="-122"/>
                        </a:rPr>
                        <a:t>季报</a:t>
                      </a:r>
                      <a:r>
                        <a:rPr lang="en-US" altLang="zh-CN" sz="1000" dirty="0">
                          <a:solidFill>
                            <a:schemeClr val="tx1"/>
                          </a:solidFill>
                          <a:effectLst/>
                          <a:latin typeface="微软雅黑" panose="020B0503020204020204" pitchFamily="34" charset="-122"/>
                          <a:ea typeface="微软雅黑" panose="020B0503020204020204" pitchFamily="34" charset="-122"/>
                        </a:rPr>
                        <a:t>/</a:t>
                      </a:r>
                      <a:r>
                        <a:rPr lang="zh-CN" altLang="en-US" sz="1000" dirty="0">
                          <a:solidFill>
                            <a:schemeClr val="tx1"/>
                          </a:solidFill>
                          <a:effectLst/>
                          <a:latin typeface="微软雅黑" panose="020B0503020204020204" pitchFamily="34" charset="-122"/>
                          <a:ea typeface="微软雅黑" panose="020B0503020204020204" pitchFamily="34" charset="-122"/>
                        </a:rPr>
                        <a:t>年报 报表作用</a:t>
                      </a:r>
                      <a:r>
                        <a:rPr lang="en-US" altLang="zh-CN" sz="1000" dirty="0">
                          <a:solidFill>
                            <a:schemeClr val="tx1"/>
                          </a:solidFill>
                          <a:effectLst/>
                          <a:latin typeface="微软雅黑" panose="020B0503020204020204" pitchFamily="34" charset="-122"/>
                          <a:ea typeface="微软雅黑" panose="020B0503020204020204" pitchFamily="34" charset="-122"/>
                        </a:rPr>
                        <a:t>:  </a:t>
                      </a:r>
                      <a:r>
                        <a:rPr lang="zh-CN" altLang="en-US" sz="1000" dirty="0">
                          <a:solidFill>
                            <a:schemeClr val="tx1"/>
                          </a:solidFill>
                          <a:effectLst/>
                          <a:latin typeface="微软雅黑" panose="020B0503020204020204" pitchFamily="34" charset="-122"/>
                          <a:ea typeface="微软雅黑" panose="020B0503020204020204" pitchFamily="34" charset="-122"/>
                        </a:rPr>
                        <a:t>按高新台账的要求，自动生成高新费用台账报表（</a:t>
                      </a:r>
                      <a:r>
                        <a:rPr lang="en-US" altLang="zh-CN" sz="1000" dirty="0">
                          <a:solidFill>
                            <a:schemeClr val="tx1"/>
                          </a:solidFill>
                          <a:effectLst/>
                          <a:latin typeface="微软雅黑" panose="020B0503020204020204" pitchFamily="34" charset="-122"/>
                          <a:ea typeface="微软雅黑" panose="020B0503020204020204" pitchFamily="34" charset="-122"/>
                        </a:rPr>
                        <a:t>RD</a:t>
                      </a:r>
                      <a:r>
                        <a:rPr lang="zh-CN" altLang="en-US" sz="1000" dirty="0">
                          <a:solidFill>
                            <a:schemeClr val="tx1"/>
                          </a:solidFill>
                          <a:effectLst/>
                          <a:latin typeface="微软雅黑" panose="020B0503020204020204" pitchFamily="34" charset="-122"/>
                          <a:ea typeface="微软雅黑" panose="020B0503020204020204" pitchFamily="34" charset="-122"/>
                        </a:rPr>
                        <a:t>归集，分</a:t>
                      </a:r>
                      <a:r>
                        <a:rPr lang="en-US" altLang="zh-CN" sz="1000" dirty="0">
                          <a:solidFill>
                            <a:schemeClr val="tx1"/>
                          </a:solidFill>
                          <a:effectLst/>
                          <a:latin typeface="微软雅黑" panose="020B0503020204020204" pitchFamily="34" charset="-122"/>
                          <a:ea typeface="微软雅黑" panose="020B0503020204020204" pitchFamily="34" charset="-122"/>
                        </a:rPr>
                        <a:t>RD</a:t>
                      </a:r>
                      <a:r>
                        <a:rPr lang="zh-CN" altLang="en-US" sz="1000" dirty="0">
                          <a:solidFill>
                            <a:schemeClr val="tx1"/>
                          </a:solidFill>
                          <a:effectLst/>
                          <a:latin typeface="微软雅黑" panose="020B0503020204020204" pitchFamily="34" charset="-122"/>
                          <a:ea typeface="微软雅黑" panose="020B0503020204020204" pitchFamily="34" charset="-122"/>
                        </a:rPr>
                        <a:t>号，对应的科目）</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endParaRPr lang="zh-CN" sz="1000" b="1"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000" b="0" i="0" u="none" strike="noStrike" cap="none" dirty="0">
                          <a:solidFill>
                            <a:schemeClr val="tx1"/>
                          </a:solidFill>
                          <a:effectLst/>
                          <a:latin typeface="微软雅黑" panose="020B0503020204020204" pitchFamily="34" charset="-122"/>
                          <a:ea typeface="微软雅黑" panose="020B0503020204020204" pitchFamily="34" charset="-122"/>
                          <a:cs typeface="+mn-cs"/>
                          <a:sym typeface="Arial" panose="020B0604020202020204"/>
                        </a:rPr>
                        <a:t>财务管理部</a:t>
                      </a:r>
                      <a:endParaRPr lang="zh-CN" altLang="zh-CN" sz="1000" b="0" i="0" u="none" strike="noStrike" cap="none" dirty="0">
                        <a:solidFill>
                          <a:schemeClr val="tx1"/>
                        </a:solidFill>
                        <a:effectLst/>
                        <a:latin typeface="微软雅黑" panose="020B0503020204020204" pitchFamily="34" charset="-122"/>
                        <a:ea typeface="微软雅黑" panose="020B0503020204020204" pitchFamily="34" charset="-122"/>
                        <a:cs typeface="+mn-cs"/>
                        <a:sym typeface="Arial" panose="020B0604020202020204"/>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zh-CN" altLang="en-US" sz="1000" dirty="0">
                          <a:solidFill>
                            <a:schemeClr val="tx1"/>
                          </a:solidFill>
                          <a:effectLst/>
                          <a:latin typeface="微软雅黑" panose="020B0503020204020204" pitchFamily="34" charset="-122"/>
                          <a:ea typeface="微软雅黑" panose="020B0503020204020204" pitchFamily="34" charset="-122"/>
                        </a:rPr>
                        <a:t>提供样表，纳入本期开发。</a:t>
                      </a:r>
                      <a:endParaRPr lang="zh-CN" sz="1000" dirty="0">
                        <a:solidFill>
                          <a:schemeClr val="tx1"/>
                        </a:solidFill>
                        <a:effectLst/>
                        <a:latin typeface="微软雅黑" panose="020B0503020204020204" pitchFamily="34" charset="-122"/>
                        <a:ea typeface="微软雅黑" panose="020B0503020204020204" pitchFamily="34" charset="-122"/>
                      </a:endParaRPr>
                    </a:p>
                  </a:txBody>
                  <a:tcPr marL="59739" marR="59739" marT="29869" marB="298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63648"/>
            <a:ext cx="820738" cy="492443"/>
          </a:xfrm>
        </p:spPr>
        <p:txBody>
          <a:bodyPr/>
          <a:lstStyle/>
          <a:p>
            <a:r>
              <a:rPr lang="zh-CN" altLang="en-US" sz="3200" b="1" dirty="0"/>
              <a:t>谢谢</a:t>
            </a:r>
            <a:endParaRPr sz="3200" b="1" dirty="0"/>
          </a:p>
        </p:txBody>
      </p:sp>
      <p:sp>
        <p:nvSpPr>
          <p:cNvPr id="3" name="Text Placeholder 2"/>
          <p:cNvSpPr>
            <a:spLocks noGrp="1"/>
          </p:cNvSpPr>
          <p:nvPr>
            <p:ph type="body" sz="quarter" idx="11"/>
          </p:nvPr>
        </p:nvSpPr>
        <p:spPr/>
        <p:txBody>
          <a:bodyPr/>
          <a:lstStyle/>
          <a:p>
            <a:endParaRPr/>
          </a:p>
        </p:txBody>
      </p:sp>
      <p:sp>
        <p:nvSpPr>
          <p:cNvPr id="5" name="TextBox 4"/>
          <p:cNvSpPr txBox="1"/>
          <p:nvPr/>
        </p:nvSpPr>
        <p:spPr>
          <a:xfrm>
            <a:off x="457200" y="6144768"/>
            <a:ext cx="8229600" cy="274320"/>
          </a:xfrm>
          <a:prstGeom prst="rect">
            <a:avLst/>
          </a:prstGeom>
          <a:noFill/>
        </p:spPr>
        <p:txBody>
          <a:bodyPr wrap="square">
            <a:spAutoFit/>
          </a:bodyPr>
          <a:lstStyle/>
          <a:p>
            <a:pPr algn="l"/>
            <a:r>
              <a:rPr sz="1000" b="0">
                <a:solidFill>
                  <a:srgbClr val="0073E6"/>
                </a:solidFill>
              </a:rPr>
              <a:t>SAP S/4HANA PCE  |  专项方案 1  |  2026年6月  |  内部文件</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97,&quot;left&quot;:34,&quot;top&quot;:110,&quot;width&quot;:896.0017282081348}"/>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40,&quot;top&quot;:120,&quot;width&quot;:88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5070</Words>
  <Application>Microsoft Office PowerPoint</Application>
  <PresentationFormat>宽屏</PresentationFormat>
  <Paragraphs>339</Paragraphs>
  <Slides>19</Slides>
  <Notes>12</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19</vt:i4>
      </vt:variant>
    </vt:vector>
  </HeadingPairs>
  <TitlesOfParts>
    <vt:vector size="30" baseType="lpstr">
      <vt:lpstr>Biennale</vt:lpstr>
      <vt:lpstr>Biennale Bold</vt:lpstr>
      <vt:lpstr>Biennale Medium</vt:lpstr>
      <vt:lpstr>Noto Sans SC</vt:lpstr>
      <vt:lpstr>Songti SC</vt:lpstr>
      <vt:lpstr>等线</vt:lpstr>
      <vt:lpstr>微软雅黑</vt:lpstr>
      <vt:lpstr>Arial</vt:lpstr>
      <vt:lpstr>Calibri</vt:lpstr>
      <vt:lpstr>Office 主题​​</vt:lpstr>
      <vt:lpstr>默认主题</vt:lpstr>
      <vt:lpstr>PowerPoint 演示文稿</vt:lpstr>
      <vt:lpstr>目录</vt:lpstr>
      <vt:lpstr>研发费用管理方案概述</vt:lpstr>
      <vt:lpstr>研发费用管理：方案总览</vt:lpstr>
      <vt:lpstr>方案详解及系统实现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配套行动计划 </vt:lpstr>
      <vt:lpstr>三阶段实施路径</vt:lpstr>
      <vt:lpstr>附录：相关文档及原始数据</vt:lpstr>
      <vt:lpstr>附录 原始需求清单（14条，P05关联）</vt:lpstr>
      <vt:lpstr>附录 原始需求清单（27条，P05关联）</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FREDLENOVO</dc:creator>
  <cp:lastModifiedBy>2102125624@qq.com</cp:lastModifiedBy>
  <cp:revision>5</cp:revision>
  <dcterms:created xsi:type="dcterms:W3CDTF">2026-08-30T08:09:00Z</dcterms:created>
  <dcterms:modified xsi:type="dcterms:W3CDTF">2026-08-30T14:30:24Z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{"Label":"1","ContentProducer":"001191110102MACQD9K64010000","ProduceID":"7669660511739268281","ReservedCode1":"","ContentPropagator":"","PropagateID":"","ReservedCode2":""}</vt:lpwstr>
  </property>
  <property fmtid="{D5CDD505-2E9C-101B-9397-08002B2CF9AE}" pid="3" name="ICV">
    <vt:lpwstr>45563CAFB4FC9DC9F986866A63E9859F_42</vt:lpwstr>
  </property>
  <property fmtid="{D5CDD505-2E9C-101B-9397-08002B2CF9AE}" pid="4" name="KSOProductBuildVer">
    <vt:lpwstr>2052-12.1.0.28043</vt:lpwstr>
  </property>
</Properties>
</file>