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3"/>
    <p:sldMasterId id="2147483660" r:id="rId4"/>
    <p:sldMasterId id="2157483702" r:id="rId5"/>
  </p:sldMasterIdLst>
  <p:notesMasterIdLst>
    <p:notesMasterId r:id="rId22"/>
  </p:notesMasterIdLst>
  <p:sldIdLst>
    <p:sldId id="256" r:id="rId6"/>
    <p:sldId id="257" r:id="rId7"/>
    <p:sldId id="2186" r:id="rId8"/>
    <p:sldId id="283" r:id="rId9"/>
    <p:sldId id="2180" r:id="rId10"/>
    <p:sldId id="403" r:id="rId11"/>
    <p:sldId id="259" r:id="rId12"/>
    <p:sldId id="260" r:id="rId13"/>
    <p:sldId id="262" r:id="rId14"/>
    <p:sldId id="264" r:id="rId15"/>
    <p:sldId id="404" r:id="rId16"/>
    <p:sldId id="2185" r:id="rId17"/>
    <p:sldId id="405" r:id="rId18"/>
    <p:sldId id="2182" r:id="rId19"/>
    <p:sldId id="2183" r:id="rId20"/>
    <p:sldId id="297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19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225" y="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3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尊敬的各位领导、同事,大家下午好。今天我将向大家汇报我们团队精心设计的"研发费用管理解决方案"。该方案基于全球领先的SAP S/4HANA平台,旨在为企业构建一套端到端的数字化研发管理体系,全面提升研发效率与决策水平。本次汇报将详细阐述项目背景、核心挑战、解决方案、实施路径及预期价值,希望能为大家描绘一幅清晰的数字化转型蓝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本次汇报将分为六个部分。首先,我们将分析项目的背景与目标,明确我们为何要启动这项变革。其次,我们会深入诊断当前研发管理中存在的核心问题。接着,将概述我们基于SAP的整体解决方案。之后,会详细介绍方案的设计细节。第五部分是具体的实施路径与计划。最后,我们将展望该方案能为企业带来的预期收益与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B7099-691F-513A-F09D-2A3DCFFFE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72DA38-AB69-11A3-2227-A6AB14DDB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F1651D-2B51-5F0E-8B74-058A3204B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325EE-CA90-7DD4-FFF7-E96BBAE8D3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8C2C35-2B8A-446E-BEC0-FD36716C29AC}" type="slidenum">
              <a:rPr kumimoji="0" lang="en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4669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2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历史数据：</a:t>
            </a:r>
            <a:r>
              <a:rPr kumimoji="1" lang="zh-CN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设定平行评估激活基准日（如2027年1月1日上线后首个完整月）</a:t>
            </a:r>
            <a:r>
              <a:rPr kumimoji="1"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kumimoji="1" lang="zh-CN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基准日前的历史数据不回填</a:t>
            </a:r>
            <a:r>
              <a:rPr kumimoji="1"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kumimoji="1" lang="en-US" altLang="zh-CN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zh-CN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各部门</a:t>
            </a:r>
            <a:r>
              <a:rPr kumimoji="1" lang="zh-CN" altLang="en-US" sz="1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抵触：统一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业务变革：</a:t>
            </a:r>
            <a:endParaRPr kumimoji="1" lang="en-US" altLang="zh-CN" dirty="0"/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判断1：这不是SAP实施项目，是一次利益格局重塑。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佛照内部加价制造的"虚拟利润池"按保守估算约为集团真实扣非净利润的2-3倍量级。一旦启动消除，任何BU的账面利润变化都不是小数点之争，而是生死线的争夺。技术方案再完美，如果集团高层不愿意在年终奖分配上做出强制性决定，整个方案将在执行层被稀释为"系统里跑三套数字，考核还是按老逻辑"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判断2：标准成本方向是对的，但前提条件被严重低估。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标准成本+平行评估的组合是S/4HANA上的正确架构，SAP技术层面完全支持。但佛照有两个硬约束：LED芯片等核心原材料年波动可达20-40%，若标准成本年度冻结，Price Variance可能吃掉全年利润；车灯（燎旺）高度客制化，强套标准成本会产生大量无意义差异。这两个问题不解决，标准成本体系上线即失信。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判断3：0.95%净利率是变革的最佳窗口，也是最大风险来源。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薄利倒逼透明化是有利时机，管理层被迫正视成本真相。但同时，容错空间几乎为零——如果标准成本制定错误导致BU绩效失真，在如此薄利状态下任何决策偏差都可能直接亏损。数据准备和标准成本核定的精度要求，比财务健康期高一个数量级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判断4：路径C（双轨KPI权重逐步迁移）是当前唯一可行路径，但"执行死结"在Year 2节点。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路径A（完全集团成本考核）理想但不可落地；路径B（保留法律实体利润+集团视角仅供参考）换汤不换药。路径C可行，但历史上类似改革最常见的失败模式是：Year 1顺利，Year 2权重调整时受损BU重启抵制，高层松动，改革被锁定在"Year 1状态"永远不推进。这个节点必须提前设计防御机制。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A415C3-E7E8-ED47-896B-87929403F899}" type="slidenum">
              <a:rPr kumimoji="0" lang="en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1235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具体来说,我们当前面临三大核心挑战。第一,创新效率瓶颈,产品上市周期长,跨部门协作效率低下。第二,数据孤岛严重,研发、生产、财务系统各自为政,信息无法有效流转,导致决策滞后。第三,成本核算粗放,尤其是共用资源的分摊问题,使得我们无法准确衡量每个研发项目的真实投入和产出,这直接影响了我们的决策质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为了应对这些挑战,我们设定了四大核心目标。首先,建立一个统一的研发管理平台,打破部门壁垒。其次,实现研发费用的精细化核算,确保数据的准确性和合规性。第三,强化项目过程管控,让项目进度和成本一目了然。最后,构建数据驱动的决策支持体系,让数据真正成为我们决策的依据,而不是凭感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我们总结了四大核心痛点。第一,核算体系复杂,不同口径的要求导致大量手工调整。第二,共用资源分摊困难,尤其是设备折旧和人工成本,这是长期困扰我们的难题。第三,试产阶段的管理非常复杂,费用化和资本化的边界模糊,成本追溯困难。第四,业务与财务严重脱节,项目管理和财务核算各成体系,无法形成合力。这些问题相互交织,严重制约了我们研发管理水平的提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我们的解决方案框架是一个全流程集成的闭环管理体系。技术上,我们以SAP S/4HANA为核心,整合云PLM,并通过BTP平台实现灵活扩展。业务流程上,我们为研发的不同阶段设计了不同的核算载体:预研阶段用成本中心,立项阶段用内部订单,试产阶段用生产订单,并通过统计型内部订单将所有投入汇总,最终实现从投入到产出的ROI分析,形成完整的管理闭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84C76-04B2-FD32-19EB-CF7763E6F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C97D82-5B65-9C1E-B1FE-295DE52BC2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CA6DC2-8340-4128-98AD-8F5436B3660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2961AD2-4A89-EF3C-2776-04AD6D3790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F75912A-D520-54BB-0FF5-6790D43E00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我们的解决方案框架是一个全流程集成的闭环管理体系。技术上,我们以SAP S/4HANA为核心,整合云PLM,并通过BTP平台实现灵活扩展。业务流程上,我们为研发的不同阶段设计了不同的核算载体:预研阶段用成本中心,立项阶段用内部订单,试产阶段用生产订单,并通过统计型内部订单将所有投入汇总,最终实现从投入到产出的ROI分析,形成完整的管理闭环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D0F7D5-4F57-3EA2-C82E-9793A8D8861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F0B93-79C3-6EF3-73F4-9E8E2DE58B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454820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A415C3-E7E8-ED47-896B-87929403F899}" type="slidenum">
              <a:rPr kumimoji="0" lang="en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8978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emf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8625" y="6507907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anose="020B0604030504040204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t>‹#›</a:t>
            </a:fld>
            <a:endParaRPr lang="nl-NL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5975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90098" y="389618"/>
            <a:ext cx="1376980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Graphique 10"/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6976" y="1866946"/>
            <a:ext cx="7094047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3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2936906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>
            <a:extLst>
              <a:ext uri="{FF2B5EF4-FFF2-40B4-BE49-F238E27FC236}">
                <a16:creationId xmlns:a16="http://schemas.microsoft.com/office/drawing/2014/main" id="{A9E4E46B-8E80-22D6-A4AA-962991575A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068" y="2415203"/>
            <a:ext cx="5486400" cy="1828800"/>
          </a:xfrm>
        </p:spPr>
        <p:txBody>
          <a:bodyPr anchor="t"/>
          <a:lstStyle>
            <a:lvl1pPr>
              <a:spcAft>
                <a:spcPts val="300"/>
              </a:spcAft>
              <a:defRPr lang="en-US" sz="4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4B312D9-45D5-76C3-38DD-AA18B93BFB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3068" y="3138594"/>
            <a:ext cx="5486400" cy="1216152"/>
          </a:xfrm>
        </p:spPr>
        <p:txBody>
          <a:bodyPr/>
          <a:lstStyle>
            <a:lvl1pPr marL="0" indent="0">
              <a:buNone/>
              <a:defRPr sz="36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7D2D5D63-E8BA-926E-F60F-3C489D1CF7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068" y="4771707"/>
            <a:ext cx="3657600" cy="640080"/>
          </a:xfrm>
        </p:spPr>
        <p:txBody>
          <a:bodyPr/>
          <a:lstStyle>
            <a:lvl1pPr marL="0" indent="0">
              <a:buNone/>
              <a:defRPr lang="en-US" sz="160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1" name="AddCustomFooter#1">
            <a:extLst>
              <a:ext uri="{FF2B5EF4-FFF2-40B4-BE49-F238E27FC236}">
                <a16:creationId xmlns:a16="http://schemas.microsoft.com/office/drawing/2014/main" id="{F39EB0DD-D0DC-DA16-5E5D-31E1423EEE20}"/>
              </a:ext>
            </a:extLst>
          </p:cNvPr>
          <p:cNvSpPr txBox="1"/>
          <p:nvPr userDrawn="1"/>
        </p:nvSpPr>
        <p:spPr bwMode="gray">
          <a:xfrm>
            <a:off x="423068" y="6391780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© Atos  Group</a:t>
            </a:r>
            <a:endParaRPr lang="nl-NL" sz="900" baseline="0">
              <a:solidFill>
                <a:schemeClr val="accent3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A244C200-9183-F55D-E6CC-770D8E368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2952" y="0"/>
            <a:ext cx="6099048" cy="6858000"/>
          </a:xfrm>
        </p:spPr>
        <p:txBody>
          <a:bodyPr tIns="914400" bIns="0" anchor="ctr"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453998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0FEDF7D-16CB-CED7-A7AF-90CBDF7D6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35715C9-752F-27C5-8AC2-5672C84C6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507907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E1CA85C-6201-B8A4-E228-2E44846E12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9812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ep Blue 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0FEDF7D-16CB-CED7-A7AF-90CBDF7D6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35715C9-752F-27C5-8AC2-5672C84C6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bg1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AddCustomFooter#1">
            <a:extLst>
              <a:ext uri="{FF2B5EF4-FFF2-40B4-BE49-F238E27FC236}">
                <a16:creationId xmlns:a16="http://schemas.microsoft.com/office/drawing/2014/main" id="{9E621BAA-298E-0A96-9DAD-9537810468A3}"/>
              </a:ext>
            </a:extLst>
          </p:cNvPr>
          <p:cNvSpPr txBox="1"/>
          <p:nvPr userDrawn="1"/>
        </p:nvSpPr>
        <p:spPr bwMode="gray">
          <a:xfrm>
            <a:off x="428625" y="6420355"/>
            <a:ext cx="12795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	|	 © Atos Group </a:t>
            </a:r>
            <a:endParaRPr lang="nl-NL" sz="900" baseline="0">
              <a:solidFill>
                <a:schemeClr val="bg1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Graphique 10" descr="Atos logo">
            <a:extLst>
              <a:ext uri="{FF2B5EF4-FFF2-40B4-BE49-F238E27FC236}">
                <a16:creationId xmlns:a16="http://schemas.microsoft.com/office/drawing/2014/main" id="{290DD583-0438-8BA3-4FC8-30C7186F1307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07795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D257223-1877-0216-0C14-9CA40A26B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703638" y="0"/>
            <a:ext cx="9768784" cy="6858000"/>
            <a:chOff x="1703638" y="0"/>
            <a:chExt cx="9768784" cy="6858000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5A34858E-D148-7198-C034-ACB6341C8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flipH="1" flipV="1">
              <a:off x="6588030" y="0"/>
              <a:ext cx="4884392" cy="4884392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D700F83A-91AD-A010-303E-88AA5DEB0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b="59594"/>
            <a:stretch/>
          </p:blipFill>
          <p:spPr>
            <a:xfrm>
              <a:off x="1703638" y="4884393"/>
              <a:ext cx="4884392" cy="1973607"/>
            </a:xfrm>
            <a:prstGeom prst="rect">
              <a:avLst/>
            </a:prstGeom>
          </p:spPr>
        </p:pic>
      </p:grpSp>
      <p:sp>
        <p:nvSpPr>
          <p:cNvPr id="3" name="Title 4">
            <a:extLst>
              <a:ext uri="{FF2B5EF4-FFF2-40B4-BE49-F238E27FC236}">
                <a16:creationId xmlns:a16="http://schemas.microsoft.com/office/drawing/2014/main" id="{2BFDF0E7-1C79-FBA3-FBFE-0F62B0F09A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5" y="1196367"/>
            <a:ext cx="5852160" cy="1554480"/>
          </a:xfrm>
        </p:spPr>
        <p:txBody>
          <a:bodyPr anchor="b"/>
          <a:lstStyle>
            <a:lvl1pPr>
              <a:spcAft>
                <a:spcPts val="300"/>
              </a:spcAft>
              <a:defRPr lang="en-US" sz="48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Chapter title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B9E067F1-2180-52EC-D9AF-DC18F8C4B4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5" y="2748074"/>
            <a:ext cx="5852160" cy="1216152"/>
          </a:xfrm>
        </p:spPr>
        <p:txBody>
          <a:bodyPr/>
          <a:lstStyle>
            <a:lvl1pPr marL="0" indent="0">
              <a:buNone/>
              <a:defRPr sz="3600">
                <a:solidFill>
                  <a:srgbClr val="3DC7FF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" name="Graphique 10" descr="Atos logo">
            <a:extLst>
              <a:ext uri="{FF2B5EF4-FFF2-40B4-BE49-F238E27FC236}">
                <a16:creationId xmlns:a16="http://schemas.microsoft.com/office/drawing/2014/main" id="{709BCC25-10DB-D648-02CE-B89CE7D50AA6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30259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99553CC-D1FC-0BF8-65E8-622A9A5984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5" y="1189363"/>
            <a:ext cx="5370060" cy="1231106"/>
          </a:xfrm>
        </p:spPr>
        <p:txBody>
          <a:bodyPr wrap="none" anchor="ctr">
            <a:spAutoFit/>
          </a:bodyPr>
          <a:lstStyle>
            <a:lvl1pPr algn="l">
              <a:lnSpc>
                <a:spcPct val="100000"/>
              </a:lnSpc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3" name="AddNotifier#1">
            <a:extLst>
              <a:ext uri="{FF2B5EF4-FFF2-40B4-BE49-F238E27FC236}">
                <a16:creationId xmlns:a16="http://schemas.microsoft.com/office/drawing/2014/main" id="{DEB32E4C-FD35-01ED-4923-78A44A2BBA63}"/>
              </a:ext>
            </a:extLst>
          </p:cNvPr>
          <p:cNvSpPr txBox="1">
            <a:spLocks noChangeArrowheads="1"/>
          </p:cNvSpPr>
          <p:nvPr userDrawn="1"/>
        </p:nvSpPr>
        <p:spPr bwMode="invGray">
          <a:xfrm>
            <a:off x="428625" y="5422415"/>
            <a:ext cx="338328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 anchorCtr="0"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US" sz="800" kern="1200" baseline="0">
                <a:solidFill>
                  <a:schemeClr val="accent3"/>
                </a:solidFill>
                <a:latin typeface="+mn-lt"/>
                <a:ea typeface="Verdana" pitchFamily="34" charset="0"/>
                <a:cs typeface="Verdana" pitchFamily="34" charset="0"/>
              </a:rPr>
              <a:t>Atos is a registered trademark of Atos SE.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800" baseline="0">
              <a:solidFill>
                <a:schemeClr val="accent3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EB50BEC9-5EE0-B57E-CAE5-7C3F4E023F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8625" y="6316314"/>
            <a:ext cx="2560320" cy="92333"/>
          </a:xfrm>
        </p:spPr>
        <p:txBody>
          <a:bodyPr wrap="none" anchor="ctr">
            <a:noAutofit/>
          </a:bodyPr>
          <a:lstStyle>
            <a:lvl1pPr marL="0" indent="0">
              <a:spcAft>
                <a:spcPts val="0"/>
              </a:spcAft>
              <a:buNone/>
              <a:defRPr sz="600">
                <a:solidFill>
                  <a:schemeClr val="accent3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Job Number-Designer-BP</a:t>
            </a:r>
          </a:p>
        </p:txBody>
      </p:sp>
      <p:sp>
        <p:nvSpPr>
          <p:cNvPr id="2" name="AddCustomFooter#1">
            <a:extLst>
              <a:ext uri="{FF2B5EF4-FFF2-40B4-BE49-F238E27FC236}">
                <a16:creationId xmlns:a16="http://schemas.microsoft.com/office/drawing/2014/main" id="{148CD210-AEE5-E817-AEC9-A7C881D1EE4E}"/>
              </a:ext>
            </a:extLst>
          </p:cNvPr>
          <p:cNvSpPr txBox="1"/>
          <p:nvPr userDrawn="1"/>
        </p:nvSpPr>
        <p:spPr bwMode="gray">
          <a:xfrm>
            <a:off x="5884404" y="6391780"/>
            <a:ext cx="423193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© Atos </a:t>
            </a:r>
            <a:endParaRPr lang="nl-NL" sz="900" baseline="0">
              <a:solidFill>
                <a:schemeClr val="accent3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Graphique 10" descr="Atos logo">
            <a:extLst>
              <a:ext uri="{FF2B5EF4-FFF2-40B4-BE49-F238E27FC236}">
                <a16:creationId xmlns:a16="http://schemas.microsoft.com/office/drawing/2014/main" id="{3853EE69-6ADE-F322-8014-F5E83A8E8155}"/>
              </a:ext>
            </a:extLst>
          </p:cNvPr>
          <p:cNvSpPr/>
          <p:nvPr userDrawn="1"/>
        </p:nvSpPr>
        <p:spPr>
          <a:xfrm>
            <a:off x="9848292" y="5921362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45032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55AB8-B6EC-4304-ABBB-CA0A4399AC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3548" y="164637"/>
            <a:ext cx="11436096" cy="338554"/>
          </a:xfrm>
        </p:spPr>
        <p:txBody>
          <a:bodyPr/>
          <a:lstStyle/>
          <a:p>
            <a:pPr lvl="0"/>
            <a:r>
              <a:rPr lang="en-US"/>
              <a:t>Title in </a:t>
            </a:r>
            <a:r>
              <a:rPr lang="en-US" err="1"/>
              <a:t>Raleway</a:t>
            </a:r>
            <a:r>
              <a:rPr lang="en-US"/>
              <a:t> </a:t>
            </a:r>
            <a:r>
              <a:rPr lang="en-US" err="1"/>
              <a:t>SemiBold</a:t>
            </a:r>
            <a:r>
              <a:rPr lang="en-US"/>
              <a:t> 20pt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FC3B6DC-AAAC-4B11-9BD4-A2E99D2BCB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3547" y="556610"/>
            <a:ext cx="11436096" cy="580529"/>
          </a:xfrm>
        </p:spPr>
        <p:txBody>
          <a:bodyPr/>
          <a:lstStyle>
            <a:lvl1pPr marL="0" indent="0">
              <a:buNone/>
              <a:defRPr sz="2133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 in </a:t>
            </a:r>
            <a:r>
              <a:rPr lang="en-US" err="1"/>
              <a:t>Raleway</a:t>
            </a:r>
            <a:r>
              <a:rPr lang="en-US"/>
              <a:t> </a:t>
            </a:r>
            <a:r>
              <a:rPr lang="en-US" err="1"/>
              <a:t>SemiBold</a:t>
            </a:r>
            <a:r>
              <a:rPr lang="en-US"/>
              <a:t> 16pt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0D860FF-1E07-729E-ADC9-9B961C40C5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6819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F2588EFC-544B-492D-10E8-E969C9B1A6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17917" y="1285493"/>
            <a:ext cx="1545853" cy="1545853"/>
          </a:xfrm>
          <a:prstGeom prst="rect">
            <a:avLst/>
          </a:prstGeom>
        </p:spPr>
      </p:pic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EB2A93CD-4E60-C2E9-EE37-CFC445B9D3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54745" y="1446367"/>
            <a:ext cx="34304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6BFBFE4-3CDD-23F5-5639-8F25B2D893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74348" y="1446367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D66C32D-F14A-D598-9CED-1AF6762A5E2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06268" y="1446367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FE67F222-8BC0-46DB-0488-4EFFFFE164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54745" y="2713569"/>
            <a:ext cx="395942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52699D8-D4CF-B3B4-D06A-47981000D2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74348" y="2713569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411306F5-4519-15CD-866F-5F4A7FC4C9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06268" y="2713569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B9B68E34-011E-4CB0-CFE2-2D2A0AF2BC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54745" y="3980771"/>
            <a:ext cx="397545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03812F58-59AE-88D3-CF8A-79FDF44771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74348" y="3980771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3AD46A4C-C28D-01F8-4B53-BCEDBF34EB6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406268" y="3980771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10CF91A1-2C65-DDC3-7FB0-57869A82B88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54745" y="5247973"/>
            <a:ext cx="403957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2D5BC83D-861C-952F-D7CF-4FD8BE97017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674348" y="5247973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43CF118A-3D43-543B-9127-40269BE2CD9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406268" y="5247973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6BB2E32-37FB-AE7E-618C-B4D4A78DA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507907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014590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7741184-CEE4-C170-931A-840437984D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302210-FED6-EC27-EEF4-6A84A8ECF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098" y="389618"/>
            <a:ext cx="1376980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0F5AF71-3625-304B-2633-DA8784159D71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6976" y="1866946"/>
            <a:ext cx="7094047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3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26733858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wo curv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52CDB108-6598-0C55-80C9-43F0EA8BD0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6588030" y="0"/>
            <a:ext cx="4884392" cy="488439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08434B2-C000-651C-6DD8-76477D020A4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59594"/>
          <a:stretch/>
        </p:blipFill>
        <p:spPr>
          <a:xfrm>
            <a:off x="1703638" y="4884393"/>
            <a:ext cx="4884392" cy="1973607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8CB20BB-49E5-8891-61BA-66B2BCA33F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8625" y="4765675"/>
            <a:ext cx="3992904" cy="969962"/>
          </a:xfrm>
        </p:spPr>
        <p:txBody>
          <a:bodyPr wrap="none">
            <a:noAutofit/>
          </a:bodyPr>
          <a:lstStyle>
            <a:lvl1pPr marL="0" indent="0" algn="l">
              <a:spcAft>
                <a:spcPts val="0"/>
              </a:spcAft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90DB5EA-F397-D75A-9B05-13145E2FB4AB}"/>
              </a:ext>
            </a:extLst>
          </p:cNvPr>
          <p:cNvSpPr>
            <a:spLocks noChangeAspect="1"/>
          </p:cNvSpPr>
          <p:nvPr userDrawn="1"/>
        </p:nvSpPr>
        <p:spPr>
          <a:xfrm>
            <a:off x="9848292" y="5921362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65EE574-D841-BFEE-2ABF-3A7979EE97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1456679"/>
            <a:ext cx="6766560" cy="1844936"/>
          </a:xfrm>
        </p:spPr>
        <p:txBody>
          <a:bodyPr/>
          <a:lstStyle>
            <a:lvl1pPr marL="0" indent="0">
              <a:spcAft>
                <a:spcPts val="300"/>
              </a:spcAft>
              <a:buNone/>
              <a:defRPr sz="4400">
                <a:solidFill>
                  <a:schemeClr val="bg1"/>
                </a:solidFill>
                <a:latin typeface="+mj-lt"/>
              </a:defRPr>
            </a:lvl1pPr>
            <a:lvl2pPr marL="0" indent="0">
              <a:spcAft>
                <a:spcPts val="300"/>
              </a:spcAft>
              <a:buNone/>
              <a:defRPr sz="3200" baseline="0">
                <a:solidFill>
                  <a:schemeClr val="accent3"/>
                </a:solidFill>
                <a:latin typeface="+mj-lt"/>
              </a:defRPr>
            </a:lvl2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E0E37F3-8269-71CC-D3D1-3A51C3618C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8625" y="2084535"/>
            <a:ext cx="6766560" cy="121708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7766023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中文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ildergebnis fÃ¼r industrie 4.0 futuristisch">
            <a:extLst>
              <a:ext uri="{FF2B5EF4-FFF2-40B4-BE49-F238E27FC236}">
                <a16:creationId xmlns:a16="http://schemas.microsoft.com/office/drawing/2014/main" id="{CC803DD5-BCD9-4D75-85D5-025E5354ED3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81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hteck 24">
            <a:extLst>
              <a:ext uri="{FF2B5EF4-FFF2-40B4-BE49-F238E27FC236}">
                <a16:creationId xmlns:a16="http://schemas.microsoft.com/office/drawing/2014/main" id="{E8E63726-F274-4B91-A5DE-2B04CF3D1750}"/>
              </a:ext>
            </a:extLst>
          </p:cNvPr>
          <p:cNvSpPr/>
          <p:nvPr userDrawn="1"/>
        </p:nvSpPr>
        <p:spPr>
          <a:xfrm>
            <a:off x="-4" y="0"/>
            <a:ext cx="12192000" cy="6881005"/>
          </a:xfrm>
          <a:prstGeom prst="rect">
            <a:avLst/>
          </a:prstGeom>
          <a:gradFill>
            <a:gsLst>
              <a:gs pos="42000">
                <a:schemeClr val="tx1">
                  <a:lumMod val="0"/>
                  <a:lumOff val="100000"/>
                </a:schemeClr>
              </a:gs>
              <a:gs pos="100000">
                <a:schemeClr val="bg1">
                  <a:alpha val="6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>
              <a:latin typeface="Verdana"/>
            </a:endParaRPr>
          </a:p>
        </p:txBody>
      </p:sp>
      <p:sp>
        <p:nvSpPr>
          <p:cNvPr id="5" name="object 2"/>
          <p:cNvSpPr/>
          <p:nvPr userDrawn="1"/>
        </p:nvSpPr>
        <p:spPr>
          <a:xfrm>
            <a:off x="5" y="6503027"/>
            <a:ext cx="390617" cy="0"/>
          </a:xfrm>
          <a:custGeom>
            <a:avLst/>
            <a:gdLst/>
            <a:ahLst/>
            <a:cxnLst/>
            <a:rect l="l" t="t" r="r" b="b"/>
            <a:pathLst>
              <a:path w="293370">
                <a:moveTo>
                  <a:pt x="0" y="0"/>
                </a:moveTo>
                <a:lnTo>
                  <a:pt x="293268" y="0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2"/>
          <p:cNvSpPr/>
          <p:nvPr userDrawn="1"/>
        </p:nvSpPr>
        <p:spPr>
          <a:xfrm>
            <a:off x="5" y="518500"/>
            <a:ext cx="390617" cy="0"/>
          </a:xfrm>
          <a:custGeom>
            <a:avLst/>
            <a:gdLst/>
            <a:ahLst/>
            <a:cxnLst/>
            <a:rect l="l" t="t" r="r" b="b"/>
            <a:pathLst>
              <a:path w="293370">
                <a:moveTo>
                  <a:pt x="0" y="0"/>
                </a:moveTo>
                <a:lnTo>
                  <a:pt x="293268" y="0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Picture 1" descr="Trusted Digital Partner w- Atos Logo blue blk.png">
            <a:extLst>
              <a:ext uri="{FF2B5EF4-FFF2-40B4-BE49-F238E27FC236}">
                <a16:creationId xmlns:a16="http://schemas.microsoft.com/office/drawing/2014/main" id="{F7A722DF-422F-4247-B41C-60932DE1D8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70283" y="6294153"/>
            <a:ext cx="960924" cy="31797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36A21E8-E7FA-4143-A68F-832F81B11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87" y="222339"/>
            <a:ext cx="11655040" cy="756000"/>
          </a:xfrm>
          <a:prstGeom prst="rect">
            <a:avLst/>
          </a:prstGeom>
        </p:spPr>
        <p:txBody>
          <a:bodyPr/>
          <a:lstStyle>
            <a:lvl1pPr>
              <a:defRPr sz="2933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defRPr>
            </a:lvl1pPr>
          </a:lstStyle>
          <a:p>
            <a:endParaRPr lang="nl-N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0E02A5-0C35-4763-B0E6-261F90A1E50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988" y="6424099"/>
            <a:ext cx="2180299" cy="114767"/>
          </a:xfrm>
          <a:prstGeom prst="rect">
            <a:avLst/>
          </a:prstGeom>
        </p:spPr>
      </p:pic>
      <p:sp>
        <p:nvSpPr>
          <p:cNvPr id="13" name="Text Box 5">
            <a:extLst>
              <a:ext uri="{FF2B5EF4-FFF2-40B4-BE49-F238E27FC236}">
                <a16:creationId xmlns:a16="http://schemas.microsoft.com/office/drawing/2014/main" id="{E2DECC81-7758-4FBB-9420-3AAB334AA1C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16213" y="6276266"/>
            <a:ext cx="825500" cy="339793"/>
          </a:xfrm>
          <a:prstGeom prst="rect">
            <a:avLst/>
          </a:prstGeom>
          <a:noFill/>
          <a:ln>
            <a:noFill/>
          </a:ln>
        </p:spPr>
        <p:txBody>
          <a:bodyPr lIns="133359" tIns="66685" rIns="133359" bIns="66685" anchor="ctr">
            <a:spAutoFit/>
          </a:bodyPr>
          <a:lstStyle>
            <a:lvl1pPr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1pPr>
            <a:lvl2pPr marL="742950" indent="-28575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2pPr>
            <a:lvl3pPr marL="11430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3pPr>
            <a:lvl4pPr marL="16002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4pPr>
            <a:lvl5pPr marL="20574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5pPr>
            <a:lvl6pPr marL="25146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6pPr>
            <a:lvl7pPr marL="29718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7pPr>
            <a:lvl8pPr marL="34290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8pPr>
            <a:lvl9pPr marL="38862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9313" algn="l"/>
                <a:tab pos="4238625" algn="l"/>
                <a:tab pos="5083175" algn="l"/>
                <a:tab pos="5934075" algn="l"/>
                <a:tab pos="6778625" algn="l"/>
                <a:tab pos="7627938" algn="l"/>
                <a:tab pos="8474075" algn="l"/>
                <a:tab pos="9317038" algn="l"/>
              </a:tabLst>
              <a:defRPr sz="2400">
                <a:solidFill>
                  <a:schemeClr val="tx1"/>
                </a:solidFill>
                <a:latin typeface="Lucida Sans Unicode" pitchFamily="34" charset="0"/>
                <a:ea typeface="MS PGothic" pitchFamily="34" charset="-128"/>
              </a:defRPr>
            </a:lvl9pPr>
          </a:lstStyle>
          <a:p>
            <a:pPr algn="r" eaLnBrk="1" hangingPunct="1">
              <a:spcBef>
                <a:spcPts val="617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6632A639-65F6-44E7-9705-34D092A42112}" type="slidenum">
              <a:rPr lang="en-US" sz="1333" smtClean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+mn-cs"/>
              </a:rPr>
              <a:pPr algn="r" eaLnBrk="1" hangingPunct="1">
                <a:spcBef>
                  <a:spcPts val="617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 sz="1333">
              <a:solidFill>
                <a:schemeClr val="accent1"/>
              </a:solidFill>
              <a:latin typeface="+mj-lt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37218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0400" y="6326136"/>
            <a:ext cx="591024" cy="288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320400" y="164637"/>
            <a:ext cx="11632251" cy="960107"/>
          </a:xfrm>
        </p:spPr>
        <p:txBody>
          <a:bodyPr lIns="0" rIns="0"/>
          <a:lstStyle>
            <a:lvl1pPr>
              <a:defRPr sz="2400">
                <a:solidFill>
                  <a:srgbClr val="0066A1"/>
                </a:solidFill>
              </a:defRPr>
            </a:lvl1pPr>
          </a:lstStyle>
          <a:p>
            <a:r>
              <a:rPr lang="en-US" dirty="0"/>
              <a:t>Click to edit the header</a:t>
            </a:r>
          </a:p>
        </p:txBody>
      </p:sp>
    </p:spTree>
    <p:extLst>
      <p:ext uri="{BB962C8B-B14F-4D97-AF65-F5344CB8AC3E}">
        <p14:creationId xmlns:p14="http://schemas.microsoft.com/office/powerpoint/2010/main" val="38428635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One column -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 with low confidence">
            <a:extLst>
              <a:ext uri="{FF2B5EF4-FFF2-40B4-BE49-F238E27FC236}">
                <a16:creationId xmlns:a16="http://schemas.microsoft.com/office/drawing/2014/main" id="{7D9EE093-55A3-29E0-7972-5D36134367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83AB2C97-AE85-490F-AD5D-C7F886D3B38F}"/>
              </a:ext>
            </a:extLst>
          </p:cNvPr>
          <p:cNvSpPr>
            <a:spLocks noGrp="1"/>
          </p:cNvSpPr>
          <p:nvPr>
            <p:ph type="title"/>
          </p:nvPr>
        </p:nvSpPr>
        <p:spPr bwMode="invGray">
          <a:xfrm>
            <a:off x="316799" y="471915"/>
            <a:ext cx="11484000" cy="343237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2200">
                <a:solidFill>
                  <a:srgbClr val="000000"/>
                </a:solidFill>
                <a:latin typeface="Montserrat Bold" panose="000008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E380AB4-E463-44B5-BF13-CB409ADD4E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invGray">
          <a:xfrm>
            <a:off x="316799" y="830931"/>
            <a:ext cx="11484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CCDFC35-BF4B-36FA-747E-8D51735094C5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338" y="6261619"/>
            <a:ext cx="1111378" cy="198900"/>
          </a:xfrm>
          <a:prstGeom prst="rect">
            <a:avLst/>
          </a:prstGeom>
        </p:spPr>
      </p:pic>
      <p:sp>
        <p:nvSpPr>
          <p:cNvPr id="4" name="Slide Number Placeholder 10">
            <a:extLst>
              <a:ext uri="{FF2B5EF4-FFF2-40B4-BE49-F238E27FC236}">
                <a16:creationId xmlns:a16="http://schemas.microsoft.com/office/drawing/2014/main" id="{0782D689-7655-E54B-5AF8-A11200745C10}"/>
              </a:ext>
            </a:extLst>
          </p:cNvPr>
          <p:cNvSpPr txBox="1">
            <a:spLocks/>
          </p:cNvSpPr>
          <p:nvPr userDrawn="1"/>
        </p:nvSpPr>
        <p:spPr>
          <a:xfrm>
            <a:off x="11429230" y="6298599"/>
            <a:ext cx="458064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NL"/>
            </a:defPPr>
            <a:lvl1pPr marL="0" algn="l" defTabSz="914400" rtl="0" eaLnBrk="1" latinLnBrk="0" hangingPunct="1">
              <a:defRPr lang="nl-NL" sz="1200" kern="1200" smtClean="0">
                <a:solidFill>
                  <a:srgbClr val="FF6D43"/>
                </a:solidFill>
                <a:latin typeface="Montserrat SemiBold" pitchFamily="2" charset="0"/>
                <a:ea typeface="Verdana" pitchFamily="34" charset="0"/>
                <a:cs typeface="Montserrat SemiBold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AF489CC-3B7A-4DA5-A8C0-4984788D0EC5}" type="slidenum">
              <a:rPr lang="en-IN" smtClean="0"/>
              <a:pPr algn="r"/>
              <a:t>‹#›</a:t>
            </a:fld>
            <a:endParaRPr lang="en-IN"/>
          </a:p>
        </p:txBody>
      </p:sp>
      <p:sp>
        <p:nvSpPr>
          <p:cNvPr id="5" name="AddCustomFooter#1">
            <a:extLst>
              <a:ext uri="{FF2B5EF4-FFF2-40B4-BE49-F238E27FC236}">
                <a16:creationId xmlns:a16="http://schemas.microsoft.com/office/drawing/2014/main" id="{1D6B7308-D40A-31F4-FFCB-AB8092B9A567}"/>
              </a:ext>
            </a:extLst>
          </p:cNvPr>
          <p:cNvSpPr txBox="1"/>
          <p:nvPr userDrawn="1"/>
        </p:nvSpPr>
        <p:spPr bwMode="invGray">
          <a:xfrm>
            <a:off x="5793038" y="6384973"/>
            <a:ext cx="605935" cy="10002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90500" algn="l"/>
              </a:tabLst>
              <a:defRPr/>
            </a:pPr>
            <a:r>
              <a:rPr kumimoji="0" lang="en-US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© </a:t>
            </a:r>
            <a:r>
              <a:rPr kumimoji="0" lang="fr-FR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EVIDEN</a:t>
            </a:r>
            <a:r>
              <a:rPr kumimoji="0" lang="en-NL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 SAS</a:t>
            </a:r>
            <a:endParaRPr lang="nl-NL" sz="650" baseline="0">
              <a:solidFill>
                <a:schemeClr val="bg1">
                  <a:lumMod val="50000"/>
                </a:schemeClr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7945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2808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  <p:sldLayoutId id="2157483700" r:id="rId2"/>
    <p:sldLayoutId id="215748370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F9D3E5-713E-2458-85D8-863C02E3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4" y="291452"/>
            <a:ext cx="11337925" cy="79656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E1C79-616F-D7C0-02B1-92ECF462D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8624" y="1446212"/>
            <a:ext cx="11337926" cy="46307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marL="1143000" marR="0" lvl="4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Level 05</a:t>
            </a:r>
          </a:p>
          <a:p>
            <a:pPr marL="1371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Level 06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67185-ACB9-908F-2962-5980CB3C0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517632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AddCustomFooter#1">
            <a:extLst>
              <a:ext uri="{FF2B5EF4-FFF2-40B4-BE49-F238E27FC236}">
                <a16:creationId xmlns:a16="http://schemas.microsoft.com/office/drawing/2014/main" id="{E00FAE01-94EC-1357-62EB-1169EE36702E}"/>
              </a:ext>
            </a:extLst>
          </p:cNvPr>
          <p:cNvSpPr txBox="1"/>
          <p:nvPr userDrawn="1"/>
        </p:nvSpPr>
        <p:spPr bwMode="gray">
          <a:xfrm>
            <a:off x="428625" y="6517632"/>
            <a:ext cx="13542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	Atos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Confidential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 </a:t>
            </a:r>
            <a:endParaRPr lang="nl-NL" sz="900" baseline="0" dirty="0">
              <a:solidFill>
                <a:schemeClr val="accent3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Graphique 10" descr="Atos logo">
            <a:extLst>
              <a:ext uri="{FF2B5EF4-FFF2-40B4-BE49-F238E27FC236}">
                <a16:creationId xmlns:a16="http://schemas.microsoft.com/office/drawing/2014/main" id="{15C2D0D6-BF6D-767D-7DA9-9C0E308BD27E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4" y="6446085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4308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703" r:id="rId1"/>
    <p:sldLayoutId id="2157483704" r:id="rId2"/>
    <p:sldLayoutId id="2157483705" r:id="rId3"/>
    <p:sldLayoutId id="2157483706" r:id="rId4"/>
    <p:sldLayoutId id="2157483707" r:id="rId5"/>
    <p:sldLayoutId id="2157483708" r:id="rId6"/>
    <p:sldLayoutId id="2157483709" r:id="rId7"/>
    <p:sldLayoutId id="2157483710" r:id="rId8"/>
    <p:sldLayoutId id="2157483711" r:id="rId9"/>
    <p:sldLayoutId id="2157483712" r:id="rId10"/>
    <p:sldLayoutId id="2157483713" r:id="rId11"/>
    <p:sldLayoutId id="2157483714" r:id="rId12"/>
    <p:sldLayoutId id="2157483715" r:id="rId1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None/>
        <a:defRPr sz="16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0200" indent="9144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28">
          <p15:clr>
            <a:srgbClr val="F26B43"/>
          </p15:clr>
        </p15:guide>
        <p15:guide id="2" pos="270">
          <p15:clr>
            <a:srgbClr val="F26B43"/>
          </p15:clr>
        </p15:guide>
        <p15:guide id="3" pos="7412">
          <p15:clr>
            <a:srgbClr val="F26B43"/>
          </p15:clr>
        </p15:guide>
        <p15:guide id="4" orient="horz" pos="91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customXml" Target="../../customXml/item1.xml"/><Relationship Id="rId1" Type="http://schemas.openxmlformats.org/officeDocument/2006/relationships/customXml" Target="../../customXml/item2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20700" y="6400800"/>
            <a:ext cx="2540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>
              <a:lnSpc>
                <a:spcPct val="83333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 Group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19100" y="1841500"/>
            <a:ext cx="5715000" cy="158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>
              <a:lnSpc>
                <a:spcPct val="95833"/>
              </a:lnSpc>
              <a:defRPr/>
            </a:pPr>
            <a:r>
              <a:rPr lang="zh-CN" altLang="en-US" sz="4800" kern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成本还原方案</a:t>
            </a:r>
            <a:endParaRPr lang="en-US" sz="4800" kern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20700" y="5336875"/>
            <a:ext cx="36576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>
              <a:lnSpc>
                <a:spcPct val="100000"/>
              </a:lnSpc>
              <a:defRPr/>
            </a:pPr>
            <a:r>
              <a:rPr lang="en-US" b="0" i="0" u="none" strike="noStrike" spc="200" dirty="0">
                <a:solidFill>
                  <a:srgbClr val="191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iennale"/>
                <a:sym typeface="Biennale"/>
              </a:rPr>
              <a:t>2026.08.04</a:t>
            </a:r>
            <a:endParaRPr lang="en-US" dirty="0">
              <a:solidFill>
                <a:srgbClr val="1919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133" r="13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19100" y="342900"/>
            <a:ext cx="19304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文本占位符 1">
            <a:extLst>
              <a:ext uri="{FF2B5EF4-FFF2-40B4-BE49-F238E27FC236}">
                <a16:creationId xmlns:a16="http://schemas.microsoft.com/office/drawing/2014/main" id="{00A30EFD-E1F3-8526-9DE2-1775BBC58A6E}"/>
              </a:ext>
            </a:extLst>
          </p:cNvPr>
          <p:cNvSpPr txBox="1">
            <a:spLocks/>
          </p:cNvSpPr>
          <p:nvPr/>
        </p:nvSpPr>
        <p:spPr>
          <a:xfrm>
            <a:off x="419100" y="3798764"/>
            <a:ext cx="5486400" cy="112188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600"/>
              </a:spcAft>
              <a:buClr>
                <a:schemeClr val="accent3"/>
              </a:buClr>
            </a:pPr>
            <a:r>
              <a:rPr lang="zh-CN" altLang="en-US" sz="3600" kern="1200" dirty="0">
                <a:solidFill>
                  <a:srgbClr val="191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业务诊断咨询及</a:t>
            </a:r>
            <a:r>
              <a:rPr lang="en-US" altLang="zh-CN" sz="3600" kern="1200" dirty="0">
                <a:solidFill>
                  <a:srgbClr val="191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SAP</a:t>
            </a:r>
            <a:r>
              <a:rPr lang="zh-CN" altLang="en-US" sz="3600" kern="1200" dirty="0">
                <a:solidFill>
                  <a:srgbClr val="191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系统升级实施项目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1800" y="6515100"/>
            <a:ext cx="1358900" cy="152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7400" y="6451600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431800" y="292100"/>
            <a:ext cx="113411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目录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959100" y="1397000"/>
            <a:ext cx="50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670300" y="1397000"/>
            <a:ext cx="75184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2000" dirty="0">
                <a:solidFill>
                  <a:srgbClr val="00005C"/>
                </a:solidFill>
                <a:latin typeface="Biennale Medium"/>
                <a:sym typeface="Biennale Medium"/>
              </a:rPr>
              <a:t>专项方案概述</a:t>
            </a:r>
            <a:endParaRPr lang="en-US" sz="1100" dirty="0"/>
          </a:p>
        </p:txBody>
      </p:sp>
      <p:cxnSp>
        <p:nvCxnSpPr>
          <p:cNvPr id="7" name="Connector 7"/>
          <p:cNvCxnSpPr/>
          <p:nvPr/>
        </p:nvCxnSpPr>
        <p:spPr>
          <a:xfrm rot="-5305">
            <a:off x="2959105" y="1924050"/>
            <a:ext cx="822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5C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2959100" y="2222500"/>
            <a:ext cx="50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670300" y="2222500"/>
            <a:ext cx="75184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2000" dirty="0">
                <a:solidFill>
                  <a:srgbClr val="00005C"/>
                </a:solidFill>
                <a:latin typeface="Biennale Medium"/>
                <a:sym typeface="Biennale Medium"/>
              </a:rPr>
              <a:t>方案详解及系统实现</a:t>
            </a:r>
            <a:endParaRPr lang="en-US" sz="1100" dirty="0"/>
          </a:p>
        </p:txBody>
      </p:sp>
      <p:cxnSp>
        <p:nvCxnSpPr>
          <p:cNvPr id="10" name="Connector 10"/>
          <p:cNvCxnSpPr/>
          <p:nvPr/>
        </p:nvCxnSpPr>
        <p:spPr>
          <a:xfrm rot="-5305">
            <a:off x="2959105" y="2749550"/>
            <a:ext cx="822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5C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2959100" y="3048000"/>
            <a:ext cx="50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70300" y="3048000"/>
            <a:ext cx="75184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2000" dirty="0">
                <a:solidFill>
                  <a:srgbClr val="00005C"/>
                </a:solidFill>
                <a:latin typeface="Biennale Medium"/>
                <a:sym typeface="Biennale Medium"/>
              </a:rPr>
              <a:t>配套行动计划</a:t>
            </a:r>
            <a:endParaRPr lang="en-US" sz="1100" dirty="0"/>
          </a:p>
        </p:txBody>
      </p:sp>
      <p:cxnSp>
        <p:nvCxnSpPr>
          <p:cNvPr id="13" name="Connector 13"/>
          <p:cNvCxnSpPr/>
          <p:nvPr/>
        </p:nvCxnSpPr>
        <p:spPr>
          <a:xfrm rot="-5305">
            <a:off x="2959105" y="3575050"/>
            <a:ext cx="822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5C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2959100" y="3873500"/>
            <a:ext cx="50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70300" y="3873500"/>
            <a:ext cx="75184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2000" dirty="0">
                <a:solidFill>
                  <a:srgbClr val="00005C"/>
                </a:solidFill>
                <a:latin typeface="Biennale Medium"/>
                <a:sym typeface="Biennale Medium"/>
              </a:rPr>
              <a:t>附录：相关文档以原始数据</a:t>
            </a:r>
            <a:endParaRPr lang="en-US" sz="1100" dirty="0"/>
          </a:p>
        </p:txBody>
      </p:sp>
      <p:cxnSp>
        <p:nvCxnSpPr>
          <p:cNvPr id="16" name="Connector 16"/>
          <p:cNvCxnSpPr/>
          <p:nvPr/>
        </p:nvCxnSpPr>
        <p:spPr>
          <a:xfrm rot="-5305">
            <a:off x="2959105" y="4400550"/>
            <a:ext cx="822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5C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Connector 19"/>
          <p:cNvCxnSpPr/>
          <p:nvPr/>
        </p:nvCxnSpPr>
        <p:spPr>
          <a:xfrm rot="-5305">
            <a:off x="2959105" y="5226050"/>
            <a:ext cx="822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5C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B6438-7BA8-E489-8651-A1875BC5D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4CAD6ED9-8951-B688-33F4-3E98B7B6F5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54745" y="1446367"/>
            <a:ext cx="310983" cy="369332"/>
          </a:xfrm>
        </p:spPr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968C3A93-8341-3E29-A3E2-722091ED34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专项方案概述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13DBE718-131A-470F-2543-066524BE47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83A23855-A582-76E3-8B61-D17384504B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54745" y="2713569"/>
            <a:ext cx="310983" cy="369332"/>
          </a:xfrm>
        </p:spPr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2265A972-65DB-2F3A-7C3D-F1A090BD6F7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zh-CN" altLang="en-US" dirty="0"/>
              <a:t>方案详解及系统实现</a:t>
            </a:r>
          </a:p>
        </p:txBody>
      </p:sp>
      <p:sp>
        <p:nvSpPr>
          <p:cNvPr id="15" name="文本占位符 14">
            <a:extLst>
              <a:ext uri="{FF2B5EF4-FFF2-40B4-BE49-F238E27FC236}">
                <a16:creationId xmlns:a16="http://schemas.microsoft.com/office/drawing/2014/main" id="{C39BC91C-8B90-E177-A826-C4D261F80CF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6BDC34C5-051E-81BC-1A5F-5DDCA858EF2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954745" y="3980771"/>
            <a:ext cx="310983" cy="369332"/>
          </a:xfrm>
        </p:spPr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4C792566-17F0-B653-DC15-60F3AA9C948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zh-CN" altLang="en-US" dirty="0"/>
              <a:t>配套行动计划</a:t>
            </a: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A5189662-7973-A65F-327E-64CD51F427C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3F1A9DA2-457B-60D7-87D8-98DA7E892B5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954745" y="5247973"/>
            <a:ext cx="310983" cy="369332"/>
          </a:xfrm>
        </p:spPr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20" name="文本占位符 19">
            <a:extLst>
              <a:ext uri="{FF2B5EF4-FFF2-40B4-BE49-F238E27FC236}">
                <a16:creationId xmlns:a16="http://schemas.microsoft.com/office/drawing/2014/main" id="{D5845B33-F50A-959F-BE1D-27B13D52F04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zh-CN" altLang="en-US" dirty="0"/>
              <a:t>附录：相关文档及原始数据</a:t>
            </a:r>
          </a:p>
        </p:txBody>
      </p:sp>
      <p:sp>
        <p:nvSpPr>
          <p:cNvPr id="21" name="文本占位符 20">
            <a:extLst>
              <a:ext uri="{FF2B5EF4-FFF2-40B4-BE49-F238E27FC236}">
                <a16:creationId xmlns:a16="http://schemas.microsoft.com/office/drawing/2014/main" id="{2DD4C74A-4217-E935-FFF4-FA5F455D4C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BABBB06F-7718-FC39-B0BA-8E546E2F8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目录</a:t>
            </a:r>
            <a:endParaRPr lang="en-DE" b="1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F2E4B8EC-53DE-3D5C-3F73-2B75FEAA7A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455" y="100951"/>
            <a:ext cx="1930400" cy="381000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60823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9231630" cy="9326880"/>
          </a:xfrm>
        </p:spPr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01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成本还原方案概述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83E55E-87A6-AC0D-B047-D6ED56E56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内部加价成本核算：</a:t>
            </a:r>
            <a:r>
              <a:rPr lang="zh-CN" altLang="en-US" dirty="0"/>
              <a:t>方案总览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FE8268-C53B-F82D-2360-F99103FCCB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F489CC-3B7A-4DA5-A8C0-4984788D0EC5}" type="slidenum">
              <a:rPr kumimoji="0" lang="nl-NL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5C"/>
                </a:solidFill>
                <a:effectLst/>
                <a:uLnTx/>
                <a:uFillTx/>
                <a:latin typeface="Biennale"/>
                <a:ea typeface="Verdana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nl-NL" sz="1000" b="0" i="0" u="none" strike="noStrike" kern="1200" cap="none" spc="0" normalizeH="0" baseline="0" noProof="0">
              <a:ln>
                <a:noFill/>
              </a:ln>
              <a:solidFill>
                <a:srgbClr val="00005C"/>
              </a:solidFill>
              <a:effectLst/>
              <a:uLnTx/>
              <a:uFillTx/>
              <a:latin typeface="Biennale"/>
              <a:ea typeface="Verdana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1B83A1B-ACDA-323E-78FA-845C661D9654}"/>
              </a:ext>
            </a:extLst>
          </p:cNvPr>
          <p:cNvSpPr/>
          <p:nvPr/>
        </p:nvSpPr>
        <p:spPr>
          <a:xfrm>
            <a:off x="509577" y="1078301"/>
            <a:ext cx="7582000" cy="1768416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项目目标：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177800" indent="-165100">
              <a:buClr>
                <a:srgbClr val="0073E6"/>
              </a:buClr>
              <a:buFont typeface="Arial"/>
              <a:buChar char="•"/>
            </a:pPr>
            <a:r>
              <a:rPr lang="en-US" altLang="zh-CN" sz="1200" b="1" dirty="0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报价阶段: </a:t>
            </a:r>
            <a:r>
              <a:rPr lang="en-US" altLang="zh-CN" sz="1200" dirty="0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对外新产品报价,能初步估算消除内部加价的标准价估算</a:t>
            </a:r>
          </a:p>
          <a:p>
            <a:pPr marL="177800" indent="-165100">
              <a:buClr>
                <a:srgbClr val="0073E6"/>
              </a:buClr>
              <a:buFont typeface="Arial"/>
              <a:buChar char="•"/>
            </a:pPr>
            <a:r>
              <a:rPr lang="en-US" altLang="zh-CN" sz="1200" b="1" dirty="0" err="1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成本核算</a:t>
            </a:r>
            <a:r>
              <a:rPr lang="en-US" altLang="zh-CN" sz="1200" b="1" dirty="0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: </a:t>
            </a:r>
            <a:r>
              <a:rPr lang="en-US" altLang="zh-CN" sz="1200" dirty="0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多部门需要获得消除内部加价的产品实际成本</a:t>
            </a:r>
          </a:p>
          <a:p>
            <a:pPr marL="177800" indent="-165100">
              <a:buClr>
                <a:srgbClr val="0073E6"/>
              </a:buClr>
              <a:buFont typeface="Arial"/>
              <a:buChar char="•"/>
            </a:pPr>
            <a:r>
              <a:rPr lang="en-US" altLang="zh-CN" sz="1200" b="1" dirty="0" err="1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管理层</a:t>
            </a:r>
            <a:r>
              <a:rPr lang="en-US" altLang="zh-CN" sz="1200" b="1" dirty="0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: </a:t>
            </a:r>
            <a:r>
              <a:rPr lang="en-US" altLang="zh-CN" sz="1200" dirty="0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希望获得集团内的产品实际成本,提升市场竞争力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项目方案：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启用物料法定评估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/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集团评估</a:t>
            </a:r>
            <a:endParaRPr kumimoji="1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A3CEB23-4835-8524-ED06-5D19749A111E}"/>
              </a:ext>
            </a:extLst>
          </p:cNvPr>
          <p:cNvSpPr/>
          <p:nvPr/>
        </p:nvSpPr>
        <p:spPr>
          <a:xfrm>
            <a:off x="498949" y="3020370"/>
            <a:ext cx="2812522" cy="3076343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现状：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177800" indent="-165100">
              <a:buClr>
                <a:srgbClr val="0073E6"/>
              </a:buClr>
              <a:buFont typeface="Arial"/>
              <a:buChar char="•"/>
            </a:pPr>
            <a:r>
              <a:rPr lang="en-US" altLang="zh-CN" sz="1200" dirty="0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没有启用批次管理, </a:t>
            </a:r>
            <a:r>
              <a:rPr lang="en-US" altLang="zh-CN" sz="1200" dirty="0" err="1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无法追踪内部加价的半成品在后续其他公司的投入生产订单情况</a:t>
            </a:r>
            <a:r>
              <a:rPr lang="en-US" altLang="zh-CN" sz="1200" dirty="0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, </a:t>
            </a:r>
            <a:r>
              <a:rPr lang="en-US" altLang="zh-CN" sz="1200" dirty="0" err="1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无精确的</a:t>
            </a:r>
            <a:r>
              <a:rPr lang="zh-CN" altLang="en-US" sz="1200" dirty="0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单据级别</a:t>
            </a:r>
            <a:r>
              <a:rPr lang="en-US" altLang="zh-CN" sz="1200" dirty="0" err="1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线索</a:t>
            </a:r>
            <a:endParaRPr lang="en-US" altLang="zh-CN" sz="1200" dirty="0">
              <a:solidFill>
                <a:srgbClr val="323741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177800" indent="-165100">
              <a:buClr>
                <a:srgbClr val="0073E6"/>
              </a:buClr>
              <a:buFont typeface="Arial"/>
              <a:buChar char="•"/>
            </a:pPr>
            <a:r>
              <a:rPr lang="en-US" altLang="zh-CN" sz="1200" dirty="0" err="1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现有初步的估算的跨公司代码成本还原穿透报表</a:t>
            </a:r>
            <a:r>
              <a:rPr lang="en-US" altLang="zh-CN" sz="1200" dirty="0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, </a:t>
            </a:r>
            <a:r>
              <a:rPr lang="en-US" altLang="zh-CN" sz="1200" dirty="0" err="1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无批次管理,特殊情况多</a:t>
            </a:r>
            <a:r>
              <a:rPr lang="en-US" altLang="zh-CN" sz="1200" dirty="0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, </a:t>
            </a:r>
            <a:r>
              <a:rPr lang="en-US" altLang="zh-CN" sz="1200" dirty="0" err="1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报表无法推广使用,仅供局部参考</a:t>
            </a:r>
            <a:r>
              <a:rPr lang="en-US" altLang="zh-CN" sz="1200" dirty="0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主要差距：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177800" indent="-165100">
              <a:buClr>
                <a:srgbClr val="0073E6"/>
              </a:buClr>
              <a:buFont typeface="Arial"/>
              <a:buChar char="•"/>
            </a:pPr>
            <a:r>
              <a:rPr lang="en-US" altLang="zh-CN" sz="1200" dirty="0" err="1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前提条件不足</a:t>
            </a:r>
            <a:r>
              <a:rPr lang="en-US" altLang="zh-CN" sz="1200" dirty="0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: </a:t>
            </a:r>
            <a:r>
              <a:rPr lang="en-US" altLang="zh-CN" sz="1200" dirty="0" err="1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未来的近期</a:t>
            </a:r>
            <a:r>
              <a:rPr lang="en-US" altLang="zh-CN" sz="1200" dirty="0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, </a:t>
            </a:r>
            <a:r>
              <a:rPr lang="en-US" altLang="zh-CN" sz="1200" dirty="0" err="1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不会启用批次管理</a:t>
            </a:r>
            <a:endParaRPr lang="en-US" altLang="zh-CN" sz="1200" dirty="0">
              <a:solidFill>
                <a:srgbClr val="323741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177800" indent="-165100">
              <a:buClr>
                <a:srgbClr val="0073E6"/>
              </a:buClr>
              <a:buFont typeface="Arial"/>
              <a:buChar char="•"/>
            </a:pPr>
            <a:r>
              <a:rPr lang="en-US" altLang="zh-CN" sz="1200" dirty="0" err="1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在不启用批次管理下,探索一个在适当</a:t>
            </a:r>
            <a:r>
              <a:rPr lang="zh-CN" altLang="en-US" sz="1200" dirty="0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假设逻辑</a:t>
            </a:r>
            <a:r>
              <a:rPr lang="en-US" altLang="zh-CN" sz="1200" dirty="0" err="1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条件下的能接受的合理结果</a:t>
            </a:r>
            <a:r>
              <a:rPr lang="en-US" altLang="zh-CN" sz="1200" dirty="0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, </a:t>
            </a:r>
            <a:r>
              <a:rPr lang="en-US" altLang="zh-CN" sz="1200" dirty="0" err="1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尽管无法绝对精确</a:t>
            </a:r>
            <a:endParaRPr lang="en-US" altLang="zh-CN" sz="1200" dirty="0">
              <a:solidFill>
                <a:srgbClr val="323741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603096-9948-C826-5AC1-40C26DE51133}"/>
              </a:ext>
            </a:extLst>
          </p:cNvPr>
          <p:cNvSpPr/>
          <p:nvPr/>
        </p:nvSpPr>
        <p:spPr>
          <a:xfrm>
            <a:off x="3569079" y="3008094"/>
            <a:ext cx="4522498" cy="1132936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zh-CN" sz="1200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统一加价规则</a:t>
            </a:r>
            <a:r>
              <a:rPr lang="en-US" altLang="zh-CN" sz="12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:</a:t>
            </a:r>
            <a:endParaRPr lang="en-US" altLang="zh-CN" sz="1200" dirty="0"/>
          </a:p>
          <a:p>
            <a:pPr marL="177800" indent="-165100">
              <a:buClr>
                <a:srgbClr val="0073E6"/>
              </a:buClr>
              <a:buFont typeface="Arial"/>
              <a:buChar char="•"/>
            </a:pPr>
            <a:r>
              <a:rPr lang="en-US" altLang="zh-CN" sz="1200" dirty="0" err="1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国内不同公司的加价规则</a:t>
            </a:r>
            <a:endParaRPr lang="en-US" altLang="zh-CN" sz="1200" dirty="0">
              <a:solidFill>
                <a:srgbClr val="323741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177800" indent="-165100">
              <a:buClr>
                <a:srgbClr val="0073E6"/>
              </a:buClr>
              <a:buFont typeface="Arial"/>
              <a:buChar char="•"/>
            </a:pPr>
            <a:r>
              <a:rPr lang="en-US" altLang="zh-CN" sz="1200" dirty="0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泰国的专门最终销售成品价的59%满足规则</a:t>
            </a:r>
          </a:p>
          <a:p>
            <a:r>
              <a:rPr lang="en-US" altLang="zh-CN" sz="1200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关联交易</a:t>
            </a:r>
            <a:r>
              <a:rPr lang="en-US" altLang="zh-CN" sz="12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:</a:t>
            </a:r>
          </a:p>
          <a:p>
            <a:pPr marL="177800" indent="-165100">
              <a:buClr>
                <a:srgbClr val="0073E6"/>
              </a:buClr>
              <a:buFont typeface="Arial"/>
              <a:buChar char="•"/>
            </a:pPr>
            <a:r>
              <a:rPr lang="en-US" altLang="zh-CN" sz="1200" dirty="0" err="1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关联交易的收入和成本要带上贸易伙伴</a:t>
            </a:r>
            <a:endParaRPr lang="en-US" altLang="zh-CN" sz="1200" dirty="0">
              <a:solidFill>
                <a:srgbClr val="323741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7C8DF4-1C64-2F88-0B06-ABED626FAF38}"/>
              </a:ext>
            </a:extLst>
          </p:cNvPr>
          <p:cNvSpPr/>
          <p:nvPr/>
        </p:nvSpPr>
        <p:spPr>
          <a:xfrm>
            <a:off x="3569079" y="4328297"/>
            <a:ext cx="4522498" cy="1768417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zh-CN" sz="1200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关联交易处理</a:t>
            </a:r>
            <a:r>
              <a:rPr lang="en-US" altLang="zh-CN" sz="12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:</a:t>
            </a:r>
            <a:endParaRPr lang="en-US" altLang="zh-CN" sz="1200" dirty="0"/>
          </a:p>
          <a:p>
            <a:pPr marL="177800"/>
            <a:r>
              <a:rPr lang="en-US" altLang="zh-CN" sz="1200" dirty="0" err="1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关联交易的收入和成本要带上贸易伙伴,建立清晰的内部结算链路</a:t>
            </a:r>
            <a:r>
              <a:rPr lang="en-US" altLang="zh-CN" sz="1200" dirty="0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  <a:p>
            <a:r>
              <a:rPr lang="en-US" altLang="zh-CN" sz="1200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规则落地</a:t>
            </a:r>
            <a:r>
              <a:rPr lang="en-US" altLang="zh-CN" sz="12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:</a:t>
            </a:r>
          </a:p>
          <a:p>
            <a:pPr marL="177800"/>
            <a:r>
              <a:rPr lang="en-US" altLang="zh-CN" sz="1200" dirty="0" err="1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将统一加价规则固化到系统中,支撑后续成本核算与报价</a:t>
            </a:r>
            <a:r>
              <a:rPr lang="en-US" altLang="zh-CN" sz="1000" dirty="0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7C9A85-6C08-91BE-B2A7-C81C0F9484AF}"/>
              </a:ext>
            </a:extLst>
          </p:cNvPr>
          <p:cNvSpPr/>
          <p:nvPr/>
        </p:nvSpPr>
        <p:spPr>
          <a:xfrm>
            <a:off x="8399872" y="2128930"/>
            <a:ext cx="3282551" cy="1218117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ED0C951-6964-90CE-1FE7-1BE1031FE32A}"/>
              </a:ext>
            </a:extLst>
          </p:cNvPr>
          <p:cNvSpPr/>
          <p:nvPr/>
        </p:nvSpPr>
        <p:spPr>
          <a:xfrm>
            <a:off x="8399872" y="3620220"/>
            <a:ext cx="3282551" cy="1132936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171450" indent="-171450">
              <a:buClrTx/>
              <a:buFont typeface="Arial" panose="020B0604020202020204" pitchFamily="34" charset="0"/>
              <a:buChar char="•"/>
            </a:pPr>
            <a:r>
              <a:rPr kumimoji="1" lang="zh-C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强依赖：</a:t>
            </a:r>
            <a:r>
              <a:rPr lang="en-US" altLang="zh-CN" sz="1000" dirty="0" err="1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关联交易的收入和成本要带上贸易伙伴</a:t>
            </a:r>
            <a:endParaRPr kumimoji="1" lang="zh-CN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171450" indent="-171450">
              <a:buClrTx/>
              <a:buFont typeface="Arial" panose="020B0604020202020204" pitchFamily="34" charset="0"/>
              <a:buChar char="•"/>
            </a:pPr>
            <a:r>
              <a:rPr kumimoji="1" lang="en-US" altLang="zh-CN" sz="1000" kern="1200" dirty="0" err="1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Noto Sans SC"/>
              </a:rPr>
              <a:t>启用物料帐的法定评估,集团评估</a:t>
            </a:r>
            <a:endParaRPr kumimoji="1" lang="en-US" altLang="zh-CN" sz="1000" kern="12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Noto Sans SC"/>
            </a:endParaRPr>
          </a:p>
          <a:p>
            <a:pPr marL="171450" indent="-171450">
              <a:buClrTx/>
              <a:buFont typeface="Arial" panose="020B0604020202020204" pitchFamily="34" charset="0"/>
              <a:buChar char="•"/>
            </a:pPr>
            <a:r>
              <a:rPr lang="en-US" altLang="zh-CN" sz="100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材料和内部采购的半成品需维护两个计划价格。</a:t>
            </a:r>
            <a:r>
              <a:rPr lang="en-US" altLang="zh-CN" sz="1000" b="1" dirty="0">
                <a:solidFill>
                  <a:srgbClr val="0A2C6E"/>
                </a:solidFill>
                <a:latin typeface="Noto Sans SC"/>
                <a:ea typeface="Noto Sans SC"/>
                <a:cs typeface="Noto Sans SC"/>
                <a:sym typeface="Noto Sans SC"/>
              </a:rPr>
              <a:t>计划价格1</a:t>
            </a:r>
            <a:r>
              <a:rPr lang="en-US" altLang="zh-CN" sz="100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用于法定评估,</a:t>
            </a:r>
            <a:r>
              <a:rPr lang="en-US" altLang="zh-CN" sz="1000" b="1" dirty="0">
                <a:solidFill>
                  <a:srgbClr val="0A2C6E"/>
                </a:solidFill>
                <a:latin typeface="Noto Sans SC"/>
                <a:ea typeface="Noto Sans SC"/>
                <a:cs typeface="Noto Sans SC"/>
                <a:sym typeface="Noto Sans SC"/>
              </a:rPr>
              <a:t>计划价格2</a:t>
            </a:r>
            <a:r>
              <a:rPr lang="en-US" altLang="zh-CN" sz="100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用于集团评估,后者获取自上家月度实际成本+合理的税费加价率</a:t>
            </a:r>
            <a:endParaRPr kumimoji="1" lang="en-US" altLang="zh-CN" sz="1000" kern="12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中文）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1C257C8-F23F-6135-BD16-2C384597EC5B}"/>
              </a:ext>
            </a:extLst>
          </p:cNvPr>
          <p:cNvSpPr/>
          <p:nvPr/>
        </p:nvSpPr>
        <p:spPr>
          <a:xfrm>
            <a:off x="8399872" y="4963779"/>
            <a:ext cx="3282551" cy="1132936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9166"/>
              </a:lnSpc>
              <a:defRPr/>
            </a:pPr>
            <a:r>
              <a:rPr lang="en-US" altLang="zh-CN" sz="1000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满足</a:t>
            </a:r>
            <a:r>
              <a:rPr lang="zh-CN" altLang="en-US" sz="100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多评估视图</a:t>
            </a:r>
            <a:r>
              <a:rPr lang="en-US" altLang="zh-CN" sz="100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altLang="zh-CN" sz="1000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法定</a:t>
            </a:r>
            <a:r>
              <a:rPr lang="en-US" altLang="zh-CN" sz="100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altLang="zh-CN" sz="1000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集团</a:t>
            </a:r>
            <a:r>
              <a:rPr lang="en-US" altLang="zh-CN" sz="100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r>
              <a:rPr lang="en-US" altLang="zh-CN" sz="1000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核算要求,财务数据更准确</a:t>
            </a:r>
            <a:r>
              <a:rPr lang="en-US" altLang="zh-CN" sz="100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altLang="zh-CN" sz="800" dirty="0"/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1" lang="zh-CN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53D97EF-3A0D-F642-36E5-A820BF7D17AE}"/>
              </a:ext>
            </a:extLst>
          </p:cNvPr>
          <p:cNvSpPr/>
          <p:nvPr/>
        </p:nvSpPr>
        <p:spPr>
          <a:xfrm>
            <a:off x="8399872" y="1078301"/>
            <a:ext cx="3282551" cy="840006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zh-CN" sz="1000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主责:</a:t>
            </a:r>
            <a:r>
              <a:rPr lang="en-US" altLang="zh-CN" sz="1000" dirty="0" err="1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财务部门</a:t>
            </a:r>
            <a:endParaRPr lang="en-US" altLang="zh-CN" sz="1000" dirty="0"/>
          </a:p>
          <a:p>
            <a:r>
              <a:rPr lang="en-US" altLang="zh-CN" sz="1000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配合:</a:t>
            </a:r>
            <a:r>
              <a:rPr lang="en-US" altLang="zh-CN" sz="1000" dirty="0" err="1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集团下各公司的生产和成本分析岗位</a:t>
            </a:r>
            <a:endParaRPr lang="en-US" altLang="zh-CN" sz="1000" dirty="0">
              <a:solidFill>
                <a:srgbClr val="323741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r>
              <a:rPr lang="en-US" altLang="zh-CN" sz="1000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外部:</a:t>
            </a:r>
            <a:r>
              <a:rPr lang="en-US" altLang="zh-CN" sz="1000" dirty="0" err="1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艾维</a:t>
            </a:r>
            <a:r>
              <a:rPr lang="zh-CN" altLang="en-US" sz="1000" dirty="0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登</a:t>
            </a:r>
            <a:r>
              <a:rPr lang="en-US" altLang="zh-CN" sz="1000" dirty="0" err="1">
                <a:solidFill>
                  <a:srgbClr val="323741"/>
                </a:solidFill>
                <a:latin typeface="微软雅黑"/>
                <a:ea typeface="微软雅黑"/>
                <a:cs typeface="微软雅黑"/>
                <a:sym typeface="微软雅黑"/>
              </a:rPr>
              <a:t>FICO专家、MM、SD、PP专家</a:t>
            </a:r>
            <a:endParaRPr lang="en-US" altLang="zh-CN" sz="1000" dirty="0">
              <a:solidFill>
                <a:srgbClr val="323741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C9F03C8-78B8-5C5A-4E7E-65A074BB6DE1}"/>
              </a:ext>
            </a:extLst>
          </p:cNvPr>
          <p:cNvSpPr/>
          <p:nvPr/>
        </p:nvSpPr>
        <p:spPr>
          <a:xfrm>
            <a:off x="8562025" y="900920"/>
            <a:ext cx="1039792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 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责任部门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D11B0AC-309E-69C3-33AD-88B719E2BD76}"/>
              </a:ext>
            </a:extLst>
          </p:cNvPr>
          <p:cNvSpPr/>
          <p:nvPr/>
        </p:nvSpPr>
        <p:spPr>
          <a:xfrm>
            <a:off x="8562025" y="1985697"/>
            <a:ext cx="1039792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6 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里程碑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9A0EC3E-9544-8570-D013-6FEFBD557A75}"/>
              </a:ext>
            </a:extLst>
          </p:cNvPr>
          <p:cNvSpPr/>
          <p:nvPr/>
        </p:nvSpPr>
        <p:spPr>
          <a:xfrm>
            <a:off x="8562025" y="3473741"/>
            <a:ext cx="1643023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7 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风险与项目依赖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7FC5FCA-26C9-08EA-D529-319629B53657}"/>
              </a:ext>
            </a:extLst>
          </p:cNvPr>
          <p:cNvSpPr/>
          <p:nvPr/>
        </p:nvSpPr>
        <p:spPr>
          <a:xfrm>
            <a:off x="8562025" y="4789456"/>
            <a:ext cx="2100224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8 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业务价值和数字化指标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294C96C-01C9-F514-F838-B5A57FE25B5E}"/>
              </a:ext>
            </a:extLst>
          </p:cNvPr>
          <p:cNvSpPr/>
          <p:nvPr/>
        </p:nvSpPr>
        <p:spPr>
          <a:xfrm>
            <a:off x="3773854" y="4165122"/>
            <a:ext cx="1376734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4 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关键任务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CAF8357-453F-3808-FC17-D574B63D166A}"/>
              </a:ext>
            </a:extLst>
          </p:cNvPr>
          <p:cNvSpPr/>
          <p:nvPr/>
        </p:nvSpPr>
        <p:spPr>
          <a:xfrm>
            <a:off x="3790570" y="2913921"/>
            <a:ext cx="1376734" cy="215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3 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业务变革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87B6E11-BFB1-0C9C-7C47-D8D3E9776A33}"/>
              </a:ext>
            </a:extLst>
          </p:cNvPr>
          <p:cNvSpPr/>
          <p:nvPr/>
        </p:nvSpPr>
        <p:spPr>
          <a:xfrm>
            <a:off x="690731" y="2905836"/>
            <a:ext cx="1376734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 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现状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/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差距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DD058F5-6498-90B5-B51A-0AD4C06EA42E}"/>
              </a:ext>
            </a:extLst>
          </p:cNvPr>
          <p:cNvSpPr/>
          <p:nvPr/>
        </p:nvSpPr>
        <p:spPr>
          <a:xfrm>
            <a:off x="690731" y="916009"/>
            <a:ext cx="1376734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1 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目标和范围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1BE46CD-3BDD-F49A-3F4D-8F27D38AF204}"/>
              </a:ext>
            </a:extLst>
          </p:cNvPr>
          <p:cNvSpPr txBox="1"/>
          <p:nvPr/>
        </p:nvSpPr>
        <p:spPr>
          <a:xfrm>
            <a:off x="862642" y="1552755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00005C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9C94917-5314-9A8C-3C62-C2FC35D38AB3}"/>
              </a:ext>
            </a:extLst>
          </p:cNvPr>
          <p:cNvSpPr txBox="1"/>
          <p:nvPr/>
        </p:nvSpPr>
        <p:spPr>
          <a:xfrm>
            <a:off x="8824823" y="2665562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BB82ACE-79F7-E1C0-10F9-860966275B72}"/>
              </a:ext>
            </a:extLst>
          </p:cNvPr>
          <p:cNvSpPr txBox="1"/>
          <p:nvPr/>
        </p:nvSpPr>
        <p:spPr>
          <a:xfrm>
            <a:off x="11964838" y="2363638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000" b="0" i="0" u="none" strike="noStrike" kern="1200" cap="none" spc="0" normalizeH="0" baseline="0" noProof="0" dirty="0" err="1">
              <a:ln>
                <a:noFill/>
              </a:ln>
              <a:solidFill>
                <a:srgbClr val="00005C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027B681-53C7-B116-4B4F-913FF7B34BE5}"/>
              </a:ext>
            </a:extLst>
          </p:cNvPr>
          <p:cNvSpPr txBox="1"/>
          <p:nvPr/>
        </p:nvSpPr>
        <p:spPr>
          <a:xfrm>
            <a:off x="8518896" y="2376115"/>
            <a:ext cx="1039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内部采购标识</a:t>
            </a: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8D514D0D-057B-4661-521F-8D58EE64B4B0}"/>
              </a:ext>
            </a:extLst>
          </p:cNvPr>
          <p:cNvGrpSpPr/>
          <p:nvPr/>
        </p:nvGrpSpPr>
        <p:grpSpPr>
          <a:xfrm>
            <a:off x="8678174" y="3102633"/>
            <a:ext cx="2717320" cy="117898"/>
            <a:chOff x="8678174" y="3102633"/>
            <a:chExt cx="2717320" cy="117898"/>
          </a:xfrm>
        </p:grpSpPr>
        <p:cxnSp>
          <p:nvCxnSpPr>
            <p:cNvPr id="25" name="直线箭头连接符 24">
              <a:extLst>
                <a:ext uri="{FF2B5EF4-FFF2-40B4-BE49-F238E27FC236}">
                  <a16:creationId xmlns:a16="http://schemas.microsoft.com/office/drawing/2014/main" id="{978E5ABC-2A5E-9459-318A-10CF1B3960B4}"/>
                </a:ext>
              </a:extLst>
            </p:cNvPr>
            <p:cNvCxnSpPr/>
            <p:nvPr/>
          </p:nvCxnSpPr>
          <p:spPr>
            <a:xfrm>
              <a:off x="8678174" y="3157265"/>
              <a:ext cx="2717320" cy="0"/>
            </a:xfrm>
            <a:prstGeom prst="straightConnector1">
              <a:avLst/>
            </a:prstGeom>
            <a:ln w="28575">
              <a:solidFill>
                <a:srgbClr val="00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0CF38A4C-79D4-EF00-7734-7E69F6BC11B7}"/>
                </a:ext>
              </a:extLst>
            </p:cNvPr>
            <p:cNvSpPr/>
            <p:nvPr/>
          </p:nvSpPr>
          <p:spPr>
            <a:xfrm>
              <a:off x="8987033" y="3105505"/>
              <a:ext cx="103520" cy="1035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ennale"/>
                <a:ea typeface="+mn-ea"/>
                <a:cs typeface="+mn-cs"/>
              </a:endParaRP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6DA0765F-9972-08A0-9C32-412C3CD24CAD}"/>
                </a:ext>
              </a:extLst>
            </p:cNvPr>
            <p:cNvSpPr/>
            <p:nvPr/>
          </p:nvSpPr>
          <p:spPr>
            <a:xfrm>
              <a:off x="9984824" y="3102633"/>
              <a:ext cx="103520" cy="1035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ennale"/>
                <a:ea typeface="+mn-ea"/>
                <a:cs typeface="+mn-cs"/>
              </a:endParaRP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6199AD1D-FAF3-58E0-F933-1E8913BC0FE2}"/>
                </a:ext>
              </a:extLst>
            </p:cNvPr>
            <p:cNvSpPr/>
            <p:nvPr/>
          </p:nvSpPr>
          <p:spPr>
            <a:xfrm>
              <a:off x="11034366" y="3117011"/>
              <a:ext cx="103520" cy="1035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ennale"/>
                <a:ea typeface="+mn-ea"/>
                <a:cs typeface="+mn-cs"/>
              </a:endParaRP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D97D9338-C057-A072-6A6F-0E8905FDA80E}"/>
              </a:ext>
            </a:extLst>
          </p:cNvPr>
          <p:cNvSpPr txBox="1"/>
          <p:nvPr/>
        </p:nvSpPr>
        <p:spPr>
          <a:xfrm>
            <a:off x="10662249" y="2402789"/>
            <a:ext cx="1020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标准价估算与月结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06A749C-3FDA-F70B-3BD4-07674CBBFF9C}"/>
              </a:ext>
            </a:extLst>
          </p:cNvPr>
          <p:cNvSpPr txBox="1"/>
          <p:nvPr/>
        </p:nvSpPr>
        <p:spPr>
          <a:xfrm>
            <a:off x="9682457" y="2376115"/>
            <a:ext cx="833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计划价格维护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4A7A9ED-F755-8711-FD40-803F22B6AAB3}"/>
              </a:ext>
            </a:extLst>
          </p:cNvPr>
          <p:cNvSpPr txBox="1"/>
          <p:nvPr/>
        </p:nvSpPr>
        <p:spPr>
          <a:xfrm>
            <a:off x="8652294" y="6599208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00005C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3448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9231630" cy="9326880"/>
          </a:xfrm>
        </p:spPr>
        <p:txBody>
          <a:bodyPr/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02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方案详解及系统实现</a:t>
            </a:r>
            <a:b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</a:b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1800" y="6515100"/>
            <a:ext cx="1358900" cy="152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7400" y="6451600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92100" y="6413500"/>
            <a:ext cx="1739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31800" y="292100"/>
            <a:ext cx="113411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项目背景:当前面临的核心挑战</a:t>
            </a:r>
            <a:endParaRPr lang="en-US" sz="1100" dirty="0"/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9437D5B3-B59D-65C2-30AA-AD43D9929B72}"/>
              </a:ext>
            </a:extLst>
          </p:cNvPr>
          <p:cNvSpPr/>
          <p:nvPr/>
        </p:nvSpPr>
        <p:spPr>
          <a:xfrm>
            <a:off x="337125" y="1524000"/>
            <a:ext cx="2667000" cy="40640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cap="flat" cmpd="sng">
            <a:solidFill>
              <a:srgbClr val="BDCD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12FD8FE1-EB0E-0606-15BA-F1B0CFDB0D6C}"/>
              </a:ext>
            </a:extLst>
          </p:cNvPr>
          <p:cNvSpPr/>
          <p:nvPr/>
        </p:nvSpPr>
        <p:spPr>
          <a:xfrm>
            <a:off x="337125" y="1524000"/>
            <a:ext cx="50800" cy="4064000"/>
          </a:xfrm>
          <a:prstGeom prst="roundRect">
            <a:avLst>
              <a:gd name="adj" fmla="val 0"/>
            </a:avLst>
          </a:prstGeom>
          <a:solidFill>
            <a:srgbClr val="2A75F9">
              <a:alpha val="100000"/>
            </a:srgbClr>
          </a:solidFill>
          <a:ln cap="flat" cmpd="sng">
            <a:solidFill>
              <a:srgbClr val="0F5B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17366111-CFC6-282A-D3BC-36AF5DDEFDEF}"/>
              </a:ext>
            </a:extLst>
          </p:cNvPr>
          <p:cNvSpPr/>
          <p:nvPr/>
        </p:nvSpPr>
        <p:spPr>
          <a:xfrm>
            <a:off x="337125" y="1524000"/>
            <a:ext cx="2667000" cy="762000"/>
          </a:xfrm>
          <a:prstGeom prst="roundRect">
            <a:avLst>
              <a:gd name="adj" fmla="val 0"/>
            </a:avLst>
          </a:prstGeom>
          <a:solidFill>
            <a:srgbClr val="0A2C6E">
              <a:alpha val="100000"/>
            </a:srgbClr>
          </a:solidFill>
          <a:ln cap="flat" cmpd="sng">
            <a:solidFill>
              <a:srgbClr val="001D5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6">
            <a:extLst>
              <a:ext uri="{FF2B5EF4-FFF2-40B4-BE49-F238E27FC236}">
                <a16:creationId xmlns:a16="http://schemas.microsoft.com/office/drawing/2014/main" id="{87E6D359-17E2-17AD-1B4A-61366C435CBF}"/>
              </a:ext>
            </a:extLst>
          </p:cNvPr>
          <p:cNvSpPr/>
          <p:nvPr/>
        </p:nvSpPr>
        <p:spPr>
          <a:xfrm>
            <a:off x="337125" y="1524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333"/>
              </a:lnSpc>
              <a:defRPr/>
            </a:pPr>
            <a:r>
              <a:rPr lang="en-US" sz="2400" b="1" i="0" u="none" strike="noStrike" spc="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22" name="AutoShape 7">
            <a:extLst>
              <a:ext uri="{FF2B5EF4-FFF2-40B4-BE49-F238E27FC236}">
                <a16:creationId xmlns:a16="http://schemas.microsoft.com/office/drawing/2014/main" id="{0360C33C-F4CF-83E9-C119-1A7918B6F87B}"/>
              </a:ext>
            </a:extLst>
          </p:cNvPr>
          <p:cNvSpPr/>
          <p:nvPr/>
        </p:nvSpPr>
        <p:spPr>
          <a:xfrm>
            <a:off x="1099125" y="1524000"/>
            <a:ext cx="185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新产品报价偏差</a:t>
            </a:r>
            <a:endParaRPr lang="en-US" sz="1100" dirty="0"/>
          </a:p>
        </p:txBody>
      </p:sp>
      <p:sp>
        <p:nvSpPr>
          <p:cNvPr id="23" name="AutoShape 8">
            <a:extLst>
              <a:ext uri="{FF2B5EF4-FFF2-40B4-BE49-F238E27FC236}">
                <a16:creationId xmlns:a16="http://schemas.microsoft.com/office/drawing/2014/main" id="{75D67525-DDA7-05A4-11E0-2858721175A7}"/>
              </a:ext>
            </a:extLst>
          </p:cNvPr>
          <p:cNvSpPr/>
          <p:nvPr/>
        </p:nvSpPr>
        <p:spPr>
          <a:xfrm>
            <a:off x="337125" y="2438400"/>
            <a:ext cx="266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 spc="30">
                <a:solidFill>
                  <a:srgbClr val="0A2C6E"/>
                </a:solidFill>
                <a:latin typeface="Noto Sans SC"/>
                <a:ea typeface="Noto Sans SC"/>
                <a:cs typeface="Noto Sans SC"/>
                <a:sym typeface="Noto Sans SC"/>
              </a:rPr>
              <a:t>对外报价不准</a:t>
            </a:r>
            <a:endParaRPr lang="en-US" sz="1100"/>
          </a:p>
        </p:txBody>
      </p:sp>
      <p:sp>
        <p:nvSpPr>
          <p:cNvPr id="24" name="AutoShape 9">
            <a:extLst>
              <a:ext uri="{FF2B5EF4-FFF2-40B4-BE49-F238E27FC236}">
                <a16:creationId xmlns:a16="http://schemas.microsoft.com/office/drawing/2014/main" id="{DC67F3C7-2A5D-060C-CDAA-763CAC2B8D5E}"/>
              </a:ext>
            </a:extLst>
          </p:cNvPr>
          <p:cNvSpPr/>
          <p:nvPr/>
        </p:nvSpPr>
        <p:spPr>
          <a:xfrm>
            <a:off x="514925" y="2921000"/>
            <a:ext cx="23114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缺少精准的成本测算依据,新产品对外报价缺少可靠数据支撑,存在报价偏差风险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5" name="AutoShape 10">
            <a:extLst>
              <a:ext uri="{FF2B5EF4-FFF2-40B4-BE49-F238E27FC236}">
                <a16:creationId xmlns:a16="http://schemas.microsoft.com/office/drawing/2014/main" id="{9BFD58D0-82A9-5092-70CC-DDE9B99F3025}"/>
              </a:ext>
            </a:extLst>
          </p:cNvPr>
          <p:cNvSpPr/>
          <p:nvPr/>
        </p:nvSpPr>
        <p:spPr>
          <a:xfrm>
            <a:off x="3258125" y="1524000"/>
            <a:ext cx="2667000" cy="40640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cap="flat" cmpd="sng">
            <a:solidFill>
              <a:srgbClr val="BDCD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11">
            <a:extLst>
              <a:ext uri="{FF2B5EF4-FFF2-40B4-BE49-F238E27FC236}">
                <a16:creationId xmlns:a16="http://schemas.microsoft.com/office/drawing/2014/main" id="{04BDDA71-C1F0-AD3C-4B03-846C8123EDD1}"/>
              </a:ext>
            </a:extLst>
          </p:cNvPr>
          <p:cNvSpPr/>
          <p:nvPr/>
        </p:nvSpPr>
        <p:spPr>
          <a:xfrm>
            <a:off x="3258125" y="1524000"/>
            <a:ext cx="50800" cy="4064000"/>
          </a:xfrm>
          <a:prstGeom prst="roundRect">
            <a:avLst>
              <a:gd name="adj" fmla="val 0"/>
            </a:avLst>
          </a:prstGeom>
          <a:solidFill>
            <a:srgbClr val="2A75F9">
              <a:alpha val="100000"/>
            </a:srgbClr>
          </a:solidFill>
          <a:ln cap="flat" cmpd="sng">
            <a:solidFill>
              <a:srgbClr val="0F5B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12">
            <a:extLst>
              <a:ext uri="{FF2B5EF4-FFF2-40B4-BE49-F238E27FC236}">
                <a16:creationId xmlns:a16="http://schemas.microsoft.com/office/drawing/2014/main" id="{4BC1C370-931E-5961-E913-2715D91D9318}"/>
              </a:ext>
            </a:extLst>
          </p:cNvPr>
          <p:cNvSpPr/>
          <p:nvPr/>
        </p:nvSpPr>
        <p:spPr>
          <a:xfrm>
            <a:off x="3258125" y="1524000"/>
            <a:ext cx="2667000" cy="762000"/>
          </a:xfrm>
          <a:prstGeom prst="roundRect">
            <a:avLst>
              <a:gd name="adj" fmla="val 0"/>
            </a:avLst>
          </a:prstGeom>
          <a:solidFill>
            <a:srgbClr val="0A2C6E">
              <a:alpha val="100000"/>
            </a:srgbClr>
          </a:solidFill>
          <a:ln cap="flat" cmpd="sng">
            <a:solidFill>
              <a:srgbClr val="001D5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13">
            <a:extLst>
              <a:ext uri="{FF2B5EF4-FFF2-40B4-BE49-F238E27FC236}">
                <a16:creationId xmlns:a16="http://schemas.microsoft.com/office/drawing/2014/main" id="{DF228281-7C0D-F16C-5EF7-F8F2210E77A8}"/>
              </a:ext>
            </a:extLst>
          </p:cNvPr>
          <p:cNvSpPr/>
          <p:nvPr/>
        </p:nvSpPr>
        <p:spPr>
          <a:xfrm>
            <a:off x="3258125" y="1524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333"/>
              </a:lnSpc>
              <a:defRPr/>
            </a:pPr>
            <a:r>
              <a:rPr lang="en-US" sz="2400" b="1" i="0" u="none" strike="noStrike" spc="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35" name="AutoShape 14">
            <a:extLst>
              <a:ext uri="{FF2B5EF4-FFF2-40B4-BE49-F238E27FC236}">
                <a16:creationId xmlns:a16="http://schemas.microsoft.com/office/drawing/2014/main" id="{393ED861-A95E-C2E5-0706-DB3ACA1330D7}"/>
              </a:ext>
            </a:extLst>
          </p:cNvPr>
          <p:cNvSpPr/>
          <p:nvPr/>
        </p:nvSpPr>
        <p:spPr>
          <a:xfrm>
            <a:off x="4020125" y="1524000"/>
            <a:ext cx="185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集团成本分析失真</a:t>
            </a:r>
            <a:endParaRPr lang="en-US" sz="1100"/>
          </a:p>
        </p:txBody>
      </p:sp>
      <p:sp>
        <p:nvSpPr>
          <p:cNvPr id="36" name="AutoShape 15">
            <a:extLst>
              <a:ext uri="{FF2B5EF4-FFF2-40B4-BE49-F238E27FC236}">
                <a16:creationId xmlns:a16="http://schemas.microsoft.com/office/drawing/2014/main" id="{00216EAE-35B8-FFBC-0591-40B25915FA75}"/>
              </a:ext>
            </a:extLst>
          </p:cNvPr>
          <p:cNvSpPr/>
          <p:nvPr/>
        </p:nvSpPr>
        <p:spPr>
          <a:xfrm>
            <a:off x="3258125" y="2438400"/>
            <a:ext cx="266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 spc="30">
                <a:solidFill>
                  <a:srgbClr val="0A2C6E"/>
                </a:solidFill>
                <a:latin typeface="Noto Sans SC"/>
                <a:ea typeface="Noto Sans SC"/>
                <a:cs typeface="Noto Sans SC"/>
                <a:sym typeface="Noto Sans SC"/>
              </a:rPr>
              <a:t>集团视角分析不准</a:t>
            </a:r>
            <a:endParaRPr lang="en-US" sz="1100"/>
          </a:p>
        </p:txBody>
      </p:sp>
      <p:sp>
        <p:nvSpPr>
          <p:cNvPr id="37" name="AutoShape 16">
            <a:extLst>
              <a:ext uri="{FF2B5EF4-FFF2-40B4-BE49-F238E27FC236}">
                <a16:creationId xmlns:a16="http://schemas.microsoft.com/office/drawing/2014/main" id="{FA611C1A-4DB1-7C48-293D-EC70A89EFE7F}"/>
              </a:ext>
            </a:extLst>
          </p:cNvPr>
          <p:cNvSpPr/>
          <p:nvPr/>
        </p:nvSpPr>
        <p:spPr>
          <a:xfrm>
            <a:off x="3435925" y="2921000"/>
            <a:ext cx="23114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各主体成本数据分散,无法站在全集团统一视角开展成本归集与多维分析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38" name="AutoShape 17">
            <a:extLst>
              <a:ext uri="{FF2B5EF4-FFF2-40B4-BE49-F238E27FC236}">
                <a16:creationId xmlns:a16="http://schemas.microsoft.com/office/drawing/2014/main" id="{D981DF09-1863-C6BD-1D78-FEB1B7941CB8}"/>
              </a:ext>
            </a:extLst>
          </p:cNvPr>
          <p:cNvSpPr/>
          <p:nvPr/>
        </p:nvSpPr>
        <p:spPr>
          <a:xfrm>
            <a:off x="6179125" y="1524000"/>
            <a:ext cx="2667000" cy="40640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cap="flat" cmpd="sng">
            <a:solidFill>
              <a:srgbClr val="BDCD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18">
            <a:extLst>
              <a:ext uri="{FF2B5EF4-FFF2-40B4-BE49-F238E27FC236}">
                <a16:creationId xmlns:a16="http://schemas.microsoft.com/office/drawing/2014/main" id="{7BCD7359-854E-0802-B7CC-CE1520B795A4}"/>
              </a:ext>
            </a:extLst>
          </p:cNvPr>
          <p:cNvSpPr/>
          <p:nvPr/>
        </p:nvSpPr>
        <p:spPr>
          <a:xfrm>
            <a:off x="6179125" y="1524000"/>
            <a:ext cx="50800" cy="4064000"/>
          </a:xfrm>
          <a:prstGeom prst="roundRect">
            <a:avLst>
              <a:gd name="adj" fmla="val 0"/>
            </a:avLst>
          </a:prstGeom>
          <a:solidFill>
            <a:srgbClr val="2A75F9">
              <a:alpha val="100000"/>
            </a:srgbClr>
          </a:solidFill>
          <a:ln cap="flat" cmpd="sng">
            <a:solidFill>
              <a:srgbClr val="0F5B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19">
            <a:extLst>
              <a:ext uri="{FF2B5EF4-FFF2-40B4-BE49-F238E27FC236}">
                <a16:creationId xmlns:a16="http://schemas.microsoft.com/office/drawing/2014/main" id="{A32E47C0-C393-7FEA-66FF-C2351E4481E7}"/>
              </a:ext>
            </a:extLst>
          </p:cNvPr>
          <p:cNvSpPr/>
          <p:nvPr/>
        </p:nvSpPr>
        <p:spPr>
          <a:xfrm>
            <a:off x="6179125" y="1524000"/>
            <a:ext cx="2667000" cy="762000"/>
          </a:xfrm>
          <a:prstGeom prst="roundRect">
            <a:avLst>
              <a:gd name="adj" fmla="val 0"/>
            </a:avLst>
          </a:prstGeom>
          <a:solidFill>
            <a:srgbClr val="0A2C6E">
              <a:alpha val="100000"/>
            </a:srgbClr>
          </a:solidFill>
          <a:ln cap="flat" cmpd="sng">
            <a:solidFill>
              <a:srgbClr val="001D5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20">
            <a:extLst>
              <a:ext uri="{FF2B5EF4-FFF2-40B4-BE49-F238E27FC236}">
                <a16:creationId xmlns:a16="http://schemas.microsoft.com/office/drawing/2014/main" id="{480D5F69-88F2-E648-07BE-F8F8CB9DAD30}"/>
              </a:ext>
            </a:extLst>
          </p:cNvPr>
          <p:cNvSpPr/>
          <p:nvPr/>
        </p:nvSpPr>
        <p:spPr>
          <a:xfrm>
            <a:off x="6179125" y="1524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333"/>
              </a:lnSpc>
              <a:defRPr/>
            </a:pPr>
            <a:r>
              <a:rPr lang="en-US" sz="2400" b="1" i="0" u="none" strike="noStrike" spc="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42" name="AutoShape 21">
            <a:extLst>
              <a:ext uri="{FF2B5EF4-FFF2-40B4-BE49-F238E27FC236}">
                <a16:creationId xmlns:a16="http://schemas.microsoft.com/office/drawing/2014/main" id="{23EAF871-5069-6E97-5B47-AEDE7748F18F}"/>
              </a:ext>
            </a:extLst>
          </p:cNvPr>
          <p:cNvSpPr/>
          <p:nvPr/>
        </p:nvSpPr>
        <p:spPr>
          <a:xfrm>
            <a:off x="6941125" y="1524000"/>
            <a:ext cx="185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成本管理颗粒度粗</a:t>
            </a:r>
            <a:endParaRPr lang="en-US" sz="1100"/>
          </a:p>
        </p:txBody>
      </p:sp>
      <p:sp>
        <p:nvSpPr>
          <p:cNvPr id="43" name="AutoShape 22">
            <a:extLst>
              <a:ext uri="{FF2B5EF4-FFF2-40B4-BE49-F238E27FC236}">
                <a16:creationId xmlns:a16="http://schemas.microsoft.com/office/drawing/2014/main" id="{C0116B22-DD23-F88D-E4F9-17B8B595B134}"/>
              </a:ext>
            </a:extLst>
          </p:cNvPr>
          <p:cNvSpPr/>
          <p:nvPr/>
        </p:nvSpPr>
        <p:spPr>
          <a:xfrm>
            <a:off x="6179125" y="2438400"/>
            <a:ext cx="266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 spc="30">
                <a:solidFill>
                  <a:srgbClr val="0A2C6E"/>
                </a:solidFill>
                <a:latin typeface="Noto Sans SC"/>
                <a:ea typeface="Noto Sans SC"/>
                <a:cs typeface="Noto Sans SC"/>
                <a:sym typeface="Noto Sans SC"/>
              </a:rPr>
              <a:t>精细化管理待提升</a:t>
            </a:r>
            <a:endParaRPr lang="en-US" sz="1100"/>
          </a:p>
        </p:txBody>
      </p:sp>
      <p:sp>
        <p:nvSpPr>
          <p:cNvPr id="44" name="AutoShape 23">
            <a:extLst>
              <a:ext uri="{FF2B5EF4-FFF2-40B4-BE49-F238E27FC236}">
                <a16:creationId xmlns:a16="http://schemas.microsoft.com/office/drawing/2014/main" id="{26485115-AD48-DA44-9864-C8B1FB1B97C0}"/>
              </a:ext>
            </a:extLst>
          </p:cNvPr>
          <p:cNvSpPr/>
          <p:nvPr/>
        </p:nvSpPr>
        <p:spPr>
          <a:xfrm>
            <a:off x="6356925" y="2921000"/>
            <a:ext cx="23114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现有成本核算维度</a:t>
            </a: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无法拓展到集团视角下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无法支撑业务对成本明细精细化管理诉求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45" name="AutoShape 24">
            <a:extLst>
              <a:ext uri="{FF2B5EF4-FFF2-40B4-BE49-F238E27FC236}">
                <a16:creationId xmlns:a16="http://schemas.microsoft.com/office/drawing/2014/main" id="{2163A099-A45F-E805-5099-C83B1CF410AD}"/>
              </a:ext>
            </a:extLst>
          </p:cNvPr>
          <p:cNvSpPr/>
          <p:nvPr/>
        </p:nvSpPr>
        <p:spPr>
          <a:xfrm>
            <a:off x="9100125" y="1524000"/>
            <a:ext cx="2667000" cy="40640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cap="flat" cmpd="sng">
            <a:solidFill>
              <a:srgbClr val="BDCD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AutoShape 25">
            <a:extLst>
              <a:ext uri="{FF2B5EF4-FFF2-40B4-BE49-F238E27FC236}">
                <a16:creationId xmlns:a16="http://schemas.microsoft.com/office/drawing/2014/main" id="{AF105048-9AF7-EF44-B924-608A360B2869}"/>
              </a:ext>
            </a:extLst>
          </p:cNvPr>
          <p:cNvSpPr/>
          <p:nvPr/>
        </p:nvSpPr>
        <p:spPr>
          <a:xfrm>
            <a:off x="9100125" y="1524000"/>
            <a:ext cx="50800" cy="4064000"/>
          </a:xfrm>
          <a:prstGeom prst="roundRect">
            <a:avLst>
              <a:gd name="adj" fmla="val 0"/>
            </a:avLst>
          </a:prstGeom>
          <a:solidFill>
            <a:srgbClr val="2A75F9">
              <a:alpha val="100000"/>
            </a:srgbClr>
          </a:solidFill>
          <a:ln cap="flat" cmpd="sng">
            <a:solidFill>
              <a:srgbClr val="0F5B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AutoShape 26">
            <a:extLst>
              <a:ext uri="{FF2B5EF4-FFF2-40B4-BE49-F238E27FC236}">
                <a16:creationId xmlns:a16="http://schemas.microsoft.com/office/drawing/2014/main" id="{CED79F87-7D6C-540C-28F4-7740382E1B10}"/>
              </a:ext>
            </a:extLst>
          </p:cNvPr>
          <p:cNvSpPr/>
          <p:nvPr/>
        </p:nvSpPr>
        <p:spPr>
          <a:xfrm>
            <a:off x="9100125" y="1524000"/>
            <a:ext cx="2667000" cy="762000"/>
          </a:xfrm>
          <a:prstGeom prst="roundRect">
            <a:avLst>
              <a:gd name="adj" fmla="val 0"/>
            </a:avLst>
          </a:prstGeom>
          <a:solidFill>
            <a:srgbClr val="0A2C6E">
              <a:alpha val="100000"/>
            </a:srgbClr>
          </a:solidFill>
          <a:ln cap="flat" cmpd="sng">
            <a:solidFill>
              <a:srgbClr val="001D5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AutoShape 27">
            <a:extLst>
              <a:ext uri="{FF2B5EF4-FFF2-40B4-BE49-F238E27FC236}">
                <a16:creationId xmlns:a16="http://schemas.microsoft.com/office/drawing/2014/main" id="{B91B9ADA-A9FA-BA04-F85F-8257355D3354}"/>
              </a:ext>
            </a:extLst>
          </p:cNvPr>
          <p:cNvSpPr/>
          <p:nvPr/>
        </p:nvSpPr>
        <p:spPr>
          <a:xfrm>
            <a:off x="9100125" y="1524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333"/>
              </a:lnSpc>
              <a:defRPr/>
            </a:pPr>
            <a:r>
              <a:rPr lang="en-US" sz="2400" b="1" i="0" u="none" strike="noStrike" spc="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49" name="AutoShape 28">
            <a:extLst>
              <a:ext uri="{FF2B5EF4-FFF2-40B4-BE49-F238E27FC236}">
                <a16:creationId xmlns:a16="http://schemas.microsoft.com/office/drawing/2014/main" id="{121FF381-59BD-D373-8301-9C5CDCC42339}"/>
              </a:ext>
            </a:extLst>
          </p:cNvPr>
          <p:cNvSpPr/>
          <p:nvPr/>
        </p:nvSpPr>
        <p:spPr>
          <a:xfrm>
            <a:off x="9862125" y="1524000"/>
            <a:ext cx="185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海外本地化核算</a:t>
            </a:r>
            <a:endParaRPr lang="en-US" sz="1100"/>
          </a:p>
        </p:txBody>
      </p:sp>
      <p:sp>
        <p:nvSpPr>
          <p:cNvPr id="50" name="AutoShape 29">
            <a:extLst>
              <a:ext uri="{FF2B5EF4-FFF2-40B4-BE49-F238E27FC236}">
                <a16:creationId xmlns:a16="http://schemas.microsoft.com/office/drawing/2014/main" id="{132D69E8-1796-236D-B316-65B63849931E}"/>
              </a:ext>
            </a:extLst>
          </p:cNvPr>
          <p:cNvSpPr/>
          <p:nvPr/>
        </p:nvSpPr>
        <p:spPr>
          <a:xfrm>
            <a:off x="9100125" y="2438400"/>
            <a:ext cx="266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 spc="30">
                <a:solidFill>
                  <a:srgbClr val="0A2C6E"/>
                </a:solidFill>
                <a:latin typeface="Noto Sans SC"/>
                <a:ea typeface="Noto Sans SC"/>
                <a:cs typeface="Noto Sans SC"/>
                <a:sym typeface="Noto Sans SC"/>
              </a:rPr>
              <a:t>泰国双成本核算要求</a:t>
            </a:r>
            <a:endParaRPr lang="en-US" sz="1100"/>
          </a:p>
        </p:txBody>
      </p:sp>
      <p:sp>
        <p:nvSpPr>
          <p:cNvPr id="51" name="AutoShape 30">
            <a:extLst>
              <a:ext uri="{FF2B5EF4-FFF2-40B4-BE49-F238E27FC236}">
                <a16:creationId xmlns:a16="http://schemas.microsoft.com/office/drawing/2014/main" id="{11A62CDD-EE11-55FF-D315-D2149DC3F327}"/>
              </a:ext>
            </a:extLst>
          </p:cNvPr>
          <p:cNvSpPr/>
          <p:nvPr/>
        </p:nvSpPr>
        <p:spPr>
          <a:xfrm>
            <a:off x="9277925" y="2921000"/>
            <a:ext cx="23114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泰国本地工厂需要同时满足集团准则与当地财税法规,需落地双套成本核算体系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1800" y="6515100"/>
            <a:ext cx="1358900" cy="152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7400" y="6451600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92100" y="6413500"/>
            <a:ext cx="1739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0160000" y="-635000"/>
            <a:ext cx="2540000" cy="254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31800" y="292100"/>
            <a:ext cx="113411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2800" b="1" i="0" u="none" strike="noStrike" dirty="0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方案分析</a:t>
            </a:r>
            <a:endParaRPr lang="en-US" sz="1100" dirty="0"/>
          </a:p>
        </p:txBody>
      </p:sp>
      <p:sp>
        <p:nvSpPr>
          <p:cNvPr id="52" name="AutoShape 52"/>
          <p:cNvSpPr/>
          <p:nvPr/>
        </p:nvSpPr>
        <p:spPr>
          <a:xfrm>
            <a:off x="508000" y="5537200"/>
            <a:ext cx="11176000" cy="698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" name="AutoShape 53"/>
          <p:cNvSpPr/>
          <p:nvPr/>
        </p:nvSpPr>
        <p:spPr>
          <a:xfrm>
            <a:off x="635000" y="5638800"/>
            <a:ext cx="10922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4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方案选择：优先使用方案</a:t>
            </a:r>
            <a:r>
              <a:rPr lang="en-US" altLang="zh-CN" sz="14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r>
              <a:rPr lang="zh-CN" altLang="en-US" sz="14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，如果方案</a:t>
            </a:r>
            <a:r>
              <a:rPr lang="en-US" altLang="zh-CN" sz="14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r>
              <a:rPr lang="zh-CN" altLang="en-US" sz="14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在集成测试阶段，存在不足，则使用方案</a:t>
            </a:r>
            <a:r>
              <a:rPr lang="en-US" altLang="zh-CN" sz="14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r>
              <a:rPr lang="zh-CN" altLang="en-US" sz="14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作为兜底方案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55" name="AutoShape 3">
            <a:extLst>
              <a:ext uri="{FF2B5EF4-FFF2-40B4-BE49-F238E27FC236}">
                <a16:creationId xmlns:a16="http://schemas.microsoft.com/office/drawing/2014/main" id="{F4559E2A-B686-089E-7C88-802992D5BCC2}"/>
              </a:ext>
            </a:extLst>
          </p:cNvPr>
          <p:cNvSpPr/>
          <p:nvPr/>
        </p:nvSpPr>
        <p:spPr>
          <a:xfrm>
            <a:off x="590551" y="1206500"/>
            <a:ext cx="3556000" cy="40640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cap="flat" cmpd="sng">
            <a:solidFill>
              <a:srgbClr val="BDCD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AutoShape 4">
            <a:extLst>
              <a:ext uri="{FF2B5EF4-FFF2-40B4-BE49-F238E27FC236}">
                <a16:creationId xmlns:a16="http://schemas.microsoft.com/office/drawing/2014/main" id="{C74FE527-DFDA-73FC-1FC7-E02A19A40114}"/>
              </a:ext>
            </a:extLst>
          </p:cNvPr>
          <p:cNvSpPr/>
          <p:nvPr/>
        </p:nvSpPr>
        <p:spPr>
          <a:xfrm>
            <a:off x="590551" y="1206500"/>
            <a:ext cx="50800" cy="4064000"/>
          </a:xfrm>
          <a:prstGeom prst="roundRect">
            <a:avLst>
              <a:gd name="adj" fmla="val 0"/>
            </a:avLst>
          </a:prstGeom>
          <a:solidFill>
            <a:srgbClr val="2A75F9">
              <a:alpha val="100000"/>
            </a:srgbClr>
          </a:solidFill>
          <a:ln cap="flat" cmpd="sng">
            <a:solidFill>
              <a:srgbClr val="0F5B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" name="AutoShape 5">
            <a:extLst>
              <a:ext uri="{FF2B5EF4-FFF2-40B4-BE49-F238E27FC236}">
                <a16:creationId xmlns:a16="http://schemas.microsoft.com/office/drawing/2014/main" id="{E6E314FA-007A-FB9E-DB2C-0C701B02415F}"/>
              </a:ext>
            </a:extLst>
          </p:cNvPr>
          <p:cNvSpPr/>
          <p:nvPr/>
        </p:nvSpPr>
        <p:spPr>
          <a:xfrm>
            <a:off x="590551" y="1206500"/>
            <a:ext cx="3556000" cy="762000"/>
          </a:xfrm>
          <a:prstGeom prst="roundRect">
            <a:avLst>
              <a:gd name="adj" fmla="val 0"/>
            </a:avLst>
          </a:prstGeom>
          <a:solidFill>
            <a:srgbClr val="0A2C6E">
              <a:alpha val="100000"/>
            </a:srgbClr>
          </a:solidFill>
          <a:ln cap="flat" cmpd="sng">
            <a:solidFill>
              <a:srgbClr val="001D5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" name="AutoShape 6">
            <a:extLst>
              <a:ext uri="{FF2B5EF4-FFF2-40B4-BE49-F238E27FC236}">
                <a16:creationId xmlns:a16="http://schemas.microsoft.com/office/drawing/2014/main" id="{5596D774-67D1-1602-D0EA-5BA5228001EA}"/>
              </a:ext>
            </a:extLst>
          </p:cNvPr>
          <p:cNvSpPr/>
          <p:nvPr/>
        </p:nvSpPr>
        <p:spPr>
          <a:xfrm>
            <a:off x="590551" y="1206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333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59" name="AutoShape 7">
            <a:extLst>
              <a:ext uri="{FF2B5EF4-FFF2-40B4-BE49-F238E27FC236}">
                <a16:creationId xmlns:a16="http://schemas.microsoft.com/office/drawing/2014/main" id="{ADB3A127-9B94-63BB-A4C8-2B3E4F893E59}"/>
              </a:ext>
            </a:extLst>
          </p:cNvPr>
          <p:cNvSpPr/>
          <p:nvPr/>
        </p:nvSpPr>
        <p:spPr>
          <a:xfrm>
            <a:off x="1352551" y="1206500"/>
            <a:ext cx="2717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启用批次管理的方案</a:t>
            </a:r>
            <a:endParaRPr lang="en-US" sz="1100"/>
          </a:p>
        </p:txBody>
      </p:sp>
      <p:sp>
        <p:nvSpPr>
          <p:cNvPr id="60" name="AutoShape 8">
            <a:extLst>
              <a:ext uri="{FF2B5EF4-FFF2-40B4-BE49-F238E27FC236}">
                <a16:creationId xmlns:a16="http://schemas.microsoft.com/office/drawing/2014/main" id="{B04BF8D9-2BAA-BDC8-9942-00E3009C9E51}"/>
              </a:ext>
            </a:extLst>
          </p:cNvPr>
          <p:cNvSpPr/>
          <p:nvPr/>
        </p:nvSpPr>
        <p:spPr>
          <a:xfrm>
            <a:off x="590551" y="2095500"/>
            <a:ext cx="38100" cy="304800"/>
          </a:xfrm>
          <a:prstGeom prst="roundRect">
            <a:avLst>
              <a:gd name="adj" fmla="val 0"/>
            </a:avLst>
          </a:prstGeom>
          <a:solidFill>
            <a:srgbClr val="2A75F9">
              <a:alpha val="100000"/>
            </a:srgbClr>
          </a:solidFill>
          <a:ln cap="flat" cmpd="sng">
            <a:solidFill>
              <a:srgbClr val="0F5B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" name="AutoShape 9">
            <a:extLst>
              <a:ext uri="{FF2B5EF4-FFF2-40B4-BE49-F238E27FC236}">
                <a16:creationId xmlns:a16="http://schemas.microsoft.com/office/drawing/2014/main" id="{B4028432-18BA-7324-2F0A-0B5C102ED887}"/>
              </a:ext>
            </a:extLst>
          </p:cNvPr>
          <p:cNvSpPr/>
          <p:nvPr/>
        </p:nvSpPr>
        <p:spPr>
          <a:xfrm>
            <a:off x="768351" y="2095500"/>
            <a:ext cx="32004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333"/>
              </a:lnSpc>
              <a:defRPr/>
            </a:pPr>
            <a:r>
              <a:rPr lang="en-US" sz="1600" b="1" i="0" u="none" strike="noStrike">
                <a:solidFill>
                  <a:srgbClr val="0A2C6E"/>
                </a:solidFill>
                <a:latin typeface="Noto Sans SC"/>
                <a:ea typeface="Noto Sans SC"/>
                <a:cs typeface="Noto Sans SC"/>
                <a:sym typeface="Noto Sans SC"/>
              </a:rPr>
              <a:t>优点</a:t>
            </a:r>
            <a:endParaRPr lang="en-US" sz="1100"/>
          </a:p>
        </p:txBody>
      </p:sp>
      <p:sp>
        <p:nvSpPr>
          <p:cNvPr id="62" name="AutoShape 10">
            <a:extLst>
              <a:ext uri="{FF2B5EF4-FFF2-40B4-BE49-F238E27FC236}">
                <a16:creationId xmlns:a16="http://schemas.microsoft.com/office/drawing/2014/main" id="{98A9FF8C-D16F-4684-1FCF-BAC781C5AD76}"/>
              </a:ext>
            </a:extLst>
          </p:cNvPr>
          <p:cNvSpPr/>
          <p:nvPr/>
        </p:nvSpPr>
        <p:spPr>
          <a:xfrm>
            <a:off x="768351" y="2476500"/>
            <a:ext cx="32004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9166"/>
              </a:lnSpc>
              <a:defRPr/>
            </a:pPr>
            <a:r>
              <a:rPr lang="zh-CN" altLang="en-US" dirty="0"/>
              <a:t>精确从单据级别跟踪内部的物资流动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63" name="AutoShape 11">
            <a:extLst>
              <a:ext uri="{FF2B5EF4-FFF2-40B4-BE49-F238E27FC236}">
                <a16:creationId xmlns:a16="http://schemas.microsoft.com/office/drawing/2014/main" id="{E447BD06-1267-DBC4-07F5-B6B97FAC8473}"/>
              </a:ext>
            </a:extLst>
          </p:cNvPr>
          <p:cNvSpPr/>
          <p:nvPr/>
        </p:nvSpPr>
        <p:spPr>
          <a:xfrm>
            <a:off x="590551" y="3619500"/>
            <a:ext cx="38100" cy="304800"/>
          </a:xfrm>
          <a:prstGeom prst="roundRect">
            <a:avLst>
              <a:gd name="adj" fmla="val 0"/>
            </a:avLst>
          </a:prstGeom>
          <a:solidFill>
            <a:srgbClr val="2A75F9">
              <a:alpha val="100000"/>
            </a:srgbClr>
          </a:solidFill>
          <a:ln cap="flat" cmpd="sng">
            <a:solidFill>
              <a:srgbClr val="0F5B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" name="AutoShape 12">
            <a:extLst>
              <a:ext uri="{FF2B5EF4-FFF2-40B4-BE49-F238E27FC236}">
                <a16:creationId xmlns:a16="http://schemas.microsoft.com/office/drawing/2014/main" id="{FB37CAAD-3AE0-7E3E-7AB3-05E78D3A2CBD}"/>
              </a:ext>
            </a:extLst>
          </p:cNvPr>
          <p:cNvSpPr/>
          <p:nvPr/>
        </p:nvSpPr>
        <p:spPr>
          <a:xfrm>
            <a:off x="768351" y="3619500"/>
            <a:ext cx="32004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333"/>
              </a:lnSpc>
              <a:defRPr/>
            </a:pPr>
            <a:r>
              <a:rPr lang="en-US" sz="1600" b="1" i="0" u="none" strike="noStrike">
                <a:solidFill>
                  <a:srgbClr val="0A2C6E"/>
                </a:solidFill>
                <a:latin typeface="Noto Sans SC"/>
                <a:ea typeface="Noto Sans SC"/>
                <a:cs typeface="Noto Sans SC"/>
                <a:sym typeface="Noto Sans SC"/>
              </a:rPr>
              <a:t>缺点</a:t>
            </a:r>
            <a:endParaRPr lang="en-US" sz="1100"/>
          </a:p>
        </p:txBody>
      </p:sp>
      <p:sp>
        <p:nvSpPr>
          <p:cNvPr id="65" name="AutoShape 13">
            <a:extLst>
              <a:ext uri="{FF2B5EF4-FFF2-40B4-BE49-F238E27FC236}">
                <a16:creationId xmlns:a16="http://schemas.microsoft.com/office/drawing/2014/main" id="{E1F674A5-238A-753F-30EF-38E3EE433B69}"/>
              </a:ext>
            </a:extLst>
          </p:cNvPr>
          <p:cNvSpPr/>
          <p:nvPr/>
        </p:nvSpPr>
        <p:spPr>
          <a:xfrm>
            <a:off x="768351" y="4000500"/>
            <a:ext cx="32004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9166"/>
              </a:lnSpc>
              <a:defRPr/>
            </a:pPr>
            <a:r>
              <a:rPr lang="zh-CN" altLang="en-US" dirty="0"/>
              <a:t>对</a:t>
            </a:r>
            <a:r>
              <a:rPr lang="en-US" altLang="zh-CN" dirty="0"/>
              <a:t>SAP</a:t>
            </a:r>
            <a:r>
              <a:rPr lang="zh-CN" altLang="en-US" dirty="0"/>
              <a:t>系统，外部系统改造大，短期不可行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66" name="AutoShape 14">
            <a:extLst>
              <a:ext uri="{FF2B5EF4-FFF2-40B4-BE49-F238E27FC236}">
                <a16:creationId xmlns:a16="http://schemas.microsoft.com/office/drawing/2014/main" id="{1E3AC04C-F085-F292-DC82-A4778F24F666}"/>
              </a:ext>
            </a:extLst>
          </p:cNvPr>
          <p:cNvSpPr/>
          <p:nvPr/>
        </p:nvSpPr>
        <p:spPr>
          <a:xfrm>
            <a:off x="4400551" y="1206500"/>
            <a:ext cx="3556000" cy="40640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cap="flat" cmpd="sng">
            <a:solidFill>
              <a:srgbClr val="BDCD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" name="AutoShape 15">
            <a:extLst>
              <a:ext uri="{FF2B5EF4-FFF2-40B4-BE49-F238E27FC236}">
                <a16:creationId xmlns:a16="http://schemas.microsoft.com/office/drawing/2014/main" id="{D893BF0A-F30A-6DA8-C24E-555614922D4B}"/>
              </a:ext>
            </a:extLst>
          </p:cNvPr>
          <p:cNvSpPr/>
          <p:nvPr/>
        </p:nvSpPr>
        <p:spPr>
          <a:xfrm>
            <a:off x="4400551" y="1206500"/>
            <a:ext cx="50800" cy="4064000"/>
          </a:xfrm>
          <a:prstGeom prst="roundRect">
            <a:avLst>
              <a:gd name="adj" fmla="val 0"/>
            </a:avLst>
          </a:prstGeom>
          <a:solidFill>
            <a:srgbClr val="2A75F9">
              <a:alpha val="100000"/>
            </a:srgbClr>
          </a:solidFill>
          <a:ln cap="flat" cmpd="sng">
            <a:solidFill>
              <a:srgbClr val="0F5B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" name="AutoShape 16">
            <a:extLst>
              <a:ext uri="{FF2B5EF4-FFF2-40B4-BE49-F238E27FC236}">
                <a16:creationId xmlns:a16="http://schemas.microsoft.com/office/drawing/2014/main" id="{B77DD9EA-A97D-C40B-CBB7-08F76C0FF365}"/>
              </a:ext>
            </a:extLst>
          </p:cNvPr>
          <p:cNvSpPr/>
          <p:nvPr/>
        </p:nvSpPr>
        <p:spPr>
          <a:xfrm>
            <a:off x="4400551" y="1206500"/>
            <a:ext cx="3556000" cy="762000"/>
          </a:xfrm>
          <a:prstGeom prst="roundRect">
            <a:avLst>
              <a:gd name="adj" fmla="val 0"/>
            </a:avLst>
          </a:prstGeom>
          <a:solidFill>
            <a:srgbClr val="0A2C6E">
              <a:alpha val="100000"/>
            </a:srgbClr>
          </a:solidFill>
          <a:ln cap="flat" cmpd="sng">
            <a:solidFill>
              <a:srgbClr val="001D5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" name="AutoShape 17">
            <a:extLst>
              <a:ext uri="{FF2B5EF4-FFF2-40B4-BE49-F238E27FC236}">
                <a16:creationId xmlns:a16="http://schemas.microsoft.com/office/drawing/2014/main" id="{95BC8A38-DBC7-E69D-12E0-2D579EFFD607}"/>
              </a:ext>
            </a:extLst>
          </p:cNvPr>
          <p:cNvSpPr/>
          <p:nvPr/>
        </p:nvSpPr>
        <p:spPr>
          <a:xfrm>
            <a:off x="4400551" y="1206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333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70" name="AutoShape 18">
            <a:extLst>
              <a:ext uri="{FF2B5EF4-FFF2-40B4-BE49-F238E27FC236}">
                <a16:creationId xmlns:a16="http://schemas.microsoft.com/office/drawing/2014/main" id="{41978790-1F61-2664-2CEA-123E40199602}"/>
              </a:ext>
            </a:extLst>
          </p:cNvPr>
          <p:cNvSpPr/>
          <p:nvPr/>
        </p:nvSpPr>
        <p:spPr>
          <a:xfrm>
            <a:off x="5162551" y="1206500"/>
            <a:ext cx="2717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启用物料的法定评估</a:t>
            </a: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\</a:t>
            </a:r>
            <a:r>
              <a:rPr lang="zh-CN" altLang="en-US" sz="18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集团评估</a:t>
            </a:r>
            <a:endParaRPr lang="en-US" sz="1100" dirty="0"/>
          </a:p>
        </p:txBody>
      </p:sp>
      <p:sp>
        <p:nvSpPr>
          <p:cNvPr id="71" name="AutoShape 19">
            <a:extLst>
              <a:ext uri="{FF2B5EF4-FFF2-40B4-BE49-F238E27FC236}">
                <a16:creationId xmlns:a16="http://schemas.microsoft.com/office/drawing/2014/main" id="{2913355E-97AA-0543-EE24-7C991AC9D6F6}"/>
              </a:ext>
            </a:extLst>
          </p:cNvPr>
          <p:cNvSpPr/>
          <p:nvPr/>
        </p:nvSpPr>
        <p:spPr>
          <a:xfrm>
            <a:off x="4400551" y="2095500"/>
            <a:ext cx="38100" cy="304800"/>
          </a:xfrm>
          <a:prstGeom prst="roundRect">
            <a:avLst>
              <a:gd name="adj" fmla="val 0"/>
            </a:avLst>
          </a:prstGeom>
          <a:solidFill>
            <a:srgbClr val="2A75F9">
              <a:alpha val="100000"/>
            </a:srgbClr>
          </a:solidFill>
          <a:ln cap="flat" cmpd="sng">
            <a:solidFill>
              <a:srgbClr val="0F5B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" name="AutoShape 20">
            <a:extLst>
              <a:ext uri="{FF2B5EF4-FFF2-40B4-BE49-F238E27FC236}">
                <a16:creationId xmlns:a16="http://schemas.microsoft.com/office/drawing/2014/main" id="{324FE8CE-4046-CF52-439B-06FCBAF6F3A0}"/>
              </a:ext>
            </a:extLst>
          </p:cNvPr>
          <p:cNvSpPr/>
          <p:nvPr/>
        </p:nvSpPr>
        <p:spPr>
          <a:xfrm>
            <a:off x="4578351" y="2095500"/>
            <a:ext cx="32004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333"/>
              </a:lnSpc>
              <a:defRPr/>
            </a:pPr>
            <a:r>
              <a:rPr lang="en-US" sz="1600" b="1" i="0" u="none" strike="noStrike">
                <a:solidFill>
                  <a:srgbClr val="0A2C6E"/>
                </a:solidFill>
                <a:latin typeface="Noto Sans SC"/>
                <a:ea typeface="Noto Sans SC"/>
                <a:cs typeface="Noto Sans SC"/>
                <a:sym typeface="Noto Sans SC"/>
              </a:rPr>
              <a:t>优点</a:t>
            </a:r>
            <a:endParaRPr lang="en-US" sz="1100"/>
          </a:p>
        </p:txBody>
      </p:sp>
      <p:sp>
        <p:nvSpPr>
          <p:cNvPr id="73" name="AutoShape 21">
            <a:extLst>
              <a:ext uri="{FF2B5EF4-FFF2-40B4-BE49-F238E27FC236}">
                <a16:creationId xmlns:a16="http://schemas.microsoft.com/office/drawing/2014/main" id="{F13D3885-E525-5B0B-1EF9-48CF32D869D0}"/>
              </a:ext>
            </a:extLst>
          </p:cNvPr>
          <p:cNvSpPr/>
          <p:nvPr/>
        </p:nvSpPr>
        <p:spPr>
          <a:xfrm>
            <a:off x="4578351" y="2476500"/>
            <a:ext cx="32004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9166"/>
              </a:lnSpc>
              <a:defRPr/>
            </a:pP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满足</a:t>
            </a: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多评估视图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法定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集团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核算要求,财务数据更准确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74" name="AutoShape 22">
            <a:extLst>
              <a:ext uri="{FF2B5EF4-FFF2-40B4-BE49-F238E27FC236}">
                <a16:creationId xmlns:a16="http://schemas.microsoft.com/office/drawing/2014/main" id="{D01EC586-5978-6932-82B0-FF958E06AF82}"/>
              </a:ext>
            </a:extLst>
          </p:cNvPr>
          <p:cNvSpPr/>
          <p:nvPr/>
        </p:nvSpPr>
        <p:spPr>
          <a:xfrm>
            <a:off x="4400551" y="3619500"/>
            <a:ext cx="38100" cy="304800"/>
          </a:xfrm>
          <a:prstGeom prst="roundRect">
            <a:avLst>
              <a:gd name="adj" fmla="val 0"/>
            </a:avLst>
          </a:prstGeom>
          <a:solidFill>
            <a:srgbClr val="2A75F9">
              <a:alpha val="100000"/>
            </a:srgbClr>
          </a:solidFill>
          <a:ln cap="flat" cmpd="sng">
            <a:solidFill>
              <a:srgbClr val="0F5B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" name="AutoShape 23">
            <a:extLst>
              <a:ext uri="{FF2B5EF4-FFF2-40B4-BE49-F238E27FC236}">
                <a16:creationId xmlns:a16="http://schemas.microsoft.com/office/drawing/2014/main" id="{52E7D255-143E-E3F0-30A3-E1C2A4ECAD61}"/>
              </a:ext>
            </a:extLst>
          </p:cNvPr>
          <p:cNvSpPr/>
          <p:nvPr/>
        </p:nvSpPr>
        <p:spPr>
          <a:xfrm>
            <a:off x="4578351" y="3619500"/>
            <a:ext cx="32004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333"/>
              </a:lnSpc>
              <a:defRPr/>
            </a:pPr>
            <a:r>
              <a:rPr lang="en-US" sz="1600" b="1" i="0" u="none" strike="noStrike">
                <a:solidFill>
                  <a:srgbClr val="0A2C6E"/>
                </a:solidFill>
                <a:latin typeface="Noto Sans SC"/>
                <a:ea typeface="Noto Sans SC"/>
                <a:cs typeface="Noto Sans SC"/>
                <a:sym typeface="Noto Sans SC"/>
              </a:rPr>
              <a:t>缺点</a:t>
            </a:r>
            <a:endParaRPr lang="en-US" sz="1100"/>
          </a:p>
        </p:txBody>
      </p:sp>
      <p:sp>
        <p:nvSpPr>
          <p:cNvPr id="76" name="AutoShape 24">
            <a:extLst>
              <a:ext uri="{FF2B5EF4-FFF2-40B4-BE49-F238E27FC236}">
                <a16:creationId xmlns:a16="http://schemas.microsoft.com/office/drawing/2014/main" id="{7D2904D4-A73D-6EE4-1F78-0C1429D65838}"/>
              </a:ext>
            </a:extLst>
          </p:cNvPr>
          <p:cNvSpPr/>
          <p:nvPr/>
        </p:nvSpPr>
        <p:spPr>
          <a:xfrm>
            <a:off x="4578351" y="4000500"/>
            <a:ext cx="32004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9166"/>
              </a:lnSpc>
              <a:defRPr/>
            </a:pP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需维护两套评估体系,数据同步和对账逻辑复杂,增加财务</a:t>
            </a: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月结的负担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77" name="AutoShape 25">
            <a:extLst>
              <a:ext uri="{FF2B5EF4-FFF2-40B4-BE49-F238E27FC236}">
                <a16:creationId xmlns:a16="http://schemas.microsoft.com/office/drawing/2014/main" id="{1A89498C-0E62-660E-400B-F266B8BD7743}"/>
              </a:ext>
            </a:extLst>
          </p:cNvPr>
          <p:cNvSpPr/>
          <p:nvPr/>
        </p:nvSpPr>
        <p:spPr>
          <a:xfrm>
            <a:off x="8210551" y="1206500"/>
            <a:ext cx="3556000" cy="40640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cap="flat" cmpd="sng">
            <a:solidFill>
              <a:srgbClr val="BDCD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" name="AutoShape 26">
            <a:extLst>
              <a:ext uri="{FF2B5EF4-FFF2-40B4-BE49-F238E27FC236}">
                <a16:creationId xmlns:a16="http://schemas.microsoft.com/office/drawing/2014/main" id="{2686A3E8-5D82-1AA6-5B01-686BBAF87906}"/>
              </a:ext>
            </a:extLst>
          </p:cNvPr>
          <p:cNvSpPr/>
          <p:nvPr/>
        </p:nvSpPr>
        <p:spPr>
          <a:xfrm>
            <a:off x="8210551" y="1206500"/>
            <a:ext cx="50800" cy="4064000"/>
          </a:xfrm>
          <a:prstGeom prst="roundRect">
            <a:avLst>
              <a:gd name="adj" fmla="val 0"/>
            </a:avLst>
          </a:prstGeom>
          <a:solidFill>
            <a:srgbClr val="2A75F9">
              <a:alpha val="100000"/>
            </a:srgbClr>
          </a:solidFill>
          <a:ln cap="flat" cmpd="sng">
            <a:solidFill>
              <a:srgbClr val="0F5B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" name="AutoShape 27">
            <a:extLst>
              <a:ext uri="{FF2B5EF4-FFF2-40B4-BE49-F238E27FC236}">
                <a16:creationId xmlns:a16="http://schemas.microsoft.com/office/drawing/2014/main" id="{7815D6CB-3793-7105-008C-8ABEA5ADBA3E}"/>
              </a:ext>
            </a:extLst>
          </p:cNvPr>
          <p:cNvSpPr/>
          <p:nvPr/>
        </p:nvSpPr>
        <p:spPr>
          <a:xfrm>
            <a:off x="8210551" y="1206500"/>
            <a:ext cx="3556000" cy="762000"/>
          </a:xfrm>
          <a:prstGeom prst="roundRect">
            <a:avLst>
              <a:gd name="adj" fmla="val 0"/>
            </a:avLst>
          </a:prstGeom>
          <a:solidFill>
            <a:srgbClr val="0A2C6E">
              <a:alpha val="100000"/>
            </a:srgbClr>
          </a:solidFill>
          <a:ln cap="flat" cmpd="sng">
            <a:solidFill>
              <a:srgbClr val="001D5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" name="AutoShape 28">
            <a:extLst>
              <a:ext uri="{FF2B5EF4-FFF2-40B4-BE49-F238E27FC236}">
                <a16:creationId xmlns:a16="http://schemas.microsoft.com/office/drawing/2014/main" id="{38AFD6F9-F2CF-202F-859C-E1CCD138BD42}"/>
              </a:ext>
            </a:extLst>
          </p:cNvPr>
          <p:cNvSpPr/>
          <p:nvPr/>
        </p:nvSpPr>
        <p:spPr>
          <a:xfrm>
            <a:off x="8210551" y="1206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333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81" name="AutoShape 29">
            <a:extLst>
              <a:ext uri="{FF2B5EF4-FFF2-40B4-BE49-F238E27FC236}">
                <a16:creationId xmlns:a16="http://schemas.microsoft.com/office/drawing/2014/main" id="{1ACEEAB0-BA52-8A98-71AE-AE0A3720452F}"/>
              </a:ext>
            </a:extLst>
          </p:cNvPr>
          <p:cNvSpPr/>
          <p:nvPr/>
        </p:nvSpPr>
        <p:spPr>
          <a:xfrm>
            <a:off x="8972551" y="1206500"/>
            <a:ext cx="2717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纯报表逻辑开发方案</a:t>
            </a:r>
            <a:endParaRPr lang="en-US" sz="1100"/>
          </a:p>
        </p:txBody>
      </p:sp>
      <p:sp>
        <p:nvSpPr>
          <p:cNvPr id="82" name="AutoShape 30">
            <a:extLst>
              <a:ext uri="{FF2B5EF4-FFF2-40B4-BE49-F238E27FC236}">
                <a16:creationId xmlns:a16="http://schemas.microsoft.com/office/drawing/2014/main" id="{5E9FCC8C-2D38-05B4-9B71-23C4D7410E58}"/>
              </a:ext>
            </a:extLst>
          </p:cNvPr>
          <p:cNvSpPr/>
          <p:nvPr/>
        </p:nvSpPr>
        <p:spPr>
          <a:xfrm>
            <a:off x="8210551" y="2095500"/>
            <a:ext cx="38100" cy="304800"/>
          </a:xfrm>
          <a:prstGeom prst="roundRect">
            <a:avLst>
              <a:gd name="adj" fmla="val 0"/>
            </a:avLst>
          </a:prstGeom>
          <a:solidFill>
            <a:srgbClr val="2A75F9">
              <a:alpha val="100000"/>
            </a:srgbClr>
          </a:solidFill>
          <a:ln cap="flat" cmpd="sng">
            <a:solidFill>
              <a:srgbClr val="0F5B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" name="AutoShape 31">
            <a:extLst>
              <a:ext uri="{FF2B5EF4-FFF2-40B4-BE49-F238E27FC236}">
                <a16:creationId xmlns:a16="http://schemas.microsoft.com/office/drawing/2014/main" id="{B09C95DF-8BC6-7236-2D72-2F71F3169069}"/>
              </a:ext>
            </a:extLst>
          </p:cNvPr>
          <p:cNvSpPr/>
          <p:nvPr/>
        </p:nvSpPr>
        <p:spPr>
          <a:xfrm>
            <a:off x="8388351" y="2095500"/>
            <a:ext cx="32004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333"/>
              </a:lnSpc>
              <a:defRPr/>
            </a:pPr>
            <a:r>
              <a:rPr lang="en-US" sz="1600" b="1" i="0" u="none" strike="noStrike">
                <a:solidFill>
                  <a:srgbClr val="0A2C6E"/>
                </a:solidFill>
                <a:latin typeface="Noto Sans SC"/>
                <a:ea typeface="Noto Sans SC"/>
                <a:cs typeface="Noto Sans SC"/>
                <a:sym typeface="Noto Sans SC"/>
              </a:rPr>
              <a:t>优点</a:t>
            </a:r>
            <a:endParaRPr lang="en-US" sz="1100"/>
          </a:p>
        </p:txBody>
      </p:sp>
      <p:sp>
        <p:nvSpPr>
          <p:cNvPr id="84" name="AutoShape 32">
            <a:extLst>
              <a:ext uri="{FF2B5EF4-FFF2-40B4-BE49-F238E27FC236}">
                <a16:creationId xmlns:a16="http://schemas.microsoft.com/office/drawing/2014/main" id="{6BE9903F-85F0-D62A-C046-40253FA2887F}"/>
              </a:ext>
            </a:extLst>
          </p:cNvPr>
          <p:cNvSpPr/>
          <p:nvPr/>
        </p:nvSpPr>
        <p:spPr>
          <a:xfrm>
            <a:off x="8388351" y="2476500"/>
            <a:ext cx="32004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9166"/>
              </a:lnSpc>
              <a:defRPr/>
            </a:pP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对现有业务流程和主数据影响小,实施风险低</a:t>
            </a:r>
            <a:r>
              <a:rPr lang="zh-CN" altLang="en-US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85" name="AutoShape 33">
            <a:extLst>
              <a:ext uri="{FF2B5EF4-FFF2-40B4-BE49-F238E27FC236}">
                <a16:creationId xmlns:a16="http://schemas.microsoft.com/office/drawing/2014/main" id="{B0016A11-F061-B0D3-76A3-CFC714BD437E}"/>
              </a:ext>
            </a:extLst>
          </p:cNvPr>
          <p:cNvSpPr/>
          <p:nvPr/>
        </p:nvSpPr>
        <p:spPr>
          <a:xfrm>
            <a:off x="8210551" y="3619500"/>
            <a:ext cx="38100" cy="304800"/>
          </a:xfrm>
          <a:prstGeom prst="roundRect">
            <a:avLst>
              <a:gd name="adj" fmla="val 0"/>
            </a:avLst>
          </a:prstGeom>
          <a:solidFill>
            <a:srgbClr val="2A75F9">
              <a:alpha val="100000"/>
            </a:srgbClr>
          </a:solidFill>
          <a:ln cap="flat" cmpd="sng">
            <a:solidFill>
              <a:srgbClr val="0F5B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" name="AutoShape 34">
            <a:extLst>
              <a:ext uri="{FF2B5EF4-FFF2-40B4-BE49-F238E27FC236}">
                <a16:creationId xmlns:a16="http://schemas.microsoft.com/office/drawing/2014/main" id="{A35F33BE-0271-F349-8800-A6A901BEF658}"/>
              </a:ext>
            </a:extLst>
          </p:cNvPr>
          <p:cNvSpPr/>
          <p:nvPr/>
        </p:nvSpPr>
        <p:spPr>
          <a:xfrm>
            <a:off x="8388351" y="3619500"/>
            <a:ext cx="32004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333"/>
              </a:lnSpc>
              <a:defRPr/>
            </a:pPr>
            <a:r>
              <a:rPr lang="en-US" sz="1600" b="1" i="0" u="none" strike="noStrike">
                <a:solidFill>
                  <a:srgbClr val="0A2C6E"/>
                </a:solidFill>
                <a:latin typeface="Noto Sans SC"/>
                <a:ea typeface="Noto Sans SC"/>
                <a:cs typeface="Noto Sans SC"/>
                <a:sym typeface="Noto Sans SC"/>
              </a:rPr>
              <a:t>缺点</a:t>
            </a:r>
            <a:endParaRPr lang="en-US" sz="1100"/>
          </a:p>
        </p:txBody>
      </p:sp>
      <p:sp>
        <p:nvSpPr>
          <p:cNvPr id="87" name="AutoShape 35">
            <a:extLst>
              <a:ext uri="{FF2B5EF4-FFF2-40B4-BE49-F238E27FC236}">
                <a16:creationId xmlns:a16="http://schemas.microsoft.com/office/drawing/2014/main" id="{B798212E-8299-C241-3B00-5616D99CF04C}"/>
              </a:ext>
            </a:extLst>
          </p:cNvPr>
          <p:cNvSpPr/>
          <p:nvPr/>
        </p:nvSpPr>
        <p:spPr>
          <a:xfrm>
            <a:off x="8388351" y="4000500"/>
            <a:ext cx="32004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9166"/>
              </a:lnSpc>
              <a:defRPr/>
            </a:pPr>
            <a:r>
              <a:rPr lang="zh-CN" altLang="en-US" dirty="0"/>
              <a:t>开发难度高，特殊情况多，假设条件多</a:t>
            </a:r>
            <a:r>
              <a:rPr lang="en-US" altLang="zh-CN" dirty="0"/>
              <a:t> 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1800" y="6515100"/>
            <a:ext cx="1358900" cy="152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7400" y="6451600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92100" y="6413500"/>
            <a:ext cx="1739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0160000" y="-635000"/>
            <a:ext cx="2540000" cy="254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31800" y="292100"/>
            <a:ext cx="113411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2800" b="1" i="0" u="none" strike="noStrike" dirty="0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方案</a:t>
            </a:r>
            <a:r>
              <a:rPr lang="en-US" altLang="zh-CN" sz="2800" b="1" i="0" u="none" strike="noStrike" dirty="0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2</a:t>
            </a:r>
            <a:r>
              <a:rPr lang="zh-CN" altLang="en-US" sz="2800" b="1" i="0" u="none" strike="noStrike" dirty="0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，法定评估，集团评估详细介绍</a:t>
            </a:r>
            <a:endParaRPr lang="en-US" sz="1100" dirty="0"/>
          </a:p>
        </p:txBody>
      </p:sp>
      <p:sp>
        <p:nvSpPr>
          <p:cNvPr id="36" name="AutoShape 36"/>
          <p:cNvSpPr/>
          <p:nvPr/>
        </p:nvSpPr>
        <p:spPr>
          <a:xfrm>
            <a:off x="508000" y="5537200"/>
            <a:ext cx="11176000" cy="698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635000" y="5638800"/>
            <a:ext cx="10922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sp>
        <p:nvSpPr>
          <p:cNvPr id="38" name="AutoShape 3">
            <a:extLst>
              <a:ext uri="{FF2B5EF4-FFF2-40B4-BE49-F238E27FC236}">
                <a16:creationId xmlns:a16="http://schemas.microsoft.com/office/drawing/2014/main" id="{0B30B951-5D63-0DAD-4520-916E289FAFF2}"/>
              </a:ext>
            </a:extLst>
          </p:cNvPr>
          <p:cNvSpPr/>
          <p:nvPr/>
        </p:nvSpPr>
        <p:spPr>
          <a:xfrm>
            <a:off x="635000" y="1092200"/>
            <a:ext cx="5308600" cy="10414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cap="flat" cmpd="sng">
            <a:solidFill>
              <a:srgbClr val="BDCD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4">
            <a:extLst>
              <a:ext uri="{FF2B5EF4-FFF2-40B4-BE49-F238E27FC236}">
                <a16:creationId xmlns:a16="http://schemas.microsoft.com/office/drawing/2014/main" id="{EE975618-881E-8A0E-0BE0-5DCBD3020E81}"/>
              </a:ext>
            </a:extLst>
          </p:cNvPr>
          <p:cNvSpPr/>
          <p:nvPr/>
        </p:nvSpPr>
        <p:spPr>
          <a:xfrm>
            <a:off x="635000" y="1092200"/>
            <a:ext cx="50800" cy="1041400"/>
          </a:xfrm>
          <a:prstGeom prst="roundRect">
            <a:avLst>
              <a:gd name="adj" fmla="val 0"/>
            </a:avLst>
          </a:prstGeom>
          <a:solidFill>
            <a:srgbClr val="0A2C6E">
              <a:alpha val="100000"/>
            </a:srgbClr>
          </a:solidFill>
          <a:ln cap="flat" cmpd="sng">
            <a:solidFill>
              <a:srgbClr val="001D5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5">
            <a:extLst>
              <a:ext uri="{FF2B5EF4-FFF2-40B4-BE49-F238E27FC236}">
                <a16:creationId xmlns:a16="http://schemas.microsoft.com/office/drawing/2014/main" id="{337B6C68-8AB2-1B7D-2447-5871505075EC}"/>
              </a:ext>
            </a:extLst>
          </p:cNvPr>
          <p:cNvSpPr/>
          <p:nvPr/>
        </p:nvSpPr>
        <p:spPr>
          <a:xfrm>
            <a:off x="762000" y="1092200"/>
            <a:ext cx="889000" cy="104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333"/>
              </a:lnSpc>
              <a:defRPr/>
            </a:pPr>
            <a:r>
              <a:rPr lang="en-US" sz="3600" b="1" i="0" u="none" strike="noStrike">
                <a:solidFill>
                  <a:srgbClr val="0A2C6E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id="41" name="AutoShape 6">
            <a:extLst>
              <a:ext uri="{FF2B5EF4-FFF2-40B4-BE49-F238E27FC236}">
                <a16:creationId xmlns:a16="http://schemas.microsoft.com/office/drawing/2014/main" id="{A81C0A28-55FA-DF14-BBD9-596F5EB1324C}"/>
              </a:ext>
            </a:extLst>
          </p:cNvPr>
          <p:cNvSpPr/>
          <p:nvPr/>
        </p:nvSpPr>
        <p:spPr>
          <a:xfrm>
            <a:off x="1701800" y="11176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1800" b="1" i="0" u="none" strike="noStrike" dirty="0" err="1">
                <a:solidFill>
                  <a:srgbClr val="2A75F9"/>
                </a:solidFill>
                <a:latin typeface="Noto Sans SC"/>
                <a:ea typeface="Noto Sans SC"/>
                <a:cs typeface="Noto Sans SC"/>
                <a:sym typeface="Noto Sans SC"/>
              </a:rPr>
              <a:t>启用物料帐的法定评估,集团评估</a:t>
            </a:r>
            <a:endParaRPr lang="en-US" sz="1100" dirty="0"/>
          </a:p>
        </p:txBody>
      </p:sp>
      <p:sp>
        <p:nvSpPr>
          <p:cNvPr id="42" name="AutoShape 7">
            <a:extLst>
              <a:ext uri="{FF2B5EF4-FFF2-40B4-BE49-F238E27FC236}">
                <a16:creationId xmlns:a16="http://schemas.microsoft.com/office/drawing/2014/main" id="{69AF75A8-E1F7-807D-0778-52FD3378A1CF}"/>
              </a:ext>
            </a:extLst>
          </p:cNvPr>
          <p:cNvSpPr/>
          <p:nvPr/>
        </p:nvSpPr>
        <p:spPr>
          <a:xfrm>
            <a:off x="1701800" y="1473200"/>
            <a:ext cx="4191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同时启用两种评估方式以满足不同核算需求。</a:t>
            </a:r>
            <a:endParaRPr lang="en-US" sz="1100"/>
          </a:p>
        </p:txBody>
      </p:sp>
      <p:sp>
        <p:nvSpPr>
          <p:cNvPr id="43" name="AutoShape 8">
            <a:extLst>
              <a:ext uri="{FF2B5EF4-FFF2-40B4-BE49-F238E27FC236}">
                <a16:creationId xmlns:a16="http://schemas.microsoft.com/office/drawing/2014/main" id="{98CB0714-1C73-804E-5C1A-3618E5632867}"/>
              </a:ext>
            </a:extLst>
          </p:cNvPr>
          <p:cNvSpPr/>
          <p:nvPr/>
        </p:nvSpPr>
        <p:spPr>
          <a:xfrm>
            <a:off x="635000" y="2235200"/>
            <a:ext cx="5308600" cy="10414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cap="flat" cmpd="sng">
            <a:solidFill>
              <a:srgbClr val="BDCD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" name="AutoShape 9">
            <a:extLst>
              <a:ext uri="{FF2B5EF4-FFF2-40B4-BE49-F238E27FC236}">
                <a16:creationId xmlns:a16="http://schemas.microsoft.com/office/drawing/2014/main" id="{8D27A4A3-07CE-345A-81AE-B19E96A0814B}"/>
              </a:ext>
            </a:extLst>
          </p:cNvPr>
          <p:cNvSpPr/>
          <p:nvPr/>
        </p:nvSpPr>
        <p:spPr>
          <a:xfrm>
            <a:off x="635000" y="2235200"/>
            <a:ext cx="50800" cy="1041400"/>
          </a:xfrm>
          <a:prstGeom prst="roundRect">
            <a:avLst>
              <a:gd name="adj" fmla="val 0"/>
            </a:avLst>
          </a:prstGeom>
          <a:solidFill>
            <a:srgbClr val="0A2C6E">
              <a:alpha val="100000"/>
            </a:srgbClr>
          </a:solidFill>
          <a:ln cap="flat" cmpd="sng">
            <a:solidFill>
              <a:srgbClr val="001D5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AutoShape 10">
            <a:extLst>
              <a:ext uri="{FF2B5EF4-FFF2-40B4-BE49-F238E27FC236}">
                <a16:creationId xmlns:a16="http://schemas.microsoft.com/office/drawing/2014/main" id="{6393BB2E-4ED8-3A5C-AFCC-BFEABF7AC10E}"/>
              </a:ext>
            </a:extLst>
          </p:cNvPr>
          <p:cNvSpPr/>
          <p:nvPr/>
        </p:nvSpPr>
        <p:spPr>
          <a:xfrm>
            <a:off x="762000" y="2235200"/>
            <a:ext cx="889000" cy="104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333"/>
              </a:lnSpc>
              <a:defRPr/>
            </a:pPr>
            <a:r>
              <a:rPr lang="en-US" sz="3600" b="1" i="0" u="none" strike="noStrike">
                <a:solidFill>
                  <a:srgbClr val="0A2C6E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id="46" name="AutoShape 11">
            <a:extLst>
              <a:ext uri="{FF2B5EF4-FFF2-40B4-BE49-F238E27FC236}">
                <a16:creationId xmlns:a16="http://schemas.microsoft.com/office/drawing/2014/main" id="{E0F17505-E67D-0C3B-74F2-DB4730F471E9}"/>
              </a:ext>
            </a:extLst>
          </p:cNvPr>
          <p:cNvSpPr/>
          <p:nvPr/>
        </p:nvSpPr>
        <p:spPr>
          <a:xfrm>
            <a:off x="1701800" y="22606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1800" b="1" i="0" u="none" strike="noStrike">
                <a:solidFill>
                  <a:srgbClr val="2A75F9"/>
                </a:solidFill>
                <a:latin typeface="Noto Sans SC"/>
                <a:ea typeface="Noto Sans SC"/>
                <a:cs typeface="Noto Sans SC"/>
                <a:sym typeface="Noto Sans SC"/>
              </a:rPr>
              <a:t>货币设置</a:t>
            </a:r>
            <a:endParaRPr lang="en-US" sz="1100"/>
          </a:p>
        </p:txBody>
      </p:sp>
      <p:sp>
        <p:nvSpPr>
          <p:cNvPr id="47" name="AutoShape 12">
            <a:extLst>
              <a:ext uri="{FF2B5EF4-FFF2-40B4-BE49-F238E27FC236}">
                <a16:creationId xmlns:a16="http://schemas.microsoft.com/office/drawing/2014/main" id="{5B3C7B87-8124-18E7-6EEF-1C99EFF8F9AF}"/>
              </a:ext>
            </a:extLst>
          </p:cNvPr>
          <p:cNvSpPr/>
          <p:nvPr/>
        </p:nvSpPr>
        <p:spPr>
          <a:xfrm>
            <a:off x="1701800" y="2616200"/>
            <a:ext cx="4191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法定评估采用公司代码货币,集团评估统一使用</a:t>
            </a:r>
            <a:r>
              <a:rPr lang="en-US" sz="1600" b="1" i="0" u="none" strike="noStrike" dirty="0" err="1">
                <a:solidFill>
                  <a:srgbClr val="0A2C6E"/>
                </a:solidFill>
                <a:latin typeface="Noto Sans SC"/>
                <a:ea typeface="Noto Sans SC"/>
                <a:cs typeface="Noto Sans SC"/>
                <a:sym typeface="Noto Sans SC"/>
              </a:rPr>
              <a:t>CNY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48" name="AutoShape 13">
            <a:extLst>
              <a:ext uri="{FF2B5EF4-FFF2-40B4-BE49-F238E27FC236}">
                <a16:creationId xmlns:a16="http://schemas.microsoft.com/office/drawing/2014/main" id="{B3A714D5-1E8E-8DAF-6F12-3A101EE61D08}"/>
              </a:ext>
            </a:extLst>
          </p:cNvPr>
          <p:cNvSpPr/>
          <p:nvPr/>
        </p:nvSpPr>
        <p:spPr>
          <a:xfrm>
            <a:off x="635000" y="3378200"/>
            <a:ext cx="5308600" cy="10414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cap="flat" cmpd="sng">
            <a:solidFill>
              <a:srgbClr val="BDCD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14">
            <a:extLst>
              <a:ext uri="{FF2B5EF4-FFF2-40B4-BE49-F238E27FC236}">
                <a16:creationId xmlns:a16="http://schemas.microsoft.com/office/drawing/2014/main" id="{930D296F-D0D5-A400-1768-98C1E4718927}"/>
              </a:ext>
            </a:extLst>
          </p:cNvPr>
          <p:cNvSpPr/>
          <p:nvPr/>
        </p:nvSpPr>
        <p:spPr>
          <a:xfrm>
            <a:off x="635000" y="3378200"/>
            <a:ext cx="50800" cy="1041400"/>
          </a:xfrm>
          <a:prstGeom prst="roundRect">
            <a:avLst>
              <a:gd name="adj" fmla="val 0"/>
            </a:avLst>
          </a:prstGeom>
          <a:solidFill>
            <a:srgbClr val="0A2C6E">
              <a:alpha val="100000"/>
            </a:srgbClr>
          </a:solidFill>
          <a:ln cap="flat" cmpd="sng">
            <a:solidFill>
              <a:srgbClr val="001D5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" name="AutoShape 15">
            <a:extLst>
              <a:ext uri="{FF2B5EF4-FFF2-40B4-BE49-F238E27FC236}">
                <a16:creationId xmlns:a16="http://schemas.microsoft.com/office/drawing/2014/main" id="{15DEC2F4-33F7-C74C-7637-DD468C6CA21A}"/>
              </a:ext>
            </a:extLst>
          </p:cNvPr>
          <p:cNvSpPr/>
          <p:nvPr/>
        </p:nvSpPr>
        <p:spPr>
          <a:xfrm>
            <a:off x="762000" y="3378200"/>
            <a:ext cx="889000" cy="104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333"/>
              </a:lnSpc>
              <a:defRPr/>
            </a:pPr>
            <a:r>
              <a:rPr lang="en-US" sz="3600" b="1" i="0" u="none" strike="noStrike">
                <a:solidFill>
                  <a:srgbClr val="0A2C6E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id="51" name="AutoShape 16">
            <a:extLst>
              <a:ext uri="{FF2B5EF4-FFF2-40B4-BE49-F238E27FC236}">
                <a16:creationId xmlns:a16="http://schemas.microsoft.com/office/drawing/2014/main" id="{6B072561-CB66-18FB-AEEC-1822F3A571C3}"/>
              </a:ext>
            </a:extLst>
          </p:cNvPr>
          <p:cNvSpPr/>
          <p:nvPr/>
        </p:nvSpPr>
        <p:spPr>
          <a:xfrm>
            <a:off x="1701800" y="34036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1800" b="1" i="0" u="none" strike="noStrike">
                <a:solidFill>
                  <a:srgbClr val="2A75F9"/>
                </a:solidFill>
                <a:latin typeface="Noto Sans SC"/>
                <a:ea typeface="Noto Sans SC"/>
                <a:cs typeface="Noto Sans SC"/>
                <a:sym typeface="Noto Sans SC"/>
              </a:rPr>
              <a:t>主数据维护</a:t>
            </a:r>
            <a:endParaRPr lang="en-US" sz="1100"/>
          </a:p>
        </p:txBody>
      </p:sp>
      <p:sp>
        <p:nvSpPr>
          <p:cNvPr id="52" name="AutoShape 17">
            <a:extLst>
              <a:ext uri="{FF2B5EF4-FFF2-40B4-BE49-F238E27FC236}">
                <a16:creationId xmlns:a16="http://schemas.microsoft.com/office/drawing/2014/main" id="{DB96AFD1-727D-9321-E99F-841FF9CCA515}"/>
              </a:ext>
            </a:extLst>
          </p:cNvPr>
          <p:cNvSpPr/>
          <p:nvPr/>
        </p:nvSpPr>
        <p:spPr>
          <a:xfrm>
            <a:off x="1701800" y="3759200"/>
            <a:ext cx="4191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所有产品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包括新产品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),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均需维护BOM和工艺路线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53" name="AutoShape 18">
            <a:extLst>
              <a:ext uri="{FF2B5EF4-FFF2-40B4-BE49-F238E27FC236}">
                <a16:creationId xmlns:a16="http://schemas.microsoft.com/office/drawing/2014/main" id="{841942B9-03B9-8227-9B6A-F0577EE98807}"/>
              </a:ext>
            </a:extLst>
          </p:cNvPr>
          <p:cNvSpPr/>
          <p:nvPr/>
        </p:nvSpPr>
        <p:spPr>
          <a:xfrm>
            <a:off x="635000" y="4521200"/>
            <a:ext cx="5308600" cy="10414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cap="flat" cmpd="sng">
            <a:solidFill>
              <a:srgbClr val="BDCD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" name="AutoShape 19">
            <a:extLst>
              <a:ext uri="{FF2B5EF4-FFF2-40B4-BE49-F238E27FC236}">
                <a16:creationId xmlns:a16="http://schemas.microsoft.com/office/drawing/2014/main" id="{45E83AFD-0448-4398-D52F-29187756FE51}"/>
              </a:ext>
            </a:extLst>
          </p:cNvPr>
          <p:cNvSpPr/>
          <p:nvPr/>
        </p:nvSpPr>
        <p:spPr>
          <a:xfrm>
            <a:off x="635000" y="4521200"/>
            <a:ext cx="50800" cy="1041400"/>
          </a:xfrm>
          <a:prstGeom prst="roundRect">
            <a:avLst>
              <a:gd name="adj" fmla="val 0"/>
            </a:avLst>
          </a:prstGeom>
          <a:solidFill>
            <a:srgbClr val="0A2C6E">
              <a:alpha val="100000"/>
            </a:srgbClr>
          </a:solidFill>
          <a:ln cap="flat" cmpd="sng">
            <a:solidFill>
              <a:srgbClr val="001D5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" name="AutoShape 20">
            <a:extLst>
              <a:ext uri="{FF2B5EF4-FFF2-40B4-BE49-F238E27FC236}">
                <a16:creationId xmlns:a16="http://schemas.microsoft.com/office/drawing/2014/main" id="{AD6BA613-AAE7-C6A8-9E27-F7506992072F}"/>
              </a:ext>
            </a:extLst>
          </p:cNvPr>
          <p:cNvSpPr/>
          <p:nvPr/>
        </p:nvSpPr>
        <p:spPr>
          <a:xfrm>
            <a:off x="762000" y="4521200"/>
            <a:ext cx="889000" cy="104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333"/>
              </a:lnSpc>
              <a:defRPr/>
            </a:pPr>
            <a:r>
              <a:rPr lang="en-US" sz="3600" b="1" i="0" u="none" strike="noStrike">
                <a:solidFill>
                  <a:srgbClr val="0A2C6E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id="56" name="AutoShape 21">
            <a:extLst>
              <a:ext uri="{FF2B5EF4-FFF2-40B4-BE49-F238E27FC236}">
                <a16:creationId xmlns:a16="http://schemas.microsoft.com/office/drawing/2014/main" id="{9F8346E5-B88F-2798-1AD3-64EBA3FF5D00}"/>
              </a:ext>
            </a:extLst>
          </p:cNvPr>
          <p:cNvSpPr/>
          <p:nvPr/>
        </p:nvSpPr>
        <p:spPr>
          <a:xfrm>
            <a:off x="1701800" y="45466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1800" b="1" i="0" u="none" strike="noStrike" dirty="0" err="1">
                <a:solidFill>
                  <a:srgbClr val="2A75F9"/>
                </a:solidFill>
                <a:latin typeface="Noto Sans SC"/>
                <a:ea typeface="Noto Sans SC"/>
                <a:cs typeface="Noto Sans SC"/>
                <a:sym typeface="Noto Sans SC"/>
              </a:rPr>
              <a:t>内部采购标识</a:t>
            </a:r>
            <a:endParaRPr lang="en-US" sz="1100" dirty="0"/>
          </a:p>
        </p:txBody>
      </p:sp>
      <p:sp>
        <p:nvSpPr>
          <p:cNvPr id="57" name="AutoShape 22">
            <a:extLst>
              <a:ext uri="{FF2B5EF4-FFF2-40B4-BE49-F238E27FC236}">
                <a16:creationId xmlns:a16="http://schemas.microsoft.com/office/drawing/2014/main" id="{8A34BCDA-9534-F217-ACE2-B55EB1561D2B}"/>
              </a:ext>
            </a:extLst>
          </p:cNvPr>
          <p:cNvSpPr/>
          <p:nvPr/>
        </p:nvSpPr>
        <p:spPr>
          <a:xfrm>
            <a:off x="1701800" y="4902200"/>
            <a:ext cx="4191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明确标识哪些半成品会从集团内其他公司采购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58" name="AutoShape 23">
            <a:extLst>
              <a:ext uri="{FF2B5EF4-FFF2-40B4-BE49-F238E27FC236}">
                <a16:creationId xmlns:a16="http://schemas.microsoft.com/office/drawing/2014/main" id="{E2022A1F-5D35-9D13-8B67-BB22C87BB110}"/>
              </a:ext>
            </a:extLst>
          </p:cNvPr>
          <p:cNvSpPr/>
          <p:nvPr/>
        </p:nvSpPr>
        <p:spPr>
          <a:xfrm>
            <a:off x="6197600" y="1092200"/>
            <a:ext cx="5308600" cy="10414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cap="flat" cmpd="sng">
            <a:solidFill>
              <a:srgbClr val="BDCD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" name="AutoShape 24">
            <a:extLst>
              <a:ext uri="{FF2B5EF4-FFF2-40B4-BE49-F238E27FC236}">
                <a16:creationId xmlns:a16="http://schemas.microsoft.com/office/drawing/2014/main" id="{0BB9B6C2-E18E-E87E-4635-A6B71F4C1F16}"/>
              </a:ext>
            </a:extLst>
          </p:cNvPr>
          <p:cNvSpPr/>
          <p:nvPr/>
        </p:nvSpPr>
        <p:spPr>
          <a:xfrm>
            <a:off x="6197600" y="1092200"/>
            <a:ext cx="50800" cy="1041400"/>
          </a:xfrm>
          <a:prstGeom prst="roundRect">
            <a:avLst>
              <a:gd name="adj" fmla="val 0"/>
            </a:avLst>
          </a:prstGeom>
          <a:solidFill>
            <a:srgbClr val="0A2C6E">
              <a:alpha val="100000"/>
            </a:srgbClr>
          </a:solidFill>
          <a:ln cap="flat" cmpd="sng">
            <a:solidFill>
              <a:srgbClr val="001D5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" name="AutoShape 25">
            <a:extLst>
              <a:ext uri="{FF2B5EF4-FFF2-40B4-BE49-F238E27FC236}">
                <a16:creationId xmlns:a16="http://schemas.microsoft.com/office/drawing/2014/main" id="{A5A60E86-A62F-C61B-D4ED-38DDB3A05F00}"/>
              </a:ext>
            </a:extLst>
          </p:cNvPr>
          <p:cNvSpPr/>
          <p:nvPr/>
        </p:nvSpPr>
        <p:spPr>
          <a:xfrm>
            <a:off x="6324600" y="1092200"/>
            <a:ext cx="889000" cy="104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333"/>
              </a:lnSpc>
              <a:defRPr/>
            </a:pPr>
            <a:r>
              <a:rPr lang="en-US" sz="3600" b="1" i="0" u="none" strike="noStrike">
                <a:solidFill>
                  <a:srgbClr val="0A2C6E"/>
                </a:solidFill>
                <a:latin typeface="Noto Sans SC"/>
                <a:ea typeface="Noto Sans SC"/>
                <a:cs typeface="Noto Sans SC"/>
                <a:sym typeface="Noto Sans SC"/>
              </a:rPr>
              <a:t>5</a:t>
            </a:r>
            <a:endParaRPr lang="en-US" sz="1100"/>
          </a:p>
        </p:txBody>
      </p:sp>
      <p:sp>
        <p:nvSpPr>
          <p:cNvPr id="61" name="AutoShape 26">
            <a:extLst>
              <a:ext uri="{FF2B5EF4-FFF2-40B4-BE49-F238E27FC236}">
                <a16:creationId xmlns:a16="http://schemas.microsoft.com/office/drawing/2014/main" id="{1A0B76F9-88A9-99DD-3B26-D5AEFECA50E7}"/>
              </a:ext>
            </a:extLst>
          </p:cNvPr>
          <p:cNvSpPr/>
          <p:nvPr/>
        </p:nvSpPr>
        <p:spPr>
          <a:xfrm>
            <a:off x="7264400" y="11176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1800" b="1" i="0" u="none" strike="noStrike">
                <a:solidFill>
                  <a:srgbClr val="2A75F9"/>
                </a:solidFill>
                <a:latin typeface="Noto Sans SC"/>
                <a:ea typeface="Noto Sans SC"/>
                <a:cs typeface="Noto Sans SC"/>
                <a:sym typeface="Noto Sans SC"/>
              </a:rPr>
              <a:t>计划价格维护</a:t>
            </a:r>
            <a:endParaRPr lang="en-US" sz="1100"/>
          </a:p>
        </p:txBody>
      </p:sp>
      <p:sp>
        <p:nvSpPr>
          <p:cNvPr id="62" name="AutoShape 27">
            <a:extLst>
              <a:ext uri="{FF2B5EF4-FFF2-40B4-BE49-F238E27FC236}">
                <a16:creationId xmlns:a16="http://schemas.microsoft.com/office/drawing/2014/main" id="{A848EBB1-8AF2-E8CC-00A7-A7C42B966626}"/>
              </a:ext>
            </a:extLst>
          </p:cNvPr>
          <p:cNvSpPr/>
          <p:nvPr/>
        </p:nvSpPr>
        <p:spPr>
          <a:xfrm>
            <a:off x="7264400" y="1397000"/>
            <a:ext cx="4191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材料和内部采购的半成品需维护两个计划价格。</a:t>
            </a:r>
            <a:r>
              <a:rPr lang="en-US" sz="1600" b="1" i="0" u="none" strike="noStrike" dirty="0">
                <a:solidFill>
                  <a:srgbClr val="0A2C6E"/>
                </a:solidFill>
                <a:latin typeface="Noto Sans SC"/>
                <a:ea typeface="Noto Sans SC"/>
                <a:cs typeface="Noto Sans SC"/>
                <a:sym typeface="Noto Sans SC"/>
              </a:rPr>
              <a:t>计划价格1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用于法定评估,</a:t>
            </a:r>
            <a:r>
              <a:rPr lang="en-US" sz="1600" b="1" i="0" u="none" strike="noStrike" dirty="0">
                <a:solidFill>
                  <a:srgbClr val="0A2C6E"/>
                </a:solidFill>
                <a:latin typeface="Noto Sans SC"/>
                <a:ea typeface="Noto Sans SC"/>
                <a:cs typeface="Noto Sans SC"/>
                <a:sym typeface="Noto Sans SC"/>
              </a:rPr>
              <a:t>计划价格2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用于集团评估,后者获取自上家月度实际成本+合理的税费加价率。</a:t>
            </a:r>
            <a:endParaRPr lang="en-US" sz="1100" dirty="0"/>
          </a:p>
        </p:txBody>
      </p:sp>
      <p:sp>
        <p:nvSpPr>
          <p:cNvPr id="63" name="AutoShape 28">
            <a:extLst>
              <a:ext uri="{FF2B5EF4-FFF2-40B4-BE49-F238E27FC236}">
                <a16:creationId xmlns:a16="http://schemas.microsoft.com/office/drawing/2014/main" id="{E4374592-BEFD-828C-2162-C10C177A7855}"/>
              </a:ext>
            </a:extLst>
          </p:cNvPr>
          <p:cNvSpPr/>
          <p:nvPr/>
        </p:nvSpPr>
        <p:spPr>
          <a:xfrm>
            <a:off x="6197600" y="2235200"/>
            <a:ext cx="5308600" cy="10414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cap="flat" cmpd="sng">
            <a:solidFill>
              <a:srgbClr val="BDCD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" name="AutoShape 29">
            <a:extLst>
              <a:ext uri="{FF2B5EF4-FFF2-40B4-BE49-F238E27FC236}">
                <a16:creationId xmlns:a16="http://schemas.microsoft.com/office/drawing/2014/main" id="{91745579-7366-BC75-C1D7-1A4364989110}"/>
              </a:ext>
            </a:extLst>
          </p:cNvPr>
          <p:cNvSpPr/>
          <p:nvPr/>
        </p:nvSpPr>
        <p:spPr>
          <a:xfrm>
            <a:off x="6197600" y="2235200"/>
            <a:ext cx="50800" cy="1041400"/>
          </a:xfrm>
          <a:prstGeom prst="roundRect">
            <a:avLst>
              <a:gd name="adj" fmla="val 0"/>
            </a:avLst>
          </a:prstGeom>
          <a:solidFill>
            <a:srgbClr val="0A2C6E">
              <a:alpha val="100000"/>
            </a:srgbClr>
          </a:solidFill>
          <a:ln cap="flat" cmpd="sng">
            <a:solidFill>
              <a:srgbClr val="001D5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" name="AutoShape 30">
            <a:extLst>
              <a:ext uri="{FF2B5EF4-FFF2-40B4-BE49-F238E27FC236}">
                <a16:creationId xmlns:a16="http://schemas.microsoft.com/office/drawing/2014/main" id="{A5A561E0-DBC8-F34F-A907-362FA141BEC8}"/>
              </a:ext>
            </a:extLst>
          </p:cNvPr>
          <p:cNvSpPr/>
          <p:nvPr/>
        </p:nvSpPr>
        <p:spPr>
          <a:xfrm>
            <a:off x="6324600" y="2235200"/>
            <a:ext cx="889000" cy="104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333"/>
              </a:lnSpc>
              <a:defRPr/>
            </a:pPr>
            <a:r>
              <a:rPr lang="en-US" sz="3600" b="1" i="0" u="none" strike="noStrike">
                <a:solidFill>
                  <a:srgbClr val="0A2C6E"/>
                </a:solidFill>
                <a:latin typeface="Noto Sans SC"/>
                <a:ea typeface="Noto Sans SC"/>
                <a:cs typeface="Noto Sans SC"/>
                <a:sym typeface="Noto Sans SC"/>
              </a:rPr>
              <a:t>6</a:t>
            </a:r>
            <a:endParaRPr lang="en-US" sz="1100"/>
          </a:p>
        </p:txBody>
      </p:sp>
      <p:sp>
        <p:nvSpPr>
          <p:cNvPr id="66" name="AutoShape 31">
            <a:extLst>
              <a:ext uri="{FF2B5EF4-FFF2-40B4-BE49-F238E27FC236}">
                <a16:creationId xmlns:a16="http://schemas.microsoft.com/office/drawing/2014/main" id="{345A1225-8E63-44EC-C361-81DD3426AAE6}"/>
              </a:ext>
            </a:extLst>
          </p:cNvPr>
          <p:cNvSpPr/>
          <p:nvPr/>
        </p:nvSpPr>
        <p:spPr>
          <a:xfrm>
            <a:off x="7264400" y="22606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1800" b="1" i="0" u="none" strike="noStrike">
                <a:solidFill>
                  <a:srgbClr val="2A75F9"/>
                </a:solidFill>
                <a:latin typeface="Noto Sans SC"/>
                <a:ea typeface="Noto Sans SC"/>
                <a:cs typeface="Noto Sans SC"/>
                <a:sym typeface="Noto Sans SC"/>
              </a:rPr>
              <a:t>标准价估算</a:t>
            </a:r>
            <a:endParaRPr lang="en-US" sz="1100"/>
          </a:p>
        </p:txBody>
      </p:sp>
      <p:sp>
        <p:nvSpPr>
          <p:cNvPr id="67" name="AutoShape 32">
            <a:extLst>
              <a:ext uri="{FF2B5EF4-FFF2-40B4-BE49-F238E27FC236}">
                <a16:creationId xmlns:a16="http://schemas.microsoft.com/office/drawing/2014/main" id="{43EB9E42-EDD6-3295-798F-46E7FB9C0AD1}"/>
              </a:ext>
            </a:extLst>
          </p:cNvPr>
          <p:cNvSpPr/>
          <p:nvPr/>
        </p:nvSpPr>
        <p:spPr>
          <a:xfrm>
            <a:off x="7264400" y="2616200"/>
            <a:ext cx="4191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支持法定评估和集团评估两种模式下的标准价估算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68" name="AutoShape 33">
            <a:extLst>
              <a:ext uri="{FF2B5EF4-FFF2-40B4-BE49-F238E27FC236}">
                <a16:creationId xmlns:a16="http://schemas.microsoft.com/office/drawing/2014/main" id="{4167B8C0-678C-66E1-9D7E-73D1E089B702}"/>
              </a:ext>
            </a:extLst>
          </p:cNvPr>
          <p:cNvSpPr/>
          <p:nvPr/>
        </p:nvSpPr>
        <p:spPr>
          <a:xfrm>
            <a:off x="6197600" y="3378200"/>
            <a:ext cx="5308600" cy="10414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cap="flat" cmpd="sng">
            <a:solidFill>
              <a:srgbClr val="BDCD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" name="AutoShape 34">
            <a:extLst>
              <a:ext uri="{FF2B5EF4-FFF2-40B4-BE49-F238E27FC236}">
                <a16:creationId xmlns:a16="http://schemas.microsoft.com/office/drawing/2014/main" id="{78F0ACC0-81C9-C7B4-0E70-C6EC66F4E08B}"/>
              </a:ext>
            </a:extLst>
          </p:cNvPr>
          <p:cNvSpPr/>
          <p:nvPr/>
        </p:nvSpPr>
        <p:spPr>
          <a:xfrm>
            <a:off x="6197600" y="3378200"/>
            <a:ext cx="50800" cy="1041400"/>
          </a:xfrm>
          <a:prstGeom prst="roundRect">
            <a:avLst>
              <a:gd name="adj" fmla="val 0"/>
            </a:avLst>
          </a:prstGeom>
          <a:solidFill>
            <a:srgbClr val="0A2C6E">
              <a:alpha val="100000"/>
            </a:srgbClr>
          </a:solidFill>
          <a:ln cap="flat" cmpd="sng">
            <a:solidFill>
              <a:srgbClr val="001D5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" name="AutoShape 35">
            <a:extLst>
              <a:ext uri="{FF2B5EF4-FFF2-40B4-BE49-F238E27FC236}">
                <a16:creationId xmlns:a16="http://schemas.microsoft.com/office/drawing/2014/main" id="{F240C051-97ED-9242-C03B-8212AF6E1C64}"/>
              </a:ext>
            </a:extLst>
          </p:cNvPr>
          <p:cNvSpPr/>
          <p:nvPr/>
        </p:nvSpPr>
        <p:spPr>
          <a:xfrm>
            <a:off x="6324600" y="3378200"/>
            <a:ext cx="889000" cy="104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333"/>
              </a:lnSpc>
              <a:defRPr/>
            </a:pPr>
            <a:r>
              <a:rPr lang="en-US" sz="3600" b="1" i="0" u="none" strike="noStrike">
                <a:solidFill>
                  <a:srgbClr val="0A2C6E"/>
                </a:solidFill>
                <a:latin typeface="Noto Sans SC"/>
                <a:ea typeface="Noto Sans SC"/>
                <a:cs typeface="Noto Sans SC"/>
                <a:sym typeface="Noto Sans SC"/>
              </a:rPr>
              <a:t>7</a:t>
            </a:r>
            <a:endParaRPr lang="en-US" sz="1100"/>
          </a:p>
        </p:txBody>
      </p:sp>
      <p:sp>
        <p:nvSpPr>
          <p:cNvPr id="71" name="AutoShape 36">
            <a:extLst>
              <a:ext uri="{FF2B5EF4-FFF2-40B4-BE49-F238E27FC236}">
                <a16:creationId xmlns:a16="http://schemas.microsoft.com/office/drawing/2014/main" id="{6D60A704-D8F5-F277-93E4-88A91F67085C}"/>
              </a:ext>
            </a:extLst>
          </p:cNvPr>
          <p:cNvSpPr/>
          <p:nvPr/>
        </p:nvSpPr>
        <p:spPr>
          <a:xfrm>
            <a:off x="7264400" y="34036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1800" b="1" i="0" u="none" strike="noStrike">
                <a:solidFill>
                  <a:srgbClr val="2A75F9"/>
                </a:solidFill>
                <a:latin typeface="Noto Sans SC"/>
                <a:ea typeface="Noto Sans SC"/>
                <a:cs typeface="Noto Sans SC"/>
                <a:sym typeface="Noto Sans SC"/>
              </a:rPr>
              <a:t>月结复杂度</a:t>
            </a:r>
            <a:endParaRPr lang="en-US" sz="1100"/>
          </a:p>
        </p:txBody>
      </p:sp>
      <p:sp>
        <p:nvSpPr>
          <p:cNvPr id="72" name="AutoShape 37">
            <a:extLst>
              <a:ext uri="{FF2B5EF4-FFF2-40B4-BE49-F238E27FC236}">
                <a16:creationId xmlns:a16="http://schemas.microsoft.com/office/drawing/2014/main" id="{1406A4BB-CEEA-E9F8-F513-0A7FB83CBBF1}"/>
              </a:ext>
            </a:extLst>
          </p:cNvPr>
          <p:cNvSpPr/>
          <p:nvPr/>
        </p:nvSpPr>
        <p:spPr>
          <a:xfrm>
            <a:off x="7264400" y="3656254"/>
            <a:ext cx="4191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月结时物料帐需同时运行,执行法定评估、集团评估两套实际成本结账,这将加大月结复杂度和日常运维复杂度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73" name="AutoShape 38">
            <a:extLst>
              <a:ext uri="{FF2B5EF4-FFF2-40B4-BE49-F238E27FC236}">
                <a16:creationId xmlns:a16="http://schemas.microsoft.com/office/drawing/2014/main" id="{F028348B-D73D-BB9A-98AF-4DFAECA710AA}"/>
              </a:ext>
            </a:extLst>
          </p:cNvPr>
          <p:cNvSpPr/>
          <p:nvPr/>
        </p:nvSpPr>
        <p:spPr>
          <a:xfrm>
            <a:off x="6197600" y="4521200"/>
            <a:ext cx="5308600" cy="10414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cap="flat" cmpd="sng">
            <a:solidFill>
              <a:srgbClr val="BDCD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" name="AutoShape 39">
            <a:extLst>
              <a:ext uri="{FF2B5EF4-FFF2-40B4-BE49-F238E27FC236}">
                <a16:creationId xmlns:a16="http://schemas.microsoft.com/office/drawing/2014/main" id="{45CA185B-9186-455A-089B-8C257F1D66BE}"/>
              </a:ext>
            </a:extLst>
          </p:cNvPr>
          <p:cNvSpPr/>
          <p:nvPr/>
        </p:nvSpPr>
        <p:spPr>
          <a:xfrm>
            <a:off x="6197600" y="4521200"/>
            <a:ext cx="50800" cy="1041400"/>
          </a:xfrm>
          <a:prstGeom prst="roundRect">
            <a:avLst>
              <a:gd name="adj" fmla="val 0"/>
            </a:avLst>
          </a:prstGeom>
          <a:solidFill>
            <a:srgbClr val="0A2C6E">
              <a:alpha val="100000"/>
            </a:srgbClr>
          </a:solidFill>
          <a:ln cap="flat" cmpd="sng">
            <a:solidFill>
              <a:srgbClr val="001D5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" name="AutoShape 40">
            <a:extLst>
              <a:ext uri="{FF2B5EF4-FFF2-40B4-BE49-F238E27FC236}">
                <a16:creationId xmlns:a16="http://schemas.microsoft.com/office/drawing/2014/main" id="{C9E674E3-259C-D65F-2A21-A4D2EA3923EA}"/>
              </a:ext>
            </a:extLst>
          </p:cNvPr>
          <p:cNvSpPr/>
          <p:nvPr/>
        </p:nvSpPr>
        <p:spPr>
          <a:xfrm>
            <a:off x="6324600" y="4521200"/>
            <a:ext cx="889000" cy="104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333"/>
              </a:lnSpc>
              <a:defRPr/>
            </a:pPr>
            <a:r>
              <a:rPr lang="en-US" sz="3600" b="1" i="0" u="none" strike="noStrike">
                <a:solidFill>
                  <a:srgbClr val="0A2C6E"/>
                </a:solidFill>
                <a:latin typeface="Noto Sans SC"/>
                <a:ea typeface="Noto Sans SC"/>
                <a:cs typeface="Noto Sans SC"/>
                <a:sym typeface="Noto Sans SC"/>
              </a:rPr>
              <a:t>8</a:t>
            </a:r>
            <a:endParaRPr lang="en-US" sz="1100"/>
          </a:p>
        </p:txBody>
      </p:sp>
      <p:sp>
        <p:nvSpPr>
          <p:cNvPr id="76" name="AutoShape 41">
            <a:extLst>
              <a:ext uri="{FF2B5EF4-FFF2-40B4-BE49-F238E27FC236}">
                <a16:creationId xmlns:a16="http://schemas.microsoft.com/office/drawing/2014/main" id="{BF7D9044-71EA-DE4B-4F45-EF5BB29CB8D4}"/>
              </a:ext>
            </a:extLst>
          </p:cNvPr>
          <p:cNvSpPr/>
          <p:nvPr/>
        </p:nvSpPr>
        <p:spPr>
          <a:xfrm>
            <a:off x="7264400" y="45466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1800" b="1" i="0" u="none" strike="noStrike">
                <a:solidFill>
                  <a:srgbClr val="2A75F9"/>
                </a:solidFill>
                <a:latin typeface="Noto Sans SC"/>
                <a:ea typeface="Noto Sans SC"/>
                <a:cs typeface="Noto Sans SC"/>
                <a:sym typeface="Noto Sans SC"/>
              </a:rPr>
              <a:t>报表开发</a:t>
            </a:r>
            <a:endParaRPr lang="en-US" sz="1100"/>
          </a:p>
        </p:txBody>
      </p:sp>
      <p:sp>
        <p:nvSpPr>
          <p:cNvPr id="77" name="AutoShape 42">
            <a:extLst>
              <a:ext uri="{FF2B5EF4-FFF2-40B4-BE49-F238E27FC236}">
                <a16:creationId xmlns:a16="http://schemas.microsoft.com/office/drawing/2014/main" id="{5F36C758-6E07-C451-99D5-B4B9EA5BE9B2}"/>
              </a:ext>
            </a:extLst>
          </p:cNvPr>
          <p:cNvSpPr/>
          <p:nvPr/>
        </p:nvSpPr>
        <p:spPr>
          <a:xfrm>
            <a:off x="7264400" y="4902200"/>
            <a:ext cx="4191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基于以上新增功能进行开发或调整</a:t>
            </a:r>
            <a:r>
              <a:rPr lang="zh-CN" altLang="en-US" sz="160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产品成本分析报表，增加集团内消除价差功能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1800" y="6515100"/>
            <a:ext cx="1358900" cy="152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7400" y="6451600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92100" y="6413500"/>
            <a:ext cx="1739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31800" y="292100"/>
            <a:ext cx="113411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2800" b="1" i="0" u="none" strike="noStrike" dirty="0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方案</a:t>
            </a:r>
            <a:r>
              <a:rPr lang="en-US" altLang="zh-CN" sz="2800" b="1" i="0" u="none" strike="noStrike" dirty="0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3</a:t>
            </a:r>
            <a:r>
              <a:rPr lang="zh-CN" altLang="en-US" sz="2800" b="1" i="0" u="none" strike="noStrike" dirty="0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：纯报表开发方案</a:t>
            </a:r>
            <a:endParaRPr lang="en-US" sz="1100" dirty="0"/>
          </a:p>
        </p:txBody>
      </p:sp>
      <p:sp>
        <p:nvSpPr>
          <p:cNvPr id="44" name="AutoShape 3">
            <a:extLst>
              <a:ext uri="{FF2B5EF4-FFF2-40B4-BE49-F238E27FC236}">
                <a16:creationId xmlns:a16="http://schemas.microsoft.com/office/drawing/2014/main" id="{A3324D00-107B-13D4-3674-264CB21DD349}"/>
              </a:ext>
            </a:extLst>
          </p:cNvPr>
          <p:cNvSpPr/>
          <p:nvPr/>
        </p:nvSpPr>
        <p:spPr>
          <a:xfrm>
            <a:off x="431800" y="1037771"/>
            <a:ext cx="5486400" cy="1905000"/>
          </a:xfrm>
          <a:prstGeom prst="roundRect">
            <a:avLst>
              <a:gd name="adj" fmla="val 0"/>
            </a:avLst>
          </a:prstGeom>
          <a:solidFill>
            <a:srgbClr val="EBF2FA">
              <a:alpha val="55000"/>
            </a:srgbClr>
          </a:solidFill>
          <a:ln cap="flat" cmpd="sng">
            <a:solidFill>
              <a:srgbClr val="BDCDE1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AutoShape 4">
            <a:extLst>
              <a:ext uri="{FF2B5EF4-FFF2-40B4-BE49-F238E27FC236}">
                <a16:creationId xmlns:a16="http://schemas.microsoft.com/office/drawing/2014/main" id="{71315BFD-107E-29A9-C0AD-94A70D998CF0}"/>
              </a:ext>
            </a:extLst>
          </p:cNvPr>
          <p:cNvSpPr/>
          <p:nvPr/>
        </p:nvSpPr>
        <p:spPr>
          <a:xfrm>
            <a:off x="431800" y="1037771"/>
            <a:ext cx="50800" cy="1905000"/>
          </a:xfrm>
          <a:prstGeom prst="roundRect">
            <a:avLst>
              <a:gd name="adj" fmla="val 0"/>
            </a:avLst>
          </a:prstGeom>
          <a:solidFill>
            <a:srgbClr val="0A2C6E">
              <a:alpha val="100000"/>
            </a:srgbClr>
          </a:solidFill>
          <a:ln cap="flat" cmpd="sng">
            <a:solidFill>
              <a:srgbClr val="001D5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AutoShape 5">
            <a:extLst>
              <a:ext uri="{FF2B5EF4-FFF2-40B4-BE49-F238E27FC236}">
                <a16:creationId xmlns:a16="http://schemas.microsoft.com/office/drawing/2014/main" id="{D8D23732-23D4-C2DE-1B18-49C6228F9584}"/>
              </a:ext>
            </a:extLst>
          </p:cNvPr>
          <p:cNvSpPr/>
          <p:nvPr/>
        </p:nvSpPr>
        <p:spPr>
          <a:xfrm>
            <a:off x="635000" y="1037771"/>
            <a:ext cx="1092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333"/>
              </a:lnSpc>
              <a:defRPr/>
            </a:pPr>
            <a:r>
              <a:rPr lang="en-US" sz="44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47" name="AutoShape 6">
            <a:extLst>
              <a:ext uri="{FF2B5EF4-FFF2-40B4-BE49-F238E27FC236}">
                <a16:creationId xmlns:a16="http://schemas.microsoft.com/office/drawing/2014/main" id="{3336D227-61EC-78D7-8604-8B64DED60CEC}"/>
              </a:ext>
            </a:extLst>
          </p:cNvPr>
          <p:cNvSpPr/>
          <p:nvPr/>
        </p:nvSpPr>
        <p:spPr>
          <a:xfrm>
            <a:off x="1752600" y="1113971"/>
            <a:ext cx="4013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83333"/>
              </a:lnSpc>
              <a:defRPr/>
            </a:pPr>
            <a:r>
              <a:rPr lang="en-US" sz="2000" b="1" i="0" u="none" strike="noStrike">
                <a:solidFill>
                  <a:srgbClr val="0A2C6E"/>
                </a:solidFill>
                <a:latin typeface="Noto Sans SC"/>
                <a:ea typeface="Noto Sans SC"/>
                <a:cs typeface="Noto Sans SC"/>
                <a:sym typeface="Noto Sans SC"/>
              </a:rPr>
              <a:t>固定内部购买加价率</a:t>
            </a:r>
            <a:endParaRPr lang="en-US" sz="1100"/>
          </a:p>
        </p:txBody>
      </p:sp>
      <p:sp>
        <p:nvSpPr>
          <p:cNvPr id="48" name="AutoShape 7">
            <a:extLst>
              <a:ext uri="{FF2B5EF4-FFF2-40B4-BE49-F238E27FC236}">
                <a16:creationId xmlns:a16="http://schemas.microsoft.com/office/drawing/2014/main" id="{DA2B9AA9-76DC-1CB4-A894-9EFF5B9AC56C}"/>
              </a:ext>
            </a:extLst>
          </p:cNvPr>
          <p:cNvSpPr/>
          <p:nvPr/>
        </p:nvSpPr>
        <p:spPr>
          <a:xfrm>
            <a:off x="1752600" y="1545771"/>
            <a:ext cx="4013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通过配置表,固定内部购买半成品时成本的加价率。</a:t>
            </a:r>
            <a:endParaRPr lang="en-US" sz="1100"/>
          </a:p>
        </p:txBody>
      </p:sp>
      <p:sp>
        <p:nvSpPr>
          <p:cNvPr id="49" name="AutoShape 8">
            <a:extLst>
              <a:ext uri="{FF2B5EF4-FFF2-40B4-BE49-F238E27FC236}">
                <a16:creationId xmlns:a16="http://schemas.microsoft.com/office/drawing/2014/main" id="{D04BDCB6-16D5-E9C6-A0AB-38351B0BD82D}"/>
              </a:ext>
            </a:extLst>
          </p:cNvPr>
          <p:cNvSpPr/>
          <p:nvPr/>
        </p:nvSpPr>
        <p:spPr>
          <a:xfrm>
            <a:off x="6070600" y="1037771"/>
            <a:ext cx="5486400" cy="1905000"/>
          </a:xfrm>
          <a:prstGeom prst="roundRect">
            <a:avLst>
              <a:gd name="adj" fmla="val 0"/>
            </a:avLst>
          </a:prstGeom>
          <a:solidFill>
            <a:srgbClr val="EBF2FA">
              <a:alpha val="55000"/>
            </a:srgbClr>
          </a:solidFill>
          <a:ln cap="flat" cmpd="sng">
            <a:solidFill>
              <a:srgbClr val="BDCDE1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" name="AutoShape 9">
            <a:extLst>
              <a:ext uri="{FF2B5EF4-FFF2-40B4-BE49-F238E27FC236}">
                <a16:creationId xmlns:a16="http://schemas.microsoft.com/office/drawing/2014/main" id="{709D0584-66C3-7922-2985-E9D72A400BAA}"/>
              </a:ext>
            </a:extLst>
          </p:cNvPr>
          <p:cNvSpPr/>
          <p:nvPr/>
        </p:nvSpPr>
        <p:spPr>
          <a:xfrm>
            <a:off x="6070600" y="1037771"/>
            <a:ext cx="50800" cy="1905000"/>
          </a:xfrm>
          <a:prstGeom prst="roundRect">
            <a:avLst>
              <a:gd name="adj" fmla="val 0"/>
            </a:avLst>
          </a:prstGeom>
          <a:solidFill>
            <a:srgbClr val="0A2C6E">
              <a:alpha val="100000"/>
            </a:srgbClr>
          </a:solidFill>
          <a:ln cap="flat" cmpd="sng">
            <a:solidFill>
              <a:srgbClr val="001D5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10">
            <a:extLst>
              <a:ext uri="{FF2B5EF4-FFF2-40B4-BE49-F238E27FC236}">
                <a16:creationId xmlns:a16="http://schemas.microsoft.com/office/drawing/2014/main" id="{BDD9DA4F-2CE5-0F31-D15D-1F60E7D62C99}"/>
              </a:ext>
            </a:extLst>
          </p:cNvPr>
          <p:cNvSpPr/>
          <p:nvPr/>
        </p:nvSpPr>
        <p:spPr>
          <a:xfrm>
            <a:off x="6273800" y="1037771"/>
            <a:ext cx="1092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333"/>
              </a:lnSpc>
              <a:defRPr/>
            </a:pPr>
            <a:r>
              <a:rPr lang="en-US" sz="44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52" name="AutoShape 11">
            <a:extLst>
              <a:ext uri="{FF2B5EF4-FFF2-40B4-BE49-F238E27FC236}">
                <a16:creationId xmlns:a16="http://schemas.microsoft.com/office/drawing/2014/main" id="{946CDF34-A4E6-5245-B500-8B1BFBAB3846}"/>
              </a:ext>
            </a:extLst>
          </p:cNvPr>
          <p:cNvSpPr/>
          <p:nvPr/>
        </p:nvSpPr>
        <p:spPr>
          <a:xfrm>
            <a:off x="7391400" y="1113971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83333"/>
              </a:lnSpc>
              <a:defRPr/>
            </a:pPr>
            <a:r>
              <a:rPr lang="en-US" sz="2000" b="1" i="0" u="none" strike="noStrike" dirty="0" err="1">
                <a:solidFill>
                  <a:srgbClr val="0A2C6E"/>
                </a:solidFill>
                <a:latin typeface="Noto Sans SC"/>
                <a:ea typeface="Noto Sans SC"/>
                <a:cs typeface="Noto Sans SC"/>
                <a:sym typeface="Noto Sans SC"/>
              </a:rPr>
              <a:t>启用</a:t>
            </a:r>
            <a:r>
              <a:rPr lang="zh-CN" altLang="en-US" sz="2000" b="1" i="0" u="none" strike="noStrike" dirty="0">
                <a:solidFill>
                  <a:srgbClr val="0A2C6E"/>
                </a:solidFill>
                <a:latin typeface="Noto Sans SC"/>
                <a:ea typeface="Noto Sans SC"/>
                <a:cs typeface="Noto Sans SC"/>
                <a:sym typeface="Noto Sans SC"/>
              </a:rPr>
              <a:t>分割</a:t>
            </a:r>
            <a:r>
              <a:rPr lang="en-US" sz="2000" b="1" i="0" u="none" strike="noStrike" dirty="0" err="1">
                <a:solidFill>
                  <a:srgbClr val="0A2C6E"/>
                </a:solidFill>
                <a:latin typeface="Noto Sans SC"/>
                <a:ea typeface="Noto Sans SC"/>
                <a:cs typeface="Noto Sans SC"/>
                <a:sym typeface="Noto Sans SC"/>
              </a:rPr>
              <a:t>评估</a:t>
            </a:r>
            <a:endParaRPr lang="en-US" sz="1100" dirty="0"/>
          </a:p>
        </p:txBody>
      </p:sp>
      <p:sp>
        <p:nvSpPr>
          <p:cNvPr id="53" name="AutoShape 12">
            <a:extLst>
              <a:ext uri="{FF2B5EF4-FFF2-40B4-BE49-F238E27FC236}">
                <a16:creationId xmlns:a16="http://schemas.microsoft.com/office/drawing/2014/main" id="{AA72E716-95E5-6505-A635-5BC3D5D3C9E7}"/>
              </a:ext>
            </a:extLst>
          </p:cNvPr>
          <p:cNvSpPr/>
          <p:nvPr/>
        </p:nvSpPr>
        <p:spPr>
          <a:xfrm>
            <a:off x="7391400" y="1545771"/>
            <a:ext cx="4089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对于涉及内部买卖的材料和半成品,启用</a:t>
            </a: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分割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评估,并区分为集团内购和非集团内购两种情况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54" name="AutoShape 13">
            <a:extLst>
              <a:ext uri="{FF2B5EF4-FFF2-40B4-BE49-F238E27FC236}">
                <a16:creationId xmlns:a16="http://schemas.microsoft.com/office/drawing/2014/main" id="{BD97D15F-D1C1-852F-C87B-5D998F883C2E}"/>
              </a:ext>
            </a:extLst>
          </p:cNvPr>
          <p:cNvSpPr/>
          <p:nvPr/>
        </p:nvSpPr>
        <p:spPr>
          <a:xfrm>
            <a:off x="431800" y="3044371"/>
            <a:ext cx="7366000" cy="2819400"/>
          </a:xfrm>
          <a:prstGeom prst="roundRect">
            <a:avLst>
              <a:gd name="adj" fmla="val 0"/>
            </a:avLst>
          </a:prstGeom>
          <a:solidFill>
            <a:srgbClr val="EBF2FA">
              <a:alpha val="55000"/>
            </a:srgbClr>
          </a:solidFill>
          <a:ln cap="flat" cmpd="sng">
            <a:solidFill>
              <a:srgbClr val="BDCDE1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" name="AutoShape 14">
            <a:extLst>
              <a:ext uri="{FF2B5EF4-FFF2-40B4-BE49-F238E27FC236}">
                <a16:creationId xmlns:a16="http://schemas.microsoft.com/office/drawing/2014/main" id="{5F4828FD-5EBC-0C82-C9F0-7835E4C91CAB}"/>
              </a:ext>
            </a:extLst>
          </p:cNvPr>
          <p:cNvSpPr/>
          <p:nvPr/>
        </p:nvSpPr>
        <p:spPr>
          <a:xfrm>
            <a:off x="431800" y="3044371"/>
            <a:ext cx="50800" cy="2819400"/>
          </a:xfrm>
          <a:prstGeom prst="roundRect">
            <a:avLst>
              <a:gd name="adj" fmla="val 0"/>
            </a:avLst>
          </a:prstGeom>
          <a:solidFill>
            <a:srgbClr val="0A2C6E">
              <a:alpha val="100000"/>
            </a:srgbClr>
          </a:solidFill>
          <a:ln cap="flat" cmpd="sng">
            <a:solidFill>
              <a:srgbClr val="001D5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AutoShape 15">
            <a:extLst>
              <a:ext uri="{FF2B5EF4-FFF2-40B4-BE49-F238E27FC236}">
                <a16:creationId xmlns:a16="http://schemas.microsoft.com/office/drawing/2014/main" id="{A607B037-ABE3-FBDB-51D9-E49BF7D32439}"/>
              </a:ext>
            </a:extLst>
          </p:cNvPr>
          <p:cNvSpPr/>
          <p:nvPr/>
        </p:nvSpPr>
        <p:spPr>
          <a:xfrm>
            <a:off x="635000" y="3044371"/>
            <a:ext cx="1092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333"/>
              </a:lnSpc>
              <a:defRPr/>
            </a:pPr>
            <a:r>
              <a:rPr lang="en-US" sz="44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57" name="AutoShape 16">
            <a:extLst>
              <a:ext uri="{FF2B5EF4-FFF2-40B4-BE49-F238E27FC236}">
                <a16:creationId xmlns:a16="http://schemas.microsoft.com/office/drawing/2014/main" id="{443520E1-E1CB-7353-C5C2-CF6916C37D12}"/>
              </a:ext>
            </a:extLst>
          </p:cNvPr>
          <p:cNvSpPr/>
          <p:nvPr/>
        </p:nvSpPr>
        <p:spPr>
          <a:xfrm>
            <a:off x="1752600" y="3069771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83333"/>
              </a:lnSpc>
              <a:defRPr/>
            </a:pPr>
            <a:r>
              <a:rPr lang="en-US" sz="2000" b="1" i="0" u="none" strike="noStrike">
                <a:solidFill>
                  <a:srgbClr val="0A2C6E"/>
                </a:solidFill>
                <a:latin typeface="Noto Sans SC"/>
                <a:ea typeface="Noto Sans SC"/>
                <a:cs typeface="Noto Sans SC"/>
                <a:sym typeface="Noto Sans SC"/>
              </a:rPr>
              <a:t>消除加价的周期成本计算</a:t>
            </a:r>
            <a:endParaRPr lang="en-US" sz="1100"/>
          </a:p>
        </p:txBody>
      </p:sp>
      <p:sp>
        <p:nvSpPr>
          <p:cNvPr id="58" name="AutoShape 17">
            <a:extLst>
              <a:ext uri="{FF2B5EF4-FFF2-40B4-BE49-F238E27FC236}">
                <a16:creationId xmlns:a16="http://schemas.microsoft.com/office/drawing/2014/main" id="{01FCD0B4-689F-6566-D84A-7FAA3996010D}"/>
              </a:ext>
            </a:extLst>
          </p:cNvPr>
          <p:cNvSpPr/>
          <p:nvPr/>
        </p:nvSpPr>
        <p:spPr>
          <a:xfrm>
            <a:off x="1752600" y="3501571"/>
            <a:ext cx="584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通过报表逻辑,在计算周期成本时消除内部交易中产生的加价部分,以还原真实的成本。</a:t>
            </a:r>
            <a:endParaRPr lang="en-US" sz="1100"/>
          </a:p>
        </p:txBody>
      </p:sp>
      <p:sp>
        <p:nvSpPr>
          <p:cNvPr id="59" name="AutoShape 18">
            <a:extLst>
              <a:ext uri="{FF2B5EF4-FFF2-40B4-BE49-F238E27FC236}">
                <a16:creationId xmlns:a16="http://schemas.microsoft.com/office/drawing/2014/main" id="{E81EAC39-47CF-7825-4CB6-B794BC4AA6D6}"/>
              </a:ext>
            </a:extLst>
          </p:cNvPr>
          <p:cNvSpPr/>
          <p:nvPr/>
        </p:nvSpPr>
        <p:spPr>
          <a:xfrm>
            <a:off x="1752600" y="4060371"/>
            <a:ext cx="5892800" cy="16510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cap="flat" cmpd="sng">
            <a:solidFill>
              <a:srgbClr val="BDCD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" name="AutoShape 19">
            <a:extLst>
              <a:ext uri="{FF2B5EF4-FFF2-40B4-BE49-F238E27FC236}">
                <a16:creationId xmlns:a16="http://schemas.microsoft.com/office/drawing/2014/main" id="{B82BEC1B-D3A9-4FA9-606A-0A2A346641F5}"/>
              </a:ext>
            </a:extLst>
          </p:cNvPr>
          <p:cNvSpPr/>
          <p:nvPr/>
        </p:nvSpPr>
        <p:spPr>
          <a:xfrm>
            <a:off x="1752600" y="4060371"/>
            <a:ext cx="38100" cy="1651000"/>
          </a:xfrm>
          <a:prstGeom prst="roundRect">
            <a:avLst>
              <a:gd name="adj" fmla="val 0"/>
            </a:avLst>
          </a:prstGeom>
          <a:solidFill>
            <a:srgbClr val="2A75F9">
              <a:alpha val="100000"/>
            </a:srgbClr>
          </a:solidFill>
          <a:ln cap="flat" cmpd="sng">
            <a:solidFill>
              <a:srgbClr val="0F5B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" name="AutoShape 20">
            <a:extLst>
              <a:ext uri="{FF2B5EF4-FFF2-40B4-BE49-F238E27FC236}">
                <a16:creationId xmlns:a16="http://schemas.microsoft.com/office/drawing/2014/main" id="{623D4DAF-6508-A800-5411-E03BCAC0A6F4}"/>
              </a:ext>
            </a:extLst>
          </p:cNvPr>
          <p:cNvSpPr/>
          <p:nvPr/>
        </p:nvSpPr>
        <p:spPr>
          <a:xfrm>
            <a:off x="1905000" y="4085771"/>
            <a:ext cx="566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333"/>
              </a:lnSpc>
              <a:defRPr/>
            </a:pPr>
            <a:r>
              <a:rPr lang="en-US" sz="1500" b="1" i="0" u="none" strike="noStrike">
                <a:solidFill>
                  <a:srgbClr val="0A2C6E"/>
                </a:solidFill>
                <a:latin typeface="Noto Sans SC"/>
                <a:ea typeface="Noto Sans SC"/>
                <a:cs typeface="Noto Sans SC"/>
                <a:sym typeface="Noto Sans SC"/>
              </a:rPr>
              <a:t>场景: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2026年08月,A公司销售半成品MAT_A给B公司,B公司生产MAT_B。</a:t>
            </a:r>
            <a:endParaRPr lang="en-US" sz="1100"/>
          </a:p>
        </p:txBody>
      </p:sp>
      <p:sp>
        <p:nvSpPr>
          <p:cNvPr id="62" name="AutoShape 21">
            <a:extLst>
              <a:ext uri="{FF2B5EF4-FFF2-40B4-BE49-F238E27FC236}">
                <a16:creationId xmlns:a16="http://schemas.microsoft.com/office/drawing/2014/main" id="{F36E7301-133A-1243-12A2-BE0E92C809E6}"/>
              </a:ext>
            </a:extLst>
          </p:cNvPr>
          <p:cNvSpPr/>
          <p:nvPr/>
        </p:nvSpPr>
        <p:spPr>
          <a:xfrm>
            <a:off x="1905000" y="4479471"/>
            <a:ext cx="5664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333"/>
              </a:lnSpc>
              <a:defRPr/>
            </a:pPr>
            <a:r>
              <a:rPr lang="en-US" sz="1300" b="1" i="0" u="none" strike="noStrike">
                <a:solidFill>
                  <a:srgbClr val="2A75F9"/>
                </a:solidFill>
                <a:latin typeface="Noto Sans SC"/>
                <a:ea typeface="Noto Sans SC"/>
                <a:cs typeface="Noto Sans SC"/>
                <a:sym typeface="Noto Sans SC"/>
              </a:rPr>
              <a:t>步骤1:</a:t>
            </a:r>
            <a:r>
              <a:rPr lang="en-US" sz="12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A公司以2026年08月的MAT_A周期单价作为B公司该材料的集团实际价格,并保存。</a:t>
            </a:r>
            <a:endParaRPr lang="en-US" sz="1100"/>
          </a:p>
        </p:txBody>
      </p:sp>
      <p:sp>
        <p:nvSpPr>
          <p:cNvPr id="63" name="AutoShape 22">
            <a:extLst>
              <a:ext uri="{FF2B5EF4-FFF2-40B4-BE49-F238E27FC236}">
                <a16:creationId xmlns:a16="http://schemas.microsoft.com/office/drawing/2014/main" id="{9A6B1124-096B-1B79-213F-838362C2E65B}"/>
              </a:ext>
            </a:extLst>
          </p:cNvPr>
          <p:cNvSpPr/>
          <p:nvPr/>
        </p:nvSpPr>
        <p:spPr>
          <a:xfrm>
            <a:off x="1905000" y="4847771"/>
            <a:ext cx="5664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333"/>
              </a:lnSpc>
              <a:defRPr/>
            </a:pPr>
            <a:r>
              <a:rPr lang="en-US" sz="1300" b="1" i="0" u="none" strike="noStrike">
                <a:solidFill>
                  <a:srgbClr val="2A75F9"/>
                </a:solidFill>
                <a:latin typeface="Noto Sans SC"/>
                <a:ea typeface="Noto Sans SC"/>
                <a:cs typeface="Noto Sans SC"/>
                <a:sym typeface="Noto Sans SC"/>
              </a:rPr>
              <a:t>步骤2:</a:t>
            </a:r>
            <a:r>
              <a:rPr lang="en-US" sz="12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B公司在法定视角下,MAT_B的每月实际成本需使用A公司购买的MAT_A的集团周期单价,并保存MAT_B的集团周期单价。</a:t>
            </a:r>
            <a:endParaRPr lang="en-US" sz="1100"/>
          </a:p>
        </p:txBody>
      </p:sp>
      <p:sp>
        <p:nvSpPr>
          <p:cNvPr id="64" name="AutoShape 23">
            <a:extLst>
              <a:ext uri="{FF2B5EF4-FFF2-40B4-BE49-F238E27FC236}">
                <a16:creationId xmlns:a16="http://schemas.microsoft.com/office/drawing/2014/main" id="{3744CB4A-B567-CA8A-5CF8-7C7F2248A65D}"/>
              </a:ext>
            </a:extLst>
          </p:cNvPr>
          <p:cNvSpPr/>
          <p:nvPr/>
        </p:nvSpPr>
        <p:spPr>
          <a:xfrm>
            <a:off x="1905000" y="5254171"/>
            <a:ext cx="56642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333"/>
              </a:lnSpc>
              <a:defRPr/>
            </a:pPr>
            <a:r>
              <a:rPr lang="en-US" sz="1300" b="1" i="0" u="none" strike="noStrike">
                <a:solidFill>
                  <a:srgbClr val="2A75F9"/>
                </a:solidFill>
                <a:latin typeface="Noto Sans SC"/>
                <a:ea typeface="Noto Sans SC"/>
                <a:cs typeface="Noto Sans SC"/>
                <a:sym typeface="Noto Sans SC"/>
              </a:rPr>
              <a:t>步骤3:</a:t>
            </a:r>
            <a:r>
              <a:rPr lang="en-US" sz="12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重点监控每月月结,若计算的法定周期单价偏离过大,需及时调整,避免导致实际集团周期单价差异。</a:t>
            </a:r>
            <a:endParaRPr lang="en-US" sz="1100"/>
          </a:p>
        </p:txBody>
      </p:sp>
      <p:sp>
        <p:nvSpPr>
          <p:cNvPr id="65" name="AutoShape 24">
            <a:extLst>
              <a:ext uri="{FF2B5EF4-FFF2-40B4-BE49-F238E27FC236}">
                <a16:creationId xmlns:a16="http://schemas.microsoft.com/office/drawing/2014/main" id="{816DC80D-D918-C730-E925-BACD0DD8A374}"/>
              </a:ext>
            </a:extLst>
          </p:cNvPr>
          <p:cNvSpPr/>
          <p:nvPr/>
        </p:nvSpPr>
        <p:spPr>
          <a:xfrm>
            <a:off x="8001000" y="3044371"/>
            <a:ext cx="3556000" cy="2819400"/>
          </a:xfrm>
          <a:prstGeom prst="roundRect">
            <a:avLst>
              <a:gd name="adj" fmla="val 0"/>
            </a:avLst>
          </a:prstGeom>
          <a:solidFill>
            <a:srgbClr val="EBF2FA">
              <a:alpha val="55000"/>
            </a:srgbClr>
          </a:solidFill>
          <a:ln cap="flat" cmpd="sng">
            <a:solidFill>
              <a:srgbClr val="BDCDE1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" name="AutoShape 25">
            <a:extLst>
              <a:ext uri="{FF2B5EF4-FFF2-40B4-BE49-F238E27FC236}">
                <a16:creationId xmlns:a16="http://schemas.microsoft.com/office/drawing/2014/main" id="{C3D1FEA2-3352-38E2-651E-3A3689217D55}"/>
              </a:ext>
            </a:extLst>
          </p:cNvPr>
          <p:cNvSpPr/>
          <p:nvPr/>
        </p:nvSpPr>
        <p:spPr>
          <a:xfrm>
            <a:off x="8001000" y="3044371"/>
            <a:ext cx="50800" cy="2819400"/>
          </a:xfrm>
          <a:prstGeom prst="roundRect">
            <a:avLst>
              <a:gd name="adj" fmla="val 0"/>
            </a:avLst>
          </a:prstGeom>
          <a:solidFill>
            <a:srgbClr val="0A2C6E">
              <a:alpha val="100000"/>
            </a:srgbClr>
          </a:solidFill>
          <a:ln cap="flat" cmpd="sng">
            <a:solidFill>
              <a:srgbClr val="001D5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" name="AutoShape 26">
            <a:extLst>
              <a:ext uri="{FF2B5EF4-FFF2-40B4-BE49-F238E27FC236}">
                <a16:creationId xmlns:a16="http://schemas.microsoft.com/office/drawing/2014/main" id="{73BD9241-EC67-B24E-5588-AFC3CB84C3AC}"/>
              </a:ext>
            </a:extLst>
          </p:cNvPr>
          <p:cNvSpPr/>
          <p:nvPr/>
        </p:nvSpPr>
        <p:spPr>
          <a:xfrm>
            <a:off x="8204200" y="3044371"/>
            <a:ext cx="1092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333"/>
              </a:lnSpc>
              <a:defRPr/>
            </a:pPr>
            <a:r>
              <a:rPr lang="en-US" sz="44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68" name="AutoShape 27">
            <a:extLst>
              <a:ext uri="{FF2B5EF4-FFF2-40B4-BE49-F238E27FC236}">
                <a16:creationId xmlns:a16="http://schemas.microsoft.com/office/drawing/2014/main" id="{B6061595-8463-CDBC-F201-6FE0B4A0515A}"/>
              </a:ext>
            </a:extLst>
          </p:cNvPr>
          <p:cNvSpPr/>
          <p:nvPr/>
        </p:nvSpPr>
        <p:spPr>
          <a:xfrm>
            <a:off x="8204200" y="3958771"/>
            <a:ext cx="3352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83333"/>
              </a:lnSpc>
              <a:defRPr/>
            </a:pPr>
            <a:r>
              <a:rPr lang="en-US" sz="2000" b="1" i="0" u="none" strike="noStrike">
                <a:solidFill>
                  <a:srgbClr val="0A2C6E"/>
                </a:solidFill>
                <a:latin typeface="Noto Sans SC"/>
                <a:ea typeface="Noto Sans SC"/>
                <a:cs typeface="Noto Sans SC"/>
                <a:sym typeface="Noto Sans SC"/>
              </a:rPr>
              <a:t>新产品报价参考</a:t>
            </a:r>
            <a:endParaRPr lang="en-US" sz="1100"/>
          </a:p>
        </p:txBody>
      </p:sp>
      <p:sp>
        <p:nvSpPr>
          <p:cNvPr id="69" name="AutoShape 28">
            <a:extLst>
              <a:ext uri="{FF2B5EF4-FFF2-40B4-BE49-F238E27FC236}">
                <a16:creationId xmlns:a16="http://schemas.microsoft.com/office/drawing/2014/main" id="{2CB5A1D0-C62D-FBEB-72D4-7DB5414261F3}"/>
              </a:ext>
            </a:extLst>
          </p:cNvPr>
          <p:cNvSpPr/>
          <p:nvPr/>
        </p:nvSpPr>
        <p:spPr>
          <a:xfrm>
            <a:off x="8204200" y="4441371"/>
            <a:ext cx="3352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新产品报价时,基于类似产品的集团成本作为报价参考依据。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9231630" cy="9326880"/>
          </a:xfrm>
        </p:spPr>
        <p:txBody>
          <a:bodyPr/>
          <a:lstStyle/>
          <a:p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03</a:t>
            </a:r>
            <a:endParaRPr lang="zh-CN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</a:rPr>
              <a:t>配套行动计划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3F23F-2EFC-3C61-C586-8E77AA0C2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268BE17-75F9-1B77-2921-449D60F10CBD}"/>
              </a:ext>
            </a:extLst>
          </p:cNvPr>
          <p:cNvSpPr/>
          <p:nvPr/>
        </p:nvSpPr>
        <p:spPr>
          <a:xfrm>
            <a:off x="431800" y="6515100"/>
            <a:ext cx="1358900" cy="152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Confidential</a:t>
            </a:r>
            <a:endParaRPr lang="en-US" sz="110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36A44FA-3197-5AB5-3D4E-ED5489BB409B}"/>
              </a:ext>
            </a:extLst>
          </p:cNvPr>
          <p:cNvSpPr/>
          <p:nvPr/>
        </p:nvSpPr>
        <p:spPr>
          <a:xfrm>
            <a:off x="10947400" y="6451600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1A4547D1-C963-A884-8977-6D7800C4A8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92100" y="6413500"/>
            <a:ext cx="1739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>
            <a:extLst>
              <a:ext uri="{FF2B5EF4-FFF2-40B4-BE49-F238E27FC236}">
                <a16:creationId xmlns:a16="http://schemas.microsoft.com/office/drawing/2014/main" id="{4F618C23-AC3E-CCB5-6271-6DBD7571622A}"/>
              </a:ext>
            </a:extLst>
          </p:cNvPr>
          <p:cNvSpPr/>
          <p:nvPr/>
        </p:nvSpPr>
        <p:spPr>
          <a:xfrm>
            <a:off x="431800" y="292100"/>
            <a:ext cx="113411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41E00B-9D00-5D3C-E7DE-4697ACE950F6}"/>
              </a:ext>
            </a:extLst>
          </p:cNvPr>
          <p:cNvSpPr txBox="1"/>
          <p:nvPr/>
        </p:nvSpPr>
        <p:spPr>
          <a:xfrm>
            <a:off x="419100" y="240407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2800" b="1" dirty="0" err="1">
                <a:solidFill>
                  <a:srgbClr val="0073E6"/>
                </a:solidFill>
                <a:latin typeface="Biennale Bold"/>
              </a:rPr>
              <a:t>五大行动步骤分解</a:t>
            </a:r>
            <a:endParaRPr lang="en-US" sz="2800" b="1" dirty="0">
              <a:solidFill>
                <a:srgbClr val="0073E6"/>
              </a:solidFill>
              <a:latin typeface="Biennale Bold"/>
            </a:endParaRP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6410966A-B247-99E8-53BF-B5980CE61CEE}"/>
              </a:ext>
            </a:extLst>
          </p:cNvPr>
          <p:cNvSpPr/>
          <p:nvPr/>
        </p:nvSpPr>
        <p:spPr>
          <a:xfrm>
            <a:off x="457086" y="1390650"/>
            <a:ext cx="9522" cy="649486"/>
          </a:xfrm>
          <a:prstGeom prst="line">
            <a:avLst/>
          </a:prstGeom>
          <a:ln w="9525">
            <a:solidFill>
              <a:srgbClr val="4A7FD7">
                <a:alpha val="7803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CB87C8C-BD2A-02D8-CA70-8311CB13F3AB}"/>
              </a:ext>
            </a:extLst>
          </p:cNvPr>
          <p:cNvSpPr txBox="1"/>
          <p:nvPr/>
        </p:nvSpPr>
        <p:spPr>
          <a:xfrm>
            <a:off x="457086" y="2249686"/>
            <a:ext cx="11274781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ln/>
                <a:solidFill>
                  <a:srgbClr val="1A1C20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配套行动计划 — 五大步骤明细</a:t>
            </a:r>
            <a:endParaRPr lang="en-US" sz="1100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212B9A12-DF6A-79CC-5278-3D03A8F6E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730490"/>
              </p:ext>
            </p:extLst>
          </p:nvPr>
        </p:nvGraphicFramePr>
        <p:xfrm>
          <a:off x="457086" y="2611636"/>
          <a:ext cx="11252200" cy="2781300"/>
        </p:xfrm>
        <a:graphic>
          <a:graphicData uri="http://schemas.openxmlformats.org/drawingml/2006/table">
            <a:tbl>
              <a:tblPr/>
              <a:tblGrid>
                <a:gridCol w="78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54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>
                        <a:defRPr sz="1100" b="1" i="0" strike="noStrike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defRPr>
                      </a:pPr>
                      <a:r>
                        <a:rPr sz="1100" b="1" i="0" strike="noStrike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rPr>
                        <a:t>步骤</a:t>
                      </a:r>
                      <a:endParaRPr/>
                    </a:p>
                  </a:txBody>
                  <a:tcPr>
                    <a:lnL w="12700">
                      <a:solidFill>
                        <a:srgbClr val="D0D5DD">
                          <a:alpha val="100000"/>
                        </a:srgbClr>
                      </a:solidFill>
                    </a:lnL>
                    <a:lnR w="12700">
                      <a:solidFill>
                        <a:srgbClr val="D0D5DD">
                          <a:alpha val="100000"/>
                        </a:srgbClr>
                      </a:solidFill>
                    </a:lnR>
                    <a:lnT w="12700">
                      <a:solidFill>
                        <a:srgbClr val="D0D5DD">
                          <a:alpha val="100000"/>
                        </a:srgbClr>
                      </a:solidFill>
                    </a:lnT>
                    <a:lnB w="12700">
                      <a:solidFill>
                        <a:srgbClr val="D0D5DD">
                          <a:alpha val="100000"/>
                        </a:srgbClr>
                      </a:solidFill>
                    </a:lnB>
                    <a:solidFill>
                      <a:srgbClr val="EDF0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 i="0" strike="noStrike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defRPr>
                      </a:pPr>
                      <a:r>
                        <a:rPr sz="1100" b="1" i="0" strike="noStrike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rPr>
                        <a:t>行动内容</a:t>
                      </a:r>
                      <a:endParaRPr/>
                    </a:p>
                  </a:txBody>
                  <a:tcPr>
                    <a:lnL w="12700">
                      <a:solidFill>
                        <a:srgbClr val="D0D5DD">
                          <a:alpha val="100000"/>
                        </a:srgbClr>
                      </a:solidFill>
                    </a:lnL>
                    <a:lnR w="12700">
                      <a:solidFill>
                        <a:srgbClr val="D0D5DD">
                          <a:alpha val="100000"/>
                        </a:srgbClr>
                      </a:solidFill>
                    </a:lnR>
                    <a:lnT w="12700">
                      <a:solidFill>
                        <a:srgbClr val="D0D5DD">
                          <a:alpha val="100000"/>
                        </a:srgbClr>
                      </a:solidFill>
                    </a:lnT>
                    <a:lnB w="12700">
                      <a:solidFill>
                        <a:srgbClr val="D0D5DD">
                          <a:alpha val="100000"/>
                        </a:srgbClr>
                      </a:solidFill>
                    </a:lnB>
                    <a:solidFill>
                      <a:srgbClr val="EDF0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 i="0" strike="noStrike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defRPr>
                      </a:pPr>
                      <a:r>
                        <a:rPr sz="1100" b="1" i="0" strike="noStrike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rPr>
                        <a:t>涉及模块</a:t>
                      </a:r>
                      <a:endParaRPr/>
                    </a:p>
                  </a:txBody>
                  <a:tcPr>
                    <a:lnL w="12700">
                      <a:solidFill>
                        <a:srgbClr val="D0D5DD">
                          <a:alpha val="100000"/>
                        </a:srgbClr>
                      </a:solidFill>
                    </a:lnL>
                    <a:lnR w="12700">
                      <a:solidFill>
                        <a:srgbClr val="D0D5DD">
                          <a:alpha val="100000"/>
                        </a:srgbClr>
                      </a:solidFill>
                    </a:lnR>
                    <a:lnT w="12700">
                      <a:solidFill>
                        <a:srgbClr val="D0D5DD">
                          <a:alpha val="100000"/>
                        </a:srgbClr>
                      </a:solidFill>
                    </a:lnT>
                    <a:lnB w="12700">
                      <a:solidFill>
                        <a:srgbClr val="D0D5DD">
                          <a:alpha val="100000"/>
                        </a:srgbClr>
                      </a:solidFill>
                    </a:lnB>
                    <a:solidFill>
                      <a:srgbClr val="EDF0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 i="0" strike="noStrike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defRPr>
                      </a:pPr>
                      <a:r>
                        <a:rPr sz="1100" b="1" i="0" strike="noStrike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Alibaba PuHuiTi 3.0 55 Regular&quot;, sans-serif"/>
                          <a:ea typeface="&quot;Alibaba PuHuiTi 3.0 55 Regular&quot;, sans-serif"/>
                          <a:cs typeface="&quot;Alibaba PuHuiTi 3.0 55 Regular&quot;, sans-serif"/>
                        </a:rPr>
                        <a:t>关键说明</a:t>
                      </a:r>
                      <a:endParaRPr/>
                    </a:p>
                  </a:txBody>
                  <a:tcPr>
                    <a:lnL w="12700">
                      <a:solidFill>
                        <a:srgbClr val="D0D5DD">
                          <a:alpha val="100000"/>
                        </a:srgbClr>
                      </a:solidFill>
                    </a:lnL>
                    <a:lnR w="12700">
                      <a:solidFill>
                        <a:srgbClr val="D0D5DD">
                          <a:alpha val="100000"/>
                        </a:srgbClr>
                      </a:solidFill>
                    </a:lnR>
                    <a:lnT w="12700">
                      <a:solidFill>
                        <a:srgbClr val="D0D5DD">
                          <a:alpha val="100000"/>
                        </a:srgbClr>
                      </a:solidFill>
                    </a:lnT>
                    <a:lnB w="12700">
                      <a:solidFill>
                        <a:srgbClr val="D0D5DD">
                          <a:alpha val="100000"/>
                        </a:srgbClr>
                      </a:solidFill>
                    </a:lnB>
                    <a:solidFill>
                      <a:srgbClr val="EDF0F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>
                        <a:defRPr sz="1500" b="1" i="0" strike="noStrike">
                          <a:ln/>
                          <a:solidFill>
                            <a:srgbClr val="4A7FD7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defRPr>
                      </a:pPr>
                      <a:r>
                        <a:rPr sz="1500" b="1" i="0" strike="noStrike">
                          <a:ln/>
                          <a:solidFill>
                            <a:srgbClr val="4A7FD7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01</a:t>
                      </a:r>
                      <a:endParaRPr/>
                    </a:p>
                  </a:txBody>
                  <a:tcPr>
                    <a:lnL w="12700">
                      <a:solidFill>
                        <a:srgbClr val="D0D5DD">
                          <a:alpha val="100000"/>
                        </a:srgbClr>
                      </a:solidFill>
                    </a:lnL>
                    <a:lnR w="12700">
                      <a:solidFill>
                        <a:srgbClr val="D0D5DD">
                          <a:alpha val="100000"/>
                        </a:srgbClr>
                      </a:solidFill>
                    </a:lnR>
                    <a:lnT w="12700">
                      <a:solidFill>
                        <a:srgbClr val="D0D5DD">
                          <a:alpha val="100000"/>
                        </a:srgbClr>
                      </a:solidFill>
                    </a:lnT>
                    <a:lnB w="12700">
                      <a:solidFill>
                        <a:srgbClr val="D0D5DD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 i="0" strike="noStrike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100" b="1" i="0" strike="noStrike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FICO模块初步配置完成</a:t>
                      </a:r>
                      <a:endParaRPr/>
                    </a:p>
                  </a:txBody>
                  <a:tcPr>
                    <a:lnL w="12700">
                      <a:solidFill>
                        <a:srgbClr val="D0D5DD">
                          <a:alpha val="100000"/>
                        </a:srgbClr>
                      </a:solidFill>
                    </a:lnL>
                    <a:lnR w="12700">
                      <a:solidFill>
                        <a:srgbClr val="D0D5DD">
                          <a:alpha val="100000"/>
                        </a:srgbClr>
                      </a:solidFill>
                    </a:lnR>
                    <a:lnT w="12700">
                      <a:solidFill>
                        <a:srgbClr val="D0D5DD">
                          <a:alpha val="100000"/>
                        </a:srgbClr>
                      </a:solidFill>
                    </a:lnT>
                    <a:lnB w="12700">
                      <a:solidFill>
                        <a:srgbClr val="D0D5DD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 i="0" strike="noStrike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highlight>
                            <a:srgbClr val="EDF0F4">
                              <a:alpha val="100000"/>
                            </a:srgbClr>
                          </a:highlight>
                          <a:latin typeface="Alibaba PuHuiTi 3.0 55 Regular"/>
                          <a:ea typeface="Alibaba PuHuiTi 3.0 55 Regular"/>
                          <a:cs typeface="Alibaba PuHuiTi 3.0 55 Regular"/>
                        </a:defRPr>
                      </a:pPr>
                      <a:r>
                        <a:rPr sz="900" b="0" i="0" strike="noStrike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highlight>
                            <a:srgbClr val="EDF0F4">
                              <a:alpha val="100000"/>
                            </a:srgbClr>
                          </a:highlight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FICO</a:t>
                      </a:r>
                      <a:endParaRPr/>
                    </a:p>
                  </a:txBody>
                  <a:tcPr>
                    <a:lnL w="12700">
                      <a:solidFill>
                        <a:srgbClr val="D0D5DD">
                          <a:alpha val="100000"/>
                        </a:srgbClr>
                      </a:solidFill>
                    </a:lnL>
                    <a:lnR w="12700">
                      <a:solidFill>
                        <a:srgbClr val="D0D5DD">
                          <a:alpha val="100000"/>
                        </a:srgbClr>
                      </a:solidFill>
                    </a:lnR>
                    <a:lnT w="12700">
                      <a:solidFill>
                        <a:srgbClr val="D0D5DD">
                          <a:alpha val="100000"/>
                        </a:srgbClr>
                      </a:solidFill>
                    </a:lnT>
                    <a:lnB w="12700">
                      <a:solidFill>
                        <a:srgbClr val="D0D5DD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100" b="0" i="0" strike="noStrike" dirty="0" err="1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建立成本中心、利润中心、内部订单等财务主数据框架</a:t>
                      </a:r>
                      <a:r>
                        <a:rPr lang="zh-CN" altLang="en-US" sz="1100" b="0" i="0" strike="noStrike" dirty="0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，支持物料帐月结</a:t>
                      </a:r>
                      <a:endParaRPr dirty="0"/>
                    </a:p>
                  </a:txBody>
                  <a:tcPr>
                    <a:lnL w="12700">
                      <a:solidFill>
                        <a:srgbClr val="D0D5DD">
                          <a:alpha val="100000"/>
                        </a:srgbClr>
                      </a:solidFill>
                    </a:lnL>
                    <a:lnR w="12700">
                      <a:solidFill>
                        <a:srgbClr val="D0D5DD">
                          <a:alpha val="100000"/>
                        </a:srgbClr>
                      </a:solidFill>
                    </a:lnR>
                    <a:lnT w="12700">
                      <a:solidFill>
                        <a:srgbClr val="D0D5DD">
                          <a:alpha val="100000"/>
                        </a:srgbClr>
                      </a:solidFill>
                    </a:lnT>
                    <a:lnB w="12700">
                      <a:solidFill>
                        <a:srgbClr val="D0D5DD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>
                        <a:defRPr sz="1500" b="1" i="0" strike="noStrike">
                          <a:ln/>
                          <a:solidFill>
                            <a:srgbClr val="4A7FD7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defRPr>
                      </a:pPr>
                      <a:r>
                        <a:rPr sz="1500" b="1" i="0" strike="noStrike">
                          <a:ln/>
                          <a:solidFill>
                            <a:srgbClr val="4A7FD7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02</a:t>
                      </a:r>
                      <a:endParaRPr/>
                    </a:p>
                  </a:txBody>
                  <a:tcPr>
                    <a:lnL w="12700">
                      <a:solidFill>
                        <a:srgbClr val="D0D5DD">
                          <a:alpha val="100000"/>
                        </a:srgbClr>
                      </a:solidFill>
                    </a:lnL>
                    <a:lnR w="12700">
                      <a:solidFill>
                        <a:srgbClr val="D0D5DD">
                          <a:alpha val="100000"/>
                        </a:srgbClr>
                      </a:solidFill>
                    </a:lnR>
                    <a:lnT w="12700">
                      <a:solidFill>
                        <a:srgbClr val="D0D5DD">
                          <a:alpha val="100000"/>
                        </a:srgbClr>
                      </a:solidFill>
                    </a:lnT>
                    <a:lnB w="12700">
                      <a:solidFill>
                        <a:srgbClr val="D0D5DD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 i="0" strike="noStrike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100" b="1" i="0" strike="noStrike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MM模块对集团内部半成品启用分割评估</a:t>
                      </a:r>
                      <a:endParaRPr/>
                    </a:p>
                  </a:txBody>
                  <a:tcPr>
                    <a:lnL w="12700">
                      <a:solidFill>
                        <a:srgbClr val="D0D5DD">
                          <a:alpha val="100000"/>
                        </a:srgbClr>
                      </a:solidFill>
                    </a:lnL>
                    <a:lnR w="12700">
                      <a:solidFill>
                        <a:srgbClr val="D0D5DD">
                          <a:alpha val="100000"/>
                        </a:srgbClr>
                      </a:solidFill>
                    </a:lnR>
                    <a:lnT w="12700">
                      <a:solidFill>
                        <a:srgbClr val="D0D5DD">
                          <a:alpha val="100000"/>
                        </a:srgbClr>
                      </a:solidFill>
                    </a:lnT>
                    <a:lnB w="12700">
                      <a:solidFill>
                        <a:srgbClr val="D0D5DD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 i="0" strike="noStrike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highlight>
                            <a:srgbClr val="EDF0F4">
                              <a:alpha val="100000"/>
                            </a:srgbClr>
                          </a:highlight>
                          <a:latin typeface="Alibaba PuHuiTi 3.0 55 Regular"/>
                          <a:ea typeface="Alibaba PuHuiTi 3.0 55 Regular"/>
                          <a:cs typeface="Alibaba PuHuiTi 3.0 55 Regular"/>
                        </a:defRPr>
                      </a:pPr>
                      <a:r>
                        <a:rPr sz="900" b="0" i="0" strike="noStrike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highlight>
                            <a:srgbClr val="EDF0F4">
                              <a:alpha val="100000"/>
                            </a:srgbClr>
                          </a:highlight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MM</a:t>
                      </a:r>
                      <a:endParaRPr/>
                    </a:p>
                  </a:txBody>
                  <a:tcPr>
                    <a:lnL w="12700">
                      <a:solidFill>
                        <a:srgbClr val="D0D5DD">
                          <a:alpha val="100000"/>
                        </a:srgbClr>
                      </a:solidFill>
                    </a:lnL>
                    <a:lnR w="12700">
                      <a:solidFill>
                        <a:srgbClr val="D0D5DD">
                          <a:alpha val="100000"/>
                        </a:srgbClr>
                      </a:solidFill>
                    </a:lnR>
                    <a:lnT w="12700">
                      <a:solidFill>
                        <a:srgbClr val="D0D5DD">
                          <a:alpha val="100000"/>
                        </a:srgbClr>
                      </a:solidFill>
                    </a:lnT>
                    <a:lnB w="12700">
                      <a:solidFill>
                        <a:srgbClr val="D0D5DD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100" b="0" i="0" strike="noStrike" dirty="0" err="1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分割评估是消除跨公司半成品内部加价的核心技术手段</a:t>
                      </a:r>
                      <a:endParaRPr dirty="0"/>
                    </a:p>
                  </a:txBody>
                  <a:tcPr>
                    <a:lnL w="12700">
                      <a:solidFill>
                        <a:srgbClr val="D0D5DD">
                          <a:alpha val="100000"/>
                        </a:srgbClr>
                      </a:solidFill>
                    </a:lnL>
                    <a:lnR w="12700">
                      <a:solidFill>
                        <a:srgbClr val="D0D5DD">
                          <a:alpha val="100000"/>
                        </a:srgbClr>
                      </a:solidFill>
                    </a:lnR>
                    <a:lnT w="12700">
                      <a:solidFill>
                        <a:srgbClr val="D0D5DD">
                          <a:alpha val="100000"/>
                        </a:srgbClr>
                      </a:solidFill>
                    </a:lnT>
                    <a:lnB w="12700">
                      <a:solidFill>
                        <a:srgbClr val="D0D5DD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>
                        <a:defRPr sz="1500" b="1" i="0" strike="noStrike">
                          <a:ln/>
                          <a:solidFill>
                            <a:srgbClr val="4A7FD7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defRPr>
                      </a:pPr>
                      <a:r>
                        <a:rPr sz="1500" b="1" i="0" strike="noStrike">
                          <a:ln/>
                          <a:solidFill>
                            <a:srgbClr val="4A7FD7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03</a:t>
                      </a:r>
                      <a:endParaRPr/>
                    </a:p>
                  </a:txBody>
                  <a:tcPr>
                    <a:lnL w="12700">
                      <a:solidFill>
                        <a:srgbClr val="D0D5DD">
                          <a:alpha val="100000"/>
                        </a:srgbClr>
                      </a:solidFill>
                    </a:lnL>
                    <a:lnR w="12700">
                      <a:solidFill>
                        <a:srgbClr val="D0D5DD">
                          <a:alpha val="100000"/>
                        </a:srgbClr>
                      </a:solidFill>
                    </a:lnR>
                    <a:lnT w="12700">
                      <a:solidFill>
                        <a:srgbClr val="D0D5DD">
                          <a:alpha val="100000"/>
                        </a:srgbClr>
                      </a:solidFill>
                    </a:lnT>
                    <a:lnB w="12700">
                      <a:solidFill>
                        <a:srgbClr val="D0D5DD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 i="0" strike="noStrike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100" b="1" i="0" strike="noStrike" dirty="0" err="1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PP模块完成初步配置</a:t>
                      </a:r>
                      <a:endParaRPr dirty="0"/>
                    </a:p>
                  </a:txBody>
                  <a:tcPr>
                    <a:lnL w="12700">
                      <a:solidFill>
                        <a:srgbClr val="D0D5DD">
                          <a:alpha val="100000"/>
                        </a:srgbClr>
                      </a:solidFill>
                    </a:lnL>
                    <a:lnR w="12700">
                      <a:solidFill>
                        <a:srgbClr val="D0D5DD">
                          <a:alpha val="100000"/>
                        </a:srgbClr>
                      </a:solidFill>
                    </a:lnR>
                    <a:lnT w="12700">
                      <a:solidFill>
                        <a:srgbClr val="D0D5DD">
                          <a:alpha val="100000"/>
                        </a:srgbClr>
                      </a:solidFill>
                    </a:lnT>
                    <a:lnB w="12700">
                      <a:solidFill>
                        <a:srgbClr val="D0D5DD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 i="0" strike="noStrike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highlight>
                            <a:srgbClr val="EDF0F4">
                              <a:alpha val="100000"/>
                            </a:srgbClr>
                          </a:highlight>
                          <a:latin typeface="Alibaba PuHuiTi 3.0 55 Regular"/>
                          <a:ea typeface="Alibaba PuHuiTi 3.0 55 Regular"/>
                          <a:cs typeface="Alibaba PuHuiTi 3.0 55 Regular"/>
                        </a:defRPr>
                      </a:pPr>
                      <a:r>
                        <a:rPr sz="900" b="0" i="0" strike="noStrike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highlight>
                            <a:srgbClr val="EDF0F4">
                              <a:alpha val="100000"/>
                            </a:srgbClr>
                          </a:highlight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PP</a:t>
                      </a:r>
                      <a:endParaRPr/>
                    </a:p>
                  </a:txBody>
                  <a:tcPr>
                    <a:lnL w="12700">
                      <a:solidFill>
                        <a:srgbClr val="D0D5DD">
                          <a:alpha val="100000"/>
                        </a:srgbClr>
                      </a:solidFill>
                    </a:lnL>
                    <a:lnR w="12700">
                      <a:solidFill>
                        <a:srgbClr val="D0D5DD">
                          <a:alpha val="100000"/>
                        </a:srgbClr>
                      </a:solidFill>
                    </a:lnR>
                    <a:lnT w="12700">
                      <a:solidFill>
                        <a:srgbClr val="D0D5DD">
                          <a:alpha val="100000"/>
                        </a:srgbClr>
                      </a:solidFill>
                    </a:lnT>
                    <a:lnB w="12700">
                      <a:solidFill>
                        <a:srgbClr val="D0D5DD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100" b="0" i="0" strike="noStrike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打通生产计划与成本归集链路，衔接MM与FICO</a:t>
                      </a:r>
                      <a:endParaRPr/>
                    </a:p>
                  </a:txBody>
                  <a:tcPr>
                    <a:lnL w="12700">
                      <a:solidFill>
                        <a:srgbClr val="D0D5DD">
                          <a:alpha val="100000"/>
                        </a:srgbClr>
                      </a:solidFill>
                    </a:lnL>
                    <a:lnR w="12700">
                      <a:solidFill>
                        <a:srgbClr val="D0D5DD">
                          <a:alpha val="100000"/>
                        </a:srgbClr>
                      </a:solidFill>
                    </a:lnR>
                    <a:lnT w="12700">
                      <a:solidFill>
                        <a:srgbClr val="D0D5DD">
                          <a:alpha val="100000"/>
                        </a:srgbClr>
                      </a:solidFill>
                    </a:lnT>
                    <a:lnB w="12700">
                      <a:solidFill>
                        <a:srgbClr val="D0D5DD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>
                        <a:defRPr sz="1500" b="1" i="0" strike="noStrike">
                          <a:ln/>
                          <a:solidFill>
                            <a:srgbClr val="4A7FD7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defRPr>
                      </a:pPr>
                      <a:r>
                        <a:rPr sz="1500" b="1" i="0" strike="noStrike">
                          <a:ln/>
                          <a:solidFill>
                            <a:srgbClr val="4A7FD7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04</a:t>
                      </a:r>
                      <a:endParaRPr/>
                    </a:p>
                  </a:txBody>
                  <a:tcPr>
                    <a:lnL w="12700">
                      <a:solidFill>
                        <a:srgbClr val="D0D5DD">
                          <a:alpha val="100000"/>
                        </a:srgbClr>
                      </a:solidFill>
                    </a:lnL>
                    <a:lnR w="12700">
                      <a:solidFill>
                        <a:srgbClr val="D0D5DD">
                          <a:alpha val="100000"/>
                        </a:srgbClr>
                      </a:solidFill>
                    </a:lnR>
                    <a:lnT w="12700">
                      <a:solidFill>
                        <a:srgbClr val="D0D5DD">
                          <a:alpha val="100000"/>
                        </a:srgbClr>
                      </a:solidFill>
                    </a:lnT>
                    <a:lnB w="12700">
                      <a:solidFill>
                        <a:srgbClr val="D0D5DD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 i="0" strike="noStrike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100" b="1" i="0" strike="noStrike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集成测试与月结测试</a:t>
                      </a:r>
                      <a:endParaRPr/>
                    </a:p>
                  </a:txBody>
                  <a:tcPr>
                    <a:lnL w="12700">
                      <a:solidFill>
                        <a:srgbClr val="D0D5DD">
                          <a:alpha val="100000"/>
                        </a:srgbClr>
                      </a:solidFill>
                    </a:lnL>
                    <a:lnR w="12700">
                      <a:solidFill>
                        <a:srgbClr val="D0D5DD">
                          <a:alpha val="100000"/>
                        </a:srgbClr>
                      </a:solidFill>
                    </a:lnR>
                    <a:lnT w="12700">
                      <a:solidFill>
                        <a:srgbClr val="D0D5DD">
                          <a:alpha val="100000"/>
                        </a:srgbClr>
                      </a:solidFill>
                    </a:lnT>
                    <a:lnB w="12700">
                      <a:solidFill>
                        <a:srgbClr val="D0D5DD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 i="0" strike="noStrike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highlight>
                            <a:srgbClr val="EDF0F4">
                              <a:alpha val="100000"/>
                            </a:srgbClr>
                          </a:highlight>
                          <a:latin typeface="Alibaba PuHuiTi 3.0 55 Regular"/>
                          <a:ea typeface="Alibaba PuHuiTi 3.0 55 Regular"/>
                          <a:cs typeface="Alibaba PuHuiTi 3.0 55 Regular"/>
                        </a:defRPr>
                      </a:pPr>
                      <a:r>
                        <a:rPr sz="900" b="0" i="0" strike="noStrike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highlight>
                            <a:srgbClr val="EDF0F4">
                              <a:alpha val="100000"/>
                            </a:srgbClr>
                          </a:highlight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跨模块</a:t>
                      </a:r>
                      <a:endParaRPr/>
                    </a:p>
                  </a:txBody>
                  <a:tcPr>
                    <a:lnL w="12700">
                      <a:solidFill>
                        <a:srgbClr val="D0D5DD">
                          <a:alpha val="100000"/>
                        </a:srgbClr>
                      </a:solidFill>
                    </a:lnL>
                    <a:lnR w="12700">
                      <a:solidFill>
                        <a:srgbClr val="D0D5DD">
                          <a:alpha val="100000"/>
                        </a:srgbClr>
                      </a:solidFill>
                    </a:lnR>
                    <a:lnT w="12700">
                      <a:solidFill>
                        <a:srgbClr val="D0D5DD">
                          <a:alpha val="100000"/>
                        </a:srgbClr>
                      </a:solidFill>
                    </a:lnT>
                    <a:lnB w="12700">
                      <a:solidFill>
                        <a:srgbClr val="D0D5DD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100" b="0" i="0" strike="noStrike" dirty="0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模拟完整业务流和月末结账，验证方案2的可行性</a:t>
                      </a:r>
                      <a:endParaRPr dirty="0"/>
                    </a:p>
                  </a:txBody>
                  <a:tcPr>
                    <a:lnL w="12700">
                      <a:solidFill>
                        <a:srgbClr val="D0D5DD">
                          <a:alpha val="100000"/>
                        </a:srgbClr>
                      </a:solidFill>
                    </a:lnL>
                    <a:lnR w="12700">
                      <a:solidFill>
                        <a:srgbClr val="D0D5DD">
                          <a:alpha val="100000"/>
                        </a:srgbClr>
                      </a:solidFill>
                    </a:lnR>
                    <a:lnT w="12700">
                      <a:solidFill>
                        <a:srgbClr val="D0D5DD">
                          <a:alpha val="100000"/>
                        </a:srgbClr>
                      </a:solidFill>
                    </a:lnT>
                    <a:lnB w="12700">
                      <a:solidFill>
                        <a:srgbClr val="D0D5DD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>
                        <a:defRPr sz="1500" b="1" i="0" strike="noStrike">
                          <a:ln/>
                          <a:solidFill>
                            <a:srgbClr val="4A7FD7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defRPr>
                      </a:pPr>
                      <a:r>
                        <a:rPr sz="1500" b="1" i="0" strike="noStrike">
                          <a:ln/>
                          <a:solidFill>
                            <a:srgbClr val="4A7FD7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05</a:t>
                      </a:r>
                      <a:endParaRPr/>
                    </a:p>
                  </a:txBody>
                  <a:tcPr>
                    <a:lnL w="12700">
                      <a:solidFill>
                        <a:srgbClr val="D0D5DD">
                          <a:alpha val="100000"/>
                        </a:srgbClr>
                      </a:solidFill>
                    </a:lnL>
                    <a:lnR w="12700">
                      <a:solidFill>
                        <a:srgbClr val="D0D5DD">
                          <a:alpha val="100000"/>
                        </a:srgbClr>
                      </a:solidFill>
                    </a:lnR>
                    <a:lnT w="12700">
                      <a:solidFill>
                        <a:srgbClr val="D0D5DD">
                          <a:alpha val="100000"/>
                        </a:srgbClr>
                      </a:solidFill>
                    </a:lnT>
                    <a:lnB w="12700">
                      <a:solidFill>
                        <a:srgbClr val="D0D5DD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 i="0" strike="noStrike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100" b="1" i="0" strike="noStrike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报表开发并测试</a:t>
                      </a:r>
                      <a:endParaRPr/>
                    </a:p>
                  </a:txBody>
                  <a:tcPr>
                    <a:lnL w="12700">
                      <a:solidFill>
                        <a:srgbClr val="D0D5DD">
                          <a:alpha val="100000"/>
                        </a:srgbClr>
                      </a:solidFill>
                    </a:lnL>
                    <a:lnR w="12700">
                      <a:solidFill>
                        <a:srgbClr val="D0D5DD">
                          <a:alpha val="100000"/>
                        </a:srgbClr>
                      </a:solidFill>
                    </a:lnR>
                    <a:lnT w="12700">
                      <a:solidFill>
                        <a:srgbClr val="D0D5DD">
                          <a:alpha val="100000"/>
                        </a:srgbClr>
                      </a:solidFill>
                    </a:lnT>
                    <a:lnB w="12700">
                      <a:solidFill>
                        <a:srgbClr val="D0D5DD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 i="0" strike="noStrike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highlight>
                            <a:srgbClr val="EDF0F4">
                              <a:alpha val="100000"/>
                            </a:srgbClr>
                          </a:highlight>
                          <a:latin typeface="Alibaba PuHuiTi 3.0 55 Regular"/>
                          <a:ea typeface="Alibaba PuHuiTi 3.0 55 Regular"/>
                          <a:cs typeface="Alibaba PuHuiTi 3.0 55 Regular"/>
                        </a:defRPr>
                      </a:pPr>
                      <a:r>
                        <a:rPr sz="900" b="0" i="0" strike="noStrike" dirty="0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highlight>
                            <a:srgbClr val="EDF0F4">
                              <a:alpha val="100000"/>
                            </a:srgbClr>
                          </a:highlight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FICO/</a:t>
                      </a:r>
                      <a:r>
                        <a:rPr lang="en-US" altLang="zh-CN" sz="900" b="0" i="0" strike="noStrike" dirty="0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highlight>
                            <a:srgbClr val="EDF0F4">
                              <a:alpha val="100000"/>
                            </a:srgbClr>
                          </a:highlight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ABAP</a:t>
                      </a:r>
                      <a:endParaRPr dirty="0"/>
                    </a:p>
                  </a:txBody>
                  <a:tcPr>
                    <a:lnL w="12700">
                      <a:solidFill>
                        <a:srgbClr val="D0D5DD">
                          <a:alpha val="100000"/>
                        </a:srgbClr>
                      </a:solidFill>
                    </a:lnL>
                    <a:lnR w="12700">
                      <a:solidFill>
                        <a:srgbClr val="D0D5DD">
                          <a:alpha val="100000"/>
                        </a:srgbClr>
                      </a:solidFill>
                    </a:lnR>
                    <a:lnT w="12700">
                      <a:solidFill>
                        <a:srgbClr val="D0D5DD">
                          <a:alpha val="100000"/>
                        </a:srgbClr>
                      </a:solidFill>
                    </a:lnT>
                    <a:lnB w="12700">
                      <a:solidFill>
                        <a:srgbClr val="D0D5DD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 i="0" strike="noStrike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defRPr>
                      </a:pPr>
                      <a:r>
                        <a:rPr sz="1100" b="0" i="0" strike="noStrike" dirty="0" err="1">
                          <a:ln/>
                          <a:solidFill>
                            <a:srgbClr val="1A1C20">
                              <a:alpha val="100000"/>
                            </a:srgbClr>
                          </a:solidFill>
                          <a:latin typeface="&quot;FZYaYiHei GB18030L2 R&quot;, sans-serif"/>
                          <a:ea typeface="&quot;FZYaYiHei GB18030L2 R&quot;, sans-serif"/>
                          <a:cs typeface="&quot;FZYaYiHei GB18030L2 R&quot;, sans-serif"/>
                        </a:rPr>
                        <a:t>输出公司维度集团成本报表，验证穿透逻辑与加价抵销</a:t>
                      </a:r>
                      <a:endParaRPr dirty="0"/>
                    </a:p>
                  </a:txBody>
                  <a:tcPr>
                    <a:lnL w="12700">
                      <a:solidFill>
                        <a:srgbClr val="D0D5DD">
                          <a:alpha val="100000"/>
                        </a:srgbClr>
                      </a:solidFill>
                    </a:lnL>
                    <a:lnR w="12700">
                      <a:solidFill>
                        <a:srgbClr val="D0D5DD">
                          <a:alpha val="100000"/>
                        </a:srgbClr>
                      </a:solidFill>
                    </a:lnR>
                    <a:lnT w="12700">
                      <a:solidFill>
                        <a:srgbClr val="D0D5DD">
                          <a:alpha val="100000"/>
                        </a:srgbClr>
                      </a:solidFill>
                    </a:lnT>
                    <a:lnB w="12700">
                      <a:solidFill>
                        <a:srgbClr val="D0D5DD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AutoShape 10">
            <a:extLst>
              <a:ext uri="{FF2B5EF4-FFF2-40B4-BE49-F238E27FC236}">
                <a16:creationId xmlns:a16="http://schemas.microsoft.com/office/drawing/2014/main" id="{7AF3C1DB-1EFE-7E83-C34B-248B9EA4E6F9}"/>
              </a:ext>
            </a:extLst>
          </p:cNvPr>
          <p:cNvSpPr/>
          <p:nvPr/>
        </p:nvSpPr>
        <p:spPr>
          <a:xfrm>
            <a:off x="443396" y="5581501"/>
            <a:ext cx="123795" cy="123825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10000"/>
                </a:move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moveTo>
                  <a:pt x="4499" y="3500"/>
                </a:moveTo>
                <a:lnTo>
                  <a:pt x="4499" y="2500"/>
                </a:lnTo>
                <a:lnTo>
                  <a:pt x="5499" y="2500"/>
                </a:lnTo>
                <a:lnTo>
                  <a:pt x="5499" y="3500"/>
                </a:lnTo>
                <a:lnTo>
                  <a:pt x="4499" y="3500"/>
                </a:lnTo>
                <a:moveTo>
                  <a:pt x="4499" y="7500"/>
                </a:moveTo>
                <a:lnTo>
                  <a:pt x="4499" y="4500"/>
                </a:lnTo>
                <a:lnTo>
                  <a:pt x="5499" y="4500"/>
                </a:lnTo>
                <a:lnTo>
                  <a:pt x="5499" y="7500"/>
                </a:lnTo>
              </a:path>
            </a:pathLst>
          </a:custGeom>
          <a:solidFill>
            <a:srgbClr val="1A1C20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D9D76D4-5CC3-6952-60D9-35A572124F75}"/>
              </a:ext>
            </a:extLst>
          </p:cNvPr>
          <p:cNvSpPr txBox="1"/>
          <p:nvPr/>
        </p:nvSpPr>
        <p:spPr>
          <a:xfrm>
            <a:off x="591593" y="5564237"/>
            <a:ext cx="11140274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ln/>
                <a:solidFill>
                  <a:srgbClr val="1A1C20">
                    <a:alpha val="54901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五大步骤以FICO/MM/PP三模块配置为基础，以集成测试为验证卡点，以报表开发为最终交付物</a:t>
            </a:r>
            <a:endParaRPr lang="en-US" sz="1100"/>
          </a:p>
        </p:txBody>
      </p:sp>
      <p:sp>
        <p:nvSpPr>
          <p:cNvPr id="12" name="AutoShape 6">
            <a:extLst>
              <a:ext uri="{FF2B5EF4-FFF2-40B4-BE49-F238E27FC236}">
                <a16:creationId xmlns:a16="http://schemas.microsoft.com/office/drawing/2014/main" id="{9BCBD73C-6ED5-861F-0733-126306BF5320}"/>
              </a:ext>
            </a:extLst>
          </p:cNvPr>
          <p:cNvSpPr/>
          <p:nvPr/>
        </p:nvSpPr>
        <p:spPr>
          <a:xfrm>
            <a:off x="457086" y="1390650"/>
            <a:ext cx="9522" cy="649486"/>
          </a:xfrm>
          <a:prstGeom prst="line">
            <a:avLst/>
          </a:prstGeom>
          <a:ln w="9525">
            <a:solidFill>
              <a:srgbClr val="4A7FD7">
                <a:alpha val="7803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6294B8FA-3EAC-5F5F-E31F-1EC2C03428AA}"/>
              </a:ext>
            </a:extLst>
          </p:cNvPr>
          <p:cNvSpPr txBox="1"/>
          <p:nvPr/>
        </p:nvSpPr>
        <p:spPr>
          <a:xfrm>
            <a:off x="580880" y="142875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 dirty="0" err="1">
                <a:ln/>
                <a:solidFill>
                  <a:srgbClr val="1A1C20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行动计划围绕SAP三大核心模块（FICO</a:t>
            </a:r>
            <a:r>
              <a:rPr lang="en-US" sz="1600" b="0" i="1" strike="noStrike" dirty="0">
                <a:ln/>
                <a:solidFill>
                  <a:srgbClr val="1A1C20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/MM/</a:t>
            </a:r>
            <a:r>
              <a:rPr lang="en-US" sz="1600" b="0" i="1" strike="noStrike" dirty="0" err="1">
                <a:ln/>
                <a:solidFill>
                  <a:srgbClr val="1A1C20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PP）展开配置，辅以集成测试与报表开发，共五个关键步骤。其中MM模块</a:t>
            </a:r>
            <a:endParaRPr lang="en-US" sz="1100" dirty="0"/>
          </a:p>
          <a:p>
            <a:pPr algn="l"/>
            <a:r>
              <a:rPr sz="1600" b="0" i="1" strike="noStrike" dirty="0" err="1">
                <a:ln/>
                <a:solidFill>
                  <a:srgbClr val="1A1C20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的半成品分割评估是消除内部加价的技术核心，集成测试与月结测试是验证方案可行性的关键卡点</a:t>
            </a:r>
            <a:r>
              <a:rPr sz="1600" b="0" i="1" strike="noStrike" dirty="0">
                <a:ln/>
                <a:solidFill>
                  <a:srgbClr val="1A1C20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。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6088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9231630" cy="9326880"/>
          </a:xfrm>
        </p:spPr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04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附录：相关文档及原始数据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cap="all" dirty="0"/>
              <a:t>附录 原始需求清单（</a:t>
            </a:r>
            <a:r>
              <a:rPr lang="en-US" altLang="zh-CN" b="1" cap="all" dirty="0"/>
              <a:t>14</a:t>
            </a:r>
            <a:r>
              <a:rPr lang="zh-CN" altLang="zh-CN" b="1" cap="all" dirty="0"/>
              <a:t>条，P05关联）</a:t>
            </a:r>
            <a:endParaRPr lang="zh-CN" altLang="en-US" b="1" cap="all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310276"/>
              </p:ext>
            </p:extLst>
          </p:nvPr>
        </p:nvGraphicFramePr>
        <p:xfrm>
          <a:off x="427037" y="1422907"/>
          <a:ext cx="11337925" cy="1795701"/>
        </p:xfrm>
        <a:graphic>
          <a:graphicData uri="http://schemas.openxmlformats.org/drawingml/2006/table">
            <a:tbl>
              <a:tblPr/>
              <a:tblGrid>
                <a:gridCol w="1313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3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7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75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584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000" b="1" cap="all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编号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000" b="1" cap="all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需求简述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000" b="1" cap="all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优先级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000" b="1" cap="all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来源部门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altLang="en-US" sz="1000" b="1" cap="all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  <a:endParaRPr lang="zh-CN" sz="1000" b="1" cap="all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alt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endParaRPr lang="zh-CN" altLang="en-US" sz="9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zh-CN" alt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09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zh-CN" alt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zh-CN" alt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zh-CN" alt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zh-CN" alt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B29C59ED-6FEC-E2F9-4384-963B6F3C6C42}"/>
              </a:ext>
            </a:extLst>
          </p:cNvPr>
          <p:cNvSpPr txBox="1"/>
          <p:nvPr/>
        </p:nvSpPr>
        <p:spPr>
          <a:xfrm>
            <a:off x="425451" y="790117"/>
            <a:ext cx="11317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以下原始需求，在和提出需求的用户做了详细的需求分析研讨会，并形成了记录，其中部分需求，不纳入</a:t>
            </a:r>
            <a:r>
              <a:rPr lang="en-US" altLang="zh-CN" dirty="0"/>
              <a:t>SAP</a:t>
            </a:r>
            <a:r>
              <a:rPr lang="zh-CN" altLang="en-US" dirty="0"/>
              <a:t>本期的实施范围，部分作为其他</a:t>
            </a:r>
            <a:endParaRPr lang="en-US" altLang="zh-CN" dirty="0"/>
          </a:p>
          <a:p>
            <a:r>
              <a:rPr lang="zh-CN" altLang="en-US" dirty="0"/>
              <a:t>系统的实施范围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4B7A8-D4DB-6B2D-79AB-98B10532D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E5CAAF-ACD8-AD2F-E57E-02EF40DED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cap="all" dirty="0"/>
              <a:t>附录 原始需求清单（27条，P05关联）</a:t>
            </a:r>
            <a:endParaRPr lang="zh-CN" altLang="en-US" b="1" cap="all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731170E-A224-F88B-55AB-D03E2C608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255495"/>
              </p:ext>
            </p:extLst>
          </p:nvPr>
        </p:nvGraphicFramePr>
        <p:xfrm>
          <a:off x="427037" y="1422907"/>
          <a:ext cx="11337925" cy="2219977"/>
        </p:xfrm>
        <a:graphic>
          <a:graphicData uri="http://schemas.openxmlformats.org/drawingml/2006/table">
            <a:tbl>
              <a:tblPr/>
              <a:tblGrid>
                <a:gridCol w="1313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3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7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75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584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000" b="1" cap="all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编号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000" b="1" cap="all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需求简述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000" b="1" cap="all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优先级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000" b="1" cap="all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来源部门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altLang="en-US" sz="1000" b="1" cap="all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  <a:endParaRPr lang="zh-CN" sz="1000" b="1" cap="all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alt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endParaRPr lang="zh-CN" altLang="en-US" sz="9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zh-CN" alt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09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zh-CN" alt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zh-CN" alt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zh-CN" alt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zh-CN" altLang="zh-CN" sz="1000" b="0" i="0" u="none" strike="noStrike" cap="non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Arial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zh-CN" altLang="zh-CN" sz="1000" b="0" i="0" u="none" strike="noStrike" cap="non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Arial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457239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zh-CN" sz="10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zh-CN" altLang="zh-CN" sz="1000" b="0" i="0" u="none" strike="noStrike" cap="non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Arial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4909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3577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40538"/>
            <a:ext cx="1846659" cy="738664"/>
          </a:xfrm>
        </p:spPr>
        <p:txBody>
          <a:bodyPr/>
          <a:lstStyle/>
          <a:p>
            <a:r>
              <a:rPr lang="zh-CN" altLang="en-US" sz="4800" b="1" dirty="0"/>
              <a:t>谢谢！</a:t>
            </a:r>
            <a:endParaRPr sz="48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White background">
  <a:themeElements>
    <a:clrScheme name="New Ato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73E6"/>
      </a:accent1>
      <a:accent2>
        <a:srgbClr val="3DC7FF"/>
      </a:accent2>
      <a:accent3>
        <a:srgbClr val="00005C"/>
      </a:accent3>
      <a:accent4>
        <a:srgbClr val="EF5E82"/>
      </a:accent4>
      <a:accent5>
        <a:srgbClr val="4AA82D"/>
      </a:accent5>
      <a:accent6>
        <a:srgbClr val="663894"/>
      </a:accent6>
      <a:hlink>
        <a:srgbClr val="00005C"/>
      </a:hlink>
      <a:folHlink>
        <a:srgbClr val="00005C"/>
      </a:folHlink>
    </a:clrScheme>
    <a:fontScheme name="New Atos">
      <a:majorFont>
        <a:latin typeface="Biennale Bold"/>
        <a:ea typeface=""/>
        <a:cs typeface=""/>
      </a:majorFont>
      <a:minorFont>
        <a:latin typeface="Bienna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Autofit/>
      </a:bodyPr>
      <a:lstStyle>
        <a:defPPr algn="l">
          <a:defRPr dirty="0" err="1" smtClean="0">
            <a:solidFill>
              <a:schemeClr val="accent3"/>
            </a:solidFill>
          </a:defRPr>
        </a:defPPr>
      </a:lstStyle>
    </a:txDef>
  </a:objectDefaults>
  <a:extraClrSchemeLst/>
  <a:custClrLst>
    <a:custClr name="Atos Blue">
      <a:srgbClr val="0073E6"/>
    </a:custClr>
    <a:custClr name="Atos Light blue">
      <a:srgbClr val="3DC7FF"/>
    </a:custClr>
    <a:custClr name="Atos Deep blue">
      <a:srgbClr val="00005C"/>
    </a:custClr>
    <a:custClr name="Atos Pink">
      <a:srgbClr val="EF5E82"/>
    </a:custClr>
    <a:custClr name="Atos Green">
      <a:srgbClr val="4AA82D"/>
    </a:custClr>
    <a:custClr name="Atos Purple">
      <a:srgbClr val="663894"/>
    </a:custClr>
    <a:custClr name="Atos Orange">
      <a:srgbClr val="F56A00"/>
    </a:custClr>
  </a:custClrLst>
  <a:extLst>
    <a:ext uri="{05A4C25C-085E-4340-85A3-A5531E510DB2}">
      <thm15:themeFamily xmlns:thm15="http://schemas.microsoft.com/office/thememl/2012/main" name="PPT Template - External_v2_more file size 2nd option" id="{5C96949D-A511-4C27-8972-49E175CB9004}" vid="{FDF2C615-E964-4855-905F-9BF4DFE40C13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TemplafySlideTemplateConfiguration><![CDATA[{"slideVersion":2,"isValidatorEnabled":false,"isLocked":false,"elementsMetadata":[],"slideId":"1314779907816423427","enableDocumentContentUpdater":false,"version":"2.0"}]]></TemplafySlideTemplateConfiguration>
</file>

<file path=customXml/item2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FE511B84-21F8-E546-9875-8BED6F722329}">
  <ds:schemaRefs/>
</ds:datastoreItem>
</file>

<file path=customXml/itemProps2.xml><?xml version="1.0" encoding="utf-8"?>
<ds:datastoreItem xmlns:ds="http://schemas.openxmlformats.org/officeDocument/2006/customXml" ds:itemID="{6B6BFCDD-2828-244C-B8B0-E2958472E4D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1228</TotalTime>
  <Words>2020</Words>
  <Application>Microsoft Office PowerPoint</Application>
  <PresentationFormat>宽屏</PresentationFormat>
  <Paragraphs>237</Paragraphs>
  <Slides>16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16</vt:i4>
      </vt:variant>
    </vt:vector>
  </HeadingPairs>
  <TitlesOfParts>
    <vt:vector size="39" baseType="lpstr">
      <vt:lpstr>"Alibaba PuHuiTi 3.0 55 Regular", sans-serif</vt:lpstr>
      <vt:lpstr>"FZYaYiHei GB18030L2 R", sans-serif</vt:lpstr>
      <vt:lpstr>Alibaba PuHuiTi 3.0 55 Regular</vt:lpstr>
      <vt:lpstr>Biennale</vt:lpstr>
      <vt:lpstr>Biennale Bold</vt:lpstr>
      <vt:lpstr>Biennale Medium</vt:lpstr>
      <vt:lpstr>FZYaYiHei GB18030L2 R</vt:lpstr>
      <vt:lpstr>Inter</vt:lpstr>
      <vt:lpstr>Montserrat Bold</vt:lpstr>
      <vt:lpstr>Noto Sans SC</vt:lpstr>
      <vt:lpstr>Songti SC</vt:lpstr>
      <vt:lpstr>等线</vt:lpstr>
      <vt:lpstr>Microsoft YaHei</vt:lpstr>
      <vt:lpstr>Microsoft YaHei</vt:lpstr>
      <vt:lpstr>Aptos</vt:lpstr>
      <vt:lpstr>Arial</vt:lpstr>
      <vt:lpstr>Calibri</vt:lpstr>
      <vt:lpstr>Montserrat SemiBold</vt:lpstr>
      <vt:lpstr>Times New Roman</vt:lpstr>
      <vt:lpstr>Verdana</vt:lpstr>
      <vt:lpstr>Office 主题​​</vt:lpstr>
      <vt:lpstr>默认主题</vt:lpstr>
      <vt:lpstr>White background</vt:lpstr>
      <vt:lpstr>PowerPoint 演示文稿</vt:lpstr>
      <vt:lpstr>PowerPoint 演示文稿</vt:lpstr>
      <vt:lpstr>目录</vt:lpstr>
      <vt:lpstr>成本还原方案概述</vt:lpstr>
      <vt:lpstr>内部加价成本核算：方案总览</vt:lpstr>
      <vt:lpstr>方案详解及系统实现 </vt:lpstr>
      <vt:lpstr>PowerPoint 演示文稿</vt:lpstr>
      <vt:lpstr>PowerPoint 演示文稿</vt:lpstr>
      <vt:lpstr>PowerPoint 演示文稿</vt:lpstr>
      <vt:lpstr>PowerPoint 演示文稿</vt:lpstr>
      <vt:lpstr>配套行动计划 </vt:lpstr>
      <vt:lpstr>PowerPoint 演示文稿</vt:lpstr>
      <vt:lpstr>附录：相关文档及原始数据</vt:lpstr>
      <vt:lpstr>附录 原始需求清单（14条，P05关联）</vt:lpstr>
      <vt:lpstr>附录 原始需求清单（27条，P05关联）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FREDLENOVO</dc:creator>
  <cp:lastModifiedBy>2102125624@qq.com</cp:lastModifiedBy>
  <cp:revision>13</cp:revision>
  <dcterms:modified xsi:type="dcterms:W3CDTF">2026-08-30T07:29:56Z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{"Label":"1","ContentProducer":"001191110102MACQD9K64010000","ProduceID":"7669660511739268281","ReservedCode1":"","ContentPropagator":"","PropagateID":"","ReservedCode2":""}</vt:lpwstr>
  </property>
</Properties>
</file>