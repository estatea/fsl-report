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5"/>
  </p:sldMasterIdLst>
  <p:notesMasterIdLst>
    <p:notesMasterId r:id="rId63"/>
  </p:notesMasterIdLst>
  <p:sldIdLst>
    <p:sldId id="256" r:id="rId6"/>
    <p:sldId id="257" r:id="rId7"/>
    <p:sldId id="283" r:id="rId8"/>
    <p:sldId id="2180" r:id="rId9"/>
    <p:sldId id="259" r:id="rId10"/>
    <p:sldId id="260" r:id="rId11"/>
    <p:sldId id="261" r:id="rId12"/>
    <p:sldId id="2259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260" r:id="rId21"/>
    <p:sldId id="271" r:id="rId22"/>
    <p:sldId id="272" r:id="rId23"/>
    <p:sldId id="273" r:id="rId24"/>
    <p:sldId id="2261" r:id="rId25"/>
    <p:sldId id="275" r:id="rId26"/>
    <p:sldId id="276" r:id="rId27"/>
    <p:sldId id="2255" r:id="rId28"/>
    <p:sldId id="2213" r:id="rId29"/>
    <p:sldId id="2257" r:id="rId30"/>
    <p:sldId id="2258" r:id="rId31"/>
    <p:sldId id="2222" r:id="rId32"/>
    <p:sldId id="277" r:id="rId33"/>
    <p:sldId id="2262" r:id="rId34"/>
    <p:sldId id="279" r:id="rId35"/>
    <p:sldId id="280" r:id="rId36"/>
    <p:sldId id="281" r:id="rId37"/>
    <p:sldId id="282" r:id="rId38"/>
    <p:sldId id="2263" r:id="rId39"/>
    <p:sldId id="284" r:id="rId40"/>
    <p:sldId id="285" r:id="rId41"/>
    <p:sldId id="286" r:id="rId42"/>
    <p:sldId id="2264" r:id="rId43"/>
    <p:sldId id="288" r:id="rId44"/>
    <p:sldId id="289" r:id="rId45"/>
    <p:sldId id="290" r:id="rId46"/>
    <p:sldId id="2265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266" r:id="rId55"/>
    <p:sldId id="300" r:id="rId56"/>
    <p:sldId id="301" r:id="rId57"/>
    <p:sldId id="2267" r:id="rId58"/>
    <p:sldId id="303" r:id="rId59"/>
    <p:sldId id="305" r:id="rId60"/>
    <p:sldId id="304" r:id="rId61"/>
    <p:sldId id="308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0073E6"/>
    <a:srgbClr val="0066CC"/>
    <a:srgbClr val="EC601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661"/>
    <p:restoredTop sz="95090" autoAdjust="0"/>
  </p:normalViewPr>
  <p:slideViewPr>
    <p:cSldViewPr snapToGrid="0">
      <p:cViewPr varScale="1">
        <p:scale>
          <a:sx n="88" d="100"/>
          <a:sy n="88" d="100"/>
        </p:scale>
        <p:origin x="28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7ED242-3ED6-ED4B-A493-BFAB0D2DA00B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A415C3-E7E8-ED47-896B-87929403F89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415C3-E7E8-ED47-896B-87929403F899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/>
          <p:cNvSpPr>
            <a:spLocks noGrp="1"/>
          </p:cNvSpPr>
          <p:nvPr>
            <p:ph type="title" hasCustomPrompt="1"/>
          </p:nvPr>
        </p:nvSpPr>
        <p:spPr>
          <a:xfrm>
            <a:off x="423068" y="2415203"/>
            <a:ext cx="5486400" cy="1828800"/>
          </a:xfrm>
        </p:spPr>
        <p:txBody>
          <a:bodyPr anchor="t"/>
          <a:lstStyle>
            <a:lvl1pPr>
              <a:spcAft>
                <a:spcPts val="300"/>
              </a:spcAft>
              <a:defRPr lang="en-US" sz="48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23068" y="3138594"/>
            <a:ext cx="5486400" cy="1216152"/>
          </a:xfrm>
        </p:spPr>
        <p:txBody>
          <a:bodyPr/>
          <a:lstStyle>
            <a:lvl1pPr marL="0" indent="0">
              <a:buNone/>
              <a:defRPr sz="36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423068" y="4771707"/>
            <a:ext cx="3657600" cy="640080"/>
          </a:xfrm>
        </p:spPr>
        <p:txBody>
          <a:bodyPr/>
          <a:lstStyle>
            <a:lvl1pPr marL="0" indent="0">
              <a:buNone/>
              <a:defRPr lang="en-US" sz="1600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1" name="AddCustomFooter#1"/>
          <p:cNvSpPr txBox="1"/>
          <p:nvPr userDrawn="1"/>
        </p:nvSpPr>
        <p:spPr bwMode="gray">
          <a:xfrm>
            <a:off x="423068" y="6391780"/>
            <a:ext cx="835165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© Atos  Group</a:t>
            </a:r>
            <a:endParaRPr lang="nl-NL" sz="900" baseline="0">
              <a:solidFill>
                <a:schemeClr val="accent3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6092952" y="0"/>
            <a:ext cx="6099048" cy="6858000"/>
          </a:xfrm>
        </p:spPr>
        <p:txBody>
          <a:bodyPr tIns="914400" bIns="0" anchor="ctr"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8625" y="6507907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anose="020B0604030504040204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t>‹#›</a:t>
            </a:fld>
            <a:endParaRPr lang="nl-NL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ep Blue 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0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bg1"/>
                </a:solidFill>
                <a:latin typeface="+mn-lt"/>
                <a:ea typeface="Verdana" panose="020B0604030504040204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t>‹#›</a:t>
            </a:fld>
            <a:endParaRPr lang="nl-NL"/>
          </a:p>
        </p:txBody>
      </p:sp>
      <p:sp>
        <p:nvSpPr>
          <p:cNvPr id="8" name="AddCustomFooter#1"/>
          <p:cNvSpPr txBox="1"/>
          <p:nvPr userDrawn="1"/>
        </p:nvSpPr>
        <p:spPr bwMode="gray">
          <a:xfrm>
            <a:off x="428625" y="6420355"/>
            <a:ext cx="12795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	|	 © Atos Group </a:t>
            </a:r>
            <a:endParaRPr lang="nl-NL" sz="900" baseline="0">
              <a:solidFill>
                <a:schemeClr val="bg1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Graphique 10" descr="Atos logo"/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1703638" y="0"/>
            <a:ext cx="9768784" cy="6858000"/>
            <a:chOff x="1703638" y="0"/>
            <a:chExt cx="9768784" cy="6858000"/>
          </a:xfrm>
        </p:grpSpPr>
        <p:pic>
          <p:nvPicPr>
            <p:cNvPr id="6" name="Graphic 5"/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flipH="1" flipV="1">
              <a:off x="6588030" y="0"/>
              <a:ext cx="4884392" cy="4884392"/>
            </a:xfrm>
            <a:prstGeom prst="rect">
              <a:avLst/>
            </a:prstGeom>
          </p:spPr>
        </p:pic>
        <p:pic>
          <p:nvPicPr>
            <p:cNvPr id="8" name="Graphic 7"/>
            <p:cNvPicPr>
              <a:picLocks noChangeAspect="1"/>
            </p:cNvPicPr>
            <p:nvPr userDrawn="1"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b="59594"/>
            <a:stretch>
              <a:fillRect/>
            </a:stretch>
          </p:blipFill>
          <p:spPr>
            <a:xfrm>
              <a:off x="1703638" y="4884393"/>
              <a:ext cx="4884392" cy="1973607"/>
            </a:xfrm>
            <a:prstGeom prst="rect">
              <a:avLst/>
            </a:prstGeom>
          </p:spPr>
        </p:pic>
      </p:grpSp>
      <p:sp>
        <p:nvSpPr>
          <p:cNvPr id="3" name="Title 4"/>
          <p:cNvSpPr>
            <a:spLocks noGrp="1"/>
          </p:cNvSpPr>
          <p:nvPr>
            <p:ph type="title" hasCustomPrompt="1"/>
          </p:nvPr>
        </p:nvSpPr>
        <p:spPr>
          <a:xfrm>
            <a:off x="428625" y="1196367"/>
            <a:ext cx="5852160" cy="1554480"/>
          </a:xfrm>
        </p:spPr>
        <p:txBody>
          <a:bodyPr anchor="b"/>
          <a:lstStyle>
            <a:lvl1pPr>
              <a:spcAft>
                <a:spcPts val="300"/>
              </a:spcAft>
              <a:defRPr lang="en-US" sz="48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Chapter title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28625" y="2748074"/>
            <a:ext cx="5852160" cy="1216152"/>
          </a:xfrm>
        </p:spPr>
        <p:txBody>
          <a:bodyPr/>
          <a:lstStyle>
            <a:lvl1pPr marL="0" indent="0">
              <a:buNone/>
              <a:defRPr sz="3600">
                <a:solidFill>
                  <a:srgbClr val="3DC7FF"/>
                </a:solidFill>
                <a:latin typeface="+mj-lt"/>
              </a:defRPr>
            </a:lvl1pPr>
            <a:lvl2pPr marL="228600" indent="0">
              <a:buNone/>
              <a:defRPr sz="3200">
                <a:solidFill>
                  <a:srgbClr val="3DC7FF"/>
                </a:solidFill>
                <a:latin typeface="+mj-lt"/>
              </a:defRPr>
            </a:lvl2pPr>
            <a:lvl3pPr marL="457200" indent="0">
              <a:buNone/>
              <a:defRPr sz="3200">
                <a:solidFill>
                  <a:srgbClr val="3DC7FF"/>
                </a:solidFill>
                <a:latin typeface="+mj-lt"/>
              </a:defRPr>
            </a:lvl3pPr>
            <a:lvl4pPr marL="685800" indent="0">
              <a:buNone/>
              <a:defRPr sz="3200">
                <a:solidFill>
                  <a:srgbClr val="3DC7FF"/>
                </a:solidFill>
                <a:latin typeface="+mj-lt"/>
              </a:defRPr>
            </a:lvl4pPr>
            <a:lvl5pPr marL="914400" indent="0">
              <a:buNone/>
              <a:defRPr sz="3200">
                <a:solidFill>
                  <a:srgbClr val="3DC7FF"/>
                </a:solidFill>
                <a:latin typeface="+mj-lt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" name="Graphique 10" descr="Atos logo"/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28625" y="1189363"/>
            <a:ext cx="5370060" cy="1231106"/>
          </a:xfrm>
        </p:spPr>
        <p:txBody>
          <a:bodyPr wrap="none" anchor="ctr">
            <a:spAutoFit/>
          </a:bodyPr>
          <a:lstStyle>
            <a:lvl1pPr algn="l">
              <a:lnSpc>
                <a:spcPct val="100000"/>
              </a:lnSpc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3" name="AddNotifier#1"/>
          <p:cNvSpPr txBox="1">
            <a:spLocks noChangeArrowheads="1"/>
          </p:cNvSpPr>
          <p:nvPr userDrawn="1"/>
        </p:nvSpPr>
        <p:spPr bwMode="invGray">
          <a:xfrm>
            <a:off x="428625" y="5422415"/>
            <a:ext cx="338328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 anchorCtr="0">
            <a:spAutoFit/>
          </a:bodyPr>
          <a:lstStyle>
            <a:lvl1pPr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US" sz="800" kern="1200" baseline="0">
                <a:solidFill>
                  <a:schemeClr val="accent3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Atos is a registered trademark of Atos SE. © 2024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800" baseline="0">
              <a:solidFill>
                <a:schemeClr val="accent3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28625" y="6316314"/>
            <a:ext cx="2560320" cy="92333"/>
          </a:xfrm>
        </p:spPr>
        <p:txBody>
          <a:bodyPr wrap="none" anchor="ctr">
            <a:noAutofit/>
          </a:bodyPr>
          <a:lstStyle>
            <a:lvl1pPr marL="0" indent="0">
              <a:spcAft>
                <a:spcPts val="0"/>
              </a:spcAft>
              <a:buNone/>
              <a:defRPr sz="600">
                <a:solidFill>
                  <a:schemeClr val="accent3"/>
                </a:solidFill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Job Number-Designer-BP</a:t>
            </a:r>
          </a:p>
        </p:txBody>
      </p:sp>
      <p:sp>
        <p:nvSpPr>
          <p:cNvPr id="2" name="AddCustomFooter#1"/>
          <p:cNvSpPr txBox="1"/>
          <p:nvPr userDrawn="1"/>
        </p:nvSpPr>
        <p:spPr bwMode="gray">
          <a:xfrm>
            <a:off x="5884404" y="6391780"/>
            <a:ext cx="423193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© Atos </a:t>
            </a:r>
            <a:endParaRPr lang="nl-NL" sz="900" baseline="0">
              <a:solidFill>
                <a:schemeClr val="accent3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Graphique 10" descr="Atos logo"/>
          <p:cNvSpPr/>
          <p:nvPr userDrawn="1"/>
        </p:nvSpPr>
        <p:spPr>
          <a:xfrm>
            <a:off x="9848292" y="5921362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303548" y="164637"/>
            <a:ext cx="11436096" cy="338554"/>
          </a:xfrm>
        </p:spPr>
        <p:txBody>
          <a:bodyPr/>
          <a:lstStyle/>
          <a:p>
            <a:pPr lvl="0"/>
            <a:r>
              <a:rPr lang="en-US"/>
              <a:t>Title in </a:t>
            </a:r>
            <a:r>
              <a:rPr lang="en-US" err="1"/>
              <a:t>Raleway</a:t>
            </a:r>
            <a:r>
              <a:rPr lang="en-US"/>
              <a:t> </a:t>
            </a:r>
            <a:r>
              <a:rPr lang="en-US" err="1"/>
              <a:t>SemiBold</a:t>
            </a:r>
            <a:r>
              <a:rPr lang="en-US"/>
              <a:t> 20pt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03547" y="556610"/>
            <a:ext cx="11436096" cy="580529"/>
          </a:xfrm>
        </p:spPr>
        <p:txBody>
          <a:bodyPr/>
          <a:lstStyle>
            <a:lvl1pPr marL="0" indent="0">
              <a:buNone/>
              <a:defRPr sz="2135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 in </a:t>
            </a:r>
            <a:r>
              <a:rPr lang="en-US" err="1"/>
              <a:t>Raleway</a:t>
            </a:r>
            <a:r>
              <a:rPr lang="en-US"/>
              <a:t> </a:t>
            </a:r>
            <a:r>
              <a:rPr lang="en-US" err="1"/>
              <a:t>SemiBold</a:t>
            </a:r>
            <a:r>
              <a:rPr lang="en-US"/>
              <a:t> 16pt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7947" y="6412870"/>
            <a:ext cx="1742736" cy="3439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1117917" y="1285493"/>
            <a:ext cx="1545853" cy="1545853"/>
          </a:xfrm>
          <a:prstGeom prst="rect">
            <a:avLst/>
          </a:prstGeom>
        </p:spPr>
      </p:pic>
      <p:sp>
        <p:nvSpPr>
          <p:cNvPr id="15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2954745" y="1446367"/>
            <a:ext cx="343043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3674348" y="1446367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11406268" y="1446367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2954745" y="2713569"/>
            <a:ext cx="395942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3674348" y="2713569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23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11406268" y="2713569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2954745" y="3980771"/>
            <a:ext cx="397545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8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3674348" y="3980771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11406268" y="3980771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2954745" y="5247973"/>
            <a:ext cx="403957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1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3674348" y="5247973"/>
            <a:ext cx="7521210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11406268" y="5247973"/>
            <a:ext cx="355867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28624" y="291451"/>
            <a:ext cx="11337925" cy="912315"/>
          </a:xfrm>
        </p:spPr>
        <p:txBody>
          <a:bodyPr/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8625" y="6507907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anose="020B0604030504040204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hap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90098" y="389618"/>
            <a:ext cx="1376980" cy="1477328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>
                <a:solidFill>
                  <a:schemeClr val="accent3"/>
                </a:solidFill>
                <a:latin typeface="+mj-lt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" name="Graphique 10"/>
          <p:cNvSpPr>
            <a:spLocks noChangeAspect="1"/>
          </p:cNvSpPr>
          <p:nvPr userDrawn="1"/>
        </p:nvSpPr>
        <p:spPr>
          <a:xfrm>
            <a:off x="10944224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86976" y="1866946"/>
            <a:ext cx="7094047" cy="192968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3"/>
                </a:solidFill>
              </a:defRPr>
            </a:lvl1pPr>
          </a:lstStyle>
          <a:p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wo curv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 flipV="1">
            <a:off x="6588030" y="0"/>
            <a:ext cx="4884392" cy="4884392"/>
          </a:xfrm>
          <a:prstGeom prst="rect">
            <a:avLst/>
          </a:prstGeom>
        </p:spPr>
      </p:pic>
      <p:pic>
        <p:nvPicPr>
          <p:cNvPr id="8" name="Graphic 7"/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59594"/>
          <a:stretch>
            <a:fillRect/>
          </a:stretch>
        </p:blipFill>
        <p:spPr>
          <a:xfrm>
            <a:off x="1703638" y="4884393"/>
            <a:ext cx="4884392" cy="1973607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8625" y="4765675"/>
            <a:ext cx="3992904" cy="969962"/>
          </a:xfrm>
        </p:spPr>
        <p:txBody>
          <a:bodyPr wrap="none">
            <a:noAutofit/>
          </a:bodyPr>
          <a:lstStyle>
            <a:lvl1pPr marL="0" indent="0" algn="l">
              <a:spcAft>
                <a:spcPts val="0"/>
              </a:spcAft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</a:t>
            </a:r>
          </a:p>
        </p:txBody>
      </p:sp>
      <p:sp>
        <p:nvSpPr>
          <p:cNvPr id="4" name="Graphique 10"/>
          <p:cNvSpPr>
            <a:spLocks noChangeAspect="1"/>
          </p:cNvSpPr>
          <p:nvPr userDrawn="1"/>
        </p:nvSpPr>
        <p:spPr>
          <a:xfrm>
            <a:off x="9848292" y="5921362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1456679"/>
            <a:ext cx="6766560" cy="1844936"/>
          </a:xfrm>
        </p:spPr>
        <p:txBody>
          <a:bodyPr/>
          <a:lstStyle>
            <a:lvl1pPr marL="0" indent="0">
              <a:spcAft>
                <a:spcPts val="300"/>
              </a:spcAft>
              <a:buNone/>
              <a:defRPr sz="4400">
                <a:solidFill>
                  <a:schemeClr val="bg1"/>
                </a:solidFill>
                <a:latin typeface="+mj-lt"/>
              </a:defRPr>
            </a:lvl1pPr>
            <a:lvl2pPr marL="0" indent="0">
              <a:spcAft>
                <a:spcPts val="300"/>
              </a:spcAft>
              <a:buNone/>
              <a:defRPr sz="3200" baseline="0">
                <a:solidFill>
                  <a:schemeClr val="accent3"/>
                </a:solidFill>
                <a:latin typeface="+mj-lt"/>
              </a:defRPr>
            </a:lvl2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625" y="2084535"/>
            <a:ext cx="6766560" cy="1217080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中文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ildergebnis fÃ¼r industrie 4.0 futuristisch"/>
          <p:cNvPicPr>
            <a:picLocks noChangeAspect="1" noChangeArrowheads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 bwMode="auto">
          <a:xfrm>
            <a:off x="0" y="0"/>
            <a:ext cx="12192000" cy="6881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hteck 24"/>
          <p:cNvSpPr/>
          <p:nvPr userDrawn="1"/>
        </p:nvSpPr>
        <p:spPr>
          <a:xfrm>
            <a:off x="-4" y="0"/>
            <a:ext cx="12192000" cy="6881005"/>
          </a:xfrm>
          <a:prstGeom prst="rect">
            <a:avLst/>
          </a:prstGeom>
          <a:gradFill>
            <a:gsLst>
              <a:gs pos="42000">
                <a:schemeClr val="tx1">
                  <a:lumMod val="0"/>
                  <a:lumOff val="100000"/>
                </a:schemeClr>
              </a:gs>
              <a:gs pos="100000">
                <a:schemeClr val="bg1">
                  <a:alpha val="6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>
              <a:latin typeface="Verdana" panose="020B0604030504040204"/>
            </a:endParaRPr>
          </a:p>
        </p:txBody>
      </p:sp>
      <p:sp>
        <p:nvSpPr>
          <p:cNvPr id="5" name="object 2"/>
          <p:cNvSpPr/>
          <p:nvPr userDrawn="1"/>
        </p:nvSpPr>
        <p:spPr>
          <a:xfrm>
            <a:off x="5" y="6503027"/>
            <a:ext cx="390617" cy="0"/>
          </a:xfrm>
          <a:custGeom>
            <a:avLst/>
            <a:gdLst/>
            <a:ahLst/>
            <a:cxnLst/>
            <a:rect l="l" t="t" r="r" b="b"/>
            <a:pathLst>
              <a:path w="293370">
                <a:moveTo>
                  <a:pt x="0" y="0"/>
                </a:moveTo>
                <a:lnTo>
                  <a:pt x="293268" y="0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2"/>
          <p:cNvSpPr/>
          <p:nvPr userDrawn="1"/>
        </p:nvSpPr>
        <p:spPr>
          <a:xfrm>
            <a:off x="5" y="518500"/>
            <a:ext cx="390617" cy="0"/>
          </a:xfrm>
          <a:custGeom>
            <a:avLst/>
            <a:gdLst/>
            <a:ahLst/>
            <a:cxnLst/>
            <a:rect l="l" t="t" r="r" b="b"/>
            <a:pathLst>
              <a:path w="293370">
                <a:moveTo>
                  <a:pt x="0" y="0"/>
                </a:moveTo>
                <a:lnTo>
                  <a:pt x="293268" y="0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Picture 1" descr="Trusted Digital Partner w- Atos Logo blue blk.png"/>
          <p:cNvPicPr>
            <a:picLocks noChangeAspect="1"/>
          </p:cNvPicPr>
          <p:nvPr userDrawn="1"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10970283" y="6294153"/>
            <a:ext cx="960924" cy="31797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8287" y="222339"/>
            <a:ext cx="11655040" cy="756000"/>
          </a:xfrm>
          <a:prstGeom prst="rect">
            <a:avLst/>
          </a:prstGeom>
        </p:spPr>
        <p:txBody>
          <a:bodyPr/>
          <a:lstStyle>
            <a:lvl1pPr>
              <a:defRPr sz="2935" b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Verdana" panose="020B0604030504040204" pitchFamily="34" charset="0"/>
              </a:defRPr>
            </a:lvl1pPr>
          </a:lstStyle>
          <a:p>
            <a:endParaRPr lang="nl-NL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988" y="6424099"/>
            <a:ext cx="2180299" cy="114767"/>
          </a:xfrm>
          <a:prstGeom prst="rect">
            <a:avLst/>
          </a:prstGeom>
        </p:spPr>
      </p:pic>
      <p:sp>
        <p:nvSpPr>
          <p:cNvPr id="13" name="Text Box 5"/>
          <p:cNvSpPr txBox="1">
            <a:spLocks noChangeArrowheads="1"/>
          </p:cNvSpPr>
          <p:nvPr userDrawn="1"/>
        </p:nvSpPr>
        <p:spPr bwMode="auto">
          <a:xfrm>
            <a:off x="-16213" y="6276266"/>
            <a:ext cx="825500" cy="339793"/>
          </a:xfrm>
          <a:prstGeom prst="rect">
            <a:avLst/>
          </a:prstGeom>
          <a:noFill/>
          <a:ln>
            <a:noFill/>
          </a:ln>
        </p:spPr>
        <p:txBody>
          <a:bodyPr lIns="133359" tIns="66685" rIns="133359" bIns="66685" anchor="ctr">
            <a:spAutoFit/>
          </a:bodyPr>
          <a:lstStyle>
            <a:lvl1pPr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itchFamily="34" charset="-128"/>
              </a:defRPr>
            </a:lvl1pPr>
            <a:lvl2pPr marL="742950" indent="-28575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itchFamily="34" charset="-128"/>
              </a:defRPr>
            </a:lvl2pPr>
            <a:lvl3pPr marL="1143000" indent="-22860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itchFamily="34" charset="-128"/>
              </a:defRPr>
            </a:lvl3pPr>
            <a:lvl4pPr marL="1600200" indent="-22860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itchFamily="34" charset="-128"/>
              </a:defRPr>
            </a:lvl4pPr>
            <a:lvl5pPr marL="2057400" indent="-228600" defTabSz="415925" eaLnBrk="0" hangingPunct="0"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itchFamily="34" charset="-128"/>
              </a:defRPr>
            </a:lvl5pPr>
            <a:lvl6pPr marL="25146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itchFamily="34" charset="-128"/>
              </a:defRPr>
            </a:lvl6pPr>
            <a:lvl7pPr marL="29718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itchFamily="34" charset="-128"/>
              </a:defRPr>
            </a:lvl7pPr>
            <a:lvl8pPr marL="34290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itchFamily="34" charset="-128"/>
              </a:defRPr>
            </a:lvl8pPr>
            <a:lvl9pPr marL="3886200" indent="-228600" defTabSz="415925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847725" algn="l"/>
                <a:tab pos="1695450" algn="l"/>
                <a:tab pos="2543175" algn="l"/>
                <a:tab pos="3388995" algn="l"/>
                <a:tab pos="4238625" algn="l"/>
                <a:tab pos="5083175" algn="l"/>
                <a:tab pos="5934075" algn="l"/>
                <a:tab pos="6778625" algn="l"/>
                <a:tab pos="7627620" algn="l"/>
                <a:tab pos="8474075" algn="l"/>
                <a:tab pos="9316720" algn="l"/>
              </a:tabLst>
              <a:defRPr sz="2400">
                <a:solidFill>
                  <a:schemeClr val="tx1"/>
                </a:solidFill>
                <a:latin typeface="Lucida Sans Unicode" panose="020B0602030504020204" pitchFamily="34" charset="0"/>
                <a:ea typeface="MS PGothic" pitchFamily="34" charset="-128"/>
              </a:defRPr>
            </a:lvl9pPr>
          </a:lstStyle>
          <a:p>
            <a:pPr algn="r" eaLnBrk="1" hangingPunct="1">
              <a:spcBef>
                <a:spcPts val="615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fld id="{6632A639-65F6-44E7-9705-34D092A42112}" type="slidenum">
              <a:rPr lang="en-US" sz="1335" smtClean="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+mn-cs"/>
              </a:rPr>
              <a:t>‹#›</a:t>
            </a:fld>
            <a:endParaRPr lang="en-US" sz="1335">
              <a:solidFill>
                <a:schemeClr val="accent1"/>
              </a:solidFill>
              <a:latin typeface="+mj-lt"/>
              <a:ea typeface="Verdana" panose="020B0604030504040204" pitchFamily="34" charset="0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0400" y="6326136"/>
            <a:ext cx="591024" cy="2880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5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DAF489CC-3B7A-4DA5-A8C0-4984788D0EC5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320400" y="164637"/>
            <a:ext cx="11632251" cy="960107"/>
          </a:xfrm>
        </p:spPr>
        <p:txBody>
          <a:bodyPr lIns="0" rIns="0"/>
          <a:lstStyle>
            <a:lvl1pPr>
              <a:defRPr sz="2400">
                <a:solidFill>
                  <a:srgbClr val="0066A1"/>
                </a:solidFill>
              </a:defRPr>
            </a:lvl1pPr>
          </a:lstStyle>
          <a:p>
            <a:r>
              <a:rPr lang="en-US" dirty="0"/>
              <a:t>Click to edit the header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One column - char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 with low confidenc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 bwMode="invGray">
          <a:xfrm>
            <a:off x="316799" y="471915"/>
            <a:ext cx="11484000" cy="343237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2200">
                <a:solidFill>
                  <a:srgbClr val="000000"/>
                </a:solidFill>
                <a:latin typeface="Montserrat Bold" panose="000008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0"/>
          </p:nvPr>
        </p:nvSpPr>
        <p:spPr bwMode="invGray">
          <a:xfrm>
            <a:off x="316799" y="830931"/>
            <a:ext cx="11484000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3" name="Graphic 2"/>
          <p:cNvPicPr>
            <a:picLocks noChangeAspect="1"/>
          </p:cNvPicPr>
          <p:nvPr userDrawn="1"/>
        </p:nvPicPr>
        <p:blipFill>
          <a:blip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338" y="6261619"/>
            <a:ext cx="1111378" cy="198900"/>
          </a:xfrm>
          <a:prstGeom prst="rect">
            <a:avLst/>
          </a:prstGeom>
        </p:spPr>
      </p:pic>
      <p:sp>
        <p:nvSpPr>
          <p:cNvPr id="4" name="Slide Number Placeholder 10"/>
          <p:cNvSpPr txBox="1"/>
          <p:nvPr userDrawn="1"/>
        </p:nvSpPr>
        <p:spPr>
          <a:xfrm>
            <a:off x="11429230" y="6298599"/>
            <a:ext cx="458064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NL"/>
            </a:defPPr>
            <a:lvl1pPr marL="0" algn="l" defTabSz="914400" rtl="0" eaLnBrk="1" latinLnBrk="0" hangingPunct="1">
              <a:defRPr lang="nl-NL" sz="1200" kern="1200" smtClean="0">
                <a:solidFill>
                  <a:srgbClr val="FF6D43"/>
                </a:solidFill>
                <a:latin typeface="Montserrat SemiBold" pitchFamily="2" charset="0"/>
                <a:ea typeface="Verdana" panose="020B0604030504040204" pitchFamily="34" charset="0"/>
                <a:cs typeface="Montserrat SemiBold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AF489CC-3B7A-4DA5-A8C0-4984788D0EC5}" type="slidenum">
              <a:rPr lang="en-IN" smtClean="0"/>
              <a:t>‹#›</a:t>
            </a:fld>
            <a:endParaRPr lang="en-IN"/>
          </a:p>
        </p:txBody>
      </p:sp>
      <p:sp>
        <p:nvSpPr>
          <p:cNvPr id="5" name="AddCustomFooter#1"/>
          <p:cNvSpPr txBox="1"/>
          <p:nvPr userDrawn="1"/>
        </p:nvSpPr>
        <p:spPr bwMode="invGray">
          <a:xfrm>
            <a:off x="5793038" y="6384973"/>
            <a:ext cx="605935" cy="10002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90500" algn="l"/>
              </a:tabLst>
              <a:defRPr/>
            </a:pPr>
            <a:r>
              <a:rPr kumimoji="0" lang="en-US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© </a:t>
            </a:r>
            <a:r>
              <a:rPr kumimoji="0" lang="fr-FR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EVIDEN</a:t>
            </a:r>
            <a:r>
              <a:rPr kumimoji="0" lang="en-US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 SAS</a:t>
            </a:r>
            <a:endParaRPr lang="nl-NL" sz="650" baseline="0">
              <a:solidFill>
                <a:schemeClr val="bg1">
                  <a:lumMod val="50000"/>
                </a:schemeClr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332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8624" y="291452"/>
            <a:ext cx="11337925" cy="79656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8624" y="1446212"/>
            <a:ext cx="11337926" cy="46307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  <a:p>
            <a:pPr marL="1143000" marR="0" lvl="4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en-US"/>
              <a:t>Level 05</a:t>
            </a:r>
          </a:p>
          <a:p>
            <a:pPr marL="1371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en-US"/>
              <a:t>Level 06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8625" y="6517632"/>
            <a:ext cx="1619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anose="020B0604030504040204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t>‹#›</a:t>
            </a:fld>
            <a:endParaRPr lang="nl-NL"/>
          </a:p>
        </p:txBody>
      </p:sp>
      <p:sp>
        <p:nvSpPr>
          <p:cNvPr id="7" name="AddCustomFooter#1"/>
          <p:cNvSpPr txBox="1"/>
          <p:nvPr userDrawn="1"/>
        </p:nvSpPr>
        <p:spPr bwMode="gray">
          <a:xfrm>
            <a:off x="428625" y="6517632"/>
            <a:ext cx="1354217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20" algn="l"/>
                <a:tab pos="411480" algn="l"/>
              </a:tabLst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	Atos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Confidential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lang="nl-NL" sz="900" baseline="0" dirty="0">
              <a:solidFill>
                <a:schemeClr val="accent3"/>
              </a:solidFill>
              <a:latin typeface="+mn-lt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Graphique 10" descr="Atos logo"/>
          <p:cNvSpPr>
            <a:spLocks noChangeAspect="1"/>
          </p:cNvSpPr>
          <p:nvPr userDrawn="1"/>
        </p:nvSpPr>
        <p:spPr>
          <a:xfrm>
            <a:off x="10944224" y="6446085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None/>
        <a:defRPr sz="16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0200" indent="9144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佛山照明主数据治理</a:t>
            </a:r>
            <a:br>
              <a:rPr lang="en-US" dirty="0"/>
            </a:br>
            <a:r>
              <a:rPr lang="en-US" dirty="0" err="1"/>
              <a:t>专项方案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23068" y="3969867"/>
            <a:ext cx="5486400" cy="1216152"/>
          </a:xfrm>
        </p:spPr>
        <p:txBody>
          <a:bodyPr/>
          <a:lstStyle/>
          <a:p>
            <a:r>
              <a:rPr dirty="0" err="1"/>
              <a:t>业务诊断咨询及SAP系统升级实施项目</a:t>
            </a:r>
            <a:endParaRPr dirty="0"/>
          </a:p>
          <a:p>
            <a:endParaRPr sz="2400" b="0" i="0" dirty="0">
              <a:solidFill>
                <a:srgbClr val="156082"/>
              </a:solidFill>
              <a:latin typeface="Microsoft YaHei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476681" y="5372071"/>
            <a:ext cx="3657600" cy="640080"/>
          </a:xfrm>
        </p:spPr>
        <p:txBody>
          <a:bodyPr/>
          <a:lstStyle/>
          <a:p>
            <a:r>
              <a:rPr sz="1100" b="0" i="0" dirty="0" err="1">
                <a:solidFill>
                  <a:srgbClr val="333333"/>
                </a:solidFill>
                <a:latin typeface="Microsoft YaHei"/>
              </a:rPr>
              <a:t>编制：艾维登（Eviden</a:t>
            </a:r>
            <a:r>
              <a:rPr sz="1100" b="0" i="0" dirty="0">
                <a:solidFill>
                  <a:srgbClr val="333333"/>
                </a:solidFill>
                <a:latin typeface="Microsoft YaHei"/>
              </a:rPr>
              <a:t>）   2026年8月   </a:t>
            </a:r>
            <a:r>
              <a:rPr sz="1100" b="0" i="0" dirty="0" err="1">
                <a:solidFill>
                  <a:srgbClr val="333333"/>
                </a:solidFill>
                <a:latin typeface="Microsoft YaHei"/>
              </a:rPr>
              <a:t>内部资料</a:t>
            </a:r>
            <a:endParaRPr sz="1100" b="0" i="0" dirty="0">
              <a:solidFill>
                <a:srgbClr val="333333"/>
              </a:solidFill>
              <a:latin typeface="Microsoft YaHei"/>
            </a:endParaRPr>
          </a:p>
        </p:txBody>
      </p:sp>
      <p:pic>
        <p:nvPicPr>
          <p:cNvPr id="6" name="Picture Placeholder 14">
            <a:extLst>
              <a:ext uri="{FF2B5EF4-FFF2-40B4-BE49-F238E27FC236}">
                <a16:creationId xmlns:a16="http://schemas.microsoft.com/office/drawing/2014/main" id="{BD954291-4815-B665-112D-03B0211E02C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 cstate="screen"/>
          <a:srcRect l="107" r="107"/>
          <a:stretch>
            <a:fillRect/>
          </a:stretch>
        </p:blipFill>
        <p:spPr bwMode="black">
          <a:xfrm>
            <a:off x="6092825" y="0"/>
            <a:ext cx="6099175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1C799F2-6796-6D5A-8603-355F6AAAF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68" y="340653"/>
            <a:ext cx="19304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1800" b="1" i="0" dirty="0">
                <a:solidFill>
                  <a:srgbClr val="E97132"/>
                </a:solidFill>
                <a:latin typeface="Microsoft YaHei"/>
              </a:rPr>
              <a:t>01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800" b="1" i="0" dirty="0" err="1">
                <a:solidFill>
                  <a:srgbClr val="0E2841"/>
                </a:solidFill>
                <a:latin typeface="Microsoft YaHei"/>
              </a:rPr>
              <a:t>方案概述与目标</a:t>
            </a:r>
            <a:endParaRPr sz="1800" b="1" i="0" dirty="0">
              <a:solidFill>
                <a:srgbClr val="0E2841"/>
              </a:solidFill>
              <a:latin typeface="Microsoft YaHei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sz="1800" b="1" i="0">
                <a:solidFill>
                  <a:srgbClr val="E97132"/>
                </a:solidFill>
                <a:latin typeface="Microsoft YaHei"/>
              </a:rPr>
              <a:t>02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sz="1800" b="1" i="0" dirty="0" err="1">
                <a:solidFill>
                  <a:srgbClr val="0E2841"/>
                </a:solidFill>
                <a:latin typeface="Microsoft YaHei"/>
              </a:rPr>
              <a:t>现状诊断与核心痛点</a:t>
            </a:r>
            <a:endParaRPr sz="1800" b="1" i="0" dirty="0">
              <a:solidFill>
                <a:srgbClr val="0E2841"/>
              </a:solidFill>
              <a:latin typeface="Microsoft YaHei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2954745" y="3980771"/>
            <a:ext cx="285335" cy="276999"/>
          </a:xfrm>
        </p:spPr>
        <p:txBody>
          <a:bodyPr/>
          <a:lstStyle/>
          <a:p>
            <a:r>
              <a:rPr sz="1800" b="1" i="0" dirty="0">
                <a:solidFill>
                  <a:srgbClr val="E97132"/>
                </a:solidFill>
                <a:latin typeface="Microsoft YaHei"/>
              </a:rPr>
              <a:t>0</a:t>
            </a:r>
            <a:r>
              <a:rPr lang="en-US" sz="1800" b="1" i="0" dirty="0">
                <a:solidFill>
                  <a:srgbClr val="E97132"/>
                </a:solidFill>
                <a:latin typeface="Microsoft YaHei"/>
              </a:rPr>
              <a:t>3</a:t>
            </a:r>
            <a:endParaRPr sz="1800" b="1" i="0" dirty="0">
              <a:solidFill>
                <a:srgbClr val="E97132"/>
              </a:solidFill>
              <a:latin typeface="Microsoft YaHei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sz="1800" b="1" i="0" dirty="0" err="1">
                <a:solidFill>
                  <a:srgbClr val="0E2841"/>
                </a:solidFill>
                <a:latin typeface="Microsoft YaHei"/>
              </a:rPr>
              <a:t>数据</a:t>
            </a:r>
            <a:r>
              <a:rPr lang="zh-CN" altLang="en-US" sz="1800" b="1" i="0" dirty="0">
                <a:solidFill>
                  <a:srgbClr val="0E2841"/>
                </a:solidFill>
                <a:latin typeface="Microsoft YaHei"/>
              </a:rPr>
              <a:t>治理架构整体设计</a:t>
            </a:r>
            <a:endParaRPr sz="1800" b="1" i="0" dirty="0">
              <a:solidFill>
                <a:srgbClr val="0E2841"/>
              </a:solidFill>
              <a:latin typeface="Microsoft YaHei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25"/>
          </p:nvPr>
        </p:nvSpPr>
        <p:spPr>
          <a:xfrm>
            <a:off x="2954745" y="5247973"/>
            <a:ext cx="285335" cy="276999"/>
          </a:xfrm>
        </p:spPr>
        <p:txBody>
          <a:bodyPr/>
          <a:lstStyle/>
          <a:p>
            <a:r>
              <a:rPr sz="1800" b="1" i="0" dirty="0">
                <a:solidFill>
                  <a:srgbClr val="E97132"/>
                </a:solidFill>
                <a:latin typeface="Microsoft YaHei"/>
              </a:rPr>
              <a:t>0</a:t>
            </a:r>
            <a:r>
              <a:rPr lang="en-US" sz="1800" b="1" i="0" dirty="0">
                <a:solidFill>
                  <a:srgbClr val="E97132"/>
                </a:solidFill>
                <a:latin typeface="Microsoft YaHei"/>
              </a:rPr>
              <a:t>4</a:t>
            </a:r>
            <a:endParaRPr sz="1800" b="1" i="0" dirty="0">
              <a:solidFill>
                <a:srgbClr val="E97132"/>
              </a:solidFill>
              <a:latin typeface="Microsoft YaHei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zh-CN" altLang="en-US" sz="1800" b="1" dirty="0">
                <a:solidFill>
                  <a:srgbClr val="0E2841"/>
                </a:solidFill>
              </a:rPr>
              <a:t>实施路径和展望</a:t>
            </a:r>
            <a:endParaRPr sz="320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/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i="0">
                <a:solidFill>
                  <a:srgbClr val="0E2841"/>
                </a:solidFill>
                <a:latin typeface="Microsoft YaHei"/>
              </a:rPr>
              <a:t>目录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D836068F-8A5F-33E1-70E2-B70AA5DBBB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F89CD986-2D10-191B-5BEF-B64E0A9271C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0" name="文本占位符 19">
            <a:extLst>
              <a:ext uri="{FF2B5EF4-FFF2-40B4-BE49-F238E27FC236}">
                <a16:creationId xmlns:a16="http://schemas.microsoft.com/office/drawing/2014/main" id="{651AB12A-6903-6DA9-7BBC-02B3E1CCEFD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F97EF-A2AB-AF18-D07E-40EC3719F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E26C50-60A5-E143-481A-804350AB43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1247136" cy="1477328"/>
          </a:xfrm>
        </p:spPr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E2E19D-3747-688E-67BB-BF466FF3A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方案概述与目标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BF1663A-64C6-91E5-19DB-5C5C2F2A9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A5FE48B-8E4E-259F-3530-A315E7903B14}"/>
              </a:ext>
            </a:extLst>
          </p:cNvPr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3690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zh-CN" altLang="en-US" sz="2600" b="1" dirty="0">
                <a:solidFill>
                  <a:srgbClr val="0E2841"/>
                </a:solidFill>
                <a:latin typeface="Microsoft YaHei"/>
              </a:rPr>
              <a:t>方案总览</a:t>
            </a:r>
            <a:r>
              <a:rPr lang="en-US" altLang="zh-CN" sz="2600" b="1" dirty="0">
                <a:solidFill>
                  <a:srgbClr val="0E2841"/>
                </a:solidFill>
                <a:latin typeface="Microsoft YaHei"/>
              </a:rPr>
              <a:t>-</a:t>
            </a:r>
            <a:r>
              <a:rPr lang="zh-CN" altLang="en-US" sz="2600" b="1" dirty="0">
                <a:solidFill>
                  <a:srgbClr val="0E2841"/>
                </a:solidFill>
                <a:latin typeface="Microsoft YaHei"/>
              </a:rPr>
              <a:t>佛山照明主数据专项治理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t>4</a:t>
            </a:fld>
            <a:endParaRPr lang="nl-NL"/>
          </a:p>
        </p:txBody>
      </p:sp>
      <p:sp>
        <p:nvSpPr>
          <p:cNvPr id="7" name="矩形 6"/>
          <p:cNvSpPr/>
          <p:nvPr/>
        </p:nvSpPr>
        <p:spPr>
          <a:xfrm>
            <a:off x="509577" y="1078301"/>
            <a:ext cx="7582000" cy="1768416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zh-CN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项目目标：</a:t>
            </a:r>
            <a:endParaRPr lang="en-US" altLang="zh-CN" sz="1000" dirty="0">
              <a:solidFill>
                <a:srgbClr val="0D1B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建立</a:t>
            </a:r>
            <a:r>
              <a:rPr lang="en-US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组织</a:t>
            </a:r>
            <a:r>
              <a:rPr lang="en-US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lang="zh-CN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标准</a:t>
            </a:r>
            <a:r>
              <a:rPr lang="en-US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lang="zh-CN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流程</a:t>
            </a:r>
            <a:r>
              <a:rPr lang="en-US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lang="zh-CN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平台</a:t>
            </a:r>
            <a:r>
              <a:rPr lang="en-US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lang="zh-CN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质量</a:t>
            </a:r>
            <a:r>
              <a:rPr lang="en-US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lang="zh-CN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运营</a:t>
            </a:r>
            <a:r>
              <a:rPr lang="en-US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六位一体的主数据治理体系</a:t>
            </a:r>
            <a:r>
              <a:rPr lang="zh-CN" altLang="en-US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en-US" altLang="zh-CN" sz="1000" dirty="0">
              <a:solidFill>
                <a:srgbClr val="0D1B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实现主数据的</a:t>
            </a:r>
            <a:r>
              <a:rPr lang="en-US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三统一</a:t>
            </a:r>
            <a:r>
              <a:rPr lang="en-US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（统一标准、统一来源、统一分发）和</a:t>
            </a:r>
            <a:r>
              <a:rPr lang="en-US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三可控</a:t>
            </a:r>
            <a:r>
              <a:rPr lang="en-US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（质量可控、变更可控、风险可控）</a:t>
            </a:r>
            <a:r>
              <a:rPr lang="en-US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支撑</a:t>
            </a:r>
            <a:r>
              <a:rPr lang="en-US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S/4HANA</a:t>
            </a:r>
            <a:r>
              <a:rPr lang="zh-CN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平稳上线及后续稳定运行</a:t>
            </a:r>
            <a:r>
              <a:rPr lang="zh-CN" altLang="en-US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en-US" altLang="zh-CN" sz="1000" dirty="0">
              <a:solidFill>
                <a:srgbClr val="0D1B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kumimoji="1"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项目方案：</a:t>
            </a:r>
            <a:endParaRPr kumimoji="1" lang="en-US" altLang="zh-CN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None/>
            </a:pPr>
            <a:r>
              <a:rPr lang="en-US" altLang="zh-CN" sz="1000" b="1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1000" b="1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：管理先行，标准引领</a:t>
            </a:r>
            <a:r>
              <a:rPr lang="en-US" altLang="zh-CN" sz="1000" b="1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lang="zh-CN" altLang="en-US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数据治理</a:t>
            </a:r>
            <a:r>
              <a:rPr lang="zh-CN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组织职责划分、数据标准制定和流程设计</a:t>
            </a:r>
            <a:r>
              <a:rPr lang="zh-CN" altLang="en-US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zh-CN" altLang="zh-CN" sz="900" dirty="0">
              <a:solidFill>
                <a:srgbClr val="0D1B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1000" b="1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1000" b="1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：清洗驱动，迁移倒逼</a:t>
            </a:r>
            <a:r>
              <a:rPr lang="zh-CN" altLang="en-US" sz="1000" b="1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以</a:t>
            </a:r>
            <a:r>
              <a:rPr lang="en-US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S/4HANA</a:t>
            </a:r>
            <a:r>
              <a:rPr lang="zh-CN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迁移为时间底线，倒排清洗计划。</a:t>
            </a:r>
            <a:r>
              <a:rPr lang="zh-CN" altLang="en-US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配合实施计划推进数据</a:t>
            </a:r>
            <a:r>
              <a:rPr lang="zh-CN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清洗、迁移、对账规则和回退方案</a:t>
            </a:r>
            <a:r>
              <a:rPr lang="zh-CN" altLang="en-US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zh-CN" altLang="zh-CN" sz="900" dirty="0">
              <a:solidFill>
                <a:srgbClr val="0D1B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1000" b="1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sz="1000" b="1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：平台固化，流程内置</a:t>
            </a:r>
            <a:r>
              <a:rPr lang="zh-CN" altLang="en-US" sz="1000" b="1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</a:t>
            </a:r>
            <a:r>
              <a:rPr lang="en-US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MDM</a:t>
            </a:r>
            <a:r>
              <a:rPr lang="zh-CN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平台将数据标准和审批流程系统化，减少人工干预和线下操作</a:t>
            </a:r>
            <a:r>
              <a:rPr lang="zh-CN" altLang="en-US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zh-CN" altLang="zh-CN" sz="900" dirty="0">
              <a:solidFill>
                <a:srgbClr val="0D1B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CN" sz="1000" b="1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zh-CN" sz="1000" b="1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：源头治理，闭环管控</a:t>
            </a:r>
            <a:r>
              <a:rPr lang="zh-CN" altLang="en-US" sz="1000" b="1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核心数据在业务源头即进行质量校验，建立</a:t>
            </a:r>
            <a:r>
              <a:rPr lang="en-US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发现</a:t>
            </a:r>
            <a:r>
              <a:rPr lang="en-US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lang="zh-CN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登记</a:t>
            </a:r>
            <a:r>
              <a:rPr lang="en-US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lang="zh-CN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分派</a:t>
            </a:r>
            <a:r>
              <a:rPr lang="en-US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lang="zh-CN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整改</a:t>
            </a:r>
            <a:r>
              <a:rPr lang="en-US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lang="zh-CN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复核</a:t>
            </a:r>
            <a:r>
              <a:rPr lang="en-US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</a:t>
            </a:r>
            <a:r>
              <a:rPr lang="zh-CN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关闭</a:t>
            </a:r>
            <a:r>
              <a:rPr lang="en-US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zh-CN" sz="1000" dirty="0">
                <a:solidFill>
                  <a:srgbClr val="0D1B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的问题闭环机制。</a:t>
            </a:r>
            <a:endParaRPr lang="zh-CN" altLang="zh-CN" sz="900" dirty="0">
              <a:solidFill>
                <a:srgbClr val="0D1B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98949" y="3020370"/>
            <a:ext cx="2812522" cy="3076343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现状：</a:t>
            </a:r>
            <a:endParaRPr lang="zh-CN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佛照</a:t>
            </a:r>
            <a:r>
              <a:rPr kumimoji="1"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SAP</a:t>
            </a: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使用近</a:t>
            </a:r>
            <a:r>
              <a:rPr kumimoji="1"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年，物料等主数据历史垃圾占比很大需要清理；物料编码规则多次调整，需要统一更新；</a:t>
            </a:r>
            <a:endParaRPr kumimoji="1"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缺少数据治理的专门组织，数据治理流程缺失，数据全生命周期管理制度不健全；</a:t>
            </a:r>
            <a:endParaRPr kumimoji="1"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没有主数据管理工具，缺少技术手段对主数据科学规范的管理</a:t>
            </a:r>
            <a:r>
              <a:rPr kumimoji="1" lang="zh-CN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更多依赖人的自觉性；</a:t>
            </a:r>
            <a:endParaRPr kumimoji="1"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异构系统逐步增多，数据断点问题越来越突出；</a:t>
            </a:r>
            <a:endParaRPr lang="zh-CN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主要差距：</a:t>
            </a:r>
            <a:endParaRPr lang="zh-CN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按照</a:t>
            </a:r>
            <a:r>
              <a:rPr kumimoji="1"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DCMM</a:t>
            </a: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的标准，佛照勉强达到</a:t>
            </a:r>
            <a:r>
              <a:rPr kumimoji="1"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L2</a:t>
            </a: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，和行业领先企业</a:t>
            </a:r>
            <a:r>
              <a:rPr kumimoji="1"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L3-L4</a:t>
            </a: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级存在明显的差距；</a:t>
            </a:r>
            <a:endParaRPr kumimoji="1"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对数据价值认识不足；对数据资产的认知没有建立；</a:t>
            </a:r>
            <a:endParaRPr kumimoji="1" lang="zh-CN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569079" y="3008094"/>
            <a:ext cx="4522498" cy="1132936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组织重构：</a:t>
            </a: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数据治理组织建设（委员会、办公室、专员等）；</a:t>
            </a:r>
            <a:endParaRPr kumimoji="1"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流程重构：</a:t>
            </a: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kumimoji="1"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MDG</a:t>
            </a: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固化主数据全生命周期管理流程；</a:t>
            </a:r>
            <a:endParaRPr kumimoji="1"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规则更新：</a:t>
            </a: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物料编码规则历史上发布多次，需要确认更新一版；</a:t>
            </a:r>
            <a:endParaRPr kumimoji="1"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业务集成：</a:t>
            </a: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加强异构系统集成，打通数据断点；</a:t>
            </a:r>
            <a:endParaRPr kumimoji="1" lang="zh-CN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569079" y="4328297"/>
            <a:ext cx="4522498" cy="1768417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建组织：成立数据治理各级组织；</a:t>
            </a:r>
            <a:endParaRPr kumimoji="1"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出标准：制定数据管理标准体系；</a:t>
            </a:r>
            <a:endParaRPr kumimoji="1"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搭流程：编制数据全生命周期管理流程；</a:t>
            </a:r>
            <a:endParaRPr kumimoji="1"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清数据：历史数据彻底清洗，保证新系统完整干净的数据；</a:t>
            </a:r>
            <a:endParaRPr kumimoji="1"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部系统：部署</a:t>
            </a:r>
            <a:r>
              <a:rPr kumimoji="1"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MDG</a:t>
            </a: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系统，打通各个异构系统；</a:t>
            </a:r>
            <a:endParaRPr kumimoji="1" lang="zh-CN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399872" y="2128930"/>
            <a:ext cx="3282551" cy="1218117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399872" y="3620220"/>
            <a:ext cx="3282551" cy="1132936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zh-CN" sz="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0" indent="-1714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100" dirty="0">
                <a:solidFill>
                  <a:schemeClr val="tx1"/>
                </a:solidFill>
              </a:rPr>
              <a:t>业务部门配合度不足</a:t>
            </a:r>
            <a:r>
              <a:rPr lang="zh-CN" altLang="en-US" sz="1100" dirty="0">
                <a:solidFill>
                  <a:schemeClr val="tx1"/>
                </a:solidFill>
              </a:rPr>
              <a:t>；</a:t>
            </a:r>
            <a:endParaRPr lang="en-US" altLang="zh-CN" sz="11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100" dirty="0">
                <a:solidFill>
                  <a:schemeClr val="tx1"/>
                </a:solidFill>
              </a:rPr>
              <a:t>数据标准脱离业务实际</a:t>
            </a:r>
            <a:r>
              <a:rPr lang="zh-CN" altLang="en-US" sz="1100" dirty="0">
                <a:solidFill>
                  <a:schemeClr val="tx1"/>
                </a:solidFill>
              </a:rPr>
              <a:t>；</a:t>
            </a:r>
            <a:endParaRPr lang="zh-CN" altLang="zh-CN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71450" lvl="0" indent="-1714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100" dirty="0">
                <a:solidFill>
                  <a:schemeClr val="tx1"/>
                </a:solidFill>
              </a:rPr>
              <a:t>历史数据复杂度超预期</a:t>
            </a:r>
            <a:r>
              <a:rPr lang="zh-CN" altLang="en-US" sz="1100" dirty="0">
                <a:solidFill>
                  <a:schemeClr val="tx1"/>
                </a:solidFill>
              </a:rPr>
              <a:t>；</a:t>
            </a:r>
            <a:endParaRPr lang="zh-CN" altLang="zh-CN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171450" lvl="0" indent="-1714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100" dirty="0">
                <a:solidFill>
                  <a:schemeClr val="tx1"/>
                </a:solidFill>
              </a:rPr>
              <a:t>MDM</a:t>
            </a:r>
            <a:r>
              <a:rPr lang="zh-CN" altLang="zh-CN" sz="1100" dirty="0">
                <a:solidFill>
                  <a:schemeClr val="tx1"/>
                </a:solidFill>
              </a:rPr>
              <a:t>与</a:t>
            </a:r>
            <a:r>
              <a:rPr lang="en-US" altLang="zh-CN" sz="1100" dirty="0">
                <a:solidFill>
                  <a:schemeClr val="tx1"/>
                </a:solidFill>
              </a:rPr>
              <a:t>S/4HANA</a:t>
            </a:r>
            <a:r>
              <a:rPr lang="zh-CN" altLang="en-US" sz="1100" dirty="0">
                <a:solidFill>
                  <a:schemeClr val="tx1"/>
                </a:solidFill>
              </a:rPr>
              <a:t>和异构系统</a:t>
            </a:r>
            <a:r>
              <a:rPr lang="zh-CN" altLang="zh-CN" sz="1100" dirty="0">
                <a:solidFill>
                  <a:schemeClr val="tx1"/>
                </a:solidFill>
              </a:rPr>
              <a:t>集成问题</a:t>
            </a:r>
            <a:r>
              <a:rPr lang="zh-CN" altLang="en-US" sz="1100" dirty="0">
                <a:solidFill>
                  <a:schemeClr val="tx1"/>
                </a:solidFill>
              </a:rPr>
              <a:t>；</a:t>
            </a:r>
            <a:endParaRPr lang="en-US" altLang="zh-CN" sz="1100" dirty="0">
              <a:solidFill>
                <a:schemeClr val="tx1"/>
              </a:solidFill>
            </a:endParaRPr>
          </a:p>
          <a:p>
            <a:pPr lvl="0"/>
            <a:endParaRPr lang="zh-CN" altLang="zh-CN" sz="800" dirty="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399872" y="4963779"/>
            <a:ext cx="3282551" cy="1132936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大量历史垃圾数据清洗，系统运行效率提升；</a:t>
            </a:r>
            <a:endParaRPr kumimoji="1"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数据治理组织和标准流程规范化，杜绝历史问题重演；</a:t>
            </a:r>
            <a:endParaRPr kumimoji="1"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MDG</a:t>
            </a: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模块上线，固化数据管理流程，杜绝人为错误；</a:t>
            </a:r>
            <a:endParaRPr kumimoji="1" lang="zh-CN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DCMM</a:t>
            </a: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企业数据治理成熟度从</a:t>
            </a:r>
            <a:r>
              <a:rPr kumimoji="1"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L2-L3&amp;L4</a:t>
            </a:r>
            <a:r>
              <a:rPr kumimoji="1"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迈进；</a:t>
            </a:r>
            <a:endParaRPr kumimoji="1" lang="zh-CN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399872" y="1078301"/>
            <a:ext cx="3282551" cy="840006"/>
          </a:xfrm>
          <a:prstGeom prst="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主责：</a:t>
            </a:r>
            <a:r>
              <a:rPr lang="zh-CN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集团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数智化</a:t>
            </a:r>
            <a:r>
              <a:rPr lang="zh-CN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</a:t>
            </a:r>
            <a:endParaRPr lang="en-US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配合：</a:t>
            </a:r>
            <a:r>
              <a:rPr lang="zh-CN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研究院、采购部门、销售部门、财务部门</a:t>
            </a:r>
            <a:endParaRPr lang="zh-CN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外部：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艾维登</a:t>
            </a:r>
            <a:r>
              <a: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MDG</a:t>
            </a:r>
            <a:r>
              <a:rPr lang="zh-CN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专家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、咨询专家</a:t>
            </a:r>
            <a:endParaRPr lang="zh-CN" altLang="zh-CN" sz="1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562025" y="900920"/>
            <a:ext cx="1039792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kumimoji="1" lang="zh-CN" altLang="en-US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责任部门</a:t>
            </a:r>
          </a:p>
        </p:txBody>
      </p:sp>
      <p:sp>
        <p:nvSpPr>
          <p:cNvPr id="16" name="矩形 15"/>
          <p:cNvSpPr/>
          <p:nvPr/>
        </p:nvSpPr>
        <p:spPr>
          <a:xfrm>
            <a:off x="8562025" y="1985697"/>
            <a:ext cx="1039792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</a:t>
            </a:r>
            <a:r>
              <a:rPr kumimoji="1" lang="zh-CN" altLang="en-US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里程碑</a:t>
            </a:r>
          </a:p>
        </p:txBody>
      </p:sp>
      <p:sp>
        <p:nvSpPr>
          <p:cNvPr id="17" name="矩形 16"/>
          <p:cNvSpPr/>
          <p:nvPr/>
        </p:nvSpPr>
        <p:spPr>
          <a:xfrm>
            <a:off x="8562025" y="3473741"/>
            <a:ext cx="1643023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 </a:t>
            </a:r>
            <a:r>
              <a:rPr kumimoji="1" lang="zh-CN" altLang="en-US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风险与项目依赖</a:t>
            </a:r>
          </a:p>
        </p:txBody>
      </p:sp>
      <p:sp>
        <p:nvSpPr>
          <p:cNvPr id="18" name="矩形 17"/>
          <p:cNvSpPr/>
          <p:nvPr/>
        </p:nvSpPr>
        <p:spPr>
          <a:xfrm>
            <a:off x="8562025" y="4789456"/>
            <a:ext cx="2100224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kumimoji="1" lang="zh-CN" altLang="en-US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业务价值和数字化指标</a:t>
            </a:r>
          </a:p>
        </p:txBody>
      </p:sp>
      <p:sp>
        <p:nvSpPr>
          <p:cNvPr id="19" name="矩形 18"/>
          <p:cNvSpPr/>
          <p:nvPr/>
        </p:nvSpPr>
        <p:spPr>
          <a:xfrm>
            <a:off x="3773854" y="4165122"/>
            <a:ext cx="1376734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kumimoji="1" lang="zh-CN" altLang="en-US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关键任务</a:t>
            </a:r>
          </a:p>
        </p:txBody>
      </p:sp>
      <p:sp>
        <p:nvSpPr>
          <p:cNvPr id="20" name="矩形 19"/>
          <p:cNvSpPr/>
          <p:nvPr/>
        </p:nvSpPr>
        <p:spPr>
          <a:xfrm>
            <a:off x="3790570" y="2913921"/>
            <a:ext cx="1376734" cy="2151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kumimoji="1" lang="zh-CN" altLang="en-US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业务变革</a:t>
            </a:r>
          </a:p>
        </p:txBody>
      </p:sp>
      <p:sp>
        <p:nvSpPr>
          <p:cNvPr id="21" name="矩形 20"/>
          <p:cNvSpPr/>
          <p:nvPr/>
        </p:nvSpPr>
        <p:spPr>
          <a:xfrm>
            <a:off x="690731" y="2905836"/>
            <a:ext cx="1376734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kumimoji="1" lang="zh-CN" altLang="en-US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现状</a:t>
            </a:r>
            <a:r>
              <a:rPr kumimoji="1" lang="en-US" altLang="zh-CN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差距</a:t>
            </a:r>
          </a:p>
        </p:txBody>
      </p:sp>
      <p:sp>
        <p:nvSpPr>
          <p:cNvPr id="22" name="矩形 21"/>
          <p:cNvSpPr/>
          <p:nvPr/>
        </p:nvSpPr>
        <p:spPr>
          <a:xfrm>
            <a:off x="1500133" y="940904"/>
            <a:ext cx="1376734" cy="292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kumimoji="1" lang="zh-CN" altLang="en-US" sz="1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目标和范围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862642" y="1552755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824823" y="2665562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1964838" y="2363638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sz="1000" dirty="0" err="1">
              <a:solidFill>
                <a:schemeClr val="accent3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518896" y="2376115"/>
            <a:ext cx="1039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数据治理组织建立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数据标准体系编制</a:t>
            </a:r>
          </a:p>
        </p:txBody>
      </p:sp>
      <p:grpSp>
        <p:nvGrpSpPr>
          <p:cNvPr id="35" name="组合 34"/>
          <p:cNvGrpSpPr/>
          <p:nvPr/>
        </p:nvGrpSpPr>
        <p:grpSpPr>
          <a:xfrm>
            <a:off x="8678174" y="3102633"/>
            <a:ext cx="2717320" cy="117898"/>
            <a:chOff x="8678174" y="3102633"/>
            <a:chExt cx="2717320" cy="117898"/>
          </a:xfrm>
        </p:grpSpPr>
        <p:cxnSp>
          <p:nvCxnSpPr>
            <p:cNvPr id="25" name="直线箭头连接符 24"/>
            <p:cNvCxnSpPr/>
            <p:nvPr/>
          </p:nvCxnSpPr>
          <p:spPr>
            <a:xfrm>
              <a:off x="8678174" y="3157265"/>
              <a:ext cx="2717320" cy="0"/>
            </a:xfrm>
            <a:prstGeom prst="straightConnector1">
              <a:avLst/>
            </a:prstGeom>
            <a:ln w="28575">
              <a:solidFill>
                <a:srgbClr val="00336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椭圆 27"/>
            <p:cNvSpPr/>
            <p:nvPr/>
          </p:nvSpPr>
          <p:spPr>
            <a:xfrm>
              <a:off x="8987033" y="3105505"/>
              <a:ext cx="103520" cy="1035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/>
            </a:p>
          </p:txBody>
        </p:sp>
        <p:sp>
          <p:nvSpPr>
            <p:cNvPr id="32" name="椭圆 31"/>
            <p:cNvSpPr/>
            <p:nvPr/>
          </p:nvSpPr>
          <p:spPr>
            <a:xfrm>
              <a:off x="9984824" y="3102633"/>
              <a:ext cx="103520" cy="1035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/>
            </a:p>
          </p:txBody>
        </p:sp>
        <p:sp>
          <p:nvSpPr>
            <p:cNvPr id="33" name="椭圆 32"/>
            <p:cNvSpPr/>
            <p:nvPr/>
          </p:nvSpPr>
          <p:spPr>
            <a:xfrm>
              <a:off x="11034366" y="3117011"/>
              <a:ext cx="103520" cy="10352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0"/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10662249" y="2402789"/>
            <a:ext cx="10201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MDG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上线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历史数据迁移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9682457" y="2376115"/>
            <a:ext cx="8331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历史数据清洗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8652294" y="6599208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0E2841"/>
                </a:solidFill>
                <a:latin typeface="Microsoft YaHei"/>
              </a:rPr>
              <a:t>项目背景与规划定位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 dirty="0">
                <a:solidFill>
                  <a:srgbClr val="333333"/>
                </a:solidFill>
                <a:latin typeface="Microsoft YaHei"/>
              </a:rPr>
              <a:t>佛山照明的核心矛盾不是“</a:t>
            </a:r>
            <a:r>
              <a:rPr sz="1400" b="0" i="0" dirty="0" err="1">
                <a:solidFill>
                  <a:srgbClr val="333333"/>
                </a:solidFill>
                <a:latin typeface="Microsoft YaHei"/>
              </a:rPr>
              <a:t>缺少一个系统</a:t>
            </a:r>
            <a:r>
              <a:rPr sz="1400" b="0" i="0" dirty="0">
                <a:solidFill>
                  <a:srgbClr val="333333"/>
                </a:solidFill>
                <a:latin typeface="Microsoft YaHei"/>
              </a:rPr>
              <a:t>”，</a:t>
            </a:r>
            <a:r>
              <a:rPr sz="1400" b="0" i="0" dirty="0" err="1">
                <a:solidFill>
                  <a:srgbClr val="333333"/>
                </a:solidFill>
                <a:latin typeface="Microsoft YaHei"/>
              </a:rPr>
              <a:t>而是系统建设速度快于企业级数据治理能力建设</a:t>
            </a:r>
            <a:r>
              <a:rPr sz="1400" b="0" i="0" dirty="0">
                <a:solidFill>
                  <a:srgbClr val="333333"/>
                </a:solidFill>
                <a:latin typeface="Microsoft YaHei"/>
              </a:rPr>
              <a:t>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11247120" cy="457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486400" cy="43891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56082"/>
                </a:solidFill>
                <a:latin typeface="Microsoft YaHei"/>
              </a:rPr>
              <a:t>项目背景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156082"/>
                </a:solidFill>
                <a:latin typeface="Microsoft YaHei"/>
              </a:rPr>
              <a:t>▪  </a:t>
            </a:r>
            <a:r>
              <a:rPr sz="1200" b="1" i="0">
                <a:solidFill>
                  <a:srgbClr val="0E2841"/>
                </a:solidFill>
                <a:latin typeface="Microsoft YaHei"/>
              </a:rPr>
              <a:t>S/4HANA全新实施</a:t>
            </a:r>
            <a:r>
              <a:rPr sz="1100" b="0" i="0">
                <a:solidFill>
                  <a:srgbClr val="333333"/>
                </a:solidFill>
                <a:latin typeface="Microsoft YaHei"/>
              </a:rPr>
              <a:t>  采用全新实施方式，不迁移历史配置，只迁移清洗后的主数据和未清业务数据。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156082"/>
                </a:solidFill>
                <a:latin typeface="Microsoft YaHei"/>
              </a:rPr>
              <a:t>▪  </a:t>
            </a:r>
            <a:r>
              <a:rPr sz="1200" b="1" i="0">
                <a:solidFill>
                  <a:srgbClr val="0E2841"/>
                </a:solidFill>
                <a:latin typeface="Microsoft YaHei"/>
              </a:rPr>
              <a:t>历史数据必须迁移前治理</a:t>
            </a:r>
            <a:r>
              <a:rPr sz="1100" b="0" i="0">
                <a:solidFill>
                  <a:srgbClr val="333333"/>
                </a:solidFill>
                <a:latin typeface="Microsoft YaHei"/>
              </a:rPr>
              <a:t>  全新实施意味着历史数据必须在迁移前完成治理，否则问题原样带入新系统并在更快处理速度下放大。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156082"/>
                </a:solidFill>
                <a:latin typeface="Microsoft YaHei"/>
              </a:rPr>
              <a:t>▪  </a:t>
            </a:r>
            <a:r>
              <a:rPr sz="1200" b="1" i="0">
                <a:solidFill>
                  <a:srgbClr val="0E2841"/>
                </a:solidFill>
                <a:latin typeface="Microsoft YaHei"/>
              </a:rPr>
              <a:t>多系统并行</a:t>
            </a:r>
            <a:r>
              <a:rPr sz="1100" b="0" i="0">
                <a:solidFill>
                  <a:srgbClr val="333333"/>
                </a:solidFill>
                <a:latin typeface="Microsoft YaHei"/>
              </a:rPr>
              <a:t>  SAP ECC、PLM、MES、WMS、SRM、CRM、电商、财务共享8+套系统，同一对象在不同系统身份、属性、状态未统一管理。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156082"/>
                </a:solidFill>
                <a:latin typeface="Microsoft YaHei"/>
              </a:rPr>
              <a:t>▪  </a:t>
            </a:r>
            <a:r>
              <a:rPr sz="1200" b="1" i="0">
                <a:solidFill>
                  <a:srgbClr val="0E2841"/>
                </a:solidFill>
                <a:latin typeface="Microsoft YaHei"/>
              </a:rPr>
              <a:t>DCMM L2→L3过渡</a:t>
            </a:r>
            <a:r>
              <a:rPr sz="1100" b="0" i="0">
                <a:solidFill>
                  <a:srgbClr val="333333"/>
                </a:solidFill>
                <a:latin typeface="Microsoft YaHei"/>
              </a:rPr>
              <a:t>  当前治理成熟度处于L2受管理级向L3稳健级过渡，距标杆企业L4-L5仍有较大差距。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486400" cy="4389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548640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2011680"/>
            <a:ext cx="5029200" cy="40233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56082"/>
                </a:solidFill>
                <a:latin typeface="Microsoft YaHei"/>
              </a:rPr>
              <a:t>本方案定位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</a:rPr>
              <a:t>承接调研报告第六章治理建议，将组织、制度、平台和实施路径展开为可执行的管理方案。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聚焦主数据治理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</a:rPr>
              <a:t>响应企业数字化转型4A架构，主数据治理是DA（数据架构）的核心工程，受BA驱动、支撑AA集成、在TA平台落地。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不替代S/4HANA业务蓝图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</a:rPr>
              <a:t>本方案不替代业务蓝图、配置设计和法务审计判断，而是为其提供主数据层面的治理与迁移准备方案。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事实口径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</a:rPr>
              <a:t>数量数据来自SAP最新备份/QAS提取，非生产环境实时数据；将“已确认事实、专业判断、待决策事项”分开表述。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 dirty="0" err="1">
                <a:solidFill>
                  <a:srgbClr val="0E2841"/>
                </a:solidFill>
                <a:latin typeface="Microsoft YaHei"/>
              </a:rPr>
              <a:t>规划目标：六位一体·三统一·三可控</a:t>
            </a:r>
            <a:endParaRPr sz="2600" b="1" i="0" dirty="0">
              <a:solidFill>
                <a:srgbClr val="0E2841"/>
              </a:solidFill>
              <a:latin typeface="Microsoft YaHei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Microsoft YaHei"/>
              </a:rPr>
              <a:t>建立“组织—标准—流程—平台—质量—运营”六位一体的主数据治理体系，支撑S/4HANA平稳上线及后续稳定运行。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627120" cy="105156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627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783080"/>
            <a:ext cx="3407664" cy="46166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0E2841"/>
                </a:solidFill>
                <a:latin typeface="Microsoft YaHei"/>
              </a:rPr>
              <a:t>01 </a:t>
            </a:r>
            <a:r>
              <a:rPr sz="1400" b="1" i="0" dirty="0" err="1">
                <a:solidFill>
                  <a:srgbClr val="0E2841"/>
                </a:solidFill>
                <a:latin typeface="Microsoft YaHei"/>
              </a:rPr>
              <a:t>组织</a:t>
            </a:r>
            <a:endParaRPr sz="1400" b="1" i="0" dirty="0">
              <a:solidFill>
                <a:srgbClr val="0E2841"/>
              </a:solidFill>
              <a:latin typeface="Microsoft YaHe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 dirty="0" err="1">
                <a:solidFill>
                  <a:srgbClr val="333333"/>
                </a:solidFill>
                <a:latin typeface="Microsoft YaHei"/>
              </a:rPr>
              <a:t>治理委员会·DMO·Owner</a:t>
            </a:r>
            <a:endParaRPr sz="1100" b="0" i="0" dirty="0">
              <a:solidFill>
                <a:srgbClr val="333333"/>
              </a:solidFill>
              <a:latin typeface="Microsoft Ya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267200" y="1645920"/>
            <a:ext cx="3627120" cy="105156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67200" y="1645920"/>
            <a:ext cx="3627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6928" y="1783080"/>
            <a:ext cx="3407664" cy="46166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0E2841"/>
                </a:solidFill>
                <a:latin typeface="Microsoft YaHei"/>
              </a:rPr>
              <a:t>02 </a:t>
            </a:r>
            <a:r>
              <a:rPr sz="1400" b="1" i="0" dirty="0" err="1">
                <a:solidFill>
                  <a:srgbClr val="0E2841"/>
                </a:solidFill>
                <a:latin typeface="Microsoft YaHei"/>
              </a:rPr>
              <a:t>标准</a:t>
            </a:r>
            <a:endParaRPr sz="1400" b="1" i="0" dirty="0">
              <a:solidFill>
                <a:srgbClr val="0E2841"/>
              </a:solidFill>
              <a:latin typeface="Microsoft YaHe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 dirty="0" err="1">
                <a:solidFill>
                  <a:srgbClr val="333333"/>
                </a:solidFill>
                <a:latin typeface="Microsoft YaHei"/>
              </a:rPr>
              <a:t>编码·描述·分类</a:t>
            </a:r>
            <a:r>
              <a:rPr lang="en-US" altLang="zh-CN" sz="1100" dirty="0" err="1">
                <a:solidFill>
                  <a:srgbClr val="333333"/>
                </a:solidFill>
                <a:latin typeface="Microsoft YaHei"/>
              </a:rPr>
              <a:t>·</a:t>
            </a:r>
            <a:r>
              <a:rPr sz="1100" b="0" i="0" dirty="0" err="1">
                <a:solidFill>
                  <a:srgbClr val="333333"/>
                </a:solidFill>
                <a:latin typeface="Microsoft YaHei"/>
              </a:rPr>
              <a:t>映射</a:t>
            </a:r>
            <a:endParaRPr sz="1100" b="0" i="0" dirty="0">
              <a:solidFill>
                <a:srgbClr val="333333"/>
              </a:solidFill>
              <a:latin typeface="Microsoft YaHe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077200" y="1645920"/>
            <a:ext cx="3627120" cy="105156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77200" y="1645920"/>
            <a:ext cx="3627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6928" y="1783080"/>
            <a:ext cx="3407664" cy="46166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0E2841"/>
                </a:solidFill>
                <a:latin typeface="Microsoft YaHei"/>
              </a:rPr>
              <a:t>03 </a:t>
            </a:r>
            <a:r>
              <a:rPr sz="1400" b="1" i="0" dirty="0" err="1">
                <a:solidFill>
                  <a:srgbClr val="0E2841"/>
                </a:solidFill>
                <a:latin typeface="Microsoft YaHei"/>
              </a:rPr>
              <a:t>流程</a:t>
            </a:r>
            <a:endParaRPr sz="1400" b="1" i="0" dirty="0">
              <a:solidFill>
                <a:srgbClr val="0E2841"/>
              </a:solidFill>
              <a:latin typeface="Microsoft YaHe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 dirty="0" err="1">
                <a:solidFill>
                  <a:srgbClr val="333333"/>
                </a:solidFill>
                <a:latin typeface="Microsoft YaHei"/>
              </a:rPr>
              <a:t>全生命周期闭环</a:t>
            </a:r>
            <a:endParaRPr sz="1100" b="0" i="0" dirty="0">
              <a:solidFill>
                <a:srgbClr val="333333"/>
              </a:solidFill>
              <a:latin typeface="Microsoft YaHe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57200" y="2880360"/>
            <a:ext cx="3627120" cy="105156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880360"/>
            <a:ext cx="3627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3017520"/>
            <a:ext cx="3407664" cy="46166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0E2841"/>
                </a:solidFill>
                <a:latin typeface="Microsoft YaHei"/>
              </a:rPr>
              <a:t>04 </a:t>
            </a:r>
            <a:r>
              <a:rPr sz="1400" b="1" i="0" dirty="0" err="1">
                <a:solidFill>
                  <a:srgbClr val="0E2841"/>
                </a:solidFill>
                <a:latin typeface="Microsoft YaHei"/>
              </a:rPr>
              <a:t>平台</a:t>
            </a:r>
            <a:endParaRPr sz="1400" b="1" i="0" dirty="0">
              <a:solidFill>
                <a:srgbClr val="0E2841"/>
              </a:solidFill>
              <a:latin typeface="Microsoft YaHe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 dirty="0" err="1">
                <a:solidFill>
                  <a:srgbClr val="333333"/>
                </a:solidFill>
                <a:latin typeface="Microsoft YaHei"/>
              </a:rPr>
              <a:t>MDG统一中枢</a:t>
            </a:r>
            <a:endParaRPr sz="1100" b="0" i="0" dirty="0">
              <a:solidFill>
                <a:srgbClr val="333333"/>
              </a:solidFill>
              <a:latin typeface="Microsoft YaHe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267200" y="2880360"/>
            <a:ext cx="3627120" cy="105156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67200" y="2880360"/>
            <a:ext cx="3627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6928" y="3017520"/>
            <a:ext cx="3407664" cy="46166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0E2841"/>
                </a:solidFill>
                <a:latin typeface="Microsoft YaHei"/>
              </a:rPr>
              <a:t>05 </a:t>
            </a:r>
            <a:r>
              <a:rPr sz="1400" b="1" i="0" dirty="0" err="1">
                <a:solidFill>
                  <a:srgbClr val="0E2841"/>
                </a:solidFill>
                <a:latin typeface="Microsoft YaHei"/>
              </a:rPr>
              <a:t>质量</a:t>
            </a:r>
            <a:endParaRPr sz="1400" b="1" i="0" dirty="0">
              <a:solidFill>
                <a:srgbClr val="0E2841"/>
              </a:solidFill>
              <a:latin typeface="Microsoft YaHe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 dirty="0" err="1">
                <a:solidFill>
                  <a:srgbClr val="333333"/>
                </a:solidFill>
                <a:latin typeface="Microsoft YaHei"/>
              </a:rPr>
              <a:t>规则·监控·工单</a:t>
            </a:r>
            <a:endParaRPr sz="1100" b="0" i="0" dirty="0">
              <a:solidFill>
                <a:srgbClr val="333333"/>
              </a:solidFill>
              <a:latin typeface="Microsoft YaHe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077200" y="2880360"/>
            <a:ext cx="3627120" cy="105156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77200" y="2880360"/>
            <a:ext cx="3627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86928" y="3017520"/>
            <a:ext cx="3407664" cy="46166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i="0" dirty="0">
                <a:solidFill>
                  <a:srgbClr val="0E2841"/>
                </a:solidFill>
                <a:latin typeface="Microsoft YaHei"/>
              </a:rPr>
              <a:t>06 </a:t>
            </a:r>
            <a:r>
              <a:rPr sz="1400" b="1" i="0" dirty="0" err="1">
                <a:solidFill>
                  <a:srgbClr val="0E2841"/>
                </a:solidFill>
                <a:latin typeface="Microsoft YaHei"/>
              </a:rPr>
              <a:t>运营</a:t>
            </a:r>
            <a:endParaRPr sz="1400" b="1" i="0" dirty="0">
              <a:solidFill>
                <a:srgbClr val="0E2841"/>
              </a:solidFill>
              <a:latin typeface="Microsoft YaHei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 dirty="0" err="1">
                <a:solidFill>
                  <a:srgbClr val="333333"/>
                </a:solidFill>
                <a:latin typeface="Microsoft YaHei"/>
              </a:rPr>
              <a:t>例会·考核·持续</a:t>
            </a:r>
            <a:endParaRPr sz="1100" b="0" i="0" dirty="0">
              <a:solidFill>
                <a:srgbClr val="333333"/>
              </a:solidFill>
              <a:latin typeface="Microsoft YaHe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32120" cy="16459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54864" cy="16459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297680"/>
            <a:ext cx="5029200" cy="13716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56082"/>
                </a:solidFill>
                <a:latin typeface="Microsoft YaHei"/>
              </a:rPr>
              <a:t>三统一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统一标准 · 统一来源 · 统一分发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核心主数据在企业级层面实现统一标准制定、唯一权威来源和标准化分发机制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160520"/>
            <a:ext cx="5532120" cy="16459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72200" y="4160520"/>
            <a:ext cx="54864" cy="1645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4297680"/>
            <a:ext cx="5029200" cy="13716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E97132"/>
                </a:solidFill>
                <a:latin typeface="Microsoft YaHei"/>
              </a:rPr>
              <a:t>三可控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质量可控 · 变更可控 · 风险可控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建立质量监控闭环、变更审批留痕和风险预警机制，确保数据全生命周期可控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0E2841"/>
                </a:solidFill>
                <a:latin typeface="Microsoft YaHei"/>
              </a:rPr>
              <a:t>治理范围、优先级与紧迫性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Microsoft YaHei"/>
              </a:rPr>
              <a:t>按业务影响度和S/4HANA上线要求，主数据治理对象分为P0-P3四个优先级，分批分时推进。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822960" cy="384048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1828800"/>
            <a:ext cx="694944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优先级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1828800"/>
            <a:ext cx="3749039" cy="384048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53312" y="1828800"/>
            <a:ext cx="3621023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对象/问题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828800"/>
            <a:ext cx="1828800" cy="384048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02352" y="1828800"/>
            <a:ext cx="1700784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治理时点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822960" cy="384048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2212848"/>
            <a:ext cx="694944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P0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2212848"/>
            <a:ext cx="3749039" cy="384048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53312" y="2212848"/>
            <a:ext cx="3621023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目标组织与财务维度、BP/CVI规则、关键字段兼容、迁移映射缺失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212848"/>
            <a:ext cx="1828800" cy="384048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02352" y="2212848"/>
            <a:ext cx="1700784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蓝图冻结前关闭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96896"/>
            <a:ext cx="822960" cy="384048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2596896"/>
            <a:ext cx="694944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P1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" y="2596896"/>
            <a:ext cx="3749039" cy="384048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53312" y="2596896"/>
            <a:ext cx="3621023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重复物料、BOM版本与生效、工艺关键参数、客商唯一性和状态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2596896"/>
            <a:ext cx="1828800" cy="384048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02352" y="2596896"/>
            <a:ext cx="1700784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集成测试前关闭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80944"/>
            <a:ext cx="822960" cy="384048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" y="2980944"/>
            <a:ext cx="694944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P2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80160" y="2980944"/>
            <a:ext cx="3749039" cy="384048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353312" y="2980944"/>
            <a:ext cx="3621023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描述标准化、非关键字段补全、供应商画像、客户信用、分析属性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2980944"/>
            <a:ext cx="1828800" cy="384048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02352" y="2980944"/>
            <a:ext cx="1700784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上线前达到阈值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364991"/>
            <a:ext cx="822960" cy="384048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0352" y="3364991"/>
            <a:ext cx="694944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P3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80160" y="3364991"/>
            <a:ext cx="3749039" cy="384048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53312" y="3364991"/>
            <a:ext cx="3621023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深度画像、自动归档、智能排程、AI应用数据准备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3364991"/>
            <a:ext cx="1828800" cy="384048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102352" y="3364991"/>
            <a:ext cx="1700784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上线后持续治理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0" y="1828800"/>
            <a:ext cx="4572000" cy="4206240"/>
          </a:xfrm>
          <a:prstGeom prst="round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60920" y="2011680"/>
            <a:ext cx="4114800" cy="298543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 i="0" dirty="0" err="1">
                <a:solidFill>
                  <a:srgbClr val="E97132"/>
                </a:solidFill>
                <a:latin typeface="Microsoft YaHei"/>
              </a:rPr>
              <a:t>治理紧迫性</a:t>
            </a:r>
            <a:endParaRPr sz="1500" b="1" i="0" dirty="0">
              <a:solidFill>
                <a:srgbClr val="E97132"/>
              </a:solidFill>
              <a:latin typeface="Microsoft YaHei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 i="0" dirty="0" err="1">
                <a:solidFill>
                  <a:srgbClr val="FFFFFF"/>
                </a:solidFill>
                <a:latin typeface="Microsoft YaHei"/>
              </a:rPr>
              <a:t>三重倒逼，让治理不能再等</a:t>
            </a:r>
            <a:endParaRPr sz="1300" b="1" i="0" dirty="0">
              <a:solidFill>
                <a:srgbClr val="FFFFFF"/>
              </a:solidFill>
              <a:latin typeface="Microsoft YaHei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1" i="0" dirty="0">
                <a:solidFill>
                  <a:srgbClr val="E97132"/>
                </a:solidFill>
                <a:latin typeface="Microsoft YaHei"/>
              </a:rPr>
              <a:t>▪  </a:t>
            </a:r>
            <a:r>
              <a:rPr sz="1100" b="1" i="0" dirty="0" err="1">
                <a:solidFill>
                  <a:schemeClr val="bg1"/>
                </a:solidFill>
                <a:latin typeface="Microsoft YaHei"/>
              </a:rPr>
              <a:t>历史数据必须迁移前清洗</a:t>
            </a:r>
            <a:r>
              <a:rPr sz="1100" b="1" i="0" dirty="0">
                <a:solidFill>
                  <a:schemeClr val="bg1"/>
                </a:solidFill>
                <a:latin typeface="Microsoft YaHei"/>
              </a:rPr>
              <a:t>——</a:t>
            </a:r>
            <a:r>
              <a:rPr sz="1100" b="1" i="0" dirty="0" err="1">
                <a:solidFill>
                  <a:schemeClr val="bg1"/>
                </a:solidFill>
                <a:latin typeface="Microsoft YaHei"/>
              </a:rPr>
              <a:t>全新实施只迁清洗后数据</a:t>
            </a:r>
            <a:endParaRPr sz="1100" b="1" i="0" dirty="0">
              <a:solidFill>
                <a:schemeClr val="bg1"/>
              </a:solidFill>
              <a:latin typeface="Microsoft YaHei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1" i="0" dirty="0">
                <a:solidFill>
                  <a:schemeClr val="bg1"/>
                </a:solidFill>
                <a:latin typeface="Microsoft YaHei"/>
              </a:rPr>
              <a:t>▪  S/4HANA架构倒逼设计提前——BP/</a:t>
            </a:r>
            <a:r>
              <a:rPr sz="1100" b="1" i="0" dirty="0" err="1">
                <a:solidFill>
                  <a:schemeClr val="bg1"/>
                </a:solidFill>
                <a:latin typeface="Microsoft YaHei"/>
              </a:rPr>
              <a:t>CVI、New</a:t>
            </a:r>
            <a:r>
              <a:rPr sz="1100" b="1" i="0" dirty="0">
                <a:solidFill>
                  <a:schemeClr val="bg1"/>
                </a:solidFill>
                <a:latin typeface="Microsoft YaHei"/>
              </a:rPr>
              <a:t> G/</a:t>
            </a:r>
            <a:r>
              <a:rPr sz="1100" b="1" i="0" dirty="0" err="1">
                <a:solidFill>
                  <a:schemeClr val="bg1"/>
                </a:solidFill>
                <a:latin typeface="Microsoft YaHei"/>
              </a:rPr>
              <a:t>L、利润中心强制要求</a:t>
            </a:r>
            <a:endParaRPr sz="1100" b="1" i="0" dirty="0">
              <a:solidFill>
                <a:schemeClr val="bg1"/>
              </a:solidFill>
              <a:latin typeface="Microsoft YaHei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1" i="0" dirty="0">
                <a:solidFill>
                  <a:schemeClr val="bg1"/>
                </a:solidFill>
                <a:latin typeface="Microsoft YaHei"/>
              </a:rPr>
              <a:t>▪  </a:t>
            </a:r>
            <a:r>
              <a:rPr sz="1100" b="1" i="0" dirty="0" err="1">
                <a:solidFill>
                  <a:schemeClr val="bg1"/>
                </a:solidFill>
                <a:latin typeface="Microsoft YaHei"/>
              </a:rPr>
              <a:t>当前数据质量撑不起核心业务</a:t>
            </a:r>
            <a:r>
              <a:rPr sz="1100" b="1" i="0" dirty="0">
                <a:solidFill>
                  <a:schemeClr val="bg1"/>
                </a:solidFill>
                <a:latin typeface="Microsoft YaHei"/>
              </a:rPr>
              <a:t>——</a:t>
            </a:r>
            <a:r>
              <a:rPr sz="1100" b="1" i="0" dirty="0" err="1">
                <a:solidFill>
                  <a:schemeClr val="bg1"/>
                </a:solidFill>
                <a:latin typeface="Microsoft YaHei"/>
              </a:rPr>
              <a:t>MRP无法稳定运行、ATP交期算不准</a:t>
            </a:r>
            <a:endParaRPr sz="1100" b="1" i="0" dirty="0">
              <a:solidFill>
                <a:schemeClr val="bg1"/>
              </a:solidFill>
              <a:latin typeface="Microsoft YaHei"/>
            </a:endParaRPr>
          </a:p>
          <a:p>
            <a:pPr>
              <a:spcBef>
                <a:spcPts val="0"/>
              </a:spcBef>
              <a:spcAft>
                <a:spcPts val="400"/>
              </a:spcAft>
            </a:pPr>
            <a:endParaRPr sz="1100" b="1" i="0" dirty="0">
              <a:solidFill>
                <a:srgbClr val="0E2841"/>
              </a:solidFill>
              <a:latin typeface="Microsoft YaHei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 i="0" dirty="0" err="1">
                <a:solidFill>
                  <a:srgbClr val="E97132"/>
                </a:solidFill>
                <a:latin typeface="Microsoft YaHei"/>
              </a:rPr>
              <a:t>核心对象数据规模</a:t>
            </a:r>
            <a:endParaRPr sz="1200" b="1" i="0" dirty="0">
              <a:solidFill>
                <a:srgbClr val="E97132"/>
              </a:solidFill>
              <a:latin typeface="Microsoft YaHei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 i="0" dirty="0" err="1">
                <a:solidFill>
                  <a:srgbClr val="B0C4D8"/>
                </a:solidFill>
                <a:latin typeface="Microsoft YaHei"/>
              </a:rPr>
              <a:t>物料</a:t>
            </a:r>
            <a:r>
              <a:rPr sz="1100" b="0" i="0" dirty="0">
                <a:solidFill>
                  <a:srgbClr val="B0C4D8"/>
                </a:solidFill>
                <a:latin typeface="Microsoft YaHei"/>
              </a:rPr>
              <a:t> 879,558条 | </a:t>
            </a:r>
            <a:r>
              <a:rPr sz="1100" b="0" i="0" dirty="0" err="1">
                <a:solidFill>
                  <a:srgbClr val="B0C4D8"/>
                </a:solidFill>
                <a:latin typeface="Microsoft YaHei"/>
              </a:rPr>
              <a:t>BOM表头</a:t>
            </a:r>
            <a:r>
              <a:rPr sz="1100" b="0" i="0" dirty="0">
                <a:solidFill>
                  <a:srgbClr val="B0C4D8"/>
                </a:solidFill>
                <a:latin typeface="Microsoft YaHei"/>
              </a:rPr>
              <a:t> 612,026条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 i="0" dirty="0" err="1">
                <a:solidFill>
                  <a:srgbClr val="B0C4D8"/>
                </a:solidFill>
                <a:latin typeface="Microsoft YaHei"/>
              </a:rPr>
              <a:t>客户</a:t>
            </a:r>
            <a:r>
              <a:rPr sz="1100" b="0" i="0" dirty="0">
                <a:solidFill>
                  <a:srgbClr val="B0C4D8"/>
                </a:solidFill>
                <a:latin typeface="Microsoft YaHei"/>
              </a:rPr>
              <a:t> 23,981条 | </a:t>
            </a:r>
            <a:r>
              <a:rPr sz="1100" b="0" i="0" dirty="0" err="1">
                <a:solidFill>
                  <a:srgbClr val="B0C4D8"/>
                </a:solidFill>
                <a:latin typeface="Microsoft YaHei"/>
              </a:rPr>
              <a:t>供应商</a:t>
            </a:r>
            <a:r>
              <a:rPr sz="1100" b="0" i="0" dirty="0">
                <a:solidFill>
                  <a:srgbClr val="B0C4D8"/>
                </a:solidFill>
                <a:latin typeface="Microsoft YaHei"/>
              </a:rPr>
              <a:t> 10,039条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 i="0" dirty="0" err="1">
                <a:solidFill>
                  <a:srgbClr val="B0C4D8"/>
                </a:solidFill>
                <a:latin typeface="Microsoft YaHei"/>
              </a:rPr>
              <a:t>GL科目</a:t>
            </a:r>
            <a:r>
              <a:rPr sz="1100" b="0" i="0" dirty="0">
                <a:solidFill>
                  <a:srgbClr val="B0C4D8"/>
                </a:solidFill>
                <a:latin typeface="Microsoft YaHei"/>
              </a:rPr>
              <a:t> 17,741条 | </a:t>
            </a:r>
            <a:r>
              <a:rPr sz="1100" b="0" i="0" dirty="0" err="1">
                <a:solidFill>
                  <a:srgbClr val="B0C4D8"/>
                </a:solidFill>
                <a:latin typeface="Microsoft YaHei"/>
              </a:rPr>
              <a:t>成本中心</a:t>
            </a:r>
            <a:r>
              <a:rPr sz="1100" b="0" i="0" dirty="0">
                <a:solidFill>
                  <a:srgbClr val="B0C4D8"/>
                </a:solidFill>
                <a:latin typeface="Microsoft YaHei"/>
              </a:rPr>
              <a:t> 2,872条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2E9D1-D365-A60B-3CDD-B18D93031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BB395E-3A94-53F4-41CE-287EF8ECFA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1247136" cy="1477328"/>
          </a:xfrm>
        </p:spPr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2694D9-9DDF-0513-920A-ADB4C3D43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现状诊断与核心痛点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A010B33-7F64-679D-3B3D-9A67BE179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822EC1D-33B7-F294-1498-6F3098F3FAD2}"/>
              </a:ext>
            </a:extLst>
          </p:cNvPr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1844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 dirty="0" err="1">
                <a:solidFill>
                  <a:srgbClr val="0E2841"/>
                </a:solidFill>
                <a:latin typeface="Microsoft YaHei"/>
              </a:rPr>
              <a:t>全局诊断与关键结论</a:t>
            </a:r>
            <a:endParaRPr sz="2600" b="1" i="0" dirty="0">
              <a:solidFill>
                <a:srgbClr val="0E2841"/>
              </a:solidFill>
              <a:latin typeface="Microsoft YaHei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Microsoft YaHei"/>
              </a:rPr>
              <a:t>佛山照明主数据治理处于L2向L3过渡阶段，核心挑战在于缺乏企业级权威源、统一标准和数据Owner机制。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509260" cy="208026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50926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783080"/>
            <a:ext cx="5289804" cy="18516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2841"/>
                </a:solidFill>
                <a:latin typeface="Microsoft YaHei"/>
              </a:rPr>
              <a:t>总体成熟度与风险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DCMM L2→L3过渡阶段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企业级权威源、统一标准、Owner/Steward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和质量闭环尚未建立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物料/BOM/客商/财务问题制约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计划、采购、生产、成本及迁移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645920"/>
            <a:ext cx="5509260" cy="208026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5060" y="1645920"/>
            <a:ext cx="550926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4788" y="1783080"/>
            <a:ext cx="5289804" cy="18516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2841"/>
                </a:solidFill>
                <a:latin typeface="Microsoft YaHei"/>
              </a:rPr>
              <a:t>上线门槛与优先行动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P0: 组织/财务/BP在蓝图前关闭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P1: 重复物料/BOM版本在测试前关闭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P2: 描述标准化/字段补全上线前达标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P3: 深度画像/AI应用上线后持续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54780"/>
            <a:ext cx="5509260" cy="208026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3954780"/>
            <a:ext cx="550926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4091940"/>
            <a:ext cx="5289804" cy="18516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2841"/>
                </a:solidFill>
                <a:latin typeface="Microsoft YaHei"/>
              </a:rPr>
              <a:t>数据规模与清洗量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物料 879,558条(停用54%)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BOM表头 612,026条 / 明细 4,358,018条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客户 23,981条 / 供应商 10,039条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GL科目 17,741条 / 成本中心 2,872条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5060" y="3954780"/>
            <a:ext cx="5509260" cy="208026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5060" y="3954780"/>
            <a:ext cx="550926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4788" y="4091940"/>
            <a:ext cx="5289804" cy="18516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2841"/>
                </a:solidFill>
                <a:latin typeface="Microsoft YaHei"/>
              </a:rPr>
              <a:t>核心结论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系统建设速度快于治理能力建设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S/4HANA全新实施是治理窗口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必须同步建立长期机制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否则新系统仍会重复产生同类问题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0E2841"/>
                </a:solidFill>
                <a:latin typeface="Microsoft YaHei"/>
              </a:rPr>
              <a:t>物料主数据：一物多码·视图缺失·生命周期无闭环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Microsoft YaHei"/>
              </a:rPr>
              <a:t>物料主数据连接研发、采购、制造、财务，当前面临编码冗余、属性颗粒度不足、视图完整性差和生命周期管理缺失四大挑战。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532120" cy="1463039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783080"/>
            <a:ext cx="5312664" cy="123443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编码冗余与一物多码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近88万条中约47.9万条停用(54%)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各系统使用各自编码规则导致多码共存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掩盖真实库存，采购无法集采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532120" cy="1463039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81928" y="1783080"/>
            <a:ext cx="5312664" cy="123443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属性管理与视图完整性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电子件同一编码对应多品牌多价格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计划参数、采购组、利润中心等缺失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影响MRP运算、成本核算、生产计划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91839"/>
            <a:ext cx="5532120" cy="1463039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3291839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3428999"/>
            <a:ext cx="5312664" cy="123443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编码规则碎片化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2019/2020/2022多版规则并存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半成品12位、成品17位、包装物12位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编码嵌入品牌、色温、灯头等易变属性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291839"/>
            <a:ext cx="5532120" cy="1463039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3291839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81928" y="3428999"/>
            <a:ext cx="5312664" cy="123443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生命周期管理缺失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创建—启用—变更—冻结—归档无闭环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失效物料未及时通知下游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老料号老价格重新回流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983480"/>
            <a:ext cx="2708910" cy="109728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4983480"/>
            <a:ext cx="270891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5093208"/>
            <a:ext cx="252603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E2841"/>
                </a:solidFill>
                <a:latin typeface="Microsoft YaHei"/>
              </a:rPr>
              <a:t>879,558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56082"/>
                </a:solidFill>
                <a:latin typeface="Microsoft YaHei"/>
              </a:rPr>
              <a:t>物料总量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Microsoft YaHei"/>
              </a:rPr>
              <a:t>全口径成品+半成品+原材料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03270" y="4983480"/>
            <a:ext cx="2708910" cy="1097280"/>
          </a:xfrm>
          <a:prstGeom prst="round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94710" y="5093208"/>
            <a:ext cx="252603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</a:rPr>
              <a:t>54%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0C4D8"/>
                </a:solidFill>
                <a:latin typeface="Microsoft YaHei"/>
              </a:rPr>
              <a:t>停用率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D0D8E0"/>
                </a:solidFill>
                <a:latin typeface="Microsoft YaHei"/>
              </a:rPr>
              <a:t>47.9万条历史包袱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9340" y="4983480"/>
            <a:ext cx="2708910" cy="109728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49340" y="4983480"/>
            <a:ext cx="270891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40780" y="5093208"/>
            <a:ext cx="252603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E2841"/>
                </a:solidFill>
                <a:latin typeface="Microsoft YaHei"/>
              </a:rPr>
              <a:t>79%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56082"/>
                </a:solidFill>
                <a:latin typeface="Microsoft YaHei"/>
              </a:rPr>
              <a:t>FZ01+FZ13占比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Microsoft YaHei"/>
              </a:rPr>
              <a:t>清洗主战场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95410" y="4983480"/>
            <a:ext cx="2708910" cy="109728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995410" y="4983480"/>
            <a:ext cx="270891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86850" y="5093208"/>
            <a:ext cx="252603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E2841"/>
                </a:solidFill>
                <a:latin typeface="Microsoft YaHei"/>
              </a:rPr>
              <a:t>&lt;70%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56082"/>
                </a:solidFill>
                <a:latin typeface="Microsoft YaHei"/>
              </a:rPr>
              <a:t>跨系统统一率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Microsoft YaHei"/>
              </a:rPr>
              <a:t>多编码多入口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0E2841"/>
                </a:solidFill>
                <a:latin typeface="Microsoft YaHei"/>
              </a:rPr>
              <a:t>BOM与工艺路线：研产协同的数据断桥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Microsoft YaHei"/>
              </a:rPr>
              <a:t>EBOM-PBOM-MBOM缺乏统一映射标准，版本管理与ECN流程不规范，PLM与ERP之间存在严重断桥。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532120" cy="137160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783080"/>
            <a:ext cx="5312664" cy="1143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BOM映射断裂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EBOM-PBOM-MBOM缺统一映射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设计变更无法及时到生产端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导致频繁停线待料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532120" cy="137160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81928" y="1783080"/>
            <a:ext cx="5312664" cy="1143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版本管控缺失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61万条BOM表头大量缺少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生效日期和变更号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新旧结构混淆，图纸与BOM不匹配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00400"/>
            <a:ext cx="5532120" cy="137160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3337560"/>
            <a:ext cx="5312664" cy="1143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工艺路线缺位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PLM主要管物料与EBOM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工艺路线/工作中心/标准工时未闭环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ERP粗粒度仅为财务归集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200400"/>
            <a:ext cx="5532120" cy="137160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320040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81928" y="3337560"/>
            <a:ext cx="5312664" cy="1143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跨系统无同步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PLM改BOM需人工SAP二次维护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OA单线审批未绑定自动同步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无定期核对与异常预警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800600"/>
            <a:ext cx="2708910" cy="109728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4800600"/>
            <a:ext cx="270891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910328"/>
            <a:ext cx="252603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E2841"/>
                </a:solidFill>
                <a:latin typeface="Microsoft YaHei"/>
              </a:rPr>
              <a:t>612,026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56082"/>
                </a:solidFill>
                <a:latin typeface="Microsoft YaHei"/>
              </a:rPr>
              <a:t>BOM表头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Microsoft YaHei"/>
              </a:rPr>
              <a:t>停用表头约3.5万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03270" y="4800600"/>
            <a:ext cx="2708910" cy="1097280"/>
          </a:xfrm>
          <a:prstGeom prst="round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94710" y="4910328"/>
            <a:ext cx="252603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</a:rPr>
              <a:t>4,358,018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0C4D8"/>
                </a:solidFill>
                <a:latin typeface="Microsoft YaHei"/>
              </a:rPr>
              <a:t>BOM明细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D0D8E0"/>
                </a:solidFill>
                <a:latin typeface="Microsoft YaHei"/>
              </a:rPr>
              <a:t>体量极大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9340" y="4800600"/>
            <a:ext cx="2708910" cy="109728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49340" y="4800600"/>
            <a:ext cx="270891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40780" y="4910328"/>
            <a:ext cx="252603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E2841"/>
                </a:solidFill>
                <a:latin typeface="Microsoft YaHei"/>
              </a:rPr>
              <a:t>缺失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56082"/>
                </a:solidFill>
                <a:latin typeface="Microsoft YaHei"/>
              </a:rPr>
              <a:t>版本/生效/变更号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Microsoft YaHei"/>
              </a:rPr>
              <a:t>相当部分缺少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95410" y="4800600"/>
            <a:ext cx="2708910" cy="109728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995410" y="4800600"/>
            <a:ext cx="270891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86850" y="4910328"/>
            <a:ext cx="252603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E2841"/>
                </a:solidFill>
                <a:latin typeface="Microsoft YaHei"/>
              </a:rPr>
              <a:t>P1级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56082"/>
                </a:solidFill>
                <a:latin typeface="Microsoft YaHei"/>
              </a:rPr>
              <a:t>上线前必须解决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Microsoft YaHei"/>
              </a:rPr>
              <a:t>集成测试前关闭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0E2841"/>
                </a:solidFill>
                <a:latin typeface="Microsoft YaHei"/>
              </a:rPr>
              <a:t>客商主数据：多入口·多编码·信用失控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Microsoft YaHei"/>
              </a:rPr>
              <a:t>客户在SAP/CRM/电商各有独立编码，供应商在SAP/SRM双入口维护，跨系统重复突出且信用管理缺失。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627120" cy="4389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627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783080"/>
            <a:ext cx="3407664" cy="4160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客户主数据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SAP/CRM/电商多入口维护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同一经销商跨系统2-3个编码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2.4万条记录跨系统重复突出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订单处理需人工匹配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信用控制与定价条件不完整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7200" y="1645920"/>
            <a:ext cx="3627120" cy="4389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67200" y="1645920"/>
            <a:ext cx="3627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6928" y="1783080"/>
            <a:ext cx="3407664" cy="4160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供应商主数据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SAP与SRM双入口维护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银行信息/税号等合规字段缺失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1万条记录状态管理不一致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货源清单/采购信息记录不规范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多编码削弱集团议价能力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7200" y="1645920"/>
            <a:ext cx="3627120" cy="4389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77200" y="1645920"/>
            <a:ext cx="3627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6928" y="1783080"/>
            <a:ext cx="3407664" cy="4160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BP转换需求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ECC客户/供应商需向S/4HANA BP转换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需建立旧码-BP-角色-分组映射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处理同一主体多角色统一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满足CVI强制要求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信用管理需启用自动拦截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0E2841"/>
                </a:solidFill>
                <a:latin typeface="Microsoft YaHei"/>
              </a:rPr>
              <a:t>财务与组织主数据：利润中心缺失·科目映射断裂·合并靠手工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Microsoft YaHei"/>
              </a:rPr>
              <a:t>利润中心仅定义2个未启用，跨法人科目映射缺失，合并报表依赖大量手工调整，结账周期长达15个工作日。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532120" cy="2103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783080"/>
            <a:ext cx="5312664" cy="18745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利润中心全局缺失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全集团仅定义2个且未启用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仅1.2%成本中心关联利润中心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无法支撑事业部级盈利分析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532120" cy="2103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81928" y="1783080"/>
            <a:ext cx="5312664" cy="18745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科目映射断裂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SAP与财务共享科目颗粒度不一致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缺映射表，凭证回传需人工对照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延长结账周期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5532120" cy="2103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4069080"/>
            <a:ext cx="5312664" cy="18745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跨法人合并靠手工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内部交易伙伴字段多数未维护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合并时内部往来无法自动抵销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大量线下Excel调整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931920"/>
            <a:ext cx="5532120" cy="2103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393192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81928" y="4069080"/>
            <a:ext cx="5312664" cy="18745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组织主数据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19家法人分散创建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废弃节点DS01/DS13/LW01-LW12残留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销售/采购组织映射差异需核实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FZ40泰国海外实体需专项处理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AutoShape 16">
            <a:extLst>
              <a:ext uri="{FF2B5EF4-FFF2-40B4-BE49-F238E27FC236}">
                <a16:creationId xmlns:a16="http://schemas.microsoft.com/office/drawing/2014/main" id="{D2F1D81B-F6AE-50FD-8159-6AEBC71E43C0}"/>
              </a:ext>
            </a:extLst>
          </p:cNvPr>
          <p:cNvSpPr/>
          <p:nvPr/>
        </p:nvSpPr>
        <p:spPr>
          <a:xfrm>
            <a:off x="6096000" y="1560076"/>
            <a:ext cx="5702571" cy="4246364"/>
          </a:xfrm>
          <a:prstGeom prst="rect">
            <a:avLst/>
          </a:prstGeom>
          <a:solidFill>
            <a:srgbClr val="EDF0F3">
              <a:alpha val="100000"/>
            </a:srgbClr>
          </a:solidFill>
          <a:ln w="9525">
            <a:solidFill>
              <a:srgbClr val="D0D5DC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3" name="AutoShape 17">
            <a:extLst>
              <a:ext uri="{FF2B5EF4-FFF2-40B4-BE49-F238E27FC236}">
                <a16:creationId xmlns:a16="http://schemas.microsoft.com/office/drawing/2014/main" id="{2C63CAE6-880D-66D5-8EB3-DD849E3F784F}"/>
              </a:ext>
            </a:extLst>
          </p:cNvPr>
          <p:cNvSpPr/>
          <p:nvPr/>
        </p:nvSpPr>
        <p:spPr>
          <a:xfrm>
            <a:off x="6148081" y="1560076"/>
            <a:ext cx="5659200" cy="9525"/>
          </a:xfrm>
          <a:prstGeom prst="line">
            <a:avLst/>
          </a:prstGeom>
          <a:ln w="28575">
            <a:solidFill>
              <a:srgbClr val="4A7FD7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5" name="TextBox 18">
            <a:extLst>
              <a:ext uri="{FF2B5EF4-FFF2-40B4-BE49-F238E27FC236}">
                <a16:creationId xmlns:a16="http://schemas.microsoft.com/office/drawing/2014/main" id="{3C99E785-78D1-D737-BF23-FE15AD4A3344}"/>
              </a:ext>
            </a:extLst>
          </p:cNvPr>
          <p:cNvSpPr txBox="1"/>
          <p:nvPr/>
        </p:nvSpPr>
        <p:spPr>
          <a:xfrm>
            <a:off x="6523413" y="1779151"/>
            <a:ext cx="4170163" cy="2857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500" b="1" i="0" strike="noStrike">
                <a:ln/>
                <a:solidFill>
                  <a:srgbClr val="1A1C20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各类主数据六维质量评分对比</a:t>
            </a:r>
            <a:endParaRPr lang="en-US" sz="1100"/>
          </a:p>
        </p:txBody>
      </p:sp>
      <p:pic>
        <p:nvPicPr>
          <p:cNvPr id="87" name="Picture 19">
            <a:extLst>
              <a:ext uri="{FF2B5EF4-FFF2-40B4-BE49-F238E27FC236}">
                <a16:creationId xmlns:a16="http://schemas.microsoft.com/office/drawing/2014/main" id="{FD6FF6B7-BA74-B2BB-7415-13D9EFBE3CF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6844144" y="2160151"/>
            <a:ext cx="4716361" cy="2514981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89" name="TextBox 20">
            <a:extLst>
              <a:ext uri="{FF2B5EF4-FFF2-40B4-BE49-F238E27FC236}">
                <a16:creationId xmlns:a16="http://schemas.microsoft.com/office/drawing/2014/main" id="{CCF0A057-1CE3-658C-E772-7596F1BA964E}"/>
              </a:ext>
            </a:extLst>
          </p:cNvPr>
          <p:cNvSpPr txBox="1"/>
          <p:nvPr/>
        </p:nvSpPr>
        <p:spPr>
          <a:xfrm>
            <a:off x="6228800" y="5322101"/>
            <a:ext cx="5436969" cy="2000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ctr" anchorCtr="1"/>
          <a:lstStyle/>
          <a:p>
            <a:pPr algn="ctr">
              <a:defRPr/>
            </a:pPr>
            <a:r>
              <a:rPr lang="en-US" sz="1000" b="0" i="0" strike="noStrike" dirty="0" err="1">
                <a:ln/>
                <a:solidFill>
                  <a:srgbClr val="1A1C20">
                    <a:alpha val="54901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物料和BOM在一致性、时效性维度得分最低，财务主数据整体较好但完整性仍有短板</a:t>
            </a:r>
            <a:endParaRPr lang="en-US" sz="11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0E2841"/>
                </a:solidFill>
                <a:latin typeface="Microsoft YaHei"/>
              </a:rPr>
              <a:t>主数据质量量化评分：六维评估框架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Microsoft YaHei"/>
              </a:rPr>
              <a:t>物料、BOM和工艺路线质量最差(50-55分)，已成为制约计划、采购、生产和成本核算的核心瓶颈。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254968" cy="4206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1949344"/>
            <a:ext cx="1167120" cy="1795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主数据对象</a:t>
            </a:r>
          </a:p>
        </p:txBody>
      </p:sp>
      <p:sp>
        <p:nvSpPr>
          <p:cNvPr id="7" name="Rectangle 6"/>
          <p:cNvSpPr/>
          <p:nvPr/>
        </p:nvSpPr>
        <p:spPr>
          <a:xfrm>
            <a:off x="1713352" y="1828800"/>
            <a:ext cx="941226" cy="4206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86504" y="1949344"/>
            <a:ext cx="853378" cy="1795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综合评分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2669313" y="1828800"/>
            <a:ext cx="941226" cy="4206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2465" y="1949344"/>
            <a:ext cx="853378" cy="1795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质量等级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25280" y="1828800"/>
            <a:ext cx="2357281" cy="4206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98432" y="1949344"/>
            <a:ext cx="2295968" cy="1795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核心扣分项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49424"/>
            <a:ext cx="1254968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" y="2369968"/>
            <a:ext cx="1167120" cy="1795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物料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13352" y="2249424"/>
            <a:ext cx="941226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786504" y="2369968"/>
            <a:ext cx="853378" cy="1795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55分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69313" y="2249424"/>
            <a:ext cx="941226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2465" y="2369968"/>
            <a:ext cx="853378" cy="1795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较差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25280" y="2249424"/>
            <a:ext cx="2340862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98432" y="2369968"/>
            <a:ext cx="2295968" cy="1795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 dirty="0">
                <a:solidFill>
                  <a:srgbClr val="333333"/>
                </a:solidFill>
                <a:latin typeface="Microsoft YaHei"/>
              </a:rPr>
              <a:t>一物多码·视图缺失·历史停用54%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670048"/>
            <a:ext cx="1254968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" y="2790592"/>
            <a:ext cx="1167120" cy="1795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BOM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13352" y="2670048"/>
            <a:ext cx="941226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786504" y="2790592"/>
            <a:ext cx="853378" cy="1795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50分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69313" y="2670048"/>
            <a:ext cx="941226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2465" y="2790592"/>
            <a:ext cx="853378" cy="1795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较差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25280" y="2670048"/>
            <a:ext cx="2340862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98432" y="2790592"/>
            <a:ext cx="2295968" cy="1795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EBOM-MBOM断裂·版本/变更号缺失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090672"/>
            <a:ext cx="1254968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0352" y="3211216"/>
            <a:ext cx="1167120" cy="1795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工艺路线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13352" y="3090672"/>
            <a:ext cx="941226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786504" y="3211216"/>
            <a:ext cx="853378" cy="1795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 dirty="0">
                <a:solidFill>
                  <a:srgbClr val="333333"/>
                </a:solidFill>
                <a:latin typeface="Microsoft YaHei"/>
              </a:rPr>
              <a:t>50分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69313" y="3090672"/>
            <a:ext cx="941226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42465" y="3211216"/>
            <a:ext cx="853378" cy="1795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较差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25280" y="3090672"/>
            <a:ext cx="2357281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98432" y="3211216"/>
            <a:ext cx="2295968" cy="1795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标准工时失真·工作中心未对齐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511296"/>
            <a:ext cx="1254968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0352" y="3631840"/>
            <a:ext cx="1167120" cy="1795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客户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713352" y="3511296"/>
            <a:ext cx="941226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786504" y="3631840"/>
            <a:ext cx="853378" cy="1795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65分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69313" y="3511296"/>
            <a:ext cx="941226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42465" y="3631840"/>
            <a:ext cx="853378" cy="1795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一般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25280" y="3511296"/>
            <a:ext cx="2340862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98432" y="3631840"/>
            <a:ext cx="2079207" cy="1795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多入口维护·信用管理缺失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931920"/>
            <a:ext cx="1254968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0352" y="4052464"/>
            <a:ext cx="1167120" cy="1795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供应商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713352" y="3931920"/>
            <a:ext cx="941226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786504" y="4052464"/>
            <a:ext cx="853378" cy="1795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65分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69313" y="3931920"/>
            <a:ext cx="941226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742465" y="4052464"/>
            <a:ext cx="853378" cy="1795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一般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25280" y="3931920"/>
            <a:ext cx="2340862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698432" y="4052464"/>
            <a:ext cx="2295968" cy="1795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SAP/SRM不同步·合规字段缺失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352544"/>
            <a:ext cx="1254968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30352" y="4473088"/>
            <a:ext cx="1167120" cy="1795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财务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713352" y="4352544"/>
            <a:ext cx="941226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786504" y="4473088"/>
            <a:ext cx="853378" cy="1795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75分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69313" y="4352544"/>
            <a:ext cx="941226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742465" y="4473088"/>
            <a:ext cx="853378" cy="1795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中等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25280" y="4352544"/>
            <a:ext cx="2340862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698432" y="4473088"/>
            <a:ext cx="2295968" cy="1795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利润中心缺失·科目映射断裂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773168"/>
            <a:ext cx="1254968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30352" y="4893712"/>
            <a:ext cx="1167120" cy="1795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组织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713352" y="4773168"/>
            <a:ext cx="941226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786504" y="4893712"/>
            <a:ext cx="853378" cy="1795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75分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669313" y="4773168"/>
            <a:ext cx="941226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742465" y="4893712"/>
            <a:ext cx="853378" cy="1795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中等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25280" y="4773168"/>
            <a:ext cx="2340862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698432" y="4893712"/>
            <a:ext cx="2295968" cy="1795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废弃节点残留·映射不清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5285231"/>
            <a:ext cx="5508942" cy="1641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1" dirty="0">
                <a:solidFill>
                  <a:srgbClr val="333333"/>
                </a:solidFill>
                <a:latin typeface="Microsoft YaHei"/>
              </a:rPr>
              <a:t>评分方法：定量数据测算70% + 定性专家研判30% + </a:t>
            </a:r>
            <a:r>
              <a:rPr sz="900" b="0" i="1" dirty="0" err="1">
                <a:solidFill>
                  <a:srgbClr val="333333"/>
                </a:solidFill>
                <a:latin typeface="Microsoft YaHei"/>
              </a:rPr>
              <a:t>业务影响加权</a:t>
            </a:r>
            <a:endParaRPr sz="900" b="0" i="1" dirty="0">
              <a:solidFill>
                <a:srgbClr val="333333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0E2841"/>
                </a:solidFill>
                <a:latin typeface="Microsoft YaHei"/>
              </a:rPr>
              <a:t>问题根因分析：管理与技术的双重困境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Microsoft YaHei"/>
              </a:rPr>
              <a:t>佛山照明主数据问题的根因并非单一技术限制，而是管理制度缺失、流程标准脱节、系统架构老化和历史数据包袱四重因素交织。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532120" cy="2103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783080"/>
            <a:ext cx="5312664" cy="18745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管理制度与组织保障缺失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缺乏全局性顶层规划与归口审核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数据Owner责任边界模糊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“谁都在用但没人负责”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各业务单元各自为战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532120" cy="2103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81928" y="1783080"/>
            <a:ext cx="5312664" cy="18745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业务流程与数据标准脱节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重上线轻运营，数据管理规则缺失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核心规则仍在线下流转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系统沦为记录工具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数据标准未前置嵌入业务流程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5532120" cy="2103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4069080"/>
            <a:ext cx="5312664" cy="18745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系统支撑与技术架构老化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核心平台技术债务较重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点对点接口呈蜘蛛网状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集成增多反而增加接口成本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利润中心等管理维度使用不充分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931920"/>
            <a:ext cx="5532120" cy="2103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393192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81928" y="4069080"/>
            <a:ext cx="5312664" cy="18745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数据质量与深度应用受阻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历史数据包袱重，脏乱差未根治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应用停留在录入存储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AI因数据基础薄弱难以嵌入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数据资产认知未建立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53549-760F-1EE6-33E7-7F410822B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77A3E4-E4BD-1A51-CDF1-571B63C6B9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1247136" cy="1477328"/>
          </a:xfrm>
        </p:spPr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FE117C-2370-7C63-7D85-DC7E90D22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/>
              </a:rPr>
              <a:t>数据治理架构整体设计</a:t>
            </a:r>
            <a:br>
              <a:rPr lang="zh-CN" altLang="en-US" dirty="0">
                <a:latin typeface="Microsoft YaHei"/>
              </a:rPr>
            </a:br>
            <a:r>
              <a:rPr lang="en-US" altLang="zh-CN" dirty="0">
                <a:latin typeface="Microsoft YaHei"/>
              </a:rPr>
              <a:t>-</a:t>
            </a:r>
            <a:r>
              <a:rPr lang="zh-CN" altLang="en-US" sz="4400" dirty="0">
                <a:latin typeface="Microsoft YaHei"/>
              </a:rPr>
              <a:t>治理组织与运行机制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2C3E5B8-88D7-AAF6-4B69-52175F346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645A1F8-C5A6-3A0A-4B00-B7CD5E4B58E8}"/>
              </a:ext>
            </a:extLst>
          </p:cNvPr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649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0E2841"/>
                </a:solidFill>
                <a:latin typeface="Microsoft YaHei"/>
              </a:rPr>
              <a:t>治理组织架构：三层治理体系设计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Microsoft YaHei"/>
              </a:rPr>
              <a:t>建立“数据治理委员会—数据管理办公室—业务数据Owner”三层治理体系，确保主数据治理长效运行。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532120" cy="2103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783080"/>
            <a:ext cx="5312664" cy="18745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决策层·数据治理委员会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主任：分管信息化高管(CIO)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副主任：分管财务/供应链高管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委员：各业务部门负责人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职责：战略决策·跨部门协调·争议裁决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机制：季度例会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532120" cy="2103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81928" y="1783080"/>
            <a:ext cx="5312664" cy="18745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管理层·数据管理办公室(DMO)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常设执行机构，配备专职人员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数据治理经理1人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数据标准管理员1-2人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数据质量分析师1-2人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职责：制定标准·监督质量·推动落地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5532120" cy="2103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4069080"/>
            <a:ext cx="5312664" cy="18745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执行层·业务Owner与Steward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按“谁产生谁负责”明确归口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Owner：对定义/标准/业务结果负责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Steward：日常审核/质量分析/培训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各域：物料/研发、客商/销售、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供应商/采购、财务/财务中心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931920"/>
            <a:ext cx="5532120" cy="2103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393192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81928" y="4069080"/>
            <a:ext cx="5312664" cy="18745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支撑层·IT与清洗工作组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IT团队：MDG/接口/权限/迁移运维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清洗迁移工作组：提取/画像/装载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对账/切换/增量控制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原则：集中标准·分布执行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集中的是标准与裁决，分布的是执行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0E2841"/>
                </a:solidFill>
                <a:latin typeface="Microsoft YaHei"/>
              </a:rPr>
              <a:t>数据责任划分：每一类数据都要有人“拍板”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Microsoft YaHei"/>
              </a:rPr>
              <a:t>按照“谁产生、谁负责”原则明确归口部门，保留业务前端发起权但增加统一归口审核环节。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371600" cy="43891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1828800"/>
            <a:ext cx="1243584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主数据域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828800"/>
            <a:ext cx="3200400" cy="43891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01952" y="1828800"/>
            <a:ext cx="3072384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归口部门/Owner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828800"/>
            <a:ext cx="3200400" cy="43891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02352" y="1828800"/>
            <a:ext cx="3072384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数据管家Steward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67712"/>
            <a:ext cx="1371600" cy="438912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2267712"/>
            <a:ext cx="1243584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物料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2267712"/>
            <a:ext cx="3200400" cy="438912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01952" y="2267712"/>
            <a:ext cx="3072384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研究院/产品及方案中心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267712"/>
            <a:ext cx="3200400" cy="438912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02352" y="2267712"/>
            <a:ext cx="3072384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研发·采购·计划关键用户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06624"/>
            <a:ext cx="1371600" cy="438912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2706624"/>
            <a:ext cx="1243584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BOM与工艺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2706624"/>
            <a:ext cx="3200400" cy="438912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01952" y="2706624"/>
            <a:ext cx="3072384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研究院(EBOM)·工艺部(PBOM/MBOM)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2706624"/>
            <a:ext cx="3200400" cy="438912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02352" y="2706624"/>
            <a:ext cx="3072384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研发·工艺·生产关键用户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145536"/>
            <a:ext cx="1371600" cy="438912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" y="3145536"/>
            <a:ext cx="1243584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客户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3145536"/>
            <a:ext cx="3200400" cy="438912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901952" y="3145536"/>
            <a:ext cx="3072384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销售中心/营销管理部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3145536"/>
            <a:ext cx="3200400" cy="438912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02352" y="3145536"/>
            <a:ext cx="3072384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销售·客服关键用户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584448"/>
            <a:ext cx="1371600" cy="438912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0352" y="3584448"/>
            <a:ext cx="1243584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供应商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0" y="3584448"/>
            <a:ext cx="3200400" cy="438912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901952" y="3584448"/>
            <a:ext cx="3072384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供应链管理中心/采购部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3584448"/>
            <a:ext cx="3200400" cy="438912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102352" y="3584448"/>
            <a:ext cx="3072384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采购·质量关键用户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023360"/>
            <a:ext cx="1371600" cy="438912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0352" y="4023360"/>
            <a:ext cx="1243584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财务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0" y="4023360"/>
            <a:ext cx="3200400" cy="438912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901952" y="4023360"/>
            <a:ext cx="3072384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财务中心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4023360"/>
            <a:ext cx="3200400" cy="438912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102352" y="4023360"/>
            <a:ext cx="3072384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财务关键用户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462272"/>
            <a:ext cx="1371600" cy="438912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0352" y="4462272"/>
            <a:ext cx="1243584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组织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0" y="4462272"/>
            <a:ext cx="3200400" cy="438912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901952" y="4462272"/>
            <a:ext cx="3072384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人力资源部/企业管理部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0" y="4462272"/>
            <a:ext cx="3200400" cy="438912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02352" y="4462272"/>
            <a:ext cx="3072384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HR·IT关键用户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992623"/>
            <a:ext cx="77724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333333"/>
                </a:solidFill>
                <a:latin typeface="Microsoft YaHei"/>
              </a:rPr>
              <a:t>“谁产生、谁负责”≠“谁录入、谁负责”——至少拆分为：标准制定·业务真实·专业审核·系统生效·发布·消费反馈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03920" y="1828800"/>
            <a:ext cx="3200400" cy="4114800"/>
          </a:xfrm>
          <a:prstGeom prst="round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732520" y="2011680"/>
            <a:ext cx="2743200" cy="374903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E97132"/>
                </a:solidFill>
                <a:latin typeface="Microsoft YaHei"/>
              </a:rPr>
              <a:t>归口四维分离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标准制定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B0C4D8"/>
                </a:solidFill>
                <a:latin typeface="Microsoft YaHei"/>
              </a:rPr>
              <a:t>Owner主导，DMO审核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专业审核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B0C4D8"/>
                </a:solidFill>
                <a:latin typeface="Microsoft YaHei"/>
              </a:rPr>
              <a:t>Steward日常审核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系统生效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000" b="0" i="0">
                <a:solidFill>
                  <a:srgbClr val="B0C4D8"/>
                </a:solidFill>
                <a:latin typeface="Microsoft YaHei"/>
              </a:rPr>
              <a:t>IT配置MDG流程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执行责任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0C4D8"/>
                </a:solidFill>
                <a:latin typeface="Microsoft YaHei"/>
              </a:rPr>
              <a:t>业务发起与确认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0E2841"/>
                </a:solidFill>
                <a:latin typeface="Microsoft YaHei"/>
              </a:rPr>
              <a:t>关键运行机制与配套制度体系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Microsoft YaHei"/>
              </a:rPr>
              <a:t>建立例会、考核、变更审批、质量闭环四大运行机制，配套数据管理办法和操作规范形成制度闭环。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532120" cy="128016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783080"/>
            <a:ext cx="5312664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例会与决策机制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治理委员会季度决策会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DMO月度质量运营会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域级周度工单跟进会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跨部门争议升级路径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532120" cy="128016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81928" y="1783080"/>
            <a:ext cx="5312664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考核机制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数据质量纳入部门KPI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Owner/Steward年度评估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SLA跟踪：审批时效/工单关闭率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速赢项目展示价值建立信心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08960"/>
            <a:ext cx="5532120" cy="128016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3246120"/>
            <a:ext cx="5312664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变更审批机制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一般变更：Steward审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重大变更：Owner审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关键变更：报委员会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ECN工程变更：PLM→ERP→MES同步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108960"/>
            <a:ext cx="5532120" cy="128016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310896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81928" y="3246120"/>
            <a:ext cx="5312664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质量闭环机制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发现→登记→分派→整改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→复核→关闭→预防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工单全流程留痕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根因分析驱动标准更新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617720"/>
            <a:ext cx="11247120" cy="11887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4617720"/>
            <a:ext cx="54864" cy="1188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709160"/>
            <a:ext cx="10789920" cy="10058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56082"/>
                </a:solidFill>
                <a:latin typeface="Microsoft YaHei"/>
              </a:rPr>
              <a:t>配套制度清单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① 主数据管理办法  ② 物料主数据管理细则  ③ BOM与工艺路线管理细则  ④ 客户主数据管理细则  ⑤ 供应商主数据管理细则  ⑥ 财务主数据管理细则  ⑦ 主数据编码规则手册  ⑧ 数据质量考核实施细则  ⑨ 主数据管理平台操作手册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C55A7-23EA-514C-FDCD-FA3FBC172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07E084-1B12-5C5E-699A-73F915FD95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1247136" cy="1477328"/>
          </a:xfrm>
        </p:spPr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CF66169-3661-B106-E9E6-B8A473C29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/>
              </a:rPr>
              <a:t>数据治理架构整体设计</a:t>
            </a:r>
            <a:br>
              <a:rPr lang="zh-CN" altLang="en-US" dirty="0">
                <a:latin typeface="Microsoft YaHei"/>
              </a:rPr>
            </a:br>
            <a:r>
              <a:rPr lang="en-US" altLang="zh-CN" dirty="0">
                <a:latin typeface="Microsoft YaHei"/>
              </a:rPr>
              <a:t>-</a:t>
            </a:r>
            <a:r>
              <a:rPr lang="zh-CN" altLang="en-US" sz="4400" dirty="0">
                <a:latin typeface="Microsoft YaHei"/>
              </a:rPr>
              <a:t>数据标准与编码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2578465-9376-8903-9BE2-A3DC07620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1239D2E-664B-B489-24EC-274E1B04A033}"/>
              </a:ext>
            </a:extLst>
          </p:cNvPr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57383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0E2841"/>
                </a:solidFill>
                <a:latin typeface="Microsoft YaHei"/>
              </a:rPr>
              <a:t>企业级数据标准体系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Microsoft YaHei"/>
              </a:rPr>
              <a:t>建立覆盖对象定义、编码、命名、分类、属性、参考数据、生命周期状态、版本和跨系统映射的统一标准体系。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371600" cy="4572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1828800"/>
            <a:ext cx="12435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标准层次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828800"/>
            <a:ext cx="3200400" cy="4572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01952" y="1828800"/>
            <a:ext cx="30723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内容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828800"/>
            <a:ext cx="2743200" cy="4572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02352" y="1828800"/>
            <a:ext cx="26151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主要交付物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13716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2286000"/>
            <a:ext cx="12435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基础标准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2286000"/>
            <a:ext cx="32004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01952" y="2286000"/>
            <a:ext cx="30723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对象定义、分类框架、编码规则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286000"/>
            <a:ext cx="27432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02352" y="2286000"/>
            <a:ext cx="26151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主数据管理办法、编码规则手册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43200"/>
            <a:ext cx="13716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2743200"/>
            <a:ext cx="12435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属性标准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2743200"/>
            <a:ext cx="32004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01952" y="2743200"/>
            <a:ext cx="30723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必填字段矩阵、描述规范、单位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2743200"/>
            <a:ext cx="27432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02352" y="2743200"/>
            <a:ext cx="26151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字段必填矩阵、物料描述规范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200400"/>
            <a:ext cx="13716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" y="3200400"/>
            <a:ext cx="12435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参考数据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3200400"/>
            <a:ext cx="32004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901952" y="3200400"/>
            <a:ext cx="30723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状态码集、计量单位转换表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3200400"/>
            <a:ext cx="27432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02352" y="3200400"/>
            <a:ext cx="26151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参考数据字典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657600"/>
            <a:ext cx="13716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0352" y="3657600"/>
            <a:ext cx="12435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映射标准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0" y="3657600"/>
            <a:ext cx="32004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901952" y="3657600"/>
            <a:ext cx="30723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旧新映射、跨系统映射台账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3657600"/>
            <a:ext cx="27432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102352" y="3657600"/>
            <a:ext cx="26151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旧新映射模板、映射台账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13716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0352" y="4114800"/>
            <a:ext cx="12435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质量标准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0" y="4114800"/>
            <a:ext cx="32004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901952" y="4114800"/>
            <a:ext cx="30723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质量规则、阈值、校验逻辑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4114800"/>
            <a:ext cx="27432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102352" y="4114800"/>
            <a:ext cx="26151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数据质量规则模板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20" y="1828800"/>
            <a:ext cx="3657600" cy="4114800"/>
          </a:xfrm>
          <a:prstGeom prst="round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75320" y="2011680"/>
            <a:ext cx="3200400" cy="374903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E97132"/>
                </a:solidFill>
                <a:latin typeface="Microsoft YaHei"/>
              </a:rPr>
              <a:t>总体原则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集中标准·分布执行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100" b="0" i="0">
                <a:solidFill>
                  <a:srgbClr val="B0C4D8"/>
                </a:solidFill>
                <a:latin typeface="Microsoft YaHei"/>
              </a:rPr>
              <a:t>集中制定标准、裁决与发布；分布执行业务发起与专业判断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标准前置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100" b="0" i="0">
                <a:solidFill>
                  <a:srgbClr val="B0C4D8"/>
                </a:solidFill>
                <a:latin typeface="Microsoft YaHei"/>
              </a:rPr>
              <a:t>数据标准在蓝图阶段冻结，先于系统配置和数据迁移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业务主导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B0C4D8"/>
                </a:solidFill>
                <a:latin typeface="Microsoft YaHei"/>
              </a:rPr>
              <a:t>业务部门参与制定与评审，不脱离业务实际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 dirty="0" err="1">
                <a:solidFill>
                  <a:srgbClr val="0E2841"/>
                </a:solidFill>
                <a:latin typeface="Microsoft YaHei"/>
              </a:rPr>
              <a:t>编码策略：稳定标识</a:t>
            </a:r>
            <a:r>
              <a:rPr sz="2600" b="1" i="0" dirty="0">
                <a:solidFill>
                  <a:srgbClr val="0E2841"/>
                </a:solidFill>
                <a:latin typeface="Microsoft YaHei"/>
              </a:rPr>
              <a:t> + </a:t>
            </a:r>
            <a:r>
              <a:rPr sz="2600" b="1" i="0" dirty="0" err="1">
                <a:solidFill>
                  <a:srgbClr val="0E2841"/>
                </a:solidFill>
                <a:latin typeface="Microsoft YaHei"/>
              </a:rPr>
              <a:t>属性表达</a:t>
            </a:r>
            <a:endParaRPr sz="2600" b="1" i="0" dirty="0">
              <a:solidFill>
                <a:srgbClr val="0E2841"/>
              </a:solidFill>
              <a:latin typeface="Microsoft YaHei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Microsoft YaHei"/>
              </a:rPr>
              <a:t>建议采用“稳定标识+属性表达”原则，核心主数据编码应尽量稳定、少含易变业务含义。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532120" cy="2103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783080"/>
            <a:ext cx="5312664" cy="18745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物料编码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优先集团唯一、稳定、非重复编码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分类和规格主要放属性与描述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若保留有意义编码，控制段位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避免嵌入供应商/工厂/价格等易变信息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12位分段式：X-XXX-XXX-X-XXXX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532120" cy="2103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81928" y="1783080"/>
            <a:ext cx="5312664" cy="18745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客户/供应商/BP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系统生成或受控流水标识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业务身份由税号/信用代码确认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不能仅靠名称查重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同一主体多角色在BP架构统一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5532120" cy="2103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4069080"/>
            <a:ext cx="5312664" cy="18745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组织/财务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以法定主体和目标管理层级为基础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建立稳定代码及旧新映射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代码长度须与S/4HANA兼容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科目表/成本中心/利润中心/交易伙伴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931920"/>
            <a:ext cx="5532120" cy="2103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393192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81928" y="4069080"/>
            <a:ext cx="5312664" cy="18745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BOM/工艺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结构身份由物料+工厂+用途+版本确定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不建议用自由文本区分版本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变更号(Change Number)为核心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生效日期+版本号管理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CCA4D-FF92-B1C8-5552-8EEF17726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9D272F-34A0-56B9-E91A-255B3DD1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zh-CN" altLang="en-US" sz="2600" b="1" dirty="0">
                <a:solidFill>
                  <a:srgbClr val="0E2841"/>
                </a:solidFill>
                <a:latin typeface="Microsoft YaHei"/>
              </a:rPr>
              <a:t>物料编码规则（</a:t>
            </a:r>
            <a:r>
              <a:rPr lang="en-US" altLang="zh-CN" sz="2600" b="1" dirty="0">
                <a:solidFill>
                  <a:srgbClr val="0E2841"/>
                </a:solidFill>
                <a:latin typeface="Microsoft YaHei"/>
              </a:rPr>
              <a:t>DMO</a:t>
            </a:r>
            <a:r>
              <a:rPr lang="zh-CN" altLang="en-US" sz="2600" b="1" dirty="0">
                <a:solidFill>
                  <a:srgbClr val="0E2841"/>
                </a:solidFill>
                <a:latin typeface="Microsoft YaHei"/>
              </a:rPr>
              <a:t>达成共识）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0A44DE-12C2-7CFF-2260-82243EE4DC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lang="zh-CN" altLang="zh-CN" b="1" dirty="0"/>
              <a:t>新物料编码结构建议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422D60-5C9B-C217-22D0-7EE8F78F69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t>23</a:t>
            </a:fld>
            <a:endParaRPr lang="nl-NL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569FDF7-4E9E-8942-0F3C-2879E1B8418E}"/>
              </a:ext>
            </a:extLst>
          </p:cNvPr>
          <p:cNvGraphicFramePr>
            <a:graphicFrameLocks noGrp="1"/>
          </p:cNvGraphicFramePr>
          <p:nvPr/>
        </p:nvGraphicFramePr>
        <p:xfrm>
          <a:off x="427038" y="2516654"/>
          <a:ext cx="11337924" cy="33248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460128">
                  <a:extLst>
                    <a:ext uri="{9D8B030D-6E8A-4147-A177-3AD203B41FA5}">
                      <a16:colId xmlns:a16="http://schemas.microsoft.com/office/drawing/2014/main" val="1095236808"/>
                    </a:ext>
                  </a:extLst>
                </a:gridCol>
                <a:gridCol w="1196502">
                  <a:extLst>
                    <a:ext uri="{9D8B030D-6E8A-4147-A177-3AD203B41FA5}">
                      <a16:colId xmlns:a16="http://schemas.microsoft.com/office/drawing/2014/main" val="3684151334"/>
                    </a:ext>
                  </a:extLst>
                </a:gridCol>
                <a:gridCol w="2830749">
                  <a:extLst>
                    <a:ext uri="{9D8B030D-6E8A-4147-A177-3AD203B41FA5}">
                      <a16:colId xmlns:a16="http://schemas.microsoft.com/office/drawing/2014/main" val="1006328600"/>
                    </a:ext>
                  </a:extLst>
                </a:gridCol>
                <a:gridCol w="5850545">
                  <a:extLst>
                    <a:ext uri="{9D8B030D-6E8A-4147-A177-3AD203B41FA5}">
                      <a16:colId xmlns:a16="http://schemas.microsoft.com/office/drawing/2014/main" val="1913500668"/>
                    </a:ext>
                  </a:extLst>
                </a:gridCol>
              </a:tblGrid>
              <a:tr h="624820">
                <a:tc>
                  <a:txBody>
                    <a:bodyPr/>
                    <a:lstStyle/>
                    <a:p>
                      <a:pPr indent="0" algn="ctr">
                        <a:lnSpc>
                          <a:spcPts val="1200"/>
                        </a:lnSpc>
                        <a:buNone/>
                      </a:pPr>
                      <a:r>
                        <a:rPr lang="zh-CN" sz="1600" b="1" spc="0" dirty="0">
                          <a:solidFill>
                            <a:srgbClr val="222222"/>
                          </a:solidFill>
                          <a:effectLst/>
                        </a:rPr>
                        <a:t>段位</a:t>
                      </a:r>
                      <a:endParaRPr lang="zh-CN" sz="1600" b="1" i="0" spc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1200"/>
                        </a:lnSpc>
                        <a:buNone/>
                      </a:pPr>
                      <a:r>
                        <a:rPr lang="zh-CN" sz="1600" b="1" spc="0" dirty="0">
                          <a:solidFill>
                            <a:srgbClr val="222222"/>
                          </a:solidFill>
                          <a:effectLst/>
                        </a:rPr>
                        <a:t>位数</a:t>
                      </a:r>
                      <a:endParaRPr lang="zh-CN" sz="1600" b="1" i="0" spc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1200"/>
                        </a:lnSpc>
                        <a:buNone/>
                      </a:pPr>
                      <a:r>
                        <a:rPr lang="zh-CN" sz="1600" b="1" spc="0" dirty="0">
                          <a:solidFill>
                            <a:srgbClr val="222222"/>
                          </a:solidFill>
                          <a:effectLst/>
                        </a:rPr>
                        <a:t>名称</a:t>
                      </a:r>
                      <a:endParaRPr lang="zh-CN" sz="1600" b="1" i="0" spc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1200"/>
                        </a:lnSpc>
                        <a:buNone/>
                      </a:pPr>
                      <a:r>
                        <a:rPr lang="zh-CN" sz="1600" b="1" spc="0" dirty="0">
                          <a:solidFill>
                            <a:srgbClr val="222222"/>
                          </a:solidFill>
                          <a:effectLst/>
                        </a:rPr>
                        <a:t>说明</a:t>
                      </a:r>
                      <a:endParaRPr lang="zh-CN" sz="1600" b="1" i="0" spc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68204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400" b="1" i="0" dirty="0">
                          <a:solidFill>
                            <a:srgbClr val="222222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第</a:t>
                      </a:r>
                      <a:r>
                        <a:rPr lang="en-US" altLang="zh-CN" sz="1400" b="1" i="0" dirty="0">
                          <a:solidFill>
                            <a:srgbClr val="222222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400" b="1" i="0" dirty="0">
                          <a:solidFill>
                            <a:srgbClr val="222222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段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1400" b="1" i="0" dirty="0">
                          <a:solidFill>
                            <a:srgbClr val="222222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400" b="1" i="0" dirty="0">
                          <a:solidFill>
                            <a:srgbClr val="222222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位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400" b="1" i="0" dirty="0">
                          <a:solidFill>
                            <a:srgbClr val="222222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标识位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1400" b="0" i="0" dirty="0">
                          <a:solidFill>
                            <a:srgbClr val="222222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9-</a:t>
                      </a:r>
                      <a:r>
                        <a:rPr lang="zh-CN" altLang="en-US" sz="1400" b="0" i="0" dirty="0">
                          <a:solidFill>
                            <a:srgbClr val="222222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该标识属于新编码规则标识，区别原有物料编码规则。</a:t>
                      </a:r>
                      <a:endParaRPr lang="zh-CN" sz="1400" b="0" i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extLst>
                  <a:ext uri="{0D108BD9-81ED-4DB2-BD59-A6C34878D82A}">
                    <a16:rowId xmlns:a16="http://schemas.microsoft.com/office/drawing/2014/main" val="143040003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zh-CN" sz="1400" b="1" dirty="0">
                          <a:solidFill>
                            <a:srgbClr val="222222"/>
                          </a:solidFill>
                          <a:effectLst/>
                        </a:rPr>
                        <a:t>第</a:t>
                      </a:r>
                      <a:r>
                        <a:rPr lang="en-US" altLang="zh-CN" sz="1400" b="1" dirty="0">
                          <a:solidFill>
                            <a:srgbClr val="222222"/>
                          </a:solidFill>
                          <a:effectLst/>
                        </a:rPr>
                        <a:t>2</a:t>
                      </a:r>
                      <a:r>
                        <a:rPr lang="zh-CN" sz="1400" b="1" dirty="0">
                          <a:solidFill>
                            <a:srgbClr val="222222"/>
                          </a:solidFill>
                          <a:effectLst/>
                        </a:rPr>
                        <a:t>段</a:t>
                      </a:r>
                      <a:endParaRPr lang="zh-CN" sz="1400" b="0" i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rgbClr val="222222"/>
                          </a:solidFill>
                          <a:effectLst/>
                        </a:rPr>
                        <a:t>1</a:t>
                      </a:r>
                      <a:r>
                        <a:rPr lang="zh-CN" altLang="en-US" sz="1400" b="1" dirty="0">
                          <a:solidFill>
                            <a:srgbClr val="222222"/>
                          </a:solidFill>
                          <a:effectLst/>
                        </a:rPr>
                        <a:t>位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zh-CN" sz="1400" b="1" dirty="0">
                          <a:solidFill>
                            <a:srgbClr val="222222"/>
                          </a:solidFill>
                          <a:effectLst/>
                        </a:rPr>
                        <a:t>物料大类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zh-CN" sz="1400" b="0" dirty="0">
                          <a:solidFill>
                            <a:srgbClr val="222222"/>
                          </a:solidFill>
                          <a:effectLst/>
                        </a:rPr>
                        <a:t>区分成品、半成品、原材料等</a:t>
                      </a:r>
                      <a:r>
                        <a:rPr lang="zh-CN" altLang="en-US" sz="1400" b="0" dirty="0">
                          <a:solidFill>
                            <a:srgbClr val="222222"/>
                          </a:solidFill>
                          <a:effectLst/>
                        </a:rPr>
                        <a:t>物料大类</a:t>
                      </a:r>
                      <a:r>
                        <a:rPr lang="zh-CN" sz="1400" b="0" dirty="0">
                          <a:solidFill>
                            <a:srgbClr val="222222"/>
                          </a:solidFill>
                          <a:effectLst/>
                        </a:rPr>
                        <a:t>。</a:t>
                      </a:r>
                      <a:r>
                        <a:rPr lang="zh-CN" altLang="en-US" sz="1400" b="0" dirty="0">
                          <a:solidFill>
                            <a:srgbClr val="222222"/>
                          </a:solidFill>
                          <a:effectLst/>
                        </a:rPr>
                        <a:t>（</a:t>
                      </a:r>
                      <a:r>
                        <a:rPr lang="en-US" altLang="zh-CN" sz="1400" b="0" dirty="0">
                          <a:solidFill>
                            <a:srgbClr val="222222"/>
                          </a:solidFill>
                          <a:effectLst/>
                        </a:rPr>
                        <a:t>1-9</a:t>
                      </a:r>
                      <a:r>
                        <a:rPr lang="zh-CN" altLang="en-US" sz="1400" b="0" dirty="0">
                          <a:solidFill>
                            <a:srgbClr val="222222"/>
                          </a:solidFill>
                          <a:effectLst/>
                        </a:rPr>
                        <a:t>）</a:t>
                      </a:r>
                      <a:endParaRPr lang="zh-CN" sz="1400" b="0" i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extLst>
                  <a:ext uri="{0D108BD9-81ED-4DB2-BD59-A6C34878D82A}">
                    <a16:rowId xmlns:a16="http://schemas.microsoft.com/office/drawing/2014/main" val="396905113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zh-CN" sz="1400" b="1" dirty="0">
                          <a:solidFill>
                            <a:srgbClr val="222222"/>
                          </a:solidFill>
                          <a:effectLst/>
                        </a:rPr>
                        <a:t>第</a:t>
                      </a:r>
                      <a:r>
                        <a:rPr lang="en-US" altLang="zh-CN" sz="1400" b="1" dirty="0">
                          <a:solidFill>
                            <a:srgbClr val="222222"/>
                          </a:solidFill>
                          <a:effectLst/>
                        </a:rPr>
                        <a:t>3</a:t>
                      </a:r>
                      <a:r>
                        <a:rPr lang="zh-CN" sz="1400" b="1" dirty="0">
                          <a:solidFill>
                            <a:srgbClr val="222222"/>
                          </a:solidFill>
                          <a:effectLst/>
                        </a:rPr>
                        <a:t>段</a:t>
                      </a:r>
                      <a:endParaRPr lang="zh-CN" sz="1400" b="0" i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rgbClr val="222222"/>
                          </a:solidFill>
                          <a:effectLst/>
                        </a:rPr>
                        <a:t>2</a:t>
                      </a:r>
                      <a:r>
                        <a:rPr lang="zh-CN" sz="1400" b="1" dirty="0">
                          <a:solidFill>
                            <a:srgbClr val="222222"/>
                          </a:solidFill>
                          <a:effectLst/>
                        </a:rPr>
                        <a:t>位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400" b="1" dirty="0">
                          <a:solidFill>
                            <a:srgbClr val="222222"/>
                          </a:solidFill>
                          <a:effectLst/>
                        </a:rPr>
                        <a:t>一级分类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zh-CN" sz="1400" b="0" dirty="0">
                          <a:solidFill>
                            <a:srgbClr val="222222"/>
                          </a:solidFill>
                          <a:effectLst/>
                        </a:rPr>
                        <a:t>对应具体的产品</a:t>
                      </a:r>
                      <a:r>
                        <a:rPr lang="zh-CN" altLang="en-US" sz="1400" b="0" dirty="0">
                          <a:solidFill>
                            <a:srgbClr val="222222"/>
                          </a:solidFill>
                          <a:effectLst/>
                        </a:rPr>
                        <a:t>、半成品、原材料等大类的一级分类（</a:t>
                      </a:r>
                      <a:r>
                        <a:rPr lang="en-US" altLang="zh-CN" sz="1400" b="0" dirty="0">
                          <a:solidFill>
                            <a:srgbClr val="222222"/>
                          </a:solidFill>
                          <a:effectLst/>
                        </a:rPr>
                        <a:t>01-99</a:t>
                      </a:r>
                      <a:r>
                        <a:rPr lang="zh-CN" altLang="en-US" sz="1400" b="0" dirty="0">
                          <a:solidFill>
                            <a:srgbClr val="222222"/>
                          </a:solidFill>
                          <a:effectLst/>
                        </a:rPr>
                        <a:t>）</a:t>
                      </a:r>
                      <a:endParaRPr lang="zh-CN" sz="1400" b="0" i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extLst>
                  <a:ext uri="{0D108BD9-81ED-4DB2-BD59-A6C34878D82A}">
                    <a16:rowId xmlns:a16="http://schemas.microsoft.com/office/drawing/2014/main" val="26434713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zh-CN" sz="1400" b="1" dirty="0">
                          <a:solidFill>
                            <a:srgbClr val="222222"/>
                          </a:solidFill>
                          <a:effectLst/>
                        </a:rPr>
                        <a:t>第</a:t>
                      </a:r>
                      <a:r>
                        <a:rPr lang="en-US" altLang="zh-CN" sz="1400" b="1" dirty="0">
                          <a:solidFill>
                            <a:srgbClr val="222222"/>
                          </a:solidFill>
                          <a:effectLst/>
                        </a:rPr>
                        <a:t>4</a:t>
                      </a:r>
                      <a:r>
                        <a:rPr lang="zh-CN" sz="1400" b="1" dirty="0">
                          <a:solidFill>
                            <a:srgbClr val="222222"/>
                          </a:solidFill>
                          <a:effectLst/>
                        </a:rPr>
                        <a:t>段</a:t>
                      </a:r>
                      <a:endParaRPr lang="zh-CN" sz="1400" b="0" i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rgbClr val="222222"/>
                          </a:solidFill>
                          <a:effectLst/>
                        </a:rPr>
                        <a:t>2</a:t>
                      </a:r>
                      <a:r>
                        <a:rPr lang="zh-CN" sz="1400" b="1" dirty="0">
                          <a:solidFill>
                            <a:srgbClr val="222222"/>
                          </a:solidFill>
                          <a:effectLst/>
                        </a:rPr>
                        <a:t>位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400" b="1" i="0" dirty="0">
                          <a:solidFill>
                            <a:srgbClr val="222222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二级分类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zh-CN" altLang="zh-CN" sz="1400" b="0" dirty="0">
                          <a:solidFill>
                            <a:srgbClr val="222222"/>
                          </a:solidFill>
                          <a:effectLst/>
                        </a:rPr>
                        <a:t>对应具体的产品</a:t>
                      </a:r>
                      <a:r>
                        <a:rPr lang="zh-CN" altLang="en-US" sz="1400" b="0" dirty="0">
                          <a:solidFill>
                            <a:srgbClr val="222222"/>
                          </a:solidFill>
                          <a:effectLst/>
                        </a:rPr>
                        <a:t>、半成品、原材料等大类的二级分类（</a:t>
                      </a:r>
                      <a:r>
                        <a:rPr lang="en-US" altLang="zh-CN" sz="1400" b="0" dirty="0">
                          <a:solidFill>
                            <a:srgbClr val="222222"/>
                          </a:solidFill>
                          <a:effectLst/>
                        </a:rPr>
                        <a:t>01-99</a:t>
                      </a:r>
                      <a:r>
                        <a:rPr lang="zh-CN" altLang="en-US" sz="1400" b="0" dirty="0">
                          <a:solidFill>
                            <a:srgbClr val="222222"/>
                          </a:solidFill>
                          <a:effectLst/>
                        </a:rPr>
                        <a:t>）</a:t>
                      </a:r>
                      <a:endParaRPr lang="zh-CN" altLang="zh-CN" sz="1400" b="0" i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extLst>
                  <a:ext uri="{0D108BD9-81ED-4DB2-BD59-A6C34878D82A}">
                    <a16:rowId xmlns:a16="http://schemas.microsoft.com/office/drawing/2014/main" val="119110948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zh-CN" sz="1400" b="1" dirty="0">
                          <a:solidFill>
                            <a:srgbClr val="222222"/>
                          </a:solidFill>
                          <a:effectLst/>
                        </a:rPr>
                        <a:t>第</a:t>
                      </a:r>
                      <a:r>
                        <a:rPr lang="en-US" altLang="zh-CN" sz="1400" b="1" dirty="0">
                          <a:solidFill>
                            <a:srgbClr val="222222"/>
                          </a:solidFill>
                          <a:effectLst/>
                        </a:rPr>
                        <a:t>5</a:t>
                      </a:r>
                      <a:r>
                        <a:rPr lang="zh-CN" sz="1400" b="1" dirty="0">
                          <a:solidFill>
                            <a:srgbClr val="222222"/>
                          </a:solidFill>
                          <a:effectLst/>
                        </a:rPr>
                        <a:t>段</a:t>
                      </a:r>
                      <a:endParaRPr lang="zh-CN" sz="1400" b="0" i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rgbClr val="222222"/>
                          </a:solidFill>
                          <a:effectLst/>
                        </a:rPr>
                        <a:t>5</a:t>
                      </a:r>
                      <a:r>
                        <a:rPr lang="zh-CN" sz="1400" b="1" dirty="0">
                          <a:solidFill>
                            <a:srgbClr val="222222"/>
                          </a:solidFill>
                          <a:effectLst/>
                        </a:rPr>
                        <a:t>位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zh-CN" sz="1400" b="1" dirty="0">
                          <a:solidFill>
                            <a:srgbClr val="222222"/>
                          </a:solidFill>
                          <a:effectLst/>
                        </a:rPr>
                        <a:t>流水号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zh-CN" sz="1400" b="0" dirty="0">
                          <a:solidFill>
                            <a:srgbClr val="222222"/>
                          </a:solidFill>
                          <a:effectLst/>
                        </a:rPr>
                        <a:t>在同一</a:t>
                      </a:r>
                      <a:r>
                        <a:rPr lang="zh-CN" altLang="en-US" sz="1400" b="0" dirty="0">
                          <a:solidFill>
                            <a:srgbClr val="222222"/>
                          </a:solidFill>
                          <a:effectLst/>
                        </a:rPr>
                        <a:t>物料二级分类</a:t>
                      </a:r>
                      <a:r>
                        <a:rPr lang="zh-CN" sz="1400" b="0" dirty="0">
                          <a:solidFill>
                            <a:srgbClr val="222222"/>
                          </a:solidFill>
                          <a:effectLst/>
                        </a:rPr>
                        <a:t>下的唯一序列号，</a:t>
                      </a:r>
                      <a:r>
                        <a:rPr lang="zh-CN" altLang="en-US" sz="1400" b="0" dirty="0">
                          <a:solidFill>
                            <a:srgbClr val="222222"/>
                          </a:solidFill>
                          <a:effectLst/>
                        </a:rPr>
                        <a:t>（</a:t>
                      </a:r>
                      <a:r>
                        <a:rPr lang="en-US" altLang="zh-CN" sz="1400" b="0" dirty="0">
                          <a:solidFill>
                            <a:srgbClr val="222222"/>
                          </a:solidFill>
                          <a:effectLst/>
                        </a:rPr>
                        <a:t>00001-99999</a:t>
                      </a:r>
                      <a:r>
                        <a:rPr lang="zh-CN" altLang="en-US" sz="1400" b="0" dirty="0">
                          <a:solidFill>
                            <a:srgbClr val="222222"/>
                          </a:solidFill>
                          <a:effectLst/>
                        </a:rPr>
                        <a:t>）</a:t>
                      </a:r>
                      <a:endParaRPr lang="zh-CN" sz="1400" b="0" i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extLst>
                  <a:ext uri="{0D108BD9-81ED-4DB2-BD59-A6C34878D82A}">
                    <a16:rowId xmlns:a16="http://schemas.microsoft.com/office/drawing/2014/main" val="593150987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85F8AE40-05A5-7D2F-A24F-B0C922403608}"/>
              </a:ext>
            </a:extLst>
          </p:cNvPr>
          <p:cNvSpPr txBox="1"/>
          <p:nvPr/>
        </p:nvSpPr>
        <p:spPr>
          <a:xfrm>
            <a:off x="425450" y="1203766"/>
            <a:ext cx="11337923" cy="70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编码总长度 </a:t>
            </a:r>
            <a:r>
              <a: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，全部为数字</a:t>
            </a:r>
            <a:r>
              <a:rPr lang="zh-CN" altLang="zh-CN" sz="1400" b="0" i="0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分段式编码结构，格式为：</a:t>
            </a:r>
            <a:r>
              <a:rPr lang="en-US" altLang="zh-CN" sz="1400" b="0" i="0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9-1</a:t>
            </a:r>
            <a:r>
              <a:rPr lang="zh-CN" altLang="zh-CN" sz="1400" b="0" i="0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1400" b="0" i="0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zh-CN" altLang="zh-CN" sz="1400" b="0" i="0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1400" b="0" i="0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zh-CN" altLang="zh-CN" sz="1400" b="0" i="0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1400" b="0" i="0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00001</a:t>
            </a:r>
            <a:r>
              <a:rPr lang="zh-CN" altLang="zh-CN" sz="1400" b="0" i="0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b="0" i="0" dirty="0">
              <a:solidFill>
                <a:srgbClr val="222222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不携带</a:t>
            </a:r>
            <a:r>
              <a:rPr lang="zh-CN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品牌、渠道、色温、灯头等易变属性（这些归入物料描述/分类属性）</a:t>
            </a:r>
          </a:p>
        </p:txBody>
      </p:sp>
    </p:spTree>
    <p:extLst>
      <p:ext uri="{BB962C8B-B14F-4D97-AF65-F5344CB8AC3E}">
        <p14:creationId xmlns:p14="http://schemas.microsoft.com/office/powerpoint/2010/main" val="23511967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5082F2-E843-65D5-CE79-3802422DB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 altLang="zh-CN" sz="2600" b="1" dirty="0">
                <a:solidFill>
                  <a:srgbClr val="0E2841"/>
                </a:solidFill>
                <a:latin typeface="Microsoft YaHei"/>
              </a:rPr>
              <a:t>BP</a:t>
            </a:r>
            <a:r>
              <a:rPr lang="zh-CN" altLang="en-US" sz="2600" b="1" dirty="0">
                <a:solidFill>
                  <a:srgbClr val="0E2841"/>
                </a:solidFill>
                <a:latin typeface="Microsoft YaHei"/>
              </a:rPr>
              <a:t>业务伙伴（客商）编码规则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CB909C-2997-87C5-593F-AA769B32E4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lang="zh-CN" altLang="en-US" dirty="0"/>
              <a:t>新编码规则建议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1D524C-9539-27E0-309C-09F285591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t>24</a:t>
            </a:fld>
            <a:endParaRPr lang="nl-NL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3326CF3-7320-BA97-6049-57E3EA9CFD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063070"/>
              </p:ext>
            </p:extLst>
          </p:nvPr>
        </p:nvGraphicFramePr>
        <p:xfrm>
          <a:off x="1019752" y="1427740"/>
          <a:ext cx="9791524" cy="44048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97632">
                  <a:extLst>
                    <a:ext uri="{9D8B030D-6E8A-4147-A177-3AD203B41FA5}">
                      <a16:colId xmlns:a16="http://schemas.microsoft.com/office/drawing/2014/main" val="100153565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295970592"/>
                    </a:ext>
                  </a:extLst>
                </a:gridCol>
                <a:gridCol w="2284581">
                  <a:extLst>
                    <a:ext uri="{9D8B030D-6E8A-4147-A177-3AD203B41FA5}">
                      <a16:colId xmlns:a16="http://schemas.microsoft.com/office/drawing/2014/main" val="3644466778"/>
                    </a:ext>
                  </a:extLst>
                </a:gridCol>
                <a:gridCol w="2970911">
                  <a:extLst>
                    <a:ext uri="{9D8B030D-6E8A-4147-A177-3AD203B41FA5}">
                      <a16:colId xmlns:a16="http://schemas.microsoft.com/office/drawing/2014/main" val="1101473725"/>
                    </a:ext>
                  </a:extLst>
                </a:gridCol>
              </a:tblGrid>
              <a:tr h="624820">
                <a:tc>
                  <a:txBody>
                    <a:bodyPr/>
                    <a:lstStyle/>
                    <a:p>
                      <a:pPr indent="0" algn="ctr">
                        <a:lnSpc>
                          <a:spcPts val="1200"/>
                        </a:lnSpc>
                        <a:buNone/>
                      </a:pPr>
                      <a:r>
                        <a:rPr lang="en-US" altLang="zh-CN" sz="1600" b="1" i="0" spc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BP</a:t>
                      </a:r>
                      <a:r>
                        <a:rPr lang="zh-CN" altLang="en-US" sz="1600" b="1" i="0" spc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</a:t>
                      </a:r>
                      <a:endParaRPr lang="zh-CN" sz="1600" b="1" i="0" spc="0" dirty="0">
                        <a:solidFill>
                          <a:srgbClr val="22222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868" marR="85868" marT="61334" marB="61334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1200"/>
                        </a:lnSpc>
                        <a:buNone/>
                      </a:pPr>
                      <a:r>
                        <a:rPr lang="zh-CN" altLang="en-US" sz="1600" b="1" spc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编码规则</a:t>
                      </a:r>
                      <a:endParaRPr lang="zh-CN" sz="1600" b="1" i="0" spc="0" dirty="0">
                        <a:solidFill>
                          <a:srgbClr val="22222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868" marR="85868" marT="61334" marB="61334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1200"/>
                        </a:lnSpc>
                        <a:buNone/>
                      </a:pPr>
                      <a:r>
                        <a:rPr lang="zh-CN" altLang="en-US" sz="1600" b="1" spc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编码范围</a:t>
                      </a:r>
                      <a:endParaRPr lang="zh-CN" sz="1600" b="1" i="0" spc="0" dirty="0">
                        <a:solidFill>
                          <a:srgbClr val="22222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868" marR="85868" marT="61334" marB="61334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1200"/>
                        </a:lnSpc>
                        <a:buNone/>
                      </a:pPr>
                      <a:r>
                        <a:rPr lang="zh-CN" altLang="en-US" sz="1600" b="1" i="0" spc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备注</a:t>
                      </a:r>
                      <a:endParaRPr lang="zh-CN" sz="1600" b="1" i="0" spc="0" dirty="0">
                        <a:solidFill>
                          <a:srgbClr val="22222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868" marR="85868" marT="61334" marB="61334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41459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关联方集团内部客商</a:t>
                      </a:r>
                      <a:r>
                        <a:rPr lang="en-US" altLang="zh-CN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BP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400" b="1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位（同步公司编码）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FZ01-FZ40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和公司编码一致，手工编码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extLst>
                  <a:ext uri="{0D108BD9-81ED-4DB2-BD59-A6C34878D82A}">
                    <a16:rowId xmlns:a16="http://schemas.microsoft.com/office/drawing/2014/main" val="286395330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400" b="1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常规客户</a:t>
                      </a:r>
                      <a:r>
                        <a:rPr lang="en-US" altLang="zh-CN" sz="1400" b="1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BP-</a:t>
                      </a:r>
                      <a:r>
                        <a:rPr lang="zh-CN" altLang="en-US" sz="1400" b="1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国内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位（</a:t>
                      </a:r>
                      <a:r>
                        <a:rPr lang="en-US" altLang="zh-CN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位分类</a:t>
                      </a:r>
                      <a:r>
                        <a:rPr lang="en-US" altLang="zh-CN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+5</a:t>
                      </a:r>
                      <a:r>
                        <a:rPr lang="zh-CN" altLang="en-US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位流水）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100001-199999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自动编码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extLst>
                  <a:ext uri="{0D108BD9-81ED-4DB2-BD59-A6C34878D82A}">
                    <a16:rowId xmlns:a16="http://schemas.microsoft.com/office/drawing/2014/main" val="286520343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常规客户</a:t>
                      </a:r>
                      <a:r>
                        <a:rPr lang="en-US" altLang="zh-CN" sz="1400" b="1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BP-</a:t>
                      </a:r>
                      <a:r>
                        <a:rPr lang="zh-CN" altLang="en-US" sz="1400" b="1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国外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位（</a:t>
                      </a:r>
                      <a:r>
                        <a:rPr lang="en-US" altLang="zh-CN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位分类</a:t>
                      </a:r>
                      <a:r>
                        <a:rPr lang="en-US" altLang="zh-CN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+5</a:t>
                      </a:r>
                      <a:r>
                        <a:rPr lang="zh-CN" altLang="en-US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位流水）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200001-299999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自动编码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extLst>
                  <a:ext uri="{0D108BD9-81ED-4DB2-BD59-A6C34878D82A}">
                    <a16:rowId xmlns:a16="http://schemas.microsoft.com/office/drawing/2014/main" val="14353854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400" b="1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常规供应商</a:t>
                      </a:r>
                      <a:r>
                        <a:rPr lang="en-US" altLang="zh-CN" sz="1400" b="1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BP-</a:t>
                      </a:r>
                      <a:r>
                        <a:rPr lang="zh-CN" altLang="en-US" sz="1400" b="1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国内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位（</a:t>
                      </a:r>
                      <a:r>
                        <a:rPr lang="en-US" altLang="zh-CN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位分类</a:t>
                      </a:r>
                      <a:r>
                        <a:rPr lang="en-US" altLang="zh-CN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+5</a:t>
                      </a:r>
                      <a:r>
                        <a:rPr lang="zh-CN" altLang="en-US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位流水）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300001-399999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自动编码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extLst>
                  <a:ext uri="{0D108BD9-81ED-4DB2-BD59-A6C34878D82A}">
                    <a16:rowId xmlns:a16="http://schemas.microsoft.com/office/drawing/2014/main" val="282269001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常规供应商</a:t>
                      </a:r>
                      <a:r>
                        <a:rPr lang="en-US" altLang="zh-CN" sz="1400" b="1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BP-</a:t>
                      </a:r>
                      <a:r>
                        <a:rPr lang="zh-CN" altLang="en-US" sz="1400" b="1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国外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位（</a:t>
                      </a:r>
                      <a:r>
                        <a:rPr lang="en-US" altLang="zh-CN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位分类</a:t>
                      </a:r>
                      <a:r>
                        <a:rPr lang="en-US" altLang="zh-CN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+5</a:t>
                      </a:r>
                      <a:r>
                        <a:rPr lang="zh-CN" altLang="en-US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位流水）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400001-499999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自动编码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extLst>
                  <a:ext uri="{0D108BD9-81ED-4DB2-BD59-A6C34878D82A}">
                    <a16:rowId xmlns:a16="http://schemas.microsoft.com/office/drawing/2014/main" val="4603210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财务（服务）客商</a:t>
                      </a:r>
                      <a:r>
                        <a:rPr lang="en-US" altLang="zh-CN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BP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位（</a:t>
                      </a:r>
                      <a:r>
                        <a:rPr lang="en-US" altLang="zh-CN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位分类</a:t>
                      </a:r>
                      <a:r>
                        <a:rPr lang="en-US" altLang="zh-CN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+5</a:t>
                      </a:r>
                      <a:r>
                        <a:rPr lang="zh-CN" altLang="en-US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位流水）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800001-899999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自动编码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extLst>
                  <a:ext uri="{0D108BD9-81ED-4DB2-BD59-A6C34878D82A}">
                    <a16:rowId xmlns:a16="http://schemas.microsoft.com/office/drawing/2014/main" val="412652344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员工</a:t>
                      </a:r>
                      <a:r>
                        <a:rPr lang="en-US" altLang="zh-CN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BP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位（</a:t>
                      </a:r>
                      <a:r>
                        <a:rPr lang="en-US" altLang="zh-CN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位分类</a:t>
                      </a:r>
                      <a:r>
                        <a:rPr lang="en-US" altLang="zh-CN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+5</a:t>
                      </a:r>
                      <a:r>
                        <a:rPr lang="zh-CN" altLang="en-US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位流水）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900001-999999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400" b="1" i="0" dirty="0">
                          <a:solidFill>
                            <a:srgbClr val="22222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自动编码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extLst>
                  <a:ext uri="{0D108BD9-81ED-4DB2-BD59-A6C34878D82A}">
                    <a16:rowId xmlns:a16="http://schemas.microsoft.com/office/drawing/2014/main" val="3188912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53664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191DFA-CE47-682D-8731-565229148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zh-CN" altLang="en-US" sz="2600" b="1" dirty="0">
                <a:solidFill>
                  <a:srgbClr val="0E2841"/>
                </a:solidFill>
                <a:latin typeface="Microsoft YaHei"/>
              </a:rPr>
              <a:t>财务科目编码规则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BD5EB7-07AE-88BF-5828-D90AD92789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0" tIns="0" rIns="0" bIns="0" rtlCol="0" anchor="ctr">
            <a:noAutofit/>
          </a:bodyPr>
          <a:lstStyle/>
          <a:p>
            <a:r>
              <a:rPr lang="en-US" altLang="zh-CN" dirty="0"/>
              <a:t>10</a:t>
            </a:r>
            <a:r>
              <a:rPr lang="zh-CN" altLang="en-US" dirty="0"/>
              <a:t>位编码科目不变，科目清洗</a:t>
            </a:r>
            <a:r>
              <a:rPr lang="en-US" altLang="zh-CN" dirty="0"/>
              <a:t>&amp;</a:t>
            </a:r>
            <a:r>
              <a:rPr lang="zh-CN" altLang="en-US" dirty="0"/>
              <a:t>三个优化方向（科目数量从</a:t>
            </a:r>
            <a:r>
              <a:rPr lang="en-US" altLang="zh-CN" dirty="0"/>
              <a:t>1800</a:t>
            </a:r>
            <a:r>
              <a:rPr lang="zh-CN" altLang="en-US" dirty="0"/>
              <a:t>多压缩到</a:t>
            </a:r>
            <a:r>
              <a:rPr lang="en-US" altLang="zh-CN" dirty="0"/>
              <a:t>500</a:t>
            </a:r>
            <a:r>
              <a:rPr lang="zh-CN" altLang="en-US" dirty="0"/>
              <a:t>以内）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14D41A-916D-D673-73A2-7E575C5F7A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t>25</a:t>
            </a:fld>
            <a:endParaRPr lang="nl-NL"/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58FAAF03-4D6C-2AB7-F954-AB395AFCE6ED}"/>
              </a:ext>
            </a:extLst>
          </p:cNvPr>
          <p:cNvSpPr/>
          <p:nvPr/>
        </p:nvSpPr>
        <p:spPr>
          <a:xfrm>
            <a:off x="737118" y="1203766"/>
            <a:ext cx="10627568" cy="5102871"/>
          </a:xfrm>
          <a:prstGeom prst="rect">
            <a:avLst/>
          </a:prstGeom>
          <a:solidFill>
            <a:srgbClr val="FFFFFF"/>
          </a:solidFill>
          <a:ln w="9525">
            <a:solidFill>
              <a:srgbClr val="CC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18">
            <a:extLst>
              <a:ext uri="{FF2B5EF4-FFF2-40B4-BE49-F238E27FC236}">
                <a16:creationId xmlns:a16="http://schemas.microsoft.com/office/drawing/2014/main" id="{A1BB2C21-CC2E-3C89-5DD1-5409EFCACD14}"/>
              </a:ext>
            </a:extLst>
          </p:cNvPr>
          <p:cNvSpPr txBox="1"/>
          <p:nvPr/>
        </p:nvSpPr>
        <p:spPr>
          <a:xfrm>
            <a:off x="989045" y="1381200"/>
            <a:ext cx="10123714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u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大幅度减少现金银行科目数量，避免不用的科目一直冗余（启用银行子账户模块功能）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buFont typeface="Wingdings" panose="05000000000000000000" pitchFamily="2" charset="2"/>
              <a:buChar char="u"/>
            </a:pP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全新按照规律编排费用科目科目：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AAAA+BBB+CCC</a:t>
            </a:r>
          </a:p>
          <a:p>
            <a:r>
              <a:rPr 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	</a:t>
            </a: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AAAA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为一级科目编码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	BBB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为费用科目类别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	CCC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为一个类别下的具体科目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需要记录交易对象科目借用客户类统驭科目，避免新建大量科目，以及这些交易对象金额为零时，科目冗余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交易性金融资产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债券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交易性金融资产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股票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交易性金融资产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证券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交易性金融资产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基金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交易性金融资产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结构性存款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交易性金融资产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理财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长期股权投资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合同资产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其他债权投资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长期股权投资减值准备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其他权益工具投资 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其他权益工具投资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公允价值变动、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其他权益工具投资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信用减值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长期借款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65821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BDE3D3-C5AB-0106-ED9C-C2A148830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成本中心新的编码规则建议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022427-9033-01EA-F460-CD6027B695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lang="zh-CN" altLang="en-US" dirty="0"/>
              <a:t>成本中心编码分段定义和示例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49C8A5-AB18-04E1-C947-E339C07BCF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t>26</a:t>
            </a:fld>
            <a:endParaRPr lang="nl-NL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089E59-CBFA-B657-5E4D-38EE5F2737B0}"/>
              </a:ext>
            </a:extLst>
          </p:cNvPr>
          <p:cNvSpPr txBox="1"/>
          <p:nvPr/>
        </p:nvSpPr>
        <p:spPr>
          <a:xfrm>
            <a:off x="5924143" y="1780816"/>
            <a:ext cx="497022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                成本中心编码</a:t>
            </a:r>
            <a:r>
              <a:rPr lang="en-US" altLang="zh-CN" dirty="0"/>
              <a:t>10</a:t>
            </a:r>
            <a:r>
              <a:rPr lang="zh-CN" altLang="en-US" dirty="0"/>
              <a:t>位:        </a:t>
            </a:r>
            <a:endParaRPr lang="en-US" altLang="zh-CN" dirty="0"/>
          </a:p>
          <a:p>
            <a:r>
              <a:rPr lang="en-US" altLang="zh-CN" dirty="0"/>
              <a:t>                  FZ</a:t>
            </a:r>
            <a:r>
              <a:rPr lang="zh-CN" altLang="en-US" dirty="0"/>
              <a:t>0</a:t>
            </a:r>
            <a:r>
              <a:rPr lang="en-US" altLang="zh-CN" dirty="0"/>
              <a:t>0-</a:t>
            </a:r>
            <a:r>
              <a:rPr lang="zh-CN" altLang="en-US" dirty="0"/>
              <a:t>0</a:t>
            </a:r>
            <a:r>
              <a:rPr lang="en-US" altLang="zh-CN" dirty="0"/>
              <a:t>10203</a:t>
            </a:r>
            <a:endParaRPr lang="zh-CN" altLang="en-US" dirty="0"/>
          </a:p>
          <a:p>
            <a:r>
              <a:rPr lang="zh-CN" altLang="en-US" dirty="0"/>
              <a:t> </a:t>
            </a:r>
            <a:r>
              <a:rPr lang="en-US" altLang="zh-CN" dirty="0"/>
              <a:t>	 </a:t>
            </a:r>
            <a:r>
              <a:rPr lang="zh-CN" altLang="en-US" dirty="0"/>
              <a:t>│          │      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 │ </a:t>
            </a:r>
            <a:r>
              <a:rPr lang="en-US" altLang="zh-CN" dirty="0"/>
              <a:t>         </a:t>
            </a:r>
            <a:r>
              <a:rPr lang="zh-CN" altLang="en-US" dirty="0"/>
              <a:t>│      </a:t>
            </a:r>
            <a:endParaRPr lang="en-US" altLang="zh-CN" dirty="0"/>
          </a:p>
          <a:p>
            <a:r>
              <a:rPr lang="zh-CN" altLang="en-US" dirty="0"/>
              <a:t> </a:t>
            </a:r>
            <a:r>
              <a:rPr lang="en-US" altLang="zh-CN" dirty="0"/>
              <a:t>	 </a:t>
            </a:r>
            <a:r>
              <a:rPr lang="zh-CN" altLang="en-US" dirty="0"/>
              <a:t>│          │</a:t>
            </a:r>
            <a:endParaRPr lang="en-US" altLang="zh-CN" dirty="0"/>
          </a:p>
          <a:p>
            <a:r>
              <a:rPr lang="en-US" altLang="zh-CN" dirty="0"/>
              <a:t>	 </a:t>
            </a:r>
            <a:r>
              <a:rPr lang="zh-CN" altLang="en-US" dirty="0"/>
              <a:t>│          │ 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	 </a:t>
            </a:r>
            <a:r>
              <a:rPr lang="zh-CN" altLang="en-US" dirty="0"/>
              <a:t>│          │     </a:t>
            </a:r>
            <a:endParaRPr lang="en-US" altLang="zh-CN" dirty="0"/>
          </a:p>
          <a:p>
            <a:r>
              <a:rPr lang="en-US" altLang="zh-CN" dirty="0"/>
              <a:t>	 </a:t>
            </a:r>
            <a:r>
              <a:rPr lang="zh-CN" altLang="en-US" dirty="0"/>
              <a:t>│          │      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 │          │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 │          │ </a:t>
            </a:r>
            <a:r>
              <a:rPr lang="en-US" altLang="zh-CN" dirty="0"/>
              <a:t>	</a:t>
            </a:r>
          </a:p>
          <a:p>
            <a:r>
              <a:rPr lang="en-US" altLang="zh-CN" dirty="0"/>
              <a:t> 	 </a:t>
            </a:r>
            <a:r>
              <a:rPr lang="zh-CN" altLang="en-US" dirty="0"/>
              <a:t>│          └────────── 核算分级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	 </a:t>
            </a:r>
            <a:r>
              <a:rPr lang="zh-CN" altLang="en-US" dirty="0"/>
              <a:t>│ </a:t>
            </a:r>
            <a:endParaRPr lang="en-US" altLang="zh-CN" dirty="0"/>
          </a:p>
          <a:p>
            <a:r>
              <a:rPr lang="en-US" altLang="zh-CN" dirty="0"/>
              <a:t>	 </a:t>
            </a:r>
            <a:r>
              <a:rPr lang="zh-CN" altLang="en-US" dirty="0"/>
              <a:t>└────────────公司代码</a:t>
            </a:r>
            <a:endParaRPr lang="en-US" altLang="zh-CN" dirty="0"/>
          </a:p>
          <a:p>
            <a:endParaRPr lang="zh-CN" altLang="en-US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D9534E32-A4F9-A89E-36F0-AA8A05F2D584}"/>
              </a:ext>
            </a:extLst>
          </p:cNvPr>
          <p:cNvGraphicFramePr>
            <a:graphicFrameLocks noGrp="1"/>
          </p:cNvGraphicFramePr>
          <p:nvPr/>
        </p:nvGraphicFramePr>
        <p:xfrm>
          <a:off x="718073" y="2102930"/>
          <a:ext cx="5822685" cy="27848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549349">
                  <a:extLst>
                    <a:ext uri="{9D8B030D-6E8A-4147-A177-3AD203B41FA5}">
                      <a16:colId xmlns:a16="http://schemas.microsoft.com/office/drawing/2014/main" val="1095236808"/>
                    </a:ext>
                  </a:extLst>
                </a:gridCol>
                <a:gridCol w="1269614">
                  <a:extLst>
                    <a:ext uri="{9D8B030D-6E8A-4147-A177-3AD203B41FA5}">
                      <a16:colId xmlns:a16="http://schemas.microsoft.com/office/drawing/2014/main" val="3684151334"/>
                    </a:ext>
                  </a:extLst>
                </a:gridCol>
                <a:gridCol w="3003722">
                  <a:extLst>
                    <a:ext uri="{9D8B030D-6E8A-4147-A177-3AD203B41FA5}">
                      <a16:colId xmlns:a16="http://schemas.microsoft.com/office/drawing/2014/main" val="1006328600"/>
                    </a:ext>
                  </a:extLst>
                </a:gridCol>
              </a:tblGrid>
              <a:tr h="624820">
                <a:tc>
                  <a:txBody>
                    <a:bodyPr/>
                    <a:lstStyle/>
                    <a:p>
                      <a:pPr indent="0" algn="ctr">
                        <a:lnSpc>
                          <a:spcPts val="1200"/>
                        </a:lnSpc>
                        <a:buNone/>
                      </a:pPr>
                      <a:r>
                        <a:rPr lang="zh-CN" sz="1600" b="1" spc="0" dirty="0">
                          <a:solidFill>
                            <a:srgbClr val="222222"/>
                          </a:solidFill>
                          <a:effectLst/>
                        </a:rPr>
                        <a:t>段位</a:t>
                      </a:r>
                      <a:endParaRPr lang="zh-CN" sz="1600" b="1" i="0" spc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1200"/>
                        </a:lnSpc>
                        <a:buNone/>
                      </a:pPr>
                      <a:r>
                        <a:rPr lang="zh-CN" sz="1600" b="1" spc="0" dirty="0">
                          <a:solidFill>
                            <a:srgbClr val="222222"/>
                          </a:solidFill>
                          <a:effectLst/>
                        </a:rPr>
                        <a:t>位数</a:t>
                      </a:r>
                      <a:endParaRPr lang="zh-CN" sz="1600" b="1" i="0" spc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1200"/>
                        </a:lnSpc>
                        <a:buNone/>
                      </a:pPr>
                      <a:r>
                        <a:rPr lang="zh-CN" sz="1600" b="1" spc="0" dirty="0">
                          <a:solidFill>
                            <a:srgbClr val="222222"/>
                          </a:solidFill>
                          <a:effectLst/>
                        </a:rPr>
                        <a:t>名称</a:t>
                      </a:r>
                      <a:endParaRPr lang="zh-CN" sz="1600" b="1" i="0" spc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68204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zh-CN" sz="1400" b="1" dirty="0">
                          <a:solidFill>
                            <a:srgbClr val="222222"/>
                          </a:solidFill>
                          <a:effectLst/>
                        </a:rPr>
                        <a:t>第1段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rgbClr val="222222"/>
                          </a:solidFill>
                          <a:effectLst/>
                        </a:rPr>
                        <a:t>4</a:t>
                      </a:r>
                      <a:r>
                        <a:rPr lang="zh-CN" altLang="en-US" sz="1400" b="1" dirty="0">
                          <a:solidFill>
                            <a:srgbClr val="222222"/>
                          </a:solidFill>
                          <a:effectLst/>
                        </a:rPr>
                        <a:t>位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400" b="1" dirty="0">
                          <a:solidFill>
                            <a:srgbClr val="222222"/>
                          </a:solidFill>
                          <a:effectLst/>
                        </a:rPr>
                        <a:t>公司代码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extLst>
                  <a:ext uri="{0D108BD9-81ED-4DB2-BD59-A6C34878D82A}">
                    <a16:rowId xmlns:a16="http://schemas.microsoft.com/office/drawing/2014/main" val="396905113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zh-CN" sz="1400" b="1" dirty="0">
                          <a:solidFill>
                            <a:srgbClr val="222222"/>
                          </a:solidFill>
                          <a:effectLst/>
                        </a:rPr>
                        <a:t>第2段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rgbClr val="222222"/>
                          </a:solidFill>
                          <a:effectLst/>
                        </a:rPr>
                        <a:t>2</a:t>
                      </a:r>
                      <a:r>
                        <a:rPr lang="zh-CN" sz="1400" b="1" dirty="0">
                          <a:solidFill>
                            <a:srgbClr val="222222"/>
                          </a:solidFill>
                          <a:effectLst/>
                        </a:rPr>
                        <a:t>位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分类（管 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01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、销 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02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、研 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03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、制 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</a:rPr>
                        <a:t>04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</a:rPr>
                        <a:t>）</a:t>
                      </a:r>
                      <a:endParaRPr lang="zh-CN" sz="1400" b="1" i="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extLst>
                  <a:ext uri="{0D108BD9-81ED-4DB2-BD59-A6C34878D82A}">
                    <a16:rowId xmlns:a16="http://schemas.microsoft.com/office/drawing/2014/main" val="26434713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zh-CN" sz="1400" b="1" dirty="0">
                          <a:solidFill>
                            <a:srgbClr val="222222"/>
                          </a:solidFill>
                          <a:effectLst/>
                        </a:rPr>
                        <a:t>第3段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rgbClr val="222222"/>
                          </a:solidFill>
                          <a:effectLst/>
                        </a:rPr>
                        <a:t>2</a:t>
                      </a:r>
                      <a:r>
                        <a:rPr lang="zh-CN" sz="1400" b="1" dirty="0">
                          <a:solidFill>
                            <a:srgbClr val="222222"/>
                          </a:solidFill>
                          <a:effectLst/>
                        </a:rPr>
                        <a:t>位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400" b="1" dirty="0">
                          <a:solidFill>
                            <a:srgbClr val="222222"/>
                          </a:solidFill>
                          <a:effectLst/>
                        </a:rPr>
                        <a:t>组织分级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extLst>
                  <a:ext uri="{0D108BD9-81ED-4DB2-BD59-A6C34878D82A}">
                    <a16:rowId xmlns:a16="http://schemas.microsoft.com/office/drawing/2014/main" val="196791218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zh-CN" sz="1400" b="1" dirty="0">
                          <a:solidFill>
                            <a:srgbClr val="222222"/>
                          </a:solidFill>
                          <a:effectLst/>
                        </a:rPr>
                        <a:t>第</a:t>
                      </a:r>
                      <a:r>
                        <a:rPr lang="en-US" altLang="zh-CN" sz="1400" b="1" dirty="0">
                          <a:solidFill>
                            <a:srgbClr val="222222"/>
                          </a:solidFill>
                          <a:effectLst/>
                        </a:rPr>
                        <a:t>4</a:t>
                      </a:r>
                      <a:r>
                        <a:rPr lang="zh-CN" sz="1400" b="1" dirty="0">
                          <a:solidFill>
                            <a:srgbClr val="222222"/>
                          </a:solidFill>
                          <a:effectLst/>
                        </a:rPr>
                        <a:t>段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rgbClr val="222222"/>
                          </a:solidFill>
                          <a:effectLst/>
                        </a:rPr>
                        <a:t>2</a:t>
                      </a:r>
                      <a:r>
                        <a:rPr lang="zh-CN" sz="1400" b="1" dirty="0">
                          <a:solidFill>
                            <a:srgbClr val="222222"/>
                          </a:solidFill>
                          <a:effectLst/>
                        </a:rPr>
                        <a:t>位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400" b="1" i="0" dirty="0">
                          <a:solidFill>
                            <a:srgbClr val="222222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顺序编码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extLst>
                  <a:ext uri="{0D108BD9-81ED-4DB2-BD59-A6C34878D82A}">
                    <a16:rowId xmlns:a16="http://schemas.microsoft.com/office/drawing/2014/main" val="1191109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16393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E47CDA-BF53-CA1E-F0B9-DB2A27110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zh-CN" altLang="en-US" sz="2600" b="1" dirty="0">
                <a:solidFill>
                  <a:srgbClr val="0E2841"/>
                </a:solidFill>
                <a:latin typeface="Microsoft YaHei"/>
              </a:rPr>
              <a:t>利润中心新的编码规则建议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D14087-BCC3-A546-E3DD-C08F86A45E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lang="zh-CN" altLang="en-US" dirty="0"/>
              <a:t>利润中心编码分段定义和示例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41FC43-CC0F-1C3E-F9ED-DB7E23C42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t>27</a:t>
            </a:fld>
            <a:endParaRPr lang="nl-NL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30E3860-E17A-238B-66F4-C869226E6EA2}"/>
              </a:ext>
            </a:extLst>
          </p:cNvPr>
          <p:cNvSpPr txBox="1"/>
          <p:nvPr/>
        </p:nvSpPr>
        <p:spPr>
          <a:xfrm>
            <a:off x="6570020" y="1780816"/>
            <a:ext cx="497022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                利润中心编码</a:t>
            </a:r>
            <a:r>
              <a:rPr lang="en-US" altLang="zh-CN" dirty="0"/>
              <a:t>4</a:t>
            </a:r>
            <a:r>
              <a:rPr lang="zh-CN" altLang="en-US" dirty="0"/>
              <a:t>位:        </a:t>
            </a:r>
            <a:endParaRPr lang="en-US" altLang="zh-CN" dirty="0"/>
          </a:p>
          <a:p>
            <a:r>
              <a:rPr lang="en-US" altLang="zh-CN" dirty="0"/>
              <a:t>                  PC10</a:t>
            </a:r>
            <a:r>
              <a:rPr lang="zh-CN" altLang="en-US" dirty="0"/>
              <a:t>（</a:t>
            </a:r>
            <a:r>
              <a:rPr lang="en-US" altLang="zh-CN" dirty="0"/>
              <a:t>20/30/40/50,</a:t>
            </a:r>
            <a:r>
              <a:rPr lang="zh-CN" altLang="en-US" dirty="0"/>
              <a:t>代表</a:t>
            </a:r>
            <a:r>
              <a:rPr lang="en-US" altLang="zh-CN" dirty="0"/>
              <a:t>5</a:t>
            </a:r>
            <a:r>
              <a:rPr lang="zh-CN" altLang="en-US" dirty="0"/>
              <a:t>个事业部）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	 </a:t>
            </a:r>
            <a:r>
              <a:rPr lang="zh-CN" altLang="en-US" dirty="0"/>
              <a:t>│    │        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 │    │           </a:t>
            </a:r>
            <a:endParaRPr lang="en-US" altLang="zh-CN" dirty="0"/>
          </a:p>
          <a:p>
            <a:r>
              <a:rPr lang="zh-CN" altLang="en-US" dirty="0"/>
              <a:t> </a:t>
            </a:r>
            <a:r>
              <a:rPr lang="en-US" altLang="zh-CN" dirty="0"/>
              <a:t>	 </a:t>
            </a:r>
            <a:r>
              <a:rPr lang="zh-CN" altLang="en-US" dirty="0"/>
              <a:t>│    │           </a:t>
            </a:r>
            <a:endParaRPr lang="en-US" altLang="zh-CN" dirty="0"/>
          </a:p>
          <a:p>
            <a:r>
              <a:rPr lang="en-US" altLang="zh-CN" dirty="0"/>
              <a:t>	 </a:t>
            </a:r>
            <a:r>
              <a:rPr lang="zh-CN" altLang="en-US" dirty="0"/>
              <a:t>│    │          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	 </a:t>
            </a:r>
            <a:r>
              <a:rPr lang="zh-CN" altLang="en-US" dirty="0"/>
              <a:t>│    │           </a:t>
            </a:r>
            <a:endParaRPr lang="en-US" altLang="zh-CN" dirty="0"/>
          </a:p>
          <a:p>
            <a:r>
              <a:rPr lang="en-US" altLang="zh-CN" dirty="0"/>
              <a:t>	 </a:t>
            </a:r>
            <a:r>
              <a:rPr lang="zh-CN" altLang="en-US" dirty="0"/>
              <a:t>│    │          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 │    │      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 │    │      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	</a:t>
            </a:r>
            <a:r>
              <a:rPr lang="zh-CN" altLang="en-US" dirty="0"/>
              <a:t> │    │ </a:t>
            </a:r>
            <a:endParaRPr lang="en-US" altLang="zh-CN" dirty="0"/>
          </a:p>
          <a:p>
            <a:r>
              <a:rPr lang="en-US" altLang="zh-CN" dirty="0"/>
              <a:t> 	 </a:t>
            </a:r>
            <a:r>
              <a:rPr lang="zh-CN" altLang="en-US" dirty="0"/>
              <a:t>│    └────────── 事业部</a:t>
            </a:r>
          </a:p>
          <a:p>
            <a:r>
              <a:rPr lang="zh-CN" altLang="en-US" dirty="0"/>
              <a:t> </a:t>
            </a:r>
            <a:r>
              <a:rPr lang="en-US" altLang="zh-CN" dirty="0"/>
              <a:t>	 </a:t>
            </a:r>
            <a:r>
              <a:rPr lang="zh-CN" altLang="en-US" dirty="0"/>
              <a:t>│ </a:t>
            </a:r>
            <a:endParaRPr lang="en-US" altLang="zh-CN" dirty="0"/>
          </a:p>
          <a:p>
            <a:r>
              <a:rPr lang="en-US" altLang="zh-CN" dirty="0"/>
              <a:t>	 </a:t>
            </a:r>
            <a:r>
              <a:rPr lang="zh-CN" altLang="en-US" dirty="0"/>
              <a:t>└────────────利润中心标识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50AB5A42-7851-F679-93A1-67D1643FD473}"/>
              </a:ext>
            </a:extLst>
          </p:cNvPr>
          <p:cNvGraphicFramePr>
            <a:graphicFrameLocks noGrp="1"/>
          </p:cNvGraphicFramePr>
          <p:nvPr/>
        </p:nvGraphicFramePr>
        <p:xfrm>
          <a:off x="845327" y="2652840"/>
          <a:ext cx="5487379" cy="17048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460128">
                  <a:extLst>
                    <a:ext uri="{9D8B030D-6E8A-4147-A177-3AD203B41FA5}">
                      <a16:colId xmlns:a16="http://schemas.microsoft.com/office/drawing/2014/main" val="1095236808"/>
                    </a:ext>
                  </a:extLst>
                </a:gridCol>
                <a:gridCol w="1196502">
                  <a:extLst>
                    <a:ext uri="{9D8B030D-6E8A-4147-A177-3AD203B41FA5}">
                      <a16:colId xmlns:a16="http://schemas.microsoft.com/office/drawing/2014/main" val="3684151334"/>
                    </a:ext>
                  </a:extLst>
                </a:gridCol>
                <a:gridCol w="2830749">
                  <a:extLst>
                    <a:ext uri="{9D8B030D-6E8A-4147-A177-3AD203B41FA5}">
                      <a16:colId xmlns:a16="http://schemas.microsoft.com/office/drawing/2014/main" val="1006328600"/>
                    </a:ext>
                  </a:extLst>
                </a:gridCol>
              </a:tblGrid>
              <a:tr h="624820">
                <a:tc>
                  <a:txBody>
                    <a:bodyPr/>
                    <a:lstStyle/>
                    <a:p>
                      <a:pPr indent="0" algn="ctr">
                        <a:lnSpc>
                          <a:spcPts val="1200"/>
                        </a:lnSpc>
                        <a:buNone/>
                      </a:pPr>
                      <a:r>
                        <a:rPr lang="zh-CN" sz="1600" b="1" spc="0" dirty="0">
                          <a:solidFill>
                            <a:srgbClr val="222222"/>
                          </a:solidFill>
                          <a:effectLst/>
                        </a:rPr>
                        <a:t>段位</a:t>
                      </a:r>
                      <a:endParaRPr lang="zh-CN" sz="1600" b="1" i="0" spc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1200"/>
                        </a:lnSpc>
                        <a:buNone/>
                      </a:pPr>
                      <a:r>
                        <a:rPr lang="zh-CN" sz="1600" b="1" spc="0" dirty="0">
                          <a:solidFill>
                            <a:srgbClr val="222222"/>
                          </a:solidFill>
                          <a:effectLst/>
                        </a:rPr>
                        <a:t>位数</a:t>
                      </a:r>
                      <a:endParaRPr lang="zh-CN" sz="1600" b="1" i="0" spc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ts val="1200"/>
                        </a:lnSpc>
                        <a:buNone/>
                      </a:pPr>
                      <a:r>
                        <a:rPr lang="zh-CN" sz="1600" b="1" spc="0" dirty="0">
                          <a:solidFill>
                            <a:srgbClr val="222222"/>
                          </a:solidFill>
                          <a:effectLst/>
                        </a:rPr>
                        <a:t>名称</a:t>
                      </a:r>
                      <a:endParaRPr lang="zh-CN" sz="1600" b="1" i="0" spc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68204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zh-CN" sz="1400" b="1" dirty="0">
                          <a:solidFill>
                            <a:srgbClr val="222222"/>
                          </a:solidFill>
                          <a:effectLst/>
                        </a:rPr>
                        <a:t>第1段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rgbClr val="222222"/>
                          </a:solidFill>
                          <a:effectLst/>
                        </a:rPr>
                        <a:t>2</a:t>
                      </a:r>
                      <a:r>
                        <a:rPr lang="zh-CN" altLang="en-US" sz="1400" b="1" dirty="0">
                          <a:solidFill>
                            <a:srgbClr val="222222"/>
                          </a:solidFill>
                          <a:effectLst/>
                        </a:rPr>
                        <a:t>位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rgbClr val="222222"/>
                          </a:solidFill>
                          <a:effectLst/>
                        </a:rPr>
                        <a:t>PC-</a:t>
                      </a:r>
                      <a:r>
                        <a:rPr lang="zh-CN" altLang="en-US" sz="1400" b="1" dirty="0">
                          <a:solidFill>
                            <a:srgbClr val="222222"/>
                          </a:solidFill>
                          <a:effectLst/>
                        </a:rPr>
                        <a:t>利润中心标识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extLst>
                  <a:ext uri="{0D108BD9-81ED-4DB2-BD59-A6C34878D82A}">
                    <a16:rowId xmlns:a16="http://schemas.microsoft.com/office/drawing/2014/main" val="396905113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zh-CN" sz="1400" b="1" dirty="0">
                          <a:solidFill>
                            <a:srgbClr val="222222"/>
                          </a:solidFill>
                          <a:effectLst/>
                        </a:rPr>
                        <a:t>第2段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en-US" altLang="zh-CN" sz="1400" b="1" dirty="0">
                          <a:solidFill>
                            <a:srgbClr val="222222"/>
                          </a:solidFill>
                          <a:effectLst/>
                        </a:rPr>
                        <a:t>2</a:t>
                      </a:r>
                      <a:r>
                        <a:rPr lang="zh-CN" sz="1400" b="1" dirty="0">
                          <a:solidFill>
                            <a:srgbClr val="222222"/>
                          </a:solidFill>
                          <a:effectLst/>
                        </a:rPr>
                        <a:t>位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ts val="1650"/>
                        </a:lnSpc>
                        <a:buNone/>
                      </a:pPr>
                      <a:r>
                        <a:rPr lang="zh-CN" altLang="en-US" sz="1400" b="1" i="0" dirty="0">
                          <a:solidFill>
                            <a:srgbClr val="222222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代表事业部</a:t>
                      </a:r>
                      <a:endParaRPr lang="zh-CN" sz="1400" b="1" i="0" dirty="0">
                        <a:solidFill>
                          <a:srgbClr val="222222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85868" marR="85868" marT="61334" marB="61334" anchor="ctr"/>
                </a:tc>
                <a:extLst>
                  <a:ext uri="{0D108BD9-81ED-4DB2-BD59-A6C34878D82A}">
                    <a16:rowId xmlns:a16="http://schemas.microsoft.com/office/drawing/2014/main" val="264347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43419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0E2841"/>
                </a:solidFill>
                <a:latin typeface="Microsoft YaHei"/>
              </a:rPr>
              <a:t>映射标准与物料描述规范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Microsoft YaHei"/>
              </a:rPr>
              <a:t>建立跨系统映射台账和统一的物料描述规则，确保数据可追溯、可对账。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4864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56082"/>
                </a:solidFill>
                <a:latin typeface="Microsoft YaHei"/>
              </a:rPr>
              <a:t>跨系统映射标准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1371600" cy="4206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2194560"/>
            <a:ext cx="12435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映射类型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2194560"/>
            <a:ext cx="4114800" cy="4206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01952" y="2194560"/>
            <a:ext cx="39867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说明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15184"/>
            <a:ext cx="13716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" y="2615184"/>
            <a:ext cx="12435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旧新映射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2615184"/>
            <a:ext cx="41148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01952" y="2615184"/>
            <a:ext cx="39867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SAP旧码→S/4HANA新码，100%覆盖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35808"/>
            <a:ext cx="13716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" y="3035808"/>
            <a:ext cx="12435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跨系统映射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3035808"/>
            <a:ext cx="41148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01952" y="3035808"/>
            <a:ext cx="39867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SAP↔PLM/MES/SRM/CRM/电商编码台账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56432"/>
            <a:ext cx="13716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3456432"/>
            <a:ext cx="12435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BP映射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3456432"/>
            <a:ext cx="41148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901952" y="3456432"/>
            <a:ext cx="39867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旧客户/供应商→BP→角色→分组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877056"/>
            <a:ext cx="13716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3877056"/>
            <a:ext cx="12435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组织映射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3877056"/>
            <a:ext cx="41148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01952" y="3877056"/>
            <a:ext cx="39867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旧工厂/销售组织→目标组织架构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97680"/>
            <a:ext cx="13716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0352" y="4297680"/>
            <a:ext cx="12435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科目映射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4297680"/>
            <a:ext cx="41148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901952" y="4297680"/>
            <a:ext cx="39867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SAP科目↔财务共享科目体系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1737360"/>
            <a:ext cx="5486400" cy="429768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0" y="1737360"/>
            <a:ext cx="54864" cy="429768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1920240"/>
            <a:ext cx="5029200" cy="3931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56082"/>
                </a:solidFill>
                <a:latin typeface="Microsoft YaHei"/>
              </a:rPr>
              <a:t>物料描述规范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2841"/>
                </a:solidFill>
                <a:latin typeface="Microsoft YaHei"/>
              </a:rPr>
              <a:t>结构化描述原则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品类+规格+关键参数，禁止自由文本堆砌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2841"/>
                </a:solidFill>
                <a:latin typeface="Microsoft YaHei"/>
              </a:rPr>
              <a:t>电子件多品牌多价格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用AML(批准制造商清单)+特征属性结构化表达，不依赖文本备注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2841"/>
                </a:solidFill>
                <a:latin typeface="Microsoft YaHei"/>
              </a:rPr>
              <a:t>描述标准化步骤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① 提取现有描述  ② 清洗去重标准化  ③ 按品类建立模板  ④ 业务确认  ⑤ 冻结发布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2841"/>
                </a:solidFill>
                <a:latin typeface="Microsoft YaHei"/>
              </a:rPr>
              <a:t>质量门槛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描述规范率≥95%；必填字段完整率=100%；重复未处置率=0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F66CB-CA39-3469-FFF1-A874EA9B1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870F97-B892-A8F3-6227-6EB389E9CF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1247136" cy="1477328"/>
          </a:xfrm>
        </p:spPr>
        <p:txBody>
          <a:bodyPr/>
          <a:lstStyle/>
          <a:p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7CC9A16-26FB-FBEC-9A36-1FC6C4F7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/>
              </a:rPr>
              <a:t>数据治理架构整体设计</a:t>
            </a:r>
            <a:br>
              <a:rPr lang="en-US" altLang="zh-CN" dirty="0">
                <a:latin typeface="Microsoft YaHei"/>
              </a:rPr>
            </a:br>
            <a:r>
              <a:rPr lang="en-US" altLang="zh-CN" sz="4400" dirty="0">
                <a:latin typeface="Microsoft YaHei"/>
              </a:rPr>
              <a:t>-</a:t>
            </a:r>
            <a:r>
              <a:rPr lang="zh-CN" altLang="en-US" sz="4400" dirty="0">
                <a:latin typeface="Microsoft YaHei"/>
              </a:rPr>
              <a:t>主数据架构与权威源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2524371-40F4-B675-C7E1-5809952C8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284C19D-E4C4-83AA-36C8-C3B0DC59EF34}"/>
              </a:ext>
            </a:extLst>
          </p:cNvPr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36729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0E2841"/>
                </a:solidFill>
                <a:latin typeface="Microsoft YaHei"/>
              </a:rPr>
              <a:t>主数据分类框架：六类核心对象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Microsoft YaHei"/>
              </a:rPr>
              <a:t>按业务域将主数据分为物料类、产品结构类、客户类、供应商类、财务类、组织类六大域。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627120" cy="2103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627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783080"/>
            <a:ext cx="3407664" cy="18745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物料类主数据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成品、半成品、原材料、包装物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基本/采购/MRP/销售/会计视图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规模：879,558条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权威源建议：MDG/PLM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7200" y="1645920"/>
            <a:ext cx="3627120" cy="2103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67200" y="1645920"/>
            <a:ext cx="3627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6928" y="1783080"/>
            <a:ext cx="3407664" cy="18745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产品结构类主数据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BOM、工艺路线、工作中心、生产版本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EBOM-PBOM-MBOM映射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规模：61万表头/435万明细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权威源建议：PLM→MDG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7200" y="1645920"/>
            <a:ext cx="3627120" cy="2103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77200" y="1645920"/>
            <a:ext cx="3627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6928" y="1783080"/>
            <a:ext cx="3407664" cy="18745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客户类主数据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客户身份、层级、信用、价格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BP角色：售达/送达/付款方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规模：23,981条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权威源建议：CRM→MDG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3627120" cy="2103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931920"/>
            <a:ext cx="3627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4069080"/>
            <a:ext cx="3407664" cy="18745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供应商类主数据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供应商准入、画像、绩效、合规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BP角色：供应商/收款方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规模：10,039条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权威源建议：SRM→MDG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67200" y="3931920"/>
            <a:ext cx="3627120" cy="2103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67200" y="3931920"/>
            <a:ext cx="3627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6928" y="4069080"/>
            <a:ext cx="3407664" cy="18745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财务类主数据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科目表、成本中心、利润中心、交易伙伴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New G/L强制要求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规模：17,741科目/2,872成本中心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权威源建议：MDG/财务共享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77200" y="3931920"/>
            <a:ext cx="3627120" cy="2103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77200" y="3931920"/>
            <a:ext cx="3627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86928" y="4069080"/>
            <a:ext cx="3407664" cy="18745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组织类主数据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公司代码、工厂、销售/采购组织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19法人+8独立核算分公司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所有主数据分发基准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权威源建议：MDG(蓝图前置)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0E2841"/>
                </a:solidFill>
                <a:latin typeface="Microsoft YaHei"/>
              </a:rPr>
              <a:t>权威源设计：明确每类数据的“谁说了算”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Microsoft YaHei"/>
              </a:rPr>
              <a:t>按属性明确主导权归属，MDG管理核心身份属性，业务系统保留本地扩展字段，避免机械集中导致效率下降。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645920" cy="4206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1828800"/>
            <a:ext cx="151790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主数据域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1828800"/>
            <a:ext cx="3657600" cy="4206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76272" y="1828800"/>
            <a:ext cx="35295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建议权威源模式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828800"/>
            <a:ext cx="5943600" cy="4206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33872" y="1828800"/>
            <a:ext cx="58155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关键说明/待决策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49424"/>
            <a:ext cx="164592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2249424"/>
            <a:ext cx="151790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物料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2249424"/>
            <a:ext cx="36576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76272" y="2249424"/>
            <a:ext cx="35295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MDG统一标识+PLM设计属性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2249424"/>
            <a:ext cx="59436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33872" y="2249424"/>
            <a:ext cx="58155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编码在MDG，设计/工艺属性由PLM主导，需明确属性分责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70048"/>
            <a:ext cx="164592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2670048"/>
            <a:ext cx="151790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BOM/工艺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2670048"/>
            <a:ext cx="36576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176272" y="2670048"/>
            <a:ext cx="35295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PLM源头+MDG发布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2670048"/>
            <a:ext cx="59436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33872" y="2670048"/>
            <a:ext cx="58155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PLM管理EBOM/工艺，MDG负责发布与版本治理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90672"/>
            <a:ext cx="164592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" y="3090672"/>
            <a:ext cx="151790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客户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03120" y="3090672"/>
            <a:ext cx="36576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76272" y="3090672"/>
            <a:ext cx="35295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CRM身份+MDG黄金记录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3090672"/>
            <a:ext cx="59436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33872" y="3090672"/>
            <a:ext cx="58155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CRM维护客户身份与层级，MDG合并去重后分发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511296"/>
            <a:ext cx="164592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0352" y="3511296"/>
            <a:ext cx="151790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供应商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3120" y="3511296"/>
            <a:ext cx="36576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76272" y="3511296"/>
            <a:ext cx="35295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SRM准入+MDG黄金记录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20" y="3511296"/>
            <a:ext cx="59436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833872" y="3511296"/>
            <a:ext cx="58155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SRM管理准入与绩效，MDG统一BP与银行/税号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931920"/>
            <a:ext cx="164592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0352" y="3931920"/>
            <a:ext cx="151790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财务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3931920"/>
            <a:ext cx="36576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176272" y="3931920"/>
            <a:ext cx="35295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MDG/财务共享协同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20" y="3931920"/>
            <a:ext cx="59436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833872" y="3931920"/>
            <a:ext cx="58155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科目/成本中心/利润中心在蓝图阶段冻结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352544"/>
            <a:ext cx="164592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0352" y="4352544"/>
            <a:ext cx="151790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组织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03120" y="4352544"/>
            <a:ext cx="36576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176272" y="4352544"/>
            <a:ext cx="35295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MDG前置冻结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60720" y="4352544"/>
            <a:ext cx="59436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833872" y="4352544"/>
            <a:ext cx="58155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组织模型先于其他对象冻结，建立旧新映射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864608"/>
            <a:ext cx="1124712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333333"/>
                </a:solidFill>
                <a:latin typeface="Microsoft YaHei"/>
              </a:rPr>
              <a:t>原则：不是所有属性都在MDG维护——属性分责、按需分发、幂等可对账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0E2841"/>
                </a:solidFill>
                <a:latin typeface="Microsoft YaHei"/>
              </a:rPr>
              <a:t>物料主数据治理方案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Microsoft YaHei"/>
              </a:rPr>
              <a:t>针对一物多码、视图缺失、生命周期无闭环三大痛点，从编码、查重、分类、状态四方面治理。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532120" cy="2103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783080"/>
            <a:ext cx="5312664" cy="18745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统一编码规则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冻结集团级编码标准矩阵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12位分段式，预留扩展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创建前必须MDG查重+规则校验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禁止后台直接创建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532120" cy="2103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81928" y="1783080"/>
            <a:ext cx="5312664" cy="18745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查重合并治理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MDG查重识别历史重复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建立旧码→新码映射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区分可归档僵尸与需保留记录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业务确认后合并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5532120" cy="2103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4069080"/>
            <a:ext cx="5312664" cy="18745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分类特性管理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建立物料分类树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电子件用AML+特征属性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多品牌多价格结构化表达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不依赖文本备注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931920"/>
            <a:ext cx="5532120" cy="2103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393192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81928" y="4069080"/>
            <a:ext cx="5312664" cy="18745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生命周期状态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申请→审批→创建→发布→使用→变更→冻结→归档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超2年未采购自动触发冻结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失效物料通知下游系统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老料号不可直接引用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0E2841"/>
                </a:solidFill>
                <a:latin typeface="Microsoft YaHei"/>
              </a:rPr>
              <a:t>BOM·工艺·客商·财务治理方案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Microsoft YaHei"/>
              </a:rPr>
              <a:t>各域治理重点不同：BOM重版本血缘，客商重身份合并，财务重维度映射，均需在蓝图前置。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627120" cy="4389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627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783080"/>
            <a:ext cx="3407664" cy="4160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BOM与工艺治理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以变更号(Change Number)为核心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建立EBOM-PBOM-MBOM映射标准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版本+生效日期+用途管理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PLM→ERP→MES发布链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替代料与版本生效管理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7200" y="1645920"/>
            <a:ext cx="3627120" cy="4389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67200" y="1645920"/>
            <a:ext cx="3627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6928" y="1783080"/>
            <a:ext cx="3407664" cy="4160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客商BP治理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建立身份合并键(税号/信用代码)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明确CRM/SRM与MDG分责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完成CVI/BP统一转换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银行/税号格式校验+黑白名单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信用管理启用自动拦截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7200" y="1645920"/>
            <a:ext cx="3627120" cy="4389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77200" y="1645920"/>
            <a:ext cx="3627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6928" y="1783080"/>
            <a:ext cx="3407664" cy="4160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财务与组织治理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利润中心目标设计(蓝图前置)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科目表与组织架构映射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成本中心→利润中心关联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内部交易伙伴字段维护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统一法人科目启用矩阵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78200-11A2-EFD2-4A92-3BB23F1EE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48D599-A225-4459-ED41-98E9A78DAD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1247136" cy="1477328"/>
          </a:xfrm>
        </p:spPr>
        <p:txBody>
          <a:bodyPr/>
          <a:lstStyle/>
          <a:p>
            <a:r>
              <a:rPr lang="en-US" altLang="zh-CN" dirty="0"/>
              <a:t>06</a:t>
            </a:r>
            <a:endParaRPr lang="zh-CN" alt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DA21853-65B0-D2C6-8FEC-3A455CE7C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>
                <a:latin typeface="Microsoft YaHei"/>
              </a:rPr>
              <a:t>数据治理架构整体设计</a:t>
            </a:r>
            <a:br>
              <a:rPr lang="en-US" altLang="zh-CN" sz="4400" dirty="0">
                <a:latin typeface="Microsoft YaHei"/>
              </a:rPr>
            </a:br>
            <a:r>
              <a:rPr lang="en-US" altLang="zh-CN" sz="3600" dirty="0">
                <a:latin typeface="Microsoft YaHei"/>
              </a:rPr>
              <a:t>-</a:t>
            </a:r>
            <a:r>
              <a:rPr lang="zh-CN" altLang="en-US" sz="3600" dirty="0">
                <a:latin typeface="Microsoft YaHei"/>
              </a:rPr>
              <a:t>主数据全生命周期管理</a:t>
            </a:r>
            <a:endParaRPr lang="zh-CN" altLang="en-US" sz="4400" dirty="0">
              <a:latin typeface="Microsoft YaHei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092ED94-C1CD-A80D-A2CC-281CC7462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057EFDE-204F-1E82-E2DC-2675B93A9D8D}"/>
              </a:ext>
            </a:extLst>
          </p:cNvPr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9098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0E2841"/>
                </a:solidFill>
                <a:latin typeface="Microsoft YaHei"/>
              </a:rPr>
              <a:t>全生命周期管理框架：九阶段全程留痕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Microsoft YaHei"/>
              </a:rPr>
              <a:t>构建覆盖申请↔归档全流程的闭环管理，确保数据从产生到消亡全程可追溯、可审计。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" y="2011680"/>
            <a:ext cx="1194816" cy="1005840"/>
          </a:xfrm>
          <a:prstGeom prst="round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4632" y="2011680"/>
            <a:ext cx="1194816" cy="10058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申请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34312" y="2011680"/>
            <a:ext cx="1194816" cy="1005840"/>
          </a:xfrm>
          <a:prstGeom prst="round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34312" y="2011680"/>
            <a:ext cx="1194816" cy="10058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查重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83992" y="2011680"/>
            <a:ext cx="1194816" cy="1005840"/>
          </a:xfrm>
          <a:prstGeom prst="round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83992" y="2011680"/>
            <a:ext cx="1194816" cy="10058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审核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33672" y="2011680"/>
            <a:ext cx="1194816" cy="1005840"/>
          </a:xfrm>
          <a:prstGeom prst="round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33672" y="2011680"/>
            <a:ext cx="1194816" cy="10058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创建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3352" y="2011680"/>
            <a:ext cx="1194816" cy="1005840"/>
          </a:xfrm>
          <a:prstGeom prst="round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3352" y="2011680"/>
            <a:ext cx="1194816" cy="10058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发布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33032" y="2011680"/>
            <a:ext cx="1194816" cy="1005840"/>
          </a:xfrm>
          <a:prstGeom prst="round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33032" y="2011680"/>
            <a:ext cx="1194816" cy="10058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使用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82711" y="2011680"/>
            <a:ext cx="1194816" cy="1005840"/>
          </a:xfrm>
          <a:prstGeom prst="round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82711" y="2011680"/>
            <a:ext cx="1194816" cy="10058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变更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2392" y="2011680"/>
            <a:ext cx="1194816" cy="1005840"/>
          </a:xfrm>
          <a:prstGeom prst="round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2392" y="2011680"/>
            <a:ext cx="1194816" cy="10058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冻结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82072" y="2011680"/>
            <a:ext cx="1194816" cy="1005840"/>
          </a:xfrm>
          <a:prstGeom prst="round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82072" y="2011680"/>
            <a:ext cx="1194816" cy="10058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归档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91840"/>
            <a:ext cx="11247120" cy="265176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291840"/>
            <a:ext cx="54864" cy="265176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3429000"/>
            <a:ext cx="10789920" cy="23774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56082"/>
                </a:solidFill>
                <a:latin typeface="Microsoft YaHei"/>
              </a:rPr>
              <a:t>核心目标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56082"/>
                </a:solidFill>
                <a:latin typeface="Microsoft YaHei"/>
              </a:rPr>
              <a:t>▪  </a:t>
            </a:r>
            <a:r>
              <a:rPr sz="1200" b="1" i="0">
                <a:solidFill>
                  <a:srgbClr val="0E2841"/>
                </a:solidFill>
                <a:latin typeface="Microsoft YaHei"/>
              </a:rPr>
              <a:t>源头有把关</a:t>
            </a:r>
            <a:r>
              <a:rPr sz="1100" b="0" i="0">
                <a:solidFill>
                  <a:srgbClr val="333333"/>
                </a:solidFill>
                <a:latin typeface="Microsoft YaHei"/>
              </a:rPr>
              <a:t>  先申请后创建，先查重后编码，禁止后台直接创建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56082"/>
                </a:solidFill>
                <a:latin typeface="Microsoft YaHei"/>
              </a:rPr>
              <a:t>▪  </a:t>
            </a:r>
            <a:r>
              <a:rPr sz="1200" b="1" i="0">
                <a:solidFill>
                  <a:srgbClr val="0E2841"/>
                </a:solidFill>
                <a:latin typeface="Microsoft YaHei"/>
              </a:rPr>
              <a:t>过程有留痕</a:t>
            </a:r>
            <a:r>
              <a:rPr sz="1100" b="0" i="0">
                <a:solidFill>
                  <a:srgbClr val="333333"/>
                </a:solidFill>
                <a:latin typeface="Microsoft YaHei"/>
              </a:rPr>
              <a:t>  每条变更保留依据、责任人、时间、审批证据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56082"/>
                </a:solidFill>
                <a:latin typeface="Microsoft YaHei"/>
              </a:rPr>
              <a:t>▪  </a:t>
            </a:r>
            <a:r>
              <a:rPr sz="1200" b="1" i="0">
                <a:solidFill>
                  <a:srgbClr val="0E2841"/>
                </a:solidFill>
                <a:latin typeface="Microsoft YaHei"/>
              </a:rPr>
              <a:t>变更有审批</a:t>
            </a:r>
            <a:r>
              <a:rPr sz="1100" b="0" i="0">
                <a:solidFill>
                  <a:srgbClr val="333333"/>
                </a:solidFill>
                <a:latin typeface="Microsoft YaHei"/>
              </a:rPr>
              <a:t>  一般变更Steward审，重大变更Owner审，关键变更报委员会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56082"/>
                </a:solidFill>
                <a:latin typeface="Microsoft YaHei"/>
              </a:rPr>
              <a:t>▪  </a:t>
            </a:r>
            <a:r>
              <a:rPr sz="1200" b="1" i="0">
                <a:solidFill>
                  <a:srgbClr val="0E2841"/>
                </a:solidFill>
                <a:latin typeface="Microsoft YaHei"/>
              </a:rPr>
              <a:t>状态有监控</a:t>
            </a:r>
            <a:r>
              <a:rPr sz="1100" b="0" i="0">
                <a:solidFill>
                  <a:srgbClr val="333333"/>
                </a:solidFill>
                <a:latin typeface="Microsoft YaHei"/>
              </a:rPr>
              <a:t>  创建中/已发布/冻结/停用/归档，状态变更自动记录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56082"/>
                </a:solidFill>
                <a:latin typeface="Microsoft YaHei"/>
              </a:rPr>
              <a:t>▪  </a:t>
            </a:r>
            <a:r>
              <a:rPr sz="1200" b="1" i="0">
                <a:solidFill>
                  <a:srgbClr val="0E2841"/>
                </a:solidFill>
                <a:latin typeface="Microsoft YaHei"/>
              </a:rPr>
              <a:t>失效有通知</a:t>
            </a:r>
            <a:r>
              <a:rPr sz="1100" b="0" i="0">
                <a:solidFill>
                  <a:srgbClr val="333333"/>
                </a:solidFill>
                <a:latin typeface="Microsoft YaHei"/>
              </a:rPr>
              <a:t>  冻结/停用及时通知各业务系统，防止失效物料被引用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0E2841"/>
                </a:solidFill>
                <a:latin typeface="Microsoft YaHei"/>
              </a:rPr>
              <a:t>创建审核与变更管理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Microsoft YaHei"/>
              </a:rPr>
              <a:t>创建需经过查重和归口审核；变更按影响分级审批，ECN工程变更需打通PLM-ERP-MES链路。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532120" cy="2103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783080"/>
            <a:ext cx="5312664" cy="18745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创建与审核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业务人员在MDG门户提交申请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系统自动查重+编码规则校验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按物料类型路由到归口审核人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关键物料需多级审批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审批SLA纳入绩效考核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532120" cy="2103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81928" y="1783080"/>
            <a:ext cx="5312664" cy="18745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审核要点·物料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编码是否符合冻结规则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分类/描述/单位是否规范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视图与必填字段完整性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会计视图成本中心关联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AML和货源清单规范性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5532120" cy="2103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4069080"/>
            <a:ext cx="5312664" cy="18745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审核要点·客商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统一社会信用代码/税号校验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名称与地址查重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BP角色与公司代码匹配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银行账户格式校验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信用额度与付款条件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931920"/>
            <a:ext cx="5532120" cy="2103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393192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81928" y="4069080"/>
            <a:ext cx="5312664" cy="18745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变更管理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一般变更：Steward审核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重大变更：Owner审批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关键变更：报委员会决策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ECN：变更号+生效日期+影响范围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变更通知PLM/ERP/MES/采购/生产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0E2841"/>
                </a:solidFill>
                <a:latin typeface="Microsoft YaHei"/>
              </a:rPr>
              <a:t>状态管理与归档·版本控制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Microsoft YaHei"/>
              </a:rPr>
              <a:t>建立物料/客商状态流转机制和版本变更号管理体系，防止失效数据被误用。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4864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56082"/>
                </a:solidFill>
                <a:latin typeface="Microsoft YaHei"/>
              </a:rPr>
              <a:t>状态管理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5486400" cy="10744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548640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2331720"/>
            <a:ext cx="5266944" cy="8458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物料状态流转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创建中→已发布→使用中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→受限→冻结→停用→归档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超2年未采购自动冻结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状态变更需审批+留痕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06139"/>
            <a:ext cx="5486400" cy="10744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3406139"/>
            <a:ext cx="548640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3543299"/>
            <a:ext cx="5266944" cy="8458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客商状态流转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准入→启用→受限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→冻结→停用→归档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信用超限自动受限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状态变更通知财务/销售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486400" cy="4206240"/>
          </a:xfrm>
          <a:prstGeom prst="round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5029200" cy="3840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E97132"/>
                </a:solidFill>
                <a:latin typeface="Microsoft YaHei"/>
              </a:rPr>
              <a:t>版本与变更号管理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变更号为核心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B0C4D8"/>
                </a:solidFill>
                <a:latin typeface="Microsoft YaHei"/>
              </a:rPr>
              <a:t>所有BOM/工艺变更必须关联变更号，保留版本血缘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版本生效控制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B0C4D8"/>
                </a:solidFill>
                <a:latin typeface="Microsoft YaHei"/>
              </a:rPr>
              <a:t>生效日期+失效日期管理，不可直接覆盖在用结构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归档管理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B0C4D8"/>
                </a:solidFill>
                <a:latin typeface="Microsoft YaHei"/>
              </a:rPr>
              <a:t>无业务引用且达归档条件的数据按制度归档，不进S/4HANA在线主数据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迁移分类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B0C4D8"/>
                </a:solidFill>
                <a:latin typeface="Microsoft YaHei"/>
              </a:rPr>
              <a:t>A迁移启用/B迁移限制/C留映射/D归档/E待确认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A39E0-99B0-FEBE-C4E6-3F959C127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52AB1BF-7CE6-68A6-1D23-8D948A30DE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1247136" cy="1477328"/>
          </a:xfrm>
        </p:spPr>
        <p:txBody>
          <a:bodyPr/>
          <a:lstStyle/>
          <a:p>
            <a:r>
              <a:rPr lang="en-US" altLang="zh-CN" dirty="0"/>
              <a:t>07</a:t>
            </a:r>
            <a:endParaRPr lang="zh-CN" alt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B79582-ED59-FB89-21F0-279587D3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>
                <a:latin typeface="Microsoft YaHei"/>
              </a:rPr>
              <a:t>数据治理架构整体设计</a:t>
            </a:r>
            <a:br>
              <a:rPr lang="en-US" altLang="zh-CN" sz="4400" dirty="0">
                <a:latin typeface="Microsoft YaHei"/>
              </a:rPr>
            </a:br>
            <a:r>
              <a:rPr lang="en-US" altLang="zh-CN" sz="3600" dirty="0">
                <a:latin typeface="Microsoft YaHei"/>
              </a:rPr>
              <a:t>-</a:t>
            </a:r>
            <a:r>
              <a:rPr lang="zh-CN" altLang="en-US" sz="3600" dirty="0">
                <a:latin typeface="Microsoft YaHei"/>
              </a:rPr>
              <a:t>历史数据清洗</a:t>
            </a:r>
            <a:endParaRPr lang="zh-CN" altLang="en-US" sz="4400" dirty="0">
              <a:latin typeface="Microsoft YaHei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A934FC3-BFCF-8A5C-C752-209E21FF7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21D2F1F-DE1A-8273-7745-9F6D2FA2F0AC}"/>
              </a:ext>
            </a:extLst>
          </p:cNvPr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04861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0E2841"/>
                </a:solidFill>
                <a:latin typeface="Microsoft YaHei"/>
              </a:rPr>
              <a:t>数据清洗八步法与清洗区分层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Microsoft YaHei"/>
              </a:rPr>
              <a:t>按“盘点→画像→定规→自动处理→业务确认→整改→验证→冻结移交”八步推进，清洗区分层管理。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" y="1691640"/>
            <a:ext cx="1351026" cy="1143000"/>
          </a:xfrm>
          <a:prstGeom prst="round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1801368"/>
            <a:ext cx="1277874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1 盘点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2194560"/>
            <a:ext cx="1277874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0D8E0"/>
                </a:solidFill>
                <a:latin typeface="Microsoft YaHei"/>
              </a:rPr>
              <a:t>对象·源表·字段·规模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90522" y="1691640"/>
            <a:ext cx="1351026" cy="1143000"/>
          </a:xfrm>
          <a:prstGeom prst="round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36242" y="1801368"/>
            <a:ext cx="1277874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2 画像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6242" y="2194560"/>
            <a:ext cx="1277874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0D8E0"/>
                </a:solidFill>
                <a:latin typeface="Microsoft YaHei"/>
              </a:rPr>
              <a:t>空值·重复·异常·引用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6412" y="1691640"/>
            <a:ext cx="1351026" cy="1143000"/>
          </a:xfrm>
          <a:prstGeom prst="round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42132" y="1801368"/>
            <a:ext cx="1277874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3 定规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2132" y="2194560"/>
            <a:ext cx="1277874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0D8E0"/>
                </a:solidFill>
                <a:latin typeface="Microsoft YaHei"/>
              </a:rPr>
              <a:t>标准·规则·阈值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2302" y="1691640"/>
            <a:ext cx="1351026" cy="1143000"/>
          </a:xfrm>
          <a:prstGeom prst="round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48022" y="1801368"/>
            <a:ext cx="1277874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4 自动处理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8022" y="2194560"/>
            <a:ext cx="1277874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0D8E0"/>
                </a:solidFill>
                <a:latin typeface="Microsoft YaHei"/>
              </a:rPr>
              <a:t>格式·标准化·候选重复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08192" y="1691640"/>
            <a:ext cx="1351026" cy="1143000"/>
          </a:xfrm>
          <a:prstGeom prst="round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53912" y="1801368"/>
            <a:ext cx="1277874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5 业务确认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3912" y="2194560"/>
            <a:ext cx="1277874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0D8E0"/>
                </a:solidFill>
                <a:latin typeface="Microsoft YaHei"/>
              </a:rPr>
              <a:t>合并·归档·归属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14081" y="1691640"/>
            <a:ext cx="1351026" cy="1143000"/>
          </a:xfrm>
          <a:prstGeom prst="round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59802" y="1801368"/>
            <a:ext cx="1277874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6 整改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9802" y="2194560"/>
            <a:ext cx="1277874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0D8E0"/>
                </a:solidFill>
                <a:latin typeface="Microsoft YaHei"/>
              </a:rPr>
              <a:t>源系统修改或清洗区生成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9972" y="1691640"/>
            <a:ext cx="1351026" cy="1143000"/>
          </a:xfrm>
          <a:prstGeom prst="round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5692" y="1801368"/>
            <a:ext cx="1277874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7 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5692" y="2194560"/>
            <a:ext cx="1277874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0D8E0"/>
                </a:solidFill>
                <a:latin typeface="Microsoft YaHei"/>
              </a:rPr>
              <a:t>规则复跑·抽样·签字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25862" y="1691640"/>
            <a:ext cx="1351026" cy="1143000"/>
          </a:xfrm>
          <a:prstGeom prst="round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371582" y="1801368"/>
            <a:ext cx="1277874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8 冻结移交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1582" y="2194560"/>
            <a:ext cx="1277874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0D8E0"/>
                </a:solidFill>
                <a:latin typeface="Microsoft YaHei"/>
              </a:rPr>
              <a:t>版本冻结·增量·留痕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108960"/>
            <a:ext cx="11247120" cy="283464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3108960"/>
            <a:ext cx="54864" cy="283464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3246120"/>
            <a:ext cx="10789920" cy="2560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56082"/>
                </a:solidFill>
                <a:latin typeface="Microsoft YaHei"/>
              </a:rPr>
              <a:t>清洗区与数据分层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3703320"/>
            <a:ext cx="2286000" cy="43891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4672" y="3703320"/>
            <a:ext cx="2157984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数据层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17520" y="3703320"/>
            <a:ext cx="8229600" cy="43891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090672" y="3703320"/>
            <a:ext cx="8101583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用途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142231"/>
            <a:ext cx="2286000" cy="438912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4672" y="4142231"/>
            <a:ext cx="2157984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源数据层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4142231"/>
            <a:ext cx="8229600" cy="438912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090672" y="4142231"/>
            <a:ext cx="8101583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SAP ECC生产/QAS提取，原始未清洗数据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4581144"/>
            <a:ext cx="2286000" cy="438912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4672" y="4581144"/>
            <a:ext cx="2157984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清洗区(Staging)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17520" y="4581144"/>
            <a:ext cx="8229600" cy="438912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090672" y="4581144"/>
            <a:ext cx="8101583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MDG Staging区，标准化、去重、补全、映射建议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5020056"/>
            <a:ext cx="2286000" cy="438912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04672" y="5020056"/>
            <a:ext cx="2157984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目标层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17520" y="5020056"/>
            <a:ext cx="8229600" cy="438912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090672" y="5020056"/>
            <a:ext cx="8101583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清洗后冻结版本，对应S/4HANA迁移模板格式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5458968"/>
            <a:ext cx="2286000" cy="438912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04672" y="5458968"/>
            <a:ext cx="2157984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归档层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17520" y="5458968"/>
            <a:ext cx="8229600" cy="438912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090672" y="5458968"/>
            <a:ext cx="8101583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不迁移的历史数据，保留旧新映射与查询能力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0E2841"/>
                </a:solidFill>
                <a:latin typeface="Microsoft YaHei"/>
              </a:rPr>
              <a:t>重复识别与迁移分类原则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Microsoft YaHei"/>
              </a:rPr>
              <a:t>按候选重复键识别历史重复，按业务影响分为A-E五类迁移处置策略。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4864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56082"/>
                </a:solidFill>
                <a:latin typeface="Microsoft YaHei"/>
              </a:rPr>
              <a:t>重复识别候选键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1097280" cy="4572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2194560"/>
            <a:ext cx="96926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对象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2194560"/>
            <a:ext cx="2560320" cy="4572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27632" y="2194560"/>
            <a:ext cx="2432303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候选重复键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2194560"/>
            <a:ext cx="1828800" cy="4572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87952" y="2194560"/>
            <a:ext cx="17007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合并前必须检查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109728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2651760"/>
            <a:ext cx="96926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物料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2651760"/>
            <a:ext cx="256032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27632" y="2651760"/>
            <a:ext cx="2432303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标准化描述+物料组+基本单位+制造商料号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2651760"/>
            <a:ext cx="18288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87952" y="2651760"/>
            <a:ext cx="17007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库存/批次/未清订单/BOM引用/替代料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109728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3108960"/>
            <a:ext cx="96926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客户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3108960"/>
            <a:ext cx="256032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27632" y="3108960"/>
            <a:ext cx="2432303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统一社会信用代码/税号+名称+地址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3108960"/>
            <a:ext cx="18288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87952" y="3108960"/>
            <a:ext cx="17007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应收/信用/合同/价格/历史订单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566160"/>
            <a:ext cx="109728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3566160"/>
            <a:ext cx="96926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供应商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54480" y="3566160"/>
            <a:ext cx="256032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627632" y="3566160"/>
            <a:ext cx="2432303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税号+名称+银行账户+地址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3566160"/>
            <a:ext cx="18288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87952" y="3566160"/>
            <a:ext cx="17007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应付/采购订单/合同/黑名单/绩效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023360"/>
            <a:ext cx="109728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" y="4023360"/>
            <a:ext cx="96926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财务/组织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54480" y="4023360"/>
            <a:ext cx="256032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627632" y="4023360"/>
            <a:ext cx="2432303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代码+描述+层级+责任部门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4023360"/>
            <a:ext cx="18288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87952" y="4023360"/>
            <a:ext cx="17007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历史凭证/预算/报表/权限/合并关系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1737360"/>
            <a:ext cx="5486400" cy="4297680"/>
          </a:xfrm>
          <a:prstGeom prst="round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92240" y="1920240"/>
            <a:ext cx="5029200" cy="3931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E97132"/>
                </a:solidFill>
                <a:latin typeface="Microsoft YaHei"/>
              </a:rPr>
              <a:t>迁移分类(A-E)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A 迁移并启用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0C4D8"/>
                </a:solidFill>
                <a:latin typeface="Microsoft YaHei"/>
              </a:rPr>
              <a:t>当前有效、有未清业务、上线后继续使用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B 迁移但限制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0C4D8"/>
                </a:solidFill>
                <a:latin typeface="Microsoft YaHei"/>
              </a:rPr>
              <a:t>仅消耗库存/售后/过渡，设置限制状态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C 不迁移留映射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0C4D8"/>
                </a:solidFill>
                <a:latin typeface="Microsoft YaHei"/>
              </a:rPr>
              <a:t>无未清业务但需历史报表追溯，归档系统保留映射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D 不迁移归档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0C4D8"/>
                </a:solidFill>
                <a:latin typeface="Microsoft YaHei"/>
              </a:rPr>
              <a:t>无引用且达归档条件，按制度归档不进S/4HANA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E 待确认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0C4D8"/>
                </a:solidFill>
                <a:latin typeface="Microsoft YaHei"/>
              </a:rPr>
              <a:t>证据不足/责任不清/存在冲突，进问题工单禁止自动迁移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0E2841"/>
                </a:solidFill>
                <a:latin typeface="Microsoft YaHei"/>
              </a:rPr>
              <a:t>分对象清洗工作包：按业务影响排序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Microsoft YaHei"/>
              </a:rPr>
              <a:t>按业务影响度排序为五大工作包：财务主数据清洗为首要优先级，物料主数据清洗为核心工作量。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828800" cy="4572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1828800"/>
            <a:ext cx="17007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工作包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828800"/>
            <a:ext cx="4846320" cy="4572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59152" y="1828800"/>
            <a:ext cx="471830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主要任务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828800"/>
            <a:ext cx="4572000" cy="4572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05472" y="1828800"/>
            <a:ext cx="44439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关键输出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18288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2286000"/>
            <a:ext cx="17007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财务主数据清洗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2286000"/>
            <a:ext cx="484632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59152" y="2286000"/>
            <a:ext cx="471830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利润中心分配、科目标准化、交易伙伴维护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2286000"/>
            <a:ext cx="45720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05472" y="2286000"/>
            <a:ext cx="44439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满足New G/L强制要求，合并报表基础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43200"/>
            <a:ext cx="18288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2743200"/>
            <a:ext cx="17007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物料主数据清洗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2743200"/>
            <a:ext cx="484632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359152" y="2743200"/>
            <a:ext cx="471830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重复清理、停用归档、视图补全、编码统一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2743200"/>
            <a:ext cx="45720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05472" y="2743200"/>
            <a:ext cx="44439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一物一码，MRP/成本核算可用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200400"/>
            <a:ext cx="18288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" y="3200400"/>
            <a:ext cx="17007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客商BP清洗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3200400"/>
            <a:ext cx="484632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359152" y="3200400"/>
            <a:ext cx="471830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客户/供应商合并、BP转换、信用/合规补全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3200400"/>
            <a:ext cx="45720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05472" y="3200400"/>
            <a:ext cx="44439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CVI/BP统一，信用管理启用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657600"/>
            <a:ext cx="18288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0352" y="3657600"/>
            <a:ext cx="17007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BOM/工艺清洗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0" y="3657600"/>
            <a:ext cx="484632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359152" y="3657600"/>
            <a:ext cx="471830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版本/生效管理、EBOM-MBOM映射、变更号关联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0" y="3657600"/>
            <a:ext cx="45720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205472" y="3657600"/>
            <a:ext cx="44439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研产协同打通，排产/成本可用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18288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0352" y="4114800"/>
            <a:ext cx="17007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物料描述规范化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0" y="4114800"/>
            <a:ext cx="484632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359152" y="4114800"/>
            <a:ext cx="471830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描述清洗去重、模板建立、业务确认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0" y="4114800"/>
            <a:ext cx="45720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205472" y="4114800"/>
            <a:ext cx="44439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描述规范率≥95%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663440"/>
            <a:ext cx="1124712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333333"/>
                </a:solidFill>
                <a:latin typeface="Microsoft YaHei"/>
              </a:rPr>
              <a:t>清洗主战场：FZ01+FZ13合计占集团物料量近79%，优先启动历史僵尸数据清洗与归档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749ED-B404-06A9-CFE0-7522B7110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49BA771-34C0-8E48-143A-7E317AB848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1247136" cy="1477328"/>
          </a:xfrm>
        </p:spPr>
        <p:txBody>
          <a:bodyPr/>
          <a:lstStyle/>
          <a:p>
            <a:r>
              <a:rPr lang="en-US" altLang="zh-CN" dirty="0"/>
              <a:t>08</a:t>
            </a:r>
            <a:endParaRPr lang="zh-CN" alt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1E8580-5952-0316-1B15-2B553C320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>
                <a:latin typeface="Microsoft YaHei"/>
              </a:rPr>
              <a:t>数据治理架构整体设计</a:t>
            </a:r>
            <a:br>
              <a:rPr lang="en-US" altLang="zh-CN" sz="4400" dirty="0">
                <a:latin typeface="Microsoft YaHei"/>
              </a:rPr>
            </a:br>
            <a:r>
              <a:rPr lang="en-US" altLang="zh-CN" sz="4400" dirty="0">
                <a:latin typeface="Microsoft YaHei"/>
              </a:rPr>
              <a:t>-</a:t>
            </a:r>
            <a:r>
              <a:rPr lang="zh-CN" altLang="en-US" sz="3600" dirty="0">
                <a:latin typeface="Microsoft YaHei"/>
              </a:rPr>
              <a:t>数据迁移与</a:t>
            </a:r>
            <a:r>
              <a:rPr lang="en-US" altLang="zh-CN" sz="3600" dirty="0">
                <a:latin typeface="Microsoft YaHei"/>
              </a:rPr>
              <a:t>MDG</a:t>
            </a:r>
            <a:r>
              <a:rPr lang="zh-CN" altLang="en-US" sz="3600" dirty="0">
                <a:latin typeface="Microsoft YaHei"/>
              </a:rPr>
              <a:t>平台</a:t>
            </a:r>
            <a:endParaRPr lang="zh-CN" altLang="en-US" sz="4400" dirty="0">
              <a:latin typeface="Microsoft YaHei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8F81400-6B03-B287-2538-AFD049A82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622CA8B-FD8E-9B1E-3F75-02701724D742}"/>
              </a:ext>
            </a:extLst>
          </p:cNvPr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36769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0E2841"/>
                </a:solidFill>
                <a:latin typeface="Microsoft YaHei"/>
              </a:rPr>
              <a:t>迁移总体策略与对象依赖顺序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Microsoft YaHei"/>
              </a:rPr>
              <a:t>组织与财务必须先稳定，否则后续数据反复返工。按依赖顺序分批迁移，每批完成对账后启动下一批。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4864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56082"/>
                </a:solidFill>
                <a:latin typeface="Microsoft YaHei"/>
              </a:rPr>
              <a:t>迁移对象依赖顺序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5486400" cy="3840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0E2841"/>
                </a:solidFill>
                <a:latin typeface="Microsoft YaHei"/>
              </a:rPr>
              <a:t>1→  组织/参考数据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</a:rPr>
              <a:t>2→  财务结构(科目·成本/利润中心·交易伙伴)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</a:rPr>
              <a:t>3→  BP/客商(客户·供应商·角色)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</a:rPr>
              <a:t>4→  物料(基本·采购·MRP·销售·会计)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</a:rPr>
              <a:t>5→  产品结构(BOM·工艺·工作中心·生产版本)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</a:rPr>
              <a:t>6→  业务数据(库存·余额·未清订单·在制)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E97132"/>
                </a:solidFill>
                <a:latin typeface="Microsoft YaHei"/>
              </a:rPr>
              <a:t>组织与财务必须先稳定，否则后续数据反复返工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486400" cy="4297680"/>
          </a:xfrm>
          <a:prstGeom prst="round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5029200" cy="3931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E97132"/>
                </a:solidFill>
                <a:latin typeface="Microsoft YaHei"/>
              </a:rPr>
              <a:t>迁移总体策略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全新实施原则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B0C4D8"/>
                </a:solidFill>
                <a:latin typeface="Microsoft YaHei"/>
              </a:rPr>
              <a:t>不迁移历史配置，只迁移清洗后的主数据和未清业务数据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迁移即验收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B0C4D8"/>
                </a:solidFill>
                <a:latin typeface="Microsoft YaHei"/>
              </a:rPr>
              <a:t>不是导完Excel就算，必须完成数量/字段/关系/金额/场景五级对账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分批分优先级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B0C4D8"/>
                </a:solidFill>
                <a:latin typeface="Microsoft YaHei"/>
              </a:rPr>
              <a:t>P0蓝图前关闭，P1集成测试前关闭，按依赖顺序逐批迁移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模拟迁移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B0C4D8"/>
                </a:solidFill>
                <a:latin typeface="Microsoft YaHei"/>
              </a:rPr>
              <a:t>2-3轮模拟迁移：技术验证→集成验证→业务验收→切换演练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0E2841"/>
                </a:solidFill>
                <a:latin typeface="Microsoft YaHei"/>
              </a:rPr>
              <a:t>对账体系与正式导入验收门槛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Microsoft YaHei"/>
              </a:rPr>
              <a:t>建立五级对账体系，正式导入需满足七项验收门槛，关键场景需Owner签字。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4864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56082"/>
                </a:solidFill>
                <a:latin typeface="Microsoft YaHei"/>
              </a:rPr>
              <a:t>五级对账体系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1371600" cy="43891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2194560"/>
            <a:ext cx="1243584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对账层级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2194560"/>
            <a:ext cx="4114800" cy="43891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01952" y="2194560"/>
            <a:ext cx="3986784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内容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33472"/>
            <a:ext cx="1371600" cy="438912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" y="2633472"/>
            <a:ext cx="1243584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L1 数量对账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2633472"/>
            <a:ext cx="4114800" cy="438912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01952" y="2633472"/>
            <a:ext cx="3986784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源记录数/筛选数/迁移数/拒绝数一致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72384"/>
            <a:ext cx="1371600" cy="438912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" y="3072384"/>
            <a:ext cx="1243584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L2 字段对账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3072384"/>
            <a:ext cx="4114800" cy="438912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01952" y="3072384"/>
            <a:ext cx="3986784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关键字段/代码转换/状态/日期/单位一致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11296"/>
            <a:ext cx="1371600" cy="438912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3511296"/>
            <a:ext cx="1243584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L3 关系对账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3511296"/>
            <a:ext cx="4114800" cy="438912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901952" y="3511296"/>
            <a:ext cx="3986784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物料-工厂/BOM-组件/BP-角色关系完整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950208"/>
            <a:ext cx="1371600" cy="438912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3950208"/>
            <a:ext cx="1243584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L4 金额对账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3950208"/>
            <a:ext cx="4114800" cy="438912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01952" y="3950208"/>
            <a:ext cx="3986784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库存/余额/未清业务/估价金额一致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389120"/>
            <a:ext cx="1371600" cy="438912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0352" y="4389120"/>
            <a:ext cx="1243584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L5 场景对账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4389120"/>
            <a:ext cx="4114800" cy="438912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901952" y="4389120"/>
            <a:ext cx="3986784" cy="43891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MRP/采购/生产/销售/成本/结账可执行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1737360"/>
            <a:ext cx="5486400" cy="429768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0" y="1737360"/>
            <a:ext cx="54864" cy="42976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1920240"/>
            <a:ext cx="5029200" cy="3931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E97132"/>
                </a:solidFill>
                <a:latin typeface="Microsoft YaHei"/>
              </a:rPr>
              <a:t>正式导入验收门槛</a:t>
            </a:r>
            <a:r>
              <a:rPr sz="1200" b="0" i="0">
                <a:solidFill>
                  <a:srgbClr val="0E2841"/>
                </a:solidFill>
                <a:latin typeface="Microsoft YaHei"/>
              </a:rPr>
              <a:t>✓  P0缺陷必须为0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0E2841"/>
                </a:solidFill>
                <a:latin typeface="Microsoft YaHei"/>
              </a:rPr>
              <a:t>✓  P0字段完整率100%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0E2841"/>
                </a:solidFill>
                <a:latin typeface="Microsoft YaHei"/>
              </a:rPr>
              <a:t>✓  旧新映射覆盖100%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0E2841"/>
                </a:solidFill>
                <a:latin typeface="Microsoft YaHei"/>
              </a:rPr>
              <a:t>✓  重复候选全部有处理结论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0E2841"/>
                </a:solidFill>
                <a:latin typeface="Microsoft YaHei"/>
              </a:rPr>
              <a:t>✓  迁移对账(数量/字段/关系/金额)一致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0E2841"/>
                </a:solidFill>
                <a:latin typeface="Microsoft YaHei"/>
              </a:rPr>
              <a:t>✓  关键业务场景Owner签字通过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0E2841"/>
                </a:solidFill>
                <a:latin typeface="Microsoft YaHei"/>
              </a:rPr>
              <a:t>✓  切换演练回退方案可执行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0E2841"/>
                </a:solidFill>
                <a:latin typeface="Microsoft YaHei"/>
              </a:rPr>
              <a:t>SAP MDG平台定位与目标逻辑架构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Microsoft YaHei"/>
              </a:rPr>
              <a:t>SAP MDG作为核心主数据的治理与发布入口，实现“统一入口·统一标准·统一流程·统一分发”四项核心职能。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532120" cy="137160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783080"/>
            <a:ext cx="5312664" cy="1143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业务源头层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PLM/CAPP：设计·EBOM·工艺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CRM：客户身份·层级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SRM：供应商准入·绩效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业务门户：申请发起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532120" cy="137160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81928" y="1783080"/>
            <a:ext cx="5312664" cy="1143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治理与主数据层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SAP MDG：统一标识·查重·合并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映射·版本·质量校验·黄金记录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工作流审批·审计留痕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BRF+规则引擎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00400"/>
            <a:ext cx="5532120" cy="137160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3337560"/>
            <a:ext cx="5312664" cy="1143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执行与消费层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S/4HANA：过账·成本·核算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MES/WMS：排产·领料·执行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电商·财务共享：订单·付款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分析平台：BI·数据资产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200400"/>
            <a:ext cx="5532120" cy="137160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320040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81928" y="3337560"/>
            <a:ext cx="5312664" cy="1143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集成与监控层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API/集成平台：实时/批量分发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DRF：消息重试·接口对账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告警·可观测性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数据质量监控引擎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800600"/>
            <a:ext cx="11247120" cy="109728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4800600"/>
            <a:ext cx="54864" cy="109728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1078992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56082"/>
                </a:solidFill>
                <a:latin typeface="Microsoft YaHei"/>
              </a:rPr>
              <a:t>MDG定位原则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MDG是中心枢纽，但不要求所有业务属性都在MDG维护——属性分责、按需分发、幂等可对账。MDG管理核心身份属性，业务系统保留本地扩展字段。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0E2841"/>
                </a:solidFill>
                <a:latin typeface="Microsoft YaHei"/>
              </a:rPr>
              <a:t>MDG数据模型与对象域规划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Microsoft YaHei"/>
              </a:rPr>
              <a:t>激活SAP标准数据模型，按优先级规划物料/BP/财务/BOM等核心域，扩展照明行业特有属性。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828800" cy="4572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1828800"/>
            <a:ext cx="17007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MDG数据模型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828800"/>
            <a:ext cx="2743200" cy="4572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59152" y="1828800"/>
            <a:ext cx="26151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覆盖SAP对象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828800"/>
            <a:ext cx="1828800" cy="4572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02352" y="1828800"/>
            <a:ext cx="17007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佛山照明适用性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1828800"/>
            <a:ext cx="914400" cy="4572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31152" y="1828800"/>
            <a:ext cx="7863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优先级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18288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" y="2286000"/>
            <a:ext cx="17007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MDG-M 物料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2286000"/>
            <a:ext cx="27432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59152" y="2286000"/>
            <a:ext cx="26151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物料主数据(基本/采购/MRP/销售/会计)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2286000"/>
            <a:ext cx="18288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02352" y="2286000"/>
            <a:ext cx="17007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成品/半成品/原材料/包装物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2286000"/>
            <a:ext cx="9144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31152" y="2286000"/>
            <a:ext cx="7863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P0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743200"/>
            <a:ext cx="18288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" y="2743200"/>
            <a:ext cx="17007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MDG-C/S BP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2743200"/>
            <a:ext cx="27432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359152" y="2743200"/>
            <a:ext cx="26151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客户/供应商Business Partner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2743200"/>
            <a:ext cx="18288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02352" y="2743200"/>
            <a:ext cx="17007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客户23,981+供应商10,039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743200"/>
            <a:ext cx="9144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31152" y="2743200"/>
            <a:ext cx="7863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P0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200400"/>
            <a:ext cx="18288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0352" y="3200400"/>
            <a:ext cx="17007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MDG-F 财务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0" y="3200400"/>
            <a:ext cx="27432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359152" y="3200400"/>
            <a:ext cx="26151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科目/成本中心/利润中心/交易伙伴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3200400"/>
            <a:ext cx="18288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102352" y="3200400"/>
            <a:ext cx="17007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17,741科目+2,872成本中心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3200400"/>
            <a:ext cx="9144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31152" y="3200400"/>
            <a:ext cx="7863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P0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657600"/>
            <a:ext cx="18288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0352" y="3657600"/>
            <a:ext cx="17007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MDG-M BOM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0" y="3657600"/>
            <a:ext cx="27432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359152" y="3657600"/>
            <a:ext cx="26151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BOM/工艺路线/工作中心/生产版本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0" y="3657600"/>
            <a:ext cx="18288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02352" y="3657600"/>
            <a:ext cx="17007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61万表头+435万明细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0" y="3657600"/>
            <a:ext cx="9144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931152" y="3657600"/>
            <a:ext cx="7863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P1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114800"/>
            <a:ext cx="18288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0352" y="4114800"/>
            <a:ext cx="17007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自定义对象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0" y="4114800"/>
            <a:ext cx="27432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359152" y="4114800"/>
            <a:ext cx="26151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参考数据/状态码集/计量单位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0" y="4114800"/>
            <a:ext cx="18288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102352" y="4114800"/>
            <a:ext cx="17007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物料分类树/单位转换表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0" y="4114800"/>
            <a:ext cx="9144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931152" y="4114800"/>
            <a:ext cx="7863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P2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46720" y="1828800"/>
            <a:ext cx="3657600" cy="4023360"/>
          </a:xfrm>
          <a:prstGeom prst="round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275320" y="2011680"/>
            <a:ext cx="3200400" cy="36576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E97132"/>
                </a:solidFill>
                <a:latin typeface="Microsoft YaHei"/>
              </a:rPr>
              <a:t>自定义字段扩展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物料自定义属性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0C4D8"/>
                </a:solidFill>
                <a:latin typeface="Microsoft YaHei"/>
              </a:rPr>
              <a:t>USMD_ATTR扩展：LED色温/光通量/灯头型号/防护等级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BP自定义属性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0C4D8"/>
                </a:solidFill>
                <a:latin typeface="Microsoft YaHei"/>
              </a:rPr>
              <a:t>CVI映射扩展：客户渠道层级/电商标识/工程编码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AML/制造商料号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0C4D8"/>
                </a:solidFill>
                <a:latin typeface="Microsoft YaHei"/>
              </a:rPr>
              <a:t>SAP标准AMDPR/AMDN：多品牌多制造商料号管理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参考数据扩展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0C4D8"/>
                </a:solidFill>
                <a:latin typeface="Microsoft YaHei"/>
              </a:rPr>
              <a:t>MDG自定义对象+DRF分发：分类树/状态码/单位转换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0E2841"/>
                </a:solidFill>
                <a:latin typeface="Microsoft YaHei"/>
              </a:rPr>
              <a:t>MDG重复检查与质量校验规则配置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Microsoft YaHei"/>
              </a:rPr>
              <a:t>配置多级匹配策略的重复检查规则，基于BRF+引擎实现完整性校验、派生规则和跨对象校验。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4864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56082"/>
                </a:solidFill>
                <a:latin typeface="Microsoft YaHei"/>
              </a:rPr>
              <a:t>物料重复检查规则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1097280" cy="384048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2194560"/>
            <a:ext cx="969264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规则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2194560"/>
            <a:ext cx="3474720" cy="384048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27632" y="2194560"/>
            <a:ext cx="3346703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匹配策略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194560"/>
            <a:ext cx="914400" cy="384048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02352" y="2194560"/>
            <a:ext cx="786384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类型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78608"/>
            <a:ext cx="1097280" cy="384048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2578608"/>
            <a:ext cx="969264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MAT-R1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2578608"/>
            <a:ext cx="3474720" cy="384048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27632" y="2578608"/>
            <a:ext cx="3346703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描述完全相同+物料组+计量单位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2578608"/>
            <a:ext cx="914400" cy="384048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02352" y="2578608"/>
            <a:ext cx="786384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精确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62656"/>
            <a:ext cx="1097280" cy="384048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2962656"/>
            <a:ext cx="969264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MAT-R2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2962656"/>
            <a:ext cx="3474720" cy="384048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27632" y="2962656"/>
            <a:ext cx="3346703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描述相似度≥90%+同物料组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2962656"/>
            <a:ext cx="914400" cy="384048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02352" y="2962656"/>
            <a:ext cx="786384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模糊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346704"/>
            <a:ext cx="1097280" cy="384048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3346704"/>
            <a:ext cx="969264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MAT-R3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54480" y="3346704"/>
            <a:ext cx="3474720" cy="384048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627632" y="3346704"/>
            <a:ext cx="3346703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同供应商料号+同描述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3346704"/>
            <a:ext cx="914400" cy="384048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02352" y="3346704"/>
            <a:ext cx="786384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精确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730752"/>
            <a:ext cx="1097280" cy="384048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" y="3730752"/>
            <a:ext cx="969264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MAT-R4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54480" y="3730752"/>
            <a:ext cx="3474720" cy="384048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627632" y="3730752"/>
            <a:ext cx="3346703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同旧物料号+同描述(跨工厂)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0" y="3730752"/>
            <a:ext cx="914400" cy="384048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02352" y="3730752"/>
            <a:ext cx="786384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精确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114800"/>
            <a:ext cx="1097280" cy="384048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0352" y="4114800"/>
            <a:ext cx="969264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MAT-R5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54480" y="4114800"/>
            <a:ext cx="3474720" cy="384048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627632" y="4114800"/>
            <a:ext cx="3346703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关键分类特征值相同+物料组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0" y="4114800"/>
            <a:ext cx="914400" cy="384048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102352" y="4114800"/>
            <a:ext cx="786384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精确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1737360"/>
            <a:ext cx="5486400" cy="201168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17920" y="1737360"/>
            <a:ext cx="54864" cy="201168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92240" y="1828800"/>
            <a:ext cx="5029200" cy="1828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56082"/>
                </a:solidFill>
                <a:latin typeface="Microsoft YaHei"/>
              </a:rPr>
              <a:t>客商重复检查规则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BP-R1: 统一社会信用代码/税号精确匹配(100%)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BP-R2: 名称相似度≥85%+同地址或电话(模糊)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BP-R3: 银行账户精确匹配(100%)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BP-R4: 联系人+电话精确匹配(100%)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3931920"/>
            <a:ext cx="5486400" cy="2194560"/>
          </a:xfrm>
          <a:prstGeom prst="round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92240" y="4069080"/>
            <a:ext cx="5029200" cy="1920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97132"/>
                </a:solidFill>
                <a:latin typeface="Microsoft YaHei"/>
              </a:rPr>
              <a:t>质量校验规则(BRF+)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完整性校验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B0C4D8"/>
                </a:solidFill>
                <a:latin typeface="Microsoft YaHei"/>
              </a:rPr>
              <a:t>会计视图成本中心必填/BP银行格式/描述长度禁用词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派生规则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000" b="0" i="0">
                <a:solidFill>
                  <a:srgbClr val="B0C4D8"/>
                </a:solidFill>
                <a:latin typeface="Microsoft YaHei"/>
              </a:rPr>
              <a:t>按物料类型派生MRP控制器/按公司代码派生统驭科目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跨对象校验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0C4D8"/>
                </a:solidFill>
                <a:latin typeface="Microsoft YaHei"/>
              </a:rPr>
              <a:t>BOM组件必须有效/成本中心归属正确利润中心/BP角色匹配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0E2841"/>
                </a:solidFill>
                <a:latin typeface="Microsoft YaHei"/>
              </a:rPr>
              <a:t>MDG集成与数据分发框架(DRF)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Microsoft YaHei"/>
              </a:rPr>
              <a:t>通过DRF(Data Replication Framework)实现主数据从MDG到S/4HANA及外围系统的标准化分发。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828800" cy="4206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1828800"/>
            <a:ext cx="17007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外围系统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828800"/>
            <a:ext cx="2286000" cy="4206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59152" y="1828800"/>
            <a:ext cx="21579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与MDG关系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828800"/>
            <a:ext cx="3657600" cy="4206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45152" y="1828800"/>
            <a:ext cx="35295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分发/接收内容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49424"/>
            <a:ext cx="18288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2249424"/>
            <a:ext cx="17007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S/4HANA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2249424"/>
            <a:ext cx="22860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59152" y="2249424"/>
            <a:ext cx="21579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核心消费方，DRF实时/批量分发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2249424"/>
            <a:ext cx="36576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45152" y="2249424"/>
            <a:ext cx="35295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物料/BP/财务/BOM全视图主数据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70048"/>
            <a:ext cx="18288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2670048"/>
            <a:ext cx="17007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PLM/CAPP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2670048"/>
            <a:ext cx="22860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359152" y="2670048"/>
            <a:ext cx="21579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设计源头，物料属性双向同步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2670048"/>
            <a:ext cx="36576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45152" y="2670048"/>
            <a:ext cx="35295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物料编码/分类/EBOM/工艺路线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90672"/>
            <a:ext cx="18288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" y="3090672"/>
            <a:ext cx="17007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MES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3090672"/>
            <a:ext cx="22860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359152" y="3090672"/>
            <a:ext cx="21579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生产执行消费方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3090672"/>
            <a:ext cx="36576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45152" y="3090672"/>
            <a:ext cx="35295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物料/BOM/工艺/工作中心/生产版本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511296"/>
            <a:ext cx="18288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0352" y="3511296"/>
            <a:ext cx="17007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SRM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0" y="3511296"/>
            <a:ext cx="22860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359152" y="3511296"/>
            <a:ext cx="21579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供应商准入源头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3511296"/>
            <a:ext cx="36576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45152" y="3511296"/>
            <a:ext cx="35295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供应商BP/银行/税号/绩效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931920"/>
            <a:ext cx="18288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0352" y="3931920"/>
            <a:ext cx="17007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CRM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0" y="3931920"/>
            <a:ext cx="22860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359152" y="3931920"/>
            <a:ext cx="21579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客户身份源头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3931920"/>
            <a:ext cx="36576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45152" y="3931920"/>
            <a:ext cx="35295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客户BP/层级/信用/价格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352544"/>
            <a:ext cx="18288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0352" y="4352544"/>
            <a:ext cx="17007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电商/财务共享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0" y="4352544"/>
            <a:ext cx="22860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359152" y="4352544"/>
            <a:ext cx="21579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订单与付款消费方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4352544"/>
            <a:ext cx="3657600" cy="420624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45152" y="4352544"/>
            <a:ext cx="3529584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客户BP/供应商BP/科目映射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503920" y="1828800"/>
            <a:ext cx="3200400" cy="3931920"/>
          </a:xfrm>
          <a:prstGeom prst="round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732520" y="2011680"/>
            <a:ext cx="2743200" cy="35661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E97132"/>
                </a:solidFill>
                <a:latin typeface="Microsoft YaHei"/>
              </a:rPr>
              <a:t>DRF配置要点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分发模式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0C4D8"/>
                </a:solidFill>
                <a:latin typeface="Microsoft YaHei"/>
              </a:rPr>
              <a:t>实时(同步)与批量(异步)结合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幂等控制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0C4D8"/>
                </a:solidFill>
                <a:latin typeface="Microsoft YaHei"/>
              </a:rPr>
              <a:t>重复分发不产生重复记录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失败重试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0C4D8"/>
                </a:solidFill>
                <a:latin typeface="Microsoft YaHei"/>
              </a:rPr>
              <a:t>自动重试+告警+人工干预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对账机制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0C4D8"/>
                </a:solidFill>
                <a:latin typeface="Microsoft YaHei"/>
              </a:rPr>
              <a:t>定期对账报告，差异自动工单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0E2841"/>
                </a:solidFill>
                <a:latin typeface="Microsoft YaHei"/>
              </a:rPr>
              <a:t>MDG与Migration Cockpit协同策略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Microsoft YaHei"/>
              </a:rPr>
              <a:t>MDG负责清洗→查重→合并→生成黄金记录，Migration Cockpit负责按模板格式加载至S/4HANA。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011680" cy="4572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1828800"/>
            <a:ext cx="188366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迁移对象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1828800"/>
            <a:ext cx="2743200" cy="4572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42032" y="1828800"/>
            <a:ext cx="26151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MDG角色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1828800"/>
            <a:ext cx="1920240" cy="4572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85232" y="1828800"/>
            <a:ext cx="179222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Cockpit角色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828800"/>
            <a:ext cx="4572000" cy="4572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05472" y="1828800"/>
            <a:ext cx="44439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协同方式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201168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" y="2286000"/>
            <a:ext cx="188366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主数据(物料/BP/财务)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2286000"/>
            <a:ext cx="27432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42032" y="2286000"/>
            <a:ext cx="26151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清洗→查重→合并→黄金记录→导出模板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0" y="2286000"/>
            <a:ext cx="192024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85232" y="2286000"/>
            <a:ext cx="179222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按模板加载至S/4HANA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2286000"/>
            <a:ext cx="45720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05472" y="2286000"/>
            <a:ext cx="44439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MDG导出→Cockpit加载；或DRF直接分发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743200"/>
            <a:ext cx="201168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" y="2743200"/>
            <a:ext cx="188366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BOM/工艺路线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8880" y="2743200"/>
            <a:ext cx="27432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42032" y="2743200"/>
            <a:ext cx="26151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版本治理→引用校验→变更号关联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2080" y="2743200"/>
            <a:ext cx="192024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85232" y="2743200"/>
            <a:ext cx="179222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按依赖顺序加载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2743200"/>
            <a:ext cx="45720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05472" y="2743200"/>
            <a:ext cx="44439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MDG处理后导出，Cockpit按依赖序加载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200400"/>
            <a:ext cx="201168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0352" y="3200400"/>
            <a:ext cx="188366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业务数据(库存/余额)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68880" y="3200400"/>
            <a:ext cx="27432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42032" y="3200400"/>
            <a:ext cx="26151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不参与(非主数据)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2080" y="3200400"/>
            <a:ext cx="192024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85232" y="3200400"/>
            <a:ext cx="179222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按组织依赖序加载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0" y="3200400"/>
            <a:ext cx="45720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05472" y="3200400"/>
            <a:ext cx="44439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主数据先行，业务数据随后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657600"/>
            <a:ext cx="201168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0352" y="3657600"/>
            <a:ext cx="188366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历史归档数据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68880" y="3657600"/>
            <a:ext cx="27432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542032" y="3657600"/>
            <a:ext cx="26151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不参与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12080" y="3657600"/>
            <a:ext cx="192024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285232" y="3657600"/>
            <a:ext cx="179222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不迁移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0" y="3657600"/>
            <a:ext cx="45720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05472" y="3657600"/>
            <a:ext cx="44439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ILM归档不进S/4HANA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114800"/>
            <a:ext cx="11247120" cy="201168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57200" y="4114800"/>
            <a:ext cx="54864" cy="201168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1520" y="4206240"/>
            <a:ext cx="10789920" cy="18288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56082"/>
                </a:solidFill>
                <a:latin typeface="Microsoft YaHei"/>
              </a:rPr>
              <a:t>MDG平台实施分阶段策略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第一阶段(启动—蓝图)：治理仓库与清洗区，建立对象清单/标准库/规则库/映射台账  →  退出门槛：清洗工作台可用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第二阶段(蓝图—集成测试)：核心对象工作流，物料/BP/财务申请审批查重分发  →  退出门槛：核心域CR流程通过UAT，DRF分发成功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第三阶段(集成测试—上线)：研产协同与参考数据，BOM/工艺/ECN/PLM-SAP-MES集成  →  退出门槛：ECN端到端验证通过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第四阶段(上线后)：质量运营与价值深化，监控/仪表盘/根因分析/数据资产目录  →  退出门槛：DCMM自评估L3达标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151A0-D462-C4CF-5A28-89D5274FD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0B6E7B5-2BDB-CAB8-5AB1-E4945AB373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1247136" cy="1477328"/>
          </a:xfrm>
        </p:spPr>
        <p:txBody>
          <a:bodyPr/>
          <a:lstStyle/>
          <a:p>
            <a:r>
              <a:rPr lang="en-US" altLang="zh-CN" dirty="0"/>
              <a:t>09</a:t>
            </a:r>
            <a:endParaRPr lang="zh-CN" alt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48F059-732C-7828-104A-37196050F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>
                <a:latin typeface="Microsoft YaHei"/>
              </a:rPr>
              <a:t>数据治理架构整体设计</a:t>
            </a:r>
            <a:br>
              <a:rPr lang="en-US" altLang="zh-CN" sz="4400" dirty="0">
                <a:latin typeface="Microsoft YaHei"/>
              </a:rPr>
            </a:br>
            <a:r>
              <a:rPr lang="en-US" altLang="zh-CN" sz="3600" dirty="0">
                <a:latin typeface="Microsoft YaHei"/>
              </a:rPr>
              <a:t>-</a:t>
            </a:r>
            <a:r>
              <a:rPr lang="zh-CN" altLang="en-US" sz="3600" dirty="0">
                <a:latin typeface="Microsoft YaHei"/>
              </a:rPr>
              <a:t>质量管理与持续运营</a:t>
            </a:r>
            <a:endParaRPr lang="zh-CN" altLang="en-US" sz="4400" dirty="0">
              <a:latin typeface="Microsoft YaHei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DDE611F-2C92-DB2C-CFD1-6DFC3274C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2387231-C1B5-E8FE-6C45-7762A148172E}"/>
              </a:ext>
            </a:extLst>
          </p:cNvPr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2888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0E2841"/>
                </a:solidFill>
                <a:latin typeface="Microsoft YaHei"/>
              </a:rPr>
              <a:t>质量规则库与指标体系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Microsoft YaHei"/>
              </a:rPr>
              <a:t>建立涵盖唯一性、完整性、映射覆盖、版本控制、分发质量和迁移对账六维度的考核指标体系。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371600" cy="40233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1828800"/>
            <a:ext cx="1243584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828800"/>
            <a:ext cx="3200400" cy="40233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01952" y="1828800"/>
            <a:ext cx="3072384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指标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828800"/>
            <a:ext cx="2743200" cy="40233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02352" y="1828800"/>
            <a:ext cx="2615184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建议目标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31136"/>
            <a:ext cx="1371600" cy="402336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2231136"/>
            <a:ext cx="1243584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唯一性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2231136"/>
            <a:ext cx="3200400" cy="402336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01952" y="2231136"/>
            <a:ext cx="3072384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核心对象重复未处置率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231136"/>
            <a:ext cx="2743200" cy="402336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02352" y="2231136"/>
            <a:ext cx="2615184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0（多码须有映射和业务理由）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33472"/>
            <a:ext cx="1371600" cy="402336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2633472"/>
            <a:ext cx="1243584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完整性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2633472"/>
            <a:ext cx="3200400" cy="402336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01952" y="2633472"/>
            <a:ext cx="3072384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P0关键字段完整率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2633472"/>
            <a:ext cx="2743200" cy="402336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02352" y="2633472"/>
            <a:ext cx="2615184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100%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35808"/>
            <a:ext cx="1371600" cy="402336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" y="3035808"/>
            <a:ext cx="1243584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完整性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3035808"/>
            <a:ext cx="3200400" cy="402336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901952" y="3035808"/>
            <a:ext cx="3072384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其他必填字段完整率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3035808"/>
            <a:ext cx="2743200" cy="402336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02352" y="3035808"/>
            <a:ext cx="2615184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≥99.5%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438144"/>
            <a:ext cx="1371600" cy="402336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0352" y="3438144"/>
            <a:ext cx="1243584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映射覆盖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0" y="3438144"/>
            <a:ext cx="3200400" cy="402336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901952" y="3438144"/>
            <a:ext cx="3072384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旧新映射覆盖率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3438144"/>
            <a:ext cx="2743200" cy="402336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102352" y="3438144"/>
            <a:ext cx="2615184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100%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840480"/>
            <a:ext cx="1371600" cy="402336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0352" y="3840480"/>
            <a:ext cx="1243584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版本控制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0" y="3840480"/>
            <a:ext cx="3200400" cy="402336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901952" y="3840480"/>
            <a:ext cx="3072384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BOM有效版本+生效日期完整率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3840480"/>
            <a:ext cx="2743200" cy="402336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102352" y="3840480"/>
            <a:ext cx="2615184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≥95%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242816"/>
            <a:ext cx="1371600" cy="402336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0352" y="4242816"/>
            <a:ext cx="1243584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分发质量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0" y="4242816"/>
            <a:ext cx="3200400" cy="402336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901952" y="4242816"/>
            <a:ext cx="3072384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MDM平台数据同步及时率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0" y="4242816"/>
            <a:ext cx="2743200" cy="402336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02352" y="4242816"/>
            <a:ext cx="2615184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≥99%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645152"/>
            <a:ext cx="1371600" cy="402336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0352" y="4645152"/>
            <a:ext cx="1243584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迁移对账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28800" y="4645152"/>
            <a:ext cx="3200400" cy="402336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901952" y="4645152"/>
            <a:ext cx="3072384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S/4HANA迁移一次成功率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0" y="4645152"/>
            <a:ext cx="2743200" cy="402336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102352" y="4645152"/>
            <a:ext cx="2615184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≥98%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5047488"/>
            <a:ext cx="1371600" cy="402336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30352" y="5047488"/>
            <a:ext cx="1243584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质量工单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0" y="5047488"/>
            <a:ext cx="3200400" cy="402336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901952" y="5047488"/>
            <a:ext cx="3072384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工单响应及时率/解决及时率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0" y="5047488"/>
            <a:ext cx="2743200" cy="402336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102352" y="5047488"/>
            <a:ext cx="2615184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≥90% / ≥85%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46720" y="1828800"/>
            <a:ext cx="3657600" cy="4114800"/>
          </a:xfrm>
          <a:prstGeom prst="round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275320" y="2011680"/>
            <a:ext cx="3200400" cy="374903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E97132"/>
                </a:solidFill>
                <a:latin typeface="Microsoft YaHei"/>
              </a:rPr>
              <a:t>质量规则类型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格式校验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0C4D8"/>
                </a:solidFill>
                <a:latin typeface="Microsoft YaHei"/>
              </a:rPr>
              <a:t>编码格式/长度/禁用字符/单位合法性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一致性校验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0C4D8"/>
                </a:solidFill>
                <a:latin typeface="Microsoft YaHei"/>
              </a:rPr>
              <a:t>跨字段/跨对象引用一致性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完整性校验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0C4D8"/>
                </a:solidFill>
                <a:latin typeface="Microsoft YaHei"/>
              </a:rPr>
              <a:t>必填字段/视图完整率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时效性校验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0C4D8"/>
                </a:solidFill>
                <a:latin typeface="Microsoft YaHei"/>
              </a:rPr>
              <a:t>超期未审批/未更新/失效未通知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业务规则校验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0C4D8"/>
                </a:solidFill>
                <a:latin typeface="Microsoft YaHei"/>
              </a:rPr>
              <a:t>MRP参数合理性/成本中心归属/信用额度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0E2841"/>
                </a:solidFill>
                <a:latin typeface="Microsoft YaHei"/>
              </a:rPr>
              <a:t>质量问题闭环流程与上线后运营机制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Microsoft YaHei"/>
              </a:rPr>
              <a:t>建立“发现→登记→分派→根因→整改→复核→预防”七步质量闭环，上线后转入月度运营。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" y="1691640"/>
            <a:ext cx="1551867" cy="777240"/>
          </a:xfrm>
          <a:prstGeom prst="round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4632" y="1691640"/>
            <a:ext cx="1551867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发现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14600"/>
            <a:ext cx="1515291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Microsoft YaHei"/>
              </a:rPr>
              <a:t>规则/接口/业务/审计发现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91363" y="1691640"/>
            <a:ext cx="1551867" cy="777240"/>
          </a:xfrm>
          <a:prstGeom prst="round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91363" y="1691640"/>
            <a:ext cx="1551867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登记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9651" y="2514600"/>
            <a:ext cx="1515291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Microsoft YaHei"/>
              </a:rPr>
              <a:t>对象·记录·影响·证据·优先级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98094" y="1691640"/>
            <a:ext cx="1551867" cy="777240"/>
          </a:xfrm>
          <a:prstGeom prst="round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98094" y="1691640"/>
            <a:ext cx="1551867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分派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6382" y="2514600"/>
            <a:ext cx="1515291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Microsoft YaHei"/>
              </a:rPr>
              <a:t>Owner/Steward/IT明确责任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4826" y="1691640"/>
            <a:ext cx="1551867" cy="777240"/>
          </a:xfrm>
          <a:prstGeom prst="round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4826" y="1691640"/>
            <a:ext cx="1551867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根因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3114" y="2514600"/>
            <a:ext cx="1515291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Microsoft YaHei"/>
              </a:rPr>
              <a:t>标准/流程/权限/系统/历史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11557" y="1691640"/>
            <a:ext cx="1551867" cy="777240"/>
          </a:xfrm>
          <a:prstGeom prst="round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11557" y="1691640"/>
            <a:ext cx="1551867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整改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9845" y="2514600"/>
            <a:ext cx="1515291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Microsoft YaHei"/>
              </a:rPr>
              <a:t>修数据/修规则/修流程/修接口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18289" y="1691640"/>
            <a:ext cx="1551867" cy="777240"/>
          </a:xfrm>
          <a:prstGeom prst="round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18289" y="1691640"/>
            <a:ext cx="1551867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复核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6577" y="2514600"/>
            <a:ext cx="1515291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Microsoft YaHei"/>
              </a:rPr>
              <a:t>规则复跑与业务确认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25020" y="1691640"/>
            <a:ext cx="1551867" cy="777240"/>
          </a:xfrm>
          <a:prstGeom prst="round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125020" y="1691640"/>
            <a:ext cx="1551867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</a:rPr>
              <a:t>预防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3308" y="2514600"/>
            <a:ext cx="1515291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33333"/>
                </a:solidFill>
                <a:latin typeface="Microsoft YaHei"/>
              </a:rPr>
              <a:t>更新标准/培训/监控/考核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017520"/>
            <a:ext cx="11247120" cy="30175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3017520"/>
            <a:ext cx="54864" cy="30175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3154680"/>
            <a:ext cx="10789920" cy="2743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56082"/>
                </a:solidFill>
                <a:latin typeface="Microsoft YaHei"/>
              </a:rPr>
              <a:t>上线后运营机制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611880"/>
            <a:ext cx="5303520" cy="105156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1520" y="3611880"/>
            <a:ext cx="53035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" y="3749040"/>
            <a:ext cx="5084064" cy="82295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2841"/>
                </a:solidFill>
                <a:latin typeface="Microsoft YaHei"/>
              </a:rPr>
              <a:t>月度质量运营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DMO月度质量报告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工单跟踪与关闭率统计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指标看板与趋势分析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611880"/>
            <a:ext cx="5303520" cy="105156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17920" y="3611880"/>
            <a:ext cx="53035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27648" y="3749040"/>
            <a:ext cx="5084064" cy="82295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2841"/>
                </a:solidFill>
                <a:latin typeface="Microsoft YaHei"/>
              </a:rPr>
              <a:t>标准变更管理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标准变更评审流程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规则迭代与版本发布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跨系统影响评估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846320"/>
            <a:ext cx="5303520" cy="105156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31520" y="4846320"/>
            <a:ext cx="53035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1248" y="4983480"/>
            <a:ext cx="5084064" cy="82295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2841"/>
                </a:solidFill>
                <a:latin typeface="Microsoft YaHei"/>
              </a:rPr>
              <a:t>权限与审计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定期权限审计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操作日志留痕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合规检查与报告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846320"/>
            <a:ext cx="5303520" cy="105156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17920" y="4846320"/>
            <a:ext cx="53035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27648" y="4983480"/>
            <a:ext cx="5084064" cy="82295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2841"/>
                </a:solidFill>
                <a:latin typeface="Microsoft YaHei"/>
              </a:rPr>
              <a:t>持续深化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数据资产目录建设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AI应用数据准备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DCMM自评估L3→L4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B8616-AD8E-07EB-C346-3D87C5187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614652-B3C0-CAC1-7976-0150CE2DC7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0098" y="389618"/>
            <a:ext cx="1247136" cy="1477328"/>
          </a:xfrm>
        </p:spPr>
        <p:txBody>
          <a:bodyPr/>
          <a:lstStyle/>
          <a:p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EDF7E5-E66D-68EB-96C0-09E968717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>
                <a:latin typeface="Microsoft YaHei"/>
              </a:rPr>
              <a:t>实施路线图与风险管理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8E9C1A1-E1C8-A2A4-45AB-89CADCF8C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6" y="125649"/>
            <a:ext cx="1930400" cy="381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0BCCF52-98E8-5963-74EE-7C8B3DB976A2}"/>
              </a:ext>
            </a:extLst>
          </p:cNvPr>
          <p:cNvSpPr txBox="1"/>
          <p:nvPr/>
        </p:nvSpPr>
        <p:spPr>
          <a:xfrm>
            <a:off x="-1293962" y="2622430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 err="1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289954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>
                <a:solidFill>
                  <a:srgbClr val="0E2841"/>
                </a:solidFill>
                <a:latin typeface="Microsoft YaHei"/>
              </a:rPr>
              <a:t>四阶段实施路线：从基线到持续运营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Microsoft YaHei"/>
              </a:rPr>
              <a:t>主数据治理遵循“基线蓝图—标准清洗—平台上线—持续运营”渐进路径。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532120" cy="2103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783080"/>
            <a:ext cx="5312664" cy="18745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阶段0·基线与蓝图前置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4-8周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确认Owner·对象清单·源系统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目标模型·问题台账·迁移策略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退出门槛：组织/财务决策路径明确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532120" cy="2103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81928" y="1783080"/>
            <a:ext cx="5312664" cy="18745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阶段1·标准与关键清洗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1-3个月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核心标准冻结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P0/P1问题处理·重点对象清洗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退出门槛：标准冻结，清洗包达模拟迁移条件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5532120" cy="2103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4069080"/>
            <a:ext cx="5312664" cy="18745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阶段2·平台与系统协同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约6个月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MDG配置·集成·迁移工具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2-3轮模拟迁移·业务测试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退出门槛：对账与关键场景通过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931920"/>
            <a:ext cx="5532120" cy="210312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3931920"/>
            <a:ext cx="553212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81928" y="4069080"/>
            <a:ext cx="5312664" cy="187451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2841"/>
                </a:solidFill>
                <a:latin typeface="Microsoft YaHei"/>
              </a:rPr>
              <a:t>阶段3·稳定运营与深化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上线后持续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月度质量运营·工单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标准变更·应用恢复增强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Microsoft YaHei"/>
              </a:rPr>
              <a:t>退出门槛：质量机制稳定，重复问题下降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 dirty="0" err="1">
                <a:solidFill>
                  <a:srgbClr val="0E2841"/>
                </a:solidFill>
                <a:latin typeface="Microsoft YaHei"/>
              </a:rPr>
              <a:t>风险评估与应对策略</a:t>
            </a:r>
            <a:endParaRPr sz="2600" b="1" i="0" dirty="0">
              <a:solidFill>
                <a:srgbClr val="0E2841"/>
              </a:solidFill>
              <a:latin typeface="Microsoft YaHei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Microsoft YaHei"/>
              </a:rPr>
              <a:t>组织变革和历史清洗是最高风险项，需通过一把手工程和分阶段策略重点应对。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645920" cy="4572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1828800"/>
            <a:ext cx="151790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风险类别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1828800"/>
            <a:ext cx="4114800" cy="4572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76272" y="1828800"/>
            <a:ext cx="39867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风险描述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486400" cy="4572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91072" y="1828800"/>
            <a:ext cx="53583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应对策略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164592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2286000"/>
            <a:ext cx="151790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组织变革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2286000"/>
            <a:ext cx="41148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76272" y="2286000"/>
            <a:ext cx="39867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跨部门权责调整，业务部门抵触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286000"/>
            <a:ext cx="54864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91072" y="2286000"/>
            <a:ext cx="53583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一把手工程·速赢项目展示价值·纳入绩效考核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743200"/>
            <a:ext cx="164592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2743200"/>
            <a:ext cx="151790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数据清洗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2743200"/>
            <a:ext cx="41148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176272" y="2743200"/>
            <a:ext cx="39867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历史数据量大、问题复杂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743200"/>
            <a:ext cx="54864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91072" y="2743200"/>
            <a:ext cx="53583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机器校验+人工复核·分批分优先级·优先核心主数据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200400"/>
            <a:ext cx="164592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" y="3200400"/>
            <a:ext cx="151790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数据迁移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03120" y="3200400"/>
            <a:ext cx="41148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76272" y="3200400"/>
            <a:ext cx="39867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迁移错误致业务无法运行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200400"/>
            <a:ext cx="54864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91072" y="3200400"/>
            <a:ext cx="53583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2-3轮模拟迁移·全量备份·详细回退方案并演练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657600"/>
            <a:ext cx="164592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0352" y="3657600"/>
            <a:ext cx="151790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系统集成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3120" y="3657600"/>
            <a:ext cx="41148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76272" y="3657600"/>
            <a:ext cx="39867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MDG与多系统集成复杂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657600"/>
            <a:ext cx="54864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91072" y="3657600"/>
            <a:ext cx="53583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统一集成架构·优先核心系统·接口监控与补偿机制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114800"/>
            <a:ext cx="164592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0352" y="4114800"/>
            <a:ext cx="151790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2841"/>
                </a:solidFill>
                <a:latin typeface="Microsoft YaHei"/>
              </a:rPr>
              <a:t>标准落地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4114800"/>
            <a:ext cx="41148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176272" y="4114800"/>
            <a:ext cx="39867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标准脱离业务实际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4114800"/>
            <a:ext cx="5486400" cy="457200"/>
          </a:xfrm>
          <a:prstGeom prst="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91072" y="4114800"/>
            <a:ext cx="535838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33333"/>
                </a:solidFill>
                <a:latin typeface="Microsoft YaHei"/>
              </a:rPr>
              <a:t>业务部门参与制定·多轮评审试点·配套培训与持续迭代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663440"/>
            <a:ext cx="1124712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900" b="0" i="1">
                <a:solidFill>
                  <a:srgbClr val="333333"/>
                </a:solidFill>
                <a:latin typeface="Microsoft YaHei"/>
              </a:rPr>
              <a:t>回退触发条件：数据错误率超5%·核心流程无法运行·切换窗口耗尽——由项目总监与业务负责人共同决策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 i="0" dirty="0" err="1">
                <a:solidFill>
                  <a:srgbClr val="0E2841"/>
                </a:solidFill>
                <a:latin typeface="Microsoft YaHei"/>
              </a:rPr>
              <a:t>关键考核指标：可量化的治理成效度量</a:t>
            </a:r>
            <a:endParaRPr sz="2600" b="1" i="0" dirty="0">
              <a:solidFill>
                <a:srgbClr val="0E2841"/>
              </a:solidFill>
              <a:latin typeface="Microsoft YaHei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>
                <a:solidFill>
                  <a:srgbClr val="333333"/>
                </a:solidFill>
                <a:latin typeface="Microsoft YaHei"/>
              </a:rPr>
              <a:t>为项目验收提供客观度量标准，涵盖唯一性、完整性、映射、版本、分发和迁移六维度。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708910" cy="137160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270891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847088"/>
            <a:ext cx="2526030" cy="11887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E2841"/>
                </a:solidFill>
                <a:latin typeface="Microsoft YaHei"/>
              </a:rPr>
              <a:t>0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56082"/>
                </a:solidFill>
                <a:latin typeface="Microsoft YaHei"/>
              </a:rPr>
              <a:t>重复未处置率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Microsoft YaHei"/>
              </a:rPr>
              <a:t>核心对象多码须有映射和业务理由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03270" y="1737360"/>
            <a:ext cx="2708910" cy="1371600"/>
          </a:xfrm>
          <a:prstGeom prst="round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94710" y="1847088"/>
            <a:ext cx="2526030" cy="11887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</a:rPr>
              <a:t>100%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0C4D8"/>
                </a:solidFill>
                <a:latin typeface="Microsoft YaHei"/>
              </a:rPr>
              <a:t>P0字段完整率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D0D8E0"/>
                </a:solidFill>
                <a:latin typeface="Microsoft YaHei"/>
              </a:rPr>
              <a:t>关键字段完整性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9340" y="1737360"/>
            <a:ext cx="2708910" cy="137160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49340" y="1737360"/>
            <a:ext cx="270891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40780" y="1847088"/>
            <a:ext cx="2526030" cy="11887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E2841"/>
                </a:solidFill>
                <a:latin typeface="Microsoft YaHei"/>
              </a:rPr>
              <a:t>100%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56082"/>
                </a:solidFill>
                <a:latin typeface="Microsoft YaHei"/>
              </a:rPr>
              <a:t>旧新映射覆盖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Microsoft YaHei"/>
              </a:rPr>
              <a:t>全量映射台账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95410" y="1737360"/>
            <a:ext cx="2708910" cy="137160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995410" y="1737360"/>
            <a:ext cx="270891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86850" y="1847088"/>
            <a:ext cx="2526030" cy="11887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E2841"/>
                </a:solidFill>
                <a:latin typeface="Microsoft YaHei"/>
              </a:rPr>
              <a:t>≥98%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56082"/>
                </a:solidFill>
                <a:latin typeface="Microsoft YaHei"/>
              </a:rPr>
              <a:t>迁移一次成功率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Microsoft YaHei"/>
              </a:rPr>
              <a:t>S/4HANA导入对账通过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337560"/>
            <a:ext cx="2708910" cy="137160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337560"/>
            <a:ext cx="270891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447288"/>
            <a:ext cx="2526030" cy="11887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E2841"/>
                </a:solidFill>
                <a:latin typeface="Microsoft YaHei"/>
              </a:rPr>
              <a:t>≥95%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56082"/>
                </a:solidFill>
                <a:latin typeface="Microsoft YaHei"/>
              </a:rPr>
              <a:t>BOM版本完整率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Microsoft YaHei"/>
              </a:rPr>
              <a:t>有效版本+生效日期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03270" y="3337560"/>
            <a:ext cx="2708910" cy="1371600"/>
          </a:xfrm>
          <a:prstGeom prst="round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94710" y="3447288"/>
            <a:ext cx="2526030" cy="11887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</a:rPr>
              <a:t>≥99%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B0C4D8"/>
                </a:solidFill>
                <a:latin typeface="Microsoft YaHei"/>
              </a:rPr>
              <a:t>MDG同步及时率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D0D8E0"/>
                </a:solidFill>
                <a:latin typeface="Microsoft YaHei"/>
              </a:rPr>
              <a:t>分发时效性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9340" y="3337560"/>
            <a:ext cx="2708910" cy="137160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49340" y="3337560"/>
            <a:ext cx="270891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40780" y="3447288"/>
            <a:ext cx="2526030" cy="11887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E2841"/>
                </a:solidFill>
                <a:latin typeface="Microsoft YaHei"/>
              </a:rPr>
              <a:t>≥90%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56082"/>
                </a:solidFill>
                <a:latin typeface="Microsoft YaHei"/>
              </a:rPr>
              <a:t>工单响应及时率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Microsoft YaHei"/>
              </a:rPr>
              <a:t>问题闭环时效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95410" y="3337560"/>
            <a:ext cx="2708910" cy="1371600"/>
          </a:xfrm>
          <a:prstGeom prst="roundRect">
            <a:avLst/>
          </a:prstGeom>
          <a:solidFill>
            <a:srgbClr val="EE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95410" y="3337560"/>
            <a:ext cx="2708910" cy="4572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86850" y="3447288"/>
            <a:ext cx="2526030" cy="11887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0E2841"/>
                </a:solidFill>
                <a:latin typeface="Microsoft YaHei"/>
              </a:rPr>
              <a:t>≥85%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56082"/>
                </a:solidFill>
                <a:latin typeface="Microsoft YaHei"/>
              </a:rPr>
              <a:t>工单解决及时率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Microsoft YaHei"/>
              </a:rPr>
              <a:t>整改完成率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029200"/>
            <a:ext cx="11247120" cy="1005840"/>
          </a:xfrm>
          <a:prstGeom prst="round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5120640"/>
            <a:ext cx="10789920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7132"/>
                </a:solidFill>
                <a:latin typeface="Microsoft YaHei"/>
              </a:rPr>
              <a:t>预期收益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Microsoft YaHei"/>
              </a:rPr>
              <a:t>业务协同效率提升30%+ · 结账周期15→8天 · 库存周转率提升15-20% · DCMM目标L3(远期L4)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9EE8F2A4-F320-1210-8A46-AF97FAA97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88917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8542" y="2861052"/>
            <a:ext cx="1128514" cy="677108"/>
          </a:xfrm>
        </p:spPr>
        <p:txBody>
          <a:bodyPr/>
          <a:lstStyle/>
          <a:p>
            <a:pPr algn="ctr"/>
            <a:r>
              <a:rPr sz="4400" b="1" i="0" dirty="0" err="1">
                <a:solidFill>
                  <a:srgbClr val="0E2841"/>
                </a:solidFill>
                <a:latin typeface="Microsoft YaHei"/>
              </a:rPr>
              <a:t>谢谢</a:t>
            </a:r>
            <a:endParaRPr sz="4400" b="1" i="0" dirty="0">
              <a:solidFill>
                <a:srgbClr val="0E2841"/>
              </a:solidFill>
              <a:latin typeface="Microsoft YaHei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1819565" y="1510034"/>
            <a:ext cx="8414326" cy="1157864"/>
          </a:xfrm>
        </p:spPr>
        <p:txBody>
          <a:bodyPr/>
          <a:lstStyle/>
          <a:p>
            <a:pPr algn="ctr"/>
            <a:r>
              <a:rPr sz="2400" b="1" i="0" dirty="0" err="1">
                <a:solidFill>
                  <a:schemeClr val="bg1"/>
                </a:solidFill>
                <a:latin typeface="Microsoft YaHei"/>
              </a:rPr>
              <a:t>以S</a:t>
            </a:r>
            <a:r>
              <a:rPr sz="2400" b="1" i="0" dirty="0">
                <a:solidFill>
                  <a:schemeClr val="bg1"/>
                </a:solidFill>
                <a:latin typeface="Microsoft YaHei"/>
              </a:rPr>
              <a:t>/4HANA升级为契机</a:t>
            </a:r>
          </a:p>
          <a:p>
            <a:pPr algn="ctr"/>
            <a:r>
              <a:rPr sz="2400" b="1" i="0" dirty="0" err="1">
                <a:solidFill>
                  <a:schemeClr val="bg1"/>
                </a:solidFill>
                <a:latin typeface="Microsoft YaHei"/>
              </a:rPr>
              <a:t>构建数据驱动的智慧企业</a:t>
            </a:r>
            <a:endParaRPr sz="1300" b="1" i="0" dirty="0">
              <a:solidFill>
                <a:schemeClr val="bg1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hite background">
  <a:themeElements>
    <a:clrScheme name="New Ato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73E6"/>
      </a:accent1>
      <a:accent2>
        <a:srgbClr val="3DC7FF"/>
      </a:accent2>
      <a:accent3>
        <a:srgbClr val="00005C"/>
      </a:accent3>
      <a:accent4>
        <a:srgbClr val="EF5E82"/>
      </a:accent4>
      <a:accent5>
        <a:srgbClr val="4AA82D"/>
      </a:accent5>
      <a:accent6>
        <a:srgbClr val="663894"/>
      </a:accent6>
      <a:hlink>
        <a:srgbClr val="00005C"/>
      </a:hlink>
      <a:folHlink>
        <a:srgbClr val="00005C"/>
      </a:folHlink>
    </a:clrScheme>
    <a:fontScheme name="New Atos">
      <a:majorFont>
        <a:latin typeface="Biennale Bold"/>
        <a:ea typeface=""/>
        <a:cs typeface=""/>
      </a:majorFont>
      <a:minorFont>
        <a:latin typeface="Bienna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noAutofit/>
      </a:bodyPr>
      <a:lstStyle>
        <a:defPPr algn="l">
          <a:defRPr dirty="0" err="1" smtClean="0">
            <a:solidFill>
              <a:schemeClr val="accent3"/>
            </a:solidFill>
          </a:defRPr>
        </a:defPPr>
      </a:lstStyle>
    </a:txDef>
  </a:objectDefaults>
  <a:extraClrSchemeLst/>
  <a:custClrLst>
    <a:custClr name="Atos Blue">
      <a:srgbClr val="0073E6"/>
    </a:custClr>
    <a:custClr name="Atos Light blue">
      <a:srgbClr val="3DC7FF"/>
    </a:custClr>
    <a:custClr name="Atos Deep blue">
      <a:srgbClr val="00005C"/>
    </a:custClr>
    <a:custClr name="Atos Pink">
      <a:srgbClr val="EF5E82"/>
    </a:custClr>
    <a:custClr name="Atos Green">
      <a:srgbClr val="4AA82D"/>
    </a:custClr>
    <a:custClr name="Atos Purple">
      <a:srgbClr val="663894"/>
    </a:custClr>
    <a:custClr name="Atos Orange">
      <a:srgbClr val="F56A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emplafySlideTemplateConfiguration><![CDATA[{"slideVersion":2,"isValidatorEnabled":false,"isLocked":false,"elementsMetadata":[],"slideId":"1314779907816423427","enableDocumentContentUpdater":false,"version":"2.0"}]]></TemplafySlideTemplateConfiguration>
</file>

<file path=customXml/item2.xml><?xml version="1.0" encoding="utf-8"?>
<TemplafySlideTemplateConfiguration><![CDATA[{"slideVersion":2,"isValidatorEnabled":false,"isLocked":false,"elementsMetadata":[{"type":"shape","elementConfiguration":{"binding":"{{StringJoin(\", \", Form.SpeakerName,\"SAP\")}}","type":"text","disableUpdates":false}},{"type":"shape","elementConfiguration":{"binding":"{{FormatDateTime(Form.Date,\"MMMM dd, yyyy\",\"en-US\")}}","type":"text","disableUpdates":false}},{"type":"shape","elementConfiguration":{"inheritDimensions":"{{InheritDimensions.InheritNone}}","width":"","height":"1 cm","image":"{{Form.SAPLogo.SubbrandBlue}}","visibility":"","type":"image","disableUpdates":false}},{"type":"shape","elementConfiguration":{"binding":"{{Form.Classification.Display}}","visibility":"","type":"text","disableUpdates":false}}],"slideId":"638313341292813786","enableDocumentContentUpdater":false,"version":"2.0"}]]></TemplafySlideTemplateConfiguration>
</file>

<file path=customXml/item3.xml><?xml version="1.0" encoding="utf-8"?>
<TemplafySlideFormConfiguration><![CDATA[{"formFields":[{"distinct":false,"hideIfNoUserInteractionRequired":false,"required":true,"autoSelectFirstOption":false,"shareValue":false,"type":"dropDown","dataSourceName":"PPTSubBrandLogos","dataSourceFieldName":"Name","name":"SAPLogo","label":"Select Template"},{"distinct":false,"hideIfNoUserInteractionRequired":false,"required":true,"autoSelectFirstOption":false,"shareValue":false,"type":"dropDown","dataSourceName":"Classification","dataSourceFieldName":"Name","name":"Classification","label":"Select Classification"},{"required":false,"shareValue":false,"type":"datePicker","name":"Date","label":"D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],"formDataEntries":[]}]]></TemplafySlideFormConfiguration>
</file>

<file path=customXml/item4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FE511B84-21F8-E546-9875-8BED6F722329}">
  <ds:schemaRefs/>
</ds:datastoreItem>
</file>

<file path=customXml/itemProps2.xml><?xml version="1.0" encoding="utf-8"?>
<ds:datastoreItem xmlns:ds="http://schemas.openxmlformats.org/officeDocument/2006/customXml" ds:itemID="{BEA80D82-EDC8-0741-826D-933AA8F9EFEB}">
  <ds:schemaRefs/>
</ds:datastoreItem>
</file>

<file path=customXml/itemProps3.xml><?xml version="1.0" encoding="utf-8"?>
<ds:datastoreItem xmlns:ds="http://schemas.openxmlformats.org/officeDocument/2006/customXml" ds:itemID="{9B965239-770B-CA49-8A85-05CC8639E8EA}">
  <ds:schemaRefs/>
</ds:datastoreItem>
</file>

<file path=customXml/itemProps4.xml><?xml version="1.0" encoding="utf-8"?>
<ds:datastoreItem xmlns:ds="http://schemas.openxmlformats.org/officeDocument/2006/customXml" ds:itemID="{6B6BFCDD-2828-244C-B8B0-E2958472E4D3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6108</Words>
  <Application>Microsoft Office PowerPoint</Application>
  <PresentationFormat>宽屏</PresentationFormat>
  <Paragraphs>1216</Paragraphs>
  <Slides>57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72" baseType="lpstr">
      <vt:lpstr>Alibaba PuHuiTi 3.0 55 Regular</vt:lpstr>
      <vt:lpstr>Biennale</vt:lpstr>
      <vt:lpstr>Biennale Bold</vt:lpstr>
      <vt:lpstr>Biennale Medium</vt:lpstr>
      <vt:lpstr>FZYaYiHei GB18030L2 R</vt:lpstr>
      <vt:lpstr>Montserrat Bold</vt:lpstr>
      <vt:lpstr>Microsoft YaHei</vt:lpstr>
      <vt:lpstr>Microsoft YaHei</vt:lpstr>
      <vt:lpstr>Aptos</vt:lpstr>
      <vt:lpstr>Arial</vt:lpstr>
      <vt:lpstr>Montserrat SemiBold</vt:lpstr>
      <vt:lpstr>Times New Roman</vt:lpstr>
      <vt:lpstr>Verdana</vt:lpstr>
      <vt:lpstr>Wingdings</vt:lpstr>
      <vt:lpstr>White background</vt:lpstr>
      <vt:lpstr>佛山照明主数据治理 专项方案</vt:lpstr>
      <vt:lpstr>目录</vt:lpstr>
      <vt:lpstr>方案概述与目标</vt:lpstr>
      <vt:lpstr>方案总览-佛山照明主数据专项治理</vt:lpstr>
      <vt:lpstr>项目背景与规划定位</vt:lpstr>
      <vt:lpstr>规划目标：六位一体·三统一·三可控</vt:lpstr>
      <vt:lpstr>治理范围、优先级与紧迫性</vt:lpstr>
      <vt:lpstr>现状诊断与核心痛点</vt:lpstr>
      <vt:lpstr>全局诊断与关键结论</vt:lpstr>
      <vt:lpstr>物料主数据：一物多码·视图缺失·生命周期无闭环</vt:lpstr>
      <vt:lpstr>BOM与工艺路线：研产协同的数据断桥</vt:lpstr>
      <vt:lpstr>客商主数据：多入口·多编码·信用失控</vt:lpstr>
      <vt:lpstr>财务与组织主数据：利润中心缺失·科目映射断裂·合并靠手工</vt:lpstr>
      <vt:lpstr>主数据质量量化评分：六维评估框架</vt:lpstr>
      <vt:lpstr>问题根因分析：管理与技术的双重困境</vt:lpstr>
      <vt:lpstr>数据治理架构整体设计 -治理组织与运行机制</vt:lpstr>
      <vt:lpstr>治理组织架构：三层治理体系设计</vt:lpstr>
      <vt:lpstr>数据责任划分：每一类数据都要有人“拍板”</vt:lpstr>
      <vt:lpstr>关键运行机制与配套制度体系</vt:lpstr>
      <vt:lpstr>数据治理架构整体设计 -数据标准与编码</vt:lpstr>
      <vt:lpstr>企业级数据标准体系</vt:lpstr>
      <vt:lpstr>编码策略：稳定标识 + 属性表达</vt:lpstr>
      <vt:lpstr>物料编码规则（DMO达成共识）</vt:lpstr>
      <vt:lpstr>BP业务伙伴（客商）编码规则</vt:lpstr>
      <vt:lpstr>财务科目编码规则</vt:lpstr>
      <vt:lpstr>成本中心新的编码规则建议</vt:lpstr>
      <vt:lpstr>利润中心新的编码规则建议</vt:lpstr>
      <vt:lpstr>映射标准与物料描述规范</vt:lpstr>
      <vt:lpstr>数据治理架构整体设计 -主数据架构与权威源</vt:lpstr>
      <vt:lpstr>主数据分类框架：六类核心对象</vt:lpstr>
      <vt:lpstr>权威源设计：明确每类数据的“谁说了算”</vt:lpstr>
      <vt:lpstr>物料主数据治理方案</vt:lpstr>
      <vt:lpstr>BOM·工艺·客商·财务治理方案</vt:lpstr>
      <vt:lpstr>数据治理架构整体设计 -主数据全生命周期管理</vt:lpstr>
      <vt:lpstr>全生命周期管理框架：九阶段全程留痕</vt:lpstr>
      <vt:lpstr>创建审核与变更管理</vt:lpstr>
      <vt:lpstr>状态管理与归档·版本控制</vt:lpstr>
      <vt:lpstr>数据治理架构整体设计 -历史数据清洗</vt:lpstr>
      <vt:lpstr>数据清洗八步法与清洗区分层</vt:lpstr>
      <vt:lpstr>重复识别与迁移分类原则</vt:lpstr>
      <vt:lpstr>分对象清洗工作包：按业务影响排序</vt:lpstr>
      <vt:lpstr>数据治理架构整体设计 -数据迁移与MDG平台</vt:lpstr>
      <vt:lpstr>迁移总体策略与对象依赖顺序</vt:lpstr>
      <vt:lpstr>对账体系与正式导入验收门槛</vt:lpstr>
      <vt:lpstr>SAP MDG平台定位与目标逻辑架构</vt:lpstr>
      <vt:lpstr>MDG数据模型与对象域规划</vt:lpstr>
      <vt:lpstr>MDG重复检查与质量校验规则配置</vt:lpstr>
      <vt:lpstr>MDG集成与数据分发框架(DRF)</vt:lpstr>
      <vt:lpstr>MDG与Migration Cockpit协同策略</vt:lpstr>
      <vt:lpstr>数据治理架构整体设计 -质量管理与持续运营</vt:lpstr>
      <vt:lpstr>质量规则库与指标体系</vt:lpstr>
      <vt:lpstr>质量问题闭环流程与上线后运营机制</vt:lpstr>
      <vt:lpstr>实施路线图与风险管理</vt:lpstr>
      <vt:lpstr>四阶段实施路线：从基线到持续运营</vt:lpstr>
      <vt:lpstr>风险评估与应对策略</vt:lpstr>
      <vt:lpstr>关键考核指标：可量化的治理成效度量</vt:lpstr>
      <vt:lpstr>谢谢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泰国财务体系合规建设专项方案</dc:title>
  <dc:creator>Tan, Hong-liang</dc:creator>
  <cp:lastModifiedBy>2102125624@qq.com</cp:lastModifiedBy>
  <cp:revision>28</cp:revision>
  <dcterms:created xsi:type="dcterms:W3CDTF">2026-07-20T05:48:17Z</dcterms:created>
  <dcterms:modified xsi:type="dcterms:W3CDTF">2026-08-30T15:37:12Z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8C8A8E2263C4743E61B55D6AA9AF7B3D_42</vt:lpwstr>
  </property>
  <property fmtid="{D5CDD505-2E9C-101B-9397-08002B2CF9AE}" pid="3" name="KSOProductBuildVer">
    <vt:lpwstr>2052-0.0.0.0</vt:lpwstr>
  </property>
</Properties>
</file>