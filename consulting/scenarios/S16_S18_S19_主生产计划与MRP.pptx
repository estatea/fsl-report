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</p:sldMasterIdLst>
  <p:notesMasterIdLst>
    <p:notesMasterId r:id="rId30"/>
  </p:notesMasterIdLst>
  <p:sldIdLst>
    <p:sldId id="402" r:id="rId6"/>
    <p:sldId id="256" r:id="rId7"/>
    <p:sldId id="16777032" r:id="rId8"/>
    <p:sldId id="16777045" r:id="rId9"/>
    <p:sldId id="403" r:id="rId10"/>
    <p:sldId id="16777018" r:id="rId11"/>
    <p:sldId id="16777019" r:id="rId12"/>
    <p:sldId id="16777020" r:id="rId13"/>
    <p:sldId id="16777021" r:id="rId14"/>
    <p:sldId id="16777039" r:id="rId15"/>
    <p:sldId id="16777044" r:id="rId16"/>
    <p:sldId id="2147483481" r:id="rId17"/>
    <p:sldId id="2147483423" r:id="rId18"/>
    <p:sldId id="2147483469" r:id="rId19"/>
    <p:sldId id="16777049" r:id="rId20"/>
    <p:sldId id="293" r:id="rId21"/>
    <p:sldId id="418" r:id="rId22"/>
    <p:sldId id="16777012" r:id="rId23"/>
    <p:sldId id="404" r:id="rId24"/>
    <p:sldId id="16777035" r:id="rId25"/>
    <p:sldId id="419" r:id="rId26"/>
    <p:sldId id="420" r:id="rId27"/>
    <p:sldId id="405" r:id="rId28"/>
    <p:sldId id="29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E6"/>
    <a:srgbClr val="62A9F0"/>
    <a:srgbClr val="003366"/>
    <a:srgbClr val="0066CC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1"/>
    <p:restoredTop sz="85938"/>
  </p:normalViewPr>
  <p:slideViewPr>
    <p:cSldViewPr snapToGrid="0">
      <p:cViewPr varScale="1">
        <p:scale>
          <a:sx n="41" d="100"/>
          <a:sy n="41" d="100"/>
        </p:scale>
        <p:origin x="48" y="789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标准</a:t>
            </a:r>
            <a:r>
              <a:rPr lang="zh-CN" altLang="en-US" dirty="0"/>
              <a:t>、精细、协同、高效</a:t>
            </a:r>
            <a:endParaRPr lang="en-US" altLang="zh-CN" dirty="0"/>
          </a:p>
          <a:p>
            <a:r>
              <a:rPr lang="zh-CN" altLang="en-US" dirty="0"/>
              <a:t>精细化的成本分析。</a:t>
            </a:r>
            <a:endParaRPr lang="en-US" altLang="zh-CN" dirty="0"/>
          </a:p>
          <a:p>
            <a:r>
              <a:rPr lang="zh-CN" altLang="en-US" dirty="0"/>
              <a:t>有量化指标的提升。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张学权</a:t>
            </a:r>
            <a:endParaRPr lang="en-US" dirty="0"/>
          </a:p>
          <a:p>
            <a:r>
              <a:rPr lang="zh-CN" altLang="en-US" dirty="0"/>
              <a:t>现在停掉</a:t>
            </a:r>
            <a:r>
              <a:rPr lang="en-US" altLang="zh-CN" dirty="0"/>
              <a:t>SAP</a:t>
            </a:r>
            <a:r>
              <a:rPr lang="zh-CN" altLang="en-US" dirty="0"/>
              <a:t>，业务是否还能够照常开展？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、统一认识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、锻炼内功，</a:t>
            </a:r>
            <a:r>
              <a:rPr lang="en-US" altLang="zh-CN" dirty="0"/>
              <a:t>SAP</a:t>
            </a:r>
            <a:r>
              <a:rPr lang="zh-CN" altLang="en-US" dirty="0"/>
              <a:t>的升级不是简单的更新，而是要把公司过往的组织能力、管理理念、管理流程进行全面的梳理和再造。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、对公司内部各个部门以及相关分子公司的负责人，一定要高度重视，亲自参与。过去几年的数字化项目，成功的不多，失败的不少，甚至变烂尾了，各个部门的负责人没参与。营销的数字化中台、</a:t>
            </a:r>
            <a:r>
              <a:rPr lang="en-US" altLang="zh-CN" dirty="0"/>
              <a:t>CRM</a:t>
            </a:r>
            <a:r>
              <a:rPr lang="zh-CN" altLang="en-US" dirty="0"/>
              <a:t>系统搞不下去了。每个单位指定一个责任心强、沟通能力强的</a:t>
            </a:r>
            <a:r>
              <a:rPr lang="en-US" altLang="zh-CN" dirty="0"/>
              <a:t>SAP</a:t>
            </a:r>
            <a:r>
              <a:rPr lang="zh-CN" altLang="en-US" dirty="0"/>
              <a:t>专员。外部公司既要专业，又要接地气。数字化部和财务部要协同好，跟艾维登要协同好。上下联动、左右协同、齐抓共管。系统要管用还要好用。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历史数据：</a:t>
            </a:r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设定平行评估激活基准日（如2027年1月1日上线后首个完整月）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基准日前的历史数据不回填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抵触：统一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业务变革：</a:t>
            </a:r>
            <a:endParaRPr kumimoji="1" lang="en-US" altLang="zh-CN" dirty="0"/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判断1：这不是SAP实施项目，是一次利益格局重塑。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佛照内部加价制造的"虚拟利润池"按保守估算约为集团真实扣非净利润的2-3倍量级。一旦启动消除，任何BU的账面利润变化都不是小数点之争，而是生死线的争夺。技术方案再完美，如果集团高层不愿意在年终奖分配上做出强制性决定，整个方案将在执行层被稀释为"系统里跑三套数字，考核还是按老逻辑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判断2：标准成本方向是对的，但前提条件被严重低估。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标准成本+平行评估的组合是S/4HANA上的正确架构，SAP技术层面完全支持。但佛照有两个硬约束：LED芯片等核心原材料年波动可达20-40%，若标准成本年度冻结，Price Variance可能吃掉全年利润；车灯（燎旺）高度客制化，强套标准成本会产生大量无意义差异。这两个问题不解决，标准成本体系上线即失信。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判断3：0.95%净利率是变革的最佳窗口，也是最大风险来源。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薄利倒逼透明化是有利时机，管理层被迫正视成本真相。但同时，容错空间几乎为零——如果标准成本制定错误导致BU绩效失真，在如此薄利状态下任何决策偏差都可能直接亏损。数据准备和标准成本核定的精度要求，比财务健康期高一个数量级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判断4：路径C（双轨KPI权重逐步迁移）是当前唯一可行路径，但"执行死结"在Year 2节点。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路径A（完全集团成本考核）理想但不可落地；路径B（保留法律实体利润+集团视角仅供参考）换汤不换药。路径C可行，但历史上类似改革最常见的失败模式是：Year 1顺利，Year 2权重调整时受损BU重启抵制，高层松动，改革被锁定在"Year 1状态"永远不推进。这个节点必须提前设计防御机制。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814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1B2431-D351-4C6E-A3CF-9DFAC0E3E050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863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ADA5-6583-F809-C928-834EE87A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DED7EE-70DF-2957-26FA-437E724AA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E2AD3C-C844-BB2A-22CF-5114693E2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solidFill>
                <a:srgbClr val="434343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E4311B-7FE7-B2B6-D39A-6AA76E474D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5B0B7-7914-47D5-950B-B0DC25FD06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286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历史数据：</a:t>
            </a:r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设定平行评估激活基准日（如2027年1月1日上线后首个完整月）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基准日前的历史数据不回填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抵触：统一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业务变革：</a:t>
            </a:r>
            <a:endParaRPr kumimoji="1" lang="en-US" altLang="zh-CN" dirty="0"/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判断1：这不是SAP实施项目，是一次利益格局重塑。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佛照内部加价制造的"虚拟利润池"按保守估算约为集团真实扣非净利润的2-3倍量级。一旦启动消除，任何BU的账面利润变化都不是小数点之争，而是生死线的争夺。技术方案再完美，如果集团高层不愿意在年终奖分配上做出强制性决定，整个方案将在执行层被稀释为"系统里跑三套数字，考核还是按老逻辑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判断2：标准成本方向是对的，但前提条件被严重低估。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标准成本+平行评估的组合是S/4HANA上的正确架构，SAP技术层面完全支持。但佛照有两个硬约束：LED芯片等核心原材料年波动可达20-40%，若标准成本年度冻结，Price Variance可能吃掉全年利润；车灯（燎旺）高度客制化，强套标准成本会产生大量无意义差异。这两个问题不解决，标准成本体系上线即失信。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判断3：0.95%净利率是变革的最佳窗口，也是最大风险来源。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薄利倒逼透明化是有利时机，管理层被迫正视成本真相。但同时，容错空间几乎为零——如果标准成本制定错误导致BU绩效失真，在如此薄利状态下任何决策偏差都可能直接亏损。数据准备和标准成本核定的精度要求，比财务健康期高一个数量级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判断4：路径C（双轨KPI权重逐步迁移）是当前唯一可行路径，但"执行死结"在Year 2节点。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路径A（完全集团成本考核）理想但不可落地；路径B（保留法律实体利润+集团视角仅供参考）换汤不换药。路径C可行，但历史上类似改革最常见的失败模式是：Year 1顺利，Year 2权重调整时受损BU重启抵制，高层松动，改革被锁定在"Year 1状态"永远不推进。这个节点必须提前设计防御机制。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MRP的核心逻辑是什么呢？它主要依赖三大输入：主生产计划MPS、物料清单BOM和库存记录。运算过程就是从最终产品开始，按照BOM结构一层层分解，计算出每个零部件的净需求，然后生成计划订单。这个过程的准确性，完全依赖于BOM和库存数据的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81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/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8" name="AddCustomFooter#1"/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/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/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/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5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/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 panose="020B0604030504040204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5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ts val="61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6632A639-65F6-44E7-9705-34D092A42112}" type="slidenum">
              <a:rPr lang="en-US" sz="1335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t>‹#›</a:t>
            </a:fld>
            <a:endParaRPr lang="en-US" sz="1335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/>
          <p:cNvSpPr txBox="1"/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anose="020B0604030504040204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AddCustomFooter#1"/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EVIDEN</a:t>
            </a: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幻灯片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16" y="185144"/>
            <a:ext cx="8756649" cy="619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17" y="1714496"/>
            <a:ext cx="11686116" cy="1309687"/>
          </a:xfrm>
          <a:prstGeom prst="rect">
            <a:avLst/>
          </a:prstGeom>
        </p:spPr>
        <p:txBody>
          <a:bodyPr/>
          <a:lstStyle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7" name="AddCustomFooter#1"/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5" Type="http://schemas.openxmlformats.org/officeDocument/2006/relationships/tags" Target="../tags/tag5.xml"/><Relationship Id="rId61" Type="http://schemas.openxmlformats.org/officeDocument/2006/relationships/notesSlide" Target="../notesSlides/notesSlide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image" Target="../media/image2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slideLayout" Target="../slideLayouts/slideLayout14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16744" y="1750913"/>
            <a:ext cx="6099048" cy="1581833"/>
          </a:xfrm>
        </p:spPr>
        <p:txBody>
          <a:bodyPr/>
          <a:lstStyle/>
          <a:p>
            <a:r>
              <a:rPr lang="zh-CN" altLang="en-US" dirty="0">
                <a:sym typeface="Biennale Bold"/>
              </a:rPr>
              <a:t>主生产计划</a:t>
            </a:r>
            <a:r>
              <a:rPr lang="en-US" altLang="zh-CN" dirty="0">
                <a:sym typeface="Biennale Bold"/>
              </a:rPr>
              <a:t>+MRP+</a:t>
            </a:r>
            <a:r>
              <a:rPr lang="zh-CN" altLang="en-US" dirty="0">
                <a:sym typeface="Biennale Bold"/>
              </a:rPr>
              <a:t>齐套建设方案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49813" y="4077251"/>
            <a:ext cx="5486400" cy="1121887"/>
          </a:xfrm>
        </p:spPr>
        <p:txBody>
          <a:bodyPr/>
          <a:lstStyle/>
          <a:p>
            <a:r>
              <a:rPr lang="zh-CN" altLang="en-US" dirty="0"/>
              <a:t>业务诊断咨询及</a:t>
            </a:r>
            <a:r>
              <a:rPr lang="en-US" altLang="zh-CN" dirty="0"/>
              <a:t>SAP</a:t>
            </a:r>
            <a:r>
              <a:rPr lang="zh-CN" altLang="en-US" dirty="0"/>
              <a:t>系统升级实施项目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23068" y="5491978"/>
            <a:ext cx="3657600" cy="640080"/>
          </a:xfrm>
        </p:spPr>
        <p:txBody>
          <a:bodyPr/>
          <a:lstStyle/>
          <a:p>
            <a:r>
              <a:rPr lang="en-US" altLang="zh-CN" dirty="0"/>
              <a:t>2026.07.21</a:t>
            </a:r>
            <a:endParaRPr lang="zh-CN" altLang="en-US" dirty="0"/>
          </a:p>
        </p:txBody>
      </p:sp>
      <p:pic>
        <p:nvPicPr>
          <p:cNvPr id="10" name="Picture Placeholder 14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/>
          <a:srcRect l="107" r="107"/>
          <a:stretch>
            <a:fillRect/>
          </a:stretch>
        </p:blipFill>
        <p:spPr bwMode="black"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专项方案概述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方案实现的前提条件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US" b="1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Biennale Bold"/>
              </a:rPr>
              <a:t>主生产计划</a:t>
            </a:r>
            <a:r>
              <a:rPr lang="en-US" altLang="zh-CN" dirty="0">
                <a:sym typeface="Biennale Bold"/>
              </a:rPr>
              <a:t>MPS</a:t>
            </a:r>
            <a:r>
              <a:rPr lang="zh-CN" altLang="en-US" dirty="0">
                <a:sym typeface="Biennale Bold"/>
              </a:rPr>
              <a:t>建设方案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Biennale Bold"/>
              </a:rPr>
              <a:t>主生产计划</a:t>
            </a:r>
            <a:r>
              <a:rPr lang="en-US" altLang="zh-CN" dirty="0">
                <a:sym typeface="Biennale Bold"/>
              </a:rPr>
              <a:t>MPS</a:t>
            </a:r>
            <a:r>
              <a:rPr lang="zh-CN" altLang="en-US" dirty="0">
                <a:sym typeface="Biennale Bold"/>
              </a:rPr>
              <a:t>建设方案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4</a:t>
            </a:fld>
            <a:endParaRPr lang="nl-NL"/>
          </a:p>
        </p:txBody>
      </p:sp>
      <p:sp>
        <p:nvSpPr>
          <p:cNvPr id="7" name="矩形 6"/>
          <p:cNvSpPr/>
          <p:nvPr/>
        </p:nvSpPr>
        <p:spPr>
          <a:xfrm>
            <a:off x="509270" y="1078230"/>
            <a:ext cx="6146165" cy="157162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项目目标：</a:t>
            </a:r>
            <a:endParaRPr kumimoji="1"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解决：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N+2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（月）计划进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系统，驱动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需求计算，解决目前采购缺料，达到有计划的生产，缩短生产周期</a:t>
            </a:r>
            <a:endParaRPr kumimoji="1"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9110" y="3020060"/>
            <a:ext cx="2347595" cy="307657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现状：</a:t>
            </a:r>
            <a:endParaRPr kumimoji="1"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销售计划、运营中心计划、车间计划都是手工编制，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 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基本没有用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800"/>
              </a:spcBef>
            </a:pP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应对措施：</a:t>
            </a:r>
            <a:endParaRPr kumimoji="1"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依据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历史数据、做滚动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N+2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计划制定进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</a:t>
            </a:r>
            <a:endParaRPr kumimoji="1"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SKU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产品级别 做独立需求运算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计算生产需求和采购需求</a:t>
            </a:r>
            <a:endParaRPr kumimoji="1"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54045" y="3007995"/>
            <a:ext cx="3502025" cy="183261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171450" algn="just">
              <a:buFont typeface="Arial" panose="020B0604020202020204" pitchFamily="34" charset="0"/>
              <a:buChar char="•"/>
            </a:pP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主数据：提前期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Leadtime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主数据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系统，系统建议自制件和采购件的交期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主生产计划展望：下月：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N+1 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月，下下月：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N+1+1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月（下月，下下月）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预测主计划进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：通过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MPS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主生产计划驱动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物料需求计算，解决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产销平衡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53410" y="5081905"/>
            <a:ext cx="3502660" cy="101473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主生产计划数据每月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号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发布驱动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171450">
              <a:buFont typeface="Arial" panose="020B0604020202020204" pitchFamily="34" charset="0"/>
              <a:buChar char="•"/>
            </a:pP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上线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60565" y="2129155"/>
            <a:ext cx="4621530" cy="87376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060565" y="3280410"/>
            <a:ext cx="4621530" cy="162242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000" dirty="0"/>
          </a:p>
        </p:txBody>
      </p:sp>
      <p:sp>
        <p:nvSpPr>
          <p:cNvPr id="13" name="矩形 12"/>
          <p:cNvSpPr/>
          <p:nvPr/>
        </p:nvSpPr>
        <p:spPr>
          <a:xfrm>
            <a:off x="7060565" y="5175250"/>
            <a:ext cx="4621530" cy="92138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业务价值：提升研发投资回报率、优化资源配置、强化创新决策。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数字化指标：提升数据准确率、重点项目覆盖率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" name="矩形 13"/>
          <p:cNvSpPr/>
          <p:nvPr/>
        </p:nvSpPr>
        <p:spPr>
          <a:xfrm>
            <a:off x="7060565" y="1078230"/>
            <a:ext cx="4621530" cy="84010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主责： 集团生产部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配合： 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集团下属各公司相应部门关键用户</a:t>
            </a:r>
            <a:endParaRPr kumimoji="1"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外部：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艾维登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FICO</a:t>
            </a:r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MM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</a:t>
            </a:r>
            <a:endParaRPr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3055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责任部门</a:t>
            </a:r>
          </a:p>
        </p:txBody>
      </p:sp>
      <p:sp>
        <p:nvSpPr>
          <p:cNvPr id="16" name="矩形 15"/>
          <p:cNvSpPr/>
          <p:nvPr/>
        </p:nvSpPr>
        <p:spPr>
          <a:xfrm>
            <a:off x="815054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</a:p>
        </p:txBody>
      </p:sp>
      <p:sp>
        <p:nvSpPr>
          <p:cNvPr id="17" name="矩形 16"/>
          <p:cNvSpPr/>
          <p:nvPr/>
        </p:nvSpPr>
        <p:spPr>
          <a:xfrm>
            <a:off x="8151180" y="3123221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风险与项目依赖</a:t>
            </a:r>
          </a:p>
        </p:txBody>
      </p:sp>
      <p:sp>
        <p:nvSpPr>
          <p:cNvPr id="18" name="矩形 17"/>
          <p:cNvSpPr/>
          <p:nvPr/>
        </p:nvSpPr>
        <p:spPr>
          <a:xfrm>
            <a:off x="8116255" y="4987576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业务价值和数字化指标</a:t>
            </a:r>
          </a:p>
        </p:txBody>
      </p:sp>
      <p:sp>
        <p:nvSpPr>
          <p:cNvPr id="19" name="矩形 18"/>
          <p:cNvSpPr/>
          <p:nvPr/>
        </p:nvSpPr>
        <p:spPr>
          <a:xfrm>
            <a:off x="3790364" y="496395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关键任务</a:t>
            </a:r>
          </a:p>
        </p:txBody>
      </p:sp>
      <p:sp>
        <p:nvSpPr>
          <p:cNvPr id="20" name="矩形 19"/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业务变革</a:t>
            </a:r>
          </a:p>
        </p:txBody>
      </p:sp>
      <p:sp>
        <p:nvSpPr>
          <p:cNvPr id="21" name="矩形 20"/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差距</a:t>
            </a:r>
          </a:p>
        </p:txBody>
      </p:sp>
      <p:sp>
        <p:nvSpPr>
          <p:cNvPr id="22" name="矩形 21"/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目标和范围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3046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sz="1000" dirty="0" err="1">
              <a:solidFill>
                <a:schemeClr val="accent3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468870" y="2442845"/>
            <a:ext cx="1281430" cy="328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完成系统配置开发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7979674" y="2850538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/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2" name="椭圆 31"/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3" name="椭圆 32"/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9903460" y="2377440"/>
            <a:ext cx="1562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系统正式上线，进入持续优化阶段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910320" y="2377440"/>
            <a:ext cx="99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开展测试与上线准备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2775" y="3355340"/>
            <a:ext cx="4719320" cy="1432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研发业务流程、新品口径定义跨部门无法达成共识，造成方案反复变更；组织财务、研发、销售专题会议，提前固化业务规则。</a:t>
            </a: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BOM、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物料主数据、内部订单主数据维护不及时、不准确，影响费用归集；规范主数据提交、审核时效，建立主数据质量核查机制。</a:t>
            </a: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历史未关闭订单、旧研发数据存量清理不到位，干扰新核算逻辑；上线前完成历史订单清理。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695">
              <a:defRPr/>
            </a:pP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现状：主生产计划</a:t>
            </a:r>
            <a:r>
              <a:rPr lang="en-US" altLang="zh-CN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2344" y="984959"/>
            <a:ext cx="10583491" cy="491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：主生产计划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销售计划、运营中心计划、车间计划都是手工编制，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基本没有用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问题总结：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提高主计划的编制的效率；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应用解决采购与生产的指导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主生产计划的编制后导入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数据共享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主生产计划可以追溯、通过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解析主计划的需求，计算采购需求和自制件的需求，提高主生产计划执行需求计算效率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en-US" altLang="zh-CN" sz="18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endParaRPr lang="zh-CN" altLang="en-US" sz="18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695">
              <a:defRPr/>
            </a:pP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现状：主生产计划</a:t>
            </a:r>
            <a:r>
              <a:rPr lang="en-US" altLang="zh-CN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2344" y="984959"/>
            <a:ext cx="105834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：主生产计划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国际事业部，按单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生产，需求走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可能没有物料号和</a:t>
            </a:r>
            <a:r>
              <a:rPr lang="en-US" altLang="zh-CN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直接需求提给车间，销售订单没有物料号码可以下单，等正式的物料号有了再重新走一次流程。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87680" indent="-34290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问题总结：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无料号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</a:p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物料编码建立、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DBOM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MBOM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建立要及时、准确、完整、审核的流程需要规范化、高效化管理，为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运行满足先决条件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87540" y="561067"/>
            <a:ext cx="1084666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：主生产计划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计划与库存联动管理；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销售计划偏差大；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缺货率高达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30%-40%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层级做预测；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供应商交期准确率低；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计划调整频繁；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计划执行、交付进度无法跟踪；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备货不准确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问题总结：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主计划要考虑当前库存可用数量；计划偏差大；缺料严重；计划变动频繁；计划与交付数据无勾稽；备货不足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顾问建议：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主计划、销售订单、生产订单、采购订单通过链接勾稽起来，便于</a:t>
            </a:r>
            <a:r>
              <a:rPr lang="zh-CN" altLang="en-US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联动追溯需求来源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有提供这个功能）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针对缺货问题，做计划层面的</a:t>
            </a:r>
            <a:r>
              <a:rPr lang="zh-CN" altLang="en-US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齐套检查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结果报表、颜色预警、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大屏看板预警缺料信息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通过准确的主生产计划和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供需平衡的计算逻辑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计划调整因客户、缺料、产能的原因不得不调整，通过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系统重新计算，</a:t>
            </a:r>
            <a:r>
              <a:rPr lang="zh-CN" altLang="en-US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让变更信息更新、共享</a:t>
            </a:r>
            <a:endParaRPr lang="en-US" altLang="zh-CN" sz="2000" b="1" u="sng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defTabSz="1623695">
              <a:defRPr/>
            </a:pPr>
            <a:r>
              <a:rPr lang="zh-CN" altLang="en-US" sz="26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现状：主生产计划</a:t>
            </a:r>
            <a:r>
              <a:rPr lang="en-US" altLang="zh-CN" sz="26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-MRP</a:t>
            </a:r>
            <a:r>
              <a:rPr lang="zh-CN" altLang="en-US" sz="26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管理需求和问题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695">
              <a:defRPr/>
            </a:pP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现状：主生产计划</a:t>
            </a:r>
            <a:r>
              <a:rPr lang="en-US" altLang="zh-CN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2344" y="984959"/>
            <a:ext cx="10583491" cy="321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lang="en-US" altLang="zh-CN" sz="18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主生产计划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  <a:endParaRPr lang="zh-CN" altLang="zh-CN" sz="1865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现状痛点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：下订单后无交期反馈、物料追踪机制，临近出货才暴露物料 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包材问题，无缓冲协商时间。需求解决：新增订单交期预警、物料全流程追踪看板，提前同步缺料风险，预留客户沟通缓冲期。</a:t>
            </a:r>
            <a:endParaRPr lang="en-US" altLang="zh-CN" sz="18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lang="zh-CN" altLang="en-US" sz="18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问题总结：</a:t>
            </a:r>
            <a:endParaRPr lang="en-US" altLang="zh-CN" sz="18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缺料不能预警和提醒</a:t>
            </a:r>
            <a:endParaRPr lang="en-US" altLang="zh-CN" sz="18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顾问处理意见：</a:t>
            </a:r>
            <a:endParaRPr lang="en-US" altLang="zh-CN" sz="18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5" b="1" u="sng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缺料（物料齐套检查）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需要在销售订单确认阶段或生产计划阶段做物料齐套检查（开发齐套预警系统）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3" y="443673"/>
            <a:ext cx="11776604" cy="6061901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623695">
              <a:defRPr/>
            </a:pP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生产计划模式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244542"/>
            <a:ext cx="11496675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DD6FE-C0A8-959A-6BC5-FEC47390182B}"/>
              </a:ext>
            </a:extLst>
          </p:cNvPr>
          <p:cNvSpPr txBox="1">
            <a:spLocks/>
          </p:cNvSpPr>
          <p:nvPr/>
        </p:nvSpPr>
        <p:spPr>
          <a:xfrm>
            <a:off x="1032176" y="224630"/>
            <a:ext cx="8834838" cy="8159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+mj-ea"/>
                <a:cs typeface="+mj-cs"/>
              </a:rPr>
              <a:t>产销协同生产计划体系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73E6"/>
              </a:solidFill>
              <a:effectLst/>
              <a:uLnTx/>
              <a:uFillTx/>
              <a:latin typeface="Biennale Bold"/>
              <a:ea typeface="+mj-ea"/>
              <a:cs typeface="+mj-cs"/>
            </a:endParaRP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5722123E-D1B9-7822-59E3-B8A7A50238FC}"/>
              </a:ext>
            </a:extLst>
          </p:cNvPr>
          <p:cNvSpPr/>
          <p:nvPr/>
        </p:nvSpPr>
        <p:spPr>
          <a:xfrm>
            <a:off x="2882312" y="877329"/>
            <a:ext cx="5472608" cy="432048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产销协同生产计划体系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E73134-7294-A177-4A42-F0B438B05290}"/>
              </a:ext>
            </a:extLst>
          </p:cNvPr>
          <p:cNvSpPr/>
          <p:nvPr/>
        </p:nvSpPr>
        <p:spPr>
          <a:xfrm>
            <a:off x="4830838" y="1615345"/>
            <a:ext cx="1512168" cy="7849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FFCC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年度生产计划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Y-1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年发布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45ECC3-3460-318A-1C37-8CF2677B2E6E}"/>
              </a:ext>
            </a:extLst>
          </p:cNvPr>
          <p:cNvSpPr/>
          <p:nvPr/>
        </p:nvSpPr>
        <p:spPr>
          <a:xfrm>
            <a:off x="4830838" y="2457389"/>
            <a:ext cx="1512168" cy="2679220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滚动生产计划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33E644-DC70-8675-DEC6-87684C618229}"/>
              </a:ext>
            </a:extLst>
          </p:cNvPr>
          <p:cNvSpPr/>
          <p:nvPr/>
        </p:nvSpPr>
        <p:spPr>
          <a:xfrm>
            <a:off x="4974854" y="2860725"/>
            <a:ext cx="1224136" cy="6480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CCFF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N+2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月滚动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生产计划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M-N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月发布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A62E59-0AC4-0C09-A422-3D21B3F08C0A}"/>
              </a:ext>
            </a:extLst>
          </p:cNvPr>
          <p:cNvSpPr/>
          <p:nvPr/>
        </p:nvSpPr>
        <p:spPr>
          <a:xfrm>
            <a:off x="4974854" y="3624441"/>
            <a:ext cx="1224136" cy="6480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CCFF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Biennale"/>
              </a:rPr>
              <a:t>双周滚动</a:t>
            </a:r>
            <a:endParaRPr lang="en-US" altLang="zh-CN" sz="1400" dirty="0">
              <a:solidFill>
                <a:schemeClr val="bg1"/>
              </a:solidFill>
              <a:latin typeface="Biennale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Biennale"/>
              </a:rPr>
              <a:t>生产计划</a:t>
            </a:r>
            <a:endParaRPr lang="en-US" altLang="zh-CN" sz="1400" dirty="0">
              <a:solidFill>
                <a:schemeClr val="bg1"/>
              </a:solidFill>
              <a:latin typeface="Biennale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latin typeface="Biennale"/>
              </a:rPr>
              <a:t>W-2</a:t>
            </a:r>
            <a:r>
              <a:rPr lang="zh-CN" altLang="en-US" sz="1400" dirty="0">
                <a:solidFill>
                  <a:schemeClr val="bg1"/>
                </a:solidFill>
                <a:latin typeface="Biennale"/>
              </a:rPr>
              <a:t>周发布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CDE8A0-92B5-506C-23E7-936C3627391E}"/>
              </a:ext>
            </a:extLst>
          </p:cNvPr>
          <p:cNvSpPr/>
          <p:nvPr/>
        </p:nvSpPr>
        <p:spPr>
          <a:xfrm>
            <a:off x="4974854" y="4388157"/>
            <a:ext cx="1224136" cy="6480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CCFF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Biennale"/>
              </a:rPr>
              <a:t>日生产计划</a:t>
            </a:r>
            <a:endParaRPr lang="en-US" altLang="zh-CN" sz="1400" dirty="0">
              <a:solidFill>
                <a:schemeClr val="bg1"/>
              </a:solidFill>
              <a:latin typeface="Biennale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latin typeface="Biennale"/>
              </a:rPr>
              <a:t>D-1</a:t>
            </a:r>
            <a:r>
              <a:rPr lang="zh-CN" altLang="en-US" sz="1400" dirty="0">
                <a:solidFill>
                  <a:schemeClr val="bg1"/>
                </a:solidFill>
                <a:latin typeface="Biennale"/>
              </a:rPr>
              <a:t>天发布</a:t>
            </a:r>
          </a:p>
        </p:txBody>
      </p:sp>
      <p:sp>
        <p:nvSpPr>
          <p:cNvPr id="10" name="圆角矩形 8">
            <a:extLst>
              <a:ext uri="{FF2B5EF4-FFF2-40B4-BE49-F238E27FC236}">
                <a16:creationId xmlns:a16="http://schemas.microsoft.com/office/drawing/2014/main" id="{CD6DE3A3-D7FC-D579-95BB-D03ABAF902A4}"/>
              </a:ext>
            </a:extLst>
          </p:cNvPr>
          <p:cNvSpPr/>
          <p:nvPr/>
        </p:nvSpPr>
        <p:spPr>
          <a:xfrm>
            <a:off x="4830838" y="5280471"/>
            <a:ext cx="1512168" cy="504210"/>
          </a:xfrm>
          <a:prstGeom prst="roundRect">
            <a:avLst/>
          </a:prstGeom>
          <a:gradFill>
            <a:gsLst>
              <a:gs pos="100000">
                <a:srgbClr val="00CC66"/>
              </a:gs>
              <a:gs pos="10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照明产品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MPS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发布发布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15501EE-80B9-AEAA-3843-9E566AB3E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900" y="1608217"/>
            <a:ext cx="720080" cy="58635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5EE2C03-053D-A072-1AB2-F720971D487B}"/>
              </a:ext>
            </a:extLst>
          </p:cNvPr>
          <p:cNvSpPr txBox="1"/>
          <p:nvPr/>
        </p:nvSpPr>
        <p:spPr>
          <a:xfrm>
            <a:off x="7033892" y="217509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长期计划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39C62D7-B512-E695-0C35-B145D7B6B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840" y="2224639"/>
            <a:ext cx="742950" cy="485775"/>
          </a:xfrm>
          <a:prstGeom prst="rect">
            <a:avLst/>
          </a:prstGeom>
        </p:spPr>
      </p:pic>
      <p:sp>
        <p:nvSpPr>
          <p:cNvPr id="14" name="流程图: 多文档 13">
            <a:extLst>
              <a:ext uri="{FF2B5EF4-FFF2-40B4-BE49-F238E27FC236}">
                <a16:creationId xmlns:a16="http://schemas.microsoft.com/office/drawing/2014/main" id="{856AE5EF-BF3A-ED97-3317-2843F7A9CF75}"/>
              </a:ext>
            </a:extLst>
          </p:cNvPr>
          <p:cNvSpPr/>
          <p:nvPr/>
        </p:nvSpPr>
        <p:spPr>
          <a:xfrm>
            <a:off x="3713015" y="3624441"/>
            <a:ext cx="636637" cy="532598"/>
          </a:xfrm>
          <a:prstGeom prst="flowChartMultidocumen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9E5177-07A3-1C1E-0635-84F6E1C31B7C}"/>
              </a:ext>
            </a:extLst>
          </p:cNvPr>
          <p:cNvSpPr txBox="1"/>
          <p:nvPr/>
        </p:nvSpPr>
        <p:spPr>
          <a:xfrm>
            <a:off x="3606702" y="273968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销售预测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45CD8B5-B1DE-B2FA-F802-923490087AA7}"/>
              </a:ext>
            </a:extLst>
          </p:cNvPr>
          <p:cNvSpPr txBox="1"/>
          <p:nvPr/>
        </p:nvSpPr>
        <p:spPr>
          <a:xfrm>
            <a:off x="3606702" y="4200505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销售订单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1FCB677-7E7B-BF9C-6CC7-764128466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156" y="2616118"/>
            <a:ext cx="692824" cy="5166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B0E0206-3C86-D795-E16E-8C6E47CAB34A}"/>
              </a:ext>
            </a:extLst>
          </p:cNvPr>
          <p:cNvSpPr txBox="1"/>
          <p:nvPr/>
        </p:nvSpPr>
        <p:spPr>
          <a:xfrm>
            <a:off x="7033892" y="3120385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需求管理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0EA223-AEE5-4401-9341-8E57FF87F41E}"/>
              </a:ext>
            </a:extLst>
          </p:cNvPr>
          <p:cNvSpPr txBox="1"/>
          <p:nvPr/>
        </p:nvSpPr>
        <p:spPr>
          <a:xfrm>
            <a:off x="7072381" y="4259325"/>
            <a:ext cx="598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库存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54BF04-CAA3-21D3-DC2F-2CDB0EE4071B}"/>
              </a:ext>
            </a:extLst>
          </p:cNvPr>
          <p:cNvSpPr txBox="1"/>
          <p:nvPr/>
        </p:nvSpPr>
        <p:spPr>
          <a:xfrm>
            <a:off x="6965339" y="5044674"/>
            <a:ext cx="1410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车间计划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1A7CE93-C2AB-94B4-7EBE-C64E68322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051" y="2398610"/>
            <a:ext cx="1168307" cy="78615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D2AA5AA-8F16-FF2F-36FC-B2C8337D6F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2529" y="3580511"/>
            <a:ext cx="872925" cy="6477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F3255F0-AB3F-24C6-9F83-C6958137C240}"/>
              </a:ext>
            </a:extLst>
          </p:cNvPr>
          <p:cNvSpPr txBox="1"/>
          <p:nvPr/>
        </p:nvSpPr>
        <p:spPr>
          <a:xfrm>
            <a:off x="9502529" y="4252768"/>
            <a:ext cx="872925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</a:defRPr>
            </a:lvl1pPr>
          </a:lstStyle>
          <a:p>
            <a:r>
              <a:rPr lang="zh-CN" altLang="en-US" dirty="0"/>
              <a:t>供应商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4B242B4-65D4-3333-4D0B-F02061F283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65" y="2132192"/>
            <a:ext cx="773637" cy="71210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85907F0-848B-778E-91D1-BC0397AF43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0478" y="4157039"/>
            <a:ext cx="773213" cy="73342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C264F8A-BCC9-2286-ADE7-C395F2F33D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4574" y="3048377"/>
            <a:ext cx="701218" cy="65797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2429CEE-28FE-80F1-6714-F64C9A6FC2E5}"/>
              </a:ext>
            </a:extLst>
          </p:cNvPr>
          <p:cNvSpPr txBox="1"/>
          <p:nvPr/>
        </p:nvSpPr>
        <p:spPr>
          <a:xfrm>
            <a:off x="2454574" y="3713000"/>
            <a:ext cx="691319" cy="5232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</a:defRPr>
            </a:lvl1pPr>
          </a:lstStyle>
          <a:p>
            <a:r>
              <a:rPr lang="zh-CN" altLang="en-US" dirty="0"/>
              <a:t>营销</a:t>
            </a:r>
            <a:endParaRPr lang="en-US" altLang="zh-CN" dirty="0"/>
          </a:p>
          <a:p>
            <a:r>
              <a:rPr lang="zh-CN" altLang="en-US" dirty="0"/>
              <a:t>公司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C140F8-9520-EFF2-5CF2-C94241DD18CA}"/>
              </a:ext>
            </a:extLst>
          </p:cNvPr>
          <p:cNvSpPr txBox="1"/>
          <p:nvPr/>
        </p:nvSpPr>
        <p:spPr>
          <a:xfrm>
            <a:off x="1590478" y="2843386"/>
            <a:ext cx="761825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营销店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B57878A-6360-F4A2-6761-5D7947E75E12}"/>
              </a:ext>
            </a:extLst>
          </p:cNvPr>
          <p:cNvSpPr txBox="1"/>
          <p:nvPr/>
        </p:nvSpPr>
        <p:spPr>
          <a:xfrm>
            <a:off x="1590054" y="4890464"/>
            <a:ext cx="773638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iennale"/>
              </a:defRPr>
            </a:lvl1pPr>
          </a:lstStyle>
          <a:p>
            <a:r>
              <a:rPr lang="zh-CN" altLang="en-US" dirty="0"/>
              <a:t>客户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ABBAFFE-8C8C-1A8A-78B7-55DD2DDA651F}"/>
              </a:ext>
            </a:extLst>
          </p:cNvPr>
          <p:cNvCxnSpPr>
            <a:stCxn id="13" idx="0"/>
            <a:endCxn id="5" idx="1"/>
          </p:cNvCxnSpPr>
          <p:nvPr/>
        </p:nvCxnSpPr>
        <p:spPr>
          <a:xfrm flipV="1">
            <a:off x="4027315" y="2007825"/>
            <a:ext cx="803523" cy="2168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9D156EF-9DCA-7573-401C-B35233072996}"/>
              </a:ext>
            </a:extLst>
          </p:cNvPr>
          <p:cNvCxnSpPr>
            <a:cxnSpLocks/>
            <a:stCxn id="27" idx="3"/>
            <a:endCxn id="13" idx="1"/>
          </p:cNvCxnSpPr>
          <p:nvPr/>
        </p:nvCxnSpPr>
        <p:spPr>
          <a:xfrm flipV="1">
            <a:off x="3155792" y="2467527"/>
            <a:ext cx="500048" cy="9098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67BBC3E-6B2D-52AD-C6B1-A5FE16C22C5C}"/>
              </a:ext>
            </a:extLst>
          </p:cNvPr>
          <p:cNvCxnSpPr>
            <a:cxnSpLocks/>
            <a:stCxn id="27" idx="3"/>
            <a:endCxn id="14" idx="1"/>
          </p:cNvCxnSpPr>
          <p:nvPr/>
        </p:nvCxnSpPr>
        <p:spPr>
          <a:xfrm>
            <a:off x="3155792" y="3377362"/>
            <a:ext cx="557223" cy="5133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6C8C3F7-1989-9FB6-DF03-2ACF8E0B9A59}"/>
              </a:ext>
            </a:extLst>
          </p:cNvPr>
          <p:cNvCxnSpPr>
            <a:cxnSpLocks/>
            <a:stCxn id="26" idx="3"/>
            <a:endCxn id="28" idx="2"/>
          </p:cNvCxnSpPr>
          <p:nvPr/>
        </p:nvCxnSpPr>
        <p:spPr>
          <a:xfrm flipV="1">
            <a:off x="2363691" y="4236220"/>
            <a:ext cx="436543" cy="287532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1BCCE95-9411-2A98-13ED-67535DABE9D6}"/>
              </a:ext>
            </a:extLst>
          </p:cNvPr>
          <p:cNvCxnSpPr>
            <a:cxnSpLocks/>
            <a:stCxn id="25" idx="3"/>
            <a:endCxn id="27" idx="0"/>
          </p:cNvCxnSpPr>
          <p:nvPr/>
        </p:nvCxnSpPr>
        <p:spPr>
          <a:xfrm>
            <a:off x="2352302" y="2488247"/>
            <a:ext cx="452881" cy="56013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B882350-FD69-6F7E-4418-4ABC518C4A64}"/>
              </a:ext>
            </a:extLst>
          </p:cNvPr>
          <p:cNvCxnSpPr>
            <a:stCxn id="13" idx="3"/>
            <a:endCxn id="7" idx="1"/>
          </p:cNvCxnSpPr>
          <p:nvPr/>
        </p:nvCxnSpPr>
        <p:spPr>
          <a:xfrm>
            <a:off x="4398790" y="2467527"/>
            <a:ext cx="576064" cy="7172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9FF8D10-54E8-849B-FD02-3AF0213AD8DF}"/>
              </a:ext>
            </a:extLst>
          </p:cNvPr>
          <p:cNvCxnSpPr>
            <a:stCxn id="13" idx="3"/>
            <a:endCxn id="8" idx="1"/>
          </p:cNvCxnSpPr>
          <p:nvPr/>
        </p:nvCxnSpPr>
        <p:spPr>
          <a:xfrm>
            <a:off x="4398790" y="2467527"/>
            <a:ext cx="576064" cy="14809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482DDC8-3594-6999-DDCB-4704A67B8953}"/>
              </a:ext>
            </a:extLst>
          </p:cNvPr>
          <p:cNvCxnSpPr>
            <a:stCxn id="14" idx="3"/>
            <a:endCxn id="7" idx="1"/>
          </p:cNvCxnSpPr>
          <p:nvPr/>
        </p:nvCxnSpPr>
        <p:spPr>
          <a:xfrm flipV="1">
            <a:off x="4349652" y="3184761"/>
            <a:ext cx="625202" cy="7059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4E03212-1306-A230-7570-2A5C919F4373}"/>
              </a:ext>
            </a:extLst>
          </p:cNvPr>
          <p:cNvCxnSpPr>
            <a:stCxn id="14" idx="3"/>
            <a:endCxn id="8" idx="1"/>
          </p:cNvCxnSpPr>
          <p:nvPr/>
        </p:nvCxnSpPr>
        <p:spPr>
          <a:xfrm>
            <a:off x="4349652" y="3890740"/>
            <a:ext cx="625202" cy="5773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D8C9F69-71B8-79DE-BD56-1463E26CF43C}"/>
              </a:ext>
            </a:extLst>
          </p:cNvPr>
          <p:cNvCxnSpPr>
            <a:stCxn id="14" idx="3"/>
            <a:endCxn id="9" idx="1"/>
          </p:cNvCxnSpPr>
          <p:nvPr/>
        </p:nvCxnSpPr>
        <p:spPr>
          <a:xfrm>
            <a:off x="4349652" y="3890740"/>
            <a:ext cx="625202" cy="8214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7F941AB-876C-3161-1808-2E0706597C43}"/>
              </a:ext>
            </a:extLst>
          </p:cNvPr>
          <p:cNvCxnSpPr>
            <a:stCxn id="5" idx="3"/>
            <a:endCxn id="11" idx="1"/>
          </p:cNvCxnSpPr>
          <p:nvPr/>
        </p:nvCxnSpPr>
        <p:spPr>
          <a:xfrm flipV="1">
            <a:off x="6343006" y="1901393"/>
            <a:ext cx="762894" cy="1064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7A57CCA-A003-4868-F973-5FBC70DC1086}"/>
              </a:ext>
            </a:extLst>
          </p:cNvPr>
          <p:cNvCxnSpPr>
            <a:stCxn id="7" idx="3"/>
            <a:endCxn id="17" idx="1"/>
          </p:cNvCxnSpPr>
          <p:nvPr/>
        </p:nvCxnSpPr>
        <p:spPr>
          <a:xfrm flipV="1">
            <a:off x="6198990" y="2874460"/>
            <a:ext cx="934166" cy="3103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06058E9-8414-5A59-1AFD-50A4FEC13C7F}"/>
              </a:ext>
            </a:extLst>
          </p:cNvPr>
          <p:cNvCxnSpPr>
            <a:stCxn id="8" idx="3"/>
            <a:endCxn id="17" idx="1"/>
          </p:cNvCxnSpPr>
          <p:nvPr/>
        </p:nvCxnSpPr>
        <p:spPr>
          <a:xfrm flipV="1">
            <a:off x="6198990" y="2874460"/>
            <a:ext cx="934166" cy="107401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3EF994E-F8CE-53C0-EEBA-8867F8E0608E}"/>
              </a:ext>
            </a:extLst>
          </p:cNvPr>
          <p:cNvCxnSpPr>
            <a:cxnSpLocks/>
          </p:cNvCxnSpPr>
          <p:nvPr/>
        </p:nvCxnSpPr>
        <p:spPr>
          <a:xfrm>
            <a:off x="6277420" y="3189885"/>
            <a:ext cx="820667" cy="6458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0AA41AE-4D65-8144-67A3-C2426DC2DCB7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198990" y="3835779"/>
            <a:ext cx="899097" cy="1126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0A3EC7A-7016-7258-24DD-5069D9BA83D6}"/>
              </a:ext>
            </a:extLst>
          </p:cNvPr>
          <p:cNvCxnSpPr>
            <a:cxnSpLocks/>
          </p:cNvCxnSpPr>
          <p:nvPr/>
        </p:nvCxnSpPr>
        <p:spPr>
          <a:xfrm flipV="1">
            <a:off x="6360878" y="5278247"/>
            <a:ext cx="1129625" cy="2452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3D99070-C8E8-D89A-1FB5-FA20C89C602E}"/>
              </a:ext>
            </a:extLst>
          </p:cNvPr>
          <p:cNvCxnSpPr>
            <a:stCxn id="11" idx="3"/>
          </p:cNvCxnSpPr>
          <p:nvPr/>
        </p:nvCxnSpPr>
        <p:spPr>
          <a:xfrm>
            <a:off x="7825980" y="1901393"/>
            <a:ext cx="978918" cy="5013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3359CBC-C297-0ED5-49C1-EB18B4864D98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 flipV="1">
            <a:off x="7825980" y="2791686"/>
            <a:ext cx="517071" cy="827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ABD7459-06F7-3B36-EE62-4CD44A85F6A1}"/>
              </a:ext>
            </a:extLst>
          </p:cNvPr>
          <p:cNvCxnSpPr/>
          <p:nvPr/>
        </p:nvCxnSpPr>
        <p:spPr>
          <a:xfrm flipV="1">
            <a:off x="7847577" y="3149797"/>
            <a:ext cx="914507" cy="7183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38B7D90-1361-6756-81AC-A1AB7AF14A32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8408787" y="3184761"/>
            <a:ext cx="518418" cy="16165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D02B2B5-BFA2-4095-0F96-2996DCCF0C9B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>
            <a:off x="9511358" y="2791686"/>
            <a:ext cx="427634" cy="78882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E477EAE-C6A9-2066-55C4-40FF971A708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6198990" y="3835779"/>
            <a:ext cx="899097" cy="8764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>
            <a:extLst>
              <a:ext uri="{FF2B5EF4-FFF2-40B4-BE49-F238E27FC236}">
                <a16:creationId xmlns:a16="http://schemas.microsoft.com/office/drawing/2014/main" id="{6B0DCE06-2413-9C69-1BCA-94E810CE4E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8973" y="4246991"/>
            <a:ext cx="1572353" cy="1515748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506B0AD6-FC37-30E3-5939-6CC733CF58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6059" y="3464978"/>
            <a:ext cx="1366823" cy="75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48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0356-487C-53A7-45B7-0ED5491B0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2817045-5C80-66CD-6441-FC0E65758DFC}"/>
              </a:ext>
            </a:extLst>
          </p:cNvPr>
          <p:cNvSpPr/>
          <p:nvPr/>
        </p:nvSpPr>
        <p:spPr>
          <a:xfrm>
            <a:off x="2060575" y="2314924"/>
            <a:ext cx="1153795" cy="50927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106A9A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rtlCol="0" anchor="ctr" anchorCtr="0" compatLnSpc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  <a:sym typeface="+mn-ea"/>
            </a:endParaRPr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3AD2BFE9-C82D-ABFA-F3D2-708BE315748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673225" y="721709"/>
            <a:ext cx="1754188" cy="287338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销售预测</a:t>
            </a: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0FE57425-3512-04E6-909B-5B84C0E290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896928" y="721709"/>
            <a:ext cx="1746250" cy="287338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采购计划</a:t>
            </a:r>
          </a:p>
        </p:txBody>
      </p:sp>
      <p:sp>
        <p:nvSpPr>
          <p:cNvPr id="5" name="矩形 7">
            <a:extLst>
              <a:ext uri="{FF2B5EF4-FFF2-40B4-BE49-F238E27FC236}">
                <a16:creationId xmlns:a16="http://schemas.microsoft.com/office/drawing/2014/main" id="{ABDD38D6-2AD9-B311-6BC0-DCC28804DF4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427730" y="721709"/>
            <a:ext cx="2465070" cy="287655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生产计划</a:t>
            </a: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E1B11321-CDB0-DE8F-68B5-7967AE78DE5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20663" y="721709"/>
            <a:ext cx="1452562" cy="287338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计划层次</a:t>
            </a:r>
          </a:p>
        </p:txBody>
      </p:sp>
      <p:cxnSp>
        <p:nvCxnSpPr>
          <p:cNvPr id="8" name="直接连接符 60">
            <a:extLst>
              <a:ext uri="{FF2B5EF4-FFF2-40B4-BE49-F238E27FC236}">
                <a16:creationId xmlns:a16="http://schemas.microsoft.com/office/drawing/2014/main" id="{D8C3DA5B-1737-22F0-9DAE-C59CBDE5F64C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20663" y="2105692"/>
            <a:ext cx="11970385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" name="矩形 102">
            <a:extLst>
              <a:ext uri="{FF2B5EF4-FFF2-40B4-BE49-F238E27FC236}">
                <a16:creationId xmlns:a16="http://schemas.microsoft.com/office/drawing/2014/main" id="{A8FE6BD2-8E83-17A8-4CC0-1603EECD48B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0663" y="1339247"/>
            <a:ext cx="1452562" cy="28575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年度计划</a:t>
            </a:r>
          </a:p>
        </p:txBody>
      </p:sp>
      <p:cxnSp>
        <p:nvCxnSpPr>
          <p:cNvPr id="10" name="直接连接符 60">
            <a:extLst>
              <a:ext uri="{FF2B5EF4-FFF2-40B4-BE49-F238E27FC236}">
                <a16:creationId xmlns:a16="http://schemas.microsoft.com/office/drawing/2014/main" id="{3E6CCBDA-D56E-32EB-AC44-A69718023EE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1724027" y="1020159"/>
            <a:ext cx="0" cy="504825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矩形 102">
            <a:extLst>
              <a:ext uri="{FF2B5EF4-FFF2-40B4-BE49-F238E27FC236}">
                <a16:creationId xmlns:a16="http://schemas.microsoft.com/office/drawing/2014/main" id="{9C8D8644-720B-D7E5-A39D-43421A89F58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20663" y="3448399"/>
            <a:ext cx="1452562" cy="28575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月度计划</a:t>
            </a:r>
          </a:p>
        </p:txBody>
      </p:sp>
      <p:cxnSp>
        <p:nvCxnSpPr>
          <p:cNvPr id="12" name="直接连接符 60">
            <a:extLst>
              <a:ext uri="{FF2B5EF4-FFF2-40B4-BE49-F238E27FC236}">
                <a16:creationId xmlns:a16="http://schemas.microsoft.com/office/drawing/2014/main" id="{53CBB839-913C-65A6-FCF9-908B36959E0E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220663" y="4428522"/>
            <a:ext cx="11958955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3" name="矩形 7">
            <a:extLst>
              <a:ext uri="{FF2B5EF4-FFF2-40B4-BE49-F238E27FC236}">
                <a16:creationId xmlns:a16="http://schemas.microsoft.com/office/drawing/2014/main" id="{FCE95EBD-DAB8-DA09-C994-82263BFC7B9B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001520" y="1298924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年度销售预测</a:t>
            </a:r>
          </a:p>
        </p:txBody>
      </p:sp>
      <p:sp>
        <p:nvSpPr>
          <p:cNvPr id="14" name="矩形 7">
            <a:extLst>
              <a:ext uri="{FF2B5EF4-FFF2-40B4-BE49-F238E27FC236}">
                <a16:creationId xmlns:a16="http://schemas.microsoft.com/office/drawing/2014/main" id="{53D3A93E-4813-CAE7-79E2-4D4751945FC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94798" y="1107472"/>
            <a:ext cx="1230313" cy="42386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年度生产计划</a:t>
            </a:r>
          </a:p>
        </p:txBody>
      </p:sp>
      <p:cxnSp>
        <p:nvCxnSpPr>
          <p:cNvPr id="15" name="肘形连接符 5">
            <a:extLst>
              <a:ext uri="{FF2B5EF4-FFF2-40B4-BE49-F238E27FC236}">
                <a16:creationId xmlns:a16="http://schemas.microsoft.com/office/drawing/2014/main" id="{B5EEF87F-C611-DF28-3DCF-557D45EE6845}"/>
              </a:ext>
            </a:extLst>
          </p:cNvPr>
          <p:cNvCxnSpPr>
            <a:endCxn id="14" idx="1"/>
          </p:cNvCxnSpPr>
          <p:nvPr>
            <p:custDataLst>
              <p:tags r:id="rId12"/>
            </p:custDataLst>
          </p:nvPr>
        </p:nvCxnSpPr>
        <p:spPr>
          <a:xfrm flipV="1">
            <a:off x="3232150" y="1319244"/>
            <a:ext cx="862965" cy="191770"/>
          </a:xfrm>
          <a:prstGeom prst="bentConnector3">
            <a:avLst>
              <a:gd name="adj1" fmla="val 50037"/>
            </a:avLst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矩形 102">
            <a:extLst>
              <a:ext uri="{FF2B5EF4-FFF2-40B4-BE49-F238E27FC236}">
                <a16:creationId xmlns:a16="http://schemas.microsoft.com/office/drawing/2014/main" id="{E87B82F6-2C3F-4697-A043-326E2B69937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20663" y="4506309"/>
            <a:ext cx="1452562" cy="28575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周计划</a:t>
            </a:r>
          </a:p>
        </p:txBody>
      </p:sp>
      <p:sp>
        <p:nvSpPr>
          <p:cNvPr id="17" name="矩形 102">
            <a:extLst>
              <a:ext uri="{FF2B5EF4-FFF2-40B4-BE49-F238E27FC236}">
                <a16:creationId xmlns:a16="http://schemas.microsoft.com/office/drawing/2014/main" id="{4BB3FF67-5AE3-0D85-6C41-279DBCDB442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20663" y="5588984"/>
            <a:ext cx="1452562" cy="28575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车间日作业</a:t>
            </a:r>
          </a:p>
        </p:txBody>
      </p:sp>
      <p:cxnSp>
        <p:nvCxnSpPr>
          <p:cNvPr id="18" name="直接连接符 60">
            <a:extLst>
              <a:ext uri="{FF2B5EF4-FFF2-40B4-BE49-F238E27FC236}">
                <a16:creationId xmlns:a16="http://schemas.microsoft.com/office/drawing/2014/main" id="{E8821547-AD2E-073A-95AF-5B5DE98C3E06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249238" y="5068602"/>
            <a:ext cx="11941810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9" name="矩形 102">
            <a:extLst>
              <a:ext uri="{FF2B5EF4-FFF2-40B4-BE49-F238E27FC236}">
                <a16:creationId xmlns:a16="http://schemas.microsoft.com/office/drawing/2014/main" id="{19809FDA-85A4-793F-A9C5-DEAAF8695AD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-16931" y="2417159"/>
            <a:ext cx="1748367" cy="26289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N+2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个月滚动计划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DB02D3-BC28-21F5-9082-31E15EAE2A73}"/>
              </a:ext>
            </a:extLst>
          </p:cNvPr>
          <p:cNvGrpSpPr/>
          <p:nvPr/>
        </p:nvGrpSpPr>
        <p:grpSpPr>
          <a:xfrm>
            <a:off x="2174240" y="2386044"/>
            <a:ext cx="889635" cy="359410"/>
            <a:chOff x="3255" y="4181"/>
            <a:chExt cx="1401" cy="566"/>
          </a:xfrm>
          <a:solidFill>
            <a:schemeClr val="accent2">
              <a:lumMod val="50000"/>
            </a:schemeClr>
          </a:solidFill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EBDFBAA-4339-50EA-5376-9B73328D533E}"/>
                </a:ext>
              </a:extLst>
            </p:cNvPr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255" y="4181"/>
              <a:ext cx="471" cy="566"/>
            </a:xfrm>
            <a:prstGeom prst="rect">
              <a:avLst/>
            </a:prstGeom>
            <a:grpFill/>
            <a:ln w="9525" algn="ctr">
              <a:solidFill>
                <a:srgbClr val="B4CFDF"/>
              </a:solidFill>
              <a:miter lim="800000"/>
            </a:ln>
          </p:spPr>
          <p:txBody>
            <a:bodyPr wrap="none" lIns="0" tIns="0" rIns="0" bIns="0" anchor="ctr">
              <a:no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SzPct val="7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4597A0"/>
                </a:buClr>
                <a:buSzPct val="70000"/>
                <a:buFont typeface="Wingdings" panose="05000000000000000000" pitchFamily="2" charset="2"/>
                <a:buChar char="l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C00000"/>
                </a:buClr>
                <a:buSzPct val="5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M1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294BDD2-CD33-5366-2EF2-0DE4262F2461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721" y="4181"/>
              <a:ext cx="470" cy="566"/>
            </a:xfrm>
            <a:prstGeom prst="rect">
              <a:avLst/>
            </a:prstGeom>
            <a:grpFill/>
            <a:ln w="9525" algn="ctr">
              <a:solidFill>
                <a:srgbClr val="B4CFDF"/>
              </a:solidFill>
              <a:miter lim="800000"/>
            </a:ln>
          </p:spPr>
          <p:txBody>
            <a:bodyPr wrap="none" lIns="0" tIns="0" rIns="0" bIns="0" anchor="ctr">
              <a:no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SzPct val="7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4597A0"/>
                </a:buClr>
                <a:buSzPct val="70000"/>
                <a:buFont typeface="Wingdings" panose="05000000000000000000" pitchFamily="2" charset="2"/>
                <a:buChar char="l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C00000"/>
                </a:buClr>
                <a:buSzPct val="5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M2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23FFF1A-F065-68BE-3F32-7E3A1B2EB886}"/>
                </a:ext>
              </a:extLst>
            </p:cNvPr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186" y="4181"/>
              <a:ext cx="470" cy="566"/>
            </a:xfrm>
            <a:prstGeom prst="rect">
              <a:avLst/>
            </a:prstGeom>
            <a:grpFill/>
            <a:ln w="9525" algn="ctr">
              <a:solidFill>
                <a:srgbClr val="B4CFDF"/>
              </a:solidFill>
              <a:miter lim="800000"/>
            </a:ln>
          </p:spPr>
          <p:txBody>
            <a:bodyPr wrap="none" lIns="0" tIns="0" rIns="0" bIns="0" anchor="ctr">
              <a:no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SzPct val="7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4597A0"/>
                </a:buClr>
                <a:buSzPct val="70000"/>
                <a:buFont typeface="Wingdings" panose="05000000000000000000" pitchFamily="2" charset="2"/>
                <a:buChar char="l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C00000"/>
                </a:buClr>
                <a:buSzPct val="5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M3</a:t>
              </a:r>
            </a:p>
          </p:txBody>
        </p:sp>
      </p:grpSp>
      <p:sp>
        <p:nvSpPr>
          <p:cNvPr id="25" name="矩形 7">
            <a:extLst>
              <a:ext uri="{FF2B5EF4-FFF2-40B4-BE49-F238E27FC236}">
                <a16:creationId xmlns:a16="http://schemas.microsoft.com/office/drawing/2014/main" id="{1D117493-E6B1-30E1-99FF-7DCFB67308BD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095048" y="2824194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M2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采购计划</a:t>
            </a:r>
          </a:p>
        </p:txBody>
      </p:sp>
      <p:cxnSp>
        <p:nvCxnSpPr>
          <p:cNvPr id="26" name="肘形连接符 16">
            <a:extLst>
              <a:ext uri="{FF2B5EF4-FFF2-40B4-BE49-F238E27FC236}">
                <a16:creationId xmlns:a16="http://schemas.microsoft.com/office/drawing/2014/main" id="{175574F1-A7FE-E4D2-B684-B0CA610E6492}"/>
              </a:ext>
            </a:extLst>
          </p:cNvPr>
          <p:cNvCxnSpPr>
            <a:stCxn id="22" idx="2"/>
            <a:endCxn id="25" idx="1"/>
          </p:cNvCxnSpPr>
          <p:nvPr>
            <p:custDataLst>
              <p:tags r:id="rId18"/>
            </p:custDataLst>
          </p:nvPr>
        </p:nvCxnSpPr>
        <p:spPr>
          <a:xfrm rot="5400000" flipV="1">
            <a:off x="4211955" y="1152874"/>
            <a:ext cx="290830" cy="3475990"/>
          </a:xfrm>
          <a:prstGeom prst="bentConnector2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矩形 7">
            <a:extLst>
              <a:ext uri="{FF2B5EF4-FFF2-40B4-BE49-F238E27FC236}">
                <a16:creationId xmlns:a16="http://schemas.microsoft.com/office/drawing/2014/main" id="{86476EDE-E776-3BD2-6F78-3066C238766E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835583" y="2824194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供应商交期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回复及备货</a:t>
            </a:r>
          </a:p>
        </p:txBody>
      </p:sp>
      <p:sp>
        <p:nvSpPr>
          <p:cNvPr id="28" name="矩形 7">
            <a:extLst>
              <a:ext uri="{FF2B5EF4-FFF2-40B4-BE49-F238E27FC236}">
                <a16:creationId xmlns:a16="http://schemas.microsoft.com/office/drawing/2014/main" id="{32EC1038-CE8A-C0F8-CD72-B0D21ACA3B9A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095048" y="3771614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W1-W4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要货计划</a:t>
            </a:r>
          </a:p>
        </p:txBody>
      </p:sp>
      <p:sp>
        <p:nvSpPr>
          <p:cNvPr id="29" name="矩形 7">
            <a:extLst>
              <a:ext uri="{FF2B5EF4-FFF2-40B4-BE49-F238E27FC236}">
                <a16:creationId xmlns:a16="http://schemas.microsoft.com/office/drawing/2014/main" id="{878D0602-F258-8479-21C1-1DAEC1228052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835583" y="3771614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供应商送货计划</a:t>
            </a:r>
          </a:p>
        </p:txBody>
      </p:sp>
      <p:sp>
        <p:nvSpPr>
          <p:cNvPr id="30" name="矩形 7">
            <a:extLst>
              <a:ext uri="{FF2B5EF4-FFF2-40B4-BE49-F238E27FC236}">
                <a16:creationId xmlns:a16="http://schemas.microsoft.com/office/drawing/2014/main" id="{B0CB89C5-0A3D-86DE-0E85-48701F3250E1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835583" y="2349849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M3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备原材料</a:t>
            </a:r>
          </a:p>
        </p:txBody>
      </p:sp>
      <p:cxnSp>
        <p:nvCxnSpPr>
          <p:cNvPr id="31" name="肘形连接符 16">
            <a:extLst>
              <a:ext uri="{FF2B5EF4-FFF2-40B4-BE49-F238E27FC236}">
                <a16:creationId xmlns:a16="http://schemas.microsoft.com/office/drawing/2014/main" id="{3C2A376F-1A06-B04E-4088-2836E82457C3}"/>
              </a:ext>
            </a:extLst>
          </p:cNvPr>
          <p:cNvCxnSpPr>
            <a:stCxn id="23" idx="3"/>
            <a:endCxn id="30" idx="1"/>
          </p:cNvCxnSpPr>
          <p:nvPr>
            <p:custDataLst>
              <p:tags r:id="rId23"/>
            </p:custDataLst>
          </p:nvPr>
        </p:nvCxnSpPr>
        <p:spPr>
          <a:xfrm flipV="1">
            <a:off x="3063875" y="2561939"/>
            <a:ext cx="4772025" cy="3810"/>
          </a:xfrm>
          <a:prstGeom prst="bentConnector3">
            <a:avLst>
              <a:gd name="adj1" fmla="val 50007"/>
            </a:avLst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矩形 7">
            <a:extLst>
              <a:ext uri="{FF2B5EF4-FFF2-40B4-BE49-F238E27FC236}">
                <a16:creationId xmlns:a16="http://schemas.microsoft.com/office/drawing/2014/main" id="{3617ADF1-BFB3-D409-8E75-899852E2C400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4094798" y="3200114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月度产能需求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9D91EC9-8C08-C15C-1D76-D2503AABBC9F}"/>
              </a:ext>
            </a:extLst>
          </p:cNvPr>
          <p:cNvSpPr/>
          <p:nvPr/>
        </p:nvSpPr>
        <p:spPr>
          <a:xfrm>
            <a:off x="1746885" y="3393154"/>
            <a:ext cx="1153795" cy="50927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106A9A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rtlCol="0" anchor="ctr" anchorCtr="0" compatLnSpc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  <a:sym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9100C8-7BC3-4BAC-4A14-D1A8EA0F06B2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807210" y="3457924"/>
            <a:ext cx="263525" cy="35941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FFFF"/>
            </a:solidFill>
            <a:miter lim="800000"/>
          </a:ln>
        </p:spPr>
        <p:txBody>
          <a:bodyPr wrap="none" lIns="0" tIns="0" rIns="0" bIns="0" anchor="ctr">
            <a:no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0726D76-0102-44FD-DCE3-911D75BC251D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2060575" y="3457924"/>
            <a:ext cx="263525" cy="35941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FFFF"/>
            </a:solidFill>
            <a:miter lim="800000"/>
          </a:ln>
        </p:spPr>
        <p:txBody>
          <a:bodyPr wrap="none" lIns="0" tIns="0" rIns="0" bIns="0" anchor="ctr">
            <a:no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10DA20E-208F-BF5C-DF51-74C507AF3313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2313940" y="3457924"/>
            <a:ext cx="263525" cy="35941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FFFF"/>
            </a:solidFill>
            <a:miter lim="800000"/>
          </a:ln>
        </p:spPr>
        <p:txBody>
          <a:bodyPr wrap="none" lIns="0" tIns="0" rIns="0" bIns="0" anchor="ctr">
            <a:no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W3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DF0D99E-7CC1-0D8E-F80A-D0FB98ACCDED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538095" y="3457924"/>
            <a:ext cx="263525" cy="35941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FFFF"/>
            </a:solidFill>
            <a:miter lim="800000"/>
          </a:ln>
        </p:spPr>
        <p:txBody>
          <a:bodyPr wrap="none" lIns="0" tIns="0" rIns="0" bIns="0" anchor="ctr">
            <a:no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W4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12AA095-8D17-8C27-F3EC-17F1B20CB344}"/>
              </a:ext>
            </a:extLst>
          </p:cNvPr>
          <p:cNvGrpSpPr/>
          <p:nvPr/>
        </p:nvGrpSpPr>
        <p:grpSpPr>
          <a:xfrm>
            <a:off x="4094798" y="4506309"/>
            <a:ext cx="1013460" cy="359410"/>
            <a:chOff x="2928" y="7520"/>
            <a:chExt cx="1596" cy="566"/>
          </a:xfrm>
          <a:solidFill>
            <a:schemeClr val="accent2">
              <a:lumMod val="50000"/>
            </a:schemeClr>
          </a:solidFill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0F636B9-F3F5-AB34-C682-7913F2EF7729}"/>
                </a:ext>
              </a:extLst>
            </p:cNvPr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2928" y="7520"/>
              <a:ext cx="415" cy="566"/>
            </a:xfrm>
            <a:prstGeom prst="rect">
              <a:avLst/>
            </a:prstGeom>
            <a:grpFill/>
            <a:ln w="9525" algn="ctr">
              <a:solidFill>
                <a:srgbClr val="FFFFFF"/>
              </a:solidFill>
              <a:miter lim="800000"/>
            </a:ln>
          </p:spPr>
          <p:txBody>
            <a:bodyPr wrap="none" lIns="0" tIns="0" rIns="0" bIns="0" anchor="ctr">
              <a:no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SzPct val="7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4597A0"/>
                </a:buClr>
                <a:buSzPct val="70000"/>
                <a:buFont typeface="Wingdings" panose="05000000000000000000" pitchFamily="2" charset="2"/>
                <a:buChar char="l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C00000"/>
                </a:buClr>
                <a:buSzPct val="5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T1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072F67B-0048-A656-C862-88B076D4E965}"/>
                </a:ext>
              </a:extLst>
            </p:cNvPr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322" y="7520"/>
              <a:ext cx="415" cy="566"/>
            </a:xfrm>
            <a:prstGeom prst="rect">
              <a:avLst/>
            </a:prstGeom>
            <a:grpFill/>
            <a:ln w="9525" algn="ctr">
              <a:solidFill>
                <a:srgbClr val="FFFFFF"/>
              </a:solidFill>
              <a:miter lim="800000"/>
            </a:ln>
          </p:spPr>
          <p:txBody>
            <a:bodyPr wrap="none" lIns="0" tIns="0" rIns="0" bIns="0" anchor="ctr">
              <a:no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SzPct val="7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4597A0"/>
                </a:buClr>
                <a:buSzPct val="70000"/>
                <a:buFont typeface="Wingdings" panose="05000000000000000000" pitchFamily="2" charset="2"/>
                <a:buChar char="l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C00000"/>
                </a:buClr>
                <a:buSzPct val="5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T2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914D949-E9E2-8FDD-7F94-560ECB00E651}"/>
                </a:ext>
              </a:extLst>
            </p:cNvPr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716" y="7520"/>
              <a:ext cx="415" cy="566"/>
            </a:xfrm>
            <a:prstGeom prst="rect">
              <a:avLst/>
            </a:prstGeom>
            <a:grpFill/>
            <a:ln w="9525" algn="ctr">
              <a:solidFill>
                <a:srgbClr val="FFFFFF"/>
              </a:solidFill>
              <a:miter lim="800000"/>
            </a:ln>
          </p:spPr>
          <p:txBody>
            <a:bodyPr wrap="none" lIns="0" tIns="0" rIns="0" bIns="0" anchor="ctr">
              <a:no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SzPct val="7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4597A0"/>
                </a:buClr>
                <a:buSzPct val="70000"/>
                <a:buFont typeface="Wingdings" panose="05000000000000000000" pitchFamily="2" charset="2"/>
                <a:buChar char="l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C00000"/>
                </a:buClr>
                <a:buSzPct val="5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T3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AD79F18-CB2C-429A-ED60-1CD007649435}"/>
                </a:ext>
              </a:extLst>
            </p:cNvPr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4110" y="7520"/>
              <a:ext cx="415" cy="566"/>
            </a:xfrm>
            <a:prstGeom prst="rect">
              <a:avLst/>
            </a:prstGeom>
            <a:grpFill/>
            <a:ln w="9525" algn="ctr">
              <a:solidFill>
                <a:srgbClr val="FFFFFF"/>
              </a:solidFill>
              <a:miter lim="800000"/>
            </a:ln>
          </p:spPr>
          <p:txBody>
            <a:bodyPr wrap="none" lIns="0" tIns="0" rIns="0" bIns="0" anchor="ctr">
              <a:no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SzPct val="7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4597A0"/>
                </a:buClr>
                <a:buSzPct val="70000"/>
                <a:buFont typeface="Wingdings" panose="05000000000000000000" pitchFamily="2" charset="2"/>
                <a:buChar char="l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C00000"/>
                </a:buClr>
                <a:buSzPct val="50000"/>
                <a:buFont typeface="Wingdings" panose="05000000000000000000" pitchFamily="2" charset="2"/>
                <a:buChar char="u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395"/>
                </a:buClr>
                <a:buSzPct val="30000"/>
                <a:buFont typeface="Wingdings" panose="05000000000000000000" pitchFamily="2" charset="2"/>
                <a:buChar char="p"/>
                <a:defRPr sz="1400">
                  <a:solidFill>
                    <a:schemeClr val="tx1"/>
                  </a:solidFill>
                  <a:latin typeface="Book Antiqua" panose="0204060205030503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...T7</a:t>
              </a:r>
            </a:p>
          </p:txBody>
        </p:sp>
      </p:grpSp>
      <p:cxnSp>
        <p:nvCxnSpPr>
          <p:cNvPr id="43" name="肘形连接符 16">
            <a:extLst>
              <a:ext uri="{FF2B5EF4-FFF2-40B4-BE49-F238E27FC236}">
                <a16:creationId xmlns:a16="http://schemas.microsoft.com/office/drawing/2014/main" id="{D36ADCF3-F5EE-E785-2DD9-5019C72ADB62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 rot="5400000" flipV="1">
            <a:off x="4032885" y="5060029"/>
            <a:ext cx="539115" cy="150495"/>
          </a:xfrm>
          <a:prstGeom prst="bentConnector2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矩形 7">
            <a:extLst>
              <a:ext uri="{FF2B5EF4-FFF2-40B4-BE49-F238E27FC236}">
                <a16:creationId xmlns:a16="http://schemas.microsoft.com/office/drawing/2014/main" id="{E9E4322E-6DCD-215E-54CE-0BD00BCA86F6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095048" y="1107472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年度物资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采购计划</a:t>
            </a:r>
          </a:p>
        </p:txBody>
      </p:sp>
      <p:sp>
        <p:nvSpPr>
          <p:cNvPr id="45" name="矩形 7">
            <a:extLst>
              <a:ext uri="{FF2B5EF4-FFF2-40B4-BE49-F238E27FC236}">
                <a16:creationId xmlns:a16="http://schemas.microsoft.com/office/drawing/2014/main" id="{005714C0-059C-6F84-D698-AB75AFAB83B3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835583" y="1107472"/>
            <a:ext cx="1457639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年度供货长期协议</a:t>
            </a:r>
            <a:b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框架协议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7">
            <a:extLst>
              <a:ext uri="{FF2B5EF4-FFF2-40B4-BE49-F238E27FC236}">
                <a16:creationId xmlns:a16="http://schemas.microsoft.com/office/drawing/2014/main" id="{AB4032C5-4221-FF07-D35B-7C50ABA56BDA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4094798" y="1631347"/>
            <a:ext cx="1230313" cy="42386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年度产能需求</a:t>
            </a:r>
          </a:p>
        </p:txBody>
      </p:sp>
      <p:sp>
        <p:nvSpPr>
          <p:cNvPr id="47" name="矩形 7">
            <a:extLst>
              <a:ext uri="{FF2B5EF4-FFF2-40B4-BE49-F238E27FC236}">
                <a16:creationId xmlns:a16="http://schemas.microsoft.com/office/drawing/2014/main" id="{AE04DC24-763F-B5A5-FFDD-778CE01A47FB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094798" y="3771614"/>
            <a:ext cx="1230313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月度生产计划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W1-W4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</a:p>
        </p:txBody>
      </p:sp>
      <p:cxnSp>
        <p:nvCxnSpPr>
          <p:cNvPr id="48" name="肘形连接符 16">
            <a:extLst>
              <a:ext uri="{FF2B5EF4-FFF2-40B4-BE49-F238E27FC236}">
                <a16:creationId xmlns:a16="http://schemas.microsoft.com/office/drawing/2014/main" id="{EB5EC8D5-785B-0E5A-5B4C-BD9EAC547947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 rot="5400000" flipV="1">
            <a:off x="2582863" y="3173762"/>
            <a:ext cx="868680" cy="2155825"/>
          </a:xfrm>
          <a:prstGeom prst="bentConnector2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直接箭头连接符 3">
            <a:extLst>
              <a:ext uri="{FF2B5EF4-FFF2-40B4-BE49-F238E27FC236}">
                <a16:creationId xmlns:a16="http://schemas.microsoft.com/office/drawing/2014/main" id="{3BDDD58C-4EE7-AA36-4777-D3E6FEDBC712}"/>
              </a:ext>
            </a:extLst>
          </p:cNvPr>
          <p:cNvCxnSpPr>
            <a:stCxn id="13" idx="2"/>
          </p:cNvCxnSpPr>
          <p:nvPr>
            <p:custDataLst>
              <p:tags r:id="rId35"/>
            </p:custDataLst>
          </p:nvPr>
        </p:nvCxnSpPr>
        <p:spPr>
          <a:xfrm>
            <a:off x="2616835" y="1723104"/>
            <a:ext cx="2540" cy="662940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直接箭头连接符 3">
            <a:extLst>
              <a:ext uri="{FF2B5EF4-FFF2-40B4-BE49-F238E27FC236}">
                <a16:creationId xmlns:a16="http://schemas.microsoft.com/office/drawing/2014/main" id="{46154DC3-29B4-2FE3-ABF2-2D5140BF0E4B}"/>
              </a:ext>
            </a:extLst>
          </p:cNvPr>
          <p:cNvCxnSpPr>
            <a:endCxn id="33" idx="0"/>
          </p:cNvCxnSpPr>
          <p:nvPr>
            <p:custDataLst>
              <p:tags r:id="rId36"/>
            </p:custDataLst>
          </p:nvPr>
        </p:nvCxnSpPr>
        <p:spPr>
          <a:xfrm>
            <a:off x="2324100" y="2745454"/>
            <a:ext cx="0" cy="647700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1" name="肘形连接符 5">
            <a:extLst>
              <a:ext uri="{FF2B5EF4-FFF2-40B4-BE49-F238E27FC236}">
                <a16:creationId xmlns:a16="http://schemas.microsoft.com/office/drawing/2014/main" id="{48AAF21D-F624-8570-0874-A22B8DF48B2F}"/>
              </a:ext>
            </a:extLst>
          </p:cNvPr>
          <p:cNvCxnSpPr>
            <a:endCxn id="46" idx="1"/>
          </p:cNvCxnSpPr>
          <p:nvPr>
            <p:custDataLst>
              <p:tags r:id="rId37"/>
            </p:custDataLst>
          </p:nvPr>
        </p:nvCxnSpPr>
        <p:spPr>
          <a:xfrm>
            <a:off x="3232150" y="1511014"/>
            <a:ext cx="862965" cy="332105"/>
          </a:xfrm>
          <a:prstGeom prst="bentConnector3">
            <a:avLst>
              <a:gd name="adj1" fmla="val 50037"/>
            </a:avLst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2" name="直接箭头连接符 3">
            <a:extLst>
              <a:ext uri="{FF2B5EF4-FFF2-40B4-BE49-F238E27FC236}">
                <a16:creationId xmlns:a16="http://schemas.microsoft.com/office/drawing/2014/main" id="{EAB64640-37CF-23A7-E6D3-59A31C84D91F}"/>
              </a:ext>
            </a:extLst>
          </p:cNvPr>
          <p:cNvCxnSpPr>
            <a:endCxn id="44" idx="1"/>
          </p:cNvCxnSpPr>
          <p:nvPr>
            <p:custDataLst>
              <p:tags r:id="rId38"/>
            </p:custDataLst>
          </p:nvPr>
        </p:nvCxnSpPr>
        <p:spPr>
          <a:xfrm>
            <a:off x="5325745" y="1319244"/>
            <a:ext cx="769620" cy="635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3" name="直接箭头连接符 3">
            <a:extLst>
              <a:ext uri="{FF2B5EF4-FFF2-40B4-BE49-F238E27FC236}">
                <a16:creationId xmlns:a16="http://schemas.microsoft.com/office/drawing/2014/main" id="{8B289B59-4F94-493C-49F1-15EB85F9103A}"/>
              </a:ext>
            </a:extLst>
          </p:cNvPr>
          <p:cNvCxnSpPr>
            <a:cxnSpLocks/>
            <a:stCxn id="44" idx="3"/>
            <a:endCxn id="45" idx="1"/>
          </p:cNvCxnSpPr>
          <p:nvPr>
            <p:custDataLst>
              <p:tags r:id="rId39"/>
            </p:custDataLst>
          </p:nvPr>
        </p:nvCxnSpPr>
        <p:spPr>
          <a:xfrm>
            <a:off x="7325361" y="1319404"/>
            <a:ext cx="510222" cy="0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4" name="直接箭头连接符 3">
            <a:extLst>
              <a:ext uri="{FF2B5EF4-FFF2-40B4-BE49-F238E27FC236}">
                <a16:creationId xmlns:a16="http://schemas.microsoft.com/office/drawing/2014/main" id="{CDA16591-846B-2CF8-3F52-7BB9A2E555D0}"/>
              </a:ext>
            </a:extLst>
          </p:cNvPr>
          <p:cNvCxnSpPr/>
          <p:nvPr>
            <p:custDataLst>
              <p:tags r:id="rId40"/>
            </p:custDataLst>
          </p:nvPr>
        </p:nvCxnSpPr>
        <p:spPr>
          <a:xfrm flipV="1">
            <a:off x="7325995" y="2981039"/>
            <a:ext cx="521335" cy="4445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5" name="肘形连接符 5">
            <a:extLst>
              <a:ext uri="{FF2B5EF4-FFF2-40B4-BE49-F238E27FC236}">
                <a16:creationId xmlns:a16="http://schemas.microsoft.com/office/drawing/2014/main" id="{3C209F01-5DCC-CD27-8D46-EFC60AE2DD58}"/>
              </a:ext>
            </a:extLst>
          </p:cNvPr>
          <p:cNvCxnSpPr>
            <a:stCxn id="33" idx="3"/>
          </p:cNvCxnSpPr>
          <p:nvPr>
            <p:custDataLst>
              <p:tags r:id="rId41"/>
            </p:custDataLst>
          </p:nvPr>
        </p:nvCxnSpPr>
        <p:spPr>
          <a:xfrm flipV="1">
            <a:off x="2900680" y="3412204"/>
            <a:ext cx="1194435" cy="235585"/>
          </a:xfrm>
          <a:prstGeom prst="bentConnector3">
            <a:avLst>
              <a:gd name="adj1" fmla="val 50027"/>
            </a:avLst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6" name="肘形连接符 5">
            <a:extLst>
              <a:ext uri="{FF2B5EF4-FFF2-40B4-BE49-F238E27FC236}">
                <a16:creationId xmlns:a16="http://schemas.microsoft.com/office/drawing/2014/main" id="{DEB3AFBA-E0EF-BDE3-392C-BCCA11012684}"/>
              </a:ext>
            </a:extLst>
          </p:cNvPr>
          <p:cNvCxnSpPr/>
          <p:nvPr>
            <p:custDataLst>
              <p:tags r:id="rId42"/>
            </p:custDataLst>
          </p:nvPr>
        </p:nvCxnSpPr>
        <p:spPr>
          <a:xfrm>
            <a:off x="2900680" y="3647789"/>
            <a:ext cx="1194435" cy="335915"/>
          </a:xfrm>
          <a:prstGeom prst="bentConnector3">
            <a:avLst>
              <a:gd name="adj1" fmla="val 50027"/>
            </a:avLst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直接箭头连接符 3">
            <a:extLst>
              <a:ext uri="{FF2B5EF4-FFF2-40B4-BE49-F238E27FC236}">
                <a16:creationId xmlns:a16="http://schemas.microsoft.com/office/drawing/2014/main" id="{4A61C4C2-7824-9FA6-D1C2-20A1F43E9705}"/>
              </a:ext>
            </a:extLst>
          </p:cNvPr>
          <p:cNvCxnSpPr>
            <a:endCxn id="28" idx="1"/>
          </p:cNvCxnSpPr>
          <p:nvPr>
            <p:custDataLst>
              <p:tags r:id="rId43"/>
            </p:custDataLst>
          </p:nvPr>
        </p:nvCxnSpPr>
        <p:spPr>
          <a:xfrm>
            <a:off x="5325745" y="3983704"/>
            <a:ext cx="769620" cy="0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直接箭头连接符 3">
            <a:extLst>
              <a:ext uri="{FF2B5EF4-FFF2-40B4-BE49-F238E27FC236}">
                <a16:creationId xmlns:a16="http://schemas.microsoft.com/office/drawing/2014/main" id="{9F3936E5-3E94-EDDC-3AAC-788A528FC16E}"/>
              </a:ext>
            </a:extLst>
          </p:cNvPr>
          <p:cNvCxnSpPr>
            <a:stCxn id="28" idx="3"/>
            <a:endCxn id="29" idx="1"/>
          </p:cNvCxnSpPr>
          <p:nvPr>
            <p:custDataLst>
              <p:tags r:id="rId44"/>
            </p:custDataLst>
          </p:nvPr>
        </p:nvCxnSpPr>
        <p:spPr>
          <a:xfrm>
            <a:off x="7325995" y="3983704"/>
            <a:ext cx="509905" cy="0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9" name="矩形 7">
            <a:extLst>
              <a:ext uri="{FF2B5EF4-FFF2-40B4-BE49-F238E27FC236}">
                <a16:creationId xmlns:a16="http://schemas.microsoft.com/office/drawing/2014/main" id="{2FA70429-E377-FBDC-2842-594330AB8D6C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4377373" y="5091144"/>
            <a:ext cx="1710690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日计划生产作业执行</a:t>
            </a:r>
          </a:p>
        </p:txBody>
      </p:sp>
      <p:sp>
        <p:nvSpPr>
          <p:cNvPr id="60" name="矩形 7">
            <a:extLst>
              <a:ext uri="{FF2B5EF4-FFF2-40B4-BE49-F238E27FC236}">
                <a16:creationId xmlns:a16="http://schemas.microsoft.com/office/drawing/2014/main" id="{36F0C9B2-C245-2169-6961-757F0E7EFECC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4376738" y="5589619"/>
            <a:ext cx="1718310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日计划仓库发料计划</a:t>
            </a:r>
          </a:p>
        </p:txBody>
      </p:sp>
      <p:cxnSp>
        <p:nvCxnSpPr>
          <p:cNvPr id="61" name="肘形连接符 16">
            <a:extLst>
              <a:ext uri="{FF2B5EF4-FFF2-40B4-BE49-F238E27FC236}">
                <a16:creationId xmlns:a16="http://schemas.microsoft.com/office/drawing/2014/main" id="{8971F7C2-68A4-19E1-AAB5-91CE59DE6ABB}"/>
              </a:ext>
            </a:extLst>
          </p:cNvPr>
          <p:cNvCxnSpPr>
            <a:cxnSpLocks/>
            <a:stCxn id="39" idx="2"/>
            <a:endCxn id="60" idx="1"/>
          </p:cNvCxnSpPr>
          <p:nvPr>
            <p:custDataLst>
              <p:tags r:id="rId47"/>
            </p:custDataLst>
          </p:nvPr>
        </p:nvCxnSpPr>
        <p:spPr>
          <a:xfrm rot="16200000" flipH="1">
            <a:off x="3833733" y="5258546"/>
            <a:ext cx="935832" cy="150177"/>
          </a:xfrm>
          <a:prstGeom prst="bentConnector2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直接箭头连接符 3">
            <a:extLst>
              <a:ext uri="{FF2B5EF4-FFF2-40B4-BE49-F238E27FC236}">
                <a16:creationId xmlns:a16="http://schemas.microsoft.com/office/drawing/2014/main" id="{DA3571A4-FAC5-AFB1-41EA-711102795A30}"/>
              </a:ext>
            </a:extLst>
          </p:cNvPr>
          <p:cNvCxnSpPr/>
          <p:nvPr>
            <p:custDataLst>
              <p:tags r:id="rId48"/>
            </p:custDataLst>
          </p:nvPr>
        </p:nvCxnSpPr>
        <p:spPr>
          <a:xfrm flipH="1">
            <a:off x="7319010" y="3110579"/>
            <a:ext cx="517525" cy="0"/>
          </a:xfrm>
          <a:prstGeom prst="straightConnector1">
            <a:avLst/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4" name="文本框 110">
            <a:extLst>
              <a:ext uri="{FF2B5EF4-FFF2-40B4-BE49-F238E27FC236}">
                <a16:creationId xmlns:a16="http://schemas.microsoft.com/office/drawing/2014/main" id="{CD271DE6-4660-B7FC-6814-AEB7C5CF70C9}"/>
              </a:ext>
            </a:extLst>
          </p:cNvPr>
          <p:cNvSpPr txBox="1"/>
          <p:nvPr/>
        </p:nvSpPr>
        <p:spPr>
          <a:xfrm>
            <a:off x="9124949" y="2143491"/>
            <a:ext cx="3126424" cy="28469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N+2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个月滚动计划（每月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号发布）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Char char="•"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N+3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月度计划指导供应商长周期供货计划；</a:t>
            </a: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销售订单需求转化为针对库存的预测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MTS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举例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:7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5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号要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8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月份的正式计划，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9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月，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10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月的预测计划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Char char="•"/>
              <a:tabLst/>
              <a:defRPr/>
            </a:pPr>
            <a:r>
              <a:rPr kumimoji="0" lang="en-US" altLang="zh-CN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SKU</a:t>
            </a: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、半成品层月度计划进</a:t>
            </a:r>
            <a:r>
              <a:rPr kumimoji="0" lang="en-US" altLang="zh-CN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SAP</a:t>
            </a: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系统</a:t>
            </a:r>
            <a:endParaRPr kumimoji="0" lang="en-US" altLang="zh-CN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Char char="•"/>
              <a:tabLst/>
              <a:defRPr/>
            </a:pPr>
            <a:r>
              <a:rPr kumimoji="0" lang="de-DE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0" lang="zh-CN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N+2</a:t>
            </a:r>
            <a:r>
              <a:rPr kumimoji="0" lang="zh-CN" alt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月需求计划，指导采购周期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提前一月，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采购计划下达中期供货计划</a:t>
            </a:r>
          </a:p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Char char="•"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N+1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月需求计划，指导车间生产执行</a:t>
            </a:r>
          </a:p>
        </p:txBody>
      </p:sp>
      <p:sp>
        <p:nvSpPr>
          <p:cNvPr id="65" name="文本框 112">
            <a:extLst>
              <a:ext uri="{FF2B5EF4-FFF2-40B4-BE49-F238E27FC236}">
                <a16:creationId xmlns:a16="http://schemas.microsoft.com/office/drawing/2014/main" id="{36A8CAE2-BEB4-01F0-197B-025A6C3B8C38}"/>
              </a:ext>
            </a:extLst>
          </p:cNvPr>
          <p:cNvSpPr txBox="1"/>
          <p:nvPr/>
        </p:nvSpPr>
        <p:spPr>
          <a:xfrm>
            <a:off x="5138738" y="4447697"/>
            <a:ext cx="5726114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None/>
              <a:tabLst/>
              <a:defRPr/>
            </a:pPr>
            <a:r>
              <a:rPr kumimoji="0" lang="zh-CN" alt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周计划（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每周周五发布</a:t>
            </a:r>
            <a:r>
              <a:rPr kumimoji="0" lang="zh-CN" alt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Char char="•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周生产计划细分至每天，且前提前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N+2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天配料给车间供料</a:t>
            </a:r>
          </a:p>
        </p:txBody>
      </p:sp>
      <p:sp>
        <p:nvSpPr>
          <p:cNvPr id="66" name="文本框 113">
            <a:extLst>
              <a:ext uri="{FF2B5EF4-FFF2-40B4-BE49-F238E27FC236}">
                <a16:creationId xmlns:a16="http://schemas.microsoft.com/office/drawing/2014/main" id="{B16DE325-7F61-6658-E5D4-584F5F6B2DDC}"/>
              </a:ext>
            </a:extLst>
          </p:cNvPr>
          <p:cNvSpPr txBox="1"/>
          <p:nvPr/>
        </p:nvSpPr>
        <p:spPr>
          <a:xfrm>
            <a:off x="9344025" y="5331174"/>
            <a:ext cx="2848610" cy="8463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车间日计划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86296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2A6CE"/>
              </a:buClr>
              <a:buSzTx/>
              <a:buFontTx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车间安排每天的生产任务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SKU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、半成品层面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7" name="肘形连接符 5">
            <a:extLst>
              <a:ext uri="{FF2B5EF4-FFF2-40B4-BE49-F238E27FC236}">
                <a16:creationId xmlns:a16="http://schemas.microsoft.com/office/drawing/2014/main" id="{48F6169E-06DE-3FAC-F27D-A72ABA46B7FF}"/>
              </a:ext>
            </a:extLst>
          </p:cNvPr>
          <p:cNvCxnSpPr/>
          <p:nvPr>
            <p:custDataLst>
              <p:tags r:id="rId49"/>
            </p:custDataLst>
          </p:nvPr>
        </p:nvCxnSpPr>
        <p:spPr>
          <a:xfrm>
            <a:off x="2513965" y="2824220"/>
            <a:ext cx="1574165" cy="501015"/>
          </a:xfrm>
          <a:prstGeom prst="bentConnector3">
            <a:avLst>
              <a:gd name="adj1" fmla="val 0"/>
            </a:avLst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8" name="矩形 7">
            <a:extLst>
              <a:ext uri="{FF2B5EF4-FFF2-40B4-BE49-F238E27FC236}">
                <a16:creationId xmlns:a16="http://schemas.microsoft.com/office/drawing/2014/main" id="{8469FD8F-DB5A-30A5-3720-8EA4224E7B0A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5795962" y="1625632"/>
            <a:ext cx="1522415" cy="4238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rgbClr val="FFC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战略物资（长周期）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采购计划（线下计算）</a:t>
            </a:r>
          </a:p>
        </p:txBody>
      </p:sp>
      <p:cxnSp>
        <p:nvCxnSpPr>
          <p:cNvPr id="69" name="肘形连接符 16">
            <a:extLst>
              <a:ext uri="{FF2B5EF4-FFF2-40B4-BE49-F238E27FC236}">
                <a16:creationId xmlns:a16="http://schemas.microsoft.com/office/drawing/2014/main" id="{22AEE31E-5580-2E3F-A4ED-89407F03CD47}"/>
              </a:ext>
            </a:extLst>
          </p:cNvPr>
          <p:cNvCxnSpPr>
            <a:cxnSpLocks/>
            <a:stCxn id="68" idx="3"/>
            <a:endCxn id="45" idx="1"/>
          </p:cNvCxnSpPr>
          <p:nvPr>
            <p:custDataLst>
              <p:tags r:id="rId51"/>
            </p:custDataLst>
          </p:nvPr>
        </p:nvCxnSpPr>
        <p:spPr>
          <a:xfrm flipV="1">
            <a:off x="7318377" y="1319404"/>
            <a:ext cx="517206" cy="51816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30608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DC9F26D6-2638-97EC-EB8E-47CABA755978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7764777" y="730997"/>
            <a:ext cx="1528445" cy="287655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cap="flat" cmpd="sng">
            <a:solidFill>
              <a:srgbClr val="EC701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597A0"/>
              </a:buClr>
              <a:buSzPct val="70000"/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0000"/>
              <a:buFont typeface="Wingdings" panose="05000000000000000000" pitchFamily="2" charset="2"/>
              <a:buChar char="u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395"/>
              </a:buClr>
              <a:buSzPct val="30000"/>
              <a:buFont typeface="Wingdings" panose="05000000000000000000" pitchFamily="2" charset="2"/>
              <a:buChar char="p"/>
              <a:defRPr sz="14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</a:t>
            </a:r>
          </a:p>
        </p:txBody>
      </p:sp>
      <p:sp>
        <p:nvSpPr>
          <p:cNvPr id="71" name="标题 1">
            <a:extLst>
              <a:ext uri="{FF2B5EF4-FFF2-40B4-BE49-F238E27FC236}">
                <a16:creationId xmlns:a16="http://schemas.microsoft.com/office/drawing/2014/main" id="{ED4BC671-BB27-69D6-F569-53D7FD206F77}"/>
              </a:ext>
            </a:extLst>
          </p:cNvPr>
          <p:cNvSpPr txBox="1">
            <a:spLocks/>
          </p:cNvSpPr>
          <p:nvPr/>
        </p:nvSpPr>
        <p:spPr>
          <a:xfrm>
            <a:off x="167518" y="96618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6238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665" b="1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建立多层级的滚动计划体系，强化计划的管控和执行能力</a:t>
            </a:r>
            <a:endParaRPr lang="en-US" altLang="zh-CN" sz="2665" b="1" dirty="0">
              <a:solidFill>
                <a:srgbClr val="0073E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0" marR="0" lvl="0" indent="0" algn="l" defTabSz="16238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7A4276A4-C544-5BEB-6332-3B621221E6C0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361245" y="5276809"/>
            <a:ext cx="2807063" cy="15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06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90BEB-3717-CFB2-C6C7-F3F9206F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圆角矩形 16">
            <a:extLst>
              <a:ext uri="{FF2B5EF4-FFF2-40B4-BE49-F238E27FC236}">
                <a16:creationId xmlns:a16="http://schemas.microsoft.com/office/drawing/2014/main" id="{DEFD51F5-15B2-28D9-1D7F-FB5121DE27F4}"/>
              </a:ext>
            </a:extLst>
          </p:cNvPr>
          <p:cNvSpPr/>
          <p:nvPr/>
        </p:nvSpPr>
        <p:spPr>
          <a:xfrm>
            <a:off x="332227" y="4402852"/>
            <a:ext cx="11311133" cy="1987788"/>
          </a:xfrm>
          <a:prstGeom prst="roundRect">
            <a:avLst>
              <a:gd name="adj" fmla="val 11271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10A5C507-8CAE-FB5B-964E-27F27A920740}"/>
              </a:ext>
            </a:extLst>
          </p:cNvPr>
          <p:cNvSpPr/>
          <p:nvPr/>
        </p:nvSpPr>
        <p:spPr>
          <a:xfrm>
            <a:off x="254951" y="4303072"/>
            <a:ext cx="10926932" cy="2301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marR="0" lvl="0" indent="-285744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基于销售订单需求转化为针对库存的预测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(MTS)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：进行主生产计划编排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(MPS);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计划层次，相关需求通过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MRP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生产生成对应的生产订单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44" marR="0" lvl="0" indent="-285744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线下进行调整主生产计划进行编排，并将其导入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系统中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，基于灯具主生产排程安排生产，并指导灯珠、总装、包装生产订单生成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;MRP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计算生产所需缺料采购物料供给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44" marR="0" lvl="0" indent="-285744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生管员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模具新品投产瓶颈在模具资源考虑：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调度与物料平衡、产能平衡、设备资源可用性平衡的管控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长周期采购用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N+1;N+2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月独立需求解决或安全库存解决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44" marR="0" lvl="0" indent="-285744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圆角矩形 120">
            <a:extLst>
              <a:ext uri="{FF2B5EF4-FFF2-40B4-BE49-F238E27FC236}">
                <a16:creationId xmlns:a16="http://schemas.microsoft.com/office/drawing/2014/main" id="{B9E92E3E-D6FC-C44B-9EB3-FC73B31DC2A2}"/>
              </a:ext>
            </a:extLst>
          </p:cNvPr>
          <p:cNvSpPr/>
          <p:nvPr/>
        </p:nvSpPr>
        <p:spPr>
          <a:xfrm>
            <a:off x="254951" y="669984"/>
            <a:ext cx="11567859" cy="2244051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304557-C8E8-6EE0-5F21-F9EDF375E8ED}"/>
              </a:ext>
            </a:extLst>
          </p:cNvPr>
          <p:cNvSpPr/>
          <p:nvPr/>
        </p:nvSpPr>
        <p:spPr>
          <a:xfrm>
            <a:off x="849061" y="1422725"/>
            <a:ext cx="1016679" cy="45889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51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SKU </a:t>
            </a: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销售订单确认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2AB03F-37AF-3FBD-4FD8-7E600C9AC7ED}"/>
              </a:ext>
            </a:extLst>
          </p:cNvPr>
          <p:cNvSpPr/>
          <p:nvPr/>
        </p:nvSpPr>
        <p:spPr bwMode="auto">
          <a:xfrm>
            <a:off x="421716" y="1157266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销售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FAB48A2-65B8-0C34-0C53-B6F0B682543F}"/>
              </a:ext>
            </a:extLst>
          </p:cNvPr>
          <p:cNvSpPr/>
          <p:nvPr/>
        </p:nvSpPr>
        <p:spPr>
          <a:xfrm>
            <a:off x="849061" y="2182520"/>
            <a:ext cx="1016679" cy="45889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SKU</a:t>
            </a:r>
            <a:r>
              <a:rPr kumimoji="1" lang="zh-CN" altLang="en-US" sz="105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独立需求</a:t>
            </a:r>
            <a:endParaRPr kumimoji="1" lang="en-US" altLang="zh-CN" sz="1051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05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5B8ECB2-C576-0F82-D030-72FBFBA507E1}"/>
              </a:ext>
            </a:extLst>
          </p:cNvPr>
          <p:cNvSpPr/>
          <p:nvPr/>
        </p:nvSpPr>
        <p:spPr bwMode="auto">
          <a:xfrm>
            <a:off x="413431" y="1944903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主计划员</a:t>
            </a:r>
          </a:p>
        </p:txBody>
      </p:sp>
      <p:sp>
        <p:nvSpPr>
          <p:cNvPr id="39" name="上箭头 26">
            <a:extLst>
              <a:ext uri="{FF2B5EF4-FFF2-40B4-BE49-F238E27FC236}">
                <a16:creationId xmlns:a16="http://schemas.microsoft.com/office/drawing/2014/main" id="{646A568E-31A9-87AD-AD1D-114D85757FE5}"/>
              </a:ext>
            </a:extLst>
          </p:cNvPr>
          <p:cNvSpPr/>
          <p:nvPr/>
        </p:nvSpPr>
        <p:spPr>
          <a:xfrm rot="7407233">
            <a:off x="2178769" y="1557539"/>
            <a:ext cx="102707" cy="641367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上箭头 26">
            <a:extLst>
              <a:ext uri="{FF2B5EF4-FFF2-40B4-BE49-F238E27FC236}">
                <a16:creationId xmlns:a16="http://schemas.microsoft.com/office/drawing/2014/main" id="{F7946C06-D228-9D49-4B1D-2F14E3E8180A}"/>
              </a:ext>
            </a:extLst>
          </p:cNvPr>
          <p:cNvSpPr/>
          <p:nvPr/>
        </p:nvSpPr>
        <p:spPr>
          <a:xfrm rot="3890289">
            <a:off x="2171647" y="1932491"/>
            <a:ext cx="86604" cy="641367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3059DB1-04BB-A670-4028-E3DDC870359F}"/>
              </a:ext>
            </a:extLst>
          </p:cNvPr>
          <p:cNvSpPr/>
          <p:nvPr/>
        </p:nvSpPr>
        <p:spPr>
          <a:xfrm>
            <a:off x="2581624" y="1821290"/>
            <a:ext cx="1016679" cy="4588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线下主生产</a:t>
            </a:r>
            <a:endParaRPr kumimoji="1" lang="en-US" altLang="zh-CN" sz="105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计划编排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CF642A-1A1F-F61D-592C-DAE9191598A1}"/>
              </a:ext>
            </a:extLst>
          </p:cNvPr>
          <p:cNvSpPr/>
          <p:nvPr/>
        </p:nvSpPr>
        <p:spPr>
          <a:xfrm>
            <a:off x="7733011" y="1202527"/>
            <a:ext cx="1016679" cy="4588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调整计划</a:t>
            </a:r>
            <a:endParaRPr kumimoji="1" lang="en-US" altLang="zh-CN" sz="105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92A253D-4BB1-5BF1-9365-6C924D0CDCAF}"/>
              </a:ext>
            </a:extLst>
          </p:cNvPr>
          <p:cNvSpPr/>
          <p:nvPr/>
        </p:nvSpPr>
        <p:spPr>
          <a:xfrm>
            <a:off x="7733011" y="1750150"/>
            <a:ext cx="1016679" cy="45889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05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齐套检查计算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47E1556-0FEE-F8C1-A2EE-BD17424CFE21}"/>
              </a:ext>
            </a:extLst>
          </p:cNvPr>
          <p:cNvSpPr/>
          <p:nvPr/>
        </p:nvSpPr>
        <p:spPr>
          <a:xfrm>
            <a:off x="5714285" y="1761598"/>
            <a:ext cx="1016679" cy="458891"/>
          </a:xfrm>
          <a:prstGeom prst="rect">
            <a:avLst/>
          </a:prstGeom>
          <a:solidFill>
            <a:srgbClr val="DBDBDB"/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MRP</a:t>
            </a: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运算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568BA5D-9B1D-3FE9-5FC8-2EDD3A84F8A0}"/>
              </a:ext>
            </a:extLst>
          </p:cNvPr>
          <p:cNvSpPr/>
          <p:nvPr/>
        </p:nvSpPr>
        <p:spPr>
          <a:xfrm>
            <a:off x="9480753" y="1182824"/>
            <a:ext cx="1016679" cy="458891"/>
          </a:xfrm>
          <a:prstGeom prst="rect">
            <a:avLst/>
          </a:prstGeom>
          <a:solidFill>
            <a:srgbClr val="DBDBDB"/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生产订单</a:t>
            </a:r>
            <a:endParaRPr kumimoji="1" lang="en-US" altLang="zh-CN" sz="105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E6E45E0-D787-519F-0ED1-AF1E8B53700B}"/>
              </a:ext>
            </a:extLst>
          </p:cNvPr>
          <p:cNvSpPr/>
          <p:nvPr/>
        </p:nvSpPr>
        <p:spPr>
          <a:xfrm>
            <a:off x="9493334" y="2344106"/>
            <a:ext cx="1016679" cy="458891"/>
          </a:xfrm>
          <a:prstGeom prst="rect">
            <a:avLst/>
          </a:prstGeom>
          <a:solidFill>
            <a:srgbClr val="DBDBDB"/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采购物料</a:t>
            </a:r>
            <a:r>
              <a:rPr kumimoji="1" lang="en-US" altLang="zh-CN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</a:t>
            </a:r>
            <a:endParaRPr kumimoji="1" lang="zh-CN" altLang="en-US" sz="105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上箭头 26">
            <a:extLst>
              <a:ext uri="{FF2B5EF4-FFF2-40B4-BE49-F238E27FC236}">
                <a16:creationId xmlns:a16="http://schemas.microsoft.com/office/drawing/2014/main" id="{55DA4694-799A-FE1C-E860-E9C1806D1495}"/>
              </a:ext>
            </a:extLst>
          </p:cNvPr>
          <p:cNvSpPr/>
          <p:nvPr/>
        </p:nvSpPr>
        <p:spPr>
          <a:xfrm rot="5400000">
            <a:off x="3907284" y="1740894"/>
            <a:ext cx="102707" cy="641367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上箭头 26">
            <a:extLst>
              <a:ext uri="{FF2B5EF4-FFF2-40B4-BE49-F238E27FC236}">
                <a16:creationId xmlns:a16="http://schemas.microsoft.com/office/drawing/2014/main" id="{DD3A979C-CF51-0CF7-FA0E-A31063C4CDD4}"/>
              </a:ext>
            </a:extLst>
          </p:cNvPr>
          <p:cNvSpPr/>
          <p:nvPr/>
        </p:nvSpPr>
        <p:spPr>
          <a:xfrm rot="3024014">
            <a:off x="7178515" y="1222923"/>
            <a:ext cx="45719" cy="893419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上箭头 26">
            <a:extLst>
              <a:ext uri="{FF2B5EF4-FFF2-40B4-BE49-F238E27FC236}">
                <a16:creationId xmlns:a16="http://schemas.microsoft.com/office/drawing/2014/main" id="{34027891-6100-40BD-4BAB-294DB088C744}"/>
              </a:ext>
            </a:extLst>
          </p:cNvPr>
          <p:cNvSpPr/>
          <p:nvPr/>
        </p:nvSpPr>
        <p:spPr>
          <a:xfrm rot="7407233" flipH="1">
            <a:off x="7165225" y="1791141"/>
            <a:ext cx="90849" cy="946326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73DFDDB-753D-3B10-203F-85AEDEE6F22D}"/>
              </a:ext>
            </a:extLst>
          </p:cNvPr>
          <p:cNvSpPr/>
          <p:nvPr/>
        </p:nvSpPr>
        <p:spPr>
          <a:xfrm>
            <a:off x="4341347" y="1820661"/>
            <a:ext cx="1068504" cy="4588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主生产计划导入系统</a:t>
            </a:r>
            <a:endParaRPr kumimoji="1" lang="en-US" altLang="zh-CN" sz="105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BE67E03-B8CA-6FB0-05A6-0149DD7E6DBB}"/>
              </a:ext>
            </a:extLst>
          </p:cNvPr>
          <p:cNvSpPr/>
          <p:nvPr/>
        </p:nvSpPr>
        <p:spPr>
          <a:xfrm>
            <a:off x="2581623" y="1080576"/>
            <a:ext cx="1016679" cy="4588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线下产能负荷分析</a:t>
            </a:r>
            <a:endParaRPr kumimoji="1" lang="en-US" altLang="zh-CN" sz="105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上箭头 26">
            <a:extLst>
              <a:ext uri="{FF2B5EF4-FFF2-40B4-BE49-F238E27FC236}">
                <a16:creationId xmlns:a16="http://schemas.microsoft.com/office/drawing/2014/main" id="{E3AC8120-0B77-1920-701F-EF913C3D4222}"/>
              </a:ext>
            </a:extLst>
          </p:cNvPr>
          <p:cNvSpPr/>
          <p:nvPr/>
        </p:nvSpPr>
        <p:spPr>
          <a:xfrm rot="5400000">
            <a:off x="5508821" y="1918039"/>
            <a:ext cx="112941" cy="220841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圆角矩形 16">
            <a:extLst>
              <a:ext uri="{FF2B5EF4-FFF2-40B4-BE49-F238E27FC236}">
                <a16:creationId xmlns:a16="http://schemas.microsoft.com/office/drawing/2014/main" id="{DF4FF219-583C-52C3-C12D-4686F7603740}"/>
              </a:ext>
            </a:extLst>
          </p:cNvPr>
          <p:cNvSpPr/>
          <p:nvPr/>
        </p:nvSpPr>
        <p:spPr>
          <a:xfrm>
            <a:off x="311446" y="3008825"/>
            <a:ext cx="11467123" cy="1131760"/>
          </a:xfrm>
          <a:prstGeom prst="roundRect">
            <a:avLst>
              <a:gd name="adj" fmla="val 11271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FD9B963-1F28-9A34-1625-504661BB21B5}"/>
              </a:ext>
            </a:extLst>
          </p:cNvPr>
          <p:cNvSpPr/>
          <p:nvPr/>
        </p:nvSpPr>
        <p:spPr>
          <a:xfrm>
            <a:off x="413431" y="3025711"/>
            <a:ext cx="11696700" cy="1021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marR="0" lvl="0" indent="-285744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生管员：生产控制或生产管制（称为生管）主要职能是生产的计划与生产的进度控制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44" marR="0" lvl="0" indent="-285744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物控员：物料控制（俗称物控）主要职能是物料计划、请购、物料调度、物料的控制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44" marR="0" lvl="0" indent="-285744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主生产计划员：对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SKU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层面的产品和半成品进行产出时间和数量、生产地点的规划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F5D747A-F7C5-C18E-F884-5E50B3F9A73B}"/>
              </a:ext>
            </a:extLst>
          </p:cNvPr>
          <p:cNvSpPr txBox="1">
            <a:spLocks/>
          </p:cNvSpPr>
          <p:nvPr/>
        </p:nvSpPr>
        <p:spPr>
          <a:xfrm>
            <a:off x="199771" y="26042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6238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665" b="1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主生产计划与</a:t>
            </a:r>
            <a:r>
              <a:rPr lang="en-US" altLang="zh-CN" sz="2665" b="1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2665" b="1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对接实现过程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F5F4D5-8ABC-FE7F-9E89-40D1BCDE6EC2}"/>
              </a:ext>
            </a:extLst>
          </p:cNvPr>
          <p:cNvSpPr/>
          <p:nvPr/>
        </p:nvSpPr>
        <p:spPr bwMode="auto">
          <a:xfrm>
            <a:off x="3621347" y="754098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主计划员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3CB949-A2AC-1DAD-508B-1F03E6A1A58A}"/>
              </a:ext>
            </a:extLst>
          </p:cNvPr>
          <p:cNvSpPr/>
          <p:nvPr/>
        </p:nvSpPr>
        <p:spPr bwMode="auto">
          <a:xfrm>
            <a:off x="4665677" y="2324342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主计划员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634BB0-54C8-771A-907E-22FE3A84689C}"/>
              </a:ext>
            </a:extLst>
          </p:cNvPr>
          <p:cNvSpPr/>
          <p:nvPr/>
        </p:nvSpPr>
        <p:spPr bwMode="auto">
          <a:xfrm>
            <a:off x="6011599" y="2279552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SAP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B5FC25-914F-5CEC-41F1-6A7116994003}"/>
              </a:ext>
            </a:extLst>
          </p:cNvPr>
          <p:cNvSpPr/>
          <p:nvPr/>
        </p:nvSpPr>
        <p:spPr>
          <a:xfrm>
            <a:off x="7733011" y="2329624"/>
            <a:ext cx="1016679" cy="4588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5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调整采购申请</a:t>
            </a:r>
          </a:p>
        </p:txBody>
      </p:sp>
      <p:sp>
        <p:nvSpPr>
          <p:cNvPr id="12" name="上箭头 26">
            <a:extLst>
              <a:ext uri="{FF2B5EF4-FFF2-40B4-BE49-F238E27FC236}">
                <a16:creationId xmlns:a16="http://schemas.microsoft.com/office/drawing/2014/main" id="{3B67E790-BE4B-9CFC-D792-EBAB8E88DCEA}"/>
              </a:ext>
            </a:extLst>
          </p:cNvPr>
          <p:cNvSpPr/>
          <p:nvPr/>
        </p:nvSpPr>
        <p:spPr>
          <a:xfrm rot="5400000">
            <a:off x="7209774" y="1562659"/>
            <a:ext cx="63124" cy="806245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AB9BA-A8E3-4123-534A-0DC04D2664F8}"/>
              </a:ext>
            </a:extLst>
          </p:cNvPr>
          <p:cNvSpPr/>
          <p:nvPr/>
        </p:nvSpPr>
        <p:spPr>
          <a:xfrm>
            <a:off x="9493334" y="1771435"/>
            <a:ext cx="1016679" cy="45889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05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缺料供给时间报表</a:t>
            </a:r>
          </a:p>
        </p:txBody>
      </p:sp>
      <p:sp>
        <p:nvSpPr>
          <p:cNvPr id="16" name="上箭头 26">
            <a:extLst>
              <a:ext uri="{FF2B5EF4-FFF2-40B4-BE49-F238E27FC236}">
                <a16:creationId xmlns:a16="http://schemas.microsoft.com/office/drawing/2014/main" id="{2C6B312B-4695-4727-DCBB-9E4FB31639F7}"/>
              </a:ext>
            </a:extLst>
          </p:cNvPr>
          <p:cNvSpPr/>
          <p:nvPr/>
        </p:nvSpPr>
        <p:spPr>
          <a:xfrm rot="5400000">
            <a:off x="9053778" y="1675573"/>
            <a:ext cx="102707" cy="641367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上箭头 26">
            <a:extLst>
              <a:ext uri="{FF2B5EF4-FFF2-40B4-BE49-F238E27FC236}">
                <a16:creationId xmlns:a16="http://schemas.microsoft.com/office/drawing/2014/main" id="{7A7A2248-D09B-3A45-F6CF-B8079406874B}"/>
              </a:ext>
            </a:extLst>
          </p:cNvPr>
          <p:cNvSpPr/>
          <p:nvPr/>
        </p:nvSpPr>
        <p:spPr>
          <a:xfrm rot="5400000">
            <a:off x="9066283" y="1095111"/>
            <a:ext cx="102707" cy="641367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上箭头 26">
            <a:extLst>
              <a:ext uri="{FF2B5EF4-FFF2-40B4-BE49-F238E27FC236}">
                <a16:creationId xmlns:a16="http://schemas.microsoft.com/office/drawing/2014/main" id="{4E93B3CE-8820-9D63-C774-3D5F334B9EF8}"/>
              </a:ext>
            </a:extLst>
          </p:cNvPr>
          <p:cNvSpPr/>
          <p:nvPr/>
        </p:nvSpPr>
        <p:spPr>
          <a:xfrm rot="5400000">
            <a:off x="9053778" y="2191005"/>
            <a:ext cx="102707" cy="641367"/>
          </a:xfrm>
          <a:prstGeom prst="upArrow">
            <a:avLst>
              <a:gd name="adj1" fmla="val 39234"/>
              <a:gd name="adj2" fmla="val 50000"/>
            </a:avLst>
          </a:prstGeom>
          <a:solidFill>
            <a:srgbClr val="C3DAE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51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B8BC15-534D-0A32-AC2E-0D35DB040B2F}"/>
              </a:ext>
            </a:extLst>
          </p:cNvPr>
          <p:cNvSpPr/>
          <p:nvPr/>
        </p:nvSpPr>
        <p:spPr bwMode="auto">
          <a:xfrm>
            <a:off x="8424448" y="2791836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物控员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20A795-BD12-1212-67DD-3D012B3A885B}"/>
              </a:ext>
            </a:extLst>
          </p:cNvPr>
          <p:cNvSpPr/>
          <p:nvPr/>
        </p:nvSpPr>
        <p:spPr bwMode="auto">
          <a:xfrm>
            <a:off x="2867152" y="756010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生管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066E889-8763-2521-7B02-A90AD1732ABF}"/>
              </a:ext>
            </a:extLst>
          </p:cNvPr>
          <p:cNvSpPr/>
          <p:nvPr/>
        </p:nvSpPr>
        <p:spPr bwMode="auto">
          <a:xfrm>
            <a:off x="8436350" y="2078647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物控员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C93B9B-94D7-8034-51B7-E572D9E21263}"/>
              </a:ext>
            </a:extLst>
          </p:cNvPr>
          <p:cNvSpPr/>
          <p:nvPr/>
        </p:nvSpPr>
        <p:spPr bwMode="auto">
          <a:xfrm>
            <a:off x="8397636" y="1513480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生管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7141555-C6B8-97B7-7E0A-33107448E0FA}"/>
              </a:ext>
            </a:extLst>
          </p:cNvPr>
          <p:cNvSpPr/>
          <p:nvPr/>
        </p:nvSpPr>
        <p:spPr bwMode="auto">
          <a:xfrm>
            <a:off x="2900520" y="2315549"/>
            <a:ext cx="720000" cy="26545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主计划员</a:t>
            </a:r>
          </a:p>
        </p:txBody>
      </p:sp>
    </p:spTree>
    <p:extLst>
      <p:ext uri="{BB962C8B-B14F-4D97-AF65-F5344CB8AC3E}">
        <p14:creationId xmlns:p14="http://schemas.microsoft.com/office/powerpoint/2010/main" val="20349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Biennale Bold"/>
              </a:rPr>
              <a:t>MRP</a:t>
            </a:r>
            <a:r>
              <a:rPr lang="zh-CN" altLang="en-US" dirty="0">
                <a:sym typeface="Biennale Bold"/>
              </a:rPr>
              <a:t>建设方案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15</a:t>
            </a:fld>
            <a:endParaRPr lang="nl-NL"/>
          </a:p>
        </p:txBody>
      </p:sp>
      <p:sp>
        <p:nvSpPr>
          <p:cNvPr id="7" name="矩形 6"/>
          <p:cNvSpPr/>
          <p:nvPr/>
        </p:nvSpPr>
        <p:spPr>
          <a:xfrm>
            <a:off x="509270" y="1078230"/>
            <a:ext cx="6146165" cy="157162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核心目标：建立高效、精准的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体系，实现物料需求自动化、精细化管理。</a:t>
            </a:r>
          </a:p>
          <a:p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项目范围：覆盖生产性物料需求与采购计划，涉及计划、采购、仓库等部门。</a:t>
            </a:r>
          </a:p>
        </p:txBody>
      </p:sp>
      <p:sp>
        <p:nvSpPr>
          <p:cNvPr id="8" name="矩形 7"/>
          <p:cNvSpPr/>
          <p:nvPr/>
        </p:nvSpPr>
        <p:spPr>
          <a:xfrm>
            <a:off x="499110" y="3020060"/>
            <a:ext cx="2347595" cy="307657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当前现状：库存数据不准，缺料与积压并存。</a:t>
            </a:r>
          </a:p>
          <a:p>
            <a:pPr>
              <a:spcBef>
                <a:spcPts val="800"/>
              </a:spcBef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核心差距：计划模式从“手工经验”到“系统数据”的转变；主数据与流程集成不足。</a:t>
            </a:r>
          </a:p>
        </p:txBody>
      </p:sp>
      <p:sp>
        <p:nvSpPr>
          <p:cNvPr id="9" name="矩形 8"/>
          <p:cNvSpPr/>
          <p:nvPr/>
        </p:nvSpPr>
        <p:spPr>
          <a:xfrm>
            <a:off x="3154045" y="3007995"/>
            <a:ext cx="3502025" cy="183261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171450" algn="just">
              <a:buFont typeface="Arial" panose="020B0604020202020204" pitchFamily="34" charset="0"/>
              <a:buChar char="•"/>
            </a:pP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主数据：提前期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Leadtime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主数据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系统，系统建议自制件和采购件的交期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主生产计划展望：下月：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N+1 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月，下下月：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N+1+1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月（下月，下下月）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预测主计划进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：通过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MPS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主生产计划驱动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物料需求计算，解决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产销平衡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171450" algn="just"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53410" y="5081905"/>
            <a:ext cx="3502660" cy="101473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主生产计划数据每月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号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发布驱动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171450">
              <a:buFont typeface="Arial" panose="020B0604020202020204" pitchFamily="34" charset="0"/>
              <a:buChar char="•"/>
            </a:pP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上线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60565" y="2129155"/>
            <a:ext cx="4621530" cy="87376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060565" y="3280410"/>
            <a:ext cx="4621530" cy="162242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000" dirty="0"/>
          </a:p>
        </p:txBody>
      </p:sp>
      <p:sp>
        <p:nvSpPr>
          <p:cNvPr id="13" name="矩形 12"/>
          <p:cNvSpPr/>
          <p:nvPr/>
        </p:nvSpPr>
        <p:spPr>
          <a:xfrm>
            <a:off x="7060565" y="5175250"/>
            <a:ext cx="4621530" cy="92138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业务价值：提升研发投资回报率、优化资源配置、强化创新决策。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数字化指标：提升数据准确率、重点项目覆盖率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" name="矩形 13"/>
          <p:cNvSpPr/>
          <p:nvPr/>
        </p:nvSpPr>
        <p:spPr>
          <a:xfrm>
            <a:off x="7060565" y="1078230"/>
            <a:ext cx="4621530" cy="84010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主责： 集团生产部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配合： 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集团下属各公司相应部门关键用户</a:t>
            </a:r>
            <a:endParaRPr kumimoji="1"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外部：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艾维登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FICO</a:t>
            </a:r>
            <a:r>
              <a:rPr kumimoji="1" lang="zh-CN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MM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</a:t>
            </a:r>
            <a:endParaRPr lang="zh-CN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3055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责任部门</a:t>
            </a:r>
          </a:p>
        </p:txBody>
      </p:sp>
      <p:sp>
        <p:nvSpPr>
          <p:cNvPr id="16" name="矩形 15"/>
          <p:cNvSpPr/>
          <p:nvPr/>
        </p:nvSpPr>
        <p:spPr>
          <a:xfrm>
            <a:off x="815054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</a:p>
        </p:txBody>
      </p:sp>
      <p:sp>
        <p:nvSpPr>
          <p:cNvPr id="17" name="矩形 16"/>
          <p:cNvSpPr/>
          <p:nvPr/>
        </p:nvSpPr>
        <p:spPr>
          <a:xfrm>
            <a:off x="8151180" y="3123221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风险与项目依赖</a:t>
            </a:r>
          </a:p>
        </p:txBody>
      </p:sp>
      <p:sp>
        <p:nvSpPr>
          <p:cNvPr id="18" name="矩形 17"/>
          <p:cNvSpPr/>
          <p:nvPr/>
        </p:nvSpPr>
        <p:spPr>
          <a:xfrm>
            <a:off x="8116255" y="4987576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业务价值和数字化指标</a:t>
            </a:r>
          </a:p>
        </p:txBody>
      </p:sp>
      <p:sp>
        <p:nvSpPr>
          <p:cNvPr id="19" name="矩形 18"/>
          <p:cNvSpPr/>
          <p:nvPr/>
        </p:nvSpPr>
        <p:spPr>
          <a:xfrm>
            <a:off x="3790364" y="496395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关键任务</a:t>
            </a:r>
          </a:p>
        </p:txBody>
      </p:sp>
      <p:sp>
        <p:nvSpPr>
          <p:cNvPr id="20" name="矩形 19"/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业务变革</a:t>
            </a:r>
          </a:p>
        </p:txBody>
      </p:sp>
      <p:sp>
        <p:nvSpPr>
          <p:cNvPr id="21" name="矩形 20"/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差距</a:t>
            </a:r>
          </a:p>
        </p:txBody>
      </p:sp>
      <p:sp>
        <p:nvSpPr>
          <p:cNvPr id="22" name="矩形 21"/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目标和范围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3046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sz="1000" dirty="0" err="1">
              <a:solidFill>
                <a:schemeClr val="accent3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468870" y="2442845"/>
            <a:ext cx="1281430" cy="328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完成系统配置开发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7979674" y="2850538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/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2" name="椭圆 31"/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3" name="椭圆 32"/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9903460" y="2377440"/>
            <a:ext cx="1562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系统正式上线，进入持续优化阶段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910320" y="2377440"/>
            <a:ext cx="99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开展测试与上线准备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2775" y="3355340"/>
            <a:ext cx="4719320" cy="1432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研发业务流程、新品口径定义跨部门无法达成共识，造成方案反复变更；组织财务、研发、销售专题会议，提前固化业务规则。</a:t>
            </a: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BOM、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物料主数据、内部订单主数据维护不及时、不准确，影响费用归集；规范主数据提交、审核时效，建立主数据质量核查机制。</a:t>
            </a: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历史未关闭订单、旧研发数据存量清理不到位，干扰新核算逻辑；上线前完成历史订单清理。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98500" y="1524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defTabSz="1623695">
              <a:buClr>
                <a:srgbClr val="000000"/>
              </a:buClr>
              <a:buFont typeface="Arial" panose="020B0604020202020204"/>
              <a:defRPr/>
            </a:pPr>
            <a:r>
              <a:rPr lang="en-US" sz="2800" b="1" dirty="0" err="1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MRP的核心逻辑：三大输入与运算原理</a:t>
            </a:r>
            <a:endParaRPr lang="en-US" sz="2800" b="1" dirty="0">
              <a:solidFill>
                <a:srgbClr val="0073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5" r="15"/>
          <a:stretch>
            <a:fillRect/>
          </a:stretch>
        </p:blipFill>
        <p:spPr>
          <a:xfrm>
            <a:off x="762000" y="1651000"/>
            <a:ext cx="3556000" cy="311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图示：典型的多层级物料清单(BOM)结构，清晰展示了从成品到各级零部件的层级分解与数据映射关系，是MRP拆解的核心依据。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651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三大核心输入：MRP运行的基石</a:t>
            </a:r>
          </a:p>
        </p:txBody>
      </p:sp>
      <p:sp>
        <p:nvSpPr>
          <p:cNvPr id="7" name="AutoShape 7"/>
          <p:cNvSpPr/>
          <p:nvPr/>
        </p:nvSpPr>
        <p:spPr>
          <a:xfrm>
            <a:off x="4826000" y="2184400"/>
            <a:ext cx="660400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1000"/>
            </a:scheme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24892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22606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主生产计划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(MPS) — </a:t>
            </a: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计划驱动源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明确“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生产什么、生产多少、何时交付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”，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是MRP运算的起点，决定了最终产品的产出目标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826000" y="3200400"/>
            <a:ext cx="660400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1000"/>
            </a:scheme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6500" y="35052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32766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物料清单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(BOM) — </a:t>
            </a: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结构与</a:t>
            </a:r>
            <a:r>
              <a:rPr lang="zh-CN" altLang="en-US" sz="15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组件定额</a:t>
            </a: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用量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以树形结构定义产品的层级关系和子件用量，</a:t>
            </a:r>
            <a:r>
              <a:rPr lang="en-US" sz="1300" b="1" i="0" u="none" strike="noStrike" dirty="0" err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其准确性直接决定了MRP运算结果的可靠性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826000" y="4216400"/>
            <a:ext cx="660400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1000"/>
            </a:scheme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4521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61000" y="42926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库存记录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</a:t>
            </a: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供需平衡的约束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涵盖现有库存、在途量、已分配量及安全库存，是计算净需求、避免物料积压或短缺的关键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826000" y="5308600"/>
            <a:ext cx="6604000" cy="1016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1000"/>
            </a:scheme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16500" y="5435600"/>
            <a:ext cx="635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 dirty="0" err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运算闭环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从MPS出发，按BOM逐层“展开”计算毛需求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结合库存记录进行“净需求计算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 → 最后依据提前期“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生成计划订单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”，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实现从需求到供应的精准平衡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44" y="737403"/>
            <a:ext cx="9050866" cy="5882464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defTabSz="1623695">
              <a:defRPr/>
            </a:pPr>
            <a:r>
              <a:rPr lang="en-US" altLang="zh-CN" sz="2800" b="1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MRP</a:t>
            </a:r>
            <a:r>
              <a:rPr lang="zh-CN" altLang="en-US" sz="2800" b="1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运行计算逻辑</a:t>
            </a:r>
          </a:p>
          <a:p>
            <a:pPr defTabSz="1623695">
              <a:defRPr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1623695">
              <a:defRPr/>
            </a:pPr>
            <a:endParaRPr lang="zh-CN" altLang="en-US" sz="26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326079" y="3901672"/>
            <a:ext cx="8744179" cy="22156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标题 1"/>
          <p:cNvSpPr txBox="1"/>
          <p:nvPr/>
        </p:nvSpPr>
        <p:spPr>
          <a:xfrm>
            <a:off x="326079" y="426270"/>
            <a:ext cx="11696700" cy="38163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计划齐套性检查方案</a:t>
            </a:r>
            <a:endParaRPr lang="en-US" altLang="zh-CN" sz="2800" b="1" dirty="0">
              <a:solidFill>
                <a:srgbClr val="0073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481781" y="1376516"/>
            <a:ext cx="4159045" cy="1828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计划下达前未执行可用性检查，直接转交采购和车间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后果：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车间频繁遭遇“上线缺料”，导致交付延期。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1781" y="1007184"/>
            <a:ext cx="209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当前痛点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55456" y="1007184"/>
            <a:ext cx="209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4955456" y="1445342"/>
            <a:ext cx="3288888" cy="1828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955456" y="1445342"/>
            <a:ext cx="3288888" cy="49081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计划订单阶段：提前预警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33885" y="1936161"/>
            <a:ext cx="30580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评估中短期物料齐套状况，识别潜在的缺料瓶颈。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让缺料有遇见性，有时间应对缺料。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8534398" y="1445342"/>
            <a:ext cx="3288888" cy="1828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534398" y="1445342"/>
            <a:ext cx="3288888" cy="490819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生产订单阶段：严格把关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12827" y="1936161"/>
            <a:ext cx="30580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订单下达前的最后一道防线，精准锁定可用库存。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未来规则：第一道工序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缺料订单将受限下达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59886" y="3420587"/>
            <a:ext cx="293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未来标准作业流程</a:t>
            </a:r>
          </a:p>
        </p:txBody>
      </p:sp>
      <p:sp>
        <p:nvSpPr>
          <p:cNvPr id="14" name="箭头: 右 13"/>
          <p:cNvSpPr/>
          <p:nvPr/>
        </p:nvSpPr>
        <p:spPr>
          <a:xfrm>
            <a:off x="481781" y="4198374"/>
            <a:ext cx="1504335" cy="70792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15" descr="齿轮 纯色填充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6957" y="3889937"/>
            <a:ext cx="1184787" cy="1184787"/>
          </a:xfrm>
          <a:prstGeom prst="rect">
            <a:avLst/>
          </a:prstGeom>
        </p:spPr>
      </p:pic>
      <p:pic>
        <p:nvPicPr>
          <p:cNvPr id="18" name="图形 17" descr="徽章勾号 1 纯色填充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4377" y="4386466"/>
            <a:ext cx="688258" cy="688258"/>
          </a:xfrm>
          <a:prstGeom prst="rect">
            <a:avLst/>
          </a:prstGeom>
        </p:spPr>
      </p:pic>
      <p:sp>
        <p:nvSpPr>
          <p:cNvPr id="19" name="箭头: 燕尾形 18"/>
          <p:cNvSpPr/>
          <p:nvPr/>
        </p:nvSpPr>
        <p:spPr>
          <a:xfrm>
            <a:off x="3603291" y="4190024"/>
            <a:ext cx="1681319" cy="716272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箭头: 燕尾形 19"/>
          <p:cNvSpPr/>
          <p:nvPr/>
        </p:nvSpPr>
        <p:spPr>
          <a:xfrm>
            <a:off x="5412657" y="4198374"/>
            <a:ext cx="1681319" cy="716272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燕尾形 20"/>
          <p:cNvSpPr/>
          <p:nvPr/>
        </p:nvSpPr>
        <p:spPr>
          <a:xfrm>
            <a:off x="7222023" y="4198374"/>
            <a:ext cx="1681319" cy="716272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8946" y="5112152"/>
            <a:ext cx="183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生成主生产计划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875500" y="5029875"/>
            <a:ext cx="1838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执行齐套检查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（核心卡点）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817260" y="5043325"/>
            <a:ext cx="1838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缺料处理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确认齐套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412657" y="4950993"/>
            <a:ext cx="1838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订单下达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76887" y="5141964"/>
            <a:ext cx="183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车间执行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328583" y="3432839"/>
            <a:ext cx="293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实施收益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9225960" y="4198374"/>
            <a:ext cx="2662388" cy="15758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计划员：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计划下达即代表“第一道工序可执行”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车间：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最大限度的避免“缺料”停工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方案实现的前提条件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695">
              <a:defRPr/>
            </a:pPr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方案实现的前提条件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2344" y="984959"/>
            <a:ext cx="10583491" cy="2226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 indent="-38100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方案实现的前提条件：</a:t>
            </a:r>
            <a:endParaRPr lang="en-US" altLang="zh-CN" sz="18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Clr>
                <a:srgbClr val="32A6CE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N+2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主生产计划要求：要求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zh-CN" altLang="en-US" sz="1865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本月</a:t>
            </a:r>
            <a:r>
              <a:rPr lang="en-US" altLang="zh-CN" sz="1865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65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号要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正式发布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月份的正式计划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65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发布下月和下下月的计划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月的预测计划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并导入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系统，驱动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</a:t>
            </a:r>
            <a:endParaRPr lang="en-US" altLang="zh-CN" sz="18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80" indent="-381000">
              <a:spcBef>
                <a:spcPts val="800"/>
              </a:spcBef>
              <a:buClr>
                <a:srgbClr val="32A6CE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定制产品的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搭建要在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MRP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运行前完成</a:t>
            </a:r>
            <a:endParaRPr lang="en-US" altLang="zh-CN" sz="1865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25780" indent="-381000">
              <a:spcBef>
                <a:spcPts val="800"/>
              </a:spcBef>
              <a:buClr>
                <a:srgbClr val="32A6CE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自制件、采购料件的提前期</a:t>
            </a:r>
            <a:r>
              <a:rPr lang="en-US" altLang="zh-CN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Leadtime</a:t>
            </a:r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要准确、完整</a:t>
            </a:r>
            <a:endParaRPr lang="en-US" altLang="zh-CN" sz="1865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25780" indent="-38100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历史未清理单据（销售订单、生产订单、采购订单）及时关闭（结案）</a:t>
            </a:r>
            <a:endParaRPr lang="en-US" altLang="zh-CN" sz="1865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347133" y="558800"/>
          <a:ext cx="11345335" cy="446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7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5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37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负责部门</a:t>
                      </a:r>
                    </a:p>
                    <a:p>
                      <a:pPr algn="ctr"/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措施和建议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93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主数据创建的及时率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后续生产采购无法顺畅执行，影响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MRP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8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主数据创建的正确性</a:t>
                      </a:r>
                    </a:p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Leadtime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采购时间不准确可能会引起缺料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Leadtime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生产时间不准确可能会引起生产无法及时交货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zh-CN" altLang="en-US" sz="1800" b="0" i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20204"/>
                        </a:rPr>
                        <a:t>主数据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盘点数据准确率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系统库存比实际多：缺料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系统库存比实际少：库存过高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38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采购订单的及时审批和发送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采购时间的拖后会引起缺料</a:t>
                      </a:r>
                    </a:p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897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供应商送货及时率的保证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采购入库时间的拖后会引起缺料</a:t>
                      </a:r>
                    </a:p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标题 1"/>
          <p:cNvSpPr txBox="1"/>
          <p:nvPr/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defTabSz="1623695">
              <a:defRPr/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保证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MRP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运行正确的一些前提因素</a:t>
            </a:r>
          </a:p>
          <a:p>
            <a:pPr defTabSz="1623695">
              <a:defRPr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1623695">
              <a:defRPr/>
            </a:pPr>
            <a:endParaRPr lang="zh-CN" altLang="en-US" sz="26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5"/>
          <p:cNvGraphicFramePr>
            <a:graphicFrameLocks noGrp="1"/>
          </p:cNvGraphicFramePr>
          <p:nvPr/>
        </p:nvGraphicFramePr>
        <p:xfrm>
          <a:off x="426567" y="673395"/>
          <a:ext cx="10905066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2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3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9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影响因素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负责部门</a:t>
                      </a:r>
                    </a:p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措施和建议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其它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生产工单的及时创建</a:t>
                      </a:r>
                    </a:p>
                    <a:p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采购时间的拖后会引起缺料</a:t>
                      </a:r>
                    </a:p>
                    <a:p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需求明确，立即当天内必须下达工单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生产工单的及时关闭</a:t>
                      </a:r>
                    </a:p>
                    <a:p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未释放的预留占用库存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如果实际生产量少于计划量，已计划但实际不生产的量造成计划量虚高。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工单完工日期后立即当天内关闭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52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替代料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如果不做替代，替代料库存可能会成为呆滞料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替代物料跑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MRP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前需要做百分比设置替代比例，不然导致双倍的采购物料需求数量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标题 1"/>
          <p:cNvSpPr txBox="1"/>
          <p:nvPr/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defTabSz="1623695">
              <a:defRPr/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保证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MRP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运行正确的一些前提因素</a:t>
            </a:r>
          </a:p>
          <a:p>
            <a:pPr defTabSz="1623695">
              <a:defRPr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1623695">
              <a:defRPr/>
            </a:pPr>
            <a:endParaRPr lang="zh-CN" altLang="en-US" sz="26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3648"/>
            <a:ext cx="953787" cy="492443"/>
          </a:xfrm>
        </p:spPr>
        <p:txBody>
          <a:bodyPr/>
          <a:lstStyle/>
          <a:p>
            <a:r>
              <a:rPr lang="zh-CN" altLang="en-US" sz="3200" b="1" dirty="0"/>
              <a:t>谢谢</a:t>
            </a:r>
            <a:r>
              <a:rPr lang="en-US" altLang="zh-CN" sz="3200" b="1" dirty="0"/>
              <a:t>!</a:t>
            </a:r>
            <a:endParaRPr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3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4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B6BFCDD-2828-244C-B8B0-E2958472E4D3}">
  <ds:schemaRefs/>
</ds:datastoreItem>
</file>

<file path=customXml/itemProps2.xml><?xml version="1.0" encoding="utf-8"?>
<ds:datastoreItem xmlns:ds="http://schemas.openxmlformats.org/officeDocument/2006/customXml" ds:itemID="{9B965239-770B-CA49-8A85-05CC8639E8EA}">
  <ds:schemaRefs/>
</ds:datastoreItem>
</file>

<file path=customXml/itemProps3.xml><?xml version="1.0" encoding="utf-8"?>
<ds:datastoreItem xmlns:ds="http://schemas.openxmlformats.org/officeDocument/2006/customXml" ds:itemID="{FE511B84-21F8-E546-9875-8BED6F722329}">
  <ds:schemaRefs/>
</ds:datastoreItem>
</file>

<file path=customXml/itemProps4.xml><?xml version="1.0" encoding="utf-8"?>
<ds:datastoreItem xmlns:ds="http://schemas.openxmlformats.org/officeDocument/2006/customXml" ds:itemID="{BEA80D82-EDC8-0741-826D-933AA8F9EFE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5851</Words>
  <Application>Microsoft Office PowerPoint</Application>
  <PresentationFormat>宽屏</PresentationFormat>
  <Paragraphs>350</Paragraphs>
  <Slides>24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Biennale</vt:lpstr>
      <vt:lpstr>Biennale Bold</vt:lpstr>
      <vt:lpstr>Biennale Medium</vt:lpstr>
      <vt:lpstr>Montserrat Bold</vt:lpstr>
      <vt:lpstr>Noto Sans SC</vt:lpstr>
      <vt:lpstr>微软雅黑</vt:lpstr>
      <vt:lpstr>Aptos</vt:lpstr>
      <vt:lpstr>Arial</vt:lpstr>
      <vt:lpstr>Calibri</vt:lpstr>
      <vt:lpstr>Montserrat SemiBold</vt:lpstr>
      <vt:lpstr>Times New Roman</vt:lpstr>
      <vt:lpstr>Verdana</vt:lpstr>
      <vt:lpstr>Wingdings</vt:lpstr>
      <vt:lpstr>White background</vt:lpstr>
      <vt:lpstr>主生产计划+MRP+齐套建设方案</vt:lpstr>
      <vt:lpstr>目录</vt:lpstr>
      <vt:lpstr>主生产计划MPS建设方案</vt:lpstr>
      <vt:lpstr>主生产计划MPS建设方案</vt:lpstr>
      <vt:lpstr>方案详解及系统实现 </vt:lpstr>
      <vt:lpstr>现状：主生产计划-MRP管理需求和问题</vt:lpstr>
      <vt:lpstr>现状：主生产计划-MRP管理需求和问题</vt:lpstr>
      <vt:lpstr>PowerPoint 演示文稿</vt:lpstr>
      <vt:lpstr>现状：主生产计划-MRP管理需求和问题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MRP建设方案</vt:lpstr>
      <vt:lpstr>PowerPoint 演示文稿</vt:lpstr>
      <vt:lpstr>PowerPoint 演示文稿</vt:lpstr>
      <vt:lpstr>PowerPoint 演示文稿</vt:lpstr>
      <vt:lpstr>方案实现的前提条件 </vt:lpstr>
      <vt:lpstr>方案实现的前提条件</vt:lpstr>
      <vt:lpstr>PowerPoint 演示文稿</vt:lpstr>
      <vt:lpstr>PowerPoint 演示文稿</vt:lpstr>
      <vt:lpstr>附录</vt:lpstr>
      <vt:lpstr>谢谢!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泰国财务体系合规建设专项方案</dc:title>
  <dc:creator>Tan, Hong-liang</dc:creator>
  <cp:lastModifiedBy>2102125624@qq.com</cp:lastModifiedBy>
  <cp:revision>76</cp:revision>
  <dcterms:created xsi:type="dcterms:W3CDTF">2026-07-20T05:48:00Z</dcterms:created>
  <dcterms:modified xsi:type="dcterms:W3CDTF">2026-08-31T03:11:33Z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8C8A8E2263C4743E61B55D6AA9AF7B3D_42</vt:lpwstr>
  </property>
  <property fmtid="{D5CDD505-2E9C-101B-9397-08002B2CF9AE}" pid="3" name="KSOProductBuildVer">
    <vt:lpwstr>2052-12.1.0.28043</vt:lpwstr>
  </property>
</Properties>
</file>