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6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7.xml" ContentType="application/vnd.openxmlformats-officedocument.theme+xml"/>
  <Override PartName="/ppt/slideLayouts/slideLayout94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72" r:id="rId3"/>
    <p:sldMasterId id="2147483676" r:id="rId4"/>
    <p:sldMasterId id="2147483694" r:id="rId5"/>
    <p:sldMasterId id="2147483712" r:id="rId6"/>
    <p:sldMasterId id="2147483730" r:id="rId7"/>
    <p:sldMasterId id="2147483748" r:id="rId8"/>
  </p:sldMasterIdLst>
  <p:notesMasterIdLst>
    <p:notesMasterId r:id="rId24"/>
  </p:notesMasterIdLst>
  <p:sldIdLst>
    <p:sldId id="256" r:id="rId9"/>
    <p:sldId id="257" r:id="rId10"/>
    <p:sldId id="273" r:id="rId11"/>
    <p:sldId id="260" r:id="rId12"/>
    <p:sldId id="259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225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各位领导，大家好。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今天我代表项目组，向大家汇报《供应商交期可视化与供应商绩效管理》高价值业务场景解决方案。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本方案聚焦SRM与SAP协同中的交期透明化和供应商绩效闭环两大核心痛点，关联需求号A0616和A0017。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各位领导、各位同事，大家好。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今天我们将围绕数字化转型项目进行详细汇报。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本次汇报的目录共分为九个部分，从管理层的执行摘要开始，我们将深入剖析现状问题、明确建设目标与治理架构，并重点介绍六项建设任务及SAP系统的本期落地方案。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同时，我们也会对实施路径、价值评估、风险应对以及后续的决策事项进行全面阐述。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接下来，让我们正式进入第一部分。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本页是方案总览，从目标范围、现状差距、业务变革、关键任务、责任部门、里程碑、风险依赖、业务价值八个维度全面呈现。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核心目标是建立交期主数据治理、打通SRM到SAP的交货计划回传、构建供应商绩效与冻结联动的闭环，最终实现交期可视化和绩效系统化。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从数据、协同、绩效三个维度分析当前供应商交期管理的痛点。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数据维度，物料主数据交付周期字段缺失，SRM承诺日期未回传SAP；协同维度，采购与车间线下反复沟通，客户交期承诺被动；绩效维度，供应商不准时行为未与冻结黑名单联动，缺乏系统抓手。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本页详细解读A0616需求的供应商交期可视化方案。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核心是三步：交期主数据强制治理、SRM交货承诺回传SAP生成交货计划明细、交期可视化支撑客户精准承诺。事务代码ZMR21用于交货计划明细查询。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本页解读A0017需求的供应商绩效闭环方案，属于二期建设内容。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核心是SRM交期绩效考核与SAP冻结/黑名单的联动，形成"考核-评估-冻结-整改-解冻"的完整闭环。顾问建议先在SRM评估再联动SAP冻结，确保业务平稳。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本页展示SRM与SAP的双系统协同架构。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核心是两个接口：交货承诺日期回传生成采购订单交货计划明细，绩效评估结果联动SAP供应商冻结。SRM侧重供应商协同和绩效考核，SAP侧重主数据治理和采购执行管控。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实施分两期推进。本期聚焦A0616交期可视化，快速解决到货时间不透明问题；二期聚焦A0017绩效闭环，实现供应商交期行为的系统化约束。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实施原则是优先标准功能、最小化定制，本期见效、二期深化。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本页总结方案的业务价值，从量化指标和管理价值两个维度呈现。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核心收益是交期全链路可视化和供应商绩效闭环，最终实现客户交期承诺准确率提升和供应链稳定性增强。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ptos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8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8.pn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8.png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8.png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954745" y="1446367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674348" y="1446367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1406268" y="1446367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2954745" y="2713569"/>
            <a:ext cx="395942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3674348" y="2713569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11406268" y="2713569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954745" y="3980771"/>
            <a:ext cx="397545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3674348" y="3980771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11406268" y="3980771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2954745" y="5247973"/>
            <a:ext cx="403957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3674348" y="5247973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1406268" y="5247973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8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6976" y="1866946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4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5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6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67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8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9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0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1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2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3" hasCustomPrompt="1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5" name="AutoShape 5"/>
          <p:cNvSpPr>
            <a:spLocks noGrp="1"/>
          </p:cNvSpPr>
          <p:nvPr>
            <p:ph type="body" sz="quarter" idx="74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 defTabSz="914400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5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6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7" hasCustomPrompt="1"/>
          </p:nvPr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lvl1pPr algn="l" defTabSz="914400">
              <a:lnSpc>
                <a:spcPct val="100000"/>
              </a:lnSpc>
              <a:defRPr sz="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Job Number-Designer-BP</a:t>
            </a:r>
          </a:p>
        </p:txBody>
      </p:sp>
      <p:sp>
        <p:nvSpPr>
          <p:cNvPr id="5" name="AutoShape 5"/>
          <p:cNvSpPr/>
          <p:nvPr/>
        </p:nvSpPr>
        <p:spPr>
          <a:xfrm>
            <a:off x="5884404" y="6391780"/>
            <a:ext cx="423193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8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9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135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2135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80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1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2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3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84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85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86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87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88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89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90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91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92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93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94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5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body" sz="quarter" idx="96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7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98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99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935" b="0" i="0" u="none" strike="noStrike" spc="0">
                <a:solidFill>
                  <a:srgbClr val="0073E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935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title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0" hasCustomPrompt="1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 defTabSz="914400">
              <a:lnSpc>
                <a:spcPct val="100000"/>
              </a:lnSpc>
              <a:defRPr sz="1335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335" b="0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1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102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Montserrat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3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Montserrat Semi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 defTabSz="914400">
              <a:lnSpc>
                <a:spcPct val="100000"/>
              </a:lnSpc>
              <a:tabLst>
                <a:tab pos="190500" algn="l"/>
              </a:tabLst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4" hasCustomPrompt="1"/>
          </p:nvPr>
        </p:nvSpPr>
        <p:spPr>
          <a:xfrm>
            <a:off x="501520" y="1557338"/>
            <a:ext cx="11183565" cy="478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marL="431800" indent="-203200" algn="l" defTabSz="914400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  <a:lvl2pPr marL="660400" indent="-203200"/>
            <a:lvl3pPr marL="889000" indent="-203200"/>
            <a:lvl4pPr marL="1117600" indent="-203200"/>
            <a:lvl5pPr marL="914400" indent="0"/>
            <a:lvl6pPr marL="711200" indent="0"/>
            <a:lvl7pPr marL="508000" indent="0"/>
            <a:lvl8pPr marL="304800" indent="0"/>
            <a:lvl9pPr marL="101600" indent="0"/>
          </a:lstStyle>
          <a:p>
            <a:pPr marL="228600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Start typing to add text without a bullet point. To add a bullet point, place the cursor at the start of this line and press tab.</a:t>
            </a:r>
          </a:p>
          <a:p>
            <a:pPr marL="457200" lvl="1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Second level</a:t>
            </a:r>
          </a:p>
          <a:p>
            <a:pPr marL="685800" lvl="2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Third level</a:t>
            </a:r>
          </a:p>
          <a:p>
            <a:pPr marL="914400" lvl="3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Fourth level</a:t>
            </a:r>
          </a:p>
          <a:p>
            <a:pPr marL="914400" lvl="4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5" hasCustomPrompt="1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Insert page title (sentence case)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P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6" hasCustomPrompt="1"/>
          </p:nvPr>
        </p:nvSpPr>
        <p:spPr>
          <a:xfrm>
            <a:off x="503869" y="3090446"/>
            <a:ext cx="11182288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lvl1pPr algn="l" defTabSz="9144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Biennale Bold"/>
                <a:ea typeface="Biennale Bold"/>
                <a:cs typeface="Biennale Bold"/>
                <a:sym typeface="Biennale Bold"/>
              </a:rPr>
              <a:t>Divider page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107"/>
          </p:nvPr>
        </p:nvSpPr>
        <p:spPr>
          <a:xfrm>
            <a:off x="40341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108"/>
          </p:nvPr>
        </p:nvSpPr>
        <p:spPr>
          <a:xfrm>
            <a:off x="403411" y="1439904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109"/>
          </p:nvPr>
        </p:nvSpPr>
        <p:spPr>
          <a:xfrm>
            <a:off x="40341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110"/>
          </p:nvPr>
        </p:nvSpPr>
        <p:spPr>
          <a:xfrm>
            <a:off x="40341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111"/>
          </p:nvPr>
        </p:nvSpPr>
        <p:spPr>
          <a:xfrm>
            <a:off x="403411" y="5651686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112"/>
          </p:nvPr>
        </p:nvSpPr>
        <p:spPr>
          <a:xfrm>
            <a:off x="40341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113"/>
          </p:nvPr>
        </p:nvSpPr>
        <p:spPr>
          <a:xfrm>
            <a:off x="170539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pic" sz="quarter" idx="114"/>
          </p:nvPr>
        </p:nvSpPr>
        <p:spPr>
          <a:xfrm>
            <a:off x="300738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pic" sz="quarter" idx="115"/>
          </p:nvPr>
        </p:nvSpPr>
        <p:spPr>
          <a:xfrm>
            <a:off x="4309375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pic" sz="quarter" idx="116"/>
          </p:nvPr>
        </p:nvSpPr>
        <p:spPr>
          <a:xfrm>
            <a:off x="5611363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pic" sz="quarter" idx="117"/>
          </p:nvPr>
        </p:nvSpPr>
        <p:spPr>
          <a:xfrm>
            <a:off x="691335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pic" sz="quarter" idx="118"/>
          </p:nvPr>
        </p:nvSpPr>
        <p:spPr>
          <a:xfrm>
            <a:off x="821533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pic" sz="quarter" idx="119"/>
          </p:nvPr>
        </p:nvSpPr>
        <p:spPr>
          <a:xfrm>
            <a:off x="951732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pic" sz="quarter" idx="120"/>
          </p:nvPr>
        </p:nvSpPr>
        <p:spPr>
          <a:xfrm>
            <a:off x="10819317" y="39039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6" name="AutoShape 16"/>
          <p:cNvSpPr>
            <a:spLocks noGrp="1"/>
          </p:cNvSpPr>
          <p:nvPr>
            <p:ph type="pic" sz="quarter" idx="121"/>
          </p:nvPr>
        </p:nvSpPr>
        <p:spPr>
          <a:xfrm>
            <a:off x="170539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pic" sz="quarter" idx="122"/>
          </p:nvPr>
        </p:nvSpPr>
        <p:spPr>
          <a:xfrm>
            <a:off x="300738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pic" sz="quarter" idx="123"/>
          </p:nvPr>
        </p:nvSpPr>
        <p:spPr>
          <a:xfrm>
            <a:off x="4309375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9" name="AutoShape 19"/>
          <p:cNvSpPr>
            <a:spLocks noGrp="1"/>
          </p:cNvSpPr>
          <p:nvPr>
            <p:ph type="pic" sz="quarter" idx="124"/>
          </p:nvPr>
        </p:nvSpPr>
        <p:spPr>
          <a:xfrm>
            <a:off x="5611363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0" name="AutoShape 20"/>
          <p:cNvSpPr>
            <a:spLocks noGrp="1"/>
          </p:cNvSpPr>
          <p:nvPr>
            <p:ph type="pic" sz="quarter" idx="125"/>
          </p:nvPr>
        </p:nvSpPr>
        <p:spPr>
          <a:xfrm>
            <a:off x="6913351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1" name="AutoShape 21"/>
          <p:cNvSpPr>
            <a:spLocks noGrp="1"/>
          </p:cNvSpPr>
          <p:nvPr>
            <p:ph type="pic" sz="quarter" idx="126"/>
          </p:nvPr>
        </p:nvSpPr>
        <p:spPr>
          <a:xfrm>
            <a:off x="821533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pic" sz="quarter" idx="127"/>
          </p:nvPr>
        </p:nvSpPr>
        <p:spPr>
          <a:xfrm>
            <a:off x="951732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3" name="AutoShape 23"/>
          <p:cNvSpPr>
            <a:spLocks noGrp="1"/>
          </p:cNvSpPr>
          <p:nvPr>
            <p:ph type="pic" sz="quarter" idx="128"/>
          </p:nvPr>
        </p:nvSpPr>
        <p:spPr>
          <a:xfrm>
            <a:off x="10819317" y="1439904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pic" sz="quarter" idx="129"/>
          </p:nvPr>
        </p:nvSpPr>
        <p:spPr>
          <a:xfrm>
            <a:off x="170539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5" name="AutoShape 25"/>
          <p:cNvSpPr>
            <a:spLocks noGrp="1"/>
          </p:cNvSpPr>
          <p:nvPr>
            <p:ph type="pic" sz="quarter" idx="130"/>
          </p:nvPr>
        </p:nvSpPr>
        <p:spPr>
          <a:xfrm>
            <a:off x="300738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6" name="AutoShape 26"/>
          <p:cNvSpPr>
            <a:spLocks noGrp="1"/>
          </p:cNvSpPr>
          <p:nvPr>
            <p:ph type="pic" sz="quarter" idx="131"/>
          </p:nvPr>
        </p:nvSpPr>
        <p:spPr>
          <a:xfrm>
            <a:off x="4309375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7" name="AutoShape 27"/>
          <p:cNvSpPr>
            <a:spLocks noGrp="1"/>
          </p:cNvSpPr>
          <p:nvPr>
            <p:ph type="pic" sz="quarter" idx="132"/>
          </p:nvPr>
        </p:nvSpPr>
        <p:spPr>
          <a:xfrm>
            <a:off x="5611363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8" name="AutoShape 28"/>
          <p:cNvSpPr>
            <a:spLocks noGrp="1"/>
          </p:cNvSpPr>
          <p:nvPr>
            <p:ph type="pic" sz="quarter" idx="133"/>
          </p:nvPr>
        </p:nvSpPr>
        <p:spPr>
          <a:xfrm>
            <a:off x="691335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9" name="AutoShape 29"/>
          <p:cNvSpPr>
            <a:spLocks noGrp="1"/>
          </p:cNvSpPr>
          <p:nvPr>
            <p:ph type="pic" sz="quarter" idx="134"/>
          </p:nvPr>
        </p:nvSpPr>
        <p:spPr>
          <a:xfrm>
            <a:off x="821533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0" name="AutoShape 30"/>
          <p:cNvSpPr>
            <a:spLocks noGrp="1"/>
          </p:cNvSpPr>
          <p:nvPr>
            <p:ph type="pic" sz="quarter" idx="135"/>
          </p:nvPr>
        </p:nvSpPr>
        <p:spPr>
          <a:xfrm>
            <a:off x="951732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1" name="AutoShape 31"/>
          <p:cNvSpPr>
            <a:spLocks noGrp="1"/>
          </p:cNvSpPr>
          <p:nvPr>
            <p:ph type="pic" sz="quarter" idx="136"/>
          </p:nvPr>
        </p:nvSpPr>
        <p:spPr>
          <a:xfrm>
            <a:off x="10819317" y="249628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2" name="AutoShape 32"/>
          <p:cNvSpPr>
            <a:spLocks noGrp="1"/>
          </p:cNvSpPr>
          <p:nvPr>
            <p:ph type="pic" sz="quarter" idx="137"/>
          </p:nvPr>
        </p:nvSpPr>
        <p:spPr>
          <a:xfrm>
            <a:off x="170539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3" name="AutoShape 33"/>
          <p:cNvSpPr>
            <a:spLocks noGrp="1"/>
          </p:cNvSpPr>
          <p:nvPr>
            <p:ph type="pic" sz="quarter" idx="138"/>
          </p:nvPr>
        </p:nvSpPr>
        <p:spPr>
          <a:xfrm>
            <a:off x="300738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4" name="AutoShape 34"/>
          <p:cNvSpPr>
            <a:spLocks noGrp="1"/>
          </p:cNvSpPr>
          <p:nvPr>
            <p:ph type="pic" sz="quarter" idx="139"/>
          </p:nvPr>
        </p:nvSpPr>
        <p:spPr>
          <a:xfrm>
            <a:off x="4309375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5" name="AutoShape 35"/>
          <p:cNvSpPr>
            <a:spLocks noGrp="1"/>
          </p:cNvSpPr>
          <p:nvPr>
            <p:ph type="pic" sz="quarter" idx="140"/>
          </p:nvPr>
        </p:nvSpPr>
        <p:spPr>
          <a:xfrm>
            <a:off x="5611363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6" name="AutoShape 36"/>
          <p:cNvSpPr>
            <a:spLocks noGrp="1"/>
          </p:cNvSpPr>
          <p:nvPr>
            <p:ph type="pic" sz="quarter" idx="141"/>
          </p:nvPr>
        </p:nvSpPr>
        <p:spPr>
          <a:xfrm>
            <a:off x="691335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7" name="AutoShape 37"/>
          <p:cNvSpPr>
            <a:spLocks noGrp="1"/>
          </p:cNvSpPr>
          <p:nvPr>
            <p:ph type="pic" sz="quarter" idx="142"/>
          </p:nvPr>
        </p:nvSpPr>
        <p:spPr>
          <a:xfrm>
            <a:off x="821533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8" name="AutoShape 38"/>
          <p:cNvSpPr>
            <a:spLocks noGrp="1"/>
          </p:cNvSpPr>
          <p:nvPr>
            <p:ph type="pic" sz="quarter" idx="143"/>
          </p:nvPr>
        </p:nvSpPr>
        <p:spPr>
          <a:xfrm>
            <a:off x="951732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9" name="AutoShape 39"/>
          <p:cNvSpPr>
            <a:spLocks noGrp="1"/>
          </p:cNvSpPr>
          <p:nvPr>
            <p:ph type="pic" sz="quarter" idx="144"/>
          </p:nvPr>
        </p:nvSpPr>
        <p:spPr>
          <a:xfrm>
            <a:off x="10819317" y="3542360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0" name="AutoShape 40"/>
          <p:cNvSpPr>
            <a:spLocks noGrp="1"/>
          </p:cNvSpPr>
          <p:nvPr>
            <p:ph type="pic" sz="quarter" idx="145"/>
          </p:nvPr>
        </p:nvSpPr>
        <p:spPr>
          <a:xfrm>
            <a:off x="170539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1" name="AutoShape 41"/>
          <p:cNvSpPr>
            <a:spLocks noGrp="1"/>
          </p:cNvSpPr>
          <p:nvPr>
            <p:ph type="pic" sz="quarter" idx="146"/>
          </p:nvPr>
        </p:nvSpPr>
        <p:spPr>
          <a:xfrm>
            <a:off x="300738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2" name="AutoShape 42"/>
          <p:cNvSpPr>
            <a:spLocks noGrp="1"/>
          </p:cNvSpPr>
          <p:nvPr>
            <p:ph type="pic" sz="quarter" idx="147"/>
          </p:nvPr>
        </p:nvSpPr>
        <p:spPr>
          <a:xfrm>
            <a:off x="4309375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3" name="AutoShape 43"/>
          <p:cNvSpPr>
            <a:spLocks noGrp="1"/>
          </p:cNvSpPr>
          <p:nvPr>
            <p:ph type="pic" sz="quarter" idx="148"/>
          </p:nvPr>
        </p:nvSpPr>
        <p:spPr>
          <a:xfrm>
            <a:off x="5611363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4" name="AutoShape 44"/>
          <p:cNvSpPr>
            <a:spLocks noGrp="1"/>
          </p:cNvSpPr>
          <p:nvPr>
            <p:ph type="pic" sz="quarter" idx="149"/>
          </p:nvPr>
        </p:nvSpPr>
        <p:spPr>
          <a:xfrm>
            <a:off x="691335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5" name="AutoShape 45"/>
          <p:cNvSpPr>
            <a:spLocks noGrp="1"/>
          </p:cNvSpPr>
          <p:nvPr>
            <p:ph type="pic" sz="quarter" idx="150"/>
          </p:nvPr>
        </p:nvSpPr>
        <p:spPr>
          <a:xfrm>
            <a:off x="821533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6" name="AutoShape 46"/>
          <p:cNvSpPr>
            <a:spLocks noGrp="1"/>
          </p:cNvSpPr>
          <p:nvPr>
            <p:ph type="pic" sz="quarter" idx="151"/>
          </p:nvPr>
        </p:nvSpPr>
        <p:spPr>
          <a:xfrm>
            <a:off x="951732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7" name="AutoShape 47"/>
          <p:cNvSpPr>
            <a:spLocks noGrp="1"/>
          </p:cNvSpPr>
          <p:nvPr>
            <p:ph type="pic" sz="quarter" idx="152"/>
          </p:nvPr>
        </p:nvSpPr>
        <p:spPr>
          <a:xfrm>
            <a:off x="10819317" y="460217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8" name="AutoShape 48"/>
          <p:cNvSpPr>
            <a:spLocks noGrp="1"/>
          </p:cNvSpPr>
          <p:nvPr>
            <p:ph type="pic" sz="quarter" idx="153"/>
          </p:nvPr>
        </p:nvSpPr>
        <p:spPr>
          <a:xfrm>
            <a:off x="170539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9" name="AutoShape 49"/>
          <p:cNvSpPr>
            <a:spLocks noGrp="1"/>
          </p:cNvSpPr>
          <p:nvPr>
            <p:ph type="pic" sz="quarter" idx="154"/>
          </p:nvPr>
        </p:nvSpPr>
        <p:spPr>
          <a:xfrm>
            <a:off x="300738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0" name="AutoShape 50"/>
          <p:cNvSpPr>
            <a:spLocks noGrp="1"/>
          </p:cNvSpPr>
          <p:nvPr>
            <p:ph type="pic" sz="quarter" idx="155"/>
          </p:nvPr>
        </p:nvSpPr>
        <p:spPr>
          <a:xfrm>
            <a:off x="4309375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1" name="AutoShape 51"/>
          <p:cNvSpPr>
            <a:spLocks noGrp="1"/>
          </p:cNvSpPr>
          <p:nvPr>
            <p:ph type="pic" sz="quarter" idx="156"/>
          </p:nvPr>
        </p:nvSpPr>
        <p:spPr>
          <a:xfrm>
            <a:off x="5611363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2" name="AutoShape 52"/>
          <p:cNvSpPr>
            <a:spLocks noGrp="1"/>
          </p:cNvSpPr>
          <p:nvPr>
            <p:ph type="pic" sz="quarter" idx="157"/>
          </p:nvPr>
        </p:nvSpPr>
        <p:spPr>
          <a:xfrm>
            <a:off x="6913351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3" name="AutoShape 53"/>
          <p:cNvSpPr>
            <a:spLocks noGrp="1"/>
          </p:cNvSpPr>
          <p:nvPr>
            <p:ph type="pic" sz="quarter" idx="158"/>
          </p:nvPr>
        </p:nvSpPr>
        <p:spPr>
          <a:xfrm>
            <a:off x="821533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4" name="AutoShape 54"/>
          <p:cNvSpPr>
            <a:spLocks noGrp="1"/>
          </p:cNvSpPr>
          <p:nvPr>
            <p:ph type="pic" sz="quarter" idx="159"/>
          </p:nvPr>
        </p:nvSpPr>
        <p:spPr>
          <a:xfrm>
            <a:off x="951732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5" name="AutoShape 55"/>
          <p:cNvSpPr>
            <a:spLocks noGrp="1"/>
          </p:cNvSpPr>
          <p:nvPr>
            <p:ph type="pic" sz="quarter" idx="160"/>
          </p:nvPr>
        </p:nvSpPr>
        <p:spPr>
          <a:xfrm>
            <a:off x="10819317" y="5651686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1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2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63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164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5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6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67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8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9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0" hasCustomPrompt="1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5" name="AutoShape 5"/>
          <p:cNvSpPr>
            <a:spLocks noGrp="1"/>
          </p:cNvSpPr>
          <p:nvPr>
            <p:ph type="body" sz="quarter" idx="171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 defTabSz="914400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72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73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4" hasCustomPrompt="1"/>
          </p:nvPr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lvl1pPr algn="l" defTabSz="914400">
              <a:lnSpc>
                <a:spcPct val="100000"/>
              </a:lnSpc>
              <a:defRPr sz="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Job Number-Designer-BP</a:t>
            </a:r>
          </a:p>
        </p:txBody>
      </p:sp>
      <p:sp>
        <p:nvSpPr>
          <p:cNvPr id="5" name="AutoShape 5"/>
          <p:cNvSpPr/>
          <p:nvPr/>
        </p:nvSpPr>
        <p:spPr>
          <a:xfrm>
            <a:off x="5884404" y="6391780"/>
            <a:ext cx="423193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75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6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135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2135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177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8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79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80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81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182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183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184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185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186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187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188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189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190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191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2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body" sz="quarter" idx="193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94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95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196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935" b="0" i="0" u="none" strike="noStrike" spc="0">
                <a:solidFill>
                  <a:srgbClr val="0073E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935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title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7" hasCustomPrompt="1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 defTabSz="914400">
              <a:lnSpc>
                <a:spcPct val="100000"/>
              </a:lnSpc>
              <a:defRPr sz="1335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335" b="0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98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199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Montserrat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00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Montserrat Semi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 defTabSz="914400">
              <a:lnSpc>
                <a:spcPct val="100000"/>
              </a:lnSpc>
              <a:tabLst>
                <a:tab pos="190500" algn="l"/>
              </a:tabLst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01" hasCustomPrompt="1"/>
          </p:nvPr>
        </p:nvSpPr>
        <p:spPr>
          <a:xfrm>
            <a:off x="501520" y="1557338"/>
            <a:ext cx="11183565" cy="478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marL="431800" indent="-203200" algn="l" defTabSz="914400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  <a:lvl2pPr marL="660400" indent="-203200"/>
            <a:lvl3pPr marL="889000" indent="-203200"/>
            <a:lvl4pPr marL="1117600" indent="-203200"/>
            <a:lvl5pPr marL="914400" indent="0"/>
            <a:lvl6pPr marL="711200" indent="0"/>
            <a:lvl7pPr marL="508000" indent="0"/>
            <a:lvl8pPr marL="304800" indent="0"/>
            <a:lvl9pPr marL="101600" indent="0"/>
          </a:lstStyle>
          <a:p>
            <a:pPr marL="228600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Start typing to add text without a bullet point. To add a bullet point, place the cursor at the start of this line and press tab.</a:t>
            </a:r>
          </a:p>
          <a:p>
            <a:pPr marL="457200" lvl="1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Second level</a:t>
            </a:r>
          </a:p>
          <a:p>
            <a:pPr marL="685800" lvl="2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Third level</a:t>
            </a:r>
          </a:p>
          <a:p>
            <a:pPr marL="914400" lvl="3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Fourth level</a:t>
            </a:r>
          </a:p>
          <a:p>
            <a:pPr marL="914400" lvl="4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02" hasCustomPrompt="1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Insert page title (sentence case)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P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03" hasCustomPrompt="1"/>
          </p:nvPr>
        </p:nvSpPr>
        <p:spPr>
          <a:xfrm>
            <a:off x="503869" y="3090446"/>
            <a:ext cx="11182288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lvl1pPr algn="l" defTabSz="9144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Biennale Bold"/>
                <a:ea typeface="Biennale Bold"/>
                <a:cs typeface="Biennale Bold"/>
                <a:sym typeface="Biennale Bold"/>
              </a:rPr>
              <a:t>Divider page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04"/>
          </p:nvPr>
        </p:nvSpPr>
        <p:spPr>
          <a:xfrm>
            <a:off x="40341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205"/>
          </p:nvPr>
        </p:nvSpPr>
        <p:spPr>
          <a:xfrm>
            <a:off x="403411" y="1439904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206"/>
          </p:nvPr>
        </p:nvSpPr>
        <p:spPr>
          <a:xfrm>
            <a:off x="40341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207"/>
          </p:nvPr>
        </p:nvSpPr>
        <p:spPr>
          <a:xfrm>
            <a:off x="40341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208"/>
          </p:nvPr>
        </p:nvSpPr>
        <p:spPr>
          <a:xfrm>
            <a:off x="403411" y="5651686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209"/>
          </p:nvPr>
        </p:nvSpPr>
        <p:spPr>
          <a:xfrm>
            <a:off x="40341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210"/>
          </p:nvPr>
        </p:nvSpPr>
        <p:spPr>
          <a:xfrm>
            <a:off x="170539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pic" sz="quarter" idx="211"/>
          </p:nvPr>
        </p:nvSpPr>
        <p:spPr>
          <a:xfrm>
            <a:off x="300738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pic" sz="quarter" idx="212"/>
          </p:nvPr>
        </p:nvSpPr>
        <p:spPr>
          <a:xfrm>
            <a:off x="4309375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pic" sz="quarter" idx="213"/>
          </p:nvPr>
        </p:nvSpPr>
        <p:spPr>
          <a:xfrm>
            <a:off x="5611363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pic" sz="quarter" idx="214"/>
          </p:nvPr>
        </p:nvSpPr>
        <p:spPr>
          <a:xfrm>
            <a:off x="691335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pic" sz="quarter" idx="215"/>
          </p:nvPr>
        </p:nvSpPr>
        <p:spPr>
          <a:xfrm>
            <a:off x="821533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pic" sz="quarter" idx="216"/>
          </p:nvPr>
        </p:nvSpPr>
        <p:spPr>
          <a:xfrm>
            <a:off x="951732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pic" sz="quarter" idx="217"/>
          </p:nvPr>
        </p:nvSpPr>
        <p:spPr>
          <a:xfrm>
            <a:off x="10819317" y="39039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6" name="AutoShape 16"/>
          <p:cNvSpPr>
            <a:spLocks noGrp="1"/>
          </p:cNvSpPr>
          <p:nvPr>
            <p:ph type="pic" sz="quarter" idx="218"/>
          </p:nvPr>
        </p:nvSpPr>
        <p:spPr>
          <a:xfrm>
            <a:off x="170539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pic" sz="quarter" idx="219"/>
          </p:nvPr>
        </p:nvSpPr>
        <p:spPr>
          <a:xfrm>
            <a:off x="300738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pic" sz="quarter" idx="220"/>
          </p:nvPr>
        </p:nvSpPr>
        <p:spPr>
          <a:xfrm>
            <a:off x="4309375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9" name="AutoShape 19"/>
          <p:cNvSpPr>
            <a:spLocks noGrp="1"/>
          </p:cNvSpPr>
          <p:nvPr>
            <p:ph type="pic" sz="quarter" idx="221"/>
          </p:nvPr>
        </p:nvSpPr>
        <p:spPr>
          <a:xfrm>
            <a:off x="5611363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0" name="AutoShape 20"/>
          <p:cNvSpPr>
            <a:spLocks noGrp="1"/>
          </p:cNvSpPr>
          <p:nvPr>
            <p:ph type="pic" sz="quarter" idx="222"/>
          </p:nvPr>
        </p:nvSpPr>
        <p:spPr>
          <a:xfrm>
            <a:off x="6913351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1" name="AutoShape 21"/>
          <p:cNvSpPr>
            <a:spLocks noGrp="1"/>
          </p:cNvSpPr>
          <p:nvPr>
            <p:ph type="pic" sz="quarter" idx="223"/>
          </p:nvPr>
        </p:nvSpPr>
        <p:spPr>
          <a:xfrm>
            <a:off x="821533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pic" sz="quarter" idx="224"/>
          </p:nvPr>
        </p:nvSpPr>
        <p:spPr>
          <a:xfrm>
            <a:off x="951732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3" name="AutoShape 23"/>
          <p:cNvSpPr>
            <a:spLocks noGrp="1"/>
          </p:cNvSpPr>
          <p:nvPr>
            <p:ph type="pic" sz="quarter" idx="225"/>
          </p:nvPr>
        </p:nvSpPr>
        <p:spPr>
          <a:xfrm>
            <a:off x="10819317" y="1439904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pic" sz="quarter" idx="226"/>
          </p:nvPr>
        </p:nvSpPr>
        <p:spPr>
          <a:xfrm>
            <a:off x="170539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5" name="AutoShape 25"/>
          <p:cNvSpPr>
            <a:spLocks noGrp="1"/>
          </p:cNvSpPr>
          <p:nvPr>
            <p:ph type="pic" sz="quarter" idx="227"/>
          </p:nvPr>
        </p:nvSpPr>
        <p:spPr>
          <a:xfrm>
            <a:off x="300738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6" name="AutoShape 26"/>
          <p:cNvSpPr>
            <a:spLocks noGrp="1"/>
          </p:cNvSpPr>
          <p:nvPr>
            <p:ph type="pic" sz="quarter" idx="228"/>
          </p:nvPr>
        </p:nvSpPr>
        <p:spPr>
          <a:xfrm>
            <a:off x="4309375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7" name="AutoShape 27"/>
          <p:cNvSpPr>
            <a:spLocks noGrp="1"/>
          </p:cNvSpPr>
          <p:nvPr>
            <p:ph type="pic" sz="quarter" idx="229"/>
          </p:nvPr>
        </p:nvSpPr>
        <p:spPr>
          <a:xfrm>
            <a:off x="5611363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8" name="AutoShape 28"/>
          <p:cNvSpPr>
            <a:spLocks noGrp="1"/>
          </p:cNvSpPr>
          <p:nvPr>
            <p:ph type="pic" sz="quarter" idx="230"/>
          </p:nvPr>
        </p:nvSpPr>
        <p:spPr>
          <a:xfrm>
            <a:off x="691335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9" name="AutoShape 29"/>
          <p:cNvSpPr>
            <a:spLocks noGrp="1"/>
          </p:cNvSpPr>
          <p:nvPr>
            <p:ph type="pic" sz="quarter" idx="231"/>
          </p:nvPr>
        </p:nvSpPr>
        <p:spPr>
          <a:xfrm>
            <a:off x="821533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0" name="AutoShape 30"/>
          <p:cNvSpPr>
            <a:spLocks noGrp="1"/>
          </p:cNvSpPr>
          <p:nvPr>
            <p:ph type="pic" sz="quarter" idx="232"/>
          </p:nvPr>
        </p:nvSpPr>
        <p:spPr>
          <a:xfrm>
            <a:off x="951732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1" name="AutoShape 31"/>
          <p:cNvSpPr>
            <a:spLocks noGrp="1"/>
          </p:cNvSpPr>
          <p:nvPr>
            <p:ph type="pic" sz="quarter" idx="233"/>
          </p:nvPr>
        </p:nvSpPr>
        <p:spPr>
          <a:xfrm>
            <a:off x="10819317" y="249628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2" name="AutoShape 32"/>
          <p:cNvSpPr>
            <a:spLocks noGrp="1"/>
          </p:cNvSpPr>
          <p:nvPr>
            <p:ph type="pic" sz="quarter" idx="234"/>
          </p:nvPr>
        </p:nvSpPr>
        <p:spPr>
          <a:xfrm>
            <a:off x="170539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3" name="AutoShape 33"/>
          <p:cNvSpPr>
            <a:spLocks noGrp="1"/>
          </p:cNvSpPr>
          <p:nvPr>
            <p:ph type="pic" sz="quarter" idx="235"/>
          </p:nvPr>
        </p:nvSpPr>
        <p:spPr>
          <a:xfrm>
            <a:off x="300738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4" name="AutoShape 34"/>
          <p:cNvSpPr>
            <a:spLocks noGrp="1"/>
          </p:cNvSpPr>
          <p:nvPr>
            <p:ph type="pic" sz="quarter" idx="236"/>
          </p:nvPr>
        </p:nvSpPr>
        <p:spPr>
          <a:xfrm>
            <a:off x="4309375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5" name="AutoShape 35"/>
          <p:cNvSpPr>
            <a:spLocks noGrp="1"/>
          </p:cNvSpPr>
          <p:nvPr>
            <p:ph type="pic" sz="quarter" idx="237"/>
          </p:nvPr>
        </p:nvSpPr>
        <p:spPr>
          <a:xfrm>
            <a:off x="5611363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6" name="AutoShape 36"/>
          <p:cNvSpPr>
            <a:spLocks noGrp="1"/>
          </p:cNvSpPr>
          <p:nvPr>
            <p:ph type="pic" sz="quarter" idx="238"/>
          </p:nvPr>
        </p:nvSpPr>
        <p:spPr>
          <a:xfrm>
            <a:off x="691335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7" name="AutoShape 37"/>
          <p:cNvSpPr>
            <a:spLocks noGrp="1"/>
          </p:cNvSpPr>
          <p:nvPr>
            <p:ph type="pic" sz="quarter" idx="239"/>
          </p:nvPr>
        </p:nvSpPr>
        <p:spPr>
          <a:xfrm>
            <a:off x="821533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8" name="AutoShape 38"/>
          <p:cNvSpPr>
            <a:spLocks noGrp="1"/>
          </p:cNvSpPr>
          <p:nvPr>
            <p:ph type="pic" sz="quarter" idx="240"/>
          </p:nvPr>
        </p:nvSpPr>
        <p:spPr>
          <a:xfrm>
            <a:off x="951732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9" name="AutoShape 39"/>
          <p:cNvSpPr>
            <a:spLocks noGrp="1"/>
          </p:cNvSpPr>
          <p:nvPr>
            <p:ph type="pic" sz="quarter" idx="241"/>
          </p:nvPr>
        </p:nvSpPr>
        <p:spPr>
          <a:xfrm>
            <a:off x="10819317" y="3542360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0" name="AutoShape 40"/>
          <p:cNvSpPr>
            <a:spLocks noGrp="1"/>
          </p:cNvSpPr>
          <p:nvPr>
            <p:ph type="pic" sz="quarter" idx="242"/>
          </p:nvPr>
        </p:nvSpPr>
        <p:spPr>
          <a:xfrm>
            <a:off x="170539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1" name="AutoShape 41"/>
          <p:cNvSpPr>
            <a:spLocks noGrp="1"/>
          </p:cNvSpPr>
          <p:nvPr>
            <p:ph type="pic" sz="quarter" idx="243"/>
          </p:nvPr>
        </p:nvSpPr>
        <p:spPr>
          <a:xfrm>
            <a:off x="300738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2" name="AutoShape 42"/>
          <p:cNvSpPr>
            <a:spLocks noGrp="1"/>
          </p:cNvSpPr>
          <p:nvPr>
            <p:ph type="pic" sz="quarter" idx="244"/>
          </p:nvPr>
        </p:nvSpPr>
        <p:spPr>
          <a:xfrm>
            <a:off x="4309375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3" name="AutoShape 43"/>
          <p:cNvSpPr>
            <a:spLocks noGrp="1"/>
          </p:cNvSpPr>
          <p:nvPr>
            <p:ph type="pic" sz="quarter" idx="245"/>
          </p:nvPr>
        </p:nvSpPr>
        <p:spPr>
          <a:xfrm>
            <a:off x="5611363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4" name="AutoShape 44"/>
          <p:cNvSpPr>
            <a:spLocks noGrp="1"/>
          </p:cNvSpPr>
          <p:nvPr>
            <p:ph type="pic" sz="quarter" idx="246"/>
          </p:nvPr>
        </p:nvSpPr>
        <p:spPr>
          <a:xfrm>
            <a:off x="691335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5" name="AutoShape 45"/>
          <p:cNvSpPr>
            <a:spLocks noGrp="1"/>
          </p:cNvSpPr>
          <p:nvPr>
            <p:ph type="pic" sz="quarter" idx="247"/>
          </p:nvPr>
        </p:nvSpPr>
        <p:spPr>
          <a:xfrm>
            <a:off x="821533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6" name="AutoShape 46"/>
          <p:cNvSpPr>
            <a:spLocks noGrp="1"/>
          </p:cNvSpPr>
          <p:nvPr>
            <p:ph type="pic" sz="quarter" idx="248"/>
          </p:nvPr>
        </p:nvSpPr>
        <p:spPr>
          <a:xfrm>
            <a:off x="951732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7" name="AutoShape 47"/>
          <p:cNvSpPr>
            <a:spLocks noGrp="1"/>
          </p:cNvSpPr>
          <p:nvPr>
            <p:ph type="pic" sz="quarter" idx="249"/>
          </p:nvPr>
        </p:nvSpPr>
        <p:spPr>
          <a:xfrm>
            <a:off x="10819317" y="460217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8" name="AutoShape 48"/>
          <p:cNvSpPr>
            <a:spLocks noGrp="1"/>
          </p:cNvSpPr>
          <p:nvPr>
            <p:ph type="pic" sz="quarter" idx="250"/>
          </p:nvPr>
        </p:nvSpPr>
        <p:spPr>
          <a:xfrm>
            <a:off x="170539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9" name="AutoShape 49"/>
          <p:cNvSpPr>
            <a:spLocks noGrp="1"/>
          </p:cNvSpPr>
          <p:nvPr>
            <p:ph type="pic" sz="quarter" idx="251"/>
          </p:nvPr>
        </p:nvSpPr>
        <p:spPr>
          <a:xfrm>
            <a:off x="300738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0" name="AutoShape 50"/>
          <p:cNvSpPr>
            <a:spLocks noGrp="1"/>
          </p:cNvSpPr>
          <p:nvPr>
            <p:ph type="pic" sz="quarter" idx="252"/>
          </p:nvPr>
        </p:nvSpPr>
        <p:spPr>
          <a:xfrm>
            <a:off x="4309375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1" name="AutoShape 51"/>
          <p:cNvSpPr>
            <a:spLocks noGrp="1"/>
          </p:cNvSpPr>
          <p:nvPr>
            <p:ph type="pic" sz="quarter" idx="253"/>
          </p:nvPr>
        </p:nvSpPr>
        <p:spPr>
          <a:xfrm>
            <a:off x="5611363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2" name="AutoShape 52"/>
          <p:cNvSpPr>
            <a:spLocks noGrp="1"/>
          </p:cNvSpPr>
          <p:nvPr>
            <p:ph type="pic" sz="quarter" idx="254"/>
          </p:nvPr>
        </p:nvSpPr>
        <p:spPr>
          <a:xfrm>
            <a:off x="6913351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3" name="AutoShape 53"/>
          <p:cNvSpPr>
            <a:spLocks noGrp="1"/>
          </p:cNvSpPr>
          <p:nvPr>
            <p:ph type="pic" sz="quarter" idx="255"/>
          </p:nvPr>
        </p:nvSpPr>
        <p:spPr>
          <a:xfrm>
            <a:off x="821533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4" name="AutoShape 54"/>
          <p:cNvSpPr>
            <a:spLocks noGrp="1"/>
          </p:cNvSpPr>
          <p:nvPr>
            <p:ph type="pic" sz="quarter" idx="256"/>
          </p:nvPr>
        </p:nvSpPr>
        <p:spPr>
          <a:xfrm>
            <a:off x="951732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5" name="AutoShape 55"/>
          <p:cNvSpPr>
            <a:spLocks noGrp="1"/>
          </p:cNvSpPr>
          <p:nvPr>
            <p:ph type="pic" sz="quarter" idx="257"/>
          </p:nvPr>
        </p:nvSpPr>
        <p:spPr>
          <a:xfrm>
            <a:off x="10819317" y="5651686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58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59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60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261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62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3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64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65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6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67" hasCustomPrompt="1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5" name="AutoShape 5"/>
          <p:cNvSpPr>
            <a:spLocks noGrp="1"/>
          </p:cNvSpPr>
          <p:nvPr>
            <p:ph type="body" sz="quarter" idx="268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69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0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299543"/>
            <a:ext cx="3383281" cy="615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1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72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135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2135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73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74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75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76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77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278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279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280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281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282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283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284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285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286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7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88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body" sz="quarter" idx="289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90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91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292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935" b="0" i="0" u="none" strike="noStrike" spc="0">
                <a:solidFill>
                  <a:srgbClr val="0073E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935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title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93" hasCustomPrompt="1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defRPr sz="1335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335" b="0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94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295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Montserrat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6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Montserrat Semi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97" hasCustomPrompt="1"/>
          </p:nvPr>
        </p:nvSpPr>
        <p:spPr>
          <a:xfrm>
            <a:off x="501520" y="1557338"/>
            <a:ext cx="11183565" cy="478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marL="431800" indent="-203200"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  <a:lvl2pPr marL="660400" indent="-203200"/>
            <a:lvl3pPr marL="889000" indent="-203200"/>
            <a:lvl4pPr marL="1117600" indent="-203200"/>
            <a:lvl5pPr marL="914400" indent="0"/>
            <a:lvl6pPr marL="711200" indent="0"/>
            <a:lvl7pPr marL="508000" indent="0"/>
            <a:lvl8pPr marL="304800" indent="0"/>
            <a:lvl9pPr marL="101600" indent="0"/>
          </a:lstStyle>
          <a:p>
            <a:pPr marL="228600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Start typing to add text without a bullet point. To add a bullet point, place the cursor at the start of this line and press tab.</a:t>
            </a:r>
          </a:p>
          <a:p>
            <a:pPr marL="457200" lvl="1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Second level</a:t>
            </a:r>
          </a:p>
          <a:p>
            <a:pPr marL="685800" lvl="2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Third level</a:t>
            </a:r>
          </a:p>
          <a:p>
            <a:pPr marL="914400" lvl="3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Fourth level</a:t>
            </a:r>
          </a:p>
          <a:p>
            <a:pPr marL="914400" lvl="4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98" hasCustomPrompt="1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Insert page title (sentence case)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P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99" hasCustomPrompt="1"/>
          </p:nvPr>
        </p:nvSpPr>
        <p:spPr>
          <a:xfrm>
            <a:off x="503869" y="3090446"/>
            <a:ext cx="11182288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Biennale Bold"/>
                <a:ea typeface="Biennale Bold"/>
                <a:cs typeface="Biennale Bold"/>
                <a:sym typeface="Biennale Bold"/>
              </a:rPr>
              <a:t>Divider page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300"/>
          </p:nvPr>
        </p:nvSpPr>
        <p:spPr>
          <a:xfrm>
            <a:off x="40341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301"/>
          </p:nvPr>
        </p:nvSpPr>
        <p:spPr>
          <a:xfrm>
            <a:off x="403411" y="1439904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302"/>
          </p:nvPr>
        </p:nvSpPr>
        <p:spPr>
          <a:xfrm>
            <a:off x="40341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303"/>
          </p:nvPr>
        </p:nvSpPr>
        <p:spPr>
          <a:xfrm>
            <a:off x="40341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304"/>
          </p:nvPr>
        </p:nvSpPr>
        <p:spPr>
          <a:xfrm>
            <a:off x="403411" y="5651686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305"/>
          </p:nvPr>
        </p:nvSpPr>
        <p:spPr>
          <a:xfrm>
            <a:off x="40341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306"/>
          </p:nvPr>
        </p:nvSpPr>
        <p:spPr>
          <a:xfrm>
            <a:off x="170539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pic" sz="quarter" idx="307"/>
          </p:nvPr>
        </p:nvSpPr>
        <p:spPr>
          <a:xfrm>
            <a:off x="300738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pic" sz="quarter" idx="308"/>
          </p:nvPr>
        </p:nvSpPr>
        <p:spPr>
          <a:xfrm>
            <a:off x="4309375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pic" sz="quarter" idx="309"/>
          </p:nvPr>
        </p:nvSpPr>
        <p:spPr>
          <a:xfrm>
            <a:off x="5611363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pic" sz="quarter" idx="310"/>
          </p:nvPr>
        </p:nvSpPr>
        <p:spPr>
          <a:xfrm>
            <a:off x="691335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pic" sz="quarter" idx="311"/>
          </p:nvPr>
        </p:nvSpPr>
        <p:spPr>
          <a:xfrm>
            <a:off x="821533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pic" sz="quarter" idx="312"/>
          </p:nvPr>
        </p:nvSpPr>
        <p:spPr>
          <a:xfrm>
            <a:off x="951732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pic" sz="quarter" idx="313"/>
          </p:nvPr>
        </p:nvSpPr>
        <p:spPr>
          <a:xfrm>
            <a:off x="10819317" y="39039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6" name="AutoShape 16"/>
          <p:cNvSpPr>
            <a:spLocks noGrp="1"/>
          </p:cNvSpPr>
          <p:nvPr>
            <p:ph type="pic" sz="quarter" idx="314"/>
          </p:nvPr>
        </p:nvSpPr>
        <p:spPr>
          <a:xfrm>
            <a:off x="170539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pic" sz="quarter" idx="315"/>
          </p:nvPr>
        </p:nvSpPr>
        <p:spPr>
          <a:xfrm>
            <a:off x="300738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pic" sz="quarter" idx="316"/>
          </p:nvPr>
        </p:nvSpPr>
        <p:spPr>
          <a:xfrm>
            <a:off x="4309375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9" name="AutoShape 19"/>
          <p:cNvSpPr>
            <a:spLocks noGrp="1"/>
          </p:cNvSpPr>
          <p:nvPr>
            <p:ph type="pic" sz="quarter" idx="317"/>
          </p:nvPr>
        </p:nvSpPr>
        <p:spPr>
          <a:xfrm>
            <a:off x="5611363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0" name="AutoShape 20"/>
          <p:cNvSpPr>
            <a:spLocks noGrp="1"/>
          </p:cNvSpPr>
          <p:nvPr>
            <p:ph type="pic" sz="quarter" idx="318"/>
          </p:nvPr>
        </p:nvSpPr>
        <p:spPr>
          <a:xfrm>
            <a:off x="6913351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1" name="AutoShape 21"/>
          <p:cNvSpPr>
            <a:spLocks noGrp="1"/>
          </p:cNvSpPr>
          <p:nvPr>
            <p:ph type="pic" sz="quarter" idx="319"/>
          </p:nvPr>
        </p:nvSpPr>
        <p:spPr>
          <a:xfrm>
            <a:off x="821533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pic" sz="quarter" idx="320"/>
          </p:nvPr>
        </p:nvSpPr>
        <p:spPr>
          <a:xfrm>
            <a:off x="951732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3" name="AutoShape 23"/>
          <p:cNvSpPr>
            <a:spLocks noGrp="1"/>
          </p:cNvSpPr>
          <p:nvPr>
            <p:ph type="pic" sz="quarter" idx="321"/>
          </p:nvPr>
        </p:nvSpPr>
        <p:spPr>
          <a:xfrm>
            <a:off x="10819317" y="1439904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pic" sz="quarter" idx="322"/>
          </p:nvPr>
        </p:nvSpPr>
        <p:spPr>
          <a:xfrm>
            <a:off x="170539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5" name="AutoShape 25"/>
          <p:cNvSpPr>
            <a:spLocks noGrp="1"/>
          </p:cNvSpPr>
          <p:nvPr>
            <p:ph type="pic" sz="quarter" idx="323"/>
          </p:nvPr>
        </p:nvSpPr>
        <p:spPr>
          <a:xfrm>
            <a:off x="300738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6" name="AutoShape 26"/>
          <p:cNvSpPr>
            <a:spLocks noGrp="1"/>
          </p:cNvSpPr>
          <p:nvPr>
            <p:ph type="pic" sz="quarter" idx="324"/>
          </p:nvPr>
        </p:nvSpPr>
        <p:spPr>
          <a:xfrm>
            <a:off x="4309375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7" name="AutoShape 27"/>
          <p:cNvSpPr>
            <a:spLocks noGrp="1"/>
          </p:cNvSpPr>
          <p:nvPr>
            <p:ph type="pic" sz="quarter" idx="325"/>
          </p:nvPr>
        </p:nvSpPr>
        <p:spPr>
          <a:xfrm>
            <a:off x="5611363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8" name="AutoShape 28"/>
          <p:cNvSpPr>
            <a:spLocks noGrp="1"/>
          </p:cNvSpPr>
          <p:nvPr>
            <p:ph type="pic" sz="quarter" idx="326"/>
          </p:nvPr>
        </p:nvSpPr>
        <p:spPr>
          <a:xfrm>
            <a:off x="691335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9" name="AutoShape 29"/>
          <p:cNvSpPr>
            <a:spLocks noGrp="1"/>
          </p:cNvSpPr>
          <p:nvPr>
            <p:ph type="pic" sz="quarter" idx="327"/>
          </p:nvPr>
        </p:nvSpPr>
        <p:spPr>
          <a:xfrm>
            <a:off x="821533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0" name="AutoShape 30"/>
          <p:cNvSpPr>
            <a:spLocks noGrp="1"/>
          </p:cNvSpPr>
          <p:nvPr>
            <p:ph type="pic" sz="quarter" idx="328"/>
          </p:nvPr>
        </p:nvSpPr>
        <p:spPr>
          <a:xfrm>
            <a:off x="951732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1" name="AutoShape 31"/>
          <p:cNvSpPr>
            <a:spLocks noGrp="1"/>
          </p:cNvSpPr>
          <p:nvPr>
            <p:ph type="pic" sz="quarter" idx="329"/>
          </p:nvPr>
        </p:nvSpPr>
        <p:spPr>
          <a:xfrm>
            <a:off x="10819317" y="249628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2" name="AutoShape 32"/>
          <p:cNvSpPr>
            <a:spLocks noGrp="1"/>
          </p:cNvSpPr>
          <p:nvPr>
            <p:ph type="pic" sz="quarter" idx="330"/>
          </p:nvPr>
        </p:nvSpPr>
        <p:spPr>
          <a:xfrm>
            <a:off x="170539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3" name="AutoShape 33"/>
          <p:cNvSpPr>
            <a:spLocks noGrp="1"/>
          </p:cNvSpPr>
          <p:nvPr>
            <p:ph type="pic" sz="quarter" idx="331"/>
          </p:nvPr>
        </p:nvSpPr>
        <p:spPr>
          <a:xfrm>
            <a:off x="300738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4" name="AutoShape 34"/>
          <p:cNvSpPr>
            <a:spLocks noGrp="1"/>
          </p:cNvSpPr>
          <p:nvPr>
            <p:ph type="pic" sz="quarter" idx="332"/>
          </p:nvPr>
        </p:nvSpPr>
        <p:spPr>
          <a:xfrm>
            <a:off x="4309375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5" name="AutoShape 35"/>
          <p:cNvSpPr>
            <a:spLocks noGrp="1"/>
          </p:cNvSpPr>
          <p:nvPr>
            <p:ph type="pic" sz="quarter" idx="333"/>
          </p:nvPr>
        </p:nvSpPr>
        <p:spPr>
          <a:xfrm>
            <a:off x="5611363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6" name="AutoShape 36"/>
          <p:cNvSpPr>
            <a:spLocks noGrp="1"/>
          </p:cNvSpPr>
          <p:nvPr>
            <p:ph type="pic" sz="quarter" idx="334"/>
          </p:nvPr>
        </p:nvSpPr>
        <p:spPr>
          <a:xfrm>
            <a:off x="691335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7" name="AutoShape 37"/>
          <p:cNvSpPr>
            <a:spLocks noGrp="1"/>
          </p:cNvSpPr>
          <p:nvPr>
            <p:ph type="pic" sz="quarter" idx="335"/>
          </p:nvPr>
        </p:nvSpPr>
        <p:spPr>
          <a:xfrm>
            <a:off x="821533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8" name="AutoShape 38"/>
          <p:cNvSpPr>
            <a:spLocks noGrp="1"/>
          </p:cNvSpPr>
          <p:nvPr>
            <p:ph type="pic" sz="quarter" idx="336"/>
          </p:nvPr>
        </p:nvSpPr>
        <p:spPr>
          <a:xfrm>
            <a:off x="951732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9" name="AutoShape 39"/>
          <p:cNvSpPr>
            <a:spLocks noGrp="1"/>
          </p:cNvSpPr>
          <p:nvPr>
            <p:ph type="pic" sz="quarter" idx="337"/>
          </p:nvPr>
        </p:nvSpPr>
        <p:spPr>
          <a:xfrm>
            <a:off x="10819317" y="3542360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0" name="AutoShape 40"/>
          <p:cNvSpPr>
            <a:spLocks noGrp="1"/>
          </p:cNvSpPr>
          <p:nvPr>
            <p:ph type="pic" sz="quarter" idx="338"/>
          </p:nvPr>
        </p:nvSpPr>
        <p:spPr>
          <a:xfrm>
            <a:off x="170539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1" name="AutoShape 41"/>
          <p:cNvSpPr>
            <a:spLocks noGrp="1"/>
          </p:cNvSpPr>
          <p:nvPr>
            <p:ph type="pic" sz="quarter" idx="339"/>
          </p:nvPr>
        </p:nvSpPr>
        <p:spPr>
          <a:xfrm>
            <a:off x="300738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2" name="AutoShape 42"/>
          <p:cNvSpPr>
            <a:spLocks noGrp="1"/>
          </p:cNvSpPr>
          <p:nvPr>
            <p:ph type="pic" sz="quarter" idx="340"/>
          </p:nvPr>
        </p:nvSpPr>
        <p:spPr>
          <a:xfrm>
            <a:off x="4309375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3" name="AutoShape 43"/>
          <p:cNvSpPr>
            <a:spLocks noGrp="1"/>
          </p:cNvSpPr>
          <p:nvPr>
            <p:ph type="pic" sz="quarter" idx="341"/>
          </p:nvPr>
        </p:nvSpPr>
        <p:spPr>
          <a:xfrm>
            <a:off x="5611363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4" name="AutoShape 44"/>
          <p:cNvSpPr>
            <a:spLocks noGrp="1"/>
          </p:cNvSpPr>
          <p:nvPr>
            <p:ph type="pic" sz="quarter" idx="342"/>
          </p:nvPr>
        </p:nvSpPr>
        <p:spPr>
          <a:xfrm>
            <a:off x="691335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5" name="AutoShape 45"/>
          <p:cNvSpPr>
            <a:spLocks noGrp="1"/>
          </p:cNvSpPr>
          <p:nvPr>
            <p:ph type="pic" sz="quarter" idx="343"/>
          </p:nvPr>
        </p:nvSpPr>
        <p:spPr>
          <a:xfrm>
            <a:off x="821533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6" name="AutoShape 46"/>
          <p:cNvSpPr>
            <a:spLocks noGrp="1"/>
          </p:cNvSpPr>
          <p:nvPr>
            <p:ph type="pic" sz="quarter" idx="344"/>
          </p:nvPr>
        </p:nvSpPr>
        <p:spPr>
          <a:xfrm>
            <a:off x="951732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7" name="AutoShape 47"/>
          <p:cNvSpPr>
            <a:spLocks noGrp="1"/>
          </p:cNvSpPr>
          <p:nvPr>
            <p:ph type="pic" sz="quarter" idx="345"/>
          </p:nvPr>
        </p:nvSpPr>
        <p:spPr>
          <a:xfrm>
            <a:off x="10819317" y="460217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8" name="AutoShape 48"/>
          <p:cNvSpPr>
            <a:spLocks noGrp="1"/>
          </p:cNvSpPr>
          <p:nvPr>
            <p:ph type="pic" sz="quarter" idx="346"/>
          </p:nvPr>
        </p:nvSpPr>
        <p:spPr>
          <a:xfrm>
            <a:off x="170539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9" name="AutoShape 49"/>
          <p:cNvSpPr>
            <a:spLocks noGrp="1"/>
          </p:cNvSpPr>
          <p:nvPr>
            <p:ph type="pic" sz="quarter" idx="347"/>
          </p:nvPr>
        </p:nvSpPr>
        <p:spPr>
          <a:xfrm>
            <a:off x="300738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0" name="AutoShape 50"/>
          <p:cNvSpPr>
            <a:spLocks noGrp="1"/>
          </p:cNvSpPr>
          <p:nvPr>
            <p:ph type="pic" sz="quarter" idx="348"/>
          </p:nvPr>
        </p:nvSpPr>
        <p:spPr>
          <a:xfrm>
            <a:off x="4309375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1" name="AutoShape 51"/>
          <p:cNvSpPr>
            <a:spLocks noGrp="1"/>
          </p:cNvSpPr>
          <p:nvPr>
            <p:ph type="pic" sz="quarter" idx="349"/>
          </p:nvPr>
        </p:nvSpPr>
        <p:spPr>
          <a:xfrm>
            <a:off x="5611363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2" name="AutoShape 52"/>
          <p:cNvSpPr>
            <a:spLocks noGrp="1"/>
          </p:cNvSpPr>
          <p:nvPr>
            <p:ph type="pic" sz="quarter" idx="350"/>
          </p:nvPr>
        </p:nvSpPr>
        <p:spPr>
          <a:xfrm>
            <a:off x="6913351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3" name="AutoShape 53"/>
          <p:cNvSpPr>
            <a:spLocks noGrp="1"/>
          </p:cNvSpPr>
          <p:nvPr>
            <p:ph type="pic" sz="quarter" idx="351"/>
          </p:nvPr>
        </p:nvSpPr>
        <p:spPr>
          <a:xfrm>
            <a:off x="821533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4" name="AutoShape 54"/>
          <p:cNvSpPr>
            <a:spLocks noGrp="1"/>
          </p:cNvSpPr>
          <p:nvPr>
            <p:ph type="pic" sz="quarter" idx="352"/>
          </p:nvPr>
        </p:nvSpPr>
        <p:spPr>
          <a:xfrm>
            <a:off x="951732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5" name="AutoShape 55"/>
          <p:cNvSpPr>
            <a:spLocks noGrp="1"/>
          </p:cNvSpPr>
          <p:nvPr>
            <p:ph type="pic" sz="quarter" idx="353"/>
          </p:nvPr>
        </p:nvSpPr>
        <p:spPr>
          <a:xfrm>
            <a:off x="10819317" y="5651686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4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55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56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357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8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59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60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61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2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63" hasCustomPrompt="1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5" name="AutoShape 5"/>
          <p:cNvSpPr>
            <a:spLocks noGrp="1"/>
          </p:cNvSpPr>
          <p:nvPr>
            <p:ph type="body" sz="quarter" idx="364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65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66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299543"/>
            <a:ext cx="3383281" cy="615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67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8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135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2135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369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0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71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72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73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74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75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376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377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378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379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380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381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382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383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4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body" sz="quarter" idx="385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86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87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388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935" b="0" i="0" u="none" strike="noStrike" spc="0">
                <a:solidFill>
                  <a:srgbClr val="0073E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935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title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89" hasCustomPrompt="1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defRPr sz="1335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335" b="0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90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391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Montserrat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92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Montserrat Semi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3" hasCustomPrompt="1"/>
          </p:nvPr>
        </p:nvSpPr>
        <p:spPr>
          <a:xfrm>
            <a:off x="501520" y="1557338"/>
            <a:ext cx="11183565" cy="478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marL="431800" indent="-203200"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  <a:lvl2pPr marL="660400" indent="-203200"/>
            <a:lvl3pPr marL="889000" indent="-203200"/>
            <a:lvl4pPr marL="1117600" indent="-203200"/>
            <a:lvl5pPr marL="914400" indent="0"/>
            <a:lvl6pPr marL="711200" indent="0"/>
            <a:lvl7pPr marL="508000" indent="0"/>
            <a:lvl8pPr marL="304800" indent="0"/>
            <a:lvl9pPr marL="101600" indent="0"/>
          </a:lstStyle>
          <a:p>
            <a:pPr marL="228600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Start typing to add text without a bullet point. To add a bullet point, place the cursor at the start of this line and press tab.</a:t>
            </a:r>
          </a:p>
          <a:p>
            <a:pPr marL="457200" lvl="1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Second level</a:t>
            </a:r>
          </a:p>
          <a:p>
            <a:pPr marL="685800" lvl="2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Third level</a:t>
            </a:r>
          </a:p>
          <a:p>
            <a:pPr marL="914400" lvl="3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Fourth level</a:t>
            </a:r>
          </a:p>
          <a:p>
            <a:pPr marL="914400" lvl="4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94" hasCustomPrompt="1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Insert page title (sentence case)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P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5" hasCustomPrompt="1"/>
          </p:nvPr>
        </p:nvSpPr>
        <p:spPr>
          <a:xfrm>
            <a:off x="503869" y="3090446"/>
            <a:ext cx="11182288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Biennale Bold"/>
                <a:ea typeface="Biennale Bold"/>
                <a:cs typeface="Biennale Bold"/>
                <a:sym typeface="Biennale Bold"/>
              </a:rPr>
              <a:t>Divider page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396"/>
          </p:nvPr>
        </p:nvSpPr>
        <p:spPr>
          <a:xfrm>
            <a:off x="40341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397"/>
          </p:nvPr>
        </p:nvSpPr>
        <p:spPr>
          <a:xfrm>
            <a:off x="403411" y="1439904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398"/>
          </p:nvPr>
        </p:nvSpPr>
        <p:spPr>
          <a:xfrm>
            <a:off x="40341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399"/>
          </p:nvPr>
        </p:nvSpPr>
        <p:spPr>
          <a:xfrm>
            <a:off x="40341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400"/>
          </p:nvPr>
        </p:nvSpPr>
        <p:spPr>
          <a:xfrm>
            <a:off x="403411" y="5651686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401"/>
          </p:nvPr>
        </p:nvSpPr>
        <p:spPr>
          <a:xfrm>
            <a:off x="40341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402"/>
          </p:nvPr>
        </p:nvSpPr>
        <p:spPr>
          <a:xfrm>
            <a:off x="170539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pic" sz="quarter" idx="403"/>
          </p:nvPr>
        </p:nvSpPr>
        <p:spPr>
          <a:xfrm>
            <a:off x="300738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pic" sz="quarter" idx="404"/>
          </p:nvPr>
        </p:nvSpPr>
        <p:spPr>
          <a:xfrm>
            <a:off x="4309375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pic" sz="quarter" idx="405"/>
          </p:nvPr>
        </p:nvSpPr>
        <p:spPr>
          <a:xfrm>
            <a:off x="5611363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pic" sz="quarter" idx="406"/>
          </p:nvPr>
        </p:nvSpPr>
        <p:spPr>
          <a:xfrm>
            <a:off x="691335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pic" sz="quarter" idx="407"/>
          </p:nvPr>
        </p:nvSpPr>
        <p:spPr>
          <a:xfrm>
            <a:off x="821533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pic" sz="quarter" idx="408"/>
          </p:nvPr>
        </p:nvSpPr>
        <p:spPr>
          <a:xfrm>
            <a:off x="951732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pic" sz="quarter" idx="409"/>
          </p:nvPr>
        </p:nvSpPr>
        <p:spPr>
          <a:xfrm>
            <a:off x="10819317" y="39039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6" name="AutoShape 16"/>
          <p:cNvSpPr>
            <a:spLocks noGrp="1"/>
          </p:cNvSpPr>
          <p:nvPr>
            <p:ph type="pic" sz="quarter" idx="410"/>
          </p:nvPr>
        </p:nvSpPr>
        <p:spPr>
          <a:xfrm>
            <a:off x="170539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pic" sz="quarter" idx="411"/>
          </p:nvPr>
        </p:nvSpPr>
        <p:spPr>
          <a:xfrm>
            <a:off x="300738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pic" sz="quarter" idx="412"/>
          </p:nvPr>
        </p:nvSpPr>
        <p:spPr>
          <a:xfrm>
            <a:off x="4309375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9" name="AutoShape 19"/>
          <p:cNvSpPr>
            <a:spLocks noGrp="1"/>
          </p:cNvSpPr>
          <p:nvPr>
            <p:ph type="pic" sz="quarter" idx="413"/>
          </p:nvPr>
        </p:nvSpPr>
        <p:spPr>
          <a:xfrm>
            <a:off x="5611363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0" name="AutoShape 20"/>
          <p:cNvSpPr>
            <a:spLocks noGrp="1"/>
          </p:cNvSpPr>
          <p:nvPr>
            <p:ph type="pic" sz="quarter" idx="414"/>
          </p:nvPr>
        </p:nvSpPr>
        <p:spPr>
          <a:xfrm>
            <a:off x="6913351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1" name="AutoShape 21"/>
          <p:cNvSpPr>
            <a:spLocks noGrp="1"/>
          </p:cNvSpPr>
          <p:nvPr>
            <p:ph type="pic" sz="quarter" idx="415"/>
          </p:nvPr>
        </p:nvSpPr>
        <p:spPr>
          <a:xfrm>
            <a:off x="821533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pic" sz="quarter" idx="416"/>
          </p:nvPr>
        </p:nvSpPr>
        <p:spPr>
          <a:xfrm>
            <a:off x="951732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3" name="AutoShape 23"/>
          <p:cNvSpPr>
            <a:spLocks noGrp="1"/>
          </p:cNvSpPr>
          <p:nvPr>
            <p:ph type="pic" sz="quarter" idx="417"/>
          </p:nvPr>
        </p:nvSpPr>
        <p:spPr>
          <a:xfrm>
            <a:off x="10819317" y="1439904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pic" sz="quarter" idx="418"/>
          </p:nvPr>
        </p:nvSpPr>
        <p:spPr>
          <a:xfrm>
            <a:off x="170539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5" name="AutoShape 25"/>
          <p:cNvSpPr>
            <a:spLocks noGrp="1"/>
          </p:cNvSpPr>
          <p:nvPr>
            <p:ph type="pic" sz="quarter" idx="419"/>
          </p:nvPr>
        </p:nvSpPr>
        <p:spPr>
          <a:xfrm>
            <a:off x="300738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6" name="AutoShape 26"/>
          <p:cNvSpPr>
            <a:spLocks noGrp="1"/>
          </p:cNvSpPr>
          <p:nvPr>
            <p:ph type="pic" sz="quarter" idx="420"/>
          </p:nvPr>
        </p:nvSpPr>
        <p:spPr>
          <a:xfrm>
            <a:off x="4309375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7" name="AutoShape 27"/>
          <p:cNvSpPr>
            <a:spLocks noGrp="1"/>
          </p:cNvSpPr>
          <p:nvPr>
            <p:ph type="pic" sz="quarter" idx="421"/>
          </p:nvPr>
        </p:nvSpPr>
        <p:spPr>
          <a:xfrm>
            <a:off x="5611363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8" name="AutoShape 28"/>
          <p:cNvSpPr>
            <a:spLocks noGrp="1"/>
          </p:cNvSpPr>
          <p:nvPr>
            <p:ph type="pic" sz="quarter" idx="422"/>
          </p:nvPr>
        </p:nvSpPr>
        <p:spPr>
          <a:xfrm>
            <a:off x="691335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9" name="AutoShape 29"/>
          <p:cNvSpPr>
            <a:spLocks noGrp="1"/>
          </p:cNvSpPr>
          <p:nvPr>
            <p:ph type="pic" sz="quarter" idx="423"/>
          </p:nvPr>
        </p:nvSpPr>
        <p:spPr>
          <a:xfrm>
            <a:off x="821533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0" name="AutoShape 30"/>
          <p:cNvSpPr>
            <a:spLocks noGrp="1"/>
          </p:cNvSpPr>
          <p:nvPr>
            <p:ph type="pic" sz="quarter" idx="424"/>
          </p:nvPr>
        </p:nvSpPr>
        <p:spPr>
          <a:xfrm>
            <a:off x="951732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1" name="AutoShape 31"/>
          <p:cNvSpPr>
            <a:spLocks noGrp="1"/>
          </p:cNvSpPr>
          <p:nvPr>
            <p:ph type="pic" sz="quarter" idx="425"/>
          </p:nvPr>
        </p:nvSpPr>
        <p:spPr>
          <a:xfrm>
            <a:off x="10819317" y="249628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2" name="AutoShape 32"/>
          <p:cNvSpPr>
            <a:spLocks noGrp="1"/>
          </p:cNvSpPr>
          <p:nvPr>
            <p:ph type="pic" sz="quarter" idx="426"/>
          </p:nvPr>
        </p:nvSpPr>
        <p:spPr>
          <a:xfrm>
            <a:off x="170539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3" name="AutoShape 33"/>
          <p:cNvSpPr>
            <a:spLocks noGrp="1"/>
          </p:cNvSpPr>
          <p:nvPr>
            <p:ph type="pic" sz="quarter" idx="427"/>
          </p:nvPr>
        </p:nvSpPr>
        <p:spPr>
          <a:xfrm>
            <a:off x="300738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4" name="AutoShape 34"/>
          <p:cNvSpPr>
            <a:spLocks noGrp="1"/>
          </p:cNvSpPr>
          <p:nvPr>
            <p:ph type="pic" sz="quarter" idx="428"/>
          </p:nvPr>
        </p:nvSpPr>
        <p:spPr>
          <a:xfrm>
            <a:off x="4309375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5" name="AutoShape 35"/>
          <p:cNvSpPr>
            <a:spLocks noGrp="1"/>
          </p:cNvSpPr>
          <p:nvPr>
            <p:ph type="pic" sz="quarter" idx="429"/>
          </p:nvPr>
        </p:nvSpPr>
        <p:spPr>
          <a:xfrm>
            <a:off x="5611363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6" name="AutoShape 36"/>
          <p:cNvSpPr>
            <a:spLocks noGrp="1"/>
          </p:cNvSpPr>
          <p:nvPr>
            <p:ph type="pic" sz="quarter" idx="430"/>
          </p:nvPr>
        </p:nvSpPr>
        <p:spPr>
          <a:xfrm>
            <a:off x="691335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7" name="AutoShape 37"/>
          <p:cNvSpPr>
            <a:spLocks noGrp="1"/>
          </p:cNvSpPr>
          <p:nvPr>
            <p:ph type="pic" sz="quarter" idx="431"/>
          </p:nvPr>
        </p:nvSpPr>
        <p:spPr>
          <a:xfrm>
            <a:off x="821533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8" name="AutoShape 38"/>
          <p:cNvSpPr>
            <a:spLocks noGrp="1"/>
          </p:cNvSpPr>
          <p:nvPr>
            <p:ph type="pic" sz="quarter" idx="432"/>
          </p:nvPr>
        </p:nvSpPr>
        <p:spPr>
          <a:xfrm>
            <a:off x="951732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9" name="AutoShape 39"/>
          <p:cNvSpPr>
            <a:spLocks noGrp="1"/>
          </p:cNvSpPr>
          <p:nvPr>
            <p:ph type="pic" sz="quarter" idx="433"/>
          </p:nvPr>
        </p:nvSpPr>
        <p:spPr>
          <a:xfrm>
            <a:off x="10819317" y="3542360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0" name="AutoShape 40"/>
          <p:cNvSpPr>
            <a:spLocks noGrp="1"/>
          </p:cNvSpPr>
          <p:nvPr>
            <p:ph type="pic" sz="quarter" idx="434"/>
          </p:nvPr>
        </p:nvSpPr>
        <p:spPr>
          <a:xfrm>
            <a:off x="170539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1" name="AutoShape 41"/>
          <p:cNvSpPr>
            <a:spLocks noGrp="1"/>
          </p:cNvSpPr>
          <p:nvPr>
            <p:ph type="pic" sz="quarter" idx="435"/>
          </p:nvPr>
        </p:nvSpPr>
        <p:spPr>
          <a:xfrm>
            <a:off x="300738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2" name="AutoShape 42"/>
          <p:cNvSpPr>
            <a:spLocks noGrp="1"/>
          </p:cNvSpPr>
          <p:nvPr>
            <p:ph type="pic" sz="quarter" idx="436"/>
          </p:nvPr>
        </p:nvSpPr>
        <p:spPr>
          <a:xfrm>
            <a:off x="4309375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3" name="AutoShape 43"/>
          <p:cNvSpPr>
            <a:spLocks noGrp="1"/>
          </p:cNvSpPr>
          <p:nvPr>
            <p:ph type="pic" sz="quarter" idx="437"/>
          </p:nvPr>
        </p:nvSpPr>
        <p:spPr>
          <a:xfrm>
            <a:off x="5611363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4" name="AutoShape 44"/>
          <p:cNvSpPr>
            <a:spLocks noGrp="1"/>
          </p:cNvSpPr>
          <p:nvPr>
            <p:ph type="pic" sz="quarter" idx="438"/>
          </p:nvPr>
        </p:nvSpPr>
        <p:spPr>
          <a:xfrm>
            <a:off x="691335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5" name="AutoShape 45"/>
          <p:cNvSpPr>
            <a:spLocks noGrp="1"/>
          </p:cNvSpPr>
          <p:nvPr>
            <p:ph type="pic" sz="quarter" idx="439"/>
          </p:nvPr>
        </p:nvSpPr>
        <p:spPr>
          <a:xfrm>
            <a:off x="821533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6" name="AutoShape 46"/>
          <p:cNvSpPr>
            <a:spLocks noGrp="1"/>
          </p:cNvSpPr>
          <p:nvPr>
            <p:ph type="pic" sz="quarter" idx="440"/>
          </p:nvPr>
        </p:nvSpPr>
        <p:spPr>
          <a:xfrm>
            <a:off x="951732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7" name="AutoShape 47"/>
          <p:cNvSpPr>
            <a:spLocks noGrp="1"/>
          </p:cNvSpPr>
          <p:nvPr>
            <p:ph type="pic" sz="quarter" idx="441"/>
          </p:nvPr>
        </p:nvSpPr>
        <p:spPr>
          <a:xfrm>
            <a:off x="10819317" y="460217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8" name="AutoShape 48"/>
          <p:cNvSpPr>
            <a:spLocks noGrp="1"/>
          </p:cNvSpPr>
          <p:nvPr>
            <p:ph type="pic" sz="quarter" idx="442"/>
          </p:nvPr>
        </p:nvSpPr>
        <p:spPr>
          <a:xfrm>
            <a:off x="170539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9" name="AutoShape 49"/>
          <p:cNvSpPr>
            <a:spLocks noGrp="1"/>
          </p:cNvSpPr>
          <p:nvPr>
            <p:ph type="pic" sz="quarter" idx="443"/>
          </p:nvPr>
        </p:nvSpPr>
        <p:spPr>
          <a:xfrm>
            <a:off x="300738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0" name="AutoShape 50"/>
          <p:cNvSpPr>
            <a:spLocks noGrp="1"/>
          </p:cNvSpPr>
          <p:nvPr>
            <p:ph type="pic" sz="quarter" idx="444"/>
          </p:nvPr>
        </p:nvSpPr>
        <p:spPr>
          <a:xfrm>
            <a:off x="4309375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1" name="AutoShape 51"/>
          <p:cNvSpPr>
            <a:spLocks noGrp="1"/>
          </p:cNvSpPr>
          <p:nvPr>
            <p:ph type="pic" sz="quarter" idx="445"/>
          </p:nvPr>
        </p:nvSpPr>
        <p:spPr>
          <a:xfrm>
            <a:off x="5611363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2" name="AutoShape 52"/>
          <p:cNvSpPr>
            <a:spLocks noGrp="1"/>
          </p:cNvSpPr>
          <p:nvPr>
            <p:ph type="pic" sz="quarter" idx="446"/>
          </p:nvPr>
        </p:nvSpPr>
        <p:spPr>
          <a:xfrm>
            <a:off x="6913351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3" name="AutoShape 53"/>
          <p:cNvSpPr>
            <a:spLocks noGrp="1"/>
          </p:cNvSpPr>
          <p:nvPr>
            <p:ph type="pic" sz="quarter" idx="447"/>
          </p:nvPr>
        </p:nvSpPr>
        <p:spPr>
          <a:xfrm>
            <a:off x="821533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4" name="AutoShape 54"/>
          <p:cNvSpPr>
            <a:spLocks noGrp="1"/>
          </p:cNvSpPr>
          <p:nvPr>
            <p:ph type="pic" sz="quarter" idx="448"/>
          </p:nvPr>
        </p:nvSpPr>
        <p:spPr>
          <a:xfrm>
            <a:off x="951732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5" name="AutoShape 55"/>
          <p:cNvSpPr>
            <a:spLocks noGrp="1"/>
          </p:cNvSpPr>
          <p:nvPr>
            <p:ph type="pic" sz="quarter" idx="449"/>
          </p:nvPr>
        </p:nvSpPr>
        <p:spPr>
          <a:xfrm>
            <a:off x="10819317" y="5651686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9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93.xml"/><Relationship Id="rId2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92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90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5.xml"/><Relationship Id="rId7" Type="http://schemas.openxmlformats.org/officeDocument/2006/relationships/notesSlide" Target="../notesSlides/notesSlide10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23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3037" y="6391783"/>
            <a:ext cx="835152" cy="1539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Group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23037" y="1847215"/>
            <a:ext cx="558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4800" i="0" u="none" strike="noStrike" dirty="0" err="1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供应商交期</a:t>
            </a:r>
            <a:endParaRPr lang="en-US" sz="4800" dirty="0"/>
          </a:p>
          <a:p>
            <a:pPr marL="0" indent="0" algn="l">
              <a:lnSpc>
                <a:spcPct val="108000"/>
              </a:lnSpc>
            </a:pPr>
            <a:r>
              <a:rPr lang="en-US" sz="4800" i="0" u="none" strike="noStrike" dirty="0" err="1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与供应商绩效管理</a:t>
            </a:r>
            <a:endParaRPr lang="en-US" sz="4800" i="0" u="none" strike="noStrike" dirty="0">
              <a:solidFill>
                <a:srgbClr val="0073E6"/>
              </a:solidFill>
              <a:latin typeface="Biennale Bold"/>
              <a:ea typeface="Biennale Bold"/>
              <a:cs typeface="Biennale Bold"/>
              <a:sym typeface="Biennale Bol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23037" y="5491988"/>
            <a:ext cx="3657600" cy="640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2026.08.21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107" r="106"/>
          <a:stretch>
            <a:fillRect/>
          </a:stretch>
        </p:blipFill>
        <p:spPr>
          <a:xfrm>
            <a:off x="6092952" y="0"/>
            <a:ext cx="6099048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3037" y="340614"/>
            <a:ext cx="1930400" cy="38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8" name="文本占位符 1"/>
          <p:cNvSpPr>
            <a:spLocks noGrp="1"/>
          </p:cNvSpPr>
          <p:nvPr/>
        </p:nvSpPr>
        <p:spPr>
          <a:xfrm>
            <a:off x="423068" y="4077251"/>
            <a:ext cx="5486400" cy="112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36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3200" kern="1200">
                <a:solidFill>
                  <a:srgbClr val="3DC7FF"/>
                </a:solidFill>
                <a:latin typeface="+mj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3200" kern="1200">
                <a:solidFill>
                  <a:srgbClr val="3DC7FF"/>
                </a:solidFill>
                <a:latin typeface="+mj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3200" kern="1200">
                <a:solidFill>
                  <a:srgbClr val="3DC7FF"/>
                </a:solidFill>
                <a:latin typeface="+mj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3200" kern="1200">
                <a:solidFill>
                  <a:srgbClr val="3DC7FF"/>
                </a:solidFill>
                <a:latin typeface="+mj-lt"/>
                <a:ea typeface="+mn-ea"/>
                <a:cs typeface="+mn-cs"/>
              </a:defRPr>
            </a:lvl5pPr>
            <a:lvl6pPr marL="1600200" indent="9144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业务诊断咨询及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系统升级实施项目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954745" y="1446367"/>
            <a:ext cx="310983" cy="3693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621008" y="1446530"/>
            <a:ext cx="752094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1F2937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专项方案综述</a:t>
            </a:r>
          </a:p>
        </p:txBody>
      </p:sp>
      <p:sp>
        <p:nvSpPr>
          <p:cNvPr id="7" name="AutoShape 7"/>
          <p:cNvSpPr/>
          <p:nvPr/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10950" y="2419350"/>
            <a:ext cx="355600" cy="307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06268" y="4586561"/>
            <a:ext cx="355867" cy="3077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954745" y="2412966"/>
            <a:ext cx="365760" cy="3689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621008" y="2413000"/>
            <a:ext cx="752094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1F2937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方案详解及系统实现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目录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455" y="100951"/>
            <a:ext cx="1930400" cy="38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2954745" y="3479013"/>
            <a:ext cx="365760" cy="3689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21008" y="3479165"/>
            <a:ext cx="752094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配套行动计划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901405" y="4530775"/>
            <a:ext cx="365760" cy="3689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621008" y="4530775"/>
            <a:ext cx="752121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附录：相关文档及原始数据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>
                <a:solidFill>
                  <a:srgbClr val="003366"/>
                </a:solidFill>
              </a:rP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3366"/>
                </a:solidFill>
              </a:rPr>
              <a:t>专项方案综述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428625" y="291465"/>
            <a:ext cx="11337925" cy="4997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供应商交期与供应商绩效管理：方案总览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9524" y="1078357"/>
            <a:ext cx="7582027" cy="1768475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101600" tIns="0" rIns="101600" bIns="0" rtlCol="0" anchor="ctr" anchorCtr="0"/>
          <a:lstStyle>
            <a:lvl1pPr marL="228600" indent="-114300"/>
            <a:lvl2pPr marL="685800" indent="-114300"/>
            <a:lvl3pPr marL="1143000" indent="-114300"/>
            <a:lvl4pPr marL="1600200" indent="-114300"/>
            <a:lvl5pPr marL="2057400" indent="-114300"/>
            <a:lvl6pPr marL="2514600" indent="-114300"/>
            <a:lvl7pPr marL="2971800" indent="-114300"/>
            <a:lvl8pPr marL="3429000" indent="-114300"/>
            <a:lvl9pPr marL="3886200" indent="-114300"/>
          </a:lstStyle>
          <a:p>
            <a:pPr marL="0" indent="0" algn="l">
              <a:lnSpc>
                <a:spcPct val="100000"/>
              </a:lnSpc>
              <a:defRPr/>
            </a:pPr>
            <a:endParaRPr lang="en-US" sz="10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项目目标：</a:t>
            </a:r>
            <a:endParaRPr lang="en-US" sz="1100"/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建立物料交付周期主数据治理机制，</a:t>
            </a:r>
            <a:r>
              <a:rPr lang="en-US" sz="9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交期主数据治理方案确认</a:t>
            </a: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实现交期信息</a:t>
            </a:r>
            <a:r>
              <a:rPr lang="zh-CN" alt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标准化</a:t>
            </a: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一期）</a:t>
            </a:r>
            <a:endParaRPr lang="en-US" sz="9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打通SRM交货承诺至SAP采购订单回传链路，自动生成交货计划明细。                    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一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期）</a:t>
            </a:r>
            <a:endParaRPr lang="en-US" sz="9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构建供应商交期绩效</a:t>
            </a:r>
            <a:r>
              <a:rPr lang="zh-CN" alt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考核平台，形成</a:t>
            </a: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冻结/黑名单联动机制，实现绩效约束系统化。  </a:t>
            </a:r>
            <a:r>
              <a:rPr lang="zh-CN" altLang="en-US" sz="9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9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9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二期）</a:t>
            </a:r>
            <a:endParaRPr lang="en-US" sz="900" b="1" i="0" u="none" strike="noStrik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提升客户交期承诺准确率</a:t>
            </a:r>
            <a:r>
              <a:rPr lang="zh-CN" alt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，极大降低</a:t>
            </a: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线下沟通成本，增强供应链响应能力。   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二期）</a:t>
            </a:r>
            <a:endParaRPr lang="en-US" sz="900" b="1" i="0" u="none" strike="noStrik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buClr>
                <a:srgbClr val="000000"/>
              </a:buClr>
              <a:buNone/>
            </a:pPr>
            <a:endParaRPr lang="en-US" sz="900" b="1" i="0" u="none" strike="noStrik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项目方案：</a:t>
            </a:r>
          </a:p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2.1 交期主数据治理：采购视图字段强制维护，SRM交付周期总览，多供应商差异化管理</a:t>
            </a:r>
          </a:p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2.2 交货计划协同：SRM承诺日期必填，异步接口回传SAP生成交货计划明细(ZMR21)</a:t>
            </a:r>
          </a:p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2.3 供应商绩效闭环：SRM交期准时率考核，结果联动SAP冻结/黑名单与解冻审批</a:t>
            </a:r>
          </a:p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2.4 交期可视化分析：到货时间实时查询，客户承诺辅助决策，采购驾驶舱与配额优化</a:t>
            </a:r>
          </a:p>
        </p:txBody>
      </p:sp>
      <p:sp>
        <p:nvSpPr>
          <p:cNvPr id="5" name="AutoShape 5"/>
          <p:cNvSpPr/>
          <p:nvPr/>
        </p:nvSpPr>
        <p:spPr>
          <a:xfrm>
            <a:off x="498983" y="3020314"/>
            <a:ext cx="2812542" cy="3076321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101600" tIns="63500" rIns="101600" bIns="63500" rtlCol="0" anchor="ctr">
            <a:noAutofit/>
          </a:bodyPr>
          <a:lstStyle>
            <a:lvl1pPr marL="228600" indent="-114300"/>
            <a:lvl2pPr marL="685800" indent="-114300"/>
            <a:lvl3pPr marL="1143000" indent="-114300"/>
            <a:lvl4pPr marL="1600200" indent="-114300"/>
            <a:lvl5pPr marL="2057400" indent="-114300"/>
            <a:lvl6pPr marL="2514600" indent="-114300"/>
            <a:lvl7pPr marL="2971800" indent="-114300"/>
            <a:lvl8pPr marL="3429000" indent="-114300"/>
            <a:lvl9pPr marL="3886200" indent="-114300"/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现状：</a:t>
            </a:r>
            <a:endParaRPr lang="en-US" sz="1100"/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物料主数据交付周期字段缺失或未强制维护。</a:t>
            </a: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SRM交货承诺日期未回传SAP采购订单。</a:t>
            </a: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采购与车间线下反复沟通确认到货时间。</a:t>
            </a: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客户交期承诺被动且准确性低。</a:t>
            </a: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供应商交期不回复或不准时无系统约束。</a:t>
            </a: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供应商绩效未与冻结/黑名单机制联动。</a:t>
            </a:r>
          </a:p>
          <a:p>
            <a:pPr marL="0" indent="0" algn="l">
              <a:lnSpc>
                <a:spcPct val="100000"/>
              </a:lnSpc>
            </a:pPr>
            <a:endParaRPr sz="900"/>
          </a:p>
          <a:p>
            <a:pPr marL="0"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主要差距：</a:t>
            </a: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交期主数据未形成强制治理机制。</a:t>
            </a: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SRM与SAP交期数据协同存在断点。</a:t>
            </a: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供应商绩效缺少系统抓手。</a:t>
            </a: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客户交期承诺缺少数据支撑。</a:t>
            </a: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采购执行缺少交期事前控制。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3564763" y="3009011"/>
            <a:ext cx="4522470" cy="152628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101600" tIns="0" rIns="10160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交期管理：</a:t>
            </a: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线下沟通 → 系统实时可视化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9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货源分配：</a:t>
            </a: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低价优先 → 交期+价格综合最优</a:t>
            </a:r>
          </a:p>
          <a:p>
            <a:pPr marL="0" indent="0" algn="l">
              <a:lnSpc>
                <a:spcPct val="100000"/>
              </a:lnSpc>
            </a:pPr>
            <a:r>
              <a:rPr lang="en-US" sz="9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绩效约束：</a:t>
            </a: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人工考核 → 系统自动联动冻结</a:t>
            </a:r>
          </a:p>
          <a:p>
            <a:pPr marL="0" indent="0" algn="l">
              <a:lnSpc>
                <a:spcPct val="100000"/>
              </a:lnSpc>
            </a:pPr>
            <a:r>
              <a:rPr lang="en-US" sz="9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客户承诺：</a:t>
            </a: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被动预估 → 数据驱动精准承诺</a:t>
            </a:r>
          </a:p>
        </p:txBody>
      </p:sp>
      <p:sp>
        <p:nvSpPr>
          <p:cNvPr id="7" name="AutoShape 7"/>
          <p:cNvSpPr/>
          <p:nvPr/>
        </p:nvSpPr>
        <p:spPr>
          <a:xfrm>
            <a:off x="3569081" y="4669917"/>
            <a:ext cx="4522470" cy="1426718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101600" tIns="63500" rIns="101600" bIns="6350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物料交付周期主数据强制治理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SRM交货承诺日期回传SAP接口</a:t>
            </a:r>
          </a:p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采购订单交货计划明细自动生成</a:t>
            </a:r>
          </a:p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供应商绩效考核</a:t>
            </a:r>
            <a:r>
              <a:rPr lang="zh-CN" alt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平台</a:t>
            </a: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建设</a:t>
            </a:r>
          </a:p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绩效结果联动SAP冻结/黑名单</a:t>
            </a:r>
          </a:p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交期可视化报表与采购驾驶舱</a:t>
            </a:r>
          </a:p>
        </p:txBody>
      </p:sp>
      <p:sp>
        <p:nvSpPr>
          <p:cNvPr id="8" name="AutoShape 8"/>
          <p:cNvSpPr/>
          <p:nvPr/>
        </p:nvSpPr>
        <p:spPr>
          <a:xfrm>
            <a:off x="8399907" y="1078357"/>
            <a:ext cx="3282569" cy="839978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101600" tIns="63500" rIns="101600" bIns="6350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主责：供应链中心、制造基地运营中心、采购部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配合：数智化部、质量管理部、销售部</a:t>
            </a:r>
          </a:p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外部：SAP实施团队、SRM厂商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399907" y="3620262"/>
            <a:ext cx="3282569" cy="1132967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101600" tIns="0" rIns="101600" bIns="0" rtlCol="0" anchor="ctr" anchorCtr="0"/>
          <a:lstStyle>
            <a:lvl1pPr marL="228600" indent="-114300"/>
            <a:lvl2pPr marL="685800" indent="-114300"/>
            <a:lvl3pPr marL="1143000" indent="-114300"/>
            <a:lvl4pPr marL="1600200" indent="-114300"/>
            <a:lvl5pPr marL="2057400" indent="-114300"/>
            <a:lvl6pPr marL="2514600" indent="-114300"/>
            <a:lvl7pPr marL="2971800" indent="-114300"/>
            <a:lvl8pPr marL="3429000" indent="-114300"/>
            <a:lvl9pPr marL="3886200" indent="-114300"/>
          </a:lstStyle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历史数据清洗量大→制定分批清洗计划与校验规则</a:t>
            </a:r>
            <a:endParaRPr lang="en-US" sz="1100"/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SRM接口边界需确认→提前组织双方接口评审与联调</a:t>
            </a: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绩效规则需业务确认→设立业务决策点与签字确认机制</a:t>
            </a: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关键用户需全程参与→明确UAT责任人与投入时间保障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399907" y="4963795"/>
            <a:ext cx="3282569" cy="1132967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101600" tIns="0" rIns="101600" bIns="0" rtlCol="0" anchor="ctr" anchorCtr="0"/>
          <a:lstStyle>
            <a:lvl1pPr marL="228600" indent="-114300"/>
            <a:lvl2pPr marL="685800" indent="-114300"/>
            <a:lvl3pPr marL="1143000" indent="-114300"/>
            <a:lvl4pPr marL="1600200" indent="-114300"/>
            <a:lvl5pPr marL="2057400" indent="-114300"/>
            <a:lvl6pPr marL="2514600" indent="-114300"/>
            <a:lvl7pPr marL="2971800" indent="-114300"/>
            <a:lvl8pPr marL="3429000" indent="-114300"/>
            <a:lvl9pPr marL="3886200" indent="-114300"/>
          </a:lstStyle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交期透明：在管物料到货时间100%可查询（按月统计）</a:t>
            </a:r>
            <a:endParaRPr lang="en-US" sz="1100"/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协同效率：采购-车间线下沟通量减少60%（按周抽样）</a:t>
            </a: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承诺准确：客户交期承诺准确率提升至90%（按订单统计）</a:t>
            </a:r>
          </a:p>
          <a:p>
            <a:pPr marL="114300" indent="-1143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9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绩效闭环：达标违规自动冻结率100%（按季度考核）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562086" y="4789424"/>
            <a:ext cx="2100199" cy="29298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 业务价值和数字化指标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82498" y="850011"/>
            <a:ext cx="1376680" cy="29298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 目标和范围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90753" y="2905887"/>
            <a:ext cx="1376680" cy="29298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 现状/差距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763645" y="2913888"/>
            <a:ext cx="1376680" cy="21513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 业务变革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773805" y="4535297"/>
            <a:ext cx="1376680" cy="29298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 关键任务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562086" y="900938"/>
            <a:ext cx="1039749" cy="29298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 责任部门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562086" y="3473704"/>
            <a:ext cx="1642999" cy="29298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 风险与项目依赖</a:t>
            </a:r>
            <a:endParaRPr lang="en-US" sz="1100"/>
          </a:p>
        </p:txBody>
      </p:sp>
      <p:pic>
        <p:nvPicPr>
          <p:cNvPr id="20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12827" y="6477000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pSp>
        <p:nvGrpSpPr>
          <p:cNvPr id="21" name="组合 20"/>
          <p:cNvGrpSpPr/>
          <p:nvPr/>
        </p:nvGrpSpPr>
        <p:grpSpPr>
          <a:xfrm>
            <a:off x="8399780" y="1985645"/>
            <a:ext cx="3281680" cy="1361440"/>
            <a:chOff x="13228" y="3127"/>
            <a:chExt cx="5168" cy="2144"/>
          </a:xfrm>
        </p:grpSpPr>
        <p:sp>
          <p:nvSpPr>
            <p:cNvPr id="2" name="AutoShape 15"/>
            <p:cNvSpPr/>
            <p:nvPr>
              <p:custDataLst>
                <p:tags r:id="rId1"/>
              </p:custDataLst>
            </p:nvPr>
          </p:nvSpPr>
          <p:spPr>
            <a:xfrm>
              <a:off x="13228" y="3353"/>
              <a:ext cx="5169" cy="1918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solidFill>
                <a:srgbClr val="002D61">
                  <a:alpha val="100000"/>
                </a:srgbClr>
              </a:solidFill>
              <a:prstDash val="dash"/>
              <a:miter lim="10000000"/>
            </a:ln>
          </p:spPr>
          <p:txBody>
            <a:bodyPr vert="horz" wrap="square" lIns="101600" tIns="63500" rIns="101600" bIns="63500" rtlCol="0" anchor="ctr" anchorCtr="0"/>
            <a:lstStyle/>
            <a:p>
              <a:pPr marL="0" indent="0" algn="l">
                <a:lnSpc>
                  <a:spcPct val="104000"/>
                </a:lnSpc>
              </a:pPr>
              <a:r>
                <a:rPr lang="en-US" sz="9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 </a:t>
              </a:r>
            </a:p>
          </p:txBody>
        </p:sp>
        <p:sp>
          <p:nvSpPr>
            <p:cNvPr id="22" name="AutoShape 14"/>
            <p:cNvSpPr/>
            <p:nvPr>
              <p:custDataLst>
                <p:tags r:id="rId2"/>
              </p:custDataLst>
            </p:nvPr>
          </p:nvSpPr>
          <p:spPr>
            <a:xfrm>
              <a:off x="13484" y="3127"/>
              <a:ext cx="1637" cy="461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6 里程碑</a:t>
              </a:r>
              <a:endParaRPr lang="en-US" sz="11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13666" y="4886"/>
              <a:ext cx="4278" cy="185"/>
              <a:chOff x="13666" y="4886"/>
              <a:chExt cx="4278" cy="185"/>
            </a:xfrm>
          </p:grpSpPr>
          <p:cxnSp>
            <p:nvCxnSpPr>
              <p:cNvPr id="27" name="Connector 27"/>
              <p:cNvCxnSpPr/>
              <p:nvPr/>
            </p:nvCxnSpPr>
            <p:spPr>
              <a:xfrm>
                <a:off x="13666" y="4972"/>
                <a:ext cx="4279" cy="2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25400" cap="flat" cmpd="sng">
                <a:solidFill>
                  <a:srgbClr val="003366">
                    <a:alpha val="100000"/>
                  </a:srgbClr>
                </a:solidFill>
                <a:prstDash val="solid"/>
                <a:miter lim="10000000"/>
                <a:headEnd type="none" w="med" len="med"/>
                <a:tailEnd type="triangle" w="med" len="med"/>
              </a:ln>
            </p:spPr>
          </p:cxnSp>
          <p:sp>
            <p:nvSpPr>
              <p:cNvPr id="28" name="AutoShape 28"/>
              <p:cNvSpPr/>
              <p:nvPr/>
            </p:nvSpPr>
            <p:spPr>
              <a:xfrm>
                <a:off x="14153" y="4891"/>
                <a:ext cx="163" cy="163"/>
              </a:xfrm>
              <a:prstGeom prst="ellipse">
                <a:avLst/>
              </a:prstGeom>
              <a:solidFill>
                <a:srgbClr val="0073E6">
                  <a:alpha val="100000"/>
                </a:srgbClr>
              </a:solidFill>
              <a:ln w="12700" cap="flat" cmpd="sng">
                <a:solidFill>
                  <a:srgbClr val="002D61">
                    <a:alpha val="100000"/>
                  </a:srgbClr>
                </a:solidFill>
                <a:prstDash val="solid"/>
                <a:miter lim="10000000"/>
              </a:ln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400" b="0" i="0" u="none" strike="noStrik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  <p:sp>
            <p:nvSpPr>
              <p:cNvPr id="29" name="AutoShape 29"/>
              <p:cNvSpPr/>
              <p:nvPr/>
            </p:nvSpPr>
            <p:spPr>
              <a:xfrm>
                <a:off x="15216" y="4886"/>
                <a:ext cx="163" cy="163"/>
              </a:xfrm>
              <a:prstGeom prst="ellipse">
                <a:avLst/>
              </a:prstGeom>
              <a:solidFill>
                <a:srgbClr val="0073E6">
                  <a:alpha val="100000"/>
                </a:srgbClr>
              </a:solidFill>
              <a:ln w="12700" cap="flat" cmpd="sng">
                <a:solidFill>
                  <a:srgbClr val="002D61">
                    <a:alpha val="100000"/>
                  </a:srgbClr>
                </a:solidFill>
                <a:prstDash val="solid"/>
                <a:miter lim="10000000"/>
              </a:ln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400" b="0" i="0" u="none" strike="noStrik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  <p:sp>
            <p:nvSpPr>
              <p:cNvPr id="30" name="AutoShape 30"/>
              <p:cNvSpPr/>
              <p:nvPr/>
            </p:nvSpPr>
            <p:spPr>
              <a:xfrm>
                <a:off x="17377" y="4909"/>
                <a:ext cx="163" cy="163"/>
              </a:xfrm>
              <a:prstGeom prst="ellipse">
                <a:avLst/>
              </a:prstGeom>
              <a:solidFill>
                <a:srgbClr val="0073E6">
                  <a:alpha val="100000"/>
                </a:srgbClr>
              </a:solidFill>
              <a:ln w="12700" cap="flat" cmpd="sng">
                <a:solidFill>
                  <a:srgbClr val="002D61">
                    <a:alpha val="100000"/>
                  </a:srgbClr>
                </a:solidFill>
                <a:prstDash val="solid"/>
                <a:miter lim="10000000"/>
              </a:ln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400" b="0" i="0" u="none" strike="noStrik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  <p:sp>
            <p:nvSpPr>
              <p:cNvPr id="35" name="AutoShape 35"/>
              <p:cNvSpPr/>
              <p:nvPr/>
            </p:nvSpPr>
            <p:spPr>
              <a:xfrm>
                <a:off x="16324" y="4893"/>
                <a:ext cx="163" cy="163"/>
              </a:xfrm>
              <a:prstGeom prst="ellipse">
                <a:avLst/>
              </a:prstGeom>
              <a:solidFill>
                <a:srgbClr val="0073E6">
                  <a:alpha val="100000"/>
                </a:srgbClr>
              </a:solidFill>
              <a:ln w="12700" cap="flat" cmpd="sng">
                <a:solidFill>
                  <a:srgbClr val="002D61">
                    <a:alpha val="100000"/>
                  </a:srgbClr>
                </a:solidFill>
                <a:prstDash val="solid"/>
                <a:miter lim="10000000"/>
              </a:ln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en-US" sz="1400" b="0" i="0" u="none" strike="noStrik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</p:grpSp>
        <p:sp>
          <p:nvSpPr>
            <p:cNvPr id="26" name="AutoShape 26"/>
            <p:cNvSpPr/>
            <p:nvPr/>
          </p:nvSpPr>
          <p:spPr>
            <a:xfrm>
              <a:off x="13416" y="3597"/>
              <a:ext cx="1127" cy="38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>
              <a:noAutofit/>
            </a:bodyPr>
            <a:lstStyle/>
            <a:p>
              <a:pPr marL="0" indent="0" algn="ctr">
                <a:lnSpc>
                  <a:spcPct val="104000"/>
                </a:lnSpc>
                <a:defRPr/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M1 交期主数据治理方案确认</a:t>
              </a:r>
              <a:endParaRPr lang="en-US" sz="1100"/>
            </a:p>
          </p:txBody>
        </p:sp>
        <p:sp>
          <p:nvSpPr>
            <p:cNvPr id="23" name="AutoShape 26"/>
            <p:cNvSpPr/>
            <p:nvPr/>
          </p:nvSpPr>
          <p:spPr>
            <a:xfrm>
              <a:off x="14543" y="3597"/>
              <a:ext cx="1188" cy="38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>
              <a:noAutofit/>
            </a:bodyPr>
            <a:lstStyle/>
            <a:p>
              <a:pPr marL="0" indent="0" algn="ctr">
                <a:lnSpc>
                  <a:spcPct val="104000"/>
                </a:lnSpc>
                <a:defRPr/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M2 SRM交期回传接口开发上线</a:t>
              </a:r>
              <a:endParaRPr lang="en-US" sz="1100"/>
            </a:p>
          </p:txBody>
        </p:sp>
        <p:sp>
          <p:nvSpPr>
            <p:cNvPr id="24" name="AutoShape 26"/>
            <p:cNvSpPr/>
            <p:nvPr/>
          </p:nvSpPr>
          <p:spPr>
            <a:xfrm>
              <a:off x="15740" y="3597"/>
              <a:ext cx="1215" cy="38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>
              <a:noAutofit/>
            </a:bodyPr>
            <a:lstStyle/>
            <a:p>
              <a:pPr marL="0" indent="0" algn="ctr">
                <a:lnSpc>
                  <a:spcPct val="104000"/>
                </a:lnSpc>
                <a:defRPr/>
              </a:pPr>
              <a:r>
                <a:rPr lang="en-US" sz="11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M3 供应商绩效联动机制上线</a:t>
              </a:r>
              <a:endParaRPr lang="en-US" sz="1100"/>
            </a:p>
          </p:txBody>
        </p:sp>
        <p:sp>
          <p:nvSpPr>
            <p:cNvPr id="25" name="AutoShape 26"/>
            <p:cNvSpPr/>
            <p:nvPr/>
          </p:nvSpPr>
          <p:spPr>
            <a:xfrm>
              <a:off x="16792" y="3597"/>
              <a:ext cx="1154" cy="38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>
              <a:noAutofit/>
            </a:bodyPr>
            <a:lstStyle/>
            <a:p>
              <a:pPr marL="0" indent="0" algn="ctr">
                <a:lnSpc>
                  <a:spcPct val="104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M4 交期可视化驾驶舱上线</a:t>
              </a:r>
              <a:endParaRPr lang="en-US" sz="1100"/>
            </a:p>
          </p:txBody>
        </p:sp>
      </p:grpSp>
      <p:sp>
        <p:nvSpPr>
          <p:cNvPr id="18" name="Freeform 3">
            <a:extLst>
              <a:ext uri="{FF2B5EF4-FFF2-40B4-BE49-F238E27FC236}">
                <a16:creationId xmlns:a16="http://schemas.microsoft.com/office/drawing/2014/main" id="{E81E74E5-E2CB-86D3-7E13-EAD07D60060D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291465"/>
            <a:ext cx="11337925" cy="9123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供应商交期与绩效管理</a:t>
            </a:r>
            <a:r>
              <a:rPr lang="zh-CN" altLang="en-US" sz="2800" b="1" i="0" u="none" strike="noStrike" dirty="0">
                <a:solidFill>
                  <a:srgbClr val="0073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iennale Bold"/>
                <a:sym typeface="Biennale Bold"/>
              </a:rPr>
              <a:t>核心</a:t>
            </a:r>
            <a:r>
              <a:rPr lang="en-US" sz="2800" b="1" i="0" u="none" strike="noStrike" dirty="0" err="1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痛点-</a:t>
            </a:r>
            <a:r>
              <a:rPr lang="en-US" sz="2800" b="1" dirty="0" err="1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交期不透明，绩效无抓手</a:t>
            </a:r>
            <a:endParaRPr lang="en-US" sz="2800" b="1" dirty="0">
              <a:solidFill>
                <a:srgbClr val="0073E6"/>
              </a:solidFill>
              <a:latin typeface="Biennale Bold"/>
              <a:ea typeface="Biennale Bold"/>
              <a:cs typeface="Biennale Bold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27" y="6477000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08000" y="2413000"/>
            <a:ext cx="2159000" cy="2032000"/>
          </a:xfrm>
          <a:prstGeom prst="roundRect">
            <a:avLst>
              <a:gd name="adj" fmla="val 0"/>
            </a:avLst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27000" rIns="190500" bIns="12700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交期与绩效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管控体系</a:t>
            </a:r>
          </a:p>
          <a:p>
            <a:pPr marL="0" indent="0" algn="ctr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诊断</a:t>
            </a:r>
          </a:p>
        </p:txBody>
      </p:sp>
      <p:cxnSp>
        <p:nvCxnSpPr>
          <p:cNvPr id="5" name="Connector 5"/>
          <p:cNvCxnSpPr/>
          <p:nvPr/>
        </p:nvCxnSpPr>
        <p:spPr>
          <a:xfrm rot="-4982">
            <a:off x="2921005" y="4377690"/>
            <a:ext cx="876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3048000" y="2423160"/>
            <a:ext cx="2667000" cy="292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数据维度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048000" y="2804160"/>
            <a:ext cx="2667000" cy="1397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127000" tIns="101600" rIns="127000" bIns="1016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物料主数据交付周期字段缺失或未强制维护，多供应商交期差异无法识别，影响MRP运行准确性。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SRM交货单承诺日期未回传SAP采购订单，交货计划明细无法自动生成，到货时间不可视。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032500" y="2423160"/>
            <a:ext cx="2667000" cy="292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协同维度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32500" y="2804160"/>
            <a:ext cx="2667000" cy="1397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127000" tIns="101600" rIns="127000" bIns="1016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采购与成品车间无法实时获知物料到货时间，依赖邮件/电话反复确认，生产计划频繁调整。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客户交期承诺被动且准确率低，交付不达预期引发订单流失风险，客户满意度持续下降。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017000" y="2423160"/>
            <a:ext cx="2667000" cy="292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绩效维度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017000" y="2804160"/>
            <a:ext cx="2667000" cy="1397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127000" tIns="101600" rIns="127000" bIns="1016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供应商交期不回复或不准时行为未与SAP冻结/黑名单机制联动，违规成本为零。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绩效约束缺乏系统抓手，考核结果无法自动驱动采购管控动作，供应商管理停留在人工层面。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08000" y="5842000"/>
            <a:ext cx="1117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"须从交期数据透明化与绩效闭环双维度同步治理，单点优化难以根治；需构建SRM与SAP协同的交期绩效一体化管控体系，实现数据驱动的供应商管理。"</a:t>
            </a:r>
            <a:endParaRPr lang="en-US" sz="1100"/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85A73F8C-C5E7-DECB-707B-EB62540649E3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90098" y="389618"/>
            <a:ext cx="1463040" cy="14770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5" name="AutoShape 5"/>
          <p:cNvSpPr/>
          <p:nvPr/>
        </p:nvSpPr>
        <p:spPr>
          <a:xfrm>
            <a:off x="1536700" y="1866900"/>
            <a:ext cx="7344410" cy="1245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方案详解及系统实现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291465"/>
            <a:ext cx="1133792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供应商交期可视化：从主数据到交货计划的全链路透明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28625" y="1079500"/>
            <a:ext cx="1767840" cy="382905"/>
          </a:xfrm>
          <a:prstGeom prst="roundRect">
            <a:avLst>
              <a:gd name="adj" fmla="val 0"/>
            </a:avLst>
          </a:pr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关联需求：A0616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27" y="6477000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08000" y="1651000"/>
            <a:ext cx="3556000" cy="2286000"/>
          </a:xfrm>
          <a:prstGeom prst="roundRect">
            <a:avLst>
              <a:gd name="adj" fmla="val 0"/>
            </a:avLst>
          </a:prstGeom>
          <a:solidFill>
            <a:srgbClr val="0073E6">
              <a:alpha val="5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152400" tIns="127000" rIns="152400" bIns="1270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交期主数据治理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物料主数据采购视图新增交付周期字段并设为必填，新建/扩展物料时强制校验，历史数据分批清洗补录。</a:t>
            </a:r>
          </a:p>
          <a:p>
            <a:pPr marL="0" indent="0" algn="l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同一物料多供应商时，按信息记录维度维护交付周期，支持差异化管理与配额计算。</a:t>
            </a:r>
          </a:p>
          <a:p>
            <a:pPr marL="0" indent="0" algn="l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SRM提供供应商交付周期总览表，作为采购申请转订单时的交期参考与配额依据。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4318000" y="1651000"/>
            <a:ext cx="3556000" cy="2286000"/>
          </a:xfrm>
          <a:prstGeom prst="roundRect">
            <a:avLst>
              <a:gd name="adj" fmla="val 0"/>
            </a:avLst>
          </a:prstGeom>
          <a:solidFill>
            <a:srgbClr val="0073E6">
              <a:alpha val="5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152400" tIns="127000" rIns="152400" bIns="1270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SRM交货承诺回传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SRM交货单承诺日期设为必填，供应商必须在规定时限内回复确认，超时自动升级预警通知采购。</a:t>
            </a:r>
          </a:p>
          <a:p>
            <a:pPr marL="0" indent="0" algn="l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SRM承诺日期通过异步接口（REST/IDoc）回传SAP，经BAPI_PO_CHANGE写入采购订单交货计划行。</a:t>
            </a:r>
          </a:p>
          <a:p>
            <a:pPr marL="0" indent="0" algn="l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自定义事务代码支持交货计划明细的批量查询、调整与异常监控，接口失败支持重试与</a:t>
            </a:r>
            <a:r>
              <a:rPr lang="zh-CN" alt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告警</a:t>
            </a: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8128000" y="1651000"/>
            <a:ext cx="3556000" cy="2286000"/>
          </a:xfrm>
          <a:prstGeom prst="roundRect">
            <a:avLst>
              <a:gd name="adj" fmla="val 0"/>
            </a:avLst>
          </a:prstGeom>
          <a:solidFill>
            <a:srgbClr val="0073E6">
              <a:alpha val="5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152400" tIns="127000" rIns="152400" bIns="1270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交期可视化与决策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自定义报表支持按物料/供应商批量查询交付周期与到货时间，成品车间实时获知缺料风险。</a:t>
            </a:r>
          </a:p>
          <a:p>
            <a:pPr marL="0" indent="0" algn="l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基于物料交付时间与BOM展开快速回复客户交期，销售订单可用性检查准确率提升。</a:t>
            </a:r>
          </a:p>
          <a:p>
            <a:pPr marL="0" indent="0" algn="l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采购订单分配支持按交付最快供应商自动配额，兼顾价格与交期综合最优，减少紧急采购。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508000" y="4191000"/>
            <a:ext cx="11176000" cy="1651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73E6">
                <a:alpha val="30000"/>
              </a:srgbClr>
            </a:solidFill>
            <a:prstDash val="dash"/>
            <a:round/>
          </a:ln>
        </p:spPr>
        <p:txBody>
          <a:bodyPr vert="horz" wrap="square" lIns="190500" tIns="127000" rIns="190500" bIns="1270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业务流程：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物料主数据维护交付周期（MARC） → SRM供应商确认承诺日期 → 异步接口回传SAP经BAPI_PO_CHANGE写入EKET → 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自定义报表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实时查询到货时间 → 销售ATP精准承诺客户交期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系统实现：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SAP物料主数据字段增强（ZZ/YY命名空间） + SRM交货单必填校验 + SRM→SAP异步接口（含重试/幂等/告警） +交货计划维护 +批量查询 + 配额管理差异化逻辑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顾问意见：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优先利用SAP标准配额管理实现交期因子配额，最小化定制；接口需设计幂等性与异常重试队列，避免PO已收货后日期变更；历史数据清洗建议按物料组分批推进，关键物料优先。</a:t>
            </a: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2D9B8F04-E654-4D09-4DE4-DC221DC365D5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291465"/>
            <a:ext cx="11337925" cy="4845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供应商绩效闭环：交期考核与SAP冻结/黑名单联动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28625" y="1079500"/>
            <a:ext cx="2231390" cy="316865"/>
          </a:xfrm>
          <a:prstGeom prst="roundRect">
            <a:avLst>
              <a:gd name="adj" fmla="val 0"/>
            </a:avLst>
          </a:pr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lnSpc>
                <a:spcPct val="125000"/>
              </a:lnSpc>
              <a:buSzTx/>
              <a:defRPr/>
            </a:pPr>
            <a:r>
              <a:rPr lang="en-US"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关联需求：A0017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27" y="6477000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08000" y="1651000"/>
            <a:ext cx="5334000" cy="2540000"/>
          </a:xfrm>
          <a:prstGeom prst="roundRect">
            <a:avLst>
              <a:gd name="adj" fmla="val 0"/>
            </a:avLst>
          </a:prstGeom>
          <a:solidFill>
            <a:srgbClr val="0073E6">
              <a:alpha val="5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190500" tIns="152400" rIns="190500" bIns="1524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启动SRM供应商绩效考核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纳入供应商绩效考核体系，增强绩效报表，新增交期准时率指标（准时交货数/应交货总数×100%，按月统计）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自动识别供应商交期不回复或不准时行为，记录违规次数与严重等级，连续3次违规触发预警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定期（月度/季度）生成供应商交期绩效排名，为采购配额分配与战略寻源提供数据支撑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绩效结果在SRM中评估后，低于阈值（如准时率&lt;70%）自动进入黑名单准入审批流程</a:t>
            </a:r>
          </a:p>
        </p:txBody>
      </p:sp>
      <p:sp>
        <p:nvSpPr>
          <p:cNvPr id="6" name="AutoShape 6"/>
          <p:cNvSpPr/>
          <p:nvPr/>
        </p:nvSpPr>
        <p:spPr>
          <a:xfrm>
            <a:off x="5751195" y="2667000"/>
            <a:ext cx="95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→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527800" y="1651000"/>
            <a:ext cx="5334000" cy="2540000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 w="12700" cap="flat" cmpd="sng">
            <a:solidFill>
              <a:srgbClr val="DC2626">
                <a:alpha val="40000"/>
              </a:srgbClr>
            </a:solidFill>
            <a:prstDash val="solid"/>
            <a:round/>
          </a:ln>
        </p:spPr>
        <p:txBody>
          <a:bodyPr vert="horz" wrap="square" lIns="190500" tIns="152400" rIns="190500" bIns="1524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SAP供应商冻结/黑名单联动</a:t>
            </a:r>
            <a:endParaRPr lang="en-US" sz="1400" b="1">
              <a:solidFill>
                <a:srgbClr val="0073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SRM绩效评估结果通过接口关联SAP，对不合格供应商自动触发采购组织级冻结（XK05），避免过度冻结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冻结后供应商无法创建新采购订单（ME21N增强校验），在途订单允许继续收货，实现业务硬约束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支持解冻审批流程（采购经理→供应链总监），供应商提交整改报告并达标后恢复供货资格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黑名单供应商在SAP主数据中标识（LFA1自定义字段），全集团范围共享管控，支持审计追溯</a:t>
            </a:r>
          </a:p>
        </p:txBody>
      </p:sp>
      <p:sp>
        <p:nvSpPr>
          <p:cNvPr id="8" name="AutoShape 8"/>
          <p:cNvSpPr/>
          <p:nvPr/>
        </p:nvSpPr>
        <p:spPr>
          <a:xfrm>
            <a:off x="508000" y="4445000"/>
            <a:ext cx="11353800" cy="149479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73E6">
                <a:alpha val="30000"/>
              </a:srgbClr>
            </a:solidFill>
            <a:prstDash val="dash"/>
            <a:round/>
          </a:ln>
        </p:spPr>
        <p:txBody>
          <a:bodyPr vert="horz" wrap="square" lIns="190500" tIns="127000" rIns="190500" bIns="1270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闭环流程：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SRM交期数据采集（MIGO收货日期vs承诺日期） → 月度交期准时率计算与排名 → 低于阈值自动触发黑名单评估 → 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相关负责人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审批 → 接口联动SAP采购组织级冻结 → 冻结后禁止新建PO → 供应商整改并提交报告 → 审批解冻恢复供货资格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配套优化：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供应商通知待办消息优化——订单发出后自动推送SRM待办与邮件提醒供应商确认交期，超时24小时未回复自动升级至采购专员，超时72小时升级至采购经理，减少交期不回复现象。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顾问意见：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议先在SRM绩效考核中评估后决定是否进入黑名单，再关联SAP做采购组织级冻结，避免直接冻结影响在途业务；冻结粒度建议按采购组织而非全集团，保留其他基地供货灵活性；解冻流程需明确整改验收标准与SLA。</a:t>
            </a: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497C8533-DD58-A696-5FB3-3513D25C9D68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291465"/>
            <a:ext cx="1133792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系统实现：SRM与SAP交期绩效协同接口架构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27" y="6421120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62000" y="1524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SRM系统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供应商协同平台</a:t>
            </a:r>
          </a:p>
        </p:txBody>
      </p:sp>
      <p:sp>
        <p:nvSpPr>
          <p:cNvPr id="5" name="AutoShape 5"/>
          <p:cNvSpPr/>
          <p:nvPr/>
        </p:nvSpPr>
        <p:spPr>
          <a:xfrm>
            <a:off x="8890000" y="1524000"/>
            <a:ext cx="2540000" cy="101600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 S/4 HANA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采购执行与管控平台</a:t>
            </a:r>
          </a:p>
        </p:txBody>
      </p:sp>
      <p:cxnSp>
        <p:nvCxnSpPr>
          <p:cNvPr id="6" name="Connector 6"/>
          <p:cNvCxnSpPr/>
          <p:nvPr/>
        </p:nvCxnSpPr>
        <p:spPr>
          <a:xfrm rot="-7812">
            <a:off x="3302007" y="2025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073E6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7" name="AutoShape 7"/>
          <p:cNvSpPr/>
          <p:nvPr/>
        </p:nvSpPr>
        <p:spPr>
          <a:xfrm>
            <a:off x="3429000" y="1651000"/>
            <a:ext cx="533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接口1（异步REST/IDoc）：SRM承诺日期回传 → BAPI_PO_CHANGE写入EKET → ZMR21查询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10792186">
            <a:off x="3301993" y="2406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C2626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9" name="AutoShape 9"/>
          <p:cNvSpPr/>
          <p:nvPr/>
        </p:nvSpPr>
        <p:spPr>
          <a:xfrm>
            <a:off x="3429000" y="2476500"/>
            <a:ext cx="533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接口2（异步触发）：SRM绩效评估结果 → XK05采购组织级冻结 → LFA1黑名单标识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3302000"/>
            <a:ext cx="5080000" cy="2540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152400" tIns="127000" rIns="152400" bIns="1270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SRM侧功能启用/增强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2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启动SRM供应商交期绩效考核模块</a:t>
            </a: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，准时率按月计算，支持权重配置</a:t>
            </a:r>
          </a:p>
          <a:p>
            <a:pPr marL="0" indent="0" algn="l">
              <a:lnSpc>
                <a:spcPct val="125000"/>
              </a:lnSpc>
            </a:pPr>
            <a:endParaRPr lang="en-US" sz="1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交货单承诺日期设为必填，超时24h/72h两级升级预警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供应商交付周期总览表，支持按物料/供应商/采购组织多维查询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订单发出后自动推送SRM待办+邮件，超时自动升级至采购经理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绩效评估工作台，支持黑名单准入审批、解冻审批与审计日志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604000" y="3302000"/>
            <a:ext cx="5080000" cy="2540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2D61">
                <a:alpha val="40000"/>
              </a:srgbClr>
            </a:solidFill>
            <a:prstDash val="solid"/>
            <a:round/>
          </a:ln>
        </p:spPr>
        <p:txBody>
          <a:bodyPr vert="horz" wrap="square" lIns="152400" tIns="127000" rIns="152400" bIns="127000" rtlCol="0" anchor="t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3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SAP侧功能增强</a:t>
            </a:r>
            <a:endParaRPr lang="en-US" sz="1300" b="1">
              <a:solidFill>
                <a:srgbClr val="0073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物料主数据采购视图（MARC）新增交付周期字段，MM01/MM02必填校验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BAPI_PO_CHANGE自动写入交货计划行（EKET），ZMR21支持批量维护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供应商主数据（LFA1）新增黑名单标识字段，接口接收SRM绩效结果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ME21N/ME22N增强校验：冻结供应商禁止创建PO，在途订单允许收货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ZMR61物料到货时间批量查询报表 + 采购驾驶舱（Fiori/BI）实时监控</a:t>
            </a:r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2EA3D2C6-A293-3BDB-9811-E45537815978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90098" y="389618"/>
            <a:ext cx="1463040" cy="14770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5" name="AutoShape 5"/>
          <p:cNvSpPr/>
          <p:nvPr/>
        </p:nvSpPr>
        <p:spPr>
          <a:xfrm>
            <a:off x="1786890" y="1866900"/>
            <a:ext cx="7094220" cy="11315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配套行动计划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291465"/>
            <a:ext cx="1133792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实施路径：分阶段推进，本期见效与二期闭环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2286000" cy="635000"/>
          </a:xfrm>
          <a:prstGeom prst="roundRect">
            <a:avLst>
              <a:gd name="adj" fmla="val 0"/>
            </a:avLst>
          </a:pr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3683000"/>
            <a:ext cx="2286000" cy="635000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第二阶段</a:t>
            </a:r>
            <a:endParaRPr lang="en-US" sz="1100"/>
          </a:p>
        </p:txBody>
      </p:sp>
      <p:cxnSp>
        <p:nvCxnSpPr>
          <p:cNvPr id="5" name="Connector 5"/>
          <p:cNvCxnSpPr/>
          <p:nvPr>
            <p:custDataLst>
              <p:tags r:id="rId3"/>
            </p:custDataLst>
          </p:nvPr>
        </p:nvCxnSpPr>
        <p:spPr>
          <a:xfrm rot="5373556">
            <a:off x="1079500" y="2851174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5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3302000" y="1270000"/>
            <a:ext cx="8636000" cy="1778000"/>
          </a:xfrm>
          <a:prstGeom prst="roundRect">
            <a:avLst>
              <a:gd name="adj" fmla="val 0"/>
            </a:avLst>
          </a:prstGeom>
          <a:solidFill>
            <a:srgbClr val="0073E6">
              <a:alpha val="3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190500" tIns="127000" rIns="190500" bIns="1270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核心目标：交期可视化落地，解决到货时间不透明的紧迫问题（本期见效）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物料主数据采购视图字段增强与必填校验，历史数据按物料组分批清洗补录（关键物料优先）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SRM交货单承诺日期必填改造，建立供应商回复机制与超时两级升级预警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SRM→SAP异步交货计划回传接口开发（含重试/幂等/告警），ZMR21交货计划明细查询维护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ZMR61物料到货时间批量查询报表，成品车间缺料预警与快速响应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关键交付物：字段增强说明、接口技术规格（FS）、ZMR21/ZMR61程序、UAT测试报告 | 关联需求：A0616（高明115）</a:t>
            </a: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3302000" y="3556000"/>
            <a:ext cx="8636000" cy="177800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DC2626">
                <a:alpha val="40000"/>
              </a:srgbClr>
            </a:solidFill>
            <a:prstDash val="solid"/>
            <a:round/>
          </a:ln>
        </p:spPr>
        <p:txBody>
          <a:bodyPr vert="horz" wrap="square" lIns="190500" tIns="127000" rIns="190500" bIns="1270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核心目标：供应商绩效闭环，实现交期行为的系统化约束（长效治理）</a:t>
            </a:r>
            <a:endParaRPr lang="en-US" sz="1200" b="1">
              <a:solidFill>
                <a:srgbClr val="0073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SRM供应商交期绩效考核体系建设，准时率指标定义、权重配置与绩效报表增强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交期不回复/不准时行为自动识别，黑名单准入评估流程与审批工作台建设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SRM绩效结果→SAP采购组织级冻结（XK05）/黑名单标识联动接口开发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供应商通知待办消息优化，订单发出自动提醒与超时两级升级，解冻审批流程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关键交付物：绩效规则配置文档、冻结/解冻审批流程、联动接口FS、绩效驾驶舱 | 关联需求：A0017（高明16）</a:t>
            </a:r>
          </a:p>
        </p:txBody>
      </p:sp>
      <p:sp>
        <p:nvSpPr>
          <p:cNvPr id="8" name="AutoShape 8"/>
          <p:cNvSpPr/>
          <p:nvPr/>
        </p:nvSpPr>
        <p:spPr>
          <a:xfrm>
            <a:off x="508000" y="5488940"/>
            <a:ext cx="11176000" cy="889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73E6">
                <a:alpha val="30000"/>
              </a:srgbClr>
            </a:solidFill>
            <a:prstDash val="dash"/>
            <a:round/>
          </a:ln>
        </p:spPr>
        <p:txBody>
          <a:bodyPr vert="horz" wrap="square" lIns="190500" tIns="101600" rIns="190500" bIns="10160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关键里程碑：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M1主数据方案与字段规范确认 → M2 SRM交期回传接口开发联调上线 → M3供应商绩效联动机制与审批流程上线→ M4交期可视化驾驶舱与绩效看板上线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实施原则：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优先采用SAP标准功能（BAPI/配额管理/标准冻结），最小化定制开发；本期快速见效解决紧迫问题，二期深化闭环实现长效治理；关键用户全程参与UAT，数据迁移按分批灰度推进，上线前完成接口压测与异常演练。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-12827" y="6477000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Freeform 3">
            <a:extLst>
              <a:ext uri="{FF2B5EF4-FFF2-40B4-BE49-F238E27FC236}">
                <a16:creationId xmlns:a16="http://schemas.microsoft.com/office/drawing/2014/main" id="{F53EDDF6-B0BF-FB76-5CE6-A44BD9A71698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291465"/>
            <a:ext cx="973264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业务价值：交期透明化与绩效闭环的双重收益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508" y="100965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08000" y="1397000"/>
            <a:ext cx="25400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3E6">
                  <a:alpha val="100000"/>
                </a:srgbClr>
              </a:gs>
              <a:gs pos="100000">
                <a:srgbClr val="002D61">
                  <a:alpha val="100000"/>
                </a:srgbClr>
              </a:gs>
            </a:gsLst>
            <a:lin ang="27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物料到货时间可查询率</a:t>
            </a:r>
          </a:p>
          <a:p>
            <a:pPr marL="0" indent="0" algn="ctr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交期全链路可视化</a:t>
            </a:r>
          </a:p>
        </p:txBody>
      </p:sp>
      <p:sp>
        <p:nvSpPr>
          <p:cNvPr id="5" name="AutoShape 5"/>
          <p:cNvSpPr/>
          <p:nvPr/>
        </p:nvSpPr>
        <p:spPr>
          <a:xfrm>
            <a:off x="3302000" y="1397000"/>
            <a:ext cx="25400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3E6">
                  <a:alpha val="100000"/>
                </a:srgbClr>
              </a:gs>
              <a:gs pos="100000">
                <a:srgbClr val="002D61">
                  <a:alpha val="100000"/>
                </a:srgbClr>
              </a:gs>
            </a:gsLst>
            <a:lin ang="27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60%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线下沟通成本降低</a:t>
            </a:r>
          </a:p>
          <a:p>
            <a:pPr marL="0" indent="0" algn="ctr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采购与车间协同提效</a:t>
            </a:r>
          </a:p>
        </p:txBody>
      </p:sp>
      <p:sp>
        <p:nvSpPr>
          <p:cNvPr id="6" name="AutoShape 6"/>
          <p:cNvSpPr/>
          <p:nvPr/>
        </p:nvSpPr>
        <p:spPr>
          <a:xfrm>
            <a:off x="6096000" y="1397000"/>
            <a:ext cx="25400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3E6">
                  <a:alpha val="100000"/>
                </a:srgbClr>
              </a:gs>
              <a:gs pos="100000">
                <a:srgbClr val="002D61">
                  <a:alpha val="100000"/>
                </a:srgbClr>
              </a:gs>
            </a:gsLst>
            <a:lin ang="27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90%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客户交期承诺准确率</a:t>
            </a:r>
          </a:p>
          <a:p>
            <a:pPr marL="0" indent="0" algn="ctr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数据驱动精准承诺</a:t>
            </a:r>
          </a:p>
        </p:txBody>
      </p:sp>
      <p:sp>
        <p:nvSpPr>
          <p:cNvPr id="7" name="AutoShape 7"/>
          <p:cNvSpPr/>
          <p:nvPr/>
        </p:nvSpPr>
        <p:spPr>
          <a:xfrm>
            <a:off x="8890000" y="1397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交期违规自动冻结率</a:t>
            </a:r>
          </a:p>
          <a:p>
            <a:pPr marL="0" indent="0" algn="ctr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绩效约束系统化</a:t>
            </a:r>
          </a:p>
        </p:txBody>
      </p:sp>
      <p:sp>
        <p:nvSpPr>
          <p:cNvPr id="8" name="AutoShape 8"/>
          <p:cNvSpPr/>
          <p:nvPr/>
        </p:nvSpPr>
        <p:spPr>
          <a:xfrm>
            <a:off x="508000" y="3429000"/>
            <a:ext cx="5334000" cy="2921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190500" tIns="152400" rIns="190500" bIns="15240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管理价值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交期数据从"线下反复确认"变为"系统实时可查"，采购催货工时减少60%</a:t>
            </a: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供应商交期行为从"人工考核"变为"系统自动联动"，违规响应时间从天级降至分钟级</a:t>
            </a: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客户交期承诺从"被动预估"变为"数据驱动精准"，承诺准确率从基线提升至90%</a:t>
            </a: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采购货源分配从"低价优先"变为"交期+价格综合最优"，紧急采购占比下降</a:t>
            </a: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SRM与SAP从"数据断点"变为"交期绩效一体化协同"，双系统数据一致性100%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3429000"/>
            <a:ext cx="5334000" cy="2921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190500" tIns="152400" rIns="190500" bIns="15240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业务收益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成品车间实时获知物料到货时间，生产计划调整频次降低，排产准确率提升</a:t>
            </a: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销售端客户交期承诺准确率提升至90%，交付违约率下降，客户满意度与复购率提升</a:t>
            </a: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采购人员从反复催货中解放，聚焦战略寻源与供应商谈判，采购人均效能提升</a:t>
            </a: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供应商交期准时率持续改善（季度环比提升），供应链断料风险降低，安全库存可优化</a:t>
            </a: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为集团采购集约化管理提供交期维度数据支撑，支撑集中采购与战略供应商分级管理</a:t>
            </a:r>
          </a:p>
        </p:txBody>
      </p:sp>
      <p:pic>
        <p:nvPicPr>
          <p:cNvPr id="11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2827" y="6477000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Freeform 3">
            <a:extLst>
              <a:ext uri="{FF2B5EF4-FFF2-40B4-BE49-F238E27FC236}">
                <a16:creationId xmlns:a16="http://schemas.microsoft.com/office/drawing/2014/main" id="{4DBFFFA5-A307-40E3-47A0-A1873FCF1AEB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83" hasCustomPrompt="1"/>
          </p:nvPr>
        </p:nvSpPr>
        <p:spPr>
          <a:xfrm>
            <a:off x="390098" y="389618"/>
            <a:ext cx="1463040" cy="1477010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84" hasCustomPrompt="1"/>
          </p:nvPr>
        </p:nvSpPr>
        <p:spPr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附录：相关文档及原始数据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附录原始需求清单（2条，</a:t>
            </a:r>
            <a:r>
              <a:rPr lang="zh-CN" altLang="en-US" sz="2800" b="1" i="0" u="none" strike="noStrike">
                <a:solidFill>
                  <a:srgbClr val="0073E6"/>
                </a:solidFill>
                <a:latin typeface="Biennale Bold"/>
                <a:ea typeface="宋体" panose="02010600030101010101" pitchFamily="2" charset="-122"/>
                <a:cs typeface="Biennale Bold"/>
                <a:sym typeface="Biennale Bold"/>
              </a:rPr>
              <a:t>供应商交期及绩效</a:t>
            </a: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关联）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28942" y="957174"/>
          <a:ext cx="11337925" cy="16300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6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原始需求清单</a:t>
                      </a:r>
                      <a:endParaRPr lang="en-US" sz="110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需求简述</a:t>
                      </a:r>
                      <a:endParaRPr lang="en-US" sz="1100"/>
                    </a:p>
                  </a:txBody>
                  <a:tcPr marL="59739" marR="59739" marT="29869" marB="298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优先级</a:t>
                      </a:r>
                      <a:endParaRPr lang="en-US" sz="1100"/>
                    </a:p>
                  </a:txBody>
                  <a:tcPr marL="59739" marR="59739" marT="29869" marB="298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提出部门</a:t>
                      </a:r>
                      <a:endParaRPr lang="en-US" sz="1100"/>
                    </a:p>
                  </a:txBody>
                  <a:tcPr marL="59739" marR="59739" marT="29869" marB="298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需求详细说明</a:t>
                      </a:r>
                      <a:endParaRPr lang="en-US" sz="1100"/>
                    </a:p>
                  </a:txBody>
                  <a:tcPr marL="59739" marR="59739" marT="29869" marB="298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A0616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物料在SAP增加交付周期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DC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高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高明生产运营中心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物料在SAP增加交付周期，需求部门能直接看到（批量查询），成品车间可根据物料的交付时间快速回复客户产品交付周期。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A0017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ZPR61 - 采购申请到货情况查询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DC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高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高明生产运营中心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SRM交期不回复或不准时，关联到SAP系统自动纳入黑名单。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0" hasCustomPrompt="1"/>
          </p:nvPr>
        </p:nvSpPr>
        <p:spPr>
          <a:xfrm>
            <a:off x="457200" y="2463959"/>
            <a:ext cx="1032294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00000"/>
              </a:lnSpc>
              <a:defRPr sz="3200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200" b="1" i="0" u="none" strike="noStrike" dirty="0" err="1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谢谢</a:t>
            </a:r>
            <a:r>
              <a:rPr lang="en-US" sz="3200" b="1" i="0" u="none" strike="noStrike" dirty="0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71000000000004,&quot;left&quot;:280.69,&quot;top&quot;:156.35,&quot;width&quot;:639.189999999999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71000000000004,&quot;left&quot;:280.69,&quot;top&quot;:156.35,&quot;width&quot;:639.189999999999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,&quot;left&quot;:60,&quot;top&quot;:100,&quot;width&quot;:88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,&quot;left&quot;:60,&quot;top&quot;:100,&quot;width&quot;:88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,&quot;left&quot;:60,&quot;top&quot;:100,&quot;width&quot;:88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,&quot;left&quot;:60,&quot;top&quot;:100,&quot;width&quot;:88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,&quot;left&quot;:60,&quot;top&quot;:100,&quot;width&quot;:88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1490</Words>
  <Application>Microsoft Office PowerPoint</Application>
  <PresentationFormat>宽屏</PresentationFormat>
  <Paragraphs>283</Paragraphs>
  <Slides>15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Biennale</vt:lpstr>
      <vt:lpstr>Biennale Bold</vt:lpstr>
      <vt:lpstr>Biennale Medium</vt:lpstr>
      <vt:lpstr>Montserrat Bold</vt:lpstr>
      <vt:lpstr>Noto Sans SC</vt:lpstr>
      <vt:lpstr>等线</vt:lpstr>
      <vt:lpstr>微软雅黑</vt:lpstr>
      <vt:lpstr>Aptos</vt:lpstr>
      <vt:lpstr>Arial</vt:lpstr>
      <vt:lpstr>Montserrat SemiBold</vt:lpstr>
      <vt:lpstr>Verdana</vt:lpstr>
      <vt:lpstr>Office 主题​​</vt:lpstr>
      <vt:lpstr>Office 主题​​</vt:lpstr>
      <vt:lpstr>自定义主题</vt:lpstr>
      <vt:lpstr>White background</vt:lpstr>
      <vt:lpstr>1_White background</vt:lpstr>
      <vt:lpstr>2_White background</vt:lpstr>
      <vt:lpstr>3_White background</vt:lpstr>
      <vt:lpstr>1_自定义主题</vt:lpstr>
      <vt:lpstr>PowerPoint 演示文稿</vt:lpstr>
      <vt:lpstr>PowerPoint 演示文稿</vt:lpstr>
      <vt:lpstr>专项方案综述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2102125624@qq.com</cp:lastModifiedBy>
  <cp:revision>5</cp:revision>
  <dcterms:created xsi:type="dcterms:W3CDTF">2026-08-30T08:15:00Z</dcterms:created>
  <dcterms:modified xsi:type="dcterms:W3CDTF">2026-08-30T14:33:08Z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{"Label":"1","ContentProducer":"001191110102MACQD9K64010000","ProduceID":"7678163960117562348","ReservedCode1":"","ContentPropagator":"","PropagateID":"","ReservedCode2":""}</vt:lpwstr>
  </property>
  <property fmtid="{D5CDD505-2E9C-101B-9397-08002B2CF9AE}" pid="3" name="ICV">
    <vt:lpwstr>0CA141DA49B04F34BA6B2AFDEFC6C3DD</vt:lpwstr>
  </property>
  <property fmtid="{D5CDD505-2E9C-101B-9397-08002B2CF9AE}" pid="4" name="KSOProductBuildVer">
    <vt:lpwstr>2052-12.1.0.28043</vt:lpwstr>
  </property>
</Properties>
</file>