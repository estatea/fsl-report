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5"/>
    <p:sldMasterId id="2147483761" r:id="rId6"/>
    <p:sldMasterId id="2147483775" r:id="rId7"/>
  </p:sldMasterIdLst>
  <p:notesMasterIdLst>
    <p:notesMasterId r:id="rId22"/>
  </p:notesMasterIdLst>
  <p:sldIdLst>
    <p:sldId id="402" r:id="rId8"/>
    <p:sldId id="256" r:id="rId9"/>
    <p:sldId id="283" r:id="rId10"/>
    <p:sldId id="2180" r:id="rId11"/>
    <p:sldId id="259" r:id="rId12"/>
    <p:sldId id="2181" r:id="rId13"/>
    <p:sldId id="272" r:id="rId14"/>
    <p:sldId id="263" r:id="rId15"/>
    <p:sldId id="264" r:id="rId16"/>
    <p:sldId id="2182" r:id="rId17"/>
    <p:sldId id="266" r:id="rId18"/>
    <p:sldId id="2183" r:id="rId19"/>
    <p:sldId id="2184" r:id="rId20"/>
    <p:sldId id="297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3366"/>
    <a:srgbClr val="EC601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19" autoAdjust="0"/>
    <p:restoredTop sz="85885"/>
  </p:normalViewPr>
  <p:slideViewPr>
    <p:cSldViewPr snapToGrid="0">
      <p:cViewPr varScale="1">
        <p:scale>
          <a:sx n="72" d="100"/>
          <a:sy n="72" d="100"/>
        </p:scale>
        <p:origin x="6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ED242-3ED6-ED4B-A493-BFAB0D2DA00B}" type="datetimeFigureOut">
              <a:rPr lang="en-CN" smtClean="0"/>
              <a:t>08/30/2026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415C3-E7E8-ED47-896B-87929403F8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69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标准</a:t>
            </a:r>
            <a:r>
              <a:rPr lang="zh-CN" altLang="en-US" dirty="0"/>
              <a:t>、精细、协同、高效</a:t>
            </a:r>
            <a:endParaRPr lang="en-US" altLang="zh-CN" dirty="0"/>
          </a:p>
          <a:p>
            <a:r>
              <a:rPr lang="zh-CN" altLang="en-US" dirty="0"/>
              <a:t>精细化的成本分析。</a:t>
            </a:r>
            <a:endParaRPr lang="en-US" altLang="zh-CN" dirty="0"/>
          </a:p>
          <a:p>
            <a:r>
              <a:rPr lang="zh-CN" altLang="en-US" dirty="0"/>
              <a:t>有量化指标的提升。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张学权</a:t>
            </a:r>
            <a:endParaRPr lang="en-US" dirty="0"/>
          </a:p>
          <a:p>
            <a:r>
              <a:rPr lang="zh-CN" altLang="en-US" dirty="0"/>
              <a:t>现在停掉</a:t>
            </a:r>
            <a:r>
              <a:rPr lang="en-US" altLang="zh-CN" dirty="0"/>
              <a:t>SAP</a:t>
            </a:r>
            <a:r>
              <a:rPr lang="zh-CN" altLang="en-US" dirty="0"/>
              <a:t>，业务是否还能够照常开展？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、统一认识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、锻炼内功，</a:t>
            </a:r>
            <a:r>
              <a:rPr lang="en-US" altLang="zh-CN" dirty="0"/>
              <a:t>SAP</a:t>
            </a:r>
            <a:r>
              <a:rPr lang="zh-CN" altLang="en-US" dirty="0"/>
              <a:t>的升级不是简单的更新，而是要把公司过往的组织能力、管理理念、管理流程进行全面的梳理和再造。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、对公司内部各个部门以及相关分子公司的负责人，一定要高度重视，亲自参与。过去几年的数字化项目，成功的不多，失败的不少，甚至变烂尾了，各个部门的负责人没参与。营销的数字化中台、</a:t>
            </a:r>
            <a:r>
              <a:rPr lang="en-US" altLang="zh-CN" dirty="0"/>
              <a:t>CRM</a:t>
            </a:r>
            <a:r>
              <a:rPr lang="zh-CN" altLang="en-US" dirty="0"/>
              <a:t>系统搞不下去了。每个单位指定一个责任心强、沟通能力强的</a:t>
            </a:r>
            <a:r>
              <a:rPr lang="en-US" altLang="zh-CN" dirty="0"/>
              <a:t>SAP</a:t>
            </a:r>
            <a:r>
              <a:rPr lang="zh-CN" altLang="en-US" dirty="0"/>
              <a:t>专员。外部公司既要专业，又要接地气。数字化部和财务部要协同好，跟艾维登要协同好。上下联动、左右协同、齐抓共管。系统要管用还要好用。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088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61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7099-691F-513A-F09D-2A3DCFFF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2DA38-AB69-11A3-2227-A6AB14DDB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1651D-2B51-5F0E-8B74-058A3204B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325EE-CA90-7DD4-FFF7-E96BBAE8D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669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历史数据：</a:t>
            </a:r>
            <a:r>
              <a:rPr kumimoji="1" lang="zh-CN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设定平行评估激活基准日（如2027年1月1日上线后首个完整月）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zh-CN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基准日前的历史数据不回填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各部门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抵触：统一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业务变革：</a:t>
            </a:r>
            <a:endParaRPr kumimoji="1" lang="en-US" altLang="zh-CN" dirty="0"/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判断1：这不是SAP实施项目，是一次利益格局重塑。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佛照内部加价制造的"虚拟利润池"按保守估算约为集团真实扣非净利润的2-3倍量级。一旦启动消除，任何BU的账面利润变化都不是小数点之争，而是生死线的争夺。技术方案再完美，如果集团高层不愿意在年终奖分配上做出强制性决定，整个方案将在执行层被稀释为"系统里跑三套数字，考核还是按老逻辑"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判断2：标准成本方向是对的，但前提条件被严重低估。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标准成本+平行评估的组合是S/4HANA上的正确架构，SAP技术层面完全支持。但佛照有两个硬约束：LED芯片等核心原材料年波动可达20-40%，若标准成本年度冻结，Price Variance可能吃掉全年利润；车灯（燎旺）高度客制化，强套标准成本会产生大量无意义差异。这两个问题不解决，标准成本体系上线即失信。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判断3：0.95%净利率是变革的最佳窗口，也是最大风险来源。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薄利倒逼透明化是有利时机，管理层被迫正视成本真相。但同时，容错空间几乎为零——如果标准成本制定错误导致BU绩效失真，在如此薄利状态下任何决策偏差都可能直接亏损。数据准备和标准成本核定的精度要求，比财务健康期高一个数量级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判断4：路径C（双轨KPI权重逐步迁移）是当前唯一可行路径，但"执行死结"在Year 2节点。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路径A（完全集团成本考核）理想但不可落地；路径B（保留法律实体利润+集团视角仅供参考）换汤不换药。路径C可行，但历史上类似改革最常见的失败模式是：Year 1顺利，Year 2权重调整时受损BU重启抵制，高层松动，改革被锁定在"Year 1状态"永远不推进。这个节点必须提前设计防御机制。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1235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本页介绍方案的核心内容。方案的核心思路是打通金税系统、SAP和财务共享BIP三个系统之间的接口，实现从发票开具到收款清账的全流程自动化。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方案由佛山财务部、SAP实施团队、用友BIP团队和联想接口开发团队共同讨论确定，后续将组织财务部门同事进行培训。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24238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本页介绍国内收款的处理方式。国内业务统一采用剩余清模式，按先进先出规则核销收款金额。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账龄计算以SAP核算系统为准，存在两个口径：考虑付款条件宽限账期和不考虑宽限天数。发票信息采用定时方式从SAP传输到BIP。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本页介绍国外收款的处理方式。国外业务沿用与国内一致的剩余清模式。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与国内的主要区别：1）发票清账状态采用实时同步（只针对国外业务）；2）新增附加报表，供国外用户按客户和订单查询相关发票信息。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本页列出开发清单，共包含3个接口开发和2个报表开发，合计5项开发任务。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接口开发包括：SAP发票传输BIP、BIP认领单生成SAP收款凭证、实时同步清账冲销状态（国外）。报表开发包括：账龄报表双口径、国外用户发票查询报表。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97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>
            <a:extLst>
              <a:ext uri="{FF2B5EF4-FFF2-40B4-BE49-F238E27FC236}">
                <a16:creationId xmlns:a16="http://schemas.microsoft.com/office/drawing/2014/main" id="{F39EB0DD-D0DC-DA16-5E5D-31E1423EEE20}"/>
              </a:ext>
            </a:extLst>
          </p:cNvPr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A244C200-9183-F55D-E6CC-770D8E368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06562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1CA85C-6201-B8A4-E228-2E44846E1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2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AddCustomFooter#1">
            <a:extLst>
              <a:ext uri="{FF2B5EF4-FFF2-40B4-BE49-F238E27FC236}">
                <a16:creationId xmlns:a16="http://schemas.microsoft.com/office/drawing/2014/main" id="{9E621BAA-298E-0A96-9DAD-9537810468A3}"/>
              </a:ext>
            </a:extLst>
          </p:cNvPr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Graphique 10" descr="Atos logo">
            <a:extLst>
              <a:ext uri="{FF2B5EF4-FFF2-40B4-BE49-F238E27FC236}">
                <a16:creationId xmlns:a16="http://schemas.microsoft.com/office/drawing/2014/main" id="{290DD583-0438-8BA3-4FC8-30C7186F1307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54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257223-1877-0216-0C14-9CA40A26B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A34858E-D148-7198-C034-ACB6341C8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700F83A-91AD-A010-303E-88AA5DEB0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/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2BFDF0E7-1C79-FBA3-FBFE-0F62B0F09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9E067F1-2180-52EC-D9AF-DC18F8C4B4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>
            <a:extLst>
              <a:ext uri="{FF2B5EF4-FFF2-40B4-BE49-F238E27FC236}">
                <a16:creationId xmlns:a16="http://schemas.microsoft.com/office/drawing/2014/main" id="{709BCC25-10DB-D648-02CE-B89CE7D50AA6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178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EB50BEC9-5EE0-B57E-CAE5-7C3F4E023F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>
            <a:extLst>
              <a:ext uri="{FF2B5EF4-FFF2-40B4-BE49-F238E27FC236}">
                <a16:creationId xmlns:a16="http://schemas.microsoft.com/office/drawing/2014/main" id="{148CD210-AEE5-E817-AEC9-A7C881D1EE4E}"/>
              </a:ext>
            </a:extLst>
          </p:cNvPr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3853EE69-6ADE-F322-8014-F5E83A8E8155}"/>
              </a:ext>
            </a:extLst>
          </p:cNvPr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97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5AB8-B6EC-4304-ABBB-CA0A4399A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C3B6DC-AAAC-4B11-9BD4-A2E99D2BC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3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D860FF-1E07-729E-ADC9-9B961C40C5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7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/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65EE574-D841-BFEE-2ABF-3A7979EE9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0E37F3-8269-71CC-D3D1-3A51C3618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7276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>
            <a:extLst>
              <a:ext uri="{FF2B5EF4-FFF2-40B4-BE49-F238E27FC236}">
                <a16:creationId xmlns:a16="http://schemas.microsoft.com/office/drawing/2014/main" id="{CC803DD5-BCD9-4D75-85D5-025E5354ED3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>
            <a:extLst>
              <a:ext uri="{FF2B5EF4-FFF2-40B4-BE49-F238E27FC236}">
                <a16:creationId xmlns:a16="http://schemas.microsoft.com/office/drawing/2014/main" id="{E8E63726-F274-4B91-A5DE-2B04CF3D1750}"/>
              </a:ext>
            </a:extLst>
          </p:cNvPr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>
            <a:extLst>
              <a:ext uri="{FF2B5EF4-FFF2-40B4-BE49-F238E27FC236}">
                <a16:creationId xmlns:a16="http://schemas.microsoft.com/office/drawing/2014/main" id="{F7A722DF-422F-4247-B41C-60932DE1D8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6A21E8-E7FA-4143-A68F-832F81B1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3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E02A5-0C35-4763-B0E6-261F90A1E5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>
            <a:extLst>
              <a:ext uri="{FF2B5EF4-FFF2-40B4-BE49-F238E27FC236}">
                <a16:creationId xmlns:a16="http://schemas.microsoft.com/office/drawing/2014/main" id="{E2DECC81-7758-4FBB-9420-3AAB334AA1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7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6632A639-65F6-44E7-9705-34D092A42112}" type="slidenum">
              <a:rPr lang="en-US" sz="1333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pPr algn="r" eaLnBrk="1" hangingPunct="1">
                <a:spcBef>
                  <a:spcPts val="617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sz="1333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66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3217422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7D9EE093-55A3-29E0-7972-5D36134367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CCDFC35-BF4B-36FA-747E-8D51735094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0782D689-7655-E54B-5AF8-A11200745C10}"/>
              </a:ext>
            </a:extLst>
          </p:cNvPr>
          <p:cNvSpPr txBox="1">
            <a:spLocks/>
          </p:cNvSpPr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pPr algn="r"/>
              <a:t>‹#›</a:t>
            </a:fld>
            <a:endParaRPr lang="en-IN"/>
          </a:p>
        </p:txBody>
      </p:sp>
      <p:sp>
        <p:nvSpPr>
          <p:cNvPr id="5" name="AddCustomFooter#1">
            <a:extLst>
              <a:ext uri="{FF2B5EF4-FFF2-40B4-BE49-F238E27FC236}">
                <a16:creationId xmlns:a16="http://schemas.microsoft.com/office/drawing/2014/main" id="{1D6B7308-D40A-31F4-FFCB-AB8092B9A567}"/>
              </a:ext>
            </a:extLst>
          </p:cNvPr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</a:t>
            </a:r>
            <a:r>
              <a:rPr kumimoji="0" lang="en-NL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040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648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2026-08-30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1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>
            <a:extLst>
              <a:ext uri="{FF2B5EF4-FFF2-40B4-BE49-F238E27FC236}">
                <a16:creationId xmlns:a16="http://schemas.microsoft.com/office/drawing/2014/main" id="{F39EB0DD-D0DC-DA16-5E5D-31E1423EEE20}"/>
              </a:ext>
            </a:extLst>
          </p:cNvPr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A244C200-9183-F55D-E6CC-770D8E368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72564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1CA85C-6201-B8A4-E228-2E44846E1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05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AddCustomFooter#1">
            <a:extLst>
              <a:ext uri="{FF2B5EF4-FFF2-40B4-BE49-F238E27FC236}">
                <a16:creationId xmlns:a16="http://schemas.microsoft.com/office/drawing/2014/main" id="{9E621BAA-298E-0A96-9DAD-9537810468A3}"/>
              </a:ext>
            </a:extLst>
          </p:cNvPr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Graphique 10" descr="Atos logo">
            <a:extLst>
              <a:ext uri="{FF2B5EF4-FFF2-40B4-BE49-F238E27FC236}">
                <a16:creationId xmlns:a16="http://schemas.microsoft.com/office/drawing/2014/main" id="{290DD583-0438-8BA3-4FC8-30C7186F1307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007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257223-1877-0216-0C14-9CA40A26B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A34858E-D148-7198-C034-ACB6341C8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700F83A-91AD-A010-303E-88AA5DEB0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/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2BFDF0E7-1C79-FBA3-FBFE-0F62B0F09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9E067F1-2180-52EC-D9AF-DC18F8C4B4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>
            <a:extLst>
              <a:ext uri="{FF2B5EF4-FFF2-40B4-BE49-F238E27FC236}">
                <a16:creationId xmlns:a16="http://schemas.microsoft.com/office/drawing/2014/main" id="{709BCC25-10DB-D648-02CE-B89CE7D50AA6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99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EB50BEC9-5EE0-B57E-CAE5-7C3F4E023F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>
            <a:extLst>
              <a:ext uri="{FF2B5EF4-FFF2-40B4-BE49-F238E27FC236}">
                <a16:creationId xmlns:a16="http://schemas.microsoft.com/office/drawing/2014/main" id="{148CD210-AEE5-E817-AEC9-A7C881D1EE4E}"/>
              </a:ext>
            </a:extLst>
          </p:cNvPr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3853EE69-6ADE-F322-8014-F5E83A8E8155}"/>
              </a:ext>
            </a:extLst>
          </p:cNvPr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310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5AB8-B6EC-4304-ABBB-CA0A4399A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C3B6DC-AAAC-4B11-9BD4-A2E99D2BC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3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D860FF-1E07-729E-ADC9-9B961C40C5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197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F2588EFC-544B-492D-10E8-E969C9B1A6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EB2A93CD-4E60-C2E9-EE37-CFC445B9D3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6BFBFE4-3CDD-23F5-5639-8F25B2D893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D66C32D-F14A-D598-9CED-1AF6762A5E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E67F222-8BC0-46DB-0488-4EFFFFE16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52699D8-D4CF-B3B4-D06A-47981000D2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11306F5-4519-15CD-866F-5F4A7FC4C9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9B68E34-011E-4CB0-CFE2-2D2A0AF2BC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3812F58-59AE-88D3-CF8A-79FDF4477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AD46A4C-C28D-01F8-4B53-BCEDBF34EB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0CF91A1-2C65-DDC3-7FB0-57869A82B8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D5BC83D-861C-952F-D7CF-4FD8BE9701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3CF118A-3D43-543B-9127-40269BE2CD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BB2E32-37FB-AE7E-618C-B4D4A78DA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4387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41184-CEE4-C170-931A-840437984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3719951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/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65EE574-D841-BFEE-2ABF-3A7979EE9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0E37F3-8269-71CC-D3D1-3A51C3618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715863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>
            <a:extLst>
              <a:ext uri="{FF2B5EF4-FFF2-40B4-BE49-F238E27FC236}">
                <a16:creationId xmlns:a16="http://schemas.microsoft.com/office/drawing/2014/main" id="{CC803DD5-BCD9-4D75-85D5-025E5354ED3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>
            <a:extLst>
              <a:ext uri="{FF2B5EF4-FFF2-40B4-BE49-F238E27FC236}">
                <a16:creationId xmlns:a16="http://schemas.microsoft.com/office/drawing/2014/main" id="{E8E63726-F274-4B91-A5DE-2B04CF3D1750}"/>
              </a:ext>
            </a:extLst>
          </p:cNvPr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>
            <a:extLst>
              <a:ext uri="{FF2B5EF4-FFF2-40B4-BE49-F238E27FC236}">
                <a16:creationId xmlns:a16="http://schemas.microsoft.com/office/drawing/2014/main" id="{F7A722DF-422F-4247-B41C-60932DE1D8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6A21E8-E7FA-4143-A68F-832F81B1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3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E02A5-0C35-4763-B0E6-261F90A1E5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>
            <a:extLst>
              <a:ext uri="{FF2B5EF4-FFF2-40B4-BE49-F238E27FC236}">
                <a16:creationId xmlns:a16="http://schemas.microsoft.com/office/drawing/2014/main" id="{E2DECC81-7758-4FBB-9420-3AAB334AA1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7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6632A639-65F6-44E7-9705-34D092A42112}" type="slidenum">
              <a:rPr lang="en-US" sz="1333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pPr algn="r" eaLnBrk="1" hangingPunct="1">
                <a:spcBef>
                  <a:spcPts val="617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sz="1333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1024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1538613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7D9EE093-55A3-29E0-7972-5D36134367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CCDFC35-BF4B-36FA-747E-8D51735094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0782D689-7655-E54B-5AF8-A11200745C10}"/>
              </a:ext>
            </a:extLst>
          </p:cNvPr>
          <p:cNvSpPr txBox="1">
            <a:spLocks/>
          </p:cNvSpPr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pPr algn="r"/>
              <a:t>‹#›</a:t>
            </a:fld>
            <a:endParaRPr lang="en-IN"/>
          </a:p>
        </p:txBody>
      </p:sp>
      <p:sp>
        <p:nvSpPr>
          <p:cNvPr id="5" name="AddCustomFooter#1">
            <a:extLst>
              <a:ext uri="{FF2B5EF4-FFF2-40B4-BE49-F238E27FC236}">
                <a16:creationId xmlns:a16="http://schemas.microsoft.com/office/drawing/2014/main" id="{1D6B7308-D40A-31F4-FFCB-AB8092B9A567}"/>
              </a:ext>
            </a:extLst>
          </p:cNvPr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</a:t>
            </a:r>
            <a:r>
              <a:rPr kumimoji="0" lang="en-NL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6466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4987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00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9D3E5-713E-2458-85D8-863C02E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1C79-616F-D7C0-02B1-92ECF462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67185-ACB9-908F-2962-5980CB3C0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AddCustomFooter#1">
            <a:extLst>
              <a:ext uri="{FF2B5EF4-FFF2-40B4-BE49-F238E27FC236}">
                <a16:creationId xmlns:a16="http://schemas.microsoft.com/office/drawing/2014/main" id="{E00FAE01-94EC-1357-62EB-1169EE36702E}"/>
              </a:ext>
            </a:extLst>
          </p:cNvPr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15C2D0D6-BF6D-767D-7DA9-9C0E308BD27E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720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3" r:id="rId7"/>
    <p:sldLayoutId id="2147483754" r:id="rId8"/>
    <p:sldLayoutId id="2147483755" r:id="rId9"/>
    <p:sldLayoutId id="2147483756" r:id="rId10"/>
    <p:sldLayoutId id="2147483758" r:id="rId11"/>
    <p:sldLayoutId id="2147483759" r:id="rId1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28">
          <p15:clr>
            <a:srgbClr val="F26B43"/>
          </p15:clr>
        </p15:guide>
        <p15:guide id="2" pos="270">
          <p15:clr>
            <a:srgbClr val="F26B43"/>
          </p15:clr>
        </p15:guide>
        <p15:guide id="3" pos="7412">
          <p15:clr>
            <a:srgbClr val="F26B43"/>
          </p15:clr>
        </p15:guide>
        <p15:guide id="4" orient="horz" pos="91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9D3E5-713E-2458-85D8-863C02E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1C79-616F-D7C0-02B1-92ECF462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67185-ACB9-908F-2962-5980CB3C0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AddCustomFooter#1">
            <a:extLst>
              <a:ext uri="{FF2B5EF4-FFF2-40B4-BE49-F238E27FC236}">
                <a16:creationId xmlns:a16="http://schemas.microsoft.com/office/drawing/2014/main" id="{E00FAE01-94EC-1357-62EB-1169EE36702E}"/>
              </a:ext>
            </a:extLst>
          </p:cNvPr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15C2D0D6-BF6D-767D-7DA9-9C0E308BD27E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0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28">
          <p15:clr>
            <a:srgbClr val="F26B43"/>
          </p15:clr>
        </p15:guide>
        <p15:guide id="2" pos="270">
          <p15:clr>
            <a:srgbClr val="F26B43"/>
          </p15:clr>
        </p15:guide>
        <p15:guide id="3" pos="7412">
          <p15:clr>
            <a:srgbClr val="F26B43"/>
          </p15:clr>
        </p15:guide>
        <p15:guide id="4" orient="horz" pos="91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5321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34752C8-1E80-B141-5BC9-264FD3E5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68" y="1860257"/>
            <a:ext cx="5486400" cy="649730"/>
          </a:xfrm>
        </p:spPr>
        <p:txBody>
          <a:bodyPr/>
          <a:lstStyle/>
          <a:p>
            <a:r>
              <a:rPr lang="zh-CN" altLang="en-US" dirty="0"/>
              <a:t>收款清账和</a:t>
            </a:r>
            <a:r>
              <a:rPr lang="en-US" altLang="zh-CN" dirty="0"/>
              <a:t>BIP</a:t>
            </a:r>
            <a:r>
              <a:rPr lang="zh-CN" altLang="en-US" dirty="0"/>
              <a:t>财务共享接口方案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DE7EBD-B87B-D53D-AB7A-53542ED06A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3068" y="5578901"/>
            <a:ext cx="3657600" cy="640080"/>
          </a:xfrm>
        </p:spPr>
        <p:txBody>
          <a:bodyPr/>
          <a:lstStyle/>
          <a:p>
            <a:r>
              <a:rPr lang="en-US" altLang="zh-CN" dirty="0"/>
              <a:t>2026.07.16</a:t>
            </a:r>
            <a:endParaRPr lang="zh-CN" altLang="en-US" dirty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C4E2D140-8564-0D43-F716-78138577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7" r="107"/>
          <a:stretch/>
        </p:blipFill>
        <p:spPr bwMode="black"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F1663A-64C6-91E5-19DB-5C5C2F2A9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</p:spPr>
      </p:pic>
      <p:sp>
        <p:nvSpPr>
          <p:cNvPr id="8" name="文本占位符 1">
            <a:extLst>
              <a:ext uri="{FF2B5EF4-FFF2-40B4-BE49-F238E27FC236}">
                <a16:creationId xmlns:a16="http://schemas.microsoft.com/office/drawing/2014/main" id="{9BD38FAD-72EB-1A70-BC9B-6E03DE0ED4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3068" y="4077251"/>
            <a:ext cx="5486400" cy="1121887"/>
          </a:xfrm>
        </p:spPr>
        <p:txBody>
          <a:bodyPr/>
          <a:lstStyle/>
          <a:p>
            <a:r>
              <a:rPr lang="zh-CN" altLang="en-US" dirty="0"/>
              <a:t>业务诊断咨询及</a:t>
            </a:r>
            <a:r>
              <a:rPr lang="en-US" altLang="zh-CN" dirty="0"/>
              <a:t>SAP</a:t>
            </a:r>
            <a:r>
              <a:rPr lang="zh-CN" altLang="en-US" dirty="0"/>
              <a:t>系统升级实施项目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1687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B6438-7BA8-E489-8651-A1875BC5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CAD6ED9-8951-B688-33F4-3E98B7B6F5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4745" y="1446367"/>
            <a:ext cx="310983" cy="369332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968C3A93-8341-3E29-A3E2-722091ED34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专项方案概述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83A23855-A582-76E3-8B61-D17384504B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54745" y="2713569"/>
            <a:ext cx="310983" cy="369332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2265A972-65DB-2F3A-7C3D-F1A090BD6F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6BDC34C5-051E-81BC-1A5F-5DDCA858EF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54745" y="3980771"/>
            <a:ext cx="310983" cy="369332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4C792566-17F0-B653-DC15-60F3AA9C94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配套行动计划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3F1A9DA2-457B-60D7-87D8-98DA7E892B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54745" y="5247973"/>
            <a:ext cx="310983" cy="369332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D5845B33-F50A-959F-BE1D-27B13D52F04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ABBB06F-7718-FC39-B0BA-8E546E2F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en-DE" b="1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2E4B8EC-53DE-3D5C-3F73-2B75FEAA7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60823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F97EF-A2AB-AF18-D07E-40EC3719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E26C50-60A5-E143-481A-804350AB4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E2E19D-3747-688E-67BB-BF466FF3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收款清账和</a:t>
            </a:r>
            <a:r>
              <a:rPr lang="en-US" altLang="zh-CN" dirty="0"/>
              <a:t>BIP</a:t>
            </a:r>
            <a:r>
              <a:rPr lang="zh-CN" altLang="en-US" dirty="0"/>
              <a:t>财务共享接口方案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F1663A-64C6-91E5-19DB-5C5C2F2A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5FE48B-8E4E-259F-3530-A315E7903B14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69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3E55E-87A6-AC0D-B047-D6ED56E5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收款清账和BIP财务共享接口：方案总览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FE8268-C53B-F82D-2360-F99103FCC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F489CC-3B7A-4DA5-A8C0-4984788D0EC5}" type="slidenum">
              <a:rPr kumimoji="0" lang="nl-NL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"/>
                <a:ea typeface="Verdana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000" b="0" i="0" u="none" strike="noStrike" kern="1200" cap="none" spc="0" normalizeH="0" baseline="0" noProof="0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Verdana" pitchFamily="34" charset="0"/>
              <a:sym typeface="Arial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B83A1B-ACDA-323E-78FA-845C661D9654}"/>
              </a:ext>
            </a:extLst>
          </p:cNvPr>
          <p:cNvSpPr/>
          <p:nvPr/>
        </p:nvSpPr>
        <p:spPr>
          <a:xfrm>
            <a:off x="509577" y="1078301"/>
            <a:ext cx="7582000" cy="176841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项目目标：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打通金税万鸿开票→SAP生成发票→财务共享BIP收款认领→SAP收款清账、凭证归档的端到端流程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国内、国外业务统一处理，实现收款认领、认领单拆单与自动清账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项目方案：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建设SAP与财务共享BIP、金税万鸿、资金系统的接口集成，规范国内外清账与账龄口径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3CEB23-4835-8524-ED06-5D19749A111E}"/>
              </a:ext>
            </a:extLst>
          </p:cNvPr>
          <p:cNvSpPr/>
          <p:nvPr/>
        </p:nvSpPr>
        <p:spPr>
          <a:xfrm>
            <a:off x="498949" y="3020370"/>
            <a:ext cx="2812522" cy="3076343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现状：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金税系统开票、SAP发票、BIP收款认领与清账各环节靠人工衔接，认领、拆单、清账效率低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SAP与财务共享BIP、资金系统、金税万鸿之间未打通，发票与收款状态无法自动同步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主要差距：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缺少发票信息定时/实时传输、收款认领单回传生成收款凭证的自动化接口链路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国内外清账规则、账龄计算口径需统一，国外业务缺少清账/冲销状态实时同步与专属报表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603096-9948-C826-5AC1-40C26DE51133}"/>
              </a:ext>
            </a:extLst>
          </p:cNvPr>
          <p:cNvSpPr/>
          <p:nvPr/>
        </p:nvSpPr>
        <p:spPr>
          <a:xfrm>
            <a:off x="3569079" y="3008094"/>
            <a:ext cx="4522498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统一清账规则：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国内外统一剩余清、先进先出核销，可按发票号指定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账龄以SAP核算为准，统一两个账龄口径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国外业务增强：</a:t>
            </a:r>
          </a:p>
          <a:p>
            <a:pPr marL="177800" marR="0" lvl="0" indent="-165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E6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国外清账/冲销状态实时回传BIP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7C8DF4-1C64-2F88-0B06-ABED626FAF38}"/>
              </a:ext>
            </a:extLst>
          </p:cNvPr>
          <p:cNvSpPr/>
          <p:nvPr/>
        </p:nvSpPr>
        <p:spPr>
          <a:xfrm>
            <a:off x="3569079" y="4328297"/>
            <a:ext cx="4522498" cy="176841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接口开发：</a:t>
            </a:r>
          </a:p>
          <a:p>
            <a:pPr marL="1778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SAP发票传输财务共享BIP；BIP认领单生成SAP收款凭证；实时回传清账/冲销状态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报表开发：</a:t>
            </a:r>
          </a:p>
          <a:p>
            <a:pPr marL="1778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账龄报表（考虑/不考虑付款条件两个口径）；国外按渠道、客户、订单查询发票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C9A85-6C08-91BE-B2A7-C81C0F9484AF}"/>
              </a:ext>
            </a:extLst>
          </p:cNvPr>
          <p:cNvSpPr/>
          <p:nvPr/>
        </p:nvSpPr>
        <p:spPr>
          <a:xfrm>
            <a:off x="8399872" y="2128930"/>
            <a:ext cx="3282551" cy="121811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  <a:sym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D0C951-6964-90CE-1FE7-1BE1031FE32A}"/>
              </a:ext>
            </a:extLst>
          </p:cNvPr>
          <p:cNvSpPr/>
          <p:nvPr/>
        </p:nvSpPr>
        <p:spPr>
          <a:xfrm>
            <a:off x="8399872" y="3620220"/>
            <a:ext cx="3282551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依赖金税万鸿、资金系统、用友BIP财务共享多方接口联调，需各方团队协同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收款认领、拆单及清账规则需财务与共享中心确认一致后固化到系统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国外清账/冲销状态实时同步为新增需求，需BIP与联想接口团队配合开发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C257C8-F23F-6135-BD16-2C384597EC5B}"/>
              </a:ext>
            </a:extLst>
          </p:cNvPr>
          <p:cNvSpPr/>
          <p:nvPr/>
        </p:nvSpPr>
        <p:spPr>
          <a:xfrm>
            <a:off x="8399872" y="4963779"/>
            <a:ext cx="3282551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开票、认领、清账、归档全流程线上自动化</a:t>
            </a:r>
          </a:p>
          <a:p>
            <a:pPr marL="0" marR="0" lvl="0" indent="0" algn="l" defTabSz="914400" rtl="0" eaLnBrk="1" fontAlgn="auto" latinLnBrk="0" hangingPunct="1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人工清账工作量显著减少，收款效率提升</a:t>
            </a:r>
          </a:p>
          <a:p>
            <a:pPr marL="0" marR="0" lvl="0" indent="0" algn="l" defTabSz="914400" rtl="0" eaLnBrk="1" fontAlgn="auto" latinLnBrk="0" hangingPunct="1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账龄口径统一、清账状态实时可查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3D97EF-3A0D-F642-36E5-A820BF7D17AE}"/>
              </a:ext>
            </a:extLst>
          </p:cNvPr>
          <p:cNvSpPr/>
          <p:nvPr/>
        </p:nvSpPr>
        <p:spPr>
          <a:xfrm>
            <a:off x="8399872" y="1078301"/>
            <a:ext cx="3282551" cy="84000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主责：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佛山财务部（吴一凡、冯雪松）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配合：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SAP实施财务顾问、用友BIP财务共享团队、联想接口开发团队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外部：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2374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微软雅黑"/>
              </a:rPr>
              <a:t>艾维登DRC专家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9F03C8-78B8-5C5A-4E7E-65A074BB6DE1}"/>
              </a:ext>
            </a:extLst>
          </p:cNvPr>
          <p:cNvSpPr/>
          <p:nvPr/>
        </p:nvSpPr>
        <p:spPr>
          <a:xfrm>
            <a:off x="8562025" y="900920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5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责任部门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11B0AC-309E-69C3-33AD-88B719E2BD76}"/>
              </a:ext>
            </a:extLst>
          </p:cNvPr>
          <p:cNvSpPr/>
          <p:nvPr/>
        </p:nvSpPr>
        <p:spPr>
          <a:xfrm>
            <a:off x="8562025" y="1985697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6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里程碑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A0EC3E-9544-8570-D013-6FEFBD557A75}"/>
              </a:ext>
            </a:extLst>
          </p:cNvPr>
          <p:cNvSpPr/>
          <p:nvPr/>
        </p:nvSpPr>
        <p:spPr>
          <a:xfrm>
            <a:off x="8562025" y="3473741"/>
            <a:ext cx="1643023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7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风险与项目依赖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7FC5FCA-26C9-08EA-D529-319629B53657}"/>
              </a:ext>
            </a:extLst>
          </p:cNvPr>
          <p:cNvSpPr/>
          <p:nvPr/>
        </p:nvSpPr>
        <p:spPr>
          <a:xfrm>
            <a:off x="8562025" y="4789456"/>
            <a:ext cx="210022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8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业务价值和数字化指标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94C96C-01C9-F514-F838-B5A57FE25B5E}"/>
              </a:ext>
            </a:extLst>
          </p:cNvPr>
          <p:cNvSpPr/>
          <p:nvPr/>
        </p:nvSpPr>
        <p:spPr>
          <a:xfrm>
            <a:off x="3773854" y="4165122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4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关键任务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AF8357-453F-3808-FC17-D574B63D166A}"/>
              </a:ext>
            </a:extLst>
          </p:cNvPr>
          <p:cNvSpPr/>
          <p:nvPr/>
        </p:nvSpPr>
        <p:spPr>
          <a:xfrm>
            <a:off x="3790570" y="2913921"/>
            <a:ext cx="1376734" cy="21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3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业务变革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7B6E11-BFB1-0C9C-7C47-D8D3E9776A33}"/>
              </a:ext>
            </a:extLst>
          </p:cNvPr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2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现状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/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差距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D058F5-6498-90B5-B51A-0AD4C06EA42E}"/>
              </a:ext>
            </a:extLst>
          </p:cNvPr>
          <p:cNvSpPr/>
          <p:nvPr/>
        </p:nvSpPr>
        <p:spPr>
          <a:xfrm>
            <a:off x="690731" y="916009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1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Arial"/>
              </a:rPr>
              <a:t>目标和范围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BE46CD-3BDD-F49A-3F4D-8F27D38AF204}"/>
              </a:ext>
            </a:extLst>
          </p:cNvPr>
          <p:cNvSpPr txBox="1"/>
          <p:nvPr/>
        </p:nvSpPr>
        <p:spPr>
          <a:xfrm>
            <a:off x="862642" y="155275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Arial"/>
              <a:sym typeface="Arial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9C94917-5314-9A8C-3C62-C2FC35D38AB3}"/>
              </a:ext>
            </a:extLst>
          </p:cNvPr>
          <p:cNvSpPr txBox="1"/>
          <p:nvPr/>
        </p:nvSpPr>
        <p:spPr>
          <a:xfrm>
            <a:off x="8824823" y="266556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BB82ACE-79F7-E1C0-10F9-860966275B72}"/>
              </a:ext>
            </a:extLst>
          </p:cNvPr>
          <p:cNvSpPr txBox="1"/>
          <p:nvPr/>
        </p:nvSpPr>
        <p:spPr>
          <a:xfrm>
            <a:off x="11964838" y="236363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Arial"/>
              <a:sym typeface="Arial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27B681-53C7-B116-4B4F-913FF7B34BE5}"/>
              </a:ext>
            </a:extLst>
          </p:cNvPr>
          <p:cNvSpPr txBox="1"/>
          <p:nvPr/>
        </p:nvSpPr>
        <p:spPr>
          <a:xfrm>
            <a:off x="8518896" y="2376115"/>
            <a:ext cx="1039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  <a:sym typeface="Arial"/>
              </a:rPr>
              <a:t>方案确认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D514D0D-057B-4661-521F-8D58EE64B4B0}"/>
              </a:ext>
            </a:extLst>
          </p:cNvPr>
          <p:cNvGrpSpPr/>
          <p:nvPr/>
        </p:nvGrpSpPr>
        <p:grpSpPr>
          <a:xfrm>
            <a:off x="8678174" y="3102633"/>
            <a:ext cx="2717320" cy="117898"/>
            <a:chOff x="8678174" y="3102633"/>
            <a:chExt cx="2717320" cy="117898"/>
          </a:xfrm>
        </p:grpSpPr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978E5ABC-2A5E-9459-318A-10CF1B3960B4}"/>
                </a:ext>
              </a:extLst>
            </p:cNvPr>
            <p:cNvCxnSpPr/>
            <p:nvPr/>
          </p:nvCxnSpPr>
          <p:spPr>
            <a:xfrm>
              <a:off x="8678174" y="3157265"/>
              <a:ext cx="2717320" cy="0"/>
            </a:xfrm>
            <a:prstGeom prst="straightConnector1">
              <a:avLst/>
            </a:prstGeom>
            <a:ln w="28575">
              <a:solidFill>
                <a:srgbClr val="00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CF38A4C-79D4-EF00-7734-7E69F6BC11B7}"/>
                </a:ext>
              </a:extLst>
            </p:cNvPr>
            <p:cNvSpPr/>
            <p:nvPr/>
          </p:nvSpPr>
          <p:spPr>
            <a:xfrm>
              <a:off x="8987033" y="3105505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  <a:sym typeface="Arial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DA0765F-9972-08A0-9C32-412C3CD24CAD}"/>
                </a:ext>
              </a:extLst>
            </p:cNvPr>
            <p:cNvSpPr/>
            <p:nvPr/>
          </p:nvSpPr>
          <p:spPr>
            <a:xfrm>
              <a:off x="9984824" y="3102633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  <a:sym typeface="Arial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6199AD1D-FAF3-58E0-F933-1E8913BC0FE2}"/>
                </a:ext>
              </a:extLst>
            </p:cNvPr>
            <p:cNvSpPr/>
            <p:nvPr/>
          </p:nvSpPr>
          <p:spPr>
            <a:xfrm>
              <a:off x="11034366" y="3117011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D97D9338-C057-A072-6A6F-0E8905FDA80E}"/>
              </a:ext>
            </a:extLst>
          </p:cNvPr>
          <p:cNvSpPr txBox="1"/>
          <p:nvPr/>
        </p:nvSpPr>
        <p:spPr>
          <a:xfrm>
            <a:off x="10662249" y="2402789"/>
            <a:ext cx="102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  <a:sym typeface="Arial"/>
              </a:rPr>
              <a:t>联调上线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06A749C-3FDA-F70B-3BD4-07674CBBFF9C}"/>
              </a:ext>
            </a:extLst>
          </p:cNvPr>
          <p:cNvSpPr txBox="1"/>
          <p:nvPr/>
        </p:nvSpPr>
        <p:spPr>
          <a:xfrm>
            <a:off x="9682457" y="2376115"/>
            <a:ext cx="833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  <a:sym typeface="Arial"/>
              </a:rPr>
              <a:t>接口开发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A7A9ED-F755-8711-FD40-803F22B6AAB3}"/>
              </a:ext>
            </a:extLst>
          </p:cNvPr>
          <p:cNvSpPr txBox="1"/>
          <p:nvPr/>
        </p:nvSpPr>
        <p:spPr>
          <a:xfrm>
            <a:off x="8652294" y="659920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344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905000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28625" y="317500"/>
            <a:ext cx="1133792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73E6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方案核心说明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28625" y="1143000"/>
            <a:ext cx="76200" cy="22860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143000"/>
            <a:ext cx="1104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方案核心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" y="1524000"/>
            <a:ext cx="1104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金税系统（万鸿）开具发票，接口在SAP系统中产生发票，并定时或者实时传输给财务共享系统BIP。后续资金系统收到客户的付款，在财务共享系统BIP中做收款认领，并形成收款认领单（包括认领单拆单），并把收款认领单传输到SAP系统，在SAP系统中产生收款凭证（可以设置立即清账或者后续清账），完成收款过程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28625" y="3683000"/>
            <a:ext cx="3556000" cy="2540000"/>
          </a:xfrm>
          <a:prstGeom prst="roundRect">
            <a:avLst>
              <a:gd name="adj" fmla="val 0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71500" y="3810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73E6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特殊业务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71500" y="4191000"/>
            <a:ext cx="330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国内、国外业务分别处理：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国内业务：统一采用剩余清模式，先进先出规则核销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国外业务：沿用剩余清模式，新增清账状态实时同步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国外附加报表：按客户、订单查询相关发票信息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18000" y="3683000"/>
            <a:ext cx="3556000" cy="2540000"/>
          </a:xfrm>
          <a:prstGeom prst="roundRect">
            <a:avLst>
              <a:gd name="adj" fmla="val 0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470400" y="3810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73E6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方案讨论人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70400" y="4191000"/>
            <a:ext cx="330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佛山财务部：吴一凡、冯雪松组织召集两次会议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SAP实施团队：财务顾问郭裕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用友BIP财务共享团队：孙美佳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联想接口开发团队：张荣芳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073E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各方一致同意以上结论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207375" y="3683000"/>
            <a:ext cx="3556000" cy="2540000"/>
          </a:xfrm>
          <a:prstGeom prst="roundRect">
            <a:avLst>
              <a:gd name="adj" fmla="val 0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59775" y="3810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73E6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后续计划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59775" y="4191000"/>
            <a:ext cx="330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后续要把方案给财务部门的其他同事进行讲解或培训，确保相关人员理解并掌握方案内容。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培训重点：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接口流程与数据流转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清账模式与账龄计算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BF37-EC7C-E9D9-9AB1-B85B2919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7AAA61-9531-1666-59E9-28F9C63A2F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93CFD3-9DD2-B443-BFE2-BB45FD94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9AF703-CDD0-11AD-77BA-E59DABBC4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0C8D82F-B813-4903-EDCD-DDB10A9746A4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72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utoShape 5">
            <a:extLst>
              <a:ext uri="{FF2B5EF4-FFF2-40B4-BE49-F238E27FC236}">
                <a16:creationId xmlns:a16="http://schemas.microsoft.com/office/drawing/2014/main" id="{0F46823E-03D7-B345-D9D9-9B1CA4D1A84C}"/>
              </a:ext>
            </a:extLst>
          </p:cNvPr>
          <p:cNvSpPr/>
          <p:nvPr/>
        </p:nvSpPr>
        <p:spPr>
          <a:xfrm>
            <a:off x="208003" y="1249322"/>
            <a:ext cx="1581971" cy="1763559"/>
          </a:xfrm>
          <a:prstGeom prst="roundRect">
            <a:avLst>
              <a:gd name="adj" fmla="val 0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27000" rIns="152400" bIns="127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5" name="AutoShape 5">
            <a:extLst>
              <a:ext uri="{FF2B5EF4-FFF2-40B4-BE49-F238E27FC236}">
                <a16:creationId xmlns:a16="http://schemas.microsoft.com/office/drawing/2014/main" id="{E16D8868-7F92-E0C1-6211-8A1011A0678C}"/>
              </a:ext>
            </a:extLst>
          </p:cNvPr>
          <p:cNvSpPr/>
          <p:nvPr/>
        </p:nvSpPr>
        <p:spPr>
          <a:xfrm>
            <a:off x="9652400" y="1249322"/>
            <a:ext cx="2419062" cy="2255878"/>
          </a:xfrm>
          <a:prstGeom prst="roundRect">
            <a:avLst>
              <a:gd name="adj" fmla="val 0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27000" rIns="152400" bIns="127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781740AE-1004-7CBB-8A0E-446ED35E94C7}"/>
              </a:ext>
            </a:extLst>
          </p:cNvPr>
          <p:cNvSpPr/>
          <p:nvPr/>
        </p:nvSpPr>
        <p:spPr>
          <a:xfrm>
            <a:off x="6143339" y="1249322"/>
            <a:ext cx="2683427" cy="3556000"/>
          </a:xfrm>
          <a:prstGeom prst="roundRect">
            <a:avLst>
              <a:gd name="adj" fmla="val 0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27000" rIns="152400" bIns="127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8CEB7E9D-CA5A-FD87-9DC2-C6B1E11F537C}"/>
              </a:ext>
            </a:extLst>
          </p:cNvPr>
          <p:cNvSpPr/>
          <p:nvPr/>
        </p:nvSpPr>
        <p:spPr>
          <a:xfrm>
            <a:off x="2375894" y="1249322"/>
            <a:ext cx="2419062" cy="3556000"/>
          </a:xfrm>
          <a:prstGeom prst="roundRect">
            <a:avLst>
              <a:gd name="adj" fmla="val 0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27000" rIns="152400" bIns="127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06727" y="1787547"/>
            <a:ext cx="1900596" cy="649552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SAP</a:t>
            </a:r>
            <a:r>
              <a:rPr lang="zh-CN" altLang="en-US" sz="1400" dirty="0"/>
              <a:t>客户发票</a:t>
            </a:r>
          </a:p>
        </p:txBody>
      </p:sp>
      <p:sp>
        <p:nvSpPr>
          <p:cNvPr id="20" name="矩形 19"/>
          <p:cNvSpPr/>
          <p:nvPr/>
        </p:nvSpPr>
        <p:spPr>
          <a:xfrm>
            <a:off x="6382082" y="2617405"/>
            <a:ext cx="2177534" cy="539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收款认领单</a:t>
            </a:r>
          </a:p>
        </p:txBody>
      </p:sp>
      <p:sp>
        <p:nvSpPr>
          <p:cNvPr id="6" name="矩形 5"/>
          <p:cNvSpPr/>
          <p:nvPr/>
        </p:nvSpPr>
        <p:spPr>
          <a:xfrm>
            <a:off x="2706727" y="3835605"/>
            <a:ext cx="1900596" cy="6584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清账</a:t>
            </a:r>
          </a:p>
        </p:txBody>
      </p:sp>
      <p:sp>
        <p:nvSpPr>
          <p:cNvPr id="12" name="矩形 11"/>
          <p:cNvSpPr/>
          <p:nvPr/>
        </p:nvSpPr>
        <p:spPr>
          <a:xfrm>
            <a:off x="2706727" y="2750894"/>
            <a:ext cx="1900596" cy="6584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收款凭证</a:t>
            </a:r>
          </a:p>
        </p:txBody>
      </p:sp>
      <p:cxnSp>
        <p:nvCxnSpPr>
          <p:cNvPr id="14" name="直接箭头连接符 13"/>
          <p:cNvCxnSpPr>
            <a:cxnSpLocks/>
            <a:stCxn id="46" idx="1"/>
            <a:endCxn id="20" idx="3"/>
          </p:cNvCxnSpPr>
          <p:nvPr/>
        </p:nvCxnSpPr>
        <p:spPr>
          <a:xfrm flipH="1">
            <a:off x="8559616" y="2864432"/>
            <a:ext cx="1894732" cy="22507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382082" y="3868659"/>
            <a:ext cx="2177534" cy="6584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凭证归档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889635" y="1795342"/>
            <a:ext cx="11590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接口传输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5340CD-3046-E47E-BD18-D7C0C4E7A07D}"/>
              </a:ext>
            </a:extLst>
          </p:cNvPr>
          <p:cNvSpPr txBox="1"/>
          <p:nvPr/>
        </p:nvSpPr>
        <p:spPr>
          <a:xfrm>
            <a:off x="3440349" y="1467798"/>
            <a:ext cx="636206" cy="3149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dirty="0">
                <a:solidFill>
                  <a:schemeClr val="accent3"/>
                </a:solidFill>
              </a:rPr>
              <a:t>SAP</a:t>
            </a:r>
            <a:endParaRPr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33748B9-2A90-0F67-F9CC-EBA6725B3117}"/>
              </a:ext>
            </a:extLst>
          </p:cNvPr>
          <p:cNvSpPr txBox="1"/>
          <p:nvPr/>
        </p:nvSpPr>
        <p:spPr>
          <a:xfrm>
            <a:off x="6968973" y="1451928"/>
            <a:ext cx="636206" cy="3149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dirty="0">
                <a:solidFill>
                  <a:schemeClr val="accent3"/>
                </a:solidFill>
              </a:rPr>
              <a:t>财务共享</a:t>
            </a:r>
            <a:r>
              <a:rPr lang="en-US" altLang="zh-CN" dirty="0">
                <a:solidFill>
                  <a:schemeClr val="accent3"/>
                </a:solidFill>
              </a:rPr>
              <a:t>BIP</a:t>
            </a:r>
            <a:endParaRPr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A5C424-A4A9-C9A3-699A-4BBC6975B8C7}"/>
              </a:ext>
            </a:extLst>
          </p:cNvPr>
          <p:cNvSpPr txBox="1"/>
          <p:nvPr/>
        </p:nvSpPr>
        <p:spPr>
          <a:xfrm>
            <a:off x="10364657" y="2189608"/>
            <a:ext cx="1476685" cy="3308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dirty="0">
                <a:solidFill>
                  <a:schemeClr val="accent3"/>
                </a:solidFill>
              </a:rPr>
              <a:t>资金系统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83CFD1-E0FB-1987-7F48-A9037F4F346E}"/>
              </a:ext>
            </a:extLst>
          </p:cNvPr>
          <p:cNvSpPr/>
          <p:nvPr/>
        </p:nvSpPr>
        <p:spPr>
          <a:xfrm>
            <a:off x="6382082" y="1797619"/>
            <a:ext cx="2177534" cy="6584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接受</a:t>
            </a:r>
            <a:r>
              <a:rPr lang="en-US" altLang="zh-CN" sz="1400" dirty="0">
                <a:solidFill>
                  <a:schemeClr val="tx1"/>
                </a:solidFill>
              </a:rPr>
              <a:t>SAP</a:t>
            </a:r>
            <a:r>
              <a:rPr lang="zh-CN" altLang="en-US" sz="1400" dirty="0">
                <a:solidFill>
                  <a:schemeClr val="tx1"/>
                </a:solidFill>
              </a:rPr>
              <a:t>发票信息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E3DDF4F-7DC4-76B5-EDF9-BFD618D59CAE}"/>
              </a:ext>
            </a:extLst>
          </p:cNvPr>
          <p:cNvCxnSpPr>
            <a:stCxn id="8" idx="3"/>
            <a:endCxn id="40" idx="1"/>
          </p:cNvCxnSpPr>
          <p:nvPr/>
        </p:nvCxnSpPr>
        <p:spPr>
          <a:xfrm>
            <a:off x="4607323" y="2112323"/>
            <a:ext cx="1774759" cy="14544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E6012BF0-5615-5D29-6F93-0115952E908A}"/>
              </a:ext>
            </a:extLst>
          </p:cNvPr>
          <p:cNvSpPr/>
          <p:nvPr/>
        </p:nvSpPr>
        <p:spPr>
          <a:xfrm>
            <a:off x="10454348" y="2535184"/>
            <a:ext cx="1297305" cy="65849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收到客户付款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D4C3839-58D1-4331-2E49-9D9DEB848296}"/>
              </a:ext>
            </a:extLst>
          </p:cNvPr>
          <p:cNvSpPr/>
          <p:nvPr/>
        </p:nvSpPr>
        <p:spPr>
          <a:xfrm>
            <a:off x="6382082" y="3243032"/>
            <a:ext cx="2177534" cy="469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认领单拆单</a:t>
            </a:r>
          </a:p>
        </p:txBody>
      </p:sp>
      <p:sp>
        <p:nvSpPr>
          <p:cNvPr id="53" name="左大括号 52">
            <a:extLst>
              <a:ext uri="{FF2B5EF4-FFF2-40B4-BE49-F238E27FC236}">
                <a16:creationId xmlns:a16="http://schemas.microsoft.com/office/drawing/2014/main" id="{3CDE7C04-EDF3-DBA5-CED1-57D3C615E03D}"/>
              </a:ext>
            </a:extLst>
          </p:cNvPr>
          <p:cNvSpPr/>
          <p:nvPr/>
        </p:nvSpPr>
        <p:spPr>
          <a:xfrm>
            <a:off x="5853520" y="2864432"/>
            <a:ext cx="528562" cy="584083"/>
          </a:xfrm>
          <a:prstGeom prst="leftBrac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1EFDF2C-989C-83FD-F2B2-BA46F36DA84C}"/>
              </a:ext>
            </a:extLst>
          </p:cNvPr>
          <p:cNvCxnSpPr>
            <a:cxnSpLocks/>
            <a:stCxn id="53" idx="1"/>
          </p:cNvCxnSpPr>
          <p:nvPr/>
        </p:nvCxnSpPr>
        <p:spPr>
          <a:xfrm flipH="1" flipV="1">
            <a:off x="3673199" y="3156473"/>
            <a:ext cx="2180321" cy="1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83B93BD-CBBD-A0CD-B595-8C72794FC7EA}"/>
              </a:ext>
            </a:extLst>
          </p:cNvPr>
          <p:cNvCxnSpPr>
            <a:cxnSpLocks/>
            <a:stCxn id="12" idx="2"/>
            <a:endCxn id="6" idx="0"/>
          </p:cNvCxnSpPr>
          <p:nvPr/>
        </p:nvCxnSpPr>
        <p:spPr>
          <a:xfrm>
            <a:off x="3657025" y="3409389"/>
            <a:ext cx="0" cy="426216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80C4DCD6-BEB4-9514-2988-A438516A8DBA}"/>
              </a:ext>
            </a:extLst>
          </p:cNvPr>
          <p:cNvSpPr txBox="1"/>
          <p:nvPr/>
        </p:nvSpPr>
        <p:spPr>
          <a:xfrm>
            <a:off x="4889636" y="2843172"/>
            <a:ext cx="11590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接口传输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A721EDB-2C29-8F32-3427-241B097391CD}"/>
              </a:ext>
            </a:extLst>
          </p:cNvPr>
          <p:cNvSpPr txBox="1"/>
          <p:nvPr/>
        </p:nvSpPr>
        <p:spPr>
          <a:xfrm>
            <a:off x="8961902" y="2535184"/>
            <a:ext cx="11590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接口传输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43081D1-28F4-C9B5-6452-24A4D7D764DA}"/>
              </a:ext>
            </a:extLst>
          </p:cNvPr>
          <p:cNvSpPr txBox="1"/>
          <p:nvPr/>
        </p:nvSpPr>
        <p:spPr>
          <a:xfrm>
            <a:off x="343139" y="1422372"/>
            <a:ext cx="1476685" cy="3308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dirty="0">
                <a:solidFill>
                  <a:schemeClr val="accent3"/>
                </a:solidFill>
              </a:rPr>
              <a:t>金税万鸿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627A6FC-1EF9-D4BF-2755-0D171D956CCA}"/>
              </a:ext>
            </a:extLst>
          </p:cNvPr>
          <p:cNvSpPr/>
          <p:nvPr/>
        </p:nvSpPr>
        <p:spPr>
          <a:xfrm>
            <a:off x="278102" y="1783075"/>
            <a:ext cx="1297305" cy="65849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开具金税发票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B77346FE-F596-6F67-986D-FEA33769CCAF}"/>
              </a:ext>
            </a:extLst>
          </p:cNvPr>
          <p:cNvCxnSpPr>
            <a:cxnSpLocks/>
            <a:stCxn id="68" idx="3"/>
            <a:endCxn id="8" idx="1"/>
          </p:cNvCxnSpPr>
          <p:nvPr/>
        </p:nvCxnSpPr>
        <p:spPr>
          <a:xfrm>
            <a:off x="1575407" y="2112323"/>
            <a:ext cx="1131320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786A48EF-4018-ECB1-38AD-D9179496B207}"/>
              </a:ext>
            </a:extLst>
          </p:cNvPr>
          <p:cNvSpPr txBox="1"/>
          <p:nvPr/>
        </p:nvSpPr>
        <p:spPr>
          <a:xfrm>
            <a:off x="1642905" y="1773598"/>
            <a:ext cx="11590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接口传输</a:t>
            </a: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D12795EF-0197-CDB8-39A9-0B108BEF87BF}"/>
              </a:ext>
            </a:extLst>
          </p:cNvPr>
          <p:cNvCxnSpPr/>
          <p:nvPr/>
        </p:nvCxnSpPr>
        <p:spPr>
          <a:xfrm>
            <a:off x="4586843" y="4176213"/>
            <a:ext cx="1774759" cy="14544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06D4E38A-3600-BF2C-FF28-EB2A653C647A}"/>
              </a:ext>
            </a:extLst>
          </p:cNvPr>
          <p:cNvSpPr txBox="1"/>
          <p:nvPr/>
        </p:nvSpPr>
        <p:spPr>
          <a:xfrm>
            <a:off x="4889634" y="3822457"/>
            <a:ext cx="11590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接口传输</a:t>
            </a:r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100E3BE8-B7C7-4F4E-B3B4-EFE1E99B72B8}"/>
              </a:ext>
            </a:extLst>
          </p:cNvPr>
          <p:cNvSpPr/>
          <p:nvPr/>
        </p:nvSpPr>
        <p:spPr>
          <a:xfrm>
            <a:off x="381000" y="5334000"/>
            <a:ext cx="11430000" cy="762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01600" rIns="190500" bIns="1016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2D61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接口传输说明：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 金税万鸿开具发票 → SAP产生客户发票 → 接口传输至BIP → 资金系统收款 → BIP收款认领 → 认领单回传SAP → SAP生成收款凭证并清账 → 清账结果接口传输BIP归档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2DEA6293-5BAD-CC4C-9075-93A95285C4A9}"/>
              </a:ext>
            </a:extLst>
          </p:cNvPr>
          <p:cNvSpPr/>
          <p:nvPr/>
        </p:nvSpPr>
        <p:spPr>
          <a:xfrm>
            <a:off x="428625" y="254000"/>
            <a:ext cx="1133792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73E6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系统接口图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905000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28625" y="254000"/>
            <a:ext cx="1133792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国内收款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28625" y="1079500"/>
            <a:ext cx="76200" cy="15240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5000" y="1079500"/>
            <a:ext cx="1104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清账模式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460500"/>
            <a:ext cx="1104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国内业务统一采用</a:t>
            </a:r>
            <a:r>
              <a:rPr lang="en-US" sz="1400" b="1" i="0" u="none" strike="noStrike">
                <a:solidFill>
                  <a:srgbClr val="0073E6"/>
                </a:solidFill>
                <a:latin typeface="Noto Sans SC"/>
                <a:ea typeface="Noto Sans SC"/>
                <a:cs typeface="Noto Sans SC"/>
                <a:sym typeface="Noto Sans SC"/>
              </a:rPr>
              <a:t>剩余清模式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，系统按先进先出（如果不提供SAP发票号）规则核销收款金额，剩余未结清金额生成新凭证。如果提供SAP发票号，则对应指定的SAP发票。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28625" y="2730500"/>
            <a:ext cx="76200" cy="15240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" y="2730500"/>
            <a:ext cx="1104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账龄计算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" y="3111500"/>
            <a:ext cx="1104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共享系统BIP和SAP的账龄计算，以</a:t>
            </a:r>
            <a:r>
              <a:rPr lang="en-US" sz="1400" b="1" i="0" u="none" strike="noStrike">
                <a:solidFill>
                  <a:srgbClr val="0073E6"/>
                </a:solidFill>
                <a:latin typeface="Noto Sans SC"/>
                <a:ea typeface="Noto Sans SC"/>
                <a:cs typeface="Noto Sans SC"/>
                <a:sym typeface="Noto Sans SC"/>
              </a:rPr>
              <a:t>SAP核算系统为准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。SAP以记账日期作为账龄计算基准日，外加付款条件的宽限账期，作为应付日期。</a:t>
            </a: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另外需要按照过账日期不考虑宽限天数的账龄表，存在两个口径的需求。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28625" y="43815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" y="4381500"/>
            <a:ext cx="1104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发票信息同步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4762500"/>
            <a:ext cx="1104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目前SAP是传输一段时间内新产生的发票信息给BIP系统（应收发票信息，</a:t>
            </a:r>
            <a:r>
              <a:rPr lang="en-US" sz="1400" b="1" i="0" u="none" strike="noStrike">
                <a:solidFill>
                  <a:srgbClr val="0073E6"/>
                </a:solidFill>
                <a:latin typeface="Noto Sans SC"/>
                <a:ea typeface="Noto Sans SC"/>
                <a:cs typeface="Noto Sans SC"/>
                <a:sym typeface="Noto Sans SC"/>
              </a:rPr>
              <a:t>定时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905000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28625" y="254000"/>
            <a:ext cx="1133792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国外收款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28625" y="10160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5000" y="1016000"/>
            <a:ext cx="1104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清账模式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333500"/>
            <a:ext cx="1104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国外业务继续沿用和国内一样的</a:t>
            </a:r>
            <a:r>
              <a:rPr lang="en-US" sz="1300" b="1" i="0" u="none" strike="noStrike">
                <a:solidFill>
                  <a:srgbClr val="0073E6"/>
                </a:solidFill>
                <a:latin typeface="Noto Sans SC"/>
                <a:ea typeface="Noto Sans SC"/>
                <a:cs typeface="Noto Sans SC"/>
                <a:sym typeface="Noto Sans SC"/>
              </a:rPr>
              <a:t>剩余清模式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，系统按先进先出（如果不提供SAP发票号）规则核销收款金额，剩余未结清金额生成新凭证。如果提供SAP发票号，则对应指定的SAP发票。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28625" y="2222500"/>
            <a:ext cx="76200" cy="9525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" y="2222500"/>
            <a:ext cx="1104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账龄计算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" y="2540000"/>
            <a:ext cx="1104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共享系统BIP和SAP的账龄计算，以</a:t>
            </a:r>
            <a:r>
              <a:rPr lang="en-US" sz="1300" b="1" i="0" u="none" strike="noStrike">
                <a:solidFill>
                  <a:srgbClr val="0073E6"/>
                </a:solidFill>
                <a:latin typeface="Noto Sans SC"/>
                <a:ea typeface="Noto Sans SC"/>
                <a:cs typeface="Noto Sans SC"/>
                <a:sym typeface="Noto Sans SC"/>
              </a:rPr>
              <a:t>SAP核算系统为准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。SAP以记账日期作为账龄计算基准日，外加付款条件的宽限账期，作为应收日期。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8625" y="330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" y="3302000"/>
            <a:ext cx="1104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发票信息同步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3619500"/>
            <a:ext cx="1104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目前SAP是</a:t>
            </a:r>
            <a:r>
              <a:rPr lang="en-US" sz="1300" b="1" i="0" u="none" strike="noStrike">
                <a:solidFill>
                  <a:srgbClr val="0073E6"/>
                </a:solidFill>
                <a:latin typeface="Noto Sans SC"/>
                <a:ea typeface="Noto Sans SC"/>
                <a:cs typeface="Noto Sans SC"/>
                <a:sym typeface="Noto Sans SC"/>
              </a:rPr>
              <a:t>定时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传输一段时间内新产生的发票信息给BIP系统（发送新发票信息）。</a:t>
            </a:r>
            <a:endParaRPr lang="en-US" sz="1100"/>
          </a:p>
          <a:p>
            <a:pPr marL="0" indent="0" algn="l" defTabSz="914400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更新发票清账状态（实时，只针对国外业务，包括清账和冲销状态）——相比国内新增内容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28625" y="4572000"/>
            <a:ext cx="76200" cy="9525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5000" y="4572000"/>
            <a:ext cx="1104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附加报表开发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" y="4889500"/>
            <a:ext cx="1104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提供给国外用户一个新的报表，用于查询某个客户、某个订单下所有的有关发票信息。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FE322-0CE7-8AF2-BE29-72021B2F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9C2BF-3B76-D68A-FFFB-1715A6BDE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15580C-2B31-1EC1-420D-94989D51C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配套行动计划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92F380-C2FE-2537-3E51-A9038DE9A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03F0701-03ED-DE1C-40AB-1800DAF33B41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10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905000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28625" y="254000"/>
            <a:ext cx="1133792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开发清单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28625" y="1079500"/>
            <a:ext cx="5461000" cy="4826000"/>
          </a:xfrm>
          <a:prstGeom prst="roundRect">
            <a:avLst>
              <a:gd name="adj" fmla="val 0"/>
            </a:avLst>
          </a:prstGeom>
          <a:solidFill>
            <a:srgbClr val="F0F7FF">
              <a:alpha val="100000"/>
            </a:srgbClr>
          </a:solidFill>
          <a:ln w="25400" cap="flat" cmpd="sng">
            <a:solidFill>
              <a:srgbClr val="0073E6">
                <a:alpha val="100000"/>
              </a:srgbClr>
            </a:solidFill>
            <a:prstDash val="solid"/>
            <a:round/>
          </a:ln>
        </p:spPr>
        <p:txBody>
          <a:bodyPr vert="horz" wrap="square" lIns="254000" tIns="190500" rIns="190500" bIns="19050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2D6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接口开发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073E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1. </a:t>
            </a:r>
            <a:r>
              <a:rPr lang="en-US" sz="1400" b="0" i="0" u="none" strike="noStrike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SAP发票传输给财务共享BIP</a:t>
            </a:r>
          </a:p>
          <a:p>
            <a:pPr marL="0" indent="0" algn="l" defTabSz="914400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定时或实时传输SAP客户发票信息至BIP系统</a:t>
            </a:r>
          </a:p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646464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 defTabSz="914400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073E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2. </a:t>
            </a:r>
            <a:r>
              <a:rPr lang="en-US" sz="1400" b="0" i="0" u="none" strike="noStrike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由BIP认领单产生SAP收款财务凭证</a:t>
            </a:r>
          </a:p>
          <a:p>
            <a:pPr marL="0" indent="0" algn="l" defTabSz="914400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BIP收款认领单回传SAP，自动生成收款凭证并清账</a:t>
            </a:r>
          </a:p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646464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 defTabSz="914400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073E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3. </a:t>
            </a:r>
            <a:r>
              <a:rPr lang="en-US" sz="1400" b="0" i="0" u="none" strike="noStrike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实时调用BIP接口发送发票清账/冲销状态信息给BIP</a:t>
            </a:r>
          </a:p>
          <a:p>
            <a:pPr marL="0" indent="0" algn="l" defTabSz="914400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仅针对国外业务，实时同步清账和冲销状态</a:t>
            </a:r>
          </a:p>
        </p:txBody>
      </p:sp>
      <p:sp>
        <p:nvSpPr>
          <p:cNvPr id="6" name="AutoShape 6"/>
          <p:cNvSpPr/>
          <p:nvPr/>
        </p:nvSpPr>
        <p:spPr>
          <a:xfrm>
            <a:off x="6302377" y="1079500"/>
            <a:ext cx="5461000" cy="4826000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2540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</a:ln>
        </p:spPr>
        <p:txBody>
          <a:bodyPr vert="horz" wrap="square" lIns="254000" tIns="190500" rIns="190500" bIns="19050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chemeClr val="accent3">
                    <a:lumMod val="50000"/>
                    <a:lumOff val="50000"/>
                  </a:scheme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报表开发</a:t>
            </a:r>
            <a:endParaRPr lang="en-US" sz="1100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  <a:p>
            <a:pPr marL="0" indent="0" algn="l" defTabSz="914400">
              <a:lnSpc>
                <a:spcPct val="100000"/>
              </a:lnSpc>
            </a:pPr>
            <a:endParaRPr lang="en-US" sz="1100" dirty="0"/>
          </a:p>
          <a:p>
            <a:pPr marL="0" indent="0" algn="l" defTabSz="914400">
              <a:lnSpc>
                <a:spcPct val="125000"/>
              </a:lnSpc>
            </a:pPr>
            <a:r>
              <a:rPr lang="en-US" sz="1600" b="1" i="0" u="none" strike="noStrike" dirty="0">
                <a:solidFill>
                  <a:schemeClr val="accent3">
                    <a:lumMod val="50000"/>
                    <a:lumOff val="50000"/>
                  </a:scheme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4. </a:t>
            </a:r>
            <a:r>
              <a:rPr lang="en-US" sz="1400" b="0" i="0" u="none" strike="noStrike" dirty="0" err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账龄报表（两个口径</a:t>
            </a:r>
            <a:r>
              <a:rPr lang="en-US" sz="1400" b="0" i="0" u="none" strike="noStrike" dirty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）</a:t>
            </a:r>
          </a:p>
          <a:p>
            <a:pPr marL="0" indent="0" algn="l" defTabSz="914400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464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口径一：考虑付款条件宽限账期</a:t>
            </a:r>
            <a:endParaRPr lang="en-US" sz="1200" b="0" i="0" u="none" strike="noStrike" dirty="0">
              <a:solidFill>
                <a:srgbClr val="646464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 defTabSz="914400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464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口径二：不考虑付款条件宽限天数</a:t>
            </a:r>
            <a:endParaRPr lang="en-US" sz="1200" b="0" i="0" u="none" strike="noStrike" dirty="0">
              <a:solidFill>
                <a:srgbClr val="646464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 dirty="0">
              <a:solidFill>
                <a:srgbClr val="646464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 defTabSz="914400">
              <a:lnSpc>
                <a:spcPct val="125000"/>
              </a:lnSpc>
            </a:pPr>
            <a:r>
              <a:rPr lang="en-US" sz="1600" b="1" i="0" u="none" strike="noStrike" dirty="0">
                <a:solidFill>
                  <a:schemeClr val="accent3">
                    <a:lumMod val="50000"/>
                    <a:lumOff val="50000"/>
                  </a:scheme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5. </a:t>
            </a:r>
            <a:r>
              <a:rPr lang="en-US" sz="1400" b="0" i="0" u="none" strike="noStrike" dirty="0" err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国外用户发票查询报表</a:t>
            </a:r>
            <a:endParaRPr lang="en-US" sz="1400" b="0" i="0" u="none" strike="noStrike" dirty="0">
              <a:solidFill>
                <a:srgbClr val="1F2329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 defTabSz="914400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464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给国外用户提供按渠道、客户、订单条件查询相关的所有发票信息</a:t>
            </a:r>
            <a:endParaRPr lang="en-US" sz="1200" b="0" i="0" u="none" strike="noStrike" dirty="0">
              <a:solidFill>
                <a:srgbClr val="646464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 dirty="0">
              <a:solidFill>
                <a:srgbClr val="646464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 defTabSz="914400">
              <a:lnSpc>
                <a:spcPct val="125000"/>
              </a:lnSpc>
            </a:pPr>
            <a:r>
              <a:rPr lang="en-US" sz="1400" b="1" i="0" u="none" strike="noStrike" dirty="0">
                <a:solidFill>
                  <a:schemeClr val="accent3">
                    <a:lumMod val="50000"/>
                    <a:lumOff val="50000"/>
                  </a:scheme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合计：3个接口开发 + 2个报表开发 = 5项开发任务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25D6B-2887-CBF3-9AEA-48041632E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C8C2DB-3BBF-D403-BD85-B0D712A2DE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2F7863-E0C4-5935-4AFB-7F504966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B528F1-E1B6-6696-8CA2-FD92E3976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353C92-D482-FE9D-AC37-70C7BA97173A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54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34FC0-18FB-1691-7FBF-52C5C4EC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0823D-9BCF-B313-653F-4FE0262F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cap="all" dirty="0"/>
              <a:t>附录 原始需求清单（27条，P05关联）</a:t>
            </a:r>
            <a:endParaRPr lang="zh-CN" altLang="en-US" b="1" cap="all" dirty="0"/>
          </a:p>
        </p:txBody>
      </p:sp>
    </p:spTree>
    <p:extLst>
      <p:ext uri="{BB962C8B-B14F-4D97-AF65-F5344CB8AC3E}">
        <p14:creationId xmlns:p14="http://schemas.microsoft.com/office/powerpoint/2010/main" val="603279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0538"/>
            <a:ext cx="1846659" cy="738664"/>
          </a:xfrm>
        </p:spPr>
        <p:txBody>
          <a:bodyPr/>
          <a:lstStyle/>
          <a:p>
            <a:r>
              <a:rPr lang="zh-CN" altLang="en-US" sz="4800" b="1" dirty="0"/>
              <a:t>谢谢！</a:t>
            </a:r>
            <a:endParaRPr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PPT Template - External_v2_more file size 2nd option" id="{5C96949D-A511-4C27-8972-49E175CB9004}" vid="{FDF2C615-E964-4855-905F-9BF4DFE40C13}"/>
    </a:ext>
  </a:extLst>
</a:theme>
</file>

<file path=ppt/theme/theme2.xml><?xml version="1.0" encoding="utf-8"?>
<a:theme xmlns:a="http://schemas.openxmlformats.org/drawingml/2006/main" name="1_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PPT Template - External_v2_more file size 2nd option" id="{5C96949D-A511-4C27-8972-49E175CB9004}" vid="{FDF2C615-E964-4855-905F-9BF4DFE40C13}"/>
    </a:ext>
  </a:extLst>
</a:theme>
</file>

<file path=ppt/theme/theme3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2.xml><?xml version="1.0" encoding="utf-8"?>
<TemplafySlideTemplateConfiguration><![CDATA[{"slideVersion":2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13341292813786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9B965239-770B-CA49-8A85-05CC8639E8EA}">
  <ds:schemaRefs/>
</ds:datastoreItem>
</file>

<file path=customXml/itemProps2.xml><?xml version="1.0" encoding="utf-8"?>
<ds:datastoreItem xmlns:ds="http://schemas.openxmlformats.org/officeDocument/2006/customXml" ds:itemID="{BEA80D82-EDC8-0741-826D-933AA8F9EFEB}">
  <ds:schemaRefs/>
</ds:datastoreItem>
</file>

<file path=customXml/itemProps3.xml><?xml version="1.0" encoding="utf-8"?>
<ds:datastoreItem xmlns:ds="http://schemas.openxmlformats.org/officeDocument/2006/customXml" ds:itemID="{6B6BFCDD-2828-244C-B8B0-E2958472E4D3}">
  <ds:schemaRefs/>
</ds:datastoreItem>
</file>

<file path=customXml/itemProps4.xml><?xml version="1.0" encoding="utf-8"?>
<ds:datastoreItem xmlns:ds="http://schemas.openxmlformats.org/officeDocument/2006/customXml" ds:itemID="{FE511B84-21F8-E546-9875-8BED6F722329}">
  <ds:schemaRefs/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12802</TotalTime>
  <Words>1999</Words>
  <Application>Microsoft Office PowerPoint</Application>
  <PresentationFormat>宽屏</PresentationFormat>
  <Paragraphs>186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Biennale</vt:lpstr>
      <vt:lpstr>Biennale Bold</vt:lpstr>
      <vt:lpstr>Biennale Medium</vt:lpstr>
      <vt:lpstr>Montserrat Bold</vt:lpstr>
      <vt:lpstr>Noto Sans SC</vt:lpstr>
      <vt:lpstr>等线</vt:lpstr>
      <vt:lpstr>Microsoft YaHei</vt:lpstr>
      <vt:lpstr>Microsoft YaHei</vt:lpstr>
      <vt:lpstr>Aptos</vt:lpstr>
      <vt:lpstr>Arial</vt:lpstr>
      <vt:lpstr>Calibri</vt:lpstr>
      <vt:lpstr>Montserrat SemiBold</vt:lpstr>
      <vt:lpstr>Times New Roman</vt:lpstr>
      <vt:lpstr>Verdana</vt:lpstr>
      <vt:lpstr>White background</vt:lpstr>
      <vt:lpstr>1_White background</vt:lpstr>
      <vt:lpstr>自定义主题</vt:lpstr>
      <vt:lpstr>收款清账和BIP财务共享接口方案 </vt:lpstr>
      <vt:lpstr>目录</vt:lpstr>
      <vt:lpstr>收款清账和BIP财务共享接口方案</vt:lpstr>
      <vt:lpstr>收款清账和BIP财务共享接口：方案总览</vt:lpstr>
      <vt:lpstr>PowerPoint 演示文稿</vt:lpstr>
      <vt:lpstr>方案详解及系统实现 </vt:lpstr>
      <vt:lpstr>PowerPoint 演示文稿</vt:lpstr>
      <vt:lpstr>PowerPoint 演示文稿</vt:lpstr>
      <vt:lpstr>PowerPoint 演示文稿</vt:lpstr>
      <vt:lpstr>配套行动计划 </vt:lpstr>
      <vt:lpstr>PowerPoint 演示文稿</vt:lpstr>
      <vt:lpstr>附录：相关文档及原始数据</vt:lpstr>
      <vt:lpstr>附录 原始需求清单（27条，P05关联）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Tan, Hong-liang</dc:creator>
  <cp:lastModifiedBy>2102125624@qq.com</cp:lastModifiedBy>
  <cp:revision>87</cp:revision>
  <dcterms:created xsi:type="dcterms:W3CDTF">2026-04-20T05:45:14Z</dcterms:created>
  <dcterms:modified xsi:type="dcterms:W3CDTF">2026-08-30T08:54:51Z</dcterms:modified>
</cp:coreProperties>
</file>