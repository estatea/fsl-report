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80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643"/>
        <p:guide pos="2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今天我代表项目组，向大家汇报《销售订单全链路跟踪与交期预警</a:t>
            </a:r>
            <a:r>
              <a:rPr lang="en-US" sz="1200" b="0" i="0" u="none" strike="noStrike">
                <a:solidFill>
                  <a:srgbClr val="000000"/>
                </a:solidFill>
              </a:rPr>
              <a:t>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本次方案是基于佛山照明SAP升级项目的背景，旨在通过数字化手段，优化采购流程，实现价格与货源的精细化管控，降本增效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各位领导、各位同事，大家好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今天我们将围绕数字化转型项目进行详细汇报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本次汇报的目录共分为九个部分，从管理层的执行摘要开始，我们将深入剖析现状问题、明确建设目标与治理架构，并重点介绍六项建设任务及SAP系统的本期落地方案。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同时，我们也会对实施路径、价值评估、风险应对以及后续的决策事项进行全面阐述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接下来，让我们正式进入第一部分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171450" indent="-17145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为了方便大家记忆，我将今天提到的核心概念汇总成了这张表格。从Country Version到DRC Monitor，再到数字签名和三单匹配，这些术语共同构成了我们整个DRC解决方案的核心。希望大家能通过这张表，对DRC有一个更系统的理解。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1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4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5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6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07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8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9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0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2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6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7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8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9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20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1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2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3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24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25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26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27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28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29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30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31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132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133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34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5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136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7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38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139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algn="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0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1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42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1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3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4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5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6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147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148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149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50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51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52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53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154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155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156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157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158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159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160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161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162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163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164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165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166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167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168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169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170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171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172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173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174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175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176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177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178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179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180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181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182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183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184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185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186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187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188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189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190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191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192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193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194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195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196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197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198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199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200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18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7.sv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6.sv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5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2.xml"/><Relationship Id="rId30" Type="http://schemas.openxmlformats.org/officeDocument/2006/relationships/image" Target="../media/image14.svg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21.svg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image" Target="../media/image20.svg"/><Relationship Id="rId2" Type="http://schemas.openxmlformats.org/officeDocument/2006/relationships/tags" Target="../tags/tag28.xml"/><Relationship Id="rId16" Type="http://schemas.openxmlformats.org/officeDocument/2006/relationships/image" Target="../media/image19.svg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1.png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notesSlide" Target="../notesSlides/notesSlide7.xml"/><Relationship Id="rId3" Type="http://schemas.openxmlformats.org/officeDocument/2006/relationships/tags" Target="../tags/tag41.xml"/><Relationship Id="rId21" Type="http://schemas.openxmlformats.org/officeDocument/2006/relationships/image" Target="../media/image24.svg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image" Target="../media/image23.sv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image" Target="../media/image26.svg"/><Relationship Id="rId10" Type="http://schemas.openxmlformats.org/officeDocument/2006/relationships/tags" Target="../tags/tag48.xml"/><Relationship Id="rId19" Type="http://schemas.openxmlformats.org/officeDocument/2006/relationships/image" Target="../media/image1.png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image" Target="../media/image1.png"/><Relationship Id="rId10" Type="http://schemas.openxmlformats.org/officeDocument/2006/relationships/tags" Target="../tags/tag64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image" Target="../media/image1.png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23068" y="1847166"/>
            <a:ext cx="5486400" cy="1581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48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销售订单全链路跟踪与交期预警</a:t>
            </a:r>
          </a:p>
        </p:txBody>
      </p:sp>
      <p:sp>
        <p:nvSpPr>
          <p:cNvPr id="4" name="AutoShape 4"/>
          <p:cNvSpPr/>
          <p:nvPr/>
        </p:nvSpPr>
        <p:spPr>
          <a:xfrm>
            <a:off x="423068" y="4077251"/>
            <a:ext cx="5486400" cy="11218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3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业务诊断咨询及SAP系统升级实施项目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23068" y="5491978"/>
            <a:ext cx="36576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2026.08.16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07" r="106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954745" y="1446367"/>
            <a:ext cx="310983" cy="3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01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1446530"/>
            <a:ext cx="7520940" cy="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专项方案概述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410950" y="2419350"/>
            <a:ext cx="3556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406268" y="4586561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954745" y="2412966"/>
            <a:ext cx="365760" cy="36893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02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2413000"/>
            <a:ext cx="7520940" cy="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方案详解及系统实现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目录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954745" y="3479013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621008" y="3479165"/>
            <a:ext cx="752094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配套行动计划</a:t>
            </a:r>
          </a:p>
        </p:txBody>
      </p:sp>
      <p:sp>
        <p:nvSpPr>
          <p:cNvPr id="16" name="AutoShape 16"/>
          <p:cNvSpPr/>
          <p:nvPr/>
        </p:nvSpPr>
        <p:spPr>
          <a:xfrm>
            <a:off x="2901405" y="4530775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621008" y="4530775"/>
            <a:ext cx="752121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附录：相关文档及原始数据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9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5905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销售订单履约现状问题，系统性分析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2159000" cy="2032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2603500"/>
            <a:ext cx="203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订单履约</a:t>
            </a:r>
            <a:b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体系分析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1"/>
            </p:custDataLst>
          </p:nvPr>
        </p:nvCxnSpPr>
        <p:spPr>
          <a:xfrm rot="-4911">
            <a:off x="2794005" y="3422650"/>
            <a:ext cx="889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E3A8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>
            <p:custDataLst>
              <p:tags r:id="rId2"/>
            </p:custDataLst>
          </p:nvPr>
        </p:nvCxnSpPr>
        <p:spPr>
          <a:xfrm rot="-5571743">
            <a:off x="3746500" y="3295491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2921000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048000" y="1930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3429000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管理维度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3048000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销售、生产、采购三方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信息传递不规范、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边界模糊，订单履约各环节缺乏统一管控规则，交期承诺与实际执行脱节。</a:t>
            </a:r>
          </a:p>
        </p:txBody>
      </p:sp>
      <p:cxnSp>
        <p:nvCxnSpPr>
          <p:cNvPr id="14" name="Connector 14"/>
          <p:cNvCxnSpPr/>
          <p:nvPr>
            <p:custDataLst>
              <p:tags r:id="rId7"/>
            </p:custDataLst>
          </p:nvPr>
        </p:nvCxnSpPr>
        <p:spPr>
          <a:xfrm rot="-5571743">
            <a:off x="6588311" y="3295491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5762811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889811" y="1930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6270811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数据维度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5889811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销售订单、生产订单、采购订单数据分散，缺乏统一关联；提前期数据缺失，交期计算无可靠依据。</a:t>
            </a:r>
          </a:p>
        </p:txBody>
      </p:sp>
      <p:cxnSp>
        <p:nvCxnSpPr>
          <p:cNvPr id="19" name="Connector 19"/>
          <p:cNvCxnSpPr/>
          <p:nvPr>
            <p:custDataLst>
              <p:tags r:id="rId12"/>
            </p:custDataLst>
          </p:nvPr>
        </p:nvCxnSpPr>
        <p:spPr>
          <a:xfrm rot="-5571743">
            <a:off x="9457016" y="3295491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/>
          <p:nvPr>
            <p:custDataLst>
              <p:tags r:id="rId13"/>
            </p:custDataLst>
          </p:nvPr>
        </p:nvSpPr>
        <p:spPr>
          <a:xfrm>
            <a:off x="8631516" y="1778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758516" y="19304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5"/>
            </p:custDataLst>
          </p:nvPr>
        </p:nvSpPr>
        <p:spPr>
          <a:xfrm>
            <a:off x="9139516" y="1930400"/>
            <a:ext cx="215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系统维度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8758516" y="23495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SAP标准订单跟踪功能未充分利用，销售无法直观查看生产与采购进度；缺乏从订单到入库的端到端可视化。</a:t>
            </a:r>
          </a:p>
        </p:txBody>
      </p:sp>
      <p:cxnSp>
        <p:nvCxnSpPr>
          <p:cNvPr id="24" name="Connector 24"/>
          <p:cNvCxnSpPr/>
          <p:nvPr>
            <p:custDataLst>
              <p:tags r:id="rId17"/>
            </p:custDataLst>
          </p:nvPr>
        </p:nvCxnSpPr>
        <p:spPr>
          <a:xfrm rot="5228255">
            <a:off x="5397500" y="354980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AutoShape 25"/>
          <p:cNvSpPr/>
          <p:nvPr>
            <p:custDataLst>
              <p:tags r:id="rId18"/>
            </p:custDataLst>
          </p:nvPr>
        </p:nvSpPr>
        <p:spPr>
          <a:xfrm>
            <a:off x="3937000" y="3674037"/>
            <a:ext cx="2921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064000" y="3826437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20"/>
            </p:custDataLst>
          </p:nvPr>
        </p:nvSpPr>
        <p:spPr>
          <a:xfrm>
            <a:off x="4445000" y="3826437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04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协同维度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1"/>
            </p:custDataLst>
          </p:nvPr>
        </p:nvSpPr>
        <p:spPr>
          <a:xfrm>
            <a:off x="4064000" y="4245537"/>
            <a:ext cx="266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销售、生产、采购部门间信息不透明，物料齐套状态无法实时共享；交期异常依赖人工逐级传递，响应滞后。</a:t>
            </a:r>
          </a:p>
        </p:txBody>
      </p:sp>
      <p:cxnSp>
        <p:nvCxnSpPr>
          <p:cNvPr id="29" name="Connector 29"/>
          <p:cNvCxnSpPr/>
          <p:nvPr>
            <p:custDataLst>
              <p:tags r:id="rId22"/>
            </p:custDataLst>
          </p:nvPr>
        </p:nvCxnSpPr>
        <p:spPr>
          <a:xfrm rot="5228255">
            <a:off x="8509000" y="354980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0" name="AutoShape 30"/>
          <p:cNvSpPr/>
          <p:nvPr>
            <p:custDataLst>
              <p:tags r:id="rId23"/>
            </p:custDataLst>
          </p:nvPr>
        </p:nvSpPr>
        <p:spPr>
          <a:xfrm>
            <a:off x="7366000" y="3674037"/>
            <a:ext cx="2921000" cy="1397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93000" y="3826437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25"/>
            </p:custDataLst>
          </p:nvPr>
        </p:nvSpPr>
        <p:spPr>
          <a:xfrm>
            <a:off x="7874000" y="3826437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05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运营维度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6"/>
            </p:custDataLst>
          </p:nvPr>
        </p:nvSpPr>
        <p:spPr>
          <a:xfrm>
            <a:off x="7493000" y="4245537"/>
            <a:ext cx="266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交期管理侧重事后追责，缺乏事前预警与事中监控；缺料风险临近出货才暴露，无客户沟通缓冲期。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398905" y="5842000"/>
            <a:ext cx="9501505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必须从全链路视角进行治理，单点优化无法解决根本问题，需构建全流程、全要素的订单履约体系。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当前订单履约核心痛点是全链路进度缺乏可视化与预警机制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1200" y="264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116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问题聚焦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1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当前订单履约管理中最突出的核心问题，在于销售订单、生产订单、采购订单三者缺乏统一的跟踪与预警载体。这直接导致订单交期无反馈、物料进度无法追踪、临近出货才暴露缺料，销售需反复询问生产进度，严重影响客户满意度与交付履约率。</a:t>
            </a: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31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21200" y="2641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97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方案定位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52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方案从“供应链履约能力提升”的宏观方向进一步聚焦，精准锁定为“销售订单全链路跟踪与交期预警”。通过构建统一的数字化跟踪看板，打破销售、生产、采购间的信息壁垒，形成从订单接收、生产执行、采购配套到入库交付的端到端可视化闭环，实现履约进度的透明化与预警自动化</a:t>
            </a: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812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31200" y="2641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78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覆盖范围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33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面覆盖订单履约的核心全链路：从销售订单录入的源头管控，到生产订单的执行进度跟踪；从采购订单的交期与到货监控，到物料齐套检查与缺料预警；从各环节预计完成时间的自动计算，到提前7天交期预警与客户沟通缓冲，最后延伸至事后的交付准确率分析与持续优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方案综述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575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销售订单全链路跟踪与交期预警：方案总览</a:t>
            </a:r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项目目标：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建立销售订单全链路跟踪体系，实现从订单到入库的全流程可视化。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建立各环节预计完成时间自动计算机制，实现交期精准预测</a:t>
            </a:r>
            <a:r>
              <a:rPr lang="zh-CN" alt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（二期）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构建交期预警（提前7天）与缺料风险同步机制，预留客户沟通缓冲期。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建立订单履约分析体系，为交付准确率提升与供应链优化提供数据支撑</a:t>
            </a:r>
            <a:r>
              <a:rPr lang="zh-CN" altLang="en-US" sz="10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（二期）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项目方案：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全链路跟踪看板：销售订单→生产订单→采购订单→入库全流程可视化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交期自动计算：Lead Time数据进系统，供应商承诺交期进系统，自动计算各环节预计完成时间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交期预警机制：提前7天预警，交货及时率统计，异常订单自动标识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缺料风险管控：物料齐套检查，缺料提前同步，采购进度跟踪，履约驾驶舱</a:t>
            </a:r>
            <a:endParaRPr lang="zh-CN" altLang="en-US" sz="10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9110" y="3020060"/>
            <a:ext cx="2812415" cy="3212465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订单交期无反馈机制，销售下单后无法获知履约进度。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物料进度无法追踪，生产与采购执行状态不透明。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临近出货才暴露缺料，无缓冲时间协调客户或加急采购。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销售需反复电话/邮件询问生产进度，沟通成本高且信息滞后。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生产周期与交付日期依赖人工填报，易漏填或填错。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交付准确率与准时交货率缺乏系统自动统计。</a:t>
            </a:r>
          </a:p>
          <a:p>
            <a:pPr marL="0" indent="0" algn="l">
              <a:lnSpc>
                <a:spcPct val="100000"/>
              </a:lnSpc>
            </a:pPr>
            <a:endParaRPr lang="en-US" sz="10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主要差距：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订单履约未形成全链路跟踪机制。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SAP标准订单报表利用不足。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交期管理缺少系统预警与自动计算。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销售、生产、采购数据协同存在断点。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履约分析缺少统一指标体系。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4766" y="3009009"/>
            <a:ext cx="4522498" cy="152623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订单跟踪：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由人工询问➡️全链路自动可视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交期管理：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由经验估算➡️系统自动计算交期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采购执行：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由事后追责➡️事前预警+事中监控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履约分析：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由离线统计➡️实时履约驾驶舱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669971"/>
            <a:ext cx="4522498" cy="14267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销售订单全链路跟踪看板建设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交期自动计算与预警规则配置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物料齐套检查与缺料预警策略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采购交期与到货进度监控闭环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SD/PP/MM模块数据集成协同优化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订单履约分析体系与交付报表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1" i="0" u="none" strike="noStrike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订单类型需</a:t>
            </a:r>
            <a:r>
              <a:rPr lang="zh-CN" altLang="en-US" sz="1000" b="1" i="0" u="none" strike="no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梳理，尽可能按照</a:t>
            </a:r>
            <a:r>
              <a:rPr lang="en-US" altLang="zh-CN" sz="1000" b="1" i="0" u="none" strike="no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MTO</a:t>
            </a:r>
            <a:r>
              <a:rPr lang="zh-CN" altLang="en-US" sz="1000" b="1" i="0" u="none" strike="no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模式执行</a:t>
            </a:r>
            <a:endParaRPr lang="en-US" sz="1000" b="1" i="0" u="none" strike="noStrike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1" i="0" u="none" strike="no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Lead </a:t>
            </a:r>
            <a:r>
              <a:rPr lang="en-US" sz="1000" b="1" i="0" u="none" strike="noStrike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Time数据需收集</a:t>
            </a:r>
            <a:r>
              <a:rPr lang="zh-CN" altLang="en-US" sz="1000" b="1" i="0" u="none" strike="noStrike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并完善主数据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微软雅黑" panose="020B0503020204020204" charset="-122"/>
              </a:rPr>
              <a:t>账实相符，不能帐外作业，不能两层皮</a:t>
            </a:r>
            <a:endParaRPr lang="en-US" sz="1000" b="1" i="0" u="none" strike="noStrike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物料齐套逻辑需确认</a:t>
            </a:r>
            <a:endParaRPr lang="en-US" sz="10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SD/PP/</a:t>
            </a: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MM接口边界需确认</a:t>
            </a:r>
            <a:endParaRPr lang="en-US" sz="10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关键用户需全过程参与</a:t>
            </a:r>
            <a:endParaRPr lang="en-US" sz="10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订单跟踪：全链路进度一键可查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交期管理：提前7天自动预警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缺料管控：物料齐套提前检查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沟通效率：减少销售反复询问生产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履约运营：形成交付准确率、准时交货率及履约分析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主责： </a:t>
            </a:r>
            <a:r>
              <a:rPr lang="zh-CN" alt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销售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事业部、制造基地运营中心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配合： 供应链中心、采购部、数智化部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外部：艾维登PP/SD专家实施团队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责任部门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里程碑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风险与项目依赖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 业务价值和数字化指标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73854" y="4535239"/>
            <a:ext cx="137673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关键任务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63676" y="2913921"/>
            <a:ext cx="1376734" cy="215127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业务变革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现状/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差距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01040" y="916305"/>
            <a:ext cx="1200785" cy="27749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目标和范围</a:t>
            </a:r>
            <a:endParaRPr lang="en-US" sz="1200" b="1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518896" y="2403009"/>
            <a:ext cx="1039793" cy="2462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需求确认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20" cy="0"/>
          </a:xfrm>
          <a:prstGeom prst="straightConnector1">
            <a:avLst/>
          </a:prstGeom>
          <a:noFill/>
          <a:ln w="25400" cap="flat">
            <a:solidFill>
              <a:srgbClr val="003366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662096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履约分析上线</a:t>
            </a:r>
          </a:p>
        </p:txBody>
      </p:sp>
      <p:sp>
        <p:nvSpPr>
          <p:cNvPr id="32" name="AutoShape 32"/>
          <p:cNvSpPr/>
          <p:nvPr/>
        </p:nvSpPr>
        <p:spPr>
          <a:xfrm>
            <a:off x="9130030" y="2402840"/>
            <a:ext cx="915035" cy="40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跟踪看板上线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3722914" y="31242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0365823" y="3107116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9956750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交期预警上线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507865" y="6494145"/>
            <a:ext cx="2670175" cy="177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（二期实施）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48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SAP为核心构建销售订单全链路跟踪与交期预警体系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专题定位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286000"/>
            <a:ext cx="5080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以SAP S/4HANA作为订单履约跟踪与交期预警的核心引擎，通过统一标准化的销售订单、生产订单、采购订单关联机制，物料齐套检查规则，提前期主数据及交期预警规则，打通从销售订单录入、生产计划下达、采购订单执行、物料到货入库到成品完工交付的全流程数据链路，形成“计划-执行-监控-分析”的订单履约管理闭环，实现履约进度的透明化、交期预警的自动化与异常处理的及时化，为客户交付承诺与供应链协同提供坚实的数字化支撑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969000" y="1524000"/>
            <a:ext cx="571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建设目标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969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"/>
            </p:custDataLst>
          </p:nvPr>
        </p:nvSpPr>
        <p:spPr>
          <a:xfrm>
            <a:off x="59690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21400" y="2438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64770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订单跟踪可视化</a:t>
            </a:r>
          </a:p>
        </p:txBody>
      </p:sp>
      <p:sp>
        <p:nvSpPr>
          <p:cNvPr id="14" name="AutoShape 14"/>
          <p:cNvSpPr/>
          <p:nvPr>
            <p:custDataLst>
              <p:tags r:id="rId4"/>
            </p:custDataLst>
          </p:nvPr>
        </p:nvSpPr>
        <p:spPr>
          <a:xfrm>
            <a:off x="61214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建立销售订单→生产订单→采购订单→入库的全链路关联视图，实现各环节执行进度的实时可查与动态监控。</a:t>
            </a:r>
          </a:p>
        </p:txBody>
      </p:sp>
      <p:sp>
        <p:nvSpPr>
          <p:cNvPr id="15" name="AutoShape 15"/>
          <p:cNvSpPr/>
          <p:nvPr>
            <p:custDataLst>
              <p:tags r:id="rId5"/>
            </p:custDataLst>
          </p:nvPr>
        </p:nvSpPr>
        <p:spPr>
          <a:xfrm>
            <a:off x="8826500" y="228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78900" y="2438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7"/>
            </p:custDataLst>
          </p:nvPr>
        </p:nvSpPr>
        <p:spPr>
          <a:xfrm>
            <a:off x="9334500" y="24130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交期计算精准化</a:t>
            </a:r>
          </a:p>
        </p:txBody>
      </p:sp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8978900" y="28194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将物料提前期、供应商承诺交期、生产周期等数据固化为系统参数，自动计算各环节预计完成时间与最终交付日期。</a:t>
            </a:r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59690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21400" y="40259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1"/>
            </p:custDataLst>
          </p:nvPr>
        </p:nvSpPr>
        <p:spPr>
          <a:xfrm>
            <a:off x="64770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缺料预警前置化</a:t>
            </a:r>
          </a:p>
        </p:txBody>
      </p:sp>
      <p:sp>
        <p:nvSpPr>
          <p:cNvPr id="22" name="AutoShape 22"/>
          <p:cNvSpPr/>
          <p:nvPr>
            <p:custDataLst>
              <p:tags r:id="rId12"/>
            </p:custDataLst>
          </p:nvPr>
        </p:nvSpPr>
        <p:spPr>
          <a:xfrm>
            <a:off x="61214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在销售订单确认或生产计划阶段自动执行物料齐套检查，提前识别缺料风险并同步至销售与采购，预留客户沟通缓冲期。</a:t>
            </a:r>
          </a:p>
        </p:txBody>
      </p:sp>
      <p:sp>
        <p:nvSpPr>
          <p:cNvPr id="23" name="AutoShape 23"/>
          <p:cNvSpPr/>
          <p:nvPr>
            <p:custDataLst>
              <p:tags r:id="rId13"/>
            </p:custDataLst>
          </p:nvPr>
        </p:nvSpPr>
        <p:spPr>
          <a:xfrm>
            <a:off x="8826500" y="3873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978900" y="40259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15"/>
            </p:custDataLst>
          </p:nvPr>
        </p:nvSpPr>
        <p:spPr>
          <a:xfrm>
            <a:off x="9334500" y="4000500"/>
            <a:ext cx="2222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交期预警自动化</a:t>
            </a:r>
          </a:p>
        </p:txBody>
      </p:sp>
      <p:sp>
        <p:nvSpPr>
          <p:cNvPr id="26" name="AutoShape 26"/>
          <p:cNvSpPr/>
          <p:nvPr>
            <p:custDataLst>
              <p:tags r:id="rId16"/>
            </p:custDataLst>
          </p:nvPr>
        </p:nvSpPr>
        <p:spPr>
          <a:xfrm>
            <a:off x="8978900" y="4406900"/>
            <a:ext cx="2476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建立提前7天交期预警、事中进度偏差预警、事后交付准确率分析的全链路机制，有效防范交期延误、缺料停线等履约风险。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508000" y="5524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5000" y="5651500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核心价值：实现订单履约从“信息黑盒”到“全链透明”、从“人工跟催”到“系统自动”、从“事后追责”到“事前预警”的三大数字化转变，构建高效可靠的订单履约新格局。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三大管理成果实现订单履约体系升级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11200" y="1651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14400" y="1714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 订单跟踪可视化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打破销售、生产、采购间的信息壁垒，建立统一的全链路跟踪看板，实现订单履约进度的标准化展示与全流程数据可追溯，彻底消除订单状态的信息黑盒与沟通孤岛，为客户交付承诺提供坚实的数据基础。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08000" y="3048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11200" y="3048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14400" y="3111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 交期预警自动化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将依赖人工跟催的交期管理全面固化为SAP系统内的预警规则与自动计算逻辑，通过系统自动预警替代人工询问，保障交期风险的及时识别与快速响应，提升客户交付的稳定性与满意度。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08000" y="4445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11200" y="4445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14400" y="4508500"/>
            <a:ext cx="1041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 缺料管控前置化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重构缺料管理逻辑，从事后临近出货被动发现转向事前齐套自动检查、事中缺料实时预警与事后根因分析的全链路闭环管控，将缺料风险拦截在生产执行前端，显著降低交付延误与客户投诉。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969000" y="5842000"/>
            <a:ext cx="571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—— 实现从“人治”到“数治”的管理跃迁，构建透明高效的履约生态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02</a:t>
            </a:r>
          </a:p>
        </p:txBody>
      </p:sp>
      <p:sp>
        <p:nvSpPr>
          <p:cNvPr id="5" name="AutoShape 5"/>
          <p:cNvSpPr/>
          <p:nvPr/>
        </p:nvSpPr>
        <p:spPr>
          <a:xfrm>
            <a:off x="1536700" y="1866900"/>
            <a:ext cx="7344410" cy="1245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方案详解及系统实现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形成从销售订单到入库交付的端到端履约闭环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 销售订单录入 (SD)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录入客户订单与交付要求，确认交期承诺，触发后续生产与采购需求，筑牢履约起点基准。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365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 生产订单下达 (PP)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根据销售需求运行MRP生成生产订单，明确开工/完工时间，跟踪生产执行进度。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865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 采购订单执行 (MM)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根据BOM需求生成采购订单，跟踪供应商承诺交期与实际到货进度，监控物料齐套状态。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80500" y="1439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144000" y="1503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04 物料齐套检查 (PP/MM)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在生产计划与执行阶段自动检查物料齐套情况，提前识别缺料风险并触发预警与采购加急。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397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460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07 履约分析优化 (分析)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开展交付准确率与准时交货率分析，追溯延误根因，形成管理闭环，持续优化履约能力。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7625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8260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06 交期预警监控 (分析)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系统自动计算预计交付时间，提前7天预警交期风险，同步销售预留客户沟通缓冲期。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3217545"/>
            <a:ext cx="26035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91500" y="3281045"/>
            <a:ext cx="2476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0000"/>
              </a:lnSpc>
              <a:buSzTx/>
              <a:defRPr/>
            </a:pPr>
            <a:r>
              <a:rPr lang="en-US" sz="13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05 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生产完工入库</a:t>
            </a:r>
            <a:r>
              <a:rPr lang="en-US" sz="1300" b="1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 (PP)</a:t>
            </a:r>
            <a:endParaRPr lang="en-US" sz="1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 dirty="0" err="1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跟踪生产订单完工状态，成品入库后更新订单履约进度，触发发货准备流程</a:t>
            </a:r>
            <a:r>
              <a:rPr lang="en-US" sz="1000" b="0" i="0" u="none" strike="noStrike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</a:p>
          <a:p>
            <a:pPr algn="l">
              <a:lnSpc>
                <a:spcPct val="100000"/>
              </a:lnSpc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71743">
            <a:off x="3111659" y="2030095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1" name="Connector 21"/>
          <p:cNvCxnSpPr/>
          <p:nvPr/>
        </p:nvCxnSpPr>
        <p:spPr>
          <a:xfrm rot="-171743">
            <a:off x="5969159" y="2030095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2" name="Connector 22"/>
          <p:cNvCxnSpPr/>
          <p:nvPr/>
        </p:nvCxnSpPr>
        <p:spPr>
          <a:xfrm rot="-171743">
            <a:off x="8826659" y="2030095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3" name="Connector 23"/>
          <p:cNvCxnSpPr/>
          <p:nvPr/>
        </p:nvCxnSpPr>
        <p:spPr>
          <a:xfrm rot="5323618">
            <a:off x="10090150" y="2925516"/>
            <a:ext cx="571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4" name="Connector 24"/>
          <p:cNvCxnSpPr/>
          <p:nvPr/>
        </p:nvCxnSpPr>
        <p:spPr>
          <a:xfrm rot="10800000" flipV="1">
            <a:off x="7366000" y="3814445"/>
            <a:ext cx="762000" cy="635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5" name="Connector 25"/>
          <p:cNvCxnSpPr/>
          <p:nvPr/>
        </p:nvCxnSpPr>
        <p:spPr>
          <a:xfrm rot="10800000" flipV="1">
            <a:off x="4000500" y="3814445"/>
            <a:ext cx="762000" cy="635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26" name="Connector 26"/>
          <p:cNvCxnSpPr/>
          <p:nvPr/>
        </p:nvCxnSpPr>
        <p:spPr>
          <a:xfrm flipV="1">
            <a:off x="2730500" y="2645975"/>
            <a:ext cx="0" cy="57157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508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047615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79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履约进度可视化落地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98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将订单、生产、采购进度固化至系统看板，实现从“人工询问”向“一键可视”转变，消除信息偏差。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42545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5047615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8260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交期计算全程可追溯</a:t>
            </a:r>
            <a:endParaRPr lang="en-US" sz="1400" b="1" i="0" u="none" strike="noStrike" dirty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4450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从订单到入库全链路数据留痕，各环节预计完成时间实时可查，为交期承诺与管理复盘提供完整依据。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8001000" y="4920615"/>
            <a:ext cx="3683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5047615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572500" y="5047615"/>
            <a:ext cx="304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缺料风险前置化管控</a:t>
            </a:r>
            <a:endParaRPr lang="en-US" b="1" dirty="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191500" y="5428615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系统自动检查物料齐套，对缺料订单实时预警同步，将缺料风险从“事后补救”转为“事前预防”。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优先采用SAP标准功能，最小化定制开发降低实施风险</a:t>
            </a: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214719"/>
            <a:ext cx="660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sym typeface="Noto Sans SC Bold"/>
              </a:rPr>
              <a:t>标准功能优先清单</a:t>
            </a:r>
            <a:endParaRPr lang="en-US" sz="1600" b="1" dirty="0">
              <a:solidFill>
                <a:srgbClr val="0073E6"/>
              </a:solidFill>
              <a:latin typeface="微软雅黑" panose="020B0503020204020204" charset="-122"/>
              <a:ea typeface="微软雅黑" panose="020B0503020204020204" charset="-122"/>
              <a:sym typeface="Noto Sans SC Bold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1849719"/>
            <a:ext cx="66040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29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8500" y="1951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订单跟踪：标准化报表与进度查询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53342"/>
            <a:ext cx="177800" cy="177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14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COOIS报表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生产订单进度标准查询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2453342"/>
            <a:ext cx="177800" cy="177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073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VA05报表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销售订单关联跟踪标准载体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2453342"/>
            <a:ext cx="177800" cy="177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78400" y="2306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MD04/MD05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物料需求与库存标准查询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246719"/>
            <a:ext cx="6604000" cy="1206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29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98500" y="3348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生产进度：标准化执行与完工跟踪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3850342"/>
            <a:ext cx="177800" cy="177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生产订单状态管理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锁定生产执行阶段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3850342"/>
            <a:ext cx="177800" cy="177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073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完工确认机制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按工序自动报工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3850342"/>
            <a:ext cx="177800" cy="177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78400" y="3703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入库过账联动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自动更新订单进度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4643719"/>
            <a:ext cx="6604000" cy="11430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29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98500" y="4745319"/>
            <a:ext cx="635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采购跟踪：标准化交期与到货监控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5247342"/>
            <a:ext cx="177800" cy="177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4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采购订单历史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跟踪供应商承诺交期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0" y="5247342"/>
            <a:ext cx="177800" cy="177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3073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收货确认机制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自动更新到货状态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5247342"/>
            <a:ext cx="177800" cy="177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978400" y="5100919"/>
            <a:ext cx="196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库存可用性检查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标准物料齐套判断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493000" y="1214719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 Bold"/>
              </a:rPr>
              <a:t>需增强</a:t>
            </a:r>
            <a:r>
              <a:rPr lang="en-US" sz="1600" b="1" i="0" u="none" strike="noStrike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 Bold"/>
              </a:rPr>
              <a:t>开发事项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493000" y="1849719"/>
            <a:ext cx="4191000" cy="3746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2263589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937500" y="2103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全链路跟踪看板：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整合销售订单、生产订单、采购订单、库存状态的自定义跟踪报表，一键查询履约进度。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2962089"/>
            <a:ext cx="203200" cy="203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937500" y="2802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交期预警增强：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在申请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基于提前期与供应商承诺交期的自定义预警逻辑，提前7天自动推送交期风险清单。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3660589"/>
            <a:ext cx="203200" cy="2032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937500" y="3500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物料齐套检查增强：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在销售订单确认或生产计划阶段自动执行BOM展开与库存比对，识别缺料风险。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4359089"/>
            <a:ext cx="203200" cy="2032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7937500" y="41992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准时交货率分析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跨周期的实际交付与承诺交期对比，自动统计准时交货率与延误原因。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3500" y="5057589"/>
            <a:ext cx="203200" cy="2032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7937500" y="4897719"/>
            <a:ext cx="37465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履约异常全景看板：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整合交期延误、缺料、生产异常的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Fiori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分析卡片，提升决策效率。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0" y="5977219"/>
            <a:ext cx="12192000" cy="381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254000" y="6015319"/>
            <a:ext cx="1168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实施原则：标准功能覆盖率达到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85%</a:t>
            </a:r>
            <a:r>
              <a:rPr lang="en-US" sz="1200" b="0" i="1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以上，仅在标准功能无法满足的关键业务场景进行增强开发，确保系统稳定性与可维护性。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主数据治理是方案落地的前提条件，权限设计保障内控合规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1110578"/>
            <a:ext cx="1117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 数据治理前提：夯实履约数字化底座</a:t>
            </a:r>
          </a:p>
        </p:txBody>
      </p:sp>
      <p:sp>
        <p:nvSpPr>
          <p:cNvPr id="7" name="AutoShape 7"/>
          <p:cNvSpPr/>
          <p:nvPr/>
        </p:nvSpPr>
        <p:spPr>
          <a:xfrm>
            <a:off x="381000" y="1555078"/>
            <a:ext cx="1130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主数据是履约运转的“地基”，若标准缺失将导致交期失真、进度冲突与报表错误。本方案需优先完成五大核心对象的标准化治理，确保数据的唯一性、准确性与时效性。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810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物料主数据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统一基本视图与MRP视图字段标准，消除“一物多码”，规范提前期、计划交货时间等字段维护。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6924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6924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7559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 BOM主数据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755900" y="2736178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统一编码规则与分类体系，建立准入、变更、退出的全生命周期状态管控机制。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0038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038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673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 提前期主数据</a:t>
            </a:r>
          </a:p>
        </p:txBody>
      </p:sp>
      <p:sp>
        <p:nvSpPr>
          <p:cNvPr id="19" name="AutoShape 19"/>
          <p:cNvSpPr/>
          <p:nvPr/>
        </p:nvSpPr>
        <p:spPr>
          <a:xfrm>
            <a:off x="50673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规范物料采购提前期、生产周期、计划交货时间等数据收集与导入，为交期自动计算提供基准。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3152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3152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3787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04 供应商主数据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378700" y="2736178"/>
            <a:ext cx="203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统一供应商承诺交期维护规则，建立交期变更的审批与更新机制，确保采购进度跟踪准确。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626600" y="2253578"/>
            <a:ext cx="2159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626600" y="2253578"/>
            <a:ext cx="2159000" cy="406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690100" y="2304378"/>
            <a:ext cx="203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05 客户主数据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690100" y="2736178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标准化配额分配维度，建立配额调整的审批流程，保障供应商供货比例的合规性。</a:t>
            </a:r>
          </a:p>
        </p:txBody>
      </p:sp>
      <p:cxnSp>
        <p:nvCxnSpPr>
          <p:cNvPr id="28" name="Connector 28"/>
          <p:cNvCxnSpPr/>
          <p:nvPr/>
        </p:nvCxnSpPr>
        <p:spPr>
          <a:xfrm rot="-3818">
            <a:off x="381004" y="3961728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381000" y="4095078"/>
            <a:ext cx="1117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6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权限与内控设计：构建合规防护网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3810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rgbClr val="059669">
              <a:alpha val="5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4768178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2500" y="4768178"/>
            <a:ext cx="298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角色分离：权责互斥防舞弊</a:t>
            </a:r>
          </a:p>
        </p:txBody>
      </p:sp>
      <p:sp>
        <p:nvSpPr>
          <p:cNvPr id="33" name="AutoShape 33"/>
          <p:cNvSpPr/>
          <p:nvPr/>
        </p:nvSpPr>
        <p:spPr>
          <a:xfrm>
            <a:off x="5715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严格执行“四眼原则”，实现交期变更与审批、进度更新与订单执行的权限分离，从流程设计上规避数据篡改风险，确保业务操作的相互制衡。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42545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rgbClr val="059669">
              <a:alpha val="5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4768178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4826000" y="4768178"/>
            <a:ext cx="298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权限分级：精细管控防越权</a:t>
            </a:r>
          </a:p>
        </p:txBody>
      </p:sp>
      <p:sp>
        <p:nvSpPr>
          <p:cNvPr id="37" name="AutoShape 37"/>
          <p:cNvSpPr/>
          <p:nvPr/>
        </p:nvSpPr>
        <p:spPr>
          <a:xfrm>
            <a:off x="44450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基于销售组织、工厂、物料组进行精细化授权。针对交期调整、订单变更等关键操作，强制配置多级审批流，杜绝权限滥用与越权操作。</a:t>
            </a:r>
          </a:p>
        </p:txBody>
      </p:sp>
      <p:sp>
        <p:nvSpPr>
          <p:cNvPr id="38" name="AutoShape 38"/>
          <p:cNvSpPr/>
          <p:nvPr/>
        </p:nvSpPr>
        <p:spPr>
          <a:xfrm>
            <a:off x="8128000" y="4603078"/>
            <a:ext cx="3683000" cy="1587500"/>
          </a:xfrm>
          <a:prstGeom prst="roundRect">
            <a:avLst>
              <a:gd name="adj" fmla="val 0"/>
            </a:avLst>
          </a:prstGeom>
          <a:solidFill>
            <a:srgbClr val="059669">
              <a:alpha val="5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4768178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699500" y="4768178"/>
            <a:ext cx="298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操作留痕：全量追溯保合规</a:t>
            </a:r>
          </a:p>
        </p:txBody>
      </p:sp>
      <p:sp>
        <p:nvSpPr>
          <p:cNvPr id="41" name="AutoShape 41"/>
          <p:cNvSpPr/>
          <p:nvPr/>
        </p:nvSpPr>
        <p:spPr>
          <a:xfrm>
            <a:off x="8318500" y="5174578"/>
            <a:ext cx="330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系统自动记录所有交期与进度的变更日志，包含变更人、时间及前后内容对比。日志数据加密存储不可篡改，全面满足审计要求与合规性检查。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03</a:t>
            </a:r>
          </a:p>
        </p:txBody>
      </p:sp>
      <p:sp>
        <p:nvSpPr>
          <p:cNvPr id="5" name="AutoShape 5"/>
          <p:cNvSpPr/>
          <p:nvPr/>
        </p:nvSpPr>
        <p:spPr>
          <a:xfrm>
            <a:off x="1786890" y="1866900"/>
            <a:ext cx="7094220" cy="11315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配套行动计划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140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任务一：建立销售订单全链路跟踪看板</a:t>
            </a: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3906">
            <a:off x="508004" y="1642635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08000" y="1933465"/>
            <a:ext cx="533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600" b="1" i="0" u="none" strike="noStrike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核心建设内容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统一订单跟踪归口：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明确销售订单履约跟踪责任部门，建立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谁接单、谁跟踪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的跟踪机制，消除信息孤岛。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订单关联标准化：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统一销售订单、生产订单、采购订单关联规则，确保数据链路一致。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03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进度自动更新流：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生产完工、采购到货自动触发进度更新，系统实时同步各环节状态。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04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全链路进度追溯：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系统自动记录订单各环节完成时间、状态及历史变更，支持履约回溯。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933465"/>
            <a:ext cx="533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Biennale"/>
              </a:rPr>
              <a:t>02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系统实现方式</a:t>
            </a:r>
            <a:endParaRPr lang="en-US" sz="1600" b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2504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2568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跟踪报表开发：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优化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</a:t>
            </a:r>
            <a:r>
              <a:rPr lang="en-US" altLang="zh-CN" sz="11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</a:t>
            </a:r>
            <a:r>
              <a:rPr lang="en-US" sz="11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AP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销售订单全链路跟踪报表，关联销售订单、生产订单、采购订单及库存状态。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3203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3266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zh-CN" alt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启动</a:t>
            </a:r>
            <a:r>
              <a:rPr lang="en-US" altLang="zh-CN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MTO</a:t>
            </a:r>
            <a:r>
              <a:rPr lang="zh-CN" alt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配置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基于销售订单类型配置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MTO关联规则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，确保生产订单与采购订单可追溯。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改变目前非真正按单生产的权宜变通逻辑。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350000" y="39019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39654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进度同步机制：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启用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生产入库联动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，自动更新销售订单履约进度与预计完成时间。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4600465"/>
            <a:ext cx="533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4663965"/>
            <a:ext cx="51435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看板与监控：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开发履约看板，自动展示各订单当前环节、预计交期及异常状态。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08000" y="5362465"/>
            <a:ext cx="11176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5464065"/>
            <a:ext cx="1092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管控价值：</a:t>
            </a:r>
            <a:r>
              <a:rPr lang="en-US" sz="1300" b="0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通过全链路可视化消除信息黑盒，确保销售可实时掌握订单进度，减少反复询问，为客户交期承诺提供数据支撑。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1165637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实现进度有跟踪、交期有计算、缺料有预警、异常有提醒、履约有分析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62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任务二：建立交期自动计算与SAP提前7天预警机制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50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1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建设目标</a:t>
            </a: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71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1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收集物料采购提前期数据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中可执行的订单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-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交期计算基准。从系统层面建立刚性的交期预警机制，彻底解决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订单交期无反馈、无预警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的管理盲区，确保客户交付可控。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31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452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核心举措</a:t>
            </a:r>
            <a:endParaRPr lang="en-US" sz="1400" b="1" i="0" u="none" strike="noStrike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452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452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建立提前期数据收集与导入规则，明确物料采购提前期、生产周期、</a:t>
            </a:r>
            <a:r>
              <a:rPr lang="zh-CN" alt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交货周期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的维护权责。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部署供应商承诺交期维护功能，解决海量采购订单交期数据更新效率问题。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配置交期预警策略，对预计延误订单实施提前7天自动预警并推送销售。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联动实际交付结果，将准时交货率作为交期基准动态调整依据。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9"/>
            </p:custDataLst>
          </p:nvPr>
        </p:nvSpPr>
        <p:spPr>
          <a:xfrm>
            <a:off x="8128000" y="1526056"/>
            <a:ext cx="3556000" cy="2794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0C4AD2">
                <a:alpha val="6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331200" y="1729256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 err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系统实现</a:t>
            </a:r>
            <a:endParaRPr lang="en-US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331200" y="2161056"/>
            <a:ext cx="3149600" cy="25400"/>
          </a:xfrm>
          <a:prstGeom prst="roundRect">
            <a:avLst>
              <a:gd name="adj" fmla="val 0"/>
            </a:avLst>
          </a:prstGeom>
          <a:solidFill>
            <a:srgbClr val="2563EB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8331200" y="2351556"/>
            <a:ext cx="31496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✓启用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标准提前期字段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(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Planned Delivery Time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)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作为交期计算核心载体。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✓开发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CPI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开发批量导入工具，支撑高频次提前期数据更新。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✓增强交期计算逻辑，自动汇总采购+生产+</a:t>
            </a:r>
            <a:r>
              <a:rPr lang="zh-CN" alt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交货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时间计算预计交付日。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✓配置交期预警任务，提前7天自动识别风险订单并推送通知。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4828056"/>
            <a:ext cx="11176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8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18556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控制价值：从源头建立交期可计算、可预警的管理机制，确保销售可提前获知交付风险，预留客户沟通缓冲期，有效防范交期延误与客户投诉，实现订单履约的闭环管控。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628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任务三：建立物料齐套检查与SAP缺料预警机制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363683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核心建设内容</a:t>
            </a:r>
          </a:p>
        </p:txBody>
      </p:sp>
      <p:sp>
        <p:nvSpPr>
          <p:cNvPr id="7" name="AutoShape 7"/>
          <p:cNvSpPr/>
          <p:nvPr/>
        </p:nvSpPr>
        <p:spPr>
          <a:xfrm>
            <a:off x="508000" y="1998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21256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01</a:t>
            </a:r>
          </a:p>
        </p:txBody>
      </p:sp>
      <p:sp>
        <p:nvSpPr>
          <p:cNvPr id="9" name="AutoShape 9"/>
          <p:cNvSpPr/>
          <p:nvPr/>
        </p:nvSpPr>
        <p:spPr>
          <a:xfrm>
            <a:off x="1206500" y="2062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物料齐套检查规则落地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将BOM展开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库存比对、在途采购等业务规则转化为系统可识别的逻辑，明确齐套判断标准与缺料预警基准，夯实系统运行基础。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2824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" y="29511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02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206500" y="2887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齐套检查（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ATP Check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）配置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按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物料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+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销售订单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+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工厂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维度执行BOM展开与库存比对，支持标准订单与工程定制单的差异化齐套检查模式。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36496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" y="37766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206500" y="37131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自动缺料预警激活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MRP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确认或生产计划下达时，系统自动触发齐套检查逻辑，无需人工干预即可识别缺料物料。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" y="4475183"/>
            <a:ext cx="5842000" cy="76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" y="4602183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04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206500" y="4538683"/>
            <a:ext cx="5080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缺料动态跟踪与监控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建立缺料跟踪规则，基于采购订单到货进度与生产计划变更，定期自动或手工更新缺料状态，实现闭环管理。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731000" y="1363683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缺料检查逻辑示意</a:t>
            </a:r>
            <a:endParaRPr lang="en-US" sz="1600" b="1" i="0" u="none" strike="noStrike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731000" y="1998683"/>
            <a:ext cx="4826000" cy="635000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 w="12700" cap="flat" cmpd="sng">
            <a:solidFill>
              <a:schemeClr val="accent5">
                <a:lumMod val="5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触发源：销售订单确认</a:t>
            </a:r>
            <a:r>
              <a:rPr lang="en-US" sz="1300" b="1" i="0" u="none" strike="noStrike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(MRP) /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生产计划下达</a:t>
            </a:r>
            <a:endParaRPr lang="en-US" sz="1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228255">
            <a:off x="9017000" y="2754492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6731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物料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A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已齐套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可正常投产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82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物料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B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部分缺料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需加急采购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033000" y="2887683"/>
            <a:ext cx="1524000" cy="11430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物料</a:t>
            </a:r>
            <a:r>
              <a:rPr lang="en-US" sz="13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C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严重缺料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需调整交期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731000" y="4284683"/>
            <a:ext cx="4826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系统依据BOM与库存自动计算各物料齐套状态，实现缺料清单的自动生成与预警，确保执行层面严格匹配生产计划，杜绝临近出货才发现缺料。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0" y="5491183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1000" y="5580083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业务价值：将物料齐套管理从人工盘点转化为系统自动检查，实现缺料风险的提前识别与同步，保障生产连续性与交付稳定性。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5" y="291465"/>
            <a:ext cx="11337925" cy="746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任务四：建立生产周期与交付准确率计算机制</a:t>
            </a: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13778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25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400" b="1" i="0" u="none" strike="noStrike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生产周期计算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25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收集并导入物料提前期数据，确保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Lead Time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自动计算生产订单开始时间与完工时间，生成生产周期统计报表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强制校验工程定制单交付日期填写，增加必填检查逻辑防止漏填错填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3778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3778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540500" y="15302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交付准确率统计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40500" y="19874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系统自动比对承诺交期与实际交付日期，计算交付准确率指标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设置交付准确率统计维度，按客户、产品、事业部自动汇总分析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规范交付日期维护流程，减少人工漏填与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先出货后补单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现象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3346302"/>
            <a:ext cx="76200" cy="18415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25500" y="34987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sym typeface="Biennale"/>
              </a:rPr>
              <a:t>03</a:t>
            </a:r>
            <a:r>
              <a:rPr lang="en-US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例外交期管理</a:t>
            </a:r>
            <a:endParaRPr lang="en-US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5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针对交期变更、紧急插单，建立分级例外审批与通知机制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交期延误与客户投诉需经过更高层级的运营与销售审核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所有例外交期全流程系统留痕，数据可追溯，支持根因分析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3346302"/>
            <a:ext cx="54610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346302"/>
            <a:ext cx="76200" cy="1841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540500" y="3498702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sym typeface="Biennale"/>
              </a:rPr>
              <a:t>04</a:t>
            </a:r>
            <a:r>
              <a:rPr lang="en-US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特殊订单标准化</a:t>
            </a:r>
            <a:endParaRPr lang="en-US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540500" y="3955902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明确工程定制单的交付日期确认流程与OA集成标准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开通样板订单的专项跟踪通道，区分量产订单与样板订单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设定紧急订单的快速响应流程，强调事后交期复盘与优化机制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254000" y="5378302"/>
            <a:ext cx="11684000" cy="5588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81000" y="5467202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管控价值：将生产周期与交付管理嵌入系统执行节点，从源头减少交期失真，构建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事前计算、事中监控、事后分析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的全流程闭环。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  <a:t>任务五与任务六：优化SD/PP/MM模块协同，构建订单履约分析体系</a:t>
            </a: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b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 Bold"/>
              </a:rPr>
            </a:b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470212"/>
            <a:ext cx="53975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" y="1546412"/>
            <a:ext cx="5143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任务五：</a:t>
            </a: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系统集成与履约分析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508000" y="2168712"/>
            <a:ext cx="53975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635000" y="2257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核心痛点：数据割裂导致履约失控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635000" y="2613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进度不同步：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SRM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录入的销售订单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需求未实时传至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，生产采购执行无依据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数据成孤岛：SD/PP/MM模块订单数据分散，关联难且影响跟踪效率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监控有盲区：订单状态变更无预警，进度差异需人工排查，耗时耗力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508000" y="3819712"/>
            <a:ext cx="5397500" cy="1460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85000"/>
            </a:schemeClr>
          </a:solidFill>
          <a:ln w="12700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635000" y="3908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破局策略：流程与数据双向打通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35000" y="4264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权责清晰：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SRM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SD聚焦订单录入与交期承诺，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PP</a:t>
            </a:r>
            <a: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MM负责生产与采购执行跟踪</a:t>
            </a:r>
            <a:b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机制保障：建立订单数据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“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定时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+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触发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”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实时关联，确保一致性</a:t>
            </a:r>
            <a:b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</a:t>
            </a:r>
            <a:r>
              <a:rPr lang="en-US" sz="1100" b="0" i="0" u="none" strike="noStrike" dirty="0" err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智能监控：部署履约大屏，异常自动告警，日清日结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86500" y="1470212"/>
            <a:ext cx="53975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13500" y="1546412"/>
            <a:ext cx="5143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任务六：订单履约分析与审计体系</a:t>
            </a:r>
          </a:p>
        </p:txBody>
      </p:sp>
      <p:sp>
        <p:nvSpPr>
          <p:cNvPr id="16" name="AutoShape 16"/>
          <p:cNvSpPr/>
          <p:nvPr>
            <p:custDataLst>
              <p:tags r:id="rId7"/>
            </p:custDataLst>
          </p:nvPr>
        </p:nvSpPr>
        <p:spPr>
          <a:xfrm>
            <a:off x="6286500" y="2168712"/>
            <a:ext cx="5397500" cy="1460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85000"/>
            </a:schemeClr>
          </a:solidFill>
          <a:ln w="12700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6413500" y="2257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01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运营驾驶舱：关键指标实时可视（报表展现，未来实现大屏展现）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9"/>
            </p:custDataLst>
          </p:nvPr>
        </p:nvSpPr>
        <p:spPr>
          <a:xfrm>
            <a:off x="6413500" y="2613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效率层：订单履约周期、准时交货率、生产完工进度追踪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合规层：交期承诺准确率、缺料预警响应率、例外交期频次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•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质量层：交付准确率、提前期数据完整度与准确率指标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0"/>
            </p:custDataLst>
          </p:nvPr>
        </p:nvSpPr>
        <p:spPr>
          <a:xfrm>
            <a:off x="6286500" y="3819712"/>
            <a:ext cx="5397500" cy="1460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1"/>
            </p:custDataLst>
          </p:nvPr>
        </p:nvSpPr>
        <p:spPr>
          <a:xfrm>
            <a:off x="6413500" y="3908612"/>
            <a:ext cx="51435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02</a:t>
            </a: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履约审计：全链路可追溯闭环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6413500" y="4264212"/>
            <a:ext cx="5143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✓全程留痕：交期变更、订单调整、例外审批系统自动存档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✓定期分析：建立季度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/</a:t>
            </a: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年度履约分析机制，持续优化</a:t>
            </a:r>
            <a:b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✓责任到人：延误订单与缺料异常可精准定位环节与责任人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8000" y="5597712"/>
            <a:ext cx="11176000" cy="635000"/>
          </a:xfrm>
          <a:prstGeom prst="roundRect">
            <a:avLst>
              <a:gd name="adj" fmla="val 0"/>
            </a:avLst>
          </a:prstGeom>
          <a:solidFill>
            <a:srgbClr val="1E3A8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5762812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价值总结：实现模块协同一体化、履约管理可视化、交付分析常态化，全面提升订单履约的数字化治理水平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04</a:t>
            </a:r>
          </a:p>
        </p:txBody>
      </p:sp>
      <p:sp>
        <p:nvSpPr>
          <p:cNvPr id="5" name="AutoShape 5"/>
          <p:cNvSpPr/>
          <p:nvPr/>
        </p:nvSpPr>
        <p:spPr>
          <a:xfrm>
            <a:off x="1786890" y="1866900"/>
            <a:ext cx="8474710" cy="19297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附录：相关文档及原始数据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Confidential</a:t>
            </a: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2514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01. MTO（按订单生产）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698500" y="16070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定义：Make-To-Order，根据客户销售订单触发生产的业务模式。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作用：销售订单与生产订单直接关联，实现订单级别的生产进度跟踪。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8500" y="24960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02. COOIS（生产订单信息系统）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98500" y="28516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定义：SAP标准生产订单信息系统，用于查询生产订单状态与进度。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作用：实时追踪生产订单执行状态、完工进度，确保生产进度透明可查。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98500" y="37406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03. Lead Time（提前期）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98500" y="40962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定义：物料从采购下单到到货入库所需的时间，含处理、运输、检验等。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作用：作为交期自动计算的核心参数，确保预计交付时间的准确性。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08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98500" y="49852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04. ATP Check（可用量检查）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98500" y="53408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定义：Available-To-Promise，检查物料库存与在途量是否满足需求的逻辑。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作用：在销售订单确认或生产计划阶段自动检查物料齐套状态，提前识别缺料。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23000" y="11244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13500" y="12514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05. 交期预警（Delivery Warning）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13500" y="16070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定义：基于预计交付时间与当前进度，提前识别交付风险的系统机制。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作用：提前7天自动推送交期风险，预留客户沟通与采购加急缓冲期。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23690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13500" y="24960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06. 准时交货率（On-Time Delivery）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13500" y="28516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定义：实际交付日期与承诺交期一致的订单占比，衡量交付履约能力。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作用：作为供应商绩效与订单履约的核心KPI，驱动持续改进。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23000" y="36136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DBEAFE">
              <a:alpha val="4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13500" y="3740639"/>
            <a:ext cx="508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07. 生产周期（Production Cycle）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413500" y="4096239"/>
            <a:ext cx="5080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定义：生产订单从开工到完工入库所需的时间，衡量生产效率。</a:t>
            </a:r>
            <a:b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作用：作为交期计算与产能规划的关键参数，支撑交付承诺与生产排程。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223000" y="4858239"/>
            <a:ext cx="5461000" cy="1168400"/>
          </a:xfrm>
          <a:prstGeom prst="roundRect">
            <a:avLst>
              <a:gd name="adj" fmla="val 0"/>
            </a:avLst>
          </a:prstGeom>
          <a:solidFill>
            <a:srgbClr val="1E40AF">
              <a:alpha val="6000"/>
            </a:srgbClr>
          </a:solidFill>
          <a:ln w="12700" cap="flat" cmpd="sng">
            <a:solidFill>
              <a:srgbClr val="1E40A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13500" y="4985239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💡 核心价值总结：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这些核心概念共同构建了销售订单全链路跟踪的知识底座，通过标准化配置、自动化计算与端到端监控，实现了从订单录入到交付的无缝衔接，保障企业在复杂供应链环境下的稳健履约。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386862" y="230685"/>
            <a:ext cx="11297138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核心概念汇总表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381000"/>
            <a:ext cx="1132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附录 原始需求清单（5条，销售订单跟踪关联）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31800" y="1572260"/>
          <a:ext cx="113284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编号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需求简述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优先级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来源部门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归属子方案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6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A0026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订单跟踪表（事务代码ZPR105）：增加交期预警，预警周期按7天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altLang="en-US" sz="1100" b="1">
                        <a:solidFill>
                          <a:srgbClr val="DC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高明生产运营中心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A0027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半成品计划表（事务代码ZPR101）：增加准时交货率汇总表、交货周期计算表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高明生产运营中心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2.3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A0385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订单交期、物料进度追踪：销售订单查看生产和采购执行进度，全流程可视化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国际事业部（佛照光电）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2.1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A0388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订单交期、物料进度追踪：缺料齐套检查，交期预警与物料全流程追踪看板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国际事业部（佛照光电）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2.2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A0441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生产周期/交付准确率计算：Lead Time数据导入，生产周期自动计算与交付准确率统计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CA8A0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商用事业部（智城科技）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Biennale"/>
                          <a:sym typeface="Biennale"/>
                        </a:rPr>
                        <a:t>2.4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5188585"/>
            <a:ext cx="3383280" cy="726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7200" y="2463648"/>
            <a:ext cx="820738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Biennale Bold"/>
                <a:sym typeface="Biennale Bold"/>
              </a:rPr>
              <a:t>谢谢</a:t>
            </a:r>
          </a:p>
        </p:txBody>
      </p:sp>
      <p:sp>
        <p:nvSpPr>
          <p:cNvPr id="6" name="AutoShape 6"/>
          <p:cNvSpPr/>
          <p:nvPr/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l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614476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SAP S/4HANA PCE |</a:t>
            </a:r>
            <a:r>
              <a:rPr lang="en-US" sz="1000" b="0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专项方案</a:t>
            </a:r>
            <a:r>
              <a:rPr lang="en-US" sz="1000" b="0" i="0" u="none" strike="noStrike" dirty="0" err="1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销售订单跟踪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 | 2026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年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8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月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Biennale"/>
              </a:rPr>
              <a:t>|</a:t>
            </a:r>
            <a:r>
              <a:rPr lang="en-US" sz="1000" b="0" i="0" u="none" strike="noStrike" dirty="0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内部文件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0" y="1270"/>
            <a:ext cx="2284095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9.29425196850394,&quot;left&quot;:220.00003655811253,&quot;top&quot;:140,&quot;width&quot;:700.000714285349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90,&quot;width&quot;:88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,&quot;left&quot;:470,&quot;top&quot;:180,&quot;width&quot;:44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0,&quot;left&quot;:40,&quot;top&quot;:120.16188976377953,&quot;width&quot;:88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,&quot;left&quot;:40,&quot;top&quot;:170.7647244094488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2149</Words>
  <Application>Microsoft Office PowerPoint</Application>
  <PresentationFormat>宽屏</PresentationFormat>
  <Paragraphs>379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Biennale</vt:lpstr>
      <vt:lpstr>Biennale Bold</vt:lpstr>
      <vt:lpstr>Biennale Medium</vt:lpstr>
      <vt:lpstr>Montserrat Bold</vt:lpstr>
      <vt:lpstr>Noto Sans SC</vt:lpstr>
      <vt:lpstr>等线</vt:lpstr>
      <vt:lpstr>微软雅黑</vt:lpstr>
      <vt:lpstr>Aptos</vt:lpstr>
      <vt:lpstr>Arial</vt:lpstr>
      <vt:lpstr>Montserrat SemiBold</vt:lpstr>
      <vt:lpstr>Verdana</vt:lpstr>
      <vt:lpstr>Office 主题​​</vt:lpstr>
      <vt:lpstr>自定义主题</vt:lpstr>
      <vt:lpstr>White background</vt:lpstr>
      <vt:lpstr>1_White background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3</cp:revision>
  <dcterms:created xsi:type="dcterms:W3CDTF">2026-08-27T00:37:27Z</dcterms:created>
  <dcterms:modified xsi:type="dcterms:W3CDTF">2026-08-30T15:23:55Z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{"Label":"1","ContentProducer":"001191110102MACQD9K64010000","ProduceID":"7674526672452144398","ReservedCode1":"","ContentPropagator":"","PropagateID":"","ReservedCode2":""}</vt:lpwstr>
  </property>
  <property fmtid="{D5CDD505-2E9C-101B-9397-08002B2CF9AE}" pid="3" name="KSOProductBuildVer">
    <vt:lpwstr>2052-0.0.0.0</vt:lpwstr>
  </property>
  <property fmtid="{D5CDD505-2E9C-101B-9397-08002B2CF9AE}" pid="4" name="ICV">
    <vt:lpwstr>F16664666C6E48A4944362D2167EFB04_12</vt:lpwstr>
  </property>
</Properties>
</file>