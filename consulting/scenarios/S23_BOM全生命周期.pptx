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  <p:sldMasterId id="2147483669" r:id="rId6"/>
  </p:sldMasterIdLst>
  <p:notesMasterIdLst>
    <p:notesMasterId r:id="rId23"/>
  </p:notesMasterIdLst>
  <p:sldIdLst>
    <p:sldId id="402" r:id="rId7"/>
    <p:sldId id="256" r:id="rId8"/>
    <p:sldId id="2147483464" r:id="rId9"/>
    <p:sldId id="259" r:id="rId10"/>
    <p:sldId id="2147483450" r:id="rId11"/>
    <p:sldId id="261" r:id="rId12"/>
    <p:sldId id="2147483406" r:id="rId13"/>
    <p:sldId id="2147483424" r:id="rId14"/>
    <p:sldId id="2147483460" r:id="rId15"/>
    <p:sldId id="2147483447" r:id="rId16"/>
    <p:sldId id="2147483457" r:id="rId17"/>
    <p:sldId id="2147483433" r:id="rId18"/>
    <p:sldId id="268" r:id="rId19"/>
    <p:sldId id="2147483411" r:id="rId20"/>
    <p:sldId id="270" r:id="rId21"/>
    <p:sldId id="29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73E6"/>
    <a:srgbClr val="0066CC"/>
    <a:srgbClr val="EC6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1"/>
    <p:restoredTop sz="94397" autoAdjust="0"/>
  </p:normalViewPr>
  <p:slideViewPr>
    <p:cSldViewPr snapToGrid="0">
      <p:cViewPr varScale="1">
        <p:scale>
          <a:sx n="74" d="100"/>
          <a:sy n="74" d="100"/>
        </p:scale>
        <p:origin x="27" y="2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D242-3ED6-ED4B-A493-BFAB0D2DA00B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415C3-E7E8-ED47-896B-87929403F8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标准</a:t>
            </a:r>
            <a:r>
              <a:rPr lang="zh-CN" altLang="en-US" dirty="0"/>
              <a:t>、精细、协同、高效</a:t>
            </a:r>
            <a:endParaRPr lang="en-US" altLang="zh-CN" dirty="0"/>
          </a:p>
          <a:p>
            <a:r>
              <a:rPr lang="zh-CN" altLang="en-US" dirty="0"/>
              <a:t>精细化的成本分析。</a:t>
            </a:r>
            <a:endParaRPr lang="en-US" altLang="zh-CN" dirty="0"/>
          </a:p>
          <a:p>
            <a:r>
              <a:rPr lang="zh-CN" altLang="en-US" dirty="0"/>
              <a:t>有量化指标的提升。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张学权</a:t>
            </a:r>
            <a:endParaRPr lang="en-US" dirty="0"/>
          </a:p>
          <a:p>
            <a:r>
              <a:rPr lang="zh-CN" altLang="en-US" dirty="0"/>
              <a:t>现在停掉</a:t>
            </a:r>
            <a:r>
              <a:rPr lang="en-US" altLang="zh-CN" dirty="0"/>
              <a:t>SAP</a:t>
            </a:r>
            <a:r>
              <a:rPr lang="zh-CN" altLang="en-US" dirty="0"/>
              <a:t>，业务是否还能够照常开展？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、统一认识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、锻炼内功，</a:t>
            </a:r>
            <a:r>
              <a:rPr lang="en-US" altLang="zh-CN" dirty="0"/>
              <a:t>SAP</a:t>
            </a:r>
            <a:r>
              <a:rPr lang="zh-CN" altLang="en-US" dirty="0"/>
              <a:t>的升级不是简单的更新，而是要把公司过往的组织能力、管理理念、管理流程进行全面的梳理和再造。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、对公司内部各个部门以及相关分子公司的负责人，一定要高度重视，亲自参与。过去几年的数字化项目，成功的不多，失败的不少，甚至变烂尾了，各个部门的负责人没参与。营销的数字化中台、</a:t>
            </a:r>
            <a:r>
              <a:rPr lang="en-US" altLang="zh-CN" dirty="0"/>
              <a:t>CRM</a:t>
            </a:r>
            <a:r>
              <a:rPr lang="zh-CN" altLang="en-US" dirty="0"/>
              <a:t>系统搞不下去了。每个单位指定一个责任心强、沟通能力强的</a:t>
            </a:r>
            <a:r>
              <a:rPr lang="en-US" altLang="zh-CN" dirty="0"/>
              <a:t>SAP</a:t>
            </a:r>
            <a:r>
              <a:rPr lang="zh-CN" altLang="en-US" dirty="0"/>
              <a:t>专员。外部公司既要专业，又要接地气。数字化部和财务部要协同好，跟艾维登要协同好。上下联动、左右协同、齐抓共管。系统要管用还要好用。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0890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8C2C35-2B8A-446E-BEC0-FD36716C29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marL="323850" indent="-152400" algn="l" defTabSz="914400">
              <a:lnSpc>
                <a:spcPct val="100000"/>
              </a:lnSpc>
              <a:defRPr sz="1200" b="1" i="0" u="none" strike="noStrike">
                <a:solidFill>
                  <a:srgbClr val="000000">
                    <a:alpha val="100000"/>
                  </a:srgbClr>
                </a:solidFill>
                <a:latin typeface="Microsoft YaHei"/>
              </a:defRPr>
            </a:lvl1pPr>
            <a:lvl2pPr marL="781050" indent="-152400"/>
            <a:lvl3pPr marL="1238250" indent="-152400"/>
            <a:lvl4pPr marL="1695450" indent="-152400"/>
            <a:lvl5pPr marL="2152650" indent="-152400"/>
            <a:lvl6pPr marL="2609850" indent="-152400"/>
            <a:lvl7pPr marL="3067050" indent="-152400"/>
            <a:lvl8pPr marL="3524250" indent="-152400"/>
            <a:lvl9pPr marL="3981450" indent="-152400"/>
          </a:lstStyle>
          <a:p>
            <a:pPr marL="171450" indent="-171450" algn="l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1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历史数据：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设定平行评估激活基准日（如2027年1月1日上线后首个完整月），基准日前的历史数据不回填。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各部门抵触：统一</a:t>
            </a:r>
          </a:p>
          <a:p>
            <a:pPr marL="0" indent="0" algn="l" defTabSz="914400">
              <a:lnSpc>
                <a:spcPct val="100000"/>
              </a:lnSpc>
            </a:pPr>
            <a:endParaRPr sz="1200"/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业务变革：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判断1：这不是SAP实施项目，是一次利益格局重塑。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佛照内部加价制造的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虚拟利润池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按保守估算约为集团真实扣非净利润的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2-3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倍量级。一旦启动消除，任何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的账面利润变化都不是小数点之争，而是生死线的争夺。技术方案再完美，如果集团高层不愿意在年终奖分配上做出强制性决定，整个方案将在执行层被稀释为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系统里跑三套数字，考核还是按老逻辑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判断2：标准成本方向是对的，但前提条件被严重低估。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标准成本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+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平行评估的组合是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S/4HANA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上的正确架构，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SAP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技术层面完全支持。但佛照有两个硬约束：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LED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芯片等核心原材料年波动可达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20-40%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，若标准成本年度冻结，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Price Variance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可能吃掉全年利润；车灯（燎旺）高度客制化，强套标准成本会产生大量无意义差异。这两个问题不解决，标准成本体系上线即失信。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判断3：0.95%净利率是变革的最佳窗口，也是最大风险来源。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薄利倒逼透明化是有利时机，管理层被迫正视成本真相。但同时，容错空间几乎为零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——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如果标准成本制定错误导致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绩效失真，在如此薄利状态下任何决策偏差都可能直接亏损。数据准备和标准成本核定的精度要求，比财务健康期高一个数量级。</a:t>
            </a:r>
          </a:p>
          <a:p>
            <a:pPr marL="0" indent="0" algn="l" defTabSz="914400">
              <a:lnSpc>
                <a:spcPct val="100000"/>
              </a:lnSpc>
            </a:pPr>
            <a:r>
              <a:rPr lang="en-US" sz="12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判断4：路径C（双轨KPI权重逐步迁移）是当前唯一可行路径，但"执行死结"在Year 2节点。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路径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（完全集团成本考核）理想但不可落地；路径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（保留法律实体利润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+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集团视角仅供参考）换汤不换药。路径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可行，但历史上类似改革最常见的失败模式是：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Year 1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顺利，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Year 2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权重调整时受损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BU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重启抵制，高层松动，改革被锁定在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"Year 1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状态</a:t>
            </a:r>
            <a:r>
              <a:rPr lang="en-US" sz="1200" b="0" i="0" u="none" strike="noStrike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"</a:t>
            </a:r>
            <a:r>
              <a:rPr lang="en-US" sz="1200" b="0" i="0" u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永远不推进。这个节点必须提前设计防御机制。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52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/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8" name="AddCustomFooter#1"/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/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/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/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5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/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 panose="020B0604030504040204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5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6632A639-65F6-44E7-9705-34D092A42112}" type="slidenum">
              <a:rPr lang="en-US" sz="1335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t>‹#›</a:t>
            </a:fld>
            <a:endParaRPr lang="en-US" sz="1335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/>
          <p:cNvSpPr txBox="1"/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anose="020B0604030504040204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AddCustomFooter#1"/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EVIDEN</a:t>
            </a: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146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52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26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7" name="AddCustomFooter#1"/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7" r:id="rId13"/>
    <p:sldLayoutId id="2147483668" r:id="rId1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36085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116744" y="1750913"/>
            <a:ext cx="6099048" cy="1581833"/>
          </a:xfrm>
        </p:spPr>
        <p:txBody>
          <a:bodyPr/>
          <a:lstStyle/>
          <a:p>
            <a:r>
              <a:rPr lang="en-US" altLang="zh-CN" dirty="0">
                <a:sym typeface="Biennale Bold"/>
              </a:rPr>
              <a:t>BOM</a:t>
            </a:r>
            <a:r>
              <a:rPr lang="zh-CN" altLang="en-US" dirty="0">
                <a:sym typeface="Biennale Bold"/>
              </a:rPr>
              <a:t>产品生命周期高效建设专题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249813" y="4077251"/>
            <a:ext cx="5486400" cy="1121887"/>
          </a:xfrm>
        </p:spPr>
        <p:txBody>
          <a:bodyPr/>
          <a:lstStyle/>
          <a:p>
            <a:r>
              <a:rPr lang="zh-CN" altLang="en-US" dirty="0"/>
              <a:t>业务诊断咨询及</a:t>
            </a:r>
            <a:r>
              <a:rPr lang="en-US" altLang="zh-CN" dirty="0"/>
              <a:t>SAP</a:t>
            </a:r>
            <a:r>
              <a:rPr lang="zh-CN" altLang="en-US" dirty="0"/>
              <a:t>系统升级实施项目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423068" y="5491978"/>
            <a:ext cx="3657600" cy="640080"/>
          </a:xfrm>
        </p:spPr>
        <p:txBody>
          <a:bodyPr/>
          <a:lstStyle/>
          <a:p>
            <a:r>
              <a:rPr lang="en-US" altLang="zh-CN" dirty="0"/>
              <a:t>2026.07.21</a:t>
            </a:r>
            <a:endParaRPr lang="zh-CN" altLang="en-US" dirty="0"/>
          </a:p>
        </p:txBody>
      </p:sp>
      <p:pic>
        <p:nvPicPr>
          <p:cNvPr id="10" name="Picture Placeholder 14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/>
          <a:srcRect l="107" r="107"/>
          <a:stretch>
            <a:fillRect/>
          </a:stretch>
        </p:blipFill>
        <p:spPr bwMode="black"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2954745" y="1446367"/>
            <a:ext cx="310983" cy="369332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专项方案概述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2954745" y="2713569"/>
            <a:ext cx="310983" cy="369332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/>
              <a:t>方案详解及系统实现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310983" cy="369332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方案实现的前提条件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310983" cy="369332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dirty="0"/>
              <a:t>附录：相关文档及原始数据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  <a:endParaRPr lang="en-US" b="1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455" y="100951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Biennale Bold"/>
              </a:rPr>
              <a:t>BOM</a:t>
            </a:r>
            <a:r>
              <a:rPr lang="zh-CN" altLang="en-US" dirty="0">
                <a:sym typeface="Biennale Bold"/>
              </a:rPr>
              <a:t>产品生命周期高效建设专题方案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8625" y="6517632"/>
            <a:ext cx="1354217" cy="1538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"/>
                <a:ea typeface="Biennale"/>
                <a:cs typeface="Biennale"/>
                <a:sym typeface="Biennale"/>
              </a:rPr>
              <a:t>	Atos Confidential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4224" y="6446085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4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428624" y="291451"/>
            <a:ext cx="11337925" cy="9123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73E6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BOM产品全生命周期高效建设专题：方案总览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lvl1pPr algn="l" defTabSz="914400">
              <a:lnSpc>
                <a:spcPct val="125000"/>
              </a:lnSpc>
              <a:defRPr sz="1000" b="0" i="0" u="none" strike="noStrike" spc="0">
                <a:solidFill>
                  <a:srgbClr val="00005C">
                    <a:alpha val="100000"/>
                  </a:srgbClr>
                </a:solidFill>
                <a:latin typeface="Biennale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fld id="{A350AC83-ED35-45FD-8275-8EE12315EAC3}" type="slidenum">
              <a:rPr sz="1000" b="0" i="0" u="none" strike="noStrike">
                <a:solidFill>
                  <a:srgbClr val="00005C"/>
                </a:solidFill>
                <a:latin typeface="Biennale"/>
                <a:ea typeface="Biennale"/>
                <a:cs typeface="Biennale"/>
                <a:sym typeface="Biennale"/>
              </a:rPr>
              <a:t>4</a:t>
            </a:fld>
            <a:endParaRPr sz="1000" b="0" i="0" u="none" strike="noStrike">
              <a:solidFill>
                <a:srgbClr val="00005C"/>
              </a:solidFill>
              <a:latin typeface="Biennale"/>
              <a:ea typeface="Biennale"/>
              <a:cs typeface="Biennale"/>
              <a:sym typeface="Biennale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9577" y="1078301"/>
            <a:ext cx="7582000" cy="176841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项目目标：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解决佛山照明BOM管理的准确性、及时性、完整性问题，支撑MRP高效运行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拉通PLM与SAP之间BOM数据交互，实现上下游及时共享BOM搭建信息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建立ECN变更管理流程，确保BOM变更影响可追溯、可执行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项目方案：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BOM建立通过时间节点高效管理，明确各阶段交付时限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DBOM→MBOM转化流程标准化，PLM与SAP双向接口实时同步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通过 Group Reporting MBOM组件搭建标准化，明确进BOM与不进BOM的物料范围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建立《BOM管理规范》、《ECN变更流程》文档化和系统化管控流程。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98949" y="3020370"/>
            <a:ext cx="2812522" cy="3076343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现状：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定制订单成品物料和BOM清单缺失率9%；采购未确定BOM先行采购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无独立工艺部门，工艺技术员兼管MBOM和生产控制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PLM与SAP无MBOM双向接口，BOM搭建延后致MRP未有效运行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主要差距：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BOM建设周期长、不完整，缺失率9%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研发业务不明确无法启动BOM，搭建滞后影响MRP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PLM-SAP无双向接口，手工维护易出错，包装BOM不明确致停产</a:t>
            </a:r>
          </a:p>
        </p:txBody>
      </p:sp>
      <p:sp>
        <p:nvSpPr>
          <p:cNvPr id="9" name="AutoShape 9"/>
          <p:cNvSpPr/>
          <p:nvPr/>
        </p:nvSpPr>
        <p:spPr>
          <a:xfrm>
            <a:off x="3569079" y="3008094"/>
            <a:ext cx="4522498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BOM搭建：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从研发被动响应→时间节点驱动的高效搭建管理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数据协同：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从手工Excel维护→PLM与SAP双向接口实时互通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组织变革：设立独立工艺技术部门，明确BOM管理职责边界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业务价值：BOM搭建需求信息上下游部门共享、互动，缩短搭建周期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569079" y="4328297"/>
            <a:ext cx="4522498" cy="17684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DBOM/MBOM管理流程：与PLM拉通，明确BOM建立、审批、发布流程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PLM-SAP接口：开发BOM双向传输接口，实现MBOM实时同步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ECN变更管理：建立变更审批流程，明确立即生效和按日期生效机制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BOM组件标准化：明确进BOM物料范围，制定辅材包材管理策略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时间节点管理：明确BOM各阶段交付时限，需求明确后2小时完成响应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税务合规文档化： 管理文档化：输出《BOM管理规范》、《ECN变更操作手册》及系统操作指南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399872" y="2128930"/>
            <a:ext cx="3282551" cy="1218117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399872" y="3620220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强依赖：PLM系统对接与BOM双向接口开发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•研发部门参与度不足，BOM搭建需跨部门协同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•工艺部门组织架构调整，需明确BOM管理职责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ennale"/>
                <a:ea typeface="Biennale"/>
                <a:cs typeface="Biennale"/>
                <a:sym typeface="Biennale"/>
              </a:rPr>
              <a:t>/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中文）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399872" y="4963779"/>
            <a:ext cx="3282551" cy="113293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>
            <a:lvl1pPr marL="298450" indent="-127000"/>
            <a:lvl2pPr marL="755650" indent="-127000"/>
            <a:lvl3pPr marL="1212850" indent="-127000"/>
            <a:lvl4pPr marL="1670050" indent="-127000"/>
            <a:lvl5pPr marL="2127250" indent="-127000"/>
            <a:lvl6pPr marL="2584450" indent="-127000"/>
            <a:lvl7pPr marL="3041650" indent="-127000"/>
            <a:lvl8pPr marL="3498850" indent="-127000"/>
            <a:lvl9pPr marL="3956050" indent="-127000"/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BOM准确率≥95%，缺失率从9%降至1%以下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BOM搭建周期从周级缩短至天级，响应2小时内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MRP效率提升，采购缺料减少50%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PLM-SAP BOM数据实时互通，消除手工误差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399872" y="1078301"/>
            <a:ext cx="3282551" cy="840006"/>
          </a:xfrm>
          <a:prstGeom prst="roundRect">
            <a:avLst>
              <a:gd name="adj" fmla="val 0"/>
            </a:avLst>
          </a:prstGeom>
          <a:noFill/>
          <a:ln w="25400" cap="flat" cmpd="sng">
            <a:solidFill>
              <a:srgbClr val="002D61">
                <a:alpha val="100000"/>
              </a:srgbClr>
            </a:solidFill>
            <a:prstDash val="dash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主责：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 集团研究院、车间工艺技术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配合：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 高明生产基地、采购、生产、销管部门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外部：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艾维登生产PP、MM、SD专家、PLM顾问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562025" y="900920"/>
            <a:ext cx="1039792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5 责任部门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562025" y="1985697"/>
            <a:ext cx="1039792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6 里程碑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562025" y="3473741"/>
            <a:ext cx="1643023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7 风险与项目依赖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562025" y="4789456"/>
            <a:ext cx="2100224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8 业务价值和数字化指标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773854" y="4165122"/>
            <a:ext cx="1376734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4 关键任务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3 业务变革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2 现状/差距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0731" y="916009"/>
            <a:ext cx="1376734" cy="292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1 目标和范围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62642" y="1552755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824823" y="2665562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1964838" y="236363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518896" y="2376115"/>
            <a:ext cx="103979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BOM管理流程确认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7" name="Connector 27"/>
          <p:cNvCxnSpPr/>
          <p:nvPr/>
        </p:nvCxnSpPr>
        <p:spPr>
          <a:xfrm>
            <a:off x="8678174" y="3157265"/>
            <a:ext cx="2717320" cy="0"/>
          </a:xfrm>
          <a:prstGeom prst="straightConnector1">
            <a:avLst/>
          </a:prstGeom>
          <a:noFill/>
          <a:ln w="25400" cap="flat">
            <a:solidFill>
              <a:srgbClr val="003366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" name="AutoShape 28"/>
          <p:cNvSpPr/>
          <p:nvPr/>
        </p:nvSpPr>
        <p:spPr>
          <a:xfrm>
            <a:off x="8987033" y="3105505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984824" y="3102633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1034366" y="3117011"/>
            <a:ext cx="103520" cy="103520"/>
          </a:xfrm>
          <a:prstGeom prst="ellipse">
            <a:avLst/>
          </a:prstGeom>
          <a:solidFill>
            <a:srgbClr val="0073E6">
              <a:alpha val="100000"/>
            </a:srgbClr>
          </a:solidFill>
          <a:ln w="12700" cap="flat" cmpd="sng">
            <a:solidFill>
              <a:srgbClr val="002D6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系统上线运行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9682457" y="2376115"/>
            <a:ext cx="833143" cy="400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  <a:sym typeface="Microsoft YaHei"/>
              </a:rPr>
              <a:t>PLM-SAP接口开发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652294" y="6599208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ADF3-0AA6-C9C7-BEB8-8B39529F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39D9E-4A3C-93F0-89D8-61078DDF97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4001" y="72307"/>
            <a:ext cx="10510199" cy="665096"/>
          </a:xfrm>
          <a:prstGeom prst="rect">
            <a:avLst/>
          </a:prstGeom>
        </p:spPr>
        <p:txBody>
          <a:bodyPr/>
          <a:lstStyle/>
          <a:p>
            <a:pPr defTabSz="1623866">
              <a:defRPr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现状：主生产计划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-MRP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管理需求和问题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3810E-C9F1-0FAF-6E36-352C3D90F1B4}"/>
              </a:ext>
            </a:extLst>
          </p:cNvPr>
          <p:cNvSpPr txBox="1"/>
          <p:nvPr/>
        </p:nvSpPr>
        <p:spPr>
          <a:xfrm>
            <a:off x="382344" y="984959"/>
            <a:ext cx="10583491" cy="448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现状总览：佛山照明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高效搭建管理需求和问题</a:t>
            </a:r>
            <a:endParaRPr lang="zh-CN" altLang="zh-CN" sz="1867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在计划面、采购层面因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搭建延后，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支持的需求平衡计算，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基本没有使用起来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下定制订单的时候，有时候会遇到连成品的物料没有、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清单也没有的情况有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9%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的概率；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根据业务的需求，研发对业务不明确不能开始做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质量有原材料不良的问题发生，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里面组件的需求要变更给供应商协商解决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因包装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组件不明确，导致车间不能投产</a:t>
            </a: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采购先行采购，大部分时间在没有确定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的情况下先进行采购，解决缺料问题</a:t>
            </a: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目前没有独立工艺技术部门。工艺技术员归口车间管理。工艺技术员：管理产品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MBOM 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，并负责生产过程控制工艺，采购，技术，设备维修</a:t>
            </a:r>
          </a:p>
          <a:p>
            <a:pPr marL="525767" indent="-380990">
              <a:spcBef>
                <a:spcPts val="800"/>
              </a:spcBef>
              <a:buFont typeface="Wingdings" panose="05000000000000000000" charset="0"/>
              <a:buChar char="Ø"/>
            </a:pPr>
            <a:r>
              <a:rPr lang="zh-CN" altLang="en-US" sz="1867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顾问建议：</a:t>
            </a:r>
            <a:endParaRPr lang="en-US" altLang="zh-CN" sz="1867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25767" indent="-380990">
              <a:spcBef>
                <a:spcPts val="800"/>
              </a:spcBef>
              <a:buFont typeface="Wingdings" panose="05000000000000000000" pitchFamily="2" charset="2"/>
              <a:buChar char="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管理咨询：研发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和生产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MBOM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，需要确定物料编码、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的建立及时性、完整性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747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6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02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方案详解及系统实现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5C7C-AACB-ED8C-BDEB-E4D16A06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>
            <a:extLst>
              <a:ext uri="{FF2B5EF4-FFF2-40B4-BE49-F238E27FC236}">
                <a16:creationId xmlns:a16="http://schemas.microsoft.com/office/drawing/2014/main" id="{4184619E-84A8-8E3A-4642-94B3428761AC}"/>
              </a:ext>
            </a:extLst>
          </p:cNvPr>
          <p:cNvSpPr txBox="1">
            <a:spLocks/>
          </p:cNvSpPr>
          <p:nvPr/>
        </p:nvSpPr>
        <p:spPr>
          <a:xfrm>
            <a:off x="326079" y="426270"/>
            <a:ext cx="11696700" cy="38163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cap="all" dirty="0">
                <a:solidFill>
                  <a:schemeClr val="accent1"/>
                </a:solidFill>
                <a:sym typeface="+mn-ea"/>
              </a:rPr>
              <a:t>BOM</a:t>
            </a:r>
            <a:r>
              <a:rPr lang="zh-CN" altLang="en-US" sz="2800" b="1" cap="all" dirty="0">
                <a:solidFill>
                  <a:schemeClr val="accent1"/>
                </a:solidFill>
                <a:sym typeface="+mn-ea"/>
              </a:rPr>
              <a:t>的生命周期管理</a:t>
            </a:r>
          </a:p>
        </p:txBody>
      </p:sp>
      <p:sp>
        <p:nvSpPr>
          <p:cNvPr id="2" name="Shape 9">
            <a:extLst>
              <a:ext uri="{FF2B5EF4-FFF2-40B4-BE49-F238E27FC236}">
                <a16:creationId xmlns:a16="http://schemas.microsoft.com/office/drawing/2014/main" id="{97BE38FF-4785-2F96-E126-B28DC8EFB2CF}"/>
              </a:ext>
            </a:extLst>
          </p:cNvPr>
          <p:cNvSpPr/>
          <p:nvPr/>
        </p:nvSpPr>
        <p:spPr>
          <a:xfrm>
            <a:off x="6390640" y="985985"/>
            <a:ext cx="5074920" cy="4964685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0">
            <a:extLst>
              <a:ext uri="{FF2B5EF4-FFF2-40B4-BE49-F238E27FC236}">
                <a16:creationId xmlns:a16="http://schemas.microsoft.com/office/drawing/2014/main" id="{7464B31E-0737-FAD5-8D05-BC94E4A4C7CD}"/>
              </a:ext>
            </a:extLst>
          </p:cNvPr>
          <p:cNvSpPr/>
          <p:nvPr/>
        </p:nvSpPr>
        <p:spPr>
          <a:xfrm>
            <a:off x="6397482" y="992123"/>
            <a:ext cx="274320" cy="4964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13">
            <a:extLst>
              <a:ext uri="{FF2B5EF4-FFF2-40B4-BE49-F238E27FC236}">
                <a16:creationId xmlns:a16="http://schemas.microsoft.com/office/drawing/2014/main" id="{EB78741F-2013-8191-E258-98CD154E4CDE}"/>
              </a:ext>
            </a:extLst>
          </p:cNvPr>
          <p:cNvSpPr/>
          <p:nvPr/>
        </p:nvSpPr>
        <p:spPr>
          <a:xfrm>
            <a:off x="445278" y="1005840"/>
            <a:ext cx="5545574" cy="4950968"/>
          </a:xfrm>
          <a:prstGeom prst="roundRect">
            <a:avLst>
              <a:gd name="adj" fmla="val 1263"/>
            </a:avLst>
          </a:prstGeom>
          <a:solidFill>
            <a:srgbClr val="F7F7F7"/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DEC1FF6E-019B-B84D-8E2D-2C04C00D72B3}"/>
              </a:ext>
            </a:extLst>
          </p:cNvPr>
          <p:cNvSpPr/>
          <p:nvPr/>
        </p:nvSpPr>
        <p:spPr>
          <a:xfrm>
            <a:off x="524933" y="1274826"/>
            <a:ext cx="5472761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佛山照明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在产品生命周期中的定位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0946F6AA-C5A1-4198-881E-7B6D5B53FD48}"/>
              </a:ext>
            </a:extLst>
          </p:cNvPr>
          <p:cNvSpPr/>
          <p:nvPr/>
        </p:nvSpPr>
        <p:spPr>
          <a:xfrm>
            <a:off x="845066" y="1897380"/>
            <a:ext cx="502550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7445E390-B9D9-46A1-C7E7-8DA0DAF93DC4}"/>
              </a:ext>
            </a:extLst>
          </p:cNvPr>
          <p:cNvSpPr/>
          <p:nvPr/>
        </p:nvSpPr>
        <p:spPr>
          <a:xfrm>
            <a:off x="1027946" y="209854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研发设计</a:t>
            </a:r>
            <a:endParaRPr lang="en-US" sz="1600" b="1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6A6C99DA-A7F3-C4FD-ECB6-0DBC96DA44F6}"/>
              </a:ext>
            </a:extLst>
          </p:cNvPr>
          <p:cNvSpPr/>
          <p:nvPr/>
        </p:nvSpPr>
        <p:spPr>
          <a:xfrm>
            <a:off x="2308106" y="209854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形成设计结构与功能层级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61BC7698-134A-5293-6E72-E146FC82D907}"/>
              </a:ext>
            </a:extLst>
          </p:cNvPr>
          <p:cNvSpPr/>
          <p:nvPr/>
        </p:nvSpPr>
        <p:spPr>
          <a:xfrm>
            <a:off x="3039626" y="2427732"/>
            <a:ext cx="0" cy="237744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BA19017F-49A6-5EF5-B587-3694FA211F6B}"/>
              </a:ext>
            </a:extLst>
          </p:cNvPr>
          <p:cNvSpPr/>
          <p:nvPr/>
        </p:nvSpPr>
        <p:spPr>
          <a:xfrm>
            <a:off x="845065" y="2628900"/>
            <a:ext cx="5025505" cy="512064"/>
          </a:xfrm>
          <a:prstGeom prst="roundRect">
            <a:avLst>
              <a:gd name="adj" fmla="val 7143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9A8D4678-912C-6AA9-58EC-81B7DFEFA2EA}"/>
              </a:ext>
            </a:extLst>
          </p:cNvPr>
          <p:cNvSpPr/>
          <p:nvPr/>
        </p:nvSpPr>
        <p:spPr>
          <a:xfrm>
            <a:off x="1027946" y="283006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 </a:t>
            </a:r>
            <a:endParaRPr lang="en-US" sz="1600" b="1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17325F8A-A266-7C66-C8BD-3E238A3ECC1F}"/>
              </a:ext>
            </a:extLst>
          </p:cNvPr>
          <p:cNvSpPr/>
          <p:nvPr/>
        </p:nvSpPr>
        <p:spPr>
          <a:xfrm>
            <a:off x="2308106" y="283006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维护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 </a:t>
            </a:r>
            <a:r>
              <a:rPr lang="en-US" altLang="zh-CN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D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BOM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与图纸文档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5A9EE10D-B415-DA86-61EA-DDB02C83F5DF}"/>
              </a:ext>
            </a:extLst>
          </p:cNvPr>
          <p:cNvSpPr/>
          <p:nvPr/>
        </p:nvSpPr>
        <p:spPr>
          <a:xfrm>
            <a:off x="3039626" y="3159252"/>
            <a:ext cx="0" cy="237744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0D12D682-B7AC-7BDB-7664-C06027BD521D}"/>
              </a:ext>
            </a:extLst>
          </p:cNvPr>
          <p:cNvSpPr/>
          <p:nvPr/>
        </p:nvSpPr>
        <p:spPr>
          <a:xfrm>
            <a:off x="845065" y="3360419"/>
            <a:ext cx="5039266" cy="522893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AE597585-2695-335E-3066-3A28900F4212}"/>
              </a:ext>
            </a:extLst>
          </p:cNvPr>
          <p:cNvSpPr/>
          <p:nvPr/>
        </p:nvSpPr>
        <p:spPr>
          <a:xfrm>
            <a:off x="1027946" y="356158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工艺转化</a:t>
            </a:r>
            <a:endParaRPr lang="en-US" sz="1600" b="1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19348EDB-2419-6B28-97A7-2345F02758B5}"/>
              </a:ext>
            </a:extLst>
          </p:cNvPr>
          <p:cNvSpPr/>
          <p:nvPr/>
        </p:nvSpPr>
        <p:spPr>
          <a:xfrm>
            <a:off x="2308105" y="3561588"/>
            <a:ext cx="357622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补充工艺路线与制造约束</a:t>
            </a:r>
            <a:r>
              <a:rPr lang="zh-CN" altLang="en-US" sz="1600" b="1" u="sng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（现状</a:t>
            </a:r>
            <a:r>
              <a:rPr lang="en-US" altLang="zh-CN" sz="1600" b="1" u="sng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SAP</a:t>
            </a:r>
            <a:r>
              <a:rPr lang="zh-CN" altLang="en-US" sz="1600" b="1" u="sng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做工艺）</a:t>
            </a:r>
            <a:endParaRPr lang="en-US" sz="1600" b="1" u="sng" dirty="0">
              <a:solidFill>
                <a:schemeClr val="accent1">
                  <a:lumMod val="50000"/>
                </a:schemeClr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A80DDB3B-2B46-2A10-60A7-56ECA906A067}"/>
              </a:ext>
            </a:extLst>
          </p:cNvPr>
          <p:cNvSpPr/>
          <p:nvPr/>
        </p:nvSpPr>
        <p:spPr>
          <a:xfrm>
            <a:off x="3039626" y="3890772"/>
            <a:ext cx="0" cy="237744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6D5E3E7D-D423-5B3F-96FD-43D8F8E592D7}"/>
              </a:ext>
            </a:extLst>
          </p:cNvPr>
          <p:cNvSpPr/>
          <p:nvPr/>
        </p:nvSpPr>
        <p:spPr>
          <a:xfrm>
            <a:off x="845065" y="4091940"/>
            <a:ext cx="5025505" cy="512064"/>
          </a:xfrm>
          <a:prstGeom prst="roundRect">
            <a:avLst>
              <a:gd name="adj" fmla="val 7143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A050903C-A5E0-A0AA-C8F7-6690D5F268F9}"/>
              </a:ext>
            </a:extLst>
          </p:cNvPr>
          <p:cNvSpPr/>
          <p:nvPr/>
        </p:nvSpPr>
        <p:spPr>
          <a:xfrm>
            <a:off x="1027946" y="429310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SAP</a:t>
            </a:r>
            <a:endParaRPr lang="en-US" sz="1600" b="1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F06ECACA-1D08-3F82-0EA6-787EB7322365}"/>
              </a:ext>
            </a:extLst>
          </p:cNvPr>
          <p:cNvSpPr/>
          <p:nvPr/>
        </p:nvSpPr>
        <p:spPr>
          <a:xfrm>
            <a:off x="2308106" y="4279687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承接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MBOM </a:t>
            </a:r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与计划执行数据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8FB2D652-294A-404F-6B17-52B9B0411887}"/>
              </a:ext>
            </a:extLst>
          </p:cNvPr>
          <p:cNvSpPr/>
          <p:nvPr/>
        </p:nvSpPr>
        <p:spPr>
          <a:xfrm>
            <a:off x="3039626" y="4622292"/>
            <a:ext cx="0" cy="237744"/>
          </a:xfrm>
          <a:prstGeom prst="line">
            <a:avLst/>
          </a:prstGeom>
          <a:noFill/>
          <a:ln w="12700">
            <a:solidFill>
              <a:srgbClr val="F299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237E18EA-328C-DA9F-4C02-229B61748DE7}"/>
              </a:ext>
            </a:extLst>
          </p:cNvPr>
          <p:cNvSpPr/>
          <p:nvPr/>
        </p:nvSpPr>
        <p:spPr>
          <a:xfrm>
            <a:off x="799345" y="4823460"/>
            <a:ext cx="5025503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sz="1600" b="1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F86ED77E-71DE-ABA9-6847-1F6048DDD4AF}"/>
              </a:ext>
            </a:extLst>
          </p:cNvPr>
          <p:cNvSpPr/>
          <p:nvPr/>
        </p:nvSpPr>
        <p:spPr>
          <a:xfrm>
            <a:off x="1027946" y="5024628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  <a:lumOff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制造执行</a:t>
            </a:r>
            <a:endParaRPr lang="en-US" sz="1600" b="1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18CC52E7-0208-52F6-2D31-C8F97BD65787}"/>
              </a:ext>
            </a:extLst>
          </p:cNvPr>
          <p:cNvSpPr/>
          <p:nvPr/>
        </p:nvSpPr>
        <p:spPr>
          <a:xfrm>
            <a:off x="2308106" y="502462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</a:rPr>
              <a:t>领料、报工、成本归集与追溯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89" name="Text 14">
            <a:extLst>
              <a:ext uri="{FF2B5EF4-FFF2-40B4-BE49-F238E27FC236}">
                <a16:creationId xmlns:a16="http://schemas.microsoft.com/office/drawing/2014/main" id="{5FCD09E9-3408-293D-7E42-4E4AB177A986}"/>
              </a:ext>
            </a:extLst>
          </p:cNvPr>
          <p:cNvSpPr/>
          <p:nvPr/>
        </p:nvSpPr>
        <p:spPr>
          <a:xfrm>
            <a:off x="6798048" y="1314154"/>
            <a:ext cx="427024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MBOM 在</a:t>
            </a:r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各部门的重要性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0" name="矩形: 圆角 8">
            <a:extLst>
              <a:ext uri="{FF2B5EF4-FFF2-40B4-BE49-F238E27FC236}">
                <a16:creationId xmlns:a16="http://schemas.microsoft.com/office/drawing/2014/main" id="{95A099B7-0E52-840F-6B14-4817358F80A1}"/>
              </a:ext>
            </a:extLst>
          </p:cNvPr>
          <p:cNvSpPr/>
          <p:nvPr/>
        </p:nvSpPr>
        <p:spPr>
          <a:xfrm>
            <a:off x="6825923" y="2123544"/>
            <a:ext cx="1194597" cy="400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计划部门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4EF29DA-9ABB-A25E-63DD-85E9789D5591}"/>
              </a:ext>
            </a:extLst>
          </p:cNvPr>
          <p:cNvSpPr/>
          <p:nvPr/>
        </p:nvSpPr>
        <p:spPr bwMode="auto">
          <a:xfrm>
            <a:off x="8168138" y="1967189"/>
            <a:ext cx="504056" cy="288032"/>
          </a:xfrm>
          <a:prstGeom prst="rect">
            <a:avLst/>
          </a:prstGeom>
          <a:solidFill>
            <a:schemeClr val="accent2">
              <a:lumMod val="20000"/>
              <a:lumOff val="80000"/>
              <a:alpha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marR="0" indent="-2305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MPS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4663478B-70B5-C4EB-9A6F-2D950BB84138}"/>
              </a:ext>
            </a:extLst>
          </p:cNvPr>
          <p:cNvSpPr/>
          <p:nvPr/>
        </p:nvSpPr>
        <p:spPr bwMode="auto">
          <a:xfrm>
            <a:off x="8168138" y="2363429"/>
            <a:ext cx="504056" cy="288032"/>
          </a:xfrm>
          <a:prstGeom prst="rect">
            <a:avLst/>
          </a:prstGeom>
          <a:solidFill>
            <a:schemeClr val="accent2">
              <a:lumMod val="20000"/>
              <a:lumOff val="80000"/>
              <a:alpha val="3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虚尾箭头 40">
            <a:extLst>
              <a:ext uri="{FF2B5EF4-FFF2-40B4-BE49-F238E27FC236}">
                <a16:creationId xmlns:a16="http://schemas.microsoft.com/office/drawing/2014/main" id="{5D47156F-F5ED-D94C-AE9E-BD36F8BB80C0}"/>
              </a:ext>
            </a:extLst>
          </p:cNvPr>
          <p:cNvSpPr/>
          <p:nvPr/>
        </p:nvSpPr>
        <p:spPr bwMode="auto">
          <a:xfrm>
            <a:off x="8792977" y="1992117"/>
            <a:ext cx="366289" cy="263104"/>
          </a:xfrm>
          <a:prstGeom prst="stripedRightArrow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虚尾箭头 41">
            <a:extLst>
              <a:ext uri="{FF2B5EF4-FFF2-40B4-BE49-F238E27FC236}">
                <a16:creationId xmlns:a16="http://schemas.microsoft.com/office/drawing/2014/main" id="{4F8980B7-2B55-702A-D25B-2AA343FEBA45}"/>
              </a:ext>
            </a:extLst>
          </p:cNvPr>
          <p:cNvSpPr/>
          <p:nvPr/>
        </p:nvSpPr>
        <p:spPr bwMode="auto">
          <a:xfrm>
            <a:off x="8792977" y="2388357"/>
            <a:ext cx="366289" cy="263104"/>
          </a:xfrm>
          <a:prstGeom prst="stripedRightArrow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614970C-0A37-B8D0-89F4-CD2228C493FB}"/>
              </a:ext>
            </a:extLst>
          </p:cNvPr>
          <p:cNvSpPr/>
          <p:nvPr/>
        </p:nvSpPr>
        <p:spPr bwMode="auto">
          <a:xfrm>
            <a:off x="9192261" y="1967189"/>
            <a:ext cx="931629" cy="2880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marR="0" indent="-2305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生产计划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7F6C090-D30F-F9A4-0C7A-D154E10F3E83}"/>
              </a:ext>
            </a:extLst>
          </p:cNvPr>
          <p:cNvSpPr/>
          <p:nvPr/>
        </p:nvSpPr>
        <p:spPr bwMode="auto">
          <a:xfrm>
            <a:off x="9192262" y="2363429"/>
            <a:ext cx="931628" cy="2880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采购计划</a:t>
            </a:r>
          </a:p>
        </p:txBody>
      </p:sp>
      <p:sp>
        <p:nvSpPr>
          <p:cNvPr id="97" name="矩形: 圆角 8">
            <a:extLst>
              <a:ext uri="{FF2B5EF4-FFF2-40B4-BE49-F238E27FC236}">
                <a16:creationId xmlns:a16="http://schemas.microsoft.com/office/drawing/2014/main" id="{03A771A3-21E9-CCE1-8B5B-A3FECFB1A548}"/>
              </a:ext>
            </a:extLst>
          </p:cNvPr>
          <p:cNvSpPr/>
          <p:nvPr/>
        </p:nvSpPr>
        <p:spPr>
          <a:xfrm>
            <a:off x="6825923" y="5076401"/>
            <a:ext cx="1194597" cy="400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财务部门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: 圆角 8">
            <a:extLst>
              <a:ext uri="{FF2B5EF4-FFF2-40B4-BE49-F238E27FC236}">
                <a16:creationId xmlns:a16="http://schemas.microsoft.com/office/drawing/2014/main" id="{8FA60116-7313-5B08-EA9A-13A7825F5617}"/>
              </a:ext>
            </a:extLst>
          </p:cNvPr>
          <p:cNvSpPr/>
          <p:nvPr/>
        </p:nvSpPr>
        <p:spPr>
          <a:xfrm>
            <a:off x="6825923" y="3328822"/>
            <a:ext cx="1194597" cy="4001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生产仓库</a:t>
            </a:r>
            <a:endParaRPr 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28CC0672-1E28-C23F-0D7F-2C818F4F6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8138" y="3315947"/>
            <a:ext cx="819293" cy="56736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生产工单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A80243E-4CB0-F1A3-4D3E-29EE6838B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620" y="3317233"/>
            <a:ext cx="780138" cy="56736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领料单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D0810D24-53FB-BEE0-660E-5FAC74108F49}"/>
              </a:ext>
            </a:extLst>
          </p:cNvPr>
          <p:cNvSpPr/>
          <p:nvPr/>
        </p:nvSpPr>
        <p:spPr bwMode="auto">
          <a:xfrm>
            <a:off x="8168138" y="4916804"/>
            <a:ext cx="931629" cy="2880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标准用量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067138A6-E262-47BA-67D8-9F4E0573CC96}"/>
              </a:ext>
            </a:extLst>
          </p:cNvPr>
          <p:cNvSpPr/>
          <p:nvPr/>
        </p:nvSpPr>
        <p:spPr bwMode="auto">
          <a:xfrm>
            <a:off x="8168138" y="5313044"/>
            <a:ext cx="931628" cy="2880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实际用量</a:t>
            </a:r>
          </a:p>
        </p:txBody>
      </p:sp>
      <p:sp>
        <p:nvSpPr>
          <p:cNvPr id="103" name="右大括号 102">
            <a:extLst>
              <a:ext uri="{FF2B5EF4-FFF2-40B4-BE49-F238E27FC236}">
                <a16:creationId xmlns:a16="http://schemas.microsoft.com/office/drawing/2014/main" id="{0960142D-7801-A312-9A1B-3AA4C9271089}"/>
              </a:ext>
            </a:extLst>
          </p:cNvPr>
          <p:cNvSpPr/>
          <p:nvPr/>
        </p:nvSpPr>
        <p:spPr bwMode="auto">
          <a:xfrm>
            <a:off x="9165491" y="5023381"/>
            <a:ext cx="79563" cy="446143"/>
          </a:xfrm>
          <a:prstGeom prst="rightBrace">
            <a:avLst/>
          </a:prstGeom>
          <a:solidFill>
            <a:srgbClr val="FFFF99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marR="0" indent="-2305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1" i="0" u="none" strike="noStrike" cap="none" normalizeH="0" baseline="0">
              <a:ln>
                <a:noFill/>
              </a:ln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右箭头 47">
            <a:extLst>
              <a:ext uri="{FF2B5EF4-FFF2-40B4-BE49-F238E27FC236}">
                <a16:creationId xmlns:a16="http://schemas.microsoft.com/office/drawing/2014/main" id="{8A5EE244-3992-3E55-F36F-F9EBD54252FA}"/>
              </a:ext>
            </a:extLst>
          </p:cNvPr>
          <p:cNvSpPr/>
          <p:nvPr/>
        </p:nvSpPr>
        <p:spPr bwMode="auto">
          <a:xfrm>
            <a:off x="9337438" y="5172001"/>
            <a:ext cx="720080" cy="131552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230505" indent="-230505"/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D0348B32-D7F5-66A0-2775-7A45892C8352}"/>
              </a:ext>
            </a:extLst>
          </p:cNvPr>
          <p:cNvSpPr txBox="1"/>
          <p:nvPr/>
        </p:nvSpPr>
        <p:spPr>
          <a:xfrm>
            <a:off x="9254998" y="4869492"/>
            <a:ext cx="1034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对比分析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F089AAE2-6DA2-7D59-33EE-02674503C50E}"/>
              </a:ext>
            </a:extLst>
          </p:cNvPr>
          <p:cNvSpPr/>
          <p:nvPr/>
        </p:nvSpPr>
        <p:spPr bwMode="auto">
          <a:xfrm>
            <a:off x="10122104" y="5012507"/>
            <a:ext cx="981032" cy="4055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控制成本</a:t>
            </a:r>
          </a:p>
        </p:txBody>
      </p:sp>
    </p:spTree>
    <p:extLst>
      <p:ext uri="{BB962C8B-B14F-4D97-AF65-F5344CB8AC3E}">
        <p14:creationId xmlns:p14="http://schemas.microsoft.com/office/powerpoint/2010/main" val="2402578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9F57A-ED12-93F8-08A4-6B7CE7BC3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>
            <a:extLst>
              <a:ext uri="{FF2B5EF4-FFF2-40B4-BE49-F238E27FC236}">
                <a16:creationId xmlns:a16="http://schemas.microsoft.com/office/drawing/2014/main" id="{2151B5CC-5ACC-535C-C5C3-0CEA1B8BC6DB}"/>
              </a:ext>
            </a:extLst>
          </p:cNvPr>
          <p:cNvSpPr txBox="1">
            <a:spLocks/>
          </p:cNvSpPr>
          <p:nvPr/>
        </p:nvSpPr>
        <p:spPr>
          <a:xfrm>
            <a:off x="326079" y="426270"/>
            <a:ext cx="11696700" cy="38163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r>
              <a:rPr lang="zh-CN" altLang="en-US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当前</a:t>
            </a:r>
            <a:r>
              <a:rPr lang="en-US" altLang="zh-CN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MBOM</a:t>
            </a:r>
            <a:r>
              <a:rPr lang="zh-CN" altLang="en-US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示例：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6C841C-42AE-4734-56CC-7ADF1A1F4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79" y="983074"/>
            <a:ext cx="11379785" cy="455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24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157EA-B46C-C5FB-B991-AEEA099E2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64C9CFB3-06C0-FCDD-1CE0-CA433CBF979E}"/>
              </a:ext>
            </a:extLst>
          </p:cNvPr>
          <p:cNvSpPr/>
          <p:nvPr/>
        </p:nvSpPr>
        <p:spPr>
          <a:xfrm>
            <a:off x="6035336" y="2035294"/>
            <a:ext cx="1669237" cy="11591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DC046E6-6B0A-3529-3B5B-C8F1119EB28B}"/>
              </a:ext>
            </a:extLst>
          </p:cNvPr>
          <p:cNvSpPr/>
          <p:nvPr/>
        </p:nvSpPr>
        <p:spPr>
          <a:xfrm>
            <a:off x="854852" y="3596096"/>
            <a:ext cx="1440000" cy="5309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DBOM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（半成品虚拟件）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67DEDC-0481-E9A5-2E63-7F00A54B09D4}"/>
              </a:ext>
            </a:extLst>
          </p:cNvPr>
          <p:cNvSpPr/>
          <p:nvPr/>
        </p:nvSpPr>
        <p:spPr>
          <a:xfrm>
            <a:off x="3126105" y="3596096"/>
            <a:ext cx="1440000" cy="5309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MBOM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EF90565-0091-7CEF-4148-1BAC6B99A48D}"/>
              </a:ext>
            </a:extLst>
          </p:cNvPr>
          <p:cNvSpPr/>
          <p:nvPr/>
        </p:nvSpPr>
        <p:spPr>
          <a:xfrm>
            <a:off x="1956066" y="5002116"/>
            <a:ext cx="1440000" cy="5309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包含半成品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DBOM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4F03514-1288-40C9-BD44-21F13C3166DE}"/>
              </a:ext>
            </a:extLst>
          </p:cNvPr>
          <p:cNvSpPr/>
          <p:nvPr/>
        </p:nvSpPr>
        <p:spPr>
          <a:xfrm>
            <a:off x="3953932" y="5002115"/>
            <a:ext cx="1693723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半成品、成品工艺路线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153D75E-D50A-BD32-3556-D01A5E063E45}"/>
              </a:ext>
            </a:extLst>
          </p:cNvPr>
          <p:cNvSpPr/>
          <p:nvPr/>
        </p:nvSpPr>
        <p:spPr>
          <a:xfrm>
            <a:off x="8493774" y="1197100"/>
            <a:ext cx="1440000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MRP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082BA2A-BB6A-5B7B-C993-281C880D0F95}"/>
              </a:ext>
            </a:extLst>
          </p:cNvPr>
          <p:cNvSpPr/>
          <p:nvPr/>
        </p:nvSpPr>
        <p:spPr>
          <a:xfrm>
            <a:off x="8493774" y="2150829"/>
            <a:ext cx="1440000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生产订单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MBOM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F8723D9-6556-7D55-ED47-53D407B40988}"/>
              </a:ext>
            </a:extLst>
          </p:cNvPr>
          <p:cNvSpPr/>
          <p:nvPr/>
        </p:nvSpPr>
        <p:spPr>
          <a:xfrm>
            <a:off x="8493774" y="3271707"/>
            <a:ext cx="1440000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工艺路线管理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C86640F-CC8F-7E51-49B4-364229F1DF75}"/>
              </a:ext>
            </a:extLst>
          </p:cNvPr>
          <p:cNvSpPr/>
          <p:nvPr/>
        </p:nvSpPr>
        <p:spPr>
          <a:xfrm>
            <a:off x="10647043" y="2663520"/>
            <a:ext cx="1440000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生产版本管理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04EC772-7C57-E7B3-FA5E-110EB16AE701}"/>
              </a:ext>
            </a:extLst>
          </p:cNvPr>
          <p:cNvSpPr/>
          <p:nvPr/>
        </p:nvSpPr>
        <p:spPr>
          <a:xfrm>
            <a:off x="6174106" y="2393828"/>
            <a:ext cx="1440000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MBOM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74396C4-90DA-466B-C598-04826F2BDC46}"/>
              </a:ext>
            </a:extLst>
          </p:cNvPr>
          <p:cNvSpPr/>
          <p:nvPr/>
        </p:nvSpPr>
        <p:spPr>
          <a:xfrm>
            <a:off x="5813774" y="1202123"/>
            <a:ext cx="2151237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销售选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MBOM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SKU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MTO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4" name="箭头: 上 53">
            <a:extLst>
              <a:ext uri="{FF2B5EF4-FFF2-40B4-BE49-F238E27FC236}">
                <a16:creationId xmlns:a16="http://schemas.microsoft.com/office/drawing/2014/main" id="{4C14E224-4863-54B3-8CB4-FD644963D88C}"/>
              </a:ext>
            </a:extLst>
          </p:cNvPr>
          <p:cNvSpPr/>
          <p:nvPr/>
        </p:nvSpPr>
        <p:spPr>
          <a:xfrm rot="10800000">
            <a:off x="1287474" y="3055318"/>
            <a:ext cx="816078" cy="550607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箭头: 上 54">
            <a:extLst>
              <a:ext uri="{FF2B5EF4-FFF2-40B4-BE49-F238E27FC236}">
                <a16:creationId xmlns:a16="http://schemas.microsoft.com/office/drawing/2014/main" id="{E59B25BE-9BE4-AC86-34E6-3E83A3B4EEB4}"/>
              </a:ext>
            </a:extLst>
          </p:cNvPr>
          <p:cNvSpPr/>
          <p:nvPr/>
        </p:nvSpPr>
        <p:spPr>
          <a:xfrm rot="10800000">
            <a:off x="3573471" y="3074987"/>
            <a:ext cx="816078" cy="550607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FF18F12-A037-6603-9B8C-A1706FB2BFE1}"/>
              </a:ext>
            </a:extLst>
          </p:cNvPr>
          <p:cNvSpPr/>
          <p:nvPr/>
        </p:nvSpPr>
        <p:spPr>
          <a:xfrm>
            <a:off x="104958" y="1114020"/>
            <a:ext cx="3000874" cy="19609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14">
            <a:extLst>
              <a:ext uri="{FF2B5EF4-FFF2-40B4-BE49-F238E27FC236}">
                <a16:creationId xmlns:a16="http://schemas.microsoft.com/office/drawing/2014/main" id="{07347464-9D08-D915-ACCC-7389C5867A14}"/>
              </a:ext>
            </a:extLst>
          </p:cNvPr>
          <p:cNvSpPr/>
          <p:nvPr/>
        </p:nvSpPr>
        <p:spPr>
          <a:xfrm>
            <a:off x="177800" y="1061334"/>
            <a:ext cx="2948305" cy="138230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20955" algn="l" rtl="0" eaLnBrk="0">
              <a:lnSpc>
                <a:spcPct val="92000"/>
              </a:lnSpc>
            </a:pP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1.基于总成构建产品</a:t>
            </a:r>
            <a:r>
              <a:rPr lang="en-US" altLang="zh-CN" sz="1600" b="1" dirty="0">
                <a:solidFill>
                  <a:srgbClr val="003366"/>
                </a:solidFill>
                <a:latin typeface="Noto Sans SC"/>
                <a:ea typeface="Noto Sans SC"/>
              </a:rPr>
              <a:t>D</a:t>
            </a: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BOM结构</a:t>
            </a:r>
          </a:p>
          <a:p>
            <a:pPr marL="16510" algn="l" rtl="0" eaLnBrk="0">
              <a:lnSpc>
                <a:spcPct val="92000"/>
              </a:lnSpc>
              <a:spcBef>
                <a:spcPts val="365"/>
              </a:spcBef>
            </a:pP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2.基于CAD集成进行</a:t>
            </a:r>
            <a:r>
              <a:rPr lang="en-US" altLang="zh-CN" sz="1600" b="1" dirty="0">
                <a:solidFill>
                  <a:srgbClr val="003366"/>
                </a:solidFill>
                <a:latin typeface="Noto Sans SC"/>
                <a:ea typeface="Noto Sans SC"/>
              </a:rPr>
              <a:t>D</a:t>
            </a: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BOM详细设计</a:t>
            </a:r>
          </a:p>
          <a:p>
            <a:pPr marL="19050" algn="l" rtl="0" eaLnBrk="0">
              <a:lnSpc>
                <a:spcPct val="90000"/>
              </a:lnSpc>
              <a:spcBef>
                <a:spcPts val="375"/>
              </a:spcBef>
            </a:pP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3.自动关联三维模型和二维图纸</a:t>
            </a:r>
          </a:p>
          <a:p>
            <a:pPr marL="12700" algn="l" rtl="0" eaLnBrk="0">
              <a:lnSpc>
                <a:spcPct val="89000"/>
              </a:lnSpc>
              <a:spcBef>
                <a:spcPts val="395"/>
              </a:spcBef>
            </a:pP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4.维护</a:t>
            </a:r>
            <a:r>
              <a:rPr lang="zh-CN" altLang="en-US" sz="1600" b="1" dirty="0">
                <a:solidFill>
                  <a:srgbClr val="003366"/>
                </a:solidFill>
                <a:latin typeface="Noto Sans SC"/>
                <a:ea typeface="Noto Sans SC"/>
              </a:rPr>
              <a:t>主件</a:t>
            </a:r>
            <a:r>
              <a:rPr sz="1600" b="1" dirty="0" err="1">
                <a:solidFill>
                  <a:srgbClr val="003366"/>
                </a:solidFill>
                <a:latin typeface="Noto Sans SC"/>
                <a:ea typeface="Noto Sans SC"/>
              </a:rPr>
              <a:t>物料及BOM</a:t>
            </a:r>
            <a:r>
              <a:rPr lang="zh-CN" altLang="en-US" sz="1600" b="1" dirty="0">
                <a:solidFill>
                  <a:srgbClr val="003366"/>
                </a:solidFill>
                <a:latin typeface="Noto Sans SC"/>
                <a:ea typeface="Noto Sans SC"/>
              </a:rPr>
              <a:t>定额</a:t>
            </a:r>
            <a:r>
              <a:rPr sz="1600" b="1" dirty="0" err="1">
                <a:solidFill>
                  <a:srgbClr val="003366"/>
                </a:solidFill>
                <a:latin typeface="Noto Sans SC"/>
                <a:ea typeface="Noto Sans SC"/>
              </a:rPr>
              <a:t>信息</a:t>
            </a:r>
            <a:endParaRPr sz="1600" b="1" dirty="0">
              <a:solidFill>
                <a:srgbClr val="003366"/>
              </a:solidFill>
              <a:latin typeface="Noto Sans SC"/>
              <a:ea typeface="Noto Sans SC"/>
            </a:endParaRPr>
          </a:p>
          <a:p>
            <a:pPr marL="20320" algn="l" rtl="0" eaLnBrk="0">
              <a:lnSpc>
                <a:spcPct val="89000"/>
              </a:lnSpc>
              <a:spcBef>
                <a:spcPts val="0"/>
              </a:spcBef>
            </a:pP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5.将</a:t>
            </a:r>
            <a:r>
              <a:rPr lang="en-US" altLang="zh-CN" sz="1600" b="1" dirty="0">
                <a:solidFill>
                  <a:srgbClr val="003366"/>
                </a:solidFill>
                <a:latin typeface="Noto Sans SC"/>
                <a:ea typeface="Noto Sans SC"/>
              </a:rPr>
              <a:t>D</a:t>
            </a: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BOM提交至对应</a:t>
            </a:r>
            <a:r>
              <a:rPr lang="en-US" altLang="zh-CN" sz="1600" b="1" dirty="0">
                <a:solidFill>
                  <a:srgbClr val="003366"/>
                </a:solidFill>
                <a:latin typeface="Noto Sans SC"/>
                <a:ea typeface="Noto Sans SC"/>
              </a:rPr>
              <a:t>OA</a:t>
            </a: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流程审批发布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F4C53C0-AEA9-CAFF-8CE1-383113AEF5DE}"/>
              </a:ext>
            </a:extLst>
          </p:cNvPr>
          <p:cNvSpPr/>
          <p:nvPr/>
        </p:nvSpPr>
        <p:spPr>
          <a:xfrm>
            <a:off x="3224042" y="1114020"/>
            <a:ext cx="2378173" cy="1956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16">
            <a:extLst>
              <a:ext uri="{FF2B5EF4-FFF2-40B4-BE49-F238E27FC236}">
                <a16:creationId xmlns:a16="http://schemas.microsoft.com/office/drawing/2014/main" id="{E2E6D83E-B9B4-6908-4EEB-073EC68E3796}"/>
              </a:ext>
            </a:extLst>
          </p:cNvPr>
          <p:cNvSpPr/>
          <p:nvPr/>
        </p:nvSpPr>
        <p:spPr>
          <a:xfrm>
            <a:off x="3224042" y="1197100"/>
            <a:ext cx="2259963" cy="184511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20955" eaLnBrk="0">
              <a:lnSpc>
                <a:spcPct val="92000"/>
              </a:lnSpc>
            </a:pP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1.基于</a:t>
            </a:r>
            <a:r>
              <a:rPr lang="zh-CN" altLang="en-US" sz="1600" b="1" dirty="0">
                <a:solidFill>
                  <a:srgbClr val="003366"/>
                </a:solidFill>
                <a:latin typeface="Noto Sans SC"/>
                <a:ea typeface="Noto Sans SC"/>
              </a:rPr>
              <a:t>照明设备</a:t>
            </a:r>
            <a:r>
              <a:rPr lang="en-US" altLang="zh-CN" sz="1600" b="1" dirty="0" err="1">
                <a:solidFill>
                  <a:srgbClr val="003366"/>
                </a:solidFill>
                <a:latin typeface="Noto Sans SC"/>
                <a:ea typeface="Noto Sans SC"/>
              </a:rPr>
              <a:t>D</a:t>
            </a:r>
            <a:r>
              <a:rPr sz="1600" b="1" dirty="0" err="1">
                <a:solidFill>
                  <a:srgbClr val="003366"/>
                </a:solidFill>
                <a:latin typeface="Noto Sans SC"/>
                <a:ea typeface="Noto Sans SC"/>
              </a:rPr>
              <a:t>BOM构建MBOM结构</a:t>
            </a:r>
            <a:endParaRPr lang="en-US" sz="1600" b="1" dirty="0">
              <a:solidFill>
                <a:srgbClr val="003366"/>
              </a:solidFill>
              <a:latin typeface="Noto Sans SC"/>
              <a:ea typeface="Noto Sans SC"/>
            </a:endParaRPr>
          </a:p>
          <a:p>
            <a:pPr marL="20955" eaLnBrk="0">
              <a:lnSpc>
                <a:spcPct val="92000"/>
              </a:lnSpc>
            </a:pPr>
            <a:endParaRPr sz="1600" b="1" dirty="0">
              <a:solidFill>
                <a:srgbClr val="003366"/>
              </a:solidFill>
              <a:latin typeface="Noto Sans SC"/>
              <a:ea typeface="Noto Sans SC"/>
            </a:endParaRPr>
          </a:p>
          <a:p>
            <a:pPr marL="12700" eaLnBrk="0">
              <a:lnSpc>
                <a:spcPct val="92000"/>
              </a:lnSpc>
              <a:spcBef>
                <a:spcPts val="175"/>
              </a:spcBef>
            </a:pPr>
            <a:r>
              <a:rPr lang="en-US" sz="1600" b="1" dirty="0">
                <a:solidFill>
                  <a:srgbClr val="003366"/>
                </a:solidFill>
                <a:latin typeface="Noto Sans SC"/>
                <a:ea typeface="Noto Sans SC"/>
              </a:rPr>
              <a:t>2</a:t>
            </a: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.将</a:t>
            </a:r>
            <a:r>
              <a:rPr lang="en-US" altLang="zh-CN" sz="1600" b="1" dirty="0">
                <a:solidFill>
                  <a:srgbClr val="003366"/>
                </a:solidFill>
                <a:latin typeface="Noto Sans SC"/>
                <a:ea typeface="Noto Sans SC"/>
              </a:rPr>
              <a:t>M</a:t>
            </a: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BOM提交至对应流程审批发布并驱动</a:t>
            </a:r>
            <a:endParaRPr lang="en-US" sz="1600" b="1" dirty="0">
              <a:solidFill>
                <a:srgbClr val="003366"/>
              </a:solidFill>
              <a:latin typeface="Noto Sans SC"/>
              <a:ea typeface="Noto Sans SC"/>
            </a:endParaRPr>
          </a:p>
          <a:p>
            <a:pPr marL="12700" eaLnBrk="0">
              <a:lnSpc>
                <a:spcPct val="92000"/>
              </a:lnSpc>
              <a:spcBef>
                <a:spcPts val="175"/>
              </a:spcBef>
            </a:pPr>
            <a:endParaRPr lang="en-US" sz="1600" b="1" dirty="0">
              <a:solidFill>
                <a:srgbClr val="003366"/>
              </a:solidFill>
              <a:latin typeface="Noto Sans SC"/>
              <a:ea typeface="Noto Sans SC"/>
            </a:endParaRPr>
          </a:p>
          <a:p>
            <a:pPr marL="12700" eaLnBrk="0">
              <a:lnSpc>
                <a:spcPct val="92000"/>
              </a:lnSpc>
              <a:spcBef>
                <a:spcPts val="175"/>
              </a:spcBef>
            </a:pPr>
            <a:r>
              <a:rPr lang="en-US" sz="1600" b="1" dirty="0">
                <a:solidFill>
                  <a:srgbClr val="003366"/>
                </a:solidFill>
                <a:latin typeface="Noto Sans SC"/>
                <a:ea typeface="Noto Sans SC"/>
              </a:rPr>
              <a:t>3.</a:t>
            </a:r>
            <a:r>
              <a:rPr lang="en-US" altLang="zh-CN" sz="1600" b="1" dirty="0">
                <a:solidFill>
                  <a:srgbClr val="003366"/>
                </a:solidFill>
                <a:latin typeface="Noto Sans SC"/>
                <a:ea typeface="Noto Sans SC"/>
              </a:rPr>
              <a:t>M</a:t>
            </a:r>
            <a:r>
              <a:rPr sz="1600" b="1" dirty="0">
                <a:solidFill>
                  <a:srgbClr val="003366"/>
                </a:solidFill>
                <a:latin typeface="Noto Sans SC"/>
                <a:ea typeface="Noto Sans SC"/>
              </a:rPr>
              <a:t>BOM信息向</a:t>
            </a:r>
            <a:r>
              <a:rPr lang="en-US" altLang="zh-CN" sz="1600" b="1" dirty="0">
                <a:solidFill>
                  <a:srgbClr val="003366"/>
                </a:solidFill>
                <a:latin typeface="Noto Sans SC"/>
                <a:ea typeface="Noto Sans SC"/>
              </a:rPr>
              <a:t>MES</a:t>
            </a:r>
            <a:r>
              <a:rPr lang="zh-CN" altLang="en-US" sz="1600" b="1" dirty="0">
                <a:solidFill>
                  <a:srgbClr val="003366"/>
                </a:solidFill>
                <a:latin typeface="Noto Sans SC"/>
                <a:ea typeface="Noto Sans SC"/>
              </a:rPr>
              <a:t>等外围</a:t>
            </a:r>
            <a:r>
              <a:rPr sz="1600" b="1" dirty="0" err="1">
                <a:solidFill>
                  <a:srgbClr val="003366"/>
                </a:solidFill>
                <a:latin typeface="Noto Sans SC"/>
                <a:ea typeface="Noto Sans SC"/>
              </a:rPr>
              <a:t>系统传递</a:t>
            </a:r>
            <a:endParaRPr sz="1600" b="1" dirty="0">
              <a:solidFill>
                <a:srgbClr val="003366"/>
              </a:solidFill>
              <a:latin typeface="Noto Sans SC"/>
              <a:ea typeface="Noto Sans SC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7E9EDF7-DDA7-2CE0-5F94-F85EB3942411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>
            <a:off x="2294852" y="3861567"/>
            <a:ext cx="831253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859CA6C1-FEFD-D8E4-DD23-BED4D8CCBB1F}"/>
              </a:ext>
            </a:extLst>
          </p:cNvPr>
          <p:cNvCxnSpPr>
            <a:stCxn id="39" idx="2"/>
            <a:endCxn id="40" idx="0"/>
          </p:cNvCxnSpPr>
          <p:nvPr/>
        </p:nvCxnSpPr>
        <p:spPr>
          <a:xfrm rot="5400000">
            <a:off x="2823547" y="3979557"/>
            <a:ext cx="875079" cy="1170039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C93A010F-C298-7AB4-5A71-84EE798525C7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 rot="16200000" flipH="1">
            <a:off x="3885910" y="4087231"/>
            <a:ext cx="875078" cy="954689"/>
          </a:xfrm>
          <a:prstGeom prst="bentConnector3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A4F26128-BD39-DC5B-DC71-1D69EB2D4401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9213774" y="2681770"/>
            <a:ext cx="0" cy="589937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CDDCD444-CFEF-2D95-8EA6-5F636C4033E2}"/>
              </a:ext>
            </a:extLst>
          </p:cNvPr>
          <p:cNvSpPr/>
          <p:nvPr/>
        </p:nvSpPr>
        <p:spPr>
          <a:xfrm>
            <a:off x="10647043" y="3625665"/>
            <a:ext cx="1440000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生产执行管理</a:t>
            </a: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F8261D73-C480-075B-D5A6-0F1F4E0ADF0C}"/>
              </a:ext>
            </a:extLst>
          </p:cNvPr>
          <p:cNvCxnSpPr>
            <a:cxnSpLocks/>
            <a:stCxn id="52" idx="0"/>
            <a:endCxn id="53" idx="2"/>
          </p:cNvCxnSpPr>
          <p:nvPr/>
        </p:nvCxnSpPr>
        <p:spPr>
          <a:xfrm flipH="1" flipV="1">
            <a:off x="6889393" y="1733064"/>
            <a:ext cx="4713" cy="66076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7F0A463C-E1CE-5668-C8AE-FBAC2D5CFD8F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9933774" y="2416300"/>
            <a:ext cx="713269" cy="512691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B0DB02C5-C9B5-C1C7-8BE4-ADC302E74846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 flipV="1">
            <a:off x="9933774" y="2928991"/>
            <a:ext cx="713269" cy="608187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1F998CD5-92C4-F60D-0073-5CCEE3164ED6}"/>
              </a:ext>
            </a:extLst>
          </p:cNvPr>
          <p:cNvCxnSpPr>
            <a:cxnSpLocks/>
            <a:stCxn id="46" idx="2"/>
            <a:endCxn id="81" idx="0"/>
          </p:cNvCxnSpPr>
          <p:nvPr/>
        </p:nvCxnSpPr>
        <p:spPr>
          <a:xfrm>
            <a:off x="11367043" y="3194461"/>
            <a:ext cx="0" cy="43120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620">
            <a:extLst>
              <a:ext uri="{FF2B5EF4-FFF2-40B4-BE49-F238E27FC236}">
                <a16:creationId xmlns:a16="http://schemas.microsoft.com/office/drawing/2014/main" id="{544A1DBE-F253-BA5D-2BCC-4E2984FFB1B3}"/>
              </a:ext>
            </a:extLst>
          </p:cNvPr>
          <p:cNvSpPr/>
          <p:nvPr/>
        </p:nvSpPr>
        <p:spPr>
          <a:xfrm>
            <a:off x="4977350" y="3234276"/>
            <a:ext cx="1645982" cy="93268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6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12700" indent="4445" algn="l" rtl="0" eaLnBrk="0">
              <a:lnSpc>
                <a:spcPct val="95000"/>
              </a:lnSpc>
            </a:pPr>
            <a:r>
              <a:rPr lang="zh-CN" altLang="en-US" sz="16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物料信息</a:t>
            </a:r>
            <a:endParaRPr lang="en-US" sz="16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13335" indent="635" algn="l" rtl="0" eaLnBrk="0">
              <a:lnSpc>
                <a:spcPct val="95000"/>
              </a:lnSpc>
              <a:spcBef>
                <a:spcPts val="170"/>
              </a:spcBef>
            </a:pPr>
            <a:r>
              <a:rPr sz="1600" b="1" kern="0" spc="-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替代料</a:t>
            </a:r>
            <a:r>
              <a:rPr lang="zh-CN" altLang="en-US" sz="16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信息</a:t>
            </a:r>
            <a:endParaRPr lang="en-US" altLang="zh-CN" sz="16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13335" indent="635" algn="l" rtl="0" eaLnBrk="0">
              <a:lnSpc>
                <a:spcPct val="95000"/>
              </a:lnSpc>
              <a:spcBef>
                <a:spcPts val="170"/>
              </a:spcBef>
            </a:pPr>
            <a:r>
              <a:rPr lang="zh-CN" altLang="en-US" sz="16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辅料信息</a:t>
            </a:r>
            <a:endParaRPr lang="en-US" altLang="zh-CN" sz="1600" b="1" kern="0" spc="-10" dirty="0">
              <a:solidFill>
                <a:srgbClr val="000000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13335" indent="635" algn="l" rtl="0" eaLnBrk="0">
              <a:lnSpc>
                <a:spcPct val="95000"/>
              </a:lnSpc>
              <a:spcBef>
                <a:spcPts val="170"/>
              </a:spcBef>
            </a:pPr>
            <a:r>
              <a:rPr lang="zh-CN" altLang="en-US" sz="16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包装信息</a:t>
            </a:r>
            <a:endParaRPr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17" name="标题 1">
            <a:extLst>
              <a:ext uri="{FF2B5EF4-FFF2-40B4-BE49-F238E27FC236}">
                <a16:creationId xmlns:a16="http://schemas.microsoft.com/office/drawing/2014/main" id="{70E4F75D-5F4E-FCA7-1D2C-9E6D45A9F92B}"/>
              </a:ext>
            </a:extLst>
          </p:cNvPr>
          <p:cNvSpPr txBox="1">
            <a:spLocks/>
          </p:cNvSpPr>
          <p:nvPr/>
        </p:nvSpPr>
        <p:spPr>
          <a:xfrm>
            <a:off x="-33452" y="416360"/>
            <a:ext cx="6506296" cy="38163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r>
              <a:rPr lang="en-US" altLang="zh-CN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BOM</a:t>
            </a:r>
            <a:r>
              <a:rPr lang="zh-CN" altLang="en-US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高效管理佛山照明规划与时间管理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4D3323E-1B7B-684F-2743-FC0EDA77FA93}"/>
              </a:ext>
            </a:extLst>
          </p:cNvPr>
          <p:cNvSpPr/>
          <p:nvPr/>
        </p:nvSpPr>
        <p:spPr>
          <a:xfrm>
            <a:off x="10647043" y="4580005"/>
            <a:ext cx="1440000" cy="5309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车间执行管理</a:t>
            </a:r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35FE81A1-86E1-2308-C3EA-3096CF8D06A3}"/>
              </a:ext>
            </a:extLst>
          </p:cNvPr>
          <p:cNvCxnSpPr>
            <a:cxnSpLocks/>
            <a:stCxn id="81" idx="2"/>
            <a:endCxn id="119" idx="0"/>
          </p:cNvCxnSpPr>
          <p:nvPr/>
        </p:nvCxnSpPr>
        <p:spPr>
          <a:xfrm>
            <a:off x="11367043" y="4156606"/>
            <a:ext cx="0" cy="42339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3E5B1760-E2F9-685D-03C6-6166369F29DB}"/>
              </a:ext>
            </a:extLst>
          </p:cNvPr>
          <p:cNvCxnSpPr>
            <a:cxnSpLocks/>
            <a:stCxn id="53" idx="3"/>
            <a:endCxn id="43" idx="1"/>
          </p:cNvCxnSpPr>
          <p:nvPr/>
        </p:nvCxnSpPr>
        <p:spPr>
          <a:xfrm flipV="1">
            <a:off x="7965011" y="1462571"/>
            <a:ext cx="528763" cy="5023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连接符: 肘形 140">
            <a:extLst>
              <a:ext uri="{FF2B5EF4-FFF2-40B4-BE49-F238E27FC236}">
                <a16:creationId xmlns:a16="http://schemas.microsoft.com/office/drawing/2014/main" id="{44EFB7F4-3249-5195-54A0-222E1119DC9C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>
          <a:xfrm flipV="1">
            <a:off x="5647655" y="3537178"/>
            <a:ext cx="2846119" cy="1730408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0946A673-A601-176F-4679-A1A80786AD48}"/>
              </a:ext>
            </a:extLst>
          </p:cNvPr>
          <p:cNvCxnSpPr>
            <a:cxnSpLocks/>
            <a:stCxn id="40" idx="2"/>
            <a:endCxn id="45" idx="2"/>
          </p:cNvCxnSpPr>
          <p:nvPr/>
        </p:nvCxnSpPr>
        <p:spPr>
          <a:xfrm rot="5400000" flipH="1" flipV="1">
            <a:off x="5079715" y="1398999"/>
            <a:ext cx="1730409" cy="6537708"/>
          </a:xfrm>
          <a:prstGeom prst="bentConnector3">
            <a:avLst>
              <a:gd name="adj1" fmla="val -13211"/>
            </a:avLst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标注: 弯曲线形 149">
            <a:extLst>
              <a:ext uri="{FF2B5EF4-FFF2-40B4-BE49-F238E27FC236}">
                <a16:creationId xmlns:a16="http://schemas.microsoft.com/office/drawing/2014/main" id="{D6862CD8-5315-43E0-34BC-3B7D83D4D9AD}"/>
              </a:ext>
            </a:extLst>
          </p:cNvPr>
          <p:cNvSpPr/>
          <p:nvPr/>
        </p:nvSpPr>
        <p:spPr>
          <a:xfrm>
            <a:off x="9321092" y="4368305"/>
            <a:ext cx="1194951" cy="752405"/>
          </a:xfrm>
          <a:prstGeom prst="borderCallout2">
            <a:avLst>
              <a:gd name="adj1" fmla="val -1676"/>
              <a:gd name="adj2" fmla="val 80692"/>
              <a:gd name="adj3" fmla="val -49334"/>
              <a:gd name="adj4" fmla="val 80894"/>
              <a:gd name="adj5" fmla="val -48941"/>
              <a:gd name="adj6" fmla="val 112097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高明基地和国外生产基地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E8B9E2-A765-C572-23FB-FF8E8BBD7700}"/>
              </a:ext>
            </a:extLst>
          </p:cNvPr>
          <p:cNvSpPr/>
          <p:nvPr/>
        </p:nvSpPr>
        <p:spPr>
          <a:xfrm>
            <a:off x="10193120" y="1197100"/>
            <a:ext cx="1440000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生产订单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2C2FB5A-F5E8-524A-5763-84078493B5AF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9899162" y="1462571"/>
            <a:ext cx="293958" cy="10045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B1252110-F550-9BBC-94D0-BC10914D436A}"/>
              </a:ext>
            </a:extLst>
          </p:cNvPr>
          <p:cNvCxnSpPr>
            <a:cxnSpLocks/>
            <a:stCxn id="9" idx="2"/>
            <a:endCxn id="44" idx="0"/>
          </p:cNvCxnSpPr>
          <p:nvPr/>
        </p:nvCxnSpPr>
        <p:spPr>
          <a:xfrm rot="5400000">
            <a:off x="9852053" y="1089762"/>
            <a:ext cx="422788" cy="1699346"/>
          </a:xfrm>
          <a:prstGeom prst="bentConnector3">
            <a:avLst>
              <a:gd name="adj1" fmla="val 50000"/>
            </a:avLst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4D97417-192E-70C7-4197-8A96BD9F9072}"/>
              </a:ext>
            </a:extLst>
          </p:cNvPr>
          <p:cNvSpPr/>
          <p:nvPr/>
        </p:nvSpPr>
        <p:spPr>
          <a:xfrm>
            <a:off x="6525011" y="306120"/>
            <a:ext cx="1440000" cy="5309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PLM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6C54A3-6236-63AC-4BA3-27BEEB0F18FB}"/>
              </a:ext>
            </a:extLst>
          </p:cNvPr>
          <p:cNvSpPr/>
          <p:nvPr/>
        </p:nvSpPr>
        <p:spPr>
          <a:xfrm>
            <a:off x="8493774" y="303270"/>
            <a:ext cx="1440000" cy="53094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74C5534B-C946-D951-896C-188907245F48}"/>
              </a:ext>
            </a:extLst>
          </p:cNvPr>
          <p:cNvCxnSpPr>
            <a:cxnSpLocks/>
            <a:stCxn id="39" idx="3"/>
            <a:endCxn id="128" idx="2"/>
          </p:cNvCxnSpPr>
          <p:nvPr/>
        </p:nvCxnSpPr>
        <p:spPr>
          <a:xfrm flipV="1">
            <a:off x="4566105" y="3194461"/>
            <a:ext cx="2303850" cy="667106"/>
          </a:xfrm>
          <a:prstGeom prst="bentConnector2">
            <a:avLst/>
          </a:prstGeom>
          <a:ln w="9525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0F164725-75CA-C745-0815-3043DD957A9B}"/>
              </a:ext>
            </a:extLst>
          </p:cNvPr>
          <p:cNvSpPr/>
          <p:nvPr/>
        </p:nvSpPr>
        <p:spPr>
          <a:xfrm>
            <a:off x="10193120" y="303269"/>
            <a:ext cx="1336782" cy="5309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MES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标注: 弯曲线形 31">
            <a:extLst>
              <a:ext uri="{FF2B5EF4-FFF2-40B4-BE49-F238E27FC236}">
                <a16:creationId xmlns:a16="http://schemas.microsoft.com/office/drawing/2014/main" id="{B5F7361F-A026-4B2C-50D2-BE5FB7AE45BA}"/>
              </a:ext>
            </a:extLst>
          </p:cNvPr>
          <p:cNvSpPr/>
          <p:nvPr/>
        </p:nvSpPr>
        <p:spPr>
          <a:xfrm>
            <a:off x="2927597" y="5796666"/>
            <a:ext cx="1194951" cy="752405"/>
          </a:xfrm>
          <a:prstGeom prst="borderCallout2">
            <a:avLst>
              <a:gd name="adj1" fmla="val -1676"/>
              <a:gd name="adj2" fmla="val 80692"/>
              <a:gd name="adj3" fmla="val -49334"/>
              <a:gd name="adj4" fmla="val 80894"/>
              <a:gd name="adj5" fmla="val -223376"/>
              <a:gd name="adj6" fmla="val 82129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需求明确：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小时完成</a:t>
            </a:r>
          </a:p>
        </p:txBody>
      </p:sp>
      <p:sp>
        <p:nvSpPr>
          <p:cNvPr id="36" name="标注: 弯曲线形 35">
            <a:extLst>
              <a:ext uri="{FF2B5EF4-FFF2-40B4-BE49-F238E27FC236}">
                <a16:creationId xmlns:a16="http://schemas.microsoft.com/office/drawing/2014/main" id="{0D4A7E0D-4224-8481-2F57-58B69CA9AB51}"/>
              </a:ext>
            </a:extLst>
          </p:cNvPr>
          <p:cNvSpPr/>
          <p:nvPr/>
        </p:nvSpPr>
        <p:spPr>
          <a:xfrm>
            <a:off x="314392" y="4904412"/>
            <a:ext cx="1194951" cy="752405"/>
          </a:xfrm>
          <a:prstGeom prst="borderCallout2">
            <a:avLst>
              <a:gd name="adj1" fmla="val -1676"/>
              <a:gd name="adj2" fmla="val 80692"/>
              <a:gd name="adj3" fmla="val -49334"/>
              <a:gd name="adj4" fmla="val 80894"/>
              <a:gd name="adj5" fmla="val -112734"/>
              <a:gd name="adj6" fmla="val 81082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需求明确：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小时完成</a:t>
            </a:r>
          </a:p>
        </p:txBody>
      </p:sp>
      <p:sp>
        <p:nvSpPr>
          <p:cNvPr id="47" name="标注: 弯曲线形 46">
            <a:extLst>
              <a:ext uri="{FF2B5EF4-FFF2-40B4-BE49-F238E27FC236}">
                <a16:creationId xmlns:a16="http://schemas.microsoft.com/office/drawing/2014/main" id="{7FC263B6-F4F0-D12A-2326-45201037606F}"/>
              </a:ext>
            </a:extLst>
          </p:cNvPr>
          <p:cNvSpPr/>
          <p:nvPr/>
        </p:nvSpPr>
        <p:spPr>
          <a:xfrm>
            <a:off x="10997049" y="1869447"/>
            <a:ext cx="1194951" cy="752405"/>
          </a:xfrm>
          <a:prstGeom prst="borderCallout2">
            <a:avLst>
              <a:gd name="adj1" fmla="val -1676"/>
              <a:gd name="adj2" fmla="val 80692"/>
              <a:gd name="adj3" fmla="val -49334"/>
              <a:gd name="adj4" fmla="val 80894"/>
              <a:gd name="adj5" fmla="val -49258"/>
              <a:gd name="adj6" fmla="val 45894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需求明确：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小时完成</a:t>
            </a:r>
          </a:p>
        </p:txBody>
      </p:sp>
    </p:spTree>
    <p:extLst>
      <p:ext uri="{BB962C8B-B14F-4D97-AF65-F5344CB8AC3E}">
        <p14:creationId xmlns:p14="http://schemas.microsoft.com/office/powerpoint/2010/main" val="1131952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68AF-8094-D796-D9A9-E1726D53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>
            <a:extLst>
              <a:ext uri="{FF2B5EF4-FFF2-40B4-BE49-F238E27FC236}">
                <a16:creationId xmlns:a16="http://schemas.microsoft.com/office/drawing/2014/main" id="{3B2E5CBF-E68E-92DA-4B12-1C75AC598386}"/>
              </a:ext>
            </a:extLst>
          </p:cNvPr>
          <p:cNvSpPr txBox="1">
            <a:spLocks/>
          </p:cNvSpPr>
          <p:nvPr/>
        </p:nvSpPr>
        <p:spPr>
          <a:xfrm>
            <a:off x="326079" y="426270"/>
            <a:ext cx="11696700" cy="38163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r>
              <a:rPr lang="zh-CN" altLang="en-US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场景</a:t>
            </a:r>
            <a:r>
              <a:rPr lang="en-US" altLang="zh-CN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BOM ECN</a:t>
            </a:r>
            <a:r>
              <a:rPr lang="zh-CN" altLang="en-US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变更业务场景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B80D80BE-BE26-5618-BC6F-A7EF6C7926DE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2859" y="1441909"/>
          <a:ext cx="11361913" cy="4127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675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4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具体业务使用场景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发起部门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客户变更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根据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客户需求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，有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照明产品包装或照明辅料等变化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。（不涉及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成品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物料号的变更时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销售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提升效能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提升产品竞争力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优化设计产品结构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设计错误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改进由于技术人员主观因素产生的设计错误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降本增效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根据公司降本需求进行更改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提升制程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制程工艺提升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工艺技术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增加替代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BOM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替代组中增加物料，改变替代配比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由于缺料带来的替换料的变更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采购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消化库存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当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呆滞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物资需要技术拿出处理方案或改制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68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7084D-85D5-9565-D8A6-FE28A3446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>
            <a:extLst>
              <a:ext uri="{FF2B5EF4-FFF2-40B4-BE49-F238E27FC236}">
                <a16:creationId xmlns:a16="http://schemas.microsoft.com/office/drawing/2014/main" id="{C1EB0893-B7E7-FA7A-3CD1-EA3882FFCBAB}"/>
              </a:ext>
            </a:extLst>
          </p:cNvPr>
          <p:cNvSpPr txBox="1">
            <a:spLocks/>
          </p:cNvSpPr>
          <p:nvPr/>
        </p:nvSpPr>
        <p:spPr>
          <a:xfrm>
            <a:off x="0" y="291575"/>
            <a:ext cx="11696700" cy="38163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r>
              <a:rPr lang="en-US" altLang="zh-CN" sz="2800" cap="all" dirty="0" err="1">
                <a:solidFill>
                  <a:schemeClr val="accent1"/>
                </a:solidFill>
                <a:latin typeface="+mj-lt"/>
                <a:ea typeface="+mj-ea"/>
              </a:rPr>
              <a:t>ECN变更审批流程与ECN生效机制</a:t>
            </a:r>
            <a:r>
              <a:rPr lang="en-US" altLang="zh-CN" sz="2800" cap="all" dirty="0">
                <a:solidFill>
                  <a:schemeClr val="accent1"/>
                </a:solidFill>
                <a:latin typeface="+mj-lt"/>
                <a:ea typeface="+mj-ea"/>
              </a:rPr>
              <a:t> </a:t>
            </a:r>
          </a:p>
          <a:p>
            <a:endParaRPr lang="zh-CN" altLang="en-US" dirty="0"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6BF8F1-05F3-5EBE-942C-73E9ADE67910}"/>
              </a:ext>
            </a:extLst>
          </p:cNvPr>
          <p:cNvSpPr/>
          <p:nvPr/>
        </p:nvSpPr>
        <p:spPr>
          <a:xfrm>
            <a:off x="275303" y="1386346"/>
            <a:ext cx="11454582" cy="3219226"/>
          </a:xfrm>
          <a:prstGeom prst="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DE5676-2DED-0D8E-E3E9-931AC5FFF6B6}"/>
              </a:ext>
            </a:extLst>
          </p:cNvPr>
          <p:cNvSpPr/>
          <p:nvPr/>
        </p:nvSpPr>
        <p:spPr>
          <a:xfrm>
            <a:off x="430063" y="1610447"/>
            <a:ext cx="2235314" cy="6942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收集需求部门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1A4C31-BE20-41CC-4576-65D2CA455A8F}"/>
              </a:ext>
            </a:extLst>
          </p:cNvPr>
          <p:cNvSpPr/>
          <p:nvPr/>
        </p:nvSpPr>
        <p:spPr>
          <a:xfrm>
            <a:off x="479049" y="2777609"/>
            <a:ext cx="2151002" cy="597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提交变更原因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88ABDB-F67C-D904-4DBE-236CDD6DC8F9}"/>
              </a:ext>
            </a:extLst>
          </p:cNvPr>
          <p:cNvSpPr/>
          <p:nvPr/>
        </p:nvSpPr>
        <p:spPr>
          <a:xfrm>
            <a:off x="4640826" y="1610448"/>
            <a:ext cx="1278194" cy="589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评审后续影响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DF8F09-6EAC-964F-B192-8C5257AC763B}"/>
              </a:ext>
            </a:extLst>
          </p:cNvPr>
          <p:cNvSpPr/>
          <p:nvPr/>
        </p:nvSpPr>
        <p:spPr>
          <a:xfrm>
            <a:off x="8617978" y="1610448"/>
            <a:ext cx="2020527" cy="589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变更号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04513EF-FF04-D902-9266-94136810AADB}"/>
              </a:ext>
            </a:extLst>
          </p:cNvPr>
          <p:cNvSpPr/>
          <p:nvPr/>
        </p:nvSpPr>
        <p:spPr>
          <a:xfrm>
            <a:off x="717754" y="782910"/>
            <a:ext cx="1681200" cy="40312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 latinLnBrk="1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研发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工艺组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9F5E9B0-C835-22CD-3B27-C43794CE3590}"/>
              </a:ext>
            </a:extLst>
          </p:cNvPr>
          <p:cNvSpPr/>
          <p:nvPr/>
        </p:nvSpPr>
        <p:spPr>
          <a:xfrm>
            <a:off x="4284133" y="782910"/>
            <a:ext cx="2226733" cy="40312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 latinLnBrk="1">
              <a:buClr>
                <a:srgbClr val="006600"/>
              </a:buClr>
              <a:buSzPct val="85000"/>
            </a:pP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销管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E0D544-30BC-76F7-136C-D0A1D01A8D55}"/>
              </a:ext>
            </a:extLst>
          </p:cNvPr>
          <p:cNvSpPr/>
          <p:nvPr/>
        </p:nvSpPr>
        <p:spPr>
          <a:xfrm>
            <a:off x="8936101" y="793899"/>
            <a:ext cx="1681200" cy="40312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none" lIns="0" tIns="0" rIns="0" bIns="0" anchor="ctr"/>
          <a:lstStyle/>
          <a:p>
            <a:pPr algn="ctr" latinLnBrk="1">
              <a:buClr>
                <a:srgbClr val="006600"/>
              </a:buClr>
              <a:buSzPct val="85000"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数据组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983D239-A161-7917-1563-058E4DF5C2D8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547720" y="2304711"/>
            <a:ext cx="6830" cy="47289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35403EF-2675-A35F-8FC3-1B9B1F319A6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919020" y="1905416"/>
            <a:ext cx="269895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9D2928CC-CB24-A792-540B-16CF8DA64A45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2630051" y="2200384"/>
            <a:ext cx="2649872" cy="875849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F47B306-F036-3571-0475-E2674DEC49AB}"/>
              </a:ext>
            </a:extLst>
          </p:cNvPr>
          <p:cNvSpPr/>
          <p:nvPr/>
        </p:nvSpPr>
        <p:spPr>
          <a:xfrm>
            <a:off x="9863183" y="2012133"/>
            <a:ext cx="754117" cy="1882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PLM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C3E96F-173C-9F0A-6DB0-8E0D2943B921}"/>
              </a:ext>
            </a:extLst>
          </p:cNvPr>
          <p:cNvSpPr/>
          <p:nvPr/>
        </p:nvSpPr>
        <p:spPr>
          <a:xfrm>
            <a:off x="8617978" y="3002250"/>
            <a:ext cx="2020527" cy="5899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BOM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7F48BA-531E-EF11-D526-51352E070864}"/>
              </a:ext>
            </a:extLst>
          </p:cNvPr>
          <p:cNvSpPr/>
          <p:nvPr/>
        </p:nvSpPr>
        <p:spPr>
          <a:xfrm>
            <a:off x="9834200" y="3374857"/>
            <a:ext cx="833287" cy="2126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D8F9508-E40F-3540-168B-73EEAD2F0B2F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>
            <a:off x="9628242" y="2200384"/>
            <a:ext cx="0" cy="80186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4E176F29-CBB1-F6DA-866B-F1AC80B59F42}"/>
              </a:ext>
            </a:extLst>
          </p:cNvPr>
          <p:cNvSpPr txBox="1"/>
          <p:nvPr/>
        </p:nvSpPr>
        <p:spPr>
          <a:xfrm>
            <a:off x="9215089" y="2287339"/>
            <a:ext cx="363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54" name="流程图: 预定义过程 53">
            <a:extLst>
              <a:ext uri="{FF2B5EF4-FFF2-40B4-BE49-F238E27FC236}">
                <a16:creationId xmlns:a16="http://schemas.microsoft.com/office/drawing/2014/main" id="{4CB28597-F3C1-62DC-84C9-546ECE216B97}"/>
              </a:ext>
            </a:extLst>
          </p:cNvPr>
          <p:cNvSpPr/>
          <p:nvPr/>
        </p:nvSpPr>
        <p:spPr>
          <a:xfrm>
            <a:off x="8637116" y="3967044"/>
            <a:ext cx="1975988" cy="542798"/>
          </a:xfrm>
          <a:prstGeom prst="flowChartPredefined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生产变更执行流程</a:t>
            </a:r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38FB0D01-5F43-079B-DCFC-7E0CC069F192}"/>
              </a:ext>
            </a:extLst>
          </p:cNvPr>
          <p:cNvCxnSpPr>
            <a:cxnSpLocks/>
            <a:stCxn id="21" idx="2"/>
            <a:endCxn id="54" idx="0"/>
          </p:cNvCxnSpPr>
          <p:nvPr/>
        </p:nvCxnSpPr>
        <p:spPr>
          <a:xfrm rot="5400000">
            <a:off x="9439247" y="3778049"/>
            <a:ext cx="374858" cy="3132"/>
          </a:xfrm>
          <a:prstGeom prst="bentConnector3">
            <a:avLst>
              <a:gd name="adj1" fmla="val 5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Shape 25">
            <a:extLst>
              <a:ext uri="{FF2B5EF4-FFF2-40B4-BE49-F238E27FC236}">
                <a16:creationId xmlns:a16="http://schemas.microsoft.com/office/drawing/2014/main" id="{35CA8695-9C52-7258-0905-1965E90E9716}"/>
              </a:ext>
            </a:extLst>
          </p:cNvPr>
          <p:cNvSpPr/>
          <p:nvPr/>
        </p:nvSpPr>
        <p:spPr>
          <a:xfrm>
            <a:off x="265470" y="4687868"/>
            <a:ext cx="5447071" cy="1710608"/>
          </a:xfrm>
          <a:prstGeom prst="roundRect">
            <a:avLst>
              <a:gd name="adj" fmla="val 3000"/>
            </a:avLst>
          </a:prstGeom>
          <a:solidFill>
            <a:schemeClr val="accent1">
              <a:lumMod val="20000"/>
              <a:lumOff val="80000"/>
              <a:alpha val="25000"/>
            </a:schemeClr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27384ADF-CB45-ADA8-8525-7B8836D3F232}"/>
              </a:ext>
            </a:extLst>
          </p:cNvPr>
          <p:cNvSpPr/>
          <p:nvPr/>
        </p:nvSpPr>
        <p:spPr>
          <a:xfrm>
            <a:off x="265471" y="4687868"/>
            <a:ext cx="73152" cy="17106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CEDE8069-F3AF-C962-6215-8D464FB9BE9E}"/>
              </a:ext>
            </a:extLst>
          </p:cNvPr>
          <p:cNvSpPr/>
          <p:nvPr/>
        </p:nvSpPr>
        <p:spPr>
          <a:xfrm>
            <a:off x="430063" y="4825028"/>
            <a:ext cx="5093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 dirty="0" err="1">
                <a:solidFill>
                  <a:srgbClr val="1E40AF"/>
                </a:solidFill>
                <a:latin typeface="Noto Sans SC"/>
                <a:ea typeface="Noto Sans SC"/>
              </a:rPr>
              <a:t>ECN</a:t>
            </a:r>
            <a:r>
              <a:rPr lang="en-US" sz="2000" b="1" dirty="0" err="1">
                <a:solidFill>
                  <a:srgbClr val="1E40AF"/>
                </a:solidFill>
                <a:latin typeface="Noto Sans SC"/>
                <a:ea typeface="Noto Sans SC"/>
              </a:rPr>
              <a:t>立即生效</a:t>
            </a:r>
            <a:endParaRPr lang="en-US" sz="2000" b="1" dirty="0">
              <a:solidFill>
                <a:srgbClr val="1E40AF"/>
              </a:solidFill>
              <a:latin typeface="Noto Sans SC"/>
              <a:ea typeface="Noto Sans SC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B21BB807-BFE4-26E6-31E7-9A7FA6AD2044}"/>
              </a:ext>
            </a:extLst>
          </p:cNvPr>
          <p:cNvSpPr/>
          <p:nvPr/>
        </p:nvSpPr>
        <p:spPr>
          <a:xfrm>
            <a:off x="430063" y="5108492"/>
            <a:ext cx="507492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● </a:t>
            </a:r>
            <a:r>
              <a:rPr lang="en-US" sz="1400" dirty="0" err="1">
                <a:solidFill>
                  <a:srgbClr val="374151"/>
                </a:solidFill>
                <a:latin typeface="Noto Sans SC"/>
                <a:ea typeface="Noto Sans SC"/>
              </a:rPr>
              <a:t>适用于重大质量问题、重大设计缺陷、行业标准切换、合同要求立即变更等场景</a:t>
            </a:r>
            <a:endParaRPr lang="en-US" sz="1400" dirty="0">
              <a:solidFill>
                <a:srgbClr val="374151"/>
              </a:solidFill>
              <a:latin typeface="Noto Sans SC"/>
              <a:ea typeface="Noto Sans SC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
● </a:t>
            </a:r>
            <a:r>
              <a:rPr lang="en-US" sz="1400" dirty="0" err="1">
                <a:solidFill>
                  <a:srgbClr val="374151"/>
                </a:solidFill>
                <a:latin typeface="Noto Sans SC"/>
                <a:ea typeface="Noto Sans SC"/>
              </a:rPr>
              <a:t>生效日期通常等于</a:t>
            </a:r>
            <a:r>
              <a:rPr lang="zh-CN" alt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需求</a:t>
            </a:r>
            <a:r>
              <a:rPr lang="en-US" sz="1400" dirty="0" err="1">
                <a:solidFill>
                  <a:srgbClr val="374151"/>
                </a:solidFill>
                <a:latin typeface="Noto Sans SC"/>
                <a:ea typeface="Noto Sans SC"/>
              </a:rPr>
              <a:t>提交日期，但必须同步明确</a:t>
            </a:r>
            <a:r>
              <a:rPr lang="zh-CN" alt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在制</a:t>
            </a:r>
            <a:r>
              <a:rPr lang="en-US" sz="1400" dirty="0" err="1">
                <a:solidFill>
                  <a:srgbClr val="374151"/>
                </a:solidFill>
                <a:latin typeface="Noto Sans SC"/>
                <a:ea typeface="Noto Sans SC"/>
              </a:rPr>
              <a:t>工单和库存处理方案</a:t>
            </a:r>
            <a:r>
              <a:rPr 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(WIP</a:t>
            </a:r>
            <a:r>
              <a:rPr lang="zh-CN" alt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工单的</a:t>
            </a:r>
            <a:r>
              <a:rPr lang="en-US" altLang="zh-CN" sz="1400" dirty="0">
                <a:solidFill>
                  <a:srgbClr val="374151"/>
                </a:solidFill>
                <a:latin typeface="Noto Sans SC"/>
                <a:ea typeface="Noto Sans SC"/>
              </a:rPr>
              <a:t>BOM</a:t>
            </a:r>
            <a:r>
              <a:rPr lang="zh-CN" alt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不能用</a:t>
            </a:r>
            <a:r>
              <a:rPr lang="en-US" altLang="zh-CN" sz="1400" dirty="0">
                <a:solidFill>
                  <a:srgbClr val="374151"/>
                </a:solidFill>
                <a:latin typeface="Noto Sans SC"/>
                <a:ea typeface="Noto Sans SC"/>
              </a:rPr>
              <a:t>ECN</a:t>
            </a:r>
            <a:r>
              <a:rPr lang="zh-CN" alt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直接变更，</a:t>
            </a:r>
            <a:r>
              <a:rPr lang="en-US" altLang="zh-CN" sz="1400" dirty="0">
                <a:solidFill>
                  <a:srgbClr val="374151"/>
                </a:solidFill>
                <a:latin typeface="Noto Sans SC"/>
                <a:ea typeface="Noto Sans SC"/>
              </a:rPr>
              <a:t>ECN</a:t>
            </a:r>
            <a:r>
              <a:rPr lang="zh-CN" alt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绑定在标准</a:t>
            </a:r>
            <a:r>
              <a:rPr lang="en-US" altLang="zh-CN" sz="1400" dirty="0">
                <a:solidFill>
                  <a:srgbClr val="374151"/>
                </a:solidFill>
                <a:latin typeface="Noto Sans SC"/>
                <a:ea typeface="Noto Sans SC"/>
              </a:rPr>
              <a:t>BOM</a:t>
            </a:r>
            <a:r>
              <a:rPr lang="zh-CN" alt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上</a:t>
            </a:r>
            <a:r>
              <a:rPr 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)</a:t>
            </a:r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5D3046E9-66B1-9366-F199-C826E8A80EA9}"/>
              </a:ext>
            </a:extLst>
          </p:cNvPr>
          <p:cNvSpPr/>
          <p:nvPr/>
        </p:nvSpPr>
        <p:spPr>
          <a:xfrm>
            <a:off x="6821525" y="4687868"/>
            <a:ext cx="4892040" cy="1710608"/>
          </a:xfrm>
          <a:prstGeom prst="roundRect">
            <a:avLst>
              <a:gd name="adj" fmla="val 3000"/>
            </a:avLst>
          </a:prstGeom>
          <a:solidFill>
            <a:schemeClr val="accent1">
              <a:lumMod val="20000"/>
              <a:lumOff val="80000"/>
              <a:alpha val="25000"/>
            </a:schemeClr>
          </a:solidFill>
          <a:ln w="12700">
            <a:solidFill>
              <a:srgbClr val="E7D7C6"/>
            </a:solidFill>
            <a:prstDash val="solid"/>
          </a:ln>
        </p:spPr>
        <p:txBody>
          <a:bodyPr/>
          <a:lstStyle/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FAC475DA-7979-76B3-D03A-2B0E1B3DC6B3}"/>
              </a:ext>
            </a:extLst>
          </p:cNvPr>
          <p:cNvSpPr/>
          <p:nvPr/>
        </p:nvSpPr>
        <p:spPr>
          <a:xfrm>
            <a:off x="6821525" y="4687868"/>
            <a:ext cx="73152" cy="17106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1F587DCF-61D9-C7BE-7825-9E499D528CE2}"/>
              </a:ext>
            </a:extLst>
          </p:cNvPr>
          <p:cNvSpPr/>
          <p:nvPr/>
        </p:nvSpPr>
        <p:spPr>
          <a:xfrm>
            <a:off x="6986117" y="4825028"/>
            <a:ext cx="4636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E40AF"/>
                </a:solidFill>
                <a:latin typeface="Noto Sans SC"/>
                <a:ea typeface="Noto Sans SC"/>
              </a:rPr>
              <a:t>按生效日期生效</a:t>
            </a:r>
            <a:endParaRPr lang="en-US" sz="2000" b="1" dirty="0">
              <a:solidFill>
                <a:srgbClr val="1E40AF"/>
              </a:solidFill>
              <a:latin typeface="Noto Sans SC"/>
              <a:ea typeface="Noto Sans SC"/>
            </a:endParaRPr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2DA81C04-D528-FCD6-0085-900F62722BBB}"/>
              </a:ext>
            </a:extLst>
          </p:cNvPr>
          <p:cNvSpPr/>
          <p:nvPr/>
        </p:nvSpPr>
        <p:spPr>
          <a:xfrm>
            <a:off x="6986117" y="5108492"/>
            <a:ext cx="461772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● </a:t>
            </a:r>
            <a:r>
              <a:rPr lang="en-US" sz="1400" dirty="0" err="1">
                <a:solidFill>
                  <a:srgbClr val="374151"/>
                </a:solidFill>
                <a:latin typeface="Noto Sans SC"/>
                <a:ea typeface="Noto Sans SC"/>
              </a:rPr>
              <a:t>研发先提交草拟生效日期和影响工单，业务部门基于库存、供货和计划共同评审</a:t>
            </a:r>
            <a:endParaRPr lang="en-US" sz="1400" dirty="0">
              <a:solidFill>
                <a:srgbClr val="374151"/>
              </a:solidFill>
              <a:latin typeface="Noto Sans SC"/>
              <a:ea typeface="Noto Sans SC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
● 系统在 ECN </a:t>
            </a:r>
            <a:r>
              <a:rPr lang="en-US" sz="1400" dirty="0" err="1">
                <a:solidFill>
                  <a:srgbClr val="374151"/>
                </a:solidFill>
                <a:latin typeface="Noto Sans SC"/>
                <a:ea typeface="Noto Sans SC"/>
              </a:rPr>
              <a:t>中固化最终生效时间，并以该日期驱动</a:t>
            </a:r>
            <a:r>
              <a:rPr 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 </a:t>
            </a:r>
            <a:r>
              <a:rPr lang="en-US" altLang="zh-CN" sz="1400" dirty="0">
                <a:solidFill>
                  <a:srgbClr val="374151"/>
                </a:solidFill>
                <a:latin typeface="Noto Sans SC"/>
                <a:ea typeface="Noto Sans SC"/>
              </a:rPr>
              <a:t>M</a:t>
            </a:r>
            <a:r>
              <a:rPr lang="en-US" sz="1400" dirty="0">
                <a:solidFill>
                  <a:srgbClr val="374151"/>
                </a:solidFill>
                <a:latin typeface="Noto Sans SC"/>
                <a:ea typeface="Noto Sans SC"/>
              </a:rPr>
              <a:t>BOM / </a:t>
            </a:r>
            <a:r>
              <a:rPr lang="en-US" sz="1400" dirty="0" err="1">
                <a:solidFill>
                  <a:srgbClr val="374151"/>
                </a:solidFill>
                <a:latin typeface="Noto Sans SC"/>
                <a:ea typeface="Noto Sans SC"/>
              </a:rPr>
              <a:t>工单切换</a:t>
            </a:r>
            <a:endParaRPr lang="en-US" sz="1400" dirty="0">
              <a:solidFill>
                <a:srgbClr val="374151"/>
              </a:solidFill>
              <a:latin typeface="Noto Sans SC"/>
              <a:ea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55469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2D99-3A87-3E48-7666-D19C59A9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>
            <a:extLst>
              <a:ext uri="{FF2B5EF4-FFF2-40B4-BE49-F238E27FC236}">
                <a16:creationId xmlns:a16="http://schemas.microsoft.com/office/drawing/2014/main" id="{4DBC8081-5ECB-BC2F-D6C4-23BCBCA396F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64458" y="1660572"/>
            <a:ext cx="2667877" cy="770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normAutofit/>
          </a:bodyPr>
          <a:lstStyle/>
          <a:p>
            <a:endParaRPr lang="en-US" sz="2400">
              <a:solidFill>
                <a:schemeClr val="bg2"/>
              </a:solidFill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5A9FBF9-84B6-8F85-ED93-70518C4C3B47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64458" y="810200"/>
            <a:ext cx="2667878" cy="770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normAutofit/>
          </a:bodyPr>
          <a:lstStyle/>
          <a:p>
            <a:endParaRPr lang="en-US" sz="2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9A4273-7B5E-2099-A157-EE29BB5C852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232249" y="1782025"/>
            <a:ext cx="1907426" cy="4603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300" dirty="0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辅材、包材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7E6081-1D9B-D636-A704-BD5E053E8F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03395" y="935804"/>
            <a:ext cx="2390002" cy="51919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构成产品直接组件</a:t>
            </a:r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A98BB147-6F05-544D-E054-F3F2F2DFAFD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48210" y="1663834"/>
            <a:ext cx="8729461" cy="770400"/>
          </a:xfrm>
          <a:custGeom>
            <a:avLst/>
            <a:gdLst>
              <a:gd name="T0" fmla="*/ 1908 w 1911"/>
              <a:gd name="T1" fmla="*/ 116 h 218"/>
              <a:gd name="T2" fmla="*/ 1816 w 1911"/>
              <a:gd name="T3" fmla="*/ 205 h 218"/>
              <a:gd name="T4" fmla="*/ 1803 w 1911"/>
              <a:gd name="T5" fmla="*/ 218 h 218"/>
              <a:gd name="T6" fmla="*/ 0 w 1911"/>
              <a:gd name="T7" fmla="*/ 218 h 218"/>
              <a:gd name="T8" fmla="*/ 0 w 1911"/>
              <a:gd name="T9" fmla="*/ 0 h 218"/>
              <a:gd name="T10" fmla="*/ 1803 w 1911"/>
              <a:gd name="T11" fmla="*/ 0 h 218"/>
              <a:gd name="T12" fmla="*/ 1906 w 1911"/>
              <a:gd name="T13" fmla="*/ 106 h 218"/>
              <a:gd name="T14" fmla="*/ 1908 w 1911"/>
              <a:gd name="T15" fmla="*/ 108 h 218"/>
              <a:gd name="T16" fmla="*/ 1908 w 1911"/>
              <a:gd name="T17" fmla="*/ 108 h 218"/>
              <a:gd name="T18" fmla="*/ 1908 w 1911"/>
              <a:gd name="T19" fmla="*/ 116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11" h="218">
                <a:moveTo>
                  <a:pt x="1908" y="116"/>
                </a:moveTo>
                <a:cubicBezTo>
                  <a:pt x="1816" y="205"/>
                  <a:pt x="1816" y="205"/>
                  <a:pt x="1816" y="205"/>
                </a:cubicBezTo>
                <a:cubicBezTo>
                  <a:pt x="1803" y="218"/>
                  <a:pt x="1803" y="218"/>
                  <a:pt x="1803" y="218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0"/>
                  <a:pt x="0" y="0"/>
                  <a:pt x="0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1906" y="106"/>
                  <a:pt x="1906" y="106"/>
                  <a:pt x="1906" y="106"/>
                </a:cubicBezTo>
                <a:cubicBezTo>
                  <a:pt x="1908" y="108"/>
                  <a:pt x="1908" y="108"/>
                  <a:pt x="1908" y="108"/>
                </a:cubicBezTo>
                <a:cubicBezTo>
                  <a:pt x="1908" y="108"/>
                  <a:pt x="1908" y="108"/>
                  <a:pt x="1908" y="108"/>
                </a:cubicBezTo>
                <a:cubicBezTo>
                  <a:pt x="1910" y="110"/>
                  <a:pt x="1911" y="114"/>
                  <a:pt x="1908" y="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624000" tIns="60960" rIns="121920" bIns="60960" numCol="1" anchor="ctr" anchorCtr="0" compatLnSpc="1">
            <a:normAutofit/>
          </a:bodyPr>
          <a:lstStyle/>
          <a:p>
            <a:endParaRPr lang="en-US" altLang="zh-CN" sz="2400" dirty="0">
              <a:solidFill>
                <a:schemeClr val="bg2"/>
              </a:solidFill>
            </a:endParaRP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200104B0-B338-6E15-20E0-4C97799898D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3348213" y="802233"/>
            <a:ext cx="8729462" cy="770400"/>
          </a:xfrm>
          <a:custGeom>
            <a:avLst/>
            <a:gdLst>
              <a:gd name="T0" fmla="*/ 1908 w 1911"/>
              <a:gd name="T1" fmla="*/ 116 h 218"/>
              <a:gd name="T2" fmla="*/ 1816 w 1911"/>
              <a:gd name="T3" fmla="*/ 205 h 218"/>
              <a:gd name="T4" fmla="*/ 1803 w 1911"/>
              <a:gd name="T5" fmla="*/ 218 h 218"/>
              <a:gd name="T6" fmla="*/ 0 w 1911"/>
              <a:gd name="T7" fmla="*/ 218 h 218"/>
              <a:gd name="T8" fmla="*/ 0 w 1911"/>
              <a:gd name="T9" fmla="*/ 0 h 218"/>
              <a:gd name="T10" fmla="*/ 1803 w 1911"/>
              <a:gd name="T11" fmla="*/ 0 h 218"/>
              <a:gd name="T12" fmla="*/ 1906 w 1911"/>
              <a:gd name="T13" fmla="*/ 106 h 218"/>
              <a:gd name="T14" fmla="*/ 1908 w 1911"/>
              <a:gd name="T15" fmla="*/ 108 h 218"/>
              <a:gd name="T16" fmla="*/ 1908 w 1911"/>
              <a:gd name="T17" fmla="*/ 108 h 218"/>
              <a:gd name="T18" fmla="*/ 1908 w 1911"/>
              <a:gd name="T19" fmla="*/ 116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11" h="218">
                <a:moveTo>
                  <a:pt x="1908" y="116"/>
                </a:moveTo>
                <a:cubicBezTo>
                  <a:pt x="1816" y="205"/>
                  <a:pt x="1816" y="205"/>
                  <a:pt x="1816" y="205"/>
                </a:cubicBezTo>
                <a:cubicBezTo>
                  <a:pt x="1803" y="218"/>
                  <a:pt x="1803" y="218"/>
                  <a:pt x="1803" y="218"/>
                </a:cubicBezTo>
                <a:cubicBezTo>
                  <a:pt x="0" y="218"/>
                  <a:pt x="0" y="218"/>
                  <a:pt x="0" y="218"/>
                </a:cubicBezTo>
                <a:cubicBezTo>
                  <a:pt x="0" y="0"/>
                  <a:pt x="0" y="0"/>
                  <a:pt x="0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1906" y="106"/>
                  <a:pt x="1906" y="106"/>
                  <a:pt x="1906" y="106"/>
                </a:cubicBezTo>
                <a:cubicBezTo>
                  <a:pt x="1908" y="108"/>
                  <a:pt x="1908" y="108"/>
                  <a:pt x="1908" y="108"/>
                </a:cubicBezTo>
                <a:cubicBezTo>
                  <a:pt x="1908" y="108"/>
                  <a:pt x="1908" y="108"/>
                  <a:pt x="1908" y="108"/>
                </a:cubicBezTo>
                <a:cubicBezTo>
                  <a:pt x="1910" y="110"/>
                  <a:pt x="1911" y="114"/>
                  <a:pt x="1908" y="116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624000" tIns="60960" rIns="121920" bIns="60960" numCol="1" anchor="ctr" anchorCtr="0" compatLnSpc="1">
            <a:normAutofit/>
          </a:bodyPr>
          <a:lstStyle/>
          <a:p>
            <a:endParaRPr lang="en-US" altLang="zh-CN" sz="2400" dirty="0">
              <a:solidFill>
                <a:srgbClr val="FFFFFF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AF59FF-5F69-9CB2-25B5-9C199A4D2CC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805560" y="814857"/>
            <a:ext cx="8200175" cy="71640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pc="15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dirty="0">
                <a:solidFill>
                  <a:srgbClr val="000000"/>
                </a:solidFill>
              </a:rPr>
              <a:t>构成产品直接半成品（结构件）、原材料是产品结构的主要部分</a:t>
            </a:r>
            <a:r>
              <a:rPr lang="zh-CN" altLang="en-US" b="1" dirty="0">
                <a:solidFill>
                  <a:srgbClr val="000000"/>
                </a:solidFill>
              </a:rPr>
              <a:t>（建议搭进</a:t>
            </a:r>
            <a:r>
              <a:rPr lang="en-US" altLang="zh-CN" b="1" dirty="0">
                <a:solidFill>
                  <a:srgbClr val="000000"/>
                </a:solidFill>
              </a:rPr>
              <a:t>BOM</a:t>
            </a:r>
            <a:r>
              <a:rPr lang="zh-CN" altLang="en-US" b="1" dirty="0">
                <a:solidFill>
                  <a:srgbClr val="000000"/>
                </a:solidFill>
              </a:rPr>
              <a:t>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836EFA-9A3C-699C-34CF-2E8F3F2A7D0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94981" y="1719572"/>
            <a:ext cx="8009152" cy="770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pc="15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dirty="0">
                <a:solidFill>
                  <a:schemeClr val="bg2"/>
                </a:solidFill>
              </a:rPr>
              <a:t>生产过程所需粘接胶 、焊锡丝 、标识</a:t>
            </a:r>
            <a:r>
              <a:rPr lang="en-US" altLang="zh-CN" dirty="0">
                <a:solidFill>
                  <a:schemeClr val="bg2"/>
                </a:solidFill>
              </a:rPr>
              <a:t>30*45MM </a:t>
            </a:r>
            <a:r>
              <a:rPr lang="zh-CN" altLang="en-US" dirty="0">
                <a:solidFill>
                  <a:schemeClr val="bg2"/>
                </a:solidFill>
              </a:rPr>
              <a:t>不干胶、双胶纸</a:t>
            </a:r>
            <a:r>
              <a:rPr lang="en-US" altLang="zh-CN" dirty="0">
                <a:solidFill>
                  <a:schemeClr val="bg2"/>
                </a:solidFill>
              </a:rPr>
              <a:t>70g</a:t>
            </a:r>
            <a:r>
              <a:rPr lang="zh-CN" altLang="en-US" dirty="0">
                <a:solidFill>
                  <a:schemeClr val="bg2"/>
                </a:solidFill>
              </a:rPr>
              <a:t>单色单等，产品完工入库或销售出库后包装材料</a:t>
            </a:r>
            <a:r>
              <a:rPr lang="zh-CN" altLang="en-US" b="1" dirty="0">
                <a:solidFill>
                  <a:schemeClr val="bg2"/>
                </a:solidFill>
                <a:sym typeface="+mn-ea"/>
              </a:rPr>
              <a:t>（根据实际情况判定）</a:t>
            </a:r>
          </a:p>
        </p:txBody>
      </p:sp>
      <p:sp>
        <p:nvSpPr>
          <p:cNvPr id="24" name="文本框 1">
            <a:extLst>
              <a:ext uri="{FF2B5EF4-FFF2-40B4-BE49-F238E27FC236}">
                <a16:creationId xmlns:a16="http://schemas.microsoft.com/office/drawing/2014/main" id="{E4FF71D2-8F0D-52AD-C6A6-C880BD842B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348211" y="810200"/>
            <a:ext cx="658407" cy="713175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 dirty="0">
                <a:solidFill>
                  <a:srgbClr val="000000"/>
                </a:solidFill>
              </a:rPr>
              <a:t>01. </a:t>
            </a:r>
          </a:p>
        </p:txBody>
      </p:sp>
      <p:sp>
        <p:nvSpPr>
          <p:cNvPr id="25" name="文本框 2">
            <a:extLst>
              <a:ext uri="{FF2B5EF4-FFF2-40B4-BE49-F238E27FC236}">
                <a16:creationId xmlns:a16="http://schemas.microsoft.com/office/drawing/2014/main" id="{1C6C51E7-536E-7B24-2545-0EDC1FE7C82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348213" y="1749995"/>
            <a:ext cx="658406" cy="684746"/>
          </a:xfrm>
          <a:prstGeom prst="rect">
            <a:avLst/>
          </a:prstGeom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altLang="zh-CN" b="1" dirty="0">
                <a:solidFill>
                  <a:schemeClr val="bg2"/>
                </a:solidFill>
              </a:rPr>
              <a:t>02</a:t>
            </a:r>
            <a:r>
              <a:rPr lang="en-US" altLang="zh-CN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7B8F2331-162F-E7A4-80C7-7219A960F5BA}"/>
              </a:ext>
            </a:extLst>
          </p:cNvPr>
          <p:cNvSpPr txBox="1">
            <a:spLocks/>
          </p:cNvSpPr>
          <p:nvPr/>
        </p:nvSpPr>
        <p:spPr>
          <a:xfrm>
            <a:off x="664458" y="196804"/>
            <a:ext cx="11696700" cy="38163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r>
              <a:rPr lang="zh-CN" altLang="en-US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建议</a:t>
            </a:r>
            <a:r>
              <a:rPr lang="en-US" altLang="zh-CN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BOM</a:t>
            </a:r>
            <a:r>
              <a:rPr lang="zh-CN" altLang="en-US" sz="2800" cap="all" dirty="0">
                <a:solidFill>
                  <a:schemeClr val="accent1"/>
                </a:solidFill>
                <a:latin typeface="+mj-lt"/>
                <a:ea typeface="+mj-ea"/>
                <a:sym typeface="+mn-ea"/>
              </a:rPr>
              <a:t>组件搭建内容</a:t>
            </a: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D3267C1B-C34E-FEF7-5F04-AF7D24B89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753787"/>
              </p:ext>
            </p:extLst>
          </p:nvPr>
        </p:nvGraphicFramePr>
        <p:xfrm>
          <a:off x="664458" y="2532576"/>
          <a:ext cx="11129609" cy="3396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240">
                  <a:extLst>
                    <a:ext uri="{9D8B030D-6E8A-4147-A177-3AD203B41FA5}">
                      <a16:colId xmlns:a16="http://schemas.microsoft.com/office/drawing/2014/main" val="2430677362"/>
                    </a:ext>
                  </a:extLst>
                </a:gridCol>
                <a:gridCol w="4358405">
                  <a:extLst>
                    <a:ext uri="{9D8B030D-6E8A-4147-A177-3AD203B41FA5}">
                      <a16:colId xmlns:a16="http://schemas.microsoft.com/office/drawing/2014/main" val="12992084"/>
                    </a:ext>
                  </a:extLst>
                </a:gridCol>
                <a:gridCol w="4004568">
                  <a:extLst>
                    <a:ext uri="{9D8B030D-6E8A-4147-A177-3AD203B41FA5}">
                      <a16:colId xmlns:a16="http://schemas.microsoft.com/office/drawing/2014/main" val="4174363870"/>
                    </a:ext>
                  </a:extLst>
                </a:gridCol>
                <a:gridCol w="1367396">
                  <a:extLst>
                    <a:ext uri="{9D8B030D-6E8A-4147-A177-3AD203B41FA5}">
                      <a16:colId xmlns:a16="http://schemas.microsoft.com/office/drawing/2014/main" val="284047097"/>
                    </a:ext>
                  </a:extLst>
                </a:gridCol>
              </a:tblGrid>
              <a:tr h="5622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厂区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2000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</a:t>
                      </a:r>
                      <a:r>
                        <a:rPr lang="en-US" altLang="zh-CN" sz="2000" dirty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BOM</a:t>
                      </a:r>
                      <a:endParaRPr lang="zh-CN" altLang="zh-CN" sz="2000" dirty="0">
                        <a:solidFill>
                          <a:schemeClr val="bg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未来建议不进</a:t>
                      </a:r>
                      <a:r>
                        <a:rPr lang="en-US" altLang="zh-CN" sz="20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BOM</a:t>
                      </a:r>
                      <a:endParaRPr lang="zh-CN" altLang="en-US" sz="200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7954"/>
                  </a:ext>
                </a:extLst>
              </a:tr>
              <a:tr h="252701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高明生产基地</a:t>
                      </a: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009" marR="6009" marT="6009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1800" b="1" u="sng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结构件：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塑料件、铝制品、铜制品、铁制品、玻璃品等等，像灯具的灯罩、底盘、面环、边框等</a:t>
                      </a:r>
                      <a:endParaRPr lang="zh-CN" alt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800" b="1" u="sng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高价值原材料</a:t>
                      </a:r>
                      <a:r>
                        <a:rPr lang="zh-CN" altLang="zh-CN" sz="1800" b="1" u="sng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面板灯电源超炫、透镜等</a:t>
                      </a:r>
                      <a:endParaRPr lang="en-US" alt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800" b="1" u="sng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低价值（标准紧固件）原材料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zh-CN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螺丝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M4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梅花垫片</a:t>
                      </a:r>
                      <a:r>
                        <a:rPr lang="zh-CN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</a:t>
                      </a:r>
                      <a:endParaRPr lang="en-US" alt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包材</a:t>
                      </a:r>
                      <a:r>
                        <a:rPr lang="zh-CN" altLang="en-US" sz="18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外箱</a:t>
                      </a:r>
                      <a:r>
                        <a:rPr lang="en-US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只 </a:t>
                      </a:r>
                      <a:r>
                        <a:rPr lang="en-US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FSL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直发光面板灯、</a:t>
                      </a:r>
                      <a:r>
                        <a:rPr lang="en-US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LED T8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明匠荟贴纸等</a:t>
                      </a:r>
                      <a:r>
                        <a:rPr lang="zh-CN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托盘、隔纸、胶袋</a:t>
                      </a:r>
                      <a:r>
                        <a:rPr lang="zh-CN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等）</a:t>
                      </a:r>
                      <a:endParaRPr lang="en-US" alt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endParaRPr lang="en-US" alt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生产性</a:t>
                      </a:r>
                      <a:r>
                        <a:rPr lang="zh-CN" altLang="zh-CN" sz="18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辅料：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粘接胶 、焊锡丝 、标识</a:t>
                      </a:r>
                      <a:r>
                        <a:rPr lang="en-US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30*45MM 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不干胶、双胶纸</a:t>
                      </a:r>
                      <a:r>
                        <a:rPr lang="en-US" altLang="zh-CN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70g</a:t>
                      </a:r>
                      <a:r>
                        <a:rPr lang="zh-CN" altLang="en-US" sz="18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单色单等  </a:t>
                      </a:r>
                      <a:endParaRPr lang="en-US" alt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u="sng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结论：辅料由于搭建难度技术难度不大，建议保持现状搭建到</a:t>
                      </a:r>
                      <a:r>
                        <a:rPr lang="en-US" altLang="zh-CN" sz="1800" b="1" u="sng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BOM</a:t>
                      </a:r>
                      <a:endParaRPr lang="zh-CN" altLang="zh-CN" sz="1800" b="1" u="sng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endParaRPr lang="zh-CN" sz="18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009" marR="6009" marT="6009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13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009" marR="6009" marT="6009" marB="0" anchor="ctr"/>
                </a:tc>
                <a:extLst>
                  <a:ext uri="{0D108BD9-81ED-4DB2-BD59-A6C34878D82A}">
                    <a16:rowId xmlns:a16="http://schemas.microsoft.com/office/drawing/2014/main" val="555321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762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6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03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方案实现的前提条件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C4D3-0EDF-D10C-BE80-6849E854B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1F85F55-8392-9F2B-C4FF-31DE157F9A25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545371"/>
              </p:ext>
            </p:extLst>
          </p:nvPr>
        </p:nvGraphicFramePr>
        <p:xfrm>
          <a:off x="521666" y="1701829"/>
          <a:ext cx="11148667" cy="16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待跟进事项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跟进人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DBOM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MBOM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管理流程（与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PLM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拉通）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钟部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刘琼、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PLM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顾问、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佛山照明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研究院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季超、佛山照明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研究院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马若珊、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SAP-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杨晓超、若泽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ECN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变更管理流程（与</a:t>
                      </a:r>
                      <a:r>
                        <a:rPr lang="en-US" altLang="zh-CN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PLM</a:t>
                      </a:r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拉通）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钟部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刘琼、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PLM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顾问、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佛山照明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研究院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季超、佛山照明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研究院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马若珊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若泽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SAP-</a:t>
                      </a:r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杨晓超</a:t>
                      </a:r>
                      <a:endParaRPr lang="zh-CN" altLang="en-US" sz="1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标题 1">
            <a:extLst>
              <a:ext uri="{FF2B5EF4-FFF2-40B4-BE49-F238E27FC236}">
                <a16:creationId xmlns:a16="http://schemas.microsoft.com/office/drawing/2014/main" id="{551CED05-BBFE-E464-A662-1229AB8B4192}"/>
              </a:ext>
            </a:extLst>
          </p:cNvPr>
          <p:cNvSpPr txBox="1">
            <a:spLocks/>
          </p:cNvSpPr>
          <p:nvPr/>
        </p:nvSpPr>
        <p:spPr>
          <a:xfrm>
            <a:off x="414798" y="480876"/>
            <a:ext cx="11696700" cy="73832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cap="all" dirty="0">
                <a:solidFill>
                  <a:schemeClr val="accent1"/>
                </a:solidFill>
              </a:rPr>
              <a:t>待定事项</a:t>
            </a:r>
          </a:p>
        </p:txBody>
      </p:sp>
    </p:spTree>
    <p:extLst>
      <p:ext uri="{BB962C8B-B14F-4D97-AF65-F5344CB8AC3E}">
        <p14:creationId xmlns:p14="http://schemas.microsoft.com/office/powerpoint/2010/main" val="4214349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944224" y="6309897"/>
            <a:ext cx="819151" cy="250488"/>
          </a:xfrm>
          <a:custGeom>
            <a:avLst/>
            <a:gdLst/>
            <a:ahLst/>
            <a:cxnLst/>
            <a:rect l="l" t="t" r="r" b="b"/>
            <a:pathLst>
              <a:path w="819151" h="250488">
                <a:moveTo>
                  <a:pt x="575067" y="142787"/>
                </a:moveTo>
                <a:cubicBezTo>
                  <a:pt x="575067" y="112258"/>
                  <a:pt x="554415" y="86623"/>
                  <a:pt x="526324" y="78891"/>
                </a:cubicBezTo>
                <a:cubicBezTo>
                  <a:pt x="524260" y="85270"/>
                  <a:pt x="523135" y="92080"/>
                  <a:pt x="523135" y="99148"/>
                </a:cubicBezTo>
                <a:cubicBezTo>
                  <a:pt x="523135" y="129677"/>
                  <a:pt x="543804" y="155312"/>
                  <a:pt x="571880" y="163029"/>
                </a:cubicBezTo>
                <a:cubicBezTo>
                  <a:pt x="573959" y="156649"/>
                  <a:pt x="575067" y="149840"/>
                  <a:pt x="575067" y="142787"/>
                </a:cubicBezTo>
                <a:moveTo>
                  <a:pt x="623703" y="142787"/>
                </a:moveTo>
                <a:cubicBezTo>
                  <a:pt x="623703" y="202571"/>
                  <a:pt x="571325" y="250488"/>
                  <a:pt x="508663" y="250488"/>
                </a:cubicBezTo>
                <a:cubicBezTo>
                  <a:pt x="477750" y="250488"/>
                  <a:pt x="449682" y="239034"/>
                  <a:pt x="429014" y="220444"/>
                </a:cubicBezTo>
                <a:cubicBezTo>
                  <a:pt x="414877" y="236431"/>
                  <a:pt x="389379" y="250238"/>
                  <a:pt x="358076" y="250238"/>
                </a:cubicBezTo>
                <a:cubicBezTo>
                  <a:pt x="320717" y="250238"/>
                  <a:pt x="282224" y="233249"/>
                  <a:pt x="282224" y="181510"/>
                </a:cubicBezTo>
                <a:lnTo>
                  <a:pt x="282224" y="80830"/>
                </a:lnTo>
                <a:lnTo>
                  <a:pt x="243145" y="80830"/>
                </a:lnTo>
                <a:lnTo>
                  <a:pt x="243145" y="42686"/>
                </a:lnTo>
                <a:lnTo>
                  <a:pt x="282224" y="42686"/>
                </a:lnTo>
                <a:lnTo>
                  <a:pt x="282224" y="1494"/>
                </a:lnTo>
                <a:lnTo>
                  <a:pt x="335454" y="1494"/>
                </a:lnTo>
                <a:lnTo>
                  <a:pt x="335454" y="42686"/>
                </a:lnTo>
                <a:lnTo>
                  <a:pt x="394740" y="42686"/>
                </a:lnTo>
                <a:lnTo>
                  <a:pt x="394740" y="80830"/>
                </a:lnTo>
                <a:lnTo>
                  <a:pt x="335454" y="80830"/>
                </a:lnTo>
                <a:lnTo>
                  <a:pt x="335454" y="176609"/>
                </a:lnTo>
                <a:cubicBezTo>
                  <a:pt x="335454" y="197482"/>
                  <a:pt x="349137" y="211437"/>
                  <a:pt x="368125" y="211437"/>
                </a:cubicBezTo>
                <a:cubicBezTo>
                  <a:pt x="382144" y="211437"/>
                  <a:pt x="396866" y="205323"/>
                  <a:pt x="407767" y="194567"/>
                </a:cubicBezTo>
                <a:cubicBezTo>
                  <a:pt x="398772" y="179173"/>
                  <a:pt x="393623" y="161559"/>
                  <a:pt x="393623" y="142787"/>
                </a:cubicBezTo>
                <a:cubicBezTo>
                  <a:pt x="393623" y="95575"/>
                  <a:pt x="426669" y="54381"/>
                  <a:pt x="473046" y="40380"/>
                </a:cubicBezTo>
                <a:cubicBezTo>
                  <a:pt x="463450" y="53772"/>
                  <a:pt x="457074" y="84301"/>
                  <a:pt x="457043" y="101125"/>
                </a:cubicBezTo>
                <a:cubicBezTo>
                  <a:pt x="447830" y="112500"/>
                  <a:pt x="442266" y="127011"/>
                  <a:pt x="442266" y="142787"/>
                </a:cubicBezTo>
                <a:cubicBezTo>
                  <a:pt x="442266" y="179414"/>
                  <a:pt x="472015" y="209116"/>
                  <a:pt x="508655" y="209116"/>
                </a:cubicBezTo>
                <a:cubicBezTo>
                  <a:pt x="521979" y="209116"/>
                  <a:pt x="534349" y="205152"/>
                  <a:pt x="544733" y="198397"/>
                </a:cubicBezTo>
                <a:cubicBezTo>
                  <a:pt x="503458" y="182057"/>
                  <a:pt x="474453" y="143781"/>
                  <a:pt x="474453" y="99155"/>
                </a:cubicBezTo>
                <a:cubicBezTo>
                  <a:pt x="474453" y="75405"/>
                  <a:pt x="482689" y="53459"/>
                  <a:pt x="496590" y="35658"/>
                </a:cubicBezTo>
                <a:cubicBezTo>
                  <a:pt x="500568" y="35283"/>
                  <a:pt x="504576" y="35063"/>
                  <a:pt x="508655" y="35063"/>
                </a:cubicBezTo>
                <a:cubicBezTo>
                  <a:pt x="524542" y="35063"/>
                  <a:pt x="539653" y="38066"/>
                  <a:pt x="553415" y="43531"/>
                </a:cubicBezTo>
                <a:cubicBezTo>
                  <a:pt x="553415" y="43531"/>
                  <a:pt x="553383" y="43546"/>
                  <a:pt x="553383" y="43562"/>
                </a:cubicBezTo>
                <a:cubicBezTo>
                  <a:pt x="594697" y="59893"/>
                  <a:pt x="623696" y="98154"/>
                  <a:pt x="623696" y="142787"/>
                </a:cubicBezTo>
                <a:moveTo>
                  <a:pt x="170334" y="144266"/>
                </a:moveTo>
                <a:lnTo>
                  <a:pt x="134177" y="48815"/>
                </a:lnTo>
                <a:lnTo>
                  <a:pt x="98099" y="144266"/>
                </a:lnTo>
                <a:lnTo>
                  <a:pt x="170341" y="144266"/>
                </a:lnTo>
                <a:close/>
                <a:moveTo>
                  <a:pt x="255624" y="215471"/>
                </a:moveTo>
                <a:lnTo>
                  <a:pt x="276371" y="215471"/>
                </a:lnTo>
                <a:lnTo>
                  <a:pt x="276371" y="245953"/>
                </a:lnTo>
                <a:lnTo>
                  <a:pt x="176842" y="245953"/>
                </a:lnTo>
                <a:lnTo>
                  <a:pt x="176842" y="215471"/>
                </a:lnTo>
                <a:lnTo>
                  <a:pt x="197307" y="215471"/>
                </a:lnTo>
                <a:lnTo>
                  <a:pt x="184641" y="182018"/>
                </a:lnTo>
                <a:lnTo>
                  <a:pt x="83815" y="182018"/>
                </a:lnTo>
                <a:lnTo>
                  <a:pt x="71180" y="215471"/>
                </a:lnTo>
                <a:lnTo>
                  <a:pt x="93020" y="215471"/>
                </a:lnTo>
                <a:lnTo>
                  <a:pt x="93020" y="245953"/>
                </a:lnTo>
                <a:lnTo>
                  <a:pt x="0" y="245953"/>
                </a:lnTo>
                <a:lnTo>
                  <a:pt x="0" y="215471"/>
                </a:lnTo>
                <a:lnTo>
                  <a:pt x="22162" y="215471"/>
                </a:lnTo>
                <a:lnTo>
                  <a:pt x="91511" y="32038"/>
                </a:lnTo>
                <a:lnTo>
                  <a:pt x="63685" y="32038"/>
                </a:lnTo>
                <a:lnTo>
                  <a:pt x="63685" y="1579"/>
                </a:lnTo>
                <a:lnTo>
                  <a:pt x="174568" y="1579"/>
                </a:lnTo>
                <a:lnTo>
                  <a:pt x="255617" y="215471"/>
                </a:lnTo>
                <a:close/>
                <a:moveTo>
                  <a:pt x="819151" y="174896"/>
                </a:moveTo>
                <a:cubicBezTo>
                  <a:pt x="819151" y="225048"/>
                  <a:pt x="770735" y="250363"/>
                  <a:pt x="713660" y="250363"/>
                </a:cubicBezTo>
                <a:cubicBezTo>
                  <a:pt x="676300" y="250363"/>
                  <a:pt x="642996" y="242537"/>
                  <a:pt x="615100" y="228176"/>
                </a:cubicBezTo>
                <a:cubicBezTo>
                  <a:pt x="622351" y="218302"/>
                  <a:pt x="633315" y="201040"/>
                  <a:pt x="638418" y="190782"/>
                </a:cubicBezTo>
                <a:cubicBezTo>
                  <a:pt x="657257" y="198107"/>
                  <a:pt x="687920" y="206887"/>
                  <a:pt x="715590" y="206887"/>
                </a:cubicBezTo>
                <a:cubicBezTo>
                  <a:pt x="743260" y="206887"/>
                  <a:pt x="763717" y="196333"/>
                  <a:pt x="763717" y="182166"/>
                </a:cubicBezTo>
                <a:cubicBezTo>
                  <a:pt x="763717" y="169846"/>
                  <a:pt x="759201" y="160205"/>
                  <a:pt x="716223" y="147665"/>
                </a:cubicBezTo>
                <a:cubicBezTo>
                  <a:pt x="660570" y="131467"/>
                  <a:pt x="629134" y="115268"/>
                  <a:pt x="629134" y="71504"/>
                </a:cubicBezTo>
                <a:cubicBezTo>
                  <a:pt x="629134" y="25463"/>
                  <a:pt x="674385" y="0"/>
                  <a:pt x="731710" y="0"/>
                </a:cubicBezTo>
                <a:cubicBezTo>
                  <a:pt x="756458" y="0"/>
                  <a:pt x="786089" y="5160"/>
                  <a:pt x="805383" y="9498"/>
                </a:cubicBezTo>
                <a:lnTo>
                  <a:pt x="802499" y="76538"/>
                </a:lnTo>
                <a:lnTo>
                  <a:pt x="761709" y="75842"/>
                </a:lnTo>
                <a:lnTo>
                  <a:pt x="761905" y="42507"/>
                </a:lnTo>
                <a:cubicBezTo>
                  <a:pt x="755880" y="41264"/>
                  <a:pt x="747213" y="40223"/>
                  <a:pt x="735220" y="40223"/>
                </a:cubicBezTo>
                <a:cubicBezTo>
                  <a:pt x="704205" y="40223"/>
                  <a:pt x="682873" y="50222"/>
                  <a:pt x="682873" y="67102"/>
                </a:cubicBezTo>
                <a:cubicBezTo>
                  <a:pt x="682873" y="79055"/>
                  <a:pt x="695117" y="90321"/>
                  <a:pt x="738392" y="103361"/>
                </a:cubicBezTo>
                <a:cubicBezTo>
                  <a:pt x="794130" y="120131"/>
                  <a:pt x="819127" y="135908"/>
                  <a:pt x="819127" y="174880"/>
                </a:cubicBezTo>
              </a:path>
            </a:pathLst>
          </a:custGeom>
          <a:solidFill>
            <a:srgbClr val="0073E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90098" y="389618"/>
            <a:ext cx="1247136" cy="14773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6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04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786976" y="1866946"/>
            <a:ext cx="7094047" cy="1929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 Bold"/>
                <a:ea typeface="Biennale Bold"/>
                <a:cs typeface="Biennale Bold"/>
                <a:sym typeface="Biennale Bold"/>
              </a:rPr>
              <a:t>附录：相关文档及原始数据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-1293962" y="262243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91440" tIns="45720" rIns="91440" bIns="4572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63648"/>
            <a:ext cx="820738" cy="492443"/>
          </a:xfrm>
        </p:spPr>
        <p:txBody>
          <a:bodyPr/>
          <a:lstStyle/>
          <a:p>
            <a:r>
              <a:rPr lang="zh-CN" altLang="en-US" sz="3200" b="1" dirty="0"/>
              <a:t>谢谢</a:t>
            </a:r>
            <a:endParaRPr sz="32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1447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73E6"/>
                </a:solidFill>
              </a:rPr>
              <a:t>SAP S/4HANA PCE  |  专项方案 1  |  2026年6月  |  内部文件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77098fd-2182-466b-a960-bedd0d53553d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74759_3*l_h_i*1_2_2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174759_3*l_h_i*1_1_2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174759_3*l_h_a*1_1_1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-0.05"/>
  <p:tag name="KSO_WM_UNIT_TEXT_FILL_FORE_SCHEMECOLOR_INDEX" val="14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174759_3*l_h_a*1_2_1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-0.05"/>
  <p:tag name="KSO_WM_UNIT_TEXT_FILL_FORE_SCHEMECOLOR_INDEX" val="14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74759_3*l_h_i*1_2_1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74759_3*l_h_i*1_1_1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7"/>
  <p:tag name="KSO_WM_UNI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74759_3*l_h_f*1_1_1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_BRIGHTNESS" val="-0.05"/>
  <p:tag name="KSO_WM_UNIT_TEXT_FILL_FORE_SCHEMECOLOR_INDEX" val="14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174759_3*l_h_f*1_2_1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_BRIGHTNESS" val="-0.05"/>
  <p:tag name="KSO_WM_UNIT_TEXT_FILL_FORE_SCHEMECOLOR_INDEX" val="14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174759_3*l_h_i*1_1_4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TEXT_FILL_FORE_SCHEMECOLOR_INDEX_BRIGHTNESS" val="-0.05"/>
  <p:tag name="KSO_WM_UNIT_TEXT_FILL_FORE_SCHEMECOLOR_INDEX" val="14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ID" val="diagram20174759_3*l_h_i*1_2_4"/>
  <p:tag name="KSO_WM_TEMPLATE_CATEGORY" val="diagram"/>
  <p:tag name="KSO_WM_TEMPLATE_INDEX" val="20174759"/>
  <p:tag name="KSO_WM_UNIT_LAYERLEVEL" val="1_1_1"/>
  <p:tag name="KSO_WM_TAG_VERSION" val="1.0"/>
  <p:tag name="KSO_WM_BEAUTIFY_FLAG" val="#wm#"/>
  <p:tag name="KSO_WM_UNIT_TEXT_FILL_FORE_SCHEMECOLOR_INDEX_BRIGHTNESS" val="-0.05"/>
  <p:tag name="KSO_WM_UNIT_TEXT_FILL_FORE_SCHEMECOLOR_INDEX" val="14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8945363-264c-4003-9418-c1faf40cd283}"/>
</p:tagLst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2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13341292813786","enableDocumentContentUpdater":false,"version":"2.0"}]]></TemplafySlideTemplateConfiguration>
</file>

<file path=customXml/item3.xml><?xml version="1.0" encoding="utf-8"?>
<TemplafySlide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4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6B6BFCDD-2828-244C-B8B0-E2958472E4D3}">
  <ds:schemaRefs/>
</ds:datastoreItem>
</file>

<file path=customXml/itemProps2.xml><?xml version="1.0" encoding="utf-8"?>
<ds:datastoreItem xmlns:ds="http://schemas.openxmlformats.org/officeDocument/2006/customXml" ds:itemID="{BEA80D82-EDC8-0741-826D-933AA8F9EFEB}">
  <ds:schemaRefs/>
</ds:datastoreItem>
</file>

<file path=customXml/itemProps3.xml><?xml version="1.0" encoding="utf-8"?>
<ds:datastoreItem xmlns:ds="http://schemas.openxmlformats.org/officeDocument/2006/customXml" ds:itemID="{9B965239-770B-CA49-8A85-05CC8639E8EA}">
  <ds:schemaRefs/>
</ds:datastoreItem>
</file>

<file path=customXml/itemProps4.xml><?xml version="1.0" encoding="utf-8"?>
<ds:datastoreItem xmlns:ds="http://schemas.openxmlformats.org/officeDocument/2006/customXml" ds:itemID="{FE511B84-21F8-E546-9875-8BED6F72232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1671</TotalTime>
  <Words>2351</Words>
  <Application>Microsoft Office PowerPoint</Application>
  <PresentationFormat>宽屏</PresentationFormat>
  <Paragraphs>278</Paragraphs>
  <Slides>16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Biennale</vt:lpstr>
      <vt:lpstr>Biennale Bold</vt:lpstr>
      <vt:lpstr>Biennale Medium</vt:lpstr>
      <vt:lpstr>Montserrat Bold</vt:lpstr>
      <vt:lpstr>Noto Sans SC</vt:lpstr>
      <vt:lpstr>等线</vt:lpstr>
      <vt:lpstr>微软雅黑</vt:lpstr>
      <vt:lpstr>微软雅黑</vt:lpstr>
      <vt:lpstr>Aptos</vt:lpstr>
      <vt:lpstr>Arial</vt:lpstr>
      <vt:lpstr>Calibri</vt:lpstr>
      <vt:lpstr>Montserrat SemiBold</vt:lpstr>
      <vt:lpstr>Times New Roman</vt:lpstr>
      <vt:lpstr>Verdana</vt:lpstr>
      <vt:lpstr>Wingdings</vt:lpstr>
      <vt:lpstr>White background</vt:lpstr>
      <vt:lpstr>自定义主题</vt:lpstr>
      <vt:lpstr>BOM产品生命周期高效建设专题</vt:lpstr>
      <vt:lpstr>目录</vt:lpstr>
      <vt:lpstr>BOM产品生命周期高效建设专题方案</vt:lpstr>
      <vt:lpstr>PowerPoint 演示文稿</vt:lpstr>
      <vt:lpstr>现状：主生产计划-MRP管理需求和问题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泰国财务体系合规建设专项方案</dc:title>
  <dc:creator>Tan, Hong-liang</dc:creator>
  <cp:lastModifiedBy>2102125624@qq.com</cp:lastModifiedBy>
  <cp:revision>76</cp:revision>
  <dcterms:created xsi:type="dcterms:W3CDTF">2026-07-20T05:48:17Z</dcterms:created>
  <dcterms:modified xsi:type="dcterms:W3CDTF">2026-08-30T11:12:51Z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8C8A8E2263C4743E61B55D6AA9AF7B3D_42</vt:lpwstr>
  </property>
  <property fmtid="{D5CDD505-2E9C-101B-9397-08002B2CF9AE}" pid="3" name="KSOProductBuildVer">
    <vt:lpwstr>2052-0.0.0.0</vt:lpwstr>
  </property>
</Properties>
</file>