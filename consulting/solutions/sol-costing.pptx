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25813" y="0"/>
            <a:ext cx="5363138" cy="685800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跨公司成本还原
专项方案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FF"/>
                </a:solidFill>
              </a:rPr>
              <a:t>SAP S/4HANA | MDG | Group Reporting | DRC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B4D4"/>
                </a:solidFill>
              </a:rPr>
              <a:t>佛山照明 × SAP × Eviden   |   2026.06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1 / 22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0F2"/>
                </a:solidFill>
              </a:rPr>
              <a:t>高价值专项方案评估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7A91"/>
                </a:solidFill>
              </a:rPr>
              <a:t>业务价值 × 技术难度 四象限分析  |  ★ 本期8个入选方案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3794760" y="822960"/>
            <a:ext cx="2971800" cy="265176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94760" y="3474720"/>
            <a:ext cx="2971800" cy="2651760"/>
          </a:xfrm>
          <a:prstGeom prst="rect">
            <a:avLst/>
          </a:prstGeom>
          <a:solidFill>
            <a:srgbClr val="D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462020"/>
            <a:ext cx="5943600" cy="2540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782060" y="822960"/>
            <a:ext cx="25400" cy="530352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" y="310896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F2"/>
                </a:solidFill>
              </a:rPr>
              <a:t>业务价值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614476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5568"/>
                </a:solidFill>
              </a:rPr>
              <a:t>技术难度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7912" y="84124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F2"/>
                </a:solidFill>
              </a:rPr>
              <a:t>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246120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F2"/>
                </a:solidFill>
              </a:rPr>
              <a:t>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8961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7A91"/>
                </a:solidFill>
              </a:rPr>
              <a:t>优先级低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8961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0F2"/>
                </a:solidFill>
              </a:rPr>
              <a:t>优先级中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568"/>
                </a:solidFill>
              </a:rPr>
              <a:t>优先级中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58704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0F2"/>
                </a:solidFill>
              </a:rPr>
              <a:t>优先级高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32504" y="1141171"/>
            <a:ext cx="10515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78224" y="1177747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70F2"/>
                </a:solidFill>
              </a:rPr>
              <a:t>跨公司转移定价
和成本还原 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1830628"/>
            <a:ext cx="10515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48072" y="1867204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70F2"/>
                </a:solidFill>
              </a:rPr>
              <a:t>主数据规范
及治理 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10812" y="2414016"/>
            <a:ext cx="10515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56532" y="2450592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70F2"/>
                </a:solidFill>
              </a:rPr>
              <a:t>标准成本估算
及发布 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26864" y="3739896"/>
            <a:ext cx="10515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72584" y="3776472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70F2"/>
                </a:solidFill>
              </a:rPr>
              <a:t>自动化运行
MRP资源计划 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13632" y="4111142"/>
            <a:ext cx="10515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59352" y="4147718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70F2"/>
                </a:solidFill>
              </a:rPr>
              <a:t>泰国外币及
本地化监管需求 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5172" y="4535424"/>
            <a:ext cx="10515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50892" y="457200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70F2"/>
                </a:solidFill>
              </a:rPr>
              <a:t>集团财务管控
专项方案 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13632" y="4906670"/>
            <a:ext cx="10515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59352" y="4943246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70F2"/>
                </a:solidFill>
              </a:rPr>
              <a:t>销售价格体系
专项方案 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02352" y="5224881"/>
            <a:ext cx="10515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48072" y="5261457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70F2"/>
                </a:solidFill>
              </a:rPr>
              <a:t>研发与BOM
管理专项 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73936" y="13002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B7A91"/>
                </a:solidFill>
              </a:rPr>
              <a:t>管理报表与
财务报告统驭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" y="2201875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B7A91"/>
                </a:solidFill>
              </a:rPr>
              <a:t>退货逆向流程
的优化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2838297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B7A91"/>
                </a:solidFill>
              </a:rPr>
              <a:t>产销协同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" y="31565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B7A91"/>
                </a:solidFill>
              </a:rPr>
              <a:t>销售履约的
全景追踪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" y="411114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B7A91"/>
                </a:solidFill>
              </a:rPr>
              <a:t>集团采购组织
集中化管理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08860" y="384596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B7A91"/>
                </a:solidFill>
              </a:rPr>
              <a:t>加强IT管队
的建设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6236208"/>
            <a:ext cx="128016" cy="128016"/>
          </a:xfrm>
          <a:prstGeom prst="rect">
            <a:avLst/>
          </a:prstGeom>
          <a:solidFill>
            <a:srgbClr val="EFF6FF"/>
          </a:solidFill>
          <a:ln w="12700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" y="6217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0F2"/>
                </a:solidFill>
              </a:rPr>
              <a:t>★ 本期8个高价值入选方案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6236208"/>
            <a:ext cx="128016" cy="128016"/>
          </a:xfrm>
          <a:prstGeom prst="rect">
            <a:avLst/>
          </a:prstGeom>
          <a:solidFill>
            <a:srgbClr val="F0F4F8"/>
          </a:solidFill>
          <a:ln w="12700">
            <a:solidFill>
              <a:srgbClr val="5B7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0" y="6217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7A91"/>
                </a:solidFill>
              </a:rPr>
              <a:t>其他候选（暂不纳入本期）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0" y="777240"/>
            <a:ext cx="25400" cy="55778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86600" y="804672"/>
            <a:ext cx="4892040" cy="24231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96328" y="896112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A86"/>
                </a:solidFill>
              </a:rPr>
              <a:t>方案选择标准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96328" y="1188720"/>
            <a:ext cx="4672584" cy="12700"/>
          </a:xfrm>
          <a:prstGeom prst="rect">
            <a:avLst/>
          </a:prstGeom>
          <a:solidFill>
            <a:srgbClr val="89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196328" y="1261872"/>
            <a:ext cx="50800" cy="40233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0" y="12801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① 痛点明确，业务驱动力强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14630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568"/>
                </a:solidFill>
              </a:rPr>
              <a:t>均来自访谈中业务部门明确呼吁解决的核心问题，集团高层有强烈推动意愿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96328" y="1737360"/>
            <a:ext cx="50800" cy="40233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15200" y="175564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② 匹配S/4HANA原生功能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19385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568"/>
                </a:solidFill>
              </a:rPr>
              <a:t>以PCE标准功能为核心（平行评估/MDG/GR/MRP Live/DRC），定制化开发最小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96328" y="2212848"/>
            <a:ext cx="50800" cy="40233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15200" y="223113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③ 业务价值可量化可验收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241401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568"/>
                </a:solidFill>
              </a:rPr>
              <a:t>设有净利率/月结周期/缺货率/补税风险等可测量数字化指标，支撑验收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96328" y="2688336"/>
            <a:ext cx="50800" cy="40233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15200" y="2706624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④ 战略合规与二期扩展性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0" y="288950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568"/>
                </a:solidFill>
              </a:rPr>
              <a:t>响应国际化战略（德国FZ33/泰国FZ40），为GTS/IBP等二期产品奠定基础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86600" y="3291840"/>
            <a:ext cx="4892040" cy="3246120"/>
          </a:xfrm>
          <a:prstGeom prst="rect">
            <a:avLst/>
          </a:prstGeom>
          <a:solidFill>
            <a:srgbClr val="F8FA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196328" y="3364992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A86"/>
                </a:solidFill>
              </a:rPr>
              <a:t>各方案入选具体理由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96328" y="3639312"/>
            <a:ext cx="4672584" cy="12700"/>
          </a:xfrm>
          <a:prstGeom prst="rect">
            <a:avLst/>
          </a:prstGeom>
          <a:solidFill>
            <a:srgbClr val="89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196328" y="3703320"/>
            <a:ext cx="38100" cy="310896"/>
          </a:xfrm>
          <a:prstGeom prst="rect">
            <a:avLst/>
          </a:prstGeom>
          <a:solidFill>
            <a:srgbClr val="00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15200" y="3712464"/>
            <a:ext cx="4572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2A86"/>
                </a:solidFill>
              </a:rPr>
              <a:t>① 跨公司转移定价和成本还原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0" y="3858768"/>
            <a:ext cx="45720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5568"/>
                </a:solidFill>
              </a:rPr>
              <a:t>净利率0.95%（行业底部），19家法人内部交易约30亿，MAP未启用平行评估，管理报告靠手工，月结15天→5天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96328" y="4050792"/>
            <a:ext cx="38100" cy="310896"/>
          </a:xfrm>
          <a:prstGeom prst="rect">
            <a:avLst/>
          </a:prstGeom>
          <a:solidFill>
            <a:srgbClr val="00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315200" y="4059936"/>
            <a:ext cx="4572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2A86"/>
                </a:solidFill>
              </a:rPr>
              <a:t>② 主数据规范及治理（MDG）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0" y="4206240"/>
            <a:ext cx="45720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5568"/>
                </a:solidFill>
              </a:rPr>
              <a:t>同一LED灯珠在不同法人有5-8个物料编码，是所有其他方案的数据底座，MDG不先行其余均无准确性保证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96328" y="4398264"/>
            <a:ext cx="38100" cy="310896"/>
          </a:xfrm>
          <a:prstGeom prst="rect">
            <a:avLst/>
          </a:prstGeom>
          <a:solidFill>
            <a:srgbClr val="00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315200" y="4407408"/>
            <a:ext cx="4572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2A86"/>
                </a:solidFill>
              </a:rPr>
              <a:t>③ 标准成本估算及发布（CK40N）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0" y="4553712"/>
            <a:ext cx="45720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5568"/>
                </a:solidFill>
              </a:rPr>
              <a:t>芯片年波动±25%，MAP导致年PPV约7500万≈全年净利润；标准成本让差异归因：芯片涨价归采购，良率归生产BU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96328" y="4745736"/>
            <a:ext cx="38100" cy="31089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315200" y="4754880"/>
            <a:ext cx="4572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2A86"/>
                </a:solidFill>
              </a:rPr>
              <a:t>④ 自动化运行MRP资源计划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0" y="4901184"/>
            <a:ext cx="45720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5568"/>
                </a:solidFill>
              </a:rPr>
              <a:t>家用部季末缺货率30-40%，销售预测仅覆盖品类，MRP Live替代手工排产，缺货率降至10%以内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196328" y="5093208"/>
            <a:ext cx="38100" cy="31089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315200" y="5102352"/>
            <a:ext cx="4572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2A86"/>
                </a:solidFill>
              </a:rPr>
              <a:t>⑤ 销售价格体系（SD定价条件）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0" y="5248656"/>
            <a:ext cx="45720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5568"/>
                </a:solidFill>
              </a:rPr>
              <a:t>多渠道促销全靠人工核算，占销售支持岗50-60%工时；系统化实现"下单自动匹配最优价格"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96328" y="5440680"/>
            <a:ext cx="38100" cy="31089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315200" y="5449824"/>
            <a:ext cx="4572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2A86"/>
                </a:solidFill>
              </a:rPr>
              <a:t>⑥ 集团财务管控（Group Reporting）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0" y="5596128"/>
            <a:ext cx="45720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5568"/>
                </a:solidFill>
              </a:rPr>
              <a:t>含FZ33(EUR)/FZ40(THB)，内部消除靠手工需3周。GR实现T+0自动消除，满足IFRS/CAS双套报告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96328" y="5788152"/>
            <a:ext cx="38100" cy="310896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315200" y="5797296"/>
            <a:ext cx="4572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2A86"/>
                </a:solidFill>
              </a:rPr>
              <a:t>⑦ 泰国外币及本地化监管（DRC）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0" y="5943600"/>
            <a:ext cx="45720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5568"/>
                </a:solidFill>
              </a:rPr>
              <a:t>DRC自动生成OECD关联交易文档，规避约2800万/年潜在补税风险（0.5%×56亿营收均值）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96328" y="6135624"/>
            <a:ext cx="38100" cy="310896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315200" y="6144768"/>
            <a:ext cx="4572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2A86"/>
                </a:solidFill>
              </a:rPr>
              <a:t>⑧ 研发与BOM管理（PP/PLM集成）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0" y="6291072"/>
            <a:ext cx="45720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5568"/>
                </a:solidFill>
              </a:rPr>
              <a:t>研发费5.60亿/年，EBOM→MBOM仍靠人工，BOM准确性直接影响MRP和标准成本估算，是①③④的数据保障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2 / 22</a:t>
            </a:r>
          </a:p>
        </p:txBody>
      </p:sp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2A86"/>
                </a:solidFill>
              </a:rPr>
              <a:t>现状量化仪表盘：每一个数字都是待解决的问题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85800"/>
            <a:ext cx="27432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1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685800"/>
            <a:ext cx="64008" cy="1508760"/>
          </a:xfrm>
          <a:prstGeom prst="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50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20A0A"/>
                </a:solidFill>
              </a:rPr>
              <a:t>0.95%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A86"/>
                </a:solidFill>
              </a:rPr>
              <a:t>集团扣非净利率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20A0A"/>
                </a:solidFill>
              </a:rPr>
              <a:t>↓ 行业均值 3.2%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3172968" y="685800"/>
            <a:ext cx="27432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1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72968" y="685800"/>
            <a:ext cx="64008" cy="1508760"/>
          </a:xfrm>
          <a:prstGeom prst="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0128" y="850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20A0A"/>
                </a:solidFill>
              </a:rPr>
              <a:t>2.4亿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3258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A86"/>
                </a:solidFill>
              </a:rPr>
              <a:t>内部定价幽灵差额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16002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20A0A"/>
                </a:solidFill>
              </a:rPr>
              <a:t>= 集团净利润 3 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25896" y="685800"/>
            <a:ext cx="27432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1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25896" y="685800"/>
            <a:ext cx="64008" cy="150876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63056" y="850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70F2"/>
                </a:solidFill>
              </a:rPr>
              <a:t>15天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3258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A86"/>
                </a:solidFill>
              </a:rPr>
              <a:t>月结平均耗时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16002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70F2"/>
                </a:solidFill>
              </a:rPr>
              <a:t>标杆企业 &lt;5 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78824" y="685800"/>
            <a:ext cx="27432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1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78824" y="685800"/>
            <a:ext cx="64008" cy="150876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15984" y="850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70F2"/>
                </a:solidFill>
              </a:rPr>
              <a:t>1000+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13258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A86"/>
                </a:solidFill>
              </a:rPr>
              <a:t>外围系统接口数量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16002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70F2"/>
                </a:solidFill>
              </a:rPr>
              <a:t>可用约 60%，需清理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304288"/>
            <a:ext cx="27432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1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2304288"/>
            <a:ext cx="64008" cy="1508760"/>
          </a:xfrm>
          <a:prstGeom prst="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20A0A"/>
                </a:solidFill>
              </a:rPr>
              <a:t>7500万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9443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A86"/>
                </a:solidFill>
              </a:rPr>
              <a:t>年价格差异（PPV）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1868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20A0A"/>
                </a:solidFill>
              </a:rPr>
              <a:t>≈ 集团全年净利润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72968" y="2304288"/>
            <a:ext cx="27432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1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172968" y="2304288"/>
            <a:ext cx="64008" cy="1508760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10128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76500"/>
                </a:solidFill>
              </a:rPr>
              <a:t>30~40%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128" y="29443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A86"/>
                </a:solidFill>
              </a:rPr>
              <a:t>家用部季末缺货率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0128" y="321868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76500"/>
                </a:solidFill>
              </a:rPr>
              <a:t>MRP未驱动，纯人工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25896" y="2304288"/>
            <a:ext cx="27432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1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025896" y="2304288"/>
            <a:ext cx="64008" cy="1508760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63056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76500"/>
                </a:solidFill>
              </a:rPr>
              <a:t>18年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3056" y="29443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A86"/>
                </a:solidFill>
              </a:rPr>
              <a:t>ECC运行年限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63056" y="321868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76500"/>
                </a:solidFill>
              </a:rPr>
              <a:t>2008年上线，已停维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78824" y="2304288"/>
            <a:ext cx="27432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1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878824" y="2304288"/>
            <a:ext cx="64008" cy="1508760"/>
          </a:xfrm>
          <a:prstGeom prst="rect">
            <a:avLst/>
          </a:prstGeom>
          <a:solidFill>
            <a:srgbClr val="188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15984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8918"/>
                </a:solidFill>
              </a:rPr>
              <a:t>19家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5984" y="29443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A86"/>
                </a:solidFill>
              </a:rPr>
              <a:t>需统一的法人实体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15984" y="321868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88918"/>
                </a:solidFill>
              </a:rPr>
              <a:t>含 DE/TH 跨境主体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3 / 22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2A86"/>
                </a:solidFill>
              </a:rPr>
              <a:t>各 BU 账面利润加总，比集团真实利润多出 2.4 亿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40080"/>
            <a:ext cx="5303520" cy="5303520"/>
          </a:xfrm>
          <a:prstGeom prst="rect">
            <a:avLst/>
          </a:prstGeom>
          <a:solidFill>
            <a:srgbClr val="FFF0F0"/>
          </a:solidFill>
          <a:ln w="19050">
            <a:solidFill>
              <a:srgbClr val="D2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20A0A"/>
                </a:solidFill>
              </a:rPr>
              <a:t>各BU加总利润（管理视角）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2A86"/>
                </a:solidFill>
              </a:rPr>
              <a:t>广东工厂 FZ01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80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88918"/>
                </a:solidFill>
              </a:rPr>
              <a:t>+3,200万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19072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8105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2A86"/>
                </a:solidFill>
              </a:rPr>
              <a:t>燎旺车灯 FZ02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105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88918"/>
                </a:solidFill>
              </a:rPr>
              <a:t>+1,800万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9424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3408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2A86"/>
                </a:solidFill>
              </a:rPr>
              <a:t>德国 FZ33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34086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88918"/>
                </a:solidFill>
              </a:rPr>
              <a:t>+2,100万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79776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2A86"/>
                </a:solidFill>
              </a:rPr>
              <a:t>泰国 FZ40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8712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88918"/>
                </a:solidFill>
              </a:rPr>
              <a:t>+1,400万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10128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401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2A86"/>
                </a:solidFill>
              </a:rPr>
              <a:t>其余15家…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4015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88918"/>
                </a:solidFill>
              </a:rPr>
              <a:t>+16,500万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5029200" cy="50292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005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BU加总利润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0050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+25,000万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640080"/>
            <a:ext cx="5806440" cy="5303520"/>
          </a:xfrm>
          <a:prstGeom prst="rect">
            <a:avLst/>
          </a:prstGeom>
          <a:solidFill>
            <a:srgbClr val="001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7772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90FF"/>
                </a:solidFill>
              </a:rPr>
              <a:t>集团合并利润（真实视角）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BU加总利润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B90FF"/>
                </a:solidFill>
              </a:rPr>
              <a:t>+25,000万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18470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— 内部交易消除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470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D20A0A"/>
                </a:solidFill>
              </a:rPr>
              <a:t>−24,000万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50545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— 未实现利润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5054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D20A0A"/>
                </a:solidFill>
              </a:rPr>
              <a:t>−3,600万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16382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— 汇兑差异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1638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76500"/>
                </a:solidFill>
              </a:rPr>
              <a:t>−400万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3931920"/>
            <a:ext cx="5303520" cy="54864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400507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集团真实净利润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00507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8CB2"/>
                </a:solidFill>
              </a:rPr>
              <a:t>≈ 8,000万  (净利率0.95%)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59893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70F2"/>
                </a:solidFill>
              </a:rPr>
              <a:t>幽灵差额 2.4亿 = 集团净利润的近3倍  |  30亿内部交易 × 8%加价率制造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4 / 22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2A86"/>
                </a:solidFill>
              </a:rPr>
              <a:t>三重噪音：失真从哪里来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B7A91"/>
                </a:solidFill>
              </a:rPr>
              <a:t>MAP失效 + 内部加价 + 无差异归因 — 三重叠加，年损失超 1 亿元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22960"/>
            <a:ext cx="3840480" cy="5212080"/>
          </a:xfrm>
          <a:prstGeom prst="rect">
            <a:avLst/>
          </a:prstGeom>
          <a:solidFill>
            <a:srgbClr val="F7F7F7"/>
          </a:solidFill>
          <a:ln w="25400">
            <a:solidFill>
              <a:srgbClr val="D2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3840480" cy="502920"/>
          </a:xfrm>
          <a:prstGeom prst="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8961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第一重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3898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20A0A"/>
                </a:solidFill>
              </a:rPr>
              <a:t>LED芯片价格波动使MAP失效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1773936"/>
            <a:ext cx="3621024" cy="12700"/>
          </a:xfrm>
          <a:prstGeom prst="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847088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002A86"/>
                </a:solidFill>
              </a:rPr>
              <a:t>• LED芯片占灯具成本30-45%，年内波动±20-30%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02A86"/>
                </a:solidFill>
              </a:rPr>
              <a:t>• 采购示例：1月0.080元→3月0.100元→6月0.065元/颗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02A86"/>
                </a:solidFill>
              </a:rPr>
              <a:t>• MAP反映采购时机而非经营能力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02A86"/>
                </a:solidFill>
              </a:rPr>
              <a:t>• 年采购5亿×波动15% = PPV 7,500万 ≈ 集团全年净利润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822960"/>
            <a:ext cx="3840480" cy="5212080"/>
          </a:xfrm>
          <a:prstGeom prst="rect">
            <a:avLst/>
          </a:prstGeom>
          <a:solidFill>
            <a:srgbClr val="F7F7F7"/>
          </a:solidFill>
          <a:ln w="25400">
            <a:solidFill>
              <a:srgbClr val="E7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822960"/>
            <a:ext cx="3840480" cy="502920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07408" y="8961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第二重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13898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6500"/>
                </a:solidFill>
              </a:rPr>
              <a:t>内部加价在合并时消除，但考核时已扭曲判断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1773936"/>
            <a:ext cx="3621024" cy="12700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7408" y="1847088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002A86"/>
                </a:solidFill>
              </a:rPr>
              <a:t>• 制造BU成本100元 → 转移价130元 → FZ33对外售150元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02A86"/>
                </a:solidFill>
              </a:rPr>
              <a:t>• BU账面各自"盈利"，集团合并后加价全部抵消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02A86"/>
                </a:solidFill>
              </a:rPr>
              <a:t>• BU经理为维持账面利润不愿降低内部定价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02A86"/>
                </a:solidFill>
              </a:rPr>
              <a:t>• 集团利益与BU利益形成结构性对立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822960"/>
            <a:ext cx="3840480" cy="5212080"/>
          </a:xfrm>
          <a:prstGeom prst="rect">
            <a:avLst/>
          </a:prstGeom>
          <a:solidFill>
            <a:srgbClr val="F7F7F7"/>
          </a:solidFill>
          <a:ln w="25400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822960"/>
            <a:ext cx="3840480" cy="50292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8961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第三重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3898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0F2"/>
                </a:solidFill>
              </a:rPr>
              <a:t>无标准成本，差异无法归因，责任无处挂钩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85048" y="1773936"/>
            <a:ext cx="3621024" cy="1270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85048" y="1847088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002A86"/>
                </a:solidFill>
              </a:rPr>
              <a:t>• PPV/用量差异/工时差异全部混入MAP，无法区分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02A86"/>
                </a:solidFill>
              </a:rPr>
              <a:t>• BU经理既无法被公平激励，也无法被精准问责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02A86"/>
                </a:solidFill>
              </a:rPr>
              <a:t>• 解法：标准成本体系 — 采购部负责PPV，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02A86"/>
                </a:solidFill>
              </a:rPr>
              <a:t>  生产BU负责用量差异（可控性原则）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5 / 22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2A86"/>
                </a:solidFill>
              </a:rPr>
              <a:t>技术方案三层架构：从数据底座到治理闭环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77240"/>
            <a:ext cx="11521440" cy="1691640"/>
          </a:xfrm>
          <a:prstGeom prst="rect">
            <a:avLst/>
          </a:prstGeom>
          <a:solidFill>
            <a:srgbClr val="D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777240"/>
            <a:ext cx="91440" cy="169164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0F2"/>
                </a:solidFill>
              </a:rPr>
              <a:t>第一层 — S/4HANA 技术底座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657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371600"/>
            <a:ext cx="34747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物料分类账平行评估（0L法律/2L集团/3L管理）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3657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07408" y="1371600"/>
            <a:ext cx="34747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MDG 主数据治理 · ACDOCA 统一日记账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280160"/>
            <a:ext cx="3657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02168" y="1371600"/>
            <a:ext cx="34747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标准成本估算 CK40N · DRC 数字合规报告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578608"/>
            <a:ext cx="11521440" cy="1691640"/>
          </a:xfrm>
          <a:prstGeom prst="rect">
            <a:avLst/>
          </a:prstGeom>
          <a:solidFill>
            <a:srgbClr val="FF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2578608"/>
            <a:ext cx="91440" cy="1691640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6700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6500"/>
                </a:solidFill>
              </a:rPr>
              <a:t>第二层 — 管理机制重设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081528"/>
            <a:ext cx="3657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7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3172968"/>
            <a:ext cx="34747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成本加成法（Cost Plus）PI02条件类型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081528"/>
            <a:ext cx="3657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7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07408" y="3172968"/>
            <a:ext cx="34747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再售价格法（Resale Price）PI01条件类型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3081528"/>
            <a:ext cx="3657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7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02168" y="3172968"/>
            <a:ext cx="34747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Group Reporting 自动内部交易消除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379976"/>
            <a:ext cx="11521440" cy="1691640"/>
          </a:xfrm>
          <a:prstGeom prst="rect">
            <a:avLst/>
          </a:prstGeom>
          <a:solidFill>
            <a:srgbClr val="EBF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4379976"/>
            <a:ext cx="91440" cy="1691640"/>
          </a:xfrm>
          <a:prstGeom prst="rect">
            <a:avLst/>
          </a:prstGeom>
          <a:solidFill>
            <a:srgbClr val="188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4714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8918"/>
                </a:solidFill>
              </a:rPr>
              <a:t>第三层 — 文化与治理闭环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82896"/>
            <a:ext cx="3657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188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4974336"/>
            <a:ext cx="34747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双轨KPI权重逐步迁移（Year1 7:3 → Year3 3:7）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882896"/>
            <a:ext cx="3657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188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07408" y="4974336"/>
            <a:ext cx="34747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成本治理委员会 · OECD转移定价文档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4882896"/>
            <a:ext cx="3657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188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02168" y="4974336"/>
            <a:ext cx="34747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从子公司利润最大化到集团价值贡献最大化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9893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70F2"/>
                </a:solidFill>
              </a:rPr>
              <a:t>三层缺一不可：只有技术无机制，数字准了但考核仍扭曲；只有机制无文化，规则对了但执行仍被绕开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6 / 22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2A86"/>
                </a:solidFill>
              </a:rPr>
              <a:t>S/4HANA 平行评估：同一张凭证，同时呈现三个管理视角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11521440" cy="13716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731520"/>
            <a:ext cx="91440" cy="1371600"/>
          </a:xfrm>
          <a:prstGeom prst="rect">
            <a:avLst/>
          </a:prstGeom>
          <a:solidFill>
            <a:srgbClr val="00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A86"/>
                </a:solidFill>
              </a:rPr>
              <a:t>账簿 0L  法律视角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2A86"/>
                </a:solidFill>
              </a:rPr>
              <a:t>财务报表 / 税务申报 / 法律合规</a:t>
            </a:r>
          </a:p>
        </p:txBody>
      </p:sp>
      <p:sp>
        <p:nvSpPr>
          <p:cNvPr id="7" name="Rectangle 6"/>
          <p:cNvSpPr/>
          <p:nvPr/>
        </p:nvSpPr>
        <p:spPr>
          <a:xfrm>
            <a:off x="9281160" y="896112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72600" y="1143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B7A91"/>
                </a:solidFill>
              </a:rPr>
              <a:t>ECC已有 · 保持不变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12848"/>
            <a:ext cx="11521440" cy="13716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212848"/>
            <a:ext cx="91440" cy="137160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0F2"/>
                </a:solidFill>
              </a:rPr>
              <a:t>账簿 2L  集团视角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0720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2A86"/>
                </a:solidFill>
              </a:rPr>
              <a:t>Group Reporting合并 / 消除内部利润 / 集团真实盈利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694176"/>
            <a:ext cx="11521440" cy="13716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3694176"/>
            <a:ext cx="91440" cy="1371600"/>
          </a:xfrm>
          <a:prstGeom prst="rect">
            <a:avLst/>
          </a:prstGeom>
          <a:solidFill>
            <a:srgbClr val="188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8587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88918"/>
                </a:solidFill>
              </a:rPr>
              <a:t>账簿 3L  管理视角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88536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2A86"/>
                </a:solidFill>
              </a:rPr>
              <a:t>利润中心评估 / BU绩效考核 / 管理报告自动生成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892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7A91"/>
                </a:solidFill>
              </a:rPr>
              <a:t>示例：FZ01(广东工厂) → FZ02(燎旺车灯) 转移  |  成本100元  |  转移价130元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257800"/>
            <a:ext cx="3749039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002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53218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A86"/>
                </a:solidFill>
              </a:rPr>
              <a:t>0L 法律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5778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收入 130元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8064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B7A91"/>
                </a:solidFill>
              </a:rPr>
              <a:t>合规申报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39" y="5257800"/>
            <a:ext cx="3749039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79" y="53218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F2"/>
                </a:solidFill>
              </a:rPr>
              <a:t>2L 集团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55778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消除加价，收入100元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79" y="58064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B7A91"/>
                </a:solidFill>
              </a:rPr>
              <a:t>集团真实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38" y="5257800"/>
            <a:ext cx="3749039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188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83878" y="53218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8918"/>
                </a:solidFill>
              </a:rPr>
              <a:t>3L 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8" y="55778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PPV差异归因到人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8" y="58064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B7A91"/>
                </a:solidFill>
              </a:rPr>
              <a:t>BU可控利润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7 / 22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2A86"/>
                </a:solidFill>
              </a:rPr>
              <a:t>转移定价双轨配置：SD条件类型 PI01/PI02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13232"/>
            <a:ext cx="5669280" cy="5394960"/>
          </a:xfrm>
          <a:prstGeom prst="rect">
            <a:avLst/>
          </a:prstGeom>
          <a:solidFill>
            <a:srgbClr val="F8FAFF"/>
          </a:solidFill>
          <a:ln w="19050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713232"/>
            <a:ext cx="5669280" cy="50292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成本加成法 (Cost Plus)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1353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F2"/>
                </a:solidFill>
              </a:rPr>
              <a:t>定价逻辑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" y="1627632"/>
            <a:ext cx="5349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70078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卖方成本 × (1 + 加价率%)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4323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F2"/>
                </a:solidFill>
              </a:rPr>
              <a:t>适用场景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2706624"/>
            <a:ext cx="5349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277977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制造工厂 → 内部贸易主体（广东工厂→内部贸易公司）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5112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F2"/>
                </a:solidFill>
              </a:rPr>
              <a:t>系统配置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" y="3785616"/>
            <a:ext cx="5349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" y="385876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SD条件类型：PI02（百分比加价）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4590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F2"/>
                </a:solidFill>
              </a:rPr>
              <a:t>关键约束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4864608"/>
            <a:ext cx="5349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6072" y="49377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加价率由集团Controller固定设定，BU不可修改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713232"/>
            <a:ext cx="5669280" cy="5394960"/>
          </a:xfrm>
          <a:prstGeom prst="rect">
            <a:avLst/>
          </a:prstGeom>
          <a:solidFill>
            <a:srgbClr val="F8FAFF"/>
          </a:solidFill>
          <a:ln w="19050">
            <a:solidFill>
              <a:srgbClr val="1B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713232"/>
            <a:ext cx="5669280" cy="50292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8046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再售价格法 (Resale Price)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1353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90FF"/>
                </a:solidFill>
              </a:rPr>
              <a:t>定价逻辑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1627632"/>
            <a:ext cx="5349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170078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买方再售价 × (1 - 分销毛利率%)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24323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90FF"/>
                </a:solidFill>
              </a:rPr>
              <a:t>适用场景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2706624"/>
            <a:ext cx="5349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82512" y="277977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内部主体 → 海外分销法人（内部主体→德国FZ33/泰国FZ40）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35112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90FF"/>
                </a:solidFill>
              </a:rPr>
              <a:t>系统配置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91072" y="3785616"/>
            <a:ext cx="5349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82512" y="385876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SD条件类型：PI01（固定价格）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4590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90FF"/>
                </a:solidFill>
              </a:rPr>
              <a:t>关键约束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91072" y="4864608"/>
            <a:ext cx="5349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49377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符合OECD独立交易原则，DRC自动生成合规文档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8 / 22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2A86"/>
                </a:solidFill>
              </a:rPr>
              <a:t>行业对标：佛照 vs 飞利浦照明（Signify）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58368"/>
            <a:ext cx="2194560" cy="38404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对标指标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658368"/>
            <a:ext cx="2011680" cy="384048"/>
          </a:xfrm>
          <a:prstGeom prst="rect">
            <a:avLst/>
          </a:prstGeom>
          <a:solidFill>
            <a:srgbClr val="00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42032" y="71323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佛照（当前ECC）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658368"/>
            <a:ext cx="1828800" cy="384048"/>
          </a:xfrm>
          <a:prstGeom prst="rect">
            <a:avLst/>
          </a:prstGeom>
          <a:solidFill>
            <a:srgbClr val="1B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71323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全球行业均值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658368"/>
            <a:ext cx="2560320" cy="384048"/>
          </a:xfrm>
          <a:prstGeom prst="rect">
            <a:avLst/>
          </a:prstGeom>
          <a:solidFill>
            <a:srgbClr val="188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7132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Signify（标杆）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658368"/>
            <a:ext cx="2011680" cy="38404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42832" y="71323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佛照S/4目标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042416"/>
            <a:ext cx="21945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207008"/>
            <a:ext cx="20848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2A86"/>
                </a:solidFill>
              </a:rPr>
              <a:t>扣非净利率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1042416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207008"/>
            <a:ext cx="1901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20A0A"/>
                </a:solidFill>
              </a:rPr>
              <a:t>0.95%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1042416"/>
            <a:ext cx="1828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53712" y="1207008"/>
            <a:ext cx="1719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7A91"/>
                </a:solidFill>
              </a:rPr>
              <a:t>3.0~4.0%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042416"/>
            <a:ext cx="25603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1207008"/>
            <a:ext cx="2450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88918"/>
                </a:solidFill>
              </a:rPr>
              <a:t>6.2%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1042416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42832" y="1207008"/>
            <a:ext cx="1901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70F2"/>
                </a:solidFill>
              </a:rPr>
              <a:t>≥2.5%（+1.5pp）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792224"/>
            <a:ext cx="2194560" cy="749808"/>
          </a:xfrm>
          <a:prstGeom prst="rect">
            <a:avLst/>
          </a:prstGeom>
          <a:solidFill>
            <a:srgbClr val="F0F5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" y="1956816"/>
            <a:ext cx="20848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2A86"/>
                </a:solidFill>
              </a:rPr>
              <a:t>财务关账周期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1792224"/>
            <a:ext cx="2011680" cy="749808"/>
          </a:xfrm>
          <a:prstGeom prst="rect">
            <a:avLst/>
          </a:prstGeom>
          <a:solidFill>
            <a:srgbClr val="F0F5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42032" y="1956816"/>
            <a:ext cx="1901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20A0A"/>
                </a:solidFill>
              </a:rPr>
              <a:t>15~20天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1792224"/>
            <a:ext cx="1828800" cy="749808"/>
          </a:xfrm>
          <a:prstGeom prst="rect">
            <a:avLst/>
          </a:prstGeom>
          <a:solidFill>
            <a:srgbClr val="F0F5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53712" y="1956816"/>
            <a:ext cx="1719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7A91"/>
                </a:solidFill>
              </a:rPr>
              <a:t>8~12天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792224"/>
            <a:ext cx="2560320" cy="749808"/>
          </a:xfrm>
          <a:prstGeom prst="rect">
            <a:avLst/>
          </a:prstGeom>
          <a:solidFill>
            <a:srgbClr val="F0F5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82512" y="1956816"/>
            <a:ext cx="2450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88918"/>
                </a:solidFill>
              </a:rPr>
              <a:t>3天内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1792224"/>
            <a:ext cx="2011680" cy="749808"/>
          </a:xfrm>
          <a:prstGeom prst="rect">
            <a:avLst/>
          </a:prstGeom>
          <a:solidFill>
            <a:srgbClr val="F0F5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42832" y="1956816"/>
            <a:ext cx="1901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70F2"/>
                </a:solidFill>
              </a:rPr>
              <a:t>&lt;5天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542032"/>
            <a:ext cx="21945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7472" y="2706624"/>
            <a:ext cx="20848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2A86"/>
                </a:solidFill>
              </a:rPr>
              <a:t>集团内部交易消除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2542032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542032" y="2706624"/>
            <a:ext cx="1901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20A0A"/>
                </a:solidFill>
              </a:rPr>
              <a:t>手工，3周滞后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2542032"/>
            <a:ext cx="1828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53712" y="2706624"/>
            <a:ext cx="1719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7A91"/>
                </a:solidFill>
              </a:rPr>
              <a:t>半自动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2542032"/>
            <a:ext cx="25603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2512" y="2706624"/>
            <a:ext cx="2450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88918"/>
                </a:solidFill>
              </a:rPr>
              <a:t>全自动，T+1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69680" y="2542032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42832" y="2706624"/>
            <a:ext cx="1901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70F2"/>
                </a:solidFill>
              </a:rPr>
              <a:t>全自动（当日）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291840"/>
            <a:ext cx="2194560" cy="749808"/>
          </a:xfrm>
          <a:prstGeom prst="rect">
            <a:avLst/>
          </a:prstGeom>
          <a:solidFill>
            <a:srgbClr val="F0F5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7472" y="3456432"/>
            <a:ext cx="20848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2A86"/>
                </a:solidFill>
              </a:rPr>
              <a:t>产品成本核算偏差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68880" y="3291840"/>
            <a:ext cx="2011680" cy="749808"/>
          </a:xfrm>
          <a:prstGeom prst="rect">
            <a:avLst/>
          </a:prstGeom>
          <a:solidFill>
            <a:srgbClr val="F0F5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542032" y="3456432"/>
            <a:ext cx="1901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20A0A"/>
                </a:solidFill>
              </a:rPr>
              <a:t>±15~20%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80560" y="3291840"/>
            <a:ext cx="1828800" cy="749808"/>
          </a:xfrm>
          <a:prstGeom prst="rect">
            <a:avLst/>
          </a:prstGeom>
          <a:solidFill>
            <a:srgbClr val="F0F5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53712" y="3456432"/>
            <a:ext cx="1719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7A91"/>
                </a:solidFill>
              </a:rPr>
              <a:t>±8%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3291840"/>
            <a:ext cx="2560320" cy="749808"/>
          </a:xfrm>
          <a:prstGeom prst="rect">
            <a:avLst/>
          </a:prstGeom>
          <a:solidFill>
            <a:srgbClr val="F0F5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82512" y="3456432"/>
            <a:ext cx="2450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88918"/>
                </a:solidFill>
              </a:rPr>
              <a:t>±2~3%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69680" y="3291840"/>
            <a:ext cx="2011680" cy="749808"/>
          </a:xfrm>
          <a:prstGeom prst="rect">
            <a:avLst/>
          </a:prstGeom>
          <a:solidFill>
            <a:srgbClr val="F0F5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42832" y="3456432"/>
            <a:ext cx="1901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70F2"/>
                </a:solidFill>
              </a:rPr>
              <a:t>±3~5%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041648"/>
            <a:ext cx="21945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47472" y="4206240"/>
            <a:ext cx="20848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2A86"/>
                </a:solidFill>
              </a:rPr>
              <a:t>转移定价合规文档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68880" y="4041648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542032" y="4206240"/>
            <a:ext cx="1901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20A0A"/>
                </a:solidFill>
              </a:rPr>
              <a:t>无系统记录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80560" y="4041648"/>
            <a:ext cx="1828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53712" y="4206240"/>
            <a:ext cx="1719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7A91"/>
                </a:solidFill>
              </a:rPr>
              <a:t>部分手工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4041648"/>
            <a:ext cx="25603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82512" y="4206240"/>
            <a:ext cx="2450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88918"/>
                </a:solidFill>
              </a:rPr>
              <a:t>完整OECD文档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69680" y="4041648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942832" y="4206240"/>
            <a:ext cx="1901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70F2"/>
                </a:solidFill>
              </a:rPr>
              <a:t>完整OECD+DRC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791456"/>
            <a:ext cx="2194560" cy="749808"/>
          </a:xfrm>
          <a:prstGeom prst="rect">
            <a:avLst/>
          </a:prstGeom>
          <a:solidFill>
            <a:srgbClr val="F0F5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47472" y="4956048"/>
            <a:ext cx="20848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2A86"/>
                </a:solidFill>
              </a:rPr>
              <a:t>BU绩效考核体系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68880" y="4791456"/>
            <a:ext cx="2011680" cy="749808"/>
          </a:xfrm>
          <a:prstGeom prst="rect">
            <a:avLst/>
          </a:prstGeom>
          <a:solidFill>
            <a:srgbClr val="F0F5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542032" y="4956048"/>
            <a:ext cx="1901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20A0A"/>
                </a:solidFill>
              </a:rPr>
              <a:t>含内部加价，失真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80560" y="4791456"/>
            <a:ext cx="1828800" cy="749808"/>
          </a:xfrm>
          <a:prstGeom prst="rect">
            <a:avLst/>
          </a:prstGeom>
          <a:solidFill>
            <a:srgbClr val="F0F5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553712" y="4956048"/>
            <a:ext cx="1719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7A91"/>
                </a:solidFill>
              </a:rPr>
              <a:t>中等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09360" y="4791456"/>
            <a:ext cx="2560320" cy="749808"/>
          </a:xfrm>
          <a:prstGeom prst="rect">
            <a:avLst/>
          </a:prstGeom>
          <a:solidFill>
            <a:srgbClr val="F0F5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82512" y="4956048"/>
            <a:ext cx="2450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88918"/>
                </a:solidFill>
              </a:rPr>
              <a:t>集团贡献视角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869680" y="4791456"/>
            <a:ext cx="2011680" cy="749808"/>
          </a:xfrm>
          <a:prstGeom prst="rect">
            <a:avLst/>
          </a:prstGeom>
          <a:solidFill>
            <a:srgbClr val="F0F5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942832" y="4956048"/>
            <a:ext cx="1901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70F2"/>
                </a:solidFill>
              </a:rPr>
              <a:t>双轨KPI迁移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" y="617220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B7A91"/>
                </a:solidFill>
              </a:rPr>
              <a:t>数据来源：Signify 2023 Integrated Report · Wind照明行业数据库 · 佛照2024年A股年报 · 项目访谈2026.06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9 / 22</a:t>
            </a:r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2A86"/>
                </a:solidFill>
              </a:rPr>
              <a:t>MDG 主数据治理：成本还原的数据底座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B7A91"/>
                </a:solidFill>
              </a:rPr>
              <a:t>19家法人统一主数据 = 成本核算的"同一种语言"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04672"/>
            <a:ext cx="5394960" cy="1719072"/>
          </a:xfrm>
          <a:prstGeom prst="rect">
            <a:avLst/>
          </a:prstGeom>
          <a:solidFill>
            <a:srgbClr val="FFF0F0"/>
          </a:solidFill>
          <a:ln w="12700">
            <a:solidFill>
              <a:srgbClr val="D2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20A0A"/>
                </a:solidFill>
              </a:rPr>
              <a:t>❌ 物料主数据不统一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同一LED灯珠在不同法人有5-8个物料编码，跨公司成本对比失效，
标准成本估算CK40N偏差超20%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490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0F2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804672"/>
            <a:ext cx="5577840" cy="1719072"/>
          </a:xfrm>
          <a:prstGeom prst="rect">
            <a:avLst/>
          </a:prstGeom>
          <a:solidFill>
            <a:srgbClr val="EBF5CB"/>
          </a:solidFill>
          <a:ln w="12700">
            <a:solidFill>
              <a:srgbClr val="188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9144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88918"/>
                </a:solidFill>
              </a:rPr>
              <a:t>✅ MDG统一物料主数据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61872"/>
            <a:ext cx="5394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Greenfield全新编码体系，全集团唯一物料编号，
跨法人成本可直接对比，CK40N准确性提升80%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15184"/>
            <a:ext cx="5394960" cy="1719072"/>
          </a:xfrm>
          <a:prstGeom prst="rect">
            <a:avLst/>
          </a:prstGeom>
          <a:solidFill>
            <a:srgbClr val="FFF0F0"/>
          </a:solidFill>
          <a:ln w="12700">
            <a:solidFill>
              <a:srgbClr val="D2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72491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20A0A"/>
                </a:solidFill>
              </a:rPr>
              <a:t>❌ 供应商主数据重复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72384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同一供应商在不同法人重复创建，采购价格无法汇总分析，
PPV差异归因的基准数据被污染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330098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0F2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615184"/>
            <a:ext cx="5577840" cy="1719072"/>
          </a:xfrm>
          <a:prstGeom prst="rect">
            <a:avLst/>
          </a:prstGeom>
          <a:solidFill>
            <a:srgbClr val="EBF5CB"/>
          </a:solidFill>
          <a:ln w="12700">
            <a:solidFill>
              <a:srgbClr val="188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7249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88918"/>
                </a:solidFill>
              </a:rPr>
              <a:t>✅ MDG统一供应商主数据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72384"/>
            <a:ext cx="5394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集团层面供应商视图，芯片采购价集中分析，
PPV差异归因从"不知道"到"精确到单"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425696"/>
            <a:ext cx="5394960" cy="1719072"/>
          </a:xfrm>
          <a:prstGeom prst="rect">
            <a:avLst/>
          </a:prstGeom>
          <a:solidFill>
            <a:srgbClr val="FFF0F0"/>
          </a:solidFill>
          <a:ln w="12700">
            <a:solidFill>
              <a:srgbClr val="D2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53542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20A0A"/>
                </a:solidFill>
              </a:rPr>
              <a:t>❌ 利润中心层级混乱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82896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BU与法人的利润中心映射不一致，
导致3L管理账簿数据不可信，管理报告汇总出错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511149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0F2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425696"/>
            <a:ext cx="5577840" cy="1719072"/>
          </a:xfrm>
          <a:prstGeom prst="rect">
            <a:avLst/>
          </a:prstGeom>
          <a:solidFill>
            <a:srgbClr val="EBF5CB"/>
          </a:solidFill>
          <a:ln w="12700">
            <a:solidFill>
              <a:srgbClr val="188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453542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88918"/>
                </a:solidFill>
              </a:rPr>
              <a:t>✅ MDG规范利润中心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82896"/>
            <a:ext cx="5394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BU/法人/集团三层利润中心标准化，
Group Reporting汇总无歧义，3L账簿数据可信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10 / 22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2A86"/>
                </a:solidFill>
              </a:rPr>
              <a:t>Group Reporting：集团合并从 15 天到当日完成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13232"/>
            <a:ext cx="5760720" cy="1691640"/>
          </a:xfrm>
          <a:prstGeom prst="rect">
            <a:avLst/>
          </a:prstGeom>
          <a:solidFill>
            <a:srgbClr val="F8FAFF"/>
          </a:solidFill>
          <a:ln w="19050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713232"/>
            <a:ext cx="73152" cy="169164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4632" y="8229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0F2"/>
                </a:solidFill>
              </a:rPr>
              <a:t>🔄 自动内部交易消除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1216152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实时识别跨公司采购/销售凭证，自动生成消除分录。
24,000万/年内部交易消除从手工15天→系统当日完成，差错率归零。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713232"/>
            <a:ext cx="5760720" cy="1691640"/>
          </a:xfrm>
          <a:prstGeom prst="rect">
            <a:avLst/>
          </a:prstGeom>
          <a:solidFill>
            <a:srgbClr val="F8FAFF"/>
          </a:solidFill>
          <a:ln w="19050">
            <a:solidFill>
              <a:srgbClr val="1B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713232"/>
            <a:ext cx="73152" cy="169164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6792" y="8229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90FF"/>
                </a:solidFill>
              </a:rPr>
              <a:t>📊 多维管理报告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216152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同时输出：法律合并报表(IFRS/CAS) + 集团管理报告
(成本中心/利润中心) + 分部报告(CFO视角)，一次数据三种视角。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496312"/>
            <a:ext cx="5760720" cy="1691640"/>
          </a:xfrm>
          <a:prstGeom prst="rect">
            <a:avLst/>
          </a:prstGeom>
          <a:solidFill>
            <a:srgbClr val="F8FAFF"/>
          </a:solidFill>
          <a:ln w="19050">
            <a:solidFill>
              <a:srgbClr val="188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2496312"/>
            <a:ext cx="73152" cy="1691640"/>
          </a:xfrm>
          <a:prstGeom prst="rect">
            <a:avLst/>
          </a:prstGeom>
          <a:solidFill>
            <a:srgbClr val="188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26060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8918"/>
                </a:solidFill>
              </a:rPr>
              <a:t>💹 未实现利润消除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999232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追踪库存中含有的未实现内部利润，在集团报表中自动
消除，确保合并资产负债表真实反映集团资产价值。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496312"/>
            <a:ext cx="5760720" cy="1691640"/>
          </a:xfrm>
          <a:prstGeom prst="rect">
            <a:avLst/>
          </a:prstGeom>
          <a:solidFill>
            <a:srgbClr val="F8FAFF"/>
          </a:solidFill>
          <a:ln w="19050">
            <a:solidFill>
              <a:srgbClr val="E7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2496312"/>
            <a:ext cx="73152" cy="1691640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6792" y="26060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6500"/>
                </a:solidFill>
              </a:rPr>
              <a:t>🌐 跨货币合并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999232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德国欧元(EUR)、泰国泰铢(THB)自动换算，汇率差异
自动归入汇兑损益科目，无需手工换算。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852160"/>
            <a:ext cx="11521440" cy="685800"/>
          </a:xfrm>
          <a:prstGeom prst="rect">
            <a:avLst/>
          </a:prstGeom>
          <a:solidFill>
            <a:srgbClr val="001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8978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90FF"/>
                </a:solidFill>
              </a:rPr>
              <a:t>15天→当日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362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FF"/>
                </a:solidFill>
              </a:rPr>
              <a:t>集团合并周期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58978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90FF"/>
                </a:solidFill>
              </a:rPr>
              <a:t>-90%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62362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FF"/>
                </a:solidFill>
              </a:rPr>
              <a:t>消除差错率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8978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90FF"/>
                </a:solidFill>
              </a:rPr>
              <a:t>T+0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62362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FF"/>
                </a:solidFill>
              </a:rPr>
              <a:t>实时集团视图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58978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90FF"/>
                </a:solidFill>
              </a:rPr>
              <a:t>3种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62362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FF"/>
                </a:solidFill>
              </a:rPr>
              <a:t>同步报告视角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11 / 22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2A86"/>
                </a:solidFill>
              </a:rPr>
              <a:t>Fiori Launchpad：跨公司成本管理工作台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21440" cy="411480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22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22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FF"/>
                </a:solidFill>
              </a:rPr>
              <a:t>佛山照明集团 — 跨公司成本管理工作台 (FZ-GROUP)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7223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王总  ⚙  🔔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221284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2212848" cy="54864"/>
          </a:xfrm>
          <a:prstGeom prst="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144A"/>
                </a:solidFill>
              </a:rP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645920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A86"/>
                </a:solidFill>
              </a:rPr>
              <a:t>成本差异警报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920240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7A91"/>
                </a:solidFill>
              </a:rPr>
              <a:t>12 超阈值差异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4328" y="1170432"/>
            <a:ext cx="221284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24328" y="1170432"/>
            <a:ext cx="2212848" cy="54864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34056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144A"/>
                </a:solidFill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56" y="1645920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A86"/>
                </a:solidFill>
              </a:rPr>
              <a:t>集团损益报告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4056" y="1920240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7A91"/>
                </a:solidFill>
              </a:rPr>
              <a:t>Group Reporting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28616" y="1170432"/>
            <a:ext cx="221284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28616" y="1170432"/>
            <a:ext cx="2212848" cy="54864"/>
          </a:xfrm>
          <a:prstGeom prst="rect">
            <a:avLst/>
          </a:prstGeom>
          <a:solidFill>
            <a:srgbClr val="188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38344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144A"/>
                </a:solidFill>
              </a:rP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8344" y="1645920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A86"/>
                </a:solidFill>
              </a:rPr>
              <a:t>内部交易消除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8344" y="1920240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7A91"/>
                </a:solidFill>
              </a:rPr>
              <a:t>✓ 本月已完成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32904" y="1170432"/>
            <a:ext cx="221284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32904" y="1170432"/>
            <a:ext cx="2212848" cy="54864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42632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144A"/>
                </a:solidFill>
              </a:rPr>
              <a:t>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2632" y="1645920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A86"/>
                </a:solidFill>
              </a:rPr>
              <a:t>转移定价监控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42632" y="1920240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7A91"/>
                </a:solidFill>
              </a:rPr>
              <a:t>19家法人覆盖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37192" y="1170432"/>
            <a:ext cx="221284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537192" y="1170432"/>
            <a:ext cx="2212848" cy="54864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46920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144A"/>
                </a:solidFill>
              </a:rPr>
              <a:t>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1645920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A86"/>
                </a:solidFill>
              </a:rPr>
              <a:t>DRC合规申报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1920240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7A91"/>
                </a:solidFill>
              </a:rPr>
              <a:t>2件待提交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340864"/>
            <a:ext cx="221284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" y="2340864"/>
            <a:ext cx="2212848" cy="54864"/>
          </a:xfrm>
          <a:prstGeom prst="rect">
            <a:avLst/>
          </a:prstGeom>
          <a:solidFill>
            <a:srgbClr val="00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9768" y="24505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144A"/>
                </a:solidFill>
              </a:rPr>
              <a:t>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2816352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A86"/>
                </a:solidFill>
              </a:rPr>
              <a:t>标准成本估算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" y="3090672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7A91"/>
                </a:solidFill>
              </a:rPr>
              <a:t>CK40N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24328" y="2340864"/>
            <a:ext cx="221284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624328" y="2340864"/>
            <a:ext cx="2212848" cy="54864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34056" y="24505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144A"/>
                </a:solidFill>
              </a:rPr>
              <a:t>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34056" y="2816352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A86"/>
                </a:solidFill>
              </a:rPr>
              <a:t>差异分析报表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34056" y="3090672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7A91"/>
                </a:solidFill>
              </a:rPr>
              <a:t>KKA2 / KO88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28616" y="2340864"/>
            <a:ext cx="221284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928616" y="2340864"/>
            <a:ext cx="2212848" cy="54864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38344" y="24505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144A"/>
                </a:solidFill>
              </a:rPr>
              <a:t>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38344" y="2816352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A86"/>
                </a:solidFill>
              </a:rPr>
              <a:t>平行评估凭证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38344" y="3090672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7A91"/>
                </a:solidFill>
              </a:rPr>
              <a:t>ACDOCA查询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32904" y="2340864"/>
            <a:ext cx="221284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232904" y="2340864"/>
            <a:ext cx="2212848" cy="54864"/>
          </a:xfrm>
          <a:prstGeom prst="rect">
            <a:avLst/>
          </a:prstGeom>
          <a:solidFill>
            <a:srgbClr val="00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42632" y="24505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144A"/>
                </a:solidFill>
              </a:rPr>
              <a:t>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42632" y="2816352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A86"/>
                </a:solidFill>
              </a:rPr>
              <a:t>MDG主数据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42632" y="3090672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7A91"/>
                </a:solidFill>
              </a:rPr>
              <a:t>数据治理门户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37192" y="2340864"/>
            <a:ext cx="221284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537192" y="2340864"/>
            <a:ext cx="2212848" cy="54864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646920" y="24505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144A"/>
                </a:solidFill>
              </a:rPr>
              <a:t>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46920" y="2816352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A86"/>
                </a:solidFill>
              </a:rPr>
              <a:t>OECD文档生成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46920" y="3090672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B7A91"/>
                </a:solidFill>
              </a:rPr>
              <a:t>DRC申报包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61447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70F2"/>
                </a:solidFill>
              </a:rPr>
              <a:t>ECC时代：CFO需等15天才能看到月度数字  |  S/4HANA：打开工作台，实时数据触手可及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12 / 22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A86"/>
                </a:solidFill>
              </a:rPr>
              <a:t>CK40N 标准成本估算：为每个物料建立"公正的成本基准"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57607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2237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90FF"/>
                </a:solidFill>
              </a:rPr>
              <a:t>CK40N   产品成本估算 — 成本核算运行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57607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7A91"/>
                </a:solidFill>
              </a:rPr>
              <a:t>成本核算变式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124712"/>
            <a:ext cx="3657600" cy="292608"/>
          </a:xfrm>
          <a:prstGeom prst="rect">
            <a:avLst/>
          </a:prstGeom>
          <a:solidFill>
            <a:srgbClr val="F0F5FF"/>
          </a:solidFill>
          <a:ln w="6350">
            <a:solidFill>
              <a:srgbClr val="89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95728" y="11430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PPC1 — 标准成本（佛照）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27048"/>
            <a:ext cx="5760720" cy="438912"/>
          </a:xfrm>
          <a:prstGeom prst="rect">
            <a:avLst/>
          </a:prstGeom>
          <a:solidFill>
            <a:srgbClr val="F7F9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6184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7A91"/>
                </a:solidFill>
              </a:rPr>
              <a:t>成本核算版本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600200"/>
            <a:ext cx="3657600" cy="292608"/>
          </a:xfrm>
          <a:prstGeom prst="rect">
            <a:avLst/>
          </a:prstGeom>
          <a:solidFill>
            <a:srgbClr val="F0F5FF"/>
          </a:solidFill>
          <a:ln w="6350">
            <a:solidFill>
              <a:srgbClr val="89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95728" y="16184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01 — 年度标准成本 2027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02536"/>
            <a:ext cx="57607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0939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7A91"/>
                </a:solidFill>
              </a:rPr>
              <a:t>工厂范围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075688"/>
            <a:ext cx="3657600" cy="292608"/>
          </a:xfrm>
          <a:prstGeom prst="rect">
            <a:avLst/>
          </a:prstGeom>
          <a:solidFill>
            <a:srgbClr val="F0F5FF"/>
          </a:solidFill>
          <a:ln w="6350">
            <a:solidFill>
              <a:srgbClr val="89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95728" y="20939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FZ01 FZ02 FZ22 FZ23（全集团）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78024"/>
            <a:ext cx="5760720" cy="438912"/>
          </a:xfrm>
          <a:prstGeom prst="rect">
            <a:avLst/>
          </a:prstGeom>
          <a:solidFill>
            <a:srgbClr val="F7F9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25694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7A91"/>
                </a:solidFill>
              </a:rPr>
              <a:t>有效期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2551176"/>
            <a:ext cx="3657600" cy="292608"/>
          </a:xfrm>
          <a:prstGeom prst="rect">
            <a:avLst/>
          </a:prstGeom>
          <a:solidFill>
            <a:srgbClr val="F0F5FF"/>
          </a:solidFill>
          <a:ln w="6350">
            <a:solidFill>
              <a:srgbClr val="89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95728" y="256946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2027.01.01 — 2027.12.31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57607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30449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7A91"/>
                </a:solidFill>
              </a:rPr>
              <a:t>估算类型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3026664"/>
            <a:ext cx="3657600" cy="292608"/>
          </a:xfrm>
          <a:prstGeom prst="rect">
            <a:avLst/>
          </a:prstGeom>
          <a:solidFill>
            <a:srgbClr val="F0F5FF"/>
          </a:solidFill>
          <a:ln w="6350">
            <a:solidFill>
              <a:srgbClr val="89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95728" y="30449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ML — 物料分类账平行估算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474720"/>
            <a:ext cx="5760720" cy="502920"/>
          </a:xfrm>
          <a:prstGeom prst="rect">
            <a:avLst/>
          </a:prstGeom>
          <a:solidFill>
            <a:srgbClr val="EBF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566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88918"/>
                </a:solidFill>
              </a:rPr>
              <a:t>✓ 运行结果  物料:12,847 / 成功:12,791 / 警告:56 / 错误:0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069080"/>
            <a:ext cx="57607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133087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90FF"/>
                </a:solidFill>
              </a:rPr>
              <a:t>KKBC_PKO   产品成本差异分析（本月）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462272"/>
            <a:ext cx="57607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4526280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采购价格差异(PPV)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452628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D20A0A"/>
                </a:solidFill>
              </a:rPr>
              <a:t>-2,340万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4526280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7A91"/>
                </a:solidFill>
              </a:rPr>
              <a:t>采购部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809744"/>
            <a:ext cx="5760720" cy="329184"/>
          </a:xfrm>
          <a:prstGeom prst="rect">
            <a:avLst/>
          </a:prstGeom>
          <a:solidFill>
            <a:srgbClr val="F7F9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487375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材料用量差异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487375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76500"/>
                </a:solidFill>
              </a:rPr>
              <a:t>-180万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48737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7A91"/>
                </a:solidFill>
              </a:rPr>
              <a:t>生产BU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57216"/>
            <a:ext cx="57607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5221224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工时效率差异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522122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76500"/>
                </a:solidFill>
              </a:rPr>
              <a:t>-95万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52212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7A91"/>
                </a:solidFill>
              </a:rPr>
              <a:t>制造BU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504688"/>
            <a:ext cx="5760720" cy="329184"/>
          </a:xfrm>
          <a:prstGeom prst="rect">
            <a:avLst/>
          </a:prstGeom>
          <a:solidFill>
            <a:srgbClr val="F7F9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5568696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生产量差异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556869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88918"/>
                </a:solidFill>
              </a:rPr>
              <a:t>+420万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60" y="556869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7A91"/>
                </a:solidFill>
              </a:rPr>
              <a:t>计划部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852160"/>
            <a:ext cx="5760720" cy="329184"/>
          </a:xfrm>
          <a:prstGeom prst="rect">
            <a:avLst/>
          </a:prstGeom>
          <a:solidFill>
            <a:srgbClr val="D1E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1480" y="591616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合计差异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46120" y="591616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D20A0A"/>
                </a:solidFill>
              </a:rPr>
              <a:t>-2,195万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9160" y="591616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7A91"/>
                </a:solidFill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65836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A86"/>
                </a:solidFill>
              </a:rPr>
              <a:t>标准成本体系的核心价值：可控性原则（Controllability）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1207008"/>
            <a:ext cx="5577840" cy="347472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55080" y="126187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差异类型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80" y="126187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责任方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12680" y="126187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典型场景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1600200"/>
            <a:ext cx="557784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82512" y="17099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2A86"/>
                </a:solidFill>
              </a:rPr>
              <a:t>采购价格差异 PPV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11312" y="17099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0F2"/>
                </a:solidFill>
              </a:rPr>
              <a:t>采购部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40112" y="170992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7A91"/>
                </a:solidFill>
              </a:rPr>
              <a:t>芯片涨价，不归生产BU考核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2167128"/>
            <a:ext cx="5577840" cy="530352"/>
          </a:xfrm>
          <a:prstGeom prst="rect">
            <a:avLst/>
          </a:prstGeom>
          <a:solidFill>
            <a:srgbClr val="F0F5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82512" y="22768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2A86"/>
                </a:solidFill>
              </a:rPr>
              <a:t>材料用量差异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1312" y="22768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0F2"/>
                </a:solidFill>
              </a:rPr>
              <a:t>生产BU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40112" y="2276856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7A91"/>
                </a:solidFill>
              </a:rPr>
              <a:t>良率低，归生产BU负责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2734056"/>
            <a:ext cx="557784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82512" y="284378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2A86"/>
                </a:solidFill>
              </a:rPr>
              <a:t>工时效率差异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11312" y="284378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0F2"/>
                </a:solidFill>
              </a:rPr>
              <a:t>制造BU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40112" y="284378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7A91"/>
                </a:solidFill>
              </a:rPr>
              <a:t>设备故障，归制造BU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3300984"/>
            <a:ext cx="5577840" cy="530352"/>
          </a:xfrm>
          <a:prstGeom prst="rect">
            <a:avLst/>
          </a:prstGeom>
          <a:solidFill>
            <a:srgbClr val="F0F5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382512" y="34107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2A86"/>
                </a:solidFill>
              </a:rPr>
              <a:t>内部转移定价差异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11312" y="34107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0F2"/>
                </a:solidFill>
              </a:rPr>
              <a:t>成本治理委员会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40112" y="34107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7A91"/>
                </a:solidFill>
              </a:rPr>
              <a:t>固定加价率，集团管控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3913632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0F2"/>
                </a:solidFill>
              </a:rPr>
              <a:t>实施前：所有差异混入MAP，无法追责
实施后：每笔差异自动归因，责任人实时可查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13 / 22</a:t>
            </a:r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A86"/>
                </a:solidFill>
              </a:rPr>
              <a:t>ACDOCA 统一日记账 — 0L 法律账簿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30352"/>
            <a:ext cx="2651760" cy="365760"/>
          </a:xfrm>
          <a:prstGeom prst="rect">
            <a:avLst/>
          </a:prstGeom>
          <a:solidFill>
            <a:srgbClr val="00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576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0L 法律账簿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0" y="530352"/>
            <a:ext cx="2651760" cy="3657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3240" y="576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B7A91"/>
                </a:solidFill>
              </a:rPr>
              <a:t>2L 集团账簿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530352"/>
            <a:ext cx="2651760" cy="3657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15000" y="576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B7A91"/>
                </a:solidFill>
              </a:rPr>
              <a:t>3L 管理账簿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530352"/>
            <a:ext cx="2651760" cy="3657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6760" y="576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B7A91"/>
                </a:solidFill>
              </a:rPr>
              <a:t>差异分析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932688"/>
            <a:ext cx="1152144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96926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90FF"/>
                </a:solidFill>
              </a:rPr>
              <a:t>ACDOCA — 统一日记账（S/4HANA）   凭证号：5100067823 | 2027-01-15 | FZ01   视角：法律合规视角 — 财务报表 / 税务申报 / 法律合规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280160"/>
            <a:ext cx="11521440" cy="34747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335024"/>
            <a:ext cx="3584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科目 / 描述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1335024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借方（元）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4104" y="1335024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贷方（元）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5704" y="1335024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利润中心 / 成本中心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7384" y="1335024"/>
            <a:ext cx="2761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664208"/>
            <a:ext cx="115214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4904" y="175564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500100 — 跨公司销售收入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175564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4104" y="175564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130.00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5704" y="175564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FZ01-MFG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7384" y="1755648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含内部加价30元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176272"/>
            <a:ext cx="11521440" cy="512064"/>
          </a:xfrm>
          <a:prstGeom prst="rect">
            <a:avLst/>
          </a:prstGeom>
          <a:solidFill>
            <a:srgbClr val="F7F9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4904" y="2267712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310100 — 应收账款（内部）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32504" y="2267712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130.00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4104" y="2267712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75704" y="226771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FZ01-MFG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87384" y="2267712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内部AR科目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688336"/>
            <a:ext cx="115214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4904" y="277977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500900 — 销售成本（COGS）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2504" y="2779776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100.00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04104" y="2779776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75704" y="2779776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FZ01-MFG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7384" y="277977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MAP价100元出库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200400"/>
            <a:ext cx="11521440" cy="512064"/>
          </a:xfrm>
          <a:prstGeom prst="rect">
            <a:avLst/>
          </a:prstGeom>
          <a:solidFill>
            <a:srgbClr val="F7F9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329184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130100 — 成品库存（贷方）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32504" y="3291840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4104" y="3291840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100.00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75704" y="3291840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FZ01-MFG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7384" y="329184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库存减少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712464"/>
            <a:ext cx="11521440" cy="512064"/>
          </a:xfrm>
          <a:prstGeom prst="rect">
            <a:avLst/>
          </a:prstGeom>
          <a:solidFill>
            <a:srgbClr val="D1E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4904" y="380390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【小结】FZ01本期利润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32504" y="3803904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230.00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04104" y="3803904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230.00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75704" y="3803904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+30元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87384" y="3803904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内部加价贡献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833872"/>
            <a:ext cx="11521440" cy="4114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20040" y="5833872"/>
            <a:ext cx="54864" cy="411480"/>
          </a:xfrm>
          <a:prstGeom prst="rect">
            <a:avLst/>
          </a:prstGeom>
          <a:solidFill>
            <a:srgbClr val="00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5888736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法律视角用于向中国税务局申报，收入以转移价130元计。此账簿合规，但无法反映集团真实利润。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14 / 22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A86"/>
                </a:solidFill>
              </a:rPr>
              <a:t>ACDOCA 统一日记账 — 2L 集团账簿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30352"/>
            <a:ext cx="2651760" cy="3657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576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B7A91"/>
                </a:solidFill>
              </a:rPr>
              <a:t>0L 法律账簿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0" y="530352"/>
            <a:ext cx="2651760" cy="36576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3240" y="576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2L 集团账簿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530352"/>
            <a:ext cx="2651760" cy="3657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15000" y="576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B7A91"/>
                </a:solidFill>
              </a:rPr>
              <a:t>3L 管理账簿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530352"/>
            <a:ext cx="2651760" cy="3657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6760" y="576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B7A91"/>
                </a:solidFill>
              </a:rPr>
              <a:t>差异分析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932688"/>
            <a:ext cx="1152144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96926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90FF"/>
                </a:solidFill>
              </a:rPr>
              <a:t>ACDOCA — 统一日记账（S/4HANA）   凭证号：5100067823 | 2027-01-15 | FZ01   视角：集团合并视角 — Group Reporting / 内部交易消除 / 集团真实盈利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280160"/>
            <a:ext cx="11521440" cy="34747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335024"/>
            <a:ext cx="3584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科目 / 描述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1335024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借方（元）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4104" y="1335024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贷方（元）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5704" y="1335024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利润中心 / 成本中心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7384" y="1335024"/>
            <a:ext cx="2761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664208"/>
            <a:ext cx="115214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4904" y="175564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500100 — 跨公司销售收入（调整后）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175564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4104" y="175564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100.00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5704" y="175564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FZ01-MFG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7384" y="1755648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88918"/>
                </a:solidFill>
              </a:rPr>
              <a:t>已消除加价30元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176272"/>
            <a:ext cx="11521440" cy="512064"/>
          </a:xfrm>
          <a:prstGeom prst="rect">
            <a:avLst/>
          </a:prstGeom>
          <a:solidFill>
            <a:srgbClr val="F7F9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4904" y="2267712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76500"/>
                </a:solidFill>
              </a:rPr>
              <a:t>🤖 消除分录①：内部销售收入消除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32504" y="2267712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30.00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4104" y="2267712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30.00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75704" y="226771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GRP-ELIM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87384" y="2267712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系统自动生成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688336"/>
            <a:ext cx="115214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4904" y="277977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76500"/>
                </a:solidFill>
              </a:rPr>
              <a:t>🤖 消除分录②：内部应收/应付对消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2504" y="2779776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130.00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04104" y="2779776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130.00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75704" y="2779776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GRP-ELIM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7384" y="277977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AR/AP对消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200400"/>
            <a:ext cx="11521440" cy="512064"/>
          </a:xfrm>
          <a:prstGeom prst="rect">
            <a:avLst/>
          </a:prstGeom>
          <a:solidFill>
            <a:srgbClr val="F7F9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329184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76500"/>
                </a:solidFill>
              </a:rPr>
              <a:t>🤖 消除分录③：FZ33未实现利润消除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32504" y="3291840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12.00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4104" y="3291840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12.00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75704" y="3291840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GRP-ELIM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7384" y="329184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库存含内部利润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712464"/>
            <a:ext cx="11521440" cy="512064"/>
          </a:xfrm>
          <a:prstGeom prst="rect">
            <a:avLst/>
          </a:prstGeom>
          <a:solidFill>
            <a:srgbClr val="D1E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4904" y="380390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F2"/>
                </a:solidFill>
              </a:rPr>
              <a:t>【集团视角小结】交易集团净影响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32504" y="3803904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F2"/>
                </a:solidFill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04104" y="3803904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F2"/>
                </a:solidFill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75704" y="3803904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F2"/>
                </a:solidFill>
              </a:rPr>
              <a:t>净利润=0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87384" y="3803904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F2"/>
                </a:solidFill>
              </a:rPr>
              <a:t>内部交易完全消除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833872"/>
            <a:ext cx="11521440" cy="4114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20040" y="5833872"/>
            <a:ext cx="54864" cy="41148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5888736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三笔消除分录全部由系统自动生成，无需财务人员手工操作。ECC时代这项工作需要2-3周人工完成。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15 / 22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A86"/>
                </a:solidFill>
              </a:rPr>
              <a:t>ACDOCA 统一日记账 — 3L 管理账簿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30352"/>
            <a:ext cx="2651760" cy="3657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576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B7A91"/>
                </a:solidFill>
              </a:rPr>
              <a:t>0L 法律账簿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0" y="530352"/>
            <a:ext cx="2651760" cy="3657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3240" y="576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B7A91"/>
                </a:solidFill>
              </a:rPr>
              <a:t>2L 集团账簿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530352"/>
            <a:ext cx="2651760" cy="365760"/>
          </a:xfrm>
          <a:prstGeom prst="rect">
            <a:avLst/>
          </a:prstGeom>
          <a:solidFill>
            <a:srgbClr val="188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15000" y="576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3L 管理账簿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530352"/>
            <a:ext cx="2651760" cy="3657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6760" y="576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B7A91"/>
                </a:solidFill>
              </a:rPr>
              <a:t>差异分析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932688"/>
            <a:ext cx="1152144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96926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90FF"/>
                </a:solidFill>
              </a:rPr>
              <a:t>ACDOCA — 统一日记账（S/4HANA）   凭证号：5100067823 | 2027-01-15 | FZ01   视角：管理会计视角 — 利润中心评估 / BU绩效考核 / 差异归因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280160"/>
            <a:ext cx="11521440" cy="34747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335024"/>
            <a:ext cx="3584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科目 / 描述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1335024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借方（元）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4104" y="1335024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贷方（元）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5704" y="1335024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利润中心 / 成本中心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7384" y="1335024"/>
            <a:ext cx="2761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664208"/>
            <a:ext cx="115214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4904" y="175564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500100 — 管理收入（标准价）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175564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100.00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4104" y="175564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5704" y="175564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PC:FZ01-MFG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7384" y="1755648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标准转移价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176272"/>
            <a:ext cx="11521440" cy="512064"/>
          </a:xfrm>
          <a:prstGeom prst="rect">
            <a:avLst/>
          </a:prstGeom>
          <a:solidFill>
            <a:srgbClr val="F7F9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4904" y="2267712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500150 — 转移定价差异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32504" y="2267712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+30.00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4104" y="2267712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75704" y="226771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PC:FZ01-MFG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87384" y="2267712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成本治理委员会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688336"/>
            <a:ext cx="115214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4904" y="277977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600200 — 采购价格差异（PPV）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2504" y="2779776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0A0A"/>
                </a:solidFill>
              </a:rPr>
              <a:t>-8.50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04104" y="2779776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75704" y="2779776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CC:CC-PROC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7384" y="277977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归采购部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200400"/>
            <a:ext cx="11521440" cy="512064"/>
          </a:xfrm>
          <a:prstGeom prst="rect">
            <a:avLst/>
          </a:prstGeom>
          <a:solidFill>
            <a:srgbClr val="F7F9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329184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600300 — 材料用量差异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32504" y="3291840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0A0A"/>
                </a:solidFill>
              </a:rPr>
              <a:t>-2.10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4104" y="3291840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75704" y="3291840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CC:CC-FZ01-A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7384" y="329184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归生产BU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712464"/>
            <a:ext cx="11521440" cy="512064"/>
          </a:xfrm>
          <a:prstGeom prst="rect">
            <a:avLst/>
          </a:prstGeom>
          <a:solidFill>
            <a:srgbClr val="D1E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4904" y="380390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88918"/>
                </a:solidFill>
              </a:rPr>
              <a:t>FZ01可控利润（已剥离PPV）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32504" y="3803904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88918"/>
                </a:solidFill>
              </a:rPr>
              <a:t>+89.40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04104" y="3803904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88918"/>
                </a:solidFill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75704" y="3803904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88918"/>
                </a:solidFill>
              </a:rPr>
              <a:t>PC:FZ01-MFG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87384" y="3803904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88918"/>
                </a:solidFill>
              </a:rPr>
              <a:t>BU考核基准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833872"/>
            <a:ext cx="11521440" cy="4114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20040" y="5833872"/>
            <a:ext cx="54864" cy="411480"/>
          </a:xfrm>
          <a:prstGeom prst="rect">
            <a:avLst/>
          </a:prstGeom>
          <a:solidFill>
            <a:srgbClr val="188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5888736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BU经理考核用89.40元可控利润，而非含PPV的失真数字。芯片涨价8.50元损失由采购部负责，不影响生产BU绩效。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16 / 22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A86"/>
                </a:solidFill>
              </a:rPr>
              <a:t>ACDOCA 统一日记账 — 差异分析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30352"/>
            <a:ext cx="2651760" cy="3657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576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B7A91"/>
                </a:solidFill>
              </a:rPr>
              <a:t>0L 法律账簿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0" y="530352"/>
            <a:ext cx="2651760" cy="3657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3240" y="576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B7A91"/>
                </a:solidFill>
              </a:rPr>
              <a:t>2L 集团账簿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530352"/>
            <a:ext cx="2651760" cy="3657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15000" y="576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B7A91"/>
                </a:solidFill>
              </a:rPr>
              <a:t>3L 管理账簿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530352"/>
            <a:ext cx="2651760" cy="365760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6760" y="576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差异分析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932688"/>
            <a:ext cx="1152144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96926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90FF"/>
                </a:solidFill>
              </a:rPr>
              <a:t>ACDOCA — 统一日记账（S/4HANA）   凭证号：5100067823 | 2027-01-15 | FZ01   视角：三账簿横向对比 — 同一凭证，三视角数字对比 + 差异归因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280160"/>
            <a:ext cx="11521440" cy="34747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335024"/>
            <a:ext cx="3584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科目 / 描述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1335024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借方（元）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4104" y="1335024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贷方（元）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5704" y="1335024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利润中心 / 成本中心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7384" y="1335024"/>
            <a:ext cx="2761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664208"/>
            <a:ext cx="115214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4904" y="175564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项目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175564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0L 法律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4104" y="175564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2L 集团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5704" y="175564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3L 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7384" y="1755648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A86"/>
                </a:solidFill>
              </a:rPr>
              <a:t>说明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176272"/>
            <a:ext cx="11521440" cy="512064"/>
          </a:xfrm>
          <a:prstGeom prst="rect">
            <a:avLst/>
          </a:prstGeom>
          <a:solidFill>
            <a:srgbClr val="F7F9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4904" y="2267712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确认收入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32504" y="2267712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130元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4104" y="2267712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100元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75704" y="226771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100元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87384" y="2267712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集团消除加价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688336"/>
            <a:ext cx="115214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4904" y="277977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PPV差异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2504" y="2779776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0A0A"/>
                </a:solidFill>
              </a:rPr>
              <a:t>混入MAP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04104" y="2779776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0A0A"/>
                </a:solidFill>
              </a:rPr>
              <a:t>混入MAP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75704" y="2779776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0A0A"/>
                </a:solidFill>
              </a:rPr>
              <a:t>-8.50元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7384" y="277977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归采购部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200400"/>
            <a:ext cx="11521440" cy="512064"/>
          </a:xfrm>
          <a:prstGeom prst="rect">
            <a:avLst/>
          </a:prstGeom>
          <a:solidFill>
            <a:srgbClr val="F7F9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329184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用量差异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32504" y="3291840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0A0A"/>
                </a:solidFill>
              </a:rPr>
              <a:t>混入MAP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4104" y="3291840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0A0A"/>
                </a:solidFill>
              </a:rPr>
              <a:t>混入MAP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75704" y="3291840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0A0A"/>
                </a:solidFill>
              </a:rPr>
              <a:t>-2.10元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7384" y="329184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归生产BU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712464"/>
            <a:ext cx="11521440" cy="512064"/>
          </a:xfrm>
          <a:prstGeom prst="rect">
            <a:avLst/>
          </a:prstGeom>
          <a:solidFill>
            <a:srgbClr val="D1E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4904" y="380390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76500"/>
                </a:solidFill>
              </a:rPr>
              <a:t>BU净利润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32504" y="3803904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76500"/>
                </a:solidFill>
              </a:rPr>
              <a:t>30元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04104" y="3803904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76500"/>
                </a:solidFill>
              </a:rPr>
              <a:t>0元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75704" y="3803904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76500"/>
                </a:solidFill>
              </a:rPr>
              <a:t>89.40元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87384" y="3803904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76500"/>
                </a:solidFill>
              </a:rPr>
              <a:t>管理视角最真实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833872"/>
            <a:ext cx="11521440" cy="4114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20040" y="5833872"/>
            <a:ext cx="54864" cy="411480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5888736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2A86"/>
                </a:solidFill>
              </a:rPr>
              <a:t>ECC时代：差异全部混入MAP无法区分。S/4HANA：每笔差异自动归因到责任方，实时可查。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17 / 22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A86"/>
                </a:solidFill>
              </a:rPr>
              <a:t>三大变革死结：技术可解计量层，权力层只有 CEO/CFO 强推才能打开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85800"/>
            <a:ext cx="11521440" cy="1755648"/>
          </a:xfrm>
          <a:prstGeom prst="rect">
            <a:avLst/>
          </a:prstGeom>
          <a:solidFill>
            <a:srgbClr val="F8FAFF"/>
          </a:solidFill>
          <a:ln w="19050">
            <a:solidFill>
              <a:srgbClr val="D2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685800"/>
            <a:ext cx="73152" cy="1755648"/>
          </a:xfrm>
          <a:prstGeom prst="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0" y="795528"/>
            <a:ext cx="822960" cy="320040"/>
          </a:xfrm>
          <a:prstGeom prst="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91088" y="83210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历史失败率73%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9552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20A0A"/>
                </a:solidFill>
              </a:rPr>
              <a:t>☠ Year 2 节点高层松动  （风险：极高）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6128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问题：Year 1顺利 → Year 2权重调整触发BU利益受损 → 联合抵制 → 改革锁死在半程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36776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88918"/>
                </a:solidFill>
              </a:rPr>
              <a:t>封堵：CEO/CFO直接授权成本治理委员会；30天申诉渠道（触发评审，不触发延期）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532888"/>
            <a:ext cx="11521440" cy="1755648"/>
          </a:xfrm>
          <a:prstGeom prst="rect">
            <a:avLst/>
          </a:prstGeom>
          <a:solidFill>
            <a:srgbClr val="F8FAFF"/>
          </a:solidFill>
          <a:ln w="19050">
            <a:solidFill>
              <a:srgbClr val="E7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2532888"/>
            <a:ext cx="73152" cy="1755648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972800" y="2642616"/>
            <a:ext cx="822960" cy="320040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91088" y="267919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可能损失800万+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4261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6500"/>
                </a:solidFill>
              </a:rPr>
              <a:t>☠ 标准成本制定中植入水分  （风险：高）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083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问题：BU可合法高报工时定额和材料损耗率，把虚利转移进宽松标准——差异永远为正且难发现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83864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88918"/>
                </a:solidFill>
              </a:rPr>
              <a:t>封堵：独立成本工程部门基于实测工时核定；BOM由工程部双签；差异归类由集团Controller最终认定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379976"/>
            <a:ext cx="11521440" cy="1755648"/>
          </a:xfrm>
          <a:prstGeom prst="rect">
            <a:avLst/>
          </a:prstGeom>
          <a:solidFill>
            <a:srgbClr val="F8FAFF"/>
          </a:solidFill>
          <a:ln w="19050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4379976"/>
            <a:ext cx="73152" cy="175564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72800" y="4489704"/>
            <a:ext cx="822960" cy="32004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91088" y="452628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推荐路径C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8970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0F2"/>
                </a:solidFill>
              </a:rPr>
              <a:t>☠ 三重挂钩同时切断  （风险：中高）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55464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A86"/>
                </a:solidFill>
              </a:rPr>
              <a:t>问题：BU经理：年终奖（钱包）+ 晋升（职业路径）+ 自我价值感（身份认同）同时受威胁，抵抗力叠加非相加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309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88918"/>
                </a:solidFill>
              </a:rPr>
              <a:t>封堵：推荐路径C：三年双轨KPI权重迁移（Year1 7:3 → Year2 5:5 → Year3 3:7），给BU适应期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18 / 22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2A86"/>
                </a:solidFill>
              </a:rPr>
              <a:t>ROI 测算：项目投入多少？3年能回收多少？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85800"/>
            <a:ext cx="3657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7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685800"/>
            <a:ext cx="91440" cy="1645920"/>
          </a:xfrm>
          <a:prstGeom prst="rect">
            <a:avLst/>
          </a:prstGeom>
          <a:solidFill>
            <a:srgbClr val="E7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34015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76500"/>
                </a:solidFill>
              </a:rPr>
              <a:t>950万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A86"/>
                </a:solidFill>
              </a:rPr>
              <a:t>项目总投入（Eviden中标）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47088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B7A91"/>
                </a:solidFill>
              </a:rPr>
              <a:t>含咨询+实施+MDG+GR+DRC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685800"/>
            <a:ext cx="3657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88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0520" y="685800"/>
            <a:ext cx="91440" cy="1645920"/>
          </a:xfrm>
          <a:prstGeom prst="rect">
            <a:avLst/>
          </a:prstGeom>
          <a:solidFill>
            <a:srgbClr val="188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841248"/>
            <a:ext cx="34015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8918"/>
                </a:solidFill>
              </a:rPr>
              <a:t>8,400万/年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36192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A86"/>
                </a:solidFill>
              </a:rPr>
              <a:t>净利率提升增量利润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847088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B7A91"/>
                </a:solidFill>
              </a:rPr>
              <a:t>56亿营收 × +1.5pp净利率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685800"/>
            <a:ext cx="3657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88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685800"/>
            <a:ext cx="91440" cy="1645920"/>
          </a:xfrm>
          <a:prstGeom prst="rect">
            <a:avLst/>
          </a:prstGeom>
          <a:solidFill>
            <a:srgbClr val="188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80" y="841248"/>
            <a:ext cx="34015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8918"/>
                </a:solidFill>
              </a:rPr>
              <a:t>&lt;2年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536192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A86"/>
                </a:solidFill>
              </a:rPr>
              <a:t>投资回收期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847088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B7A91"/>
                </a:solidFill>
              </a:rPr>
              <a:t>950万 ÷ 年收益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521440" y="685800"/>
            <a:ext cx="32004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2606040"/>
            <a:ext cx="2743200" cy="1280160"/>
          </a:xfrm>
          <a:prstGeom prst="rect">
            <a:avLst/>
          </a:prstGeom>
          <a:solidFill>
            <a:srgbClr val="F0F8FF"/>
          </a:solidFill>
          <a:ln w="19050">
            <a:solidFill>
              <a:srgbClr val="188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" y="2724912"/>
            <a:ext cx="2578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88918"/>
                </a:solidFill>
              </a:rPr>
              <a:t>1,120万/年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315468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A86"/>
                </a:solidFill>
              </a:rPr>
              <a:t>DRC合规节省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342900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B7A91"/>
                </a:solidFill>
              </a:rPr>
              <a:t>规避补税风险40%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64408" y="2606040"/>
            <a:ext cx="2743200" cy="1280160"/>
          </a:xfrm>
          <a:prstGeom prst="rect">
            <a:avLst/>
          </a:prstGeom>
          <a:solidFill>
            <a:srgbClr val="F0F8FF"/>
          </a:solidFill>
          <a:ln w="19050">
            <a:solidFill>
              <a:srgbClr val="188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74136" y="2724912"/>
            <a:ext cx="2578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88918"/>
                </a:solidFill>
              </a:rPr>
              <a:t>600万/年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4136" y="315468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A86"/>
                </a:solidFill>
              </a:rPr>
              <a:t>月结效率节省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74136" y="342900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B7A91"/>
                </a:solidFill>
              </a:rPr>
              <a:t>15天→5天，-75%人力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8776" y="2606040"/>
            <a:ext cx="2743200" cy="1280160"/>
          </a:xfrm>
          <a:prstGeom prst="rect">
            <a:avLst/>
          </a:prstGeom>
          <a:solidFill>
            <a:srgbClr val="F0F8FF"/>
          </a:solidFill>
          <a:ln w="19050">
            <a:solidFill>
              <a:srgbClr val="188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18504" y="2724912"/>
            <a:ext cx="2578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88918"/>
                </a:solidFill>
              </a:rPr>
              <a:t>300万/年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315468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A86"/>
                </a:solidFill>
              </a:rPr>
              <a:t>MDG治理节省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342900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B7A91"/>
                </a:solidFill>
              </a:rPr>
              <a:t>减少重复维护人力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53144" y="2606040"/>
            <a:ext cx="2743200" cy="1280160"/>
          </a:xfrm>
          <a:prstGeom prst="rect">
            <a:avLst/>
          </a:prstGeom>
          <a:solidFill>
            <a:srgbClr val="F0F8FF"/>
          </a:solidFill>
          <a:ln w="19050">
            <a:solidFill>
              <a:srgbClr val="1B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62872" y="2724912"/>
            <a:ext cx="2578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90FF"/>
                </a:solidFill>
              </a:rPr>
              <a:t>3年累计≈3.1亿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315468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A86"/>
                </a:solidFill>
              </a:rPr>
              <a:t>量化收益合计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2872" y="342900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B7A91"/>
                </a:solidFill>
              </a:rPr>
              <a:t>不含战略价值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411480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0F2"/>
                </a:solidFill>
              </a:rPr>
              <a:t>950万投入，3年量化收益超3亿——ROI超过30倍
但更大的价值在于：让集团战略决策建立在真实数字上，而非每季度被2.4亿幽灵差额蒙蔽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19 / 22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14500"/>
            <a:ext cx="12188952" cy="3429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90FF"/>
                </a:solidFill>
              </a:rPr>
              <a:t>— BIG IDEA —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2876" y="1810512"/>
            <a:ext cx="2743200" cy="2540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DDFF"/>
                </a:solidFill>
              </a:rPr>
              <a:t>所有技术和制度设计，都是在为那个时刻的决策
提供依据和保护，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但不能替代那个决策本身。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2876" y="3730752"/>
            <a:ext cx="2743200" cy="25400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99943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CFF"/>
                </a:solidFill>
              </a:rPr>
              <a:t>S/4HANA + MDG + Group Reporting 让集团每一分成本清晰可见
DRC 保护每一次跨境交易免受税务稽查威胁
而那个改变命运的决策，始终属于你。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20 / 22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2A86"/>
                </a:solidFill>
              </a:rPr>
              <a:t>现在是开始的时刻：三件事可以在本月推动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21440" cy="1664208"/>
          </a:xfrm>
          <a:prstGeom prst="rect">
            <a:avLst/>
          </a:prstGeom>
          <a:solidFill>
            <a:srgbClr val="F8FAFF"/>
          </a:solidFill>
          <a:ln w="19050">
            <a:solidFill>
              <a:srgbClr val="002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658368"/>
            <a:ext cx="91440" cy="1664208"/>
          </a:xfrm>
          <a:prstGeom prst="rect">
            <a:avLst/>
          </a:prstGeom>
          <a:solidFill>
            <a:srgbClr val="00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0" y="795528"/>
            <a:ext cx="822960" cy="347472"/>
          </a:xfrm>
          <a:prstGeom prst="rect">
            <a:avLst/>
          </a:prstGeom>
          <a:solidFill>
            <a:srgbClr val="00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91088" y="832104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本月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9552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A86"/>
                </a:solidFill>
              </a:rPr>
              <a:t>📅 成本治理委员会立项授权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25296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2A86"/>
                </a:solidFill>
              </a:rPr>
              <a:t>CFO/CEO签署章程，明确权重迁移触发条件与执行权，确保 Year 2 不松动。
这是整个方案能否成功的单点风险——技术可以代劳，这个决策只有你能做。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432304"/>
            <a:ext cx="11521440" cy="1664208"/>
          </a:xfrm>
          <a:prstGeom prst="rect">
            <a:avLst/>
          </a:prstGeom>
          <a:solidFill>
            <a:srgbClr val="F8FAFF"/>
          </a:solidFill>
          <a:ln w="19050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432304"/>
            <a:ext cx="91440" cy="166420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972800" y="2569464"/>
            <a:ext cx="822960" cy="347472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91088" y="260604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本月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56946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0F2"/>
                </a:solidFill>
              </a:rPr>
              <a:t>🗄 启动MDG物料主数据清洗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999232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2A86"/>
                </a:solidFill>
              </a:rPr>
              <a:t>CS03/CA03验证BOM完整性，MDG工作流上线，为首次标准成本估算（CK40N）
奠定可信数据基础。MDG是所有其他专项方案的数据底座，越早启动越好。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206240"/>
            <a:ext cx="11521440" cy="1664208"/>
          </a:xfrm>
          <a:prstGeom prst="rect">
            <a:avLst/>
          </a:prstGeom>
          <a:solidFill>
            <a:srgbClr val="F8FAFF"/>
          </a:solidFill>
          <a:ln w="19050">
            <a:solidFill>
              <a:srgbClr val="1B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4206240"/>
            <a:ext cx="91440" cy="1664208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72800" y="4343400"/>
            <a:ext cx="822960" cy="347472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91088" y="437997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本月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34340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90FF"/>
                </a:solidFill>
              </a:rPr>
              <a:t>📄 制定《转移定价政策》初稿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773168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2A86"/>
                </a:solidFill>
              </a:rPr>
              <a:t>明确19家法人间内部定价规则（成本加成法/再售价格法），启动OECD文档化，
DRC系统同步配置。法务/税务部门的输入是系统配置的前提。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870448"/>
            <a:ext cx="11521440" cy="59436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9893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💡 SAP × Eviden 联合团队已准备就绪——佛照已站在那个决策的门口，现在只差一个"是"。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21 / 22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感谢您的时间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834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B90FF"/>
                </a:solidFill>
              </a:rPr>
              <a:t>让我们一起，把镜子立起来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566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AACC"/>
                </a:solidFill>
              </a:rPr>
              <a:t>SAP × Eviden 联合团队
佛山照明 S/4HANA 跨公司成本还原专项方案
S/4HANA · MDG · Group Reporting · DRC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65392"/>
            <a:ext cx="1215136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37276" y="6583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B7A91"/>
                </a:solidFill>
              </a:rPr>
              <a:t>22 / 22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552" y="6574536"/>
            <a:ext cx="690372" cy="2194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2290</Words>
  <Application>Microsoft Macintosh PowerPoint</Application>
  <PresentationFormat>自定义</PresentationFormat>
  <Paragraphs>553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Chen, Yuqing</cp:lastModifiedBy>
  <cp:revision>1</cp:revision>
  <dcterms:created xsi:type="dcterms:W3CDTF">2013-01-27T09:14:16Z</dcterms:created>
  <dcterms:modified xsi:type="dcterms:W3CDTF">2026-06-28T16:04:37Z</dcterms:modified>
  <cp:category/>
</cp:coreProperties>
</file>